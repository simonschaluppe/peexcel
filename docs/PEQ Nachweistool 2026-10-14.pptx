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87" r:id="rId2"/>
  </p:sldMasterIdLst>
  <p:notesMasterIdLst>
    <p:notesMasterId r:id="rId40"/>
  </p:notesMasterIdLst>
  <p:handoutMasterIdLst>
    <p:handoutMasterId r:id="rId41"/>
  </p:handoutMasterIdLst>
  <p:sldIdLst>
    <p:sldId id="1468" r:id="rId3"/>
    <p:sldId id="397" r:id="rId4"/>
    <p:sldId id="1469" r:id="rId5"/>
    <p:sldId id="1470" r:id="rId6"/>
    <p:sldId id="480" r:id="rId7"/>
    <p:sldId id="491" r:id="rId8"/>
    <p:sldId id="482" r:id="rId9"/>
    <p:sldId id="2780" r:id="rId10"/>
    <p:sldId id="1471" r:id="rId11"/>
    <p:sldId id="2776" r:id="rId12"/>
    <p:sldId id="2761" r:id="rId13"/>
    <p:sldId id="2781" r:id="rId14"/>
    <p:sldId id="2771" r:id="rId15"/>
    <p:sldId id="2770" r:id="rId16"/>
    <p:sldId id="2772" r:id="rId17"/>
    <p:sldId id="1453" r:id="rId18"/>
    <p:sldId id="2775" r:id="rId19"/>
    <p:sldId id="2769" r:id="rId20"/>
    <p:sldId id="1451" r:id="rId21"/>
    <p:sldId id="2759" r:id="rId22"/>
    <p:sldId id="1473" r:id="rId23"/>
    <p:sldId id="2767" r:id="rId24"/>
    <p:sldId id="1454" r:id="rId25"/>
    <p:sldId id="1466" r:id="rId26"/>
    <p:sldId id="2763" r:id="rId27"/>
    <p:sldId id="2764" r:id="rId28"/>
    <p:sldId id="2773" r:id="rId29"/>
    <p:sldId id="2774" r:id="rId30"/>
    <p:sldId id="2753" r:id="rId31"/>
    <p:sldId id="2778" r:id="rId32"/>
    <p:sldId id="2760" r:id="rId33"/>
    <p:sldId id="1472" r:id="rId34"/>
    <p:sldId id="2762" r:id="rId35"/>
    <p:sldId id="2765" r:id="rId36"/>
    <p:sldId id="2766" r:id="rId37"/>
    <p:sldId id="2777" r:id="rId38"/>
    <p:sldId id="1465" r:id="rId39"/>
  </p:sldIdLst>
  <p:sldSz cx="12192000" cy="6858000"/>
  <p:notesSz cx="4762500" cy="86868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owalski Katharina" initials="KK" lastIdx="12" clrIdx="0">
    <p:extLst>
      <p:ext uri="{19B8F6BF-5375-455C-9EA6-DF929625EA0E}">
        <p15:presenceInfo xmlns:p15="http://schemas.microsoft.com/office/powerpoint/2012/main" userId="S-1-5-21-488040868-4244228847-1048680791-22768" providerId="AD"/>
      </p:ext>
    </p:extLst>
  </p:cmAuthor>
  <p:cmAuthor id="2" name="Jung Gerd" initials="JG" lastIdx="25" clrIdx="1">
    <p:extLst>
      <p:ext uri="{19B8F6BF-5375-455C-9EA6-DF929625EA0E}">
        <p15:presenceInfo xmlns:p15="http://schemas.microsoft.com/office/powerpoint/2012/main" userId="S-1-5-21-488040868-4244228847-1048680791-25123" providerId="AD"/>
      </p:ext>
    </p:extLst>
  </p:cmAuthor>
  <p:cmAuthor id="3" name="Bargmann Elisabeth" initials="BE" lastIdx="36" clrIdx="2">
    <p:extLst>
      <p:ext uri="{19B8F6BF-5375-455C-9EA6-DF929625EA0E}">
        <p15:presenceInfo xmlns:p15="http://schemas.microsoft.com/office/powerpoint/2012/main" userId="S-1-5-21-488040868-4244228847-1048680791-22028" providerId="AD"/>
      </p:ext>
    </p:extLst>
  </p:cmAuthor>
  <p:cmAuthor id="4" name="Maier Philipp" initials="MP" lastIdx="1" clrIdx="3">
    <p:extLst>
      <p:ext uri="{19B8F6BF-5375-455C-9EA6-DF929625EA0E}">
        <p15:presenceInfo xmlns:p15="http://schemas.microsoft.com/office/powerpoint/2012/main" userId="S-1-5-21-488040868-4244228847-1048680791-2276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1600"/>
    <a:srgbClr val="4DC98C"/>
    <a:srgbClr val="D4BABE"/>
    <a:srgbClr val="FF9A5B"/>
    <a:srgbClr val="F281BB"/>
    <a:srgbClr val="47606B"/>
    <a:srgbClr val="D9D9D9"/>
    <a:srgbClr val="3F85D7"/>
    <a:srgbClr val="FFC04C"/>
    <a:srgbClr val="FFAB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6080" autoAdjust="0"/>
  </p:normalViewPr>
  <p:slideViewPr>
    <p:cSldViewPr snapToGrid="0">
      <p:cViewPr>
        <p:scale>
          <a:sx n="100" d="100"/>
          <a:sy n="100" d="100"/>
        </p:scale>
        <p:origin x="1200" y="77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49" d="100"/>
          <a:sy n="49" d="100"/>
        </p:scale>
        <p:origin x="2668"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schneids\code\peexcel\peexcel\ka_PEQ_Nachweistool_DEV.xlsb"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https://d.docs.live.net/572453d936140585/PhD/Paper/Design/Climate%20Neutral%20PEDS%20design%20paper%20tables%20and%20diagram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dirty="0">
                <a:solidFill>
                  <a:schemeClr val="tx1">
                    <a:lumMod val="65000"/>
                    <a:lumOff val="35000"/>
                  </a:schemeClr>
                </a:solidFill>
                <a:latin typeface="+mn-lt"/>
                <a:ea typeface="+mn-ea"/>
                <a:cs typeface="+mn-cs"/>
              </a:defRPr>
            </a:pPr>
            <a:r>
              <a:rPr lang="de-DE" dirty="0"/>
              <a:t>MIV Verkehrsleistung</a:t>
            </a:r>
          </a:p>
        </c:rich>
      </c:tx>
      <c:layout>
        <c:manualLayout>
          <c:xMode val="edge"/>
          <c:yMode val="edge"/>
          <c:x val="6.4136396936745652E-2"/>
          <c:y val="2.7797143820982795E-2"/>
        </c:manualLayout>
      </c:layout>
      <c:overlay val="0"/>
      <c:spPr>
        <a:noFill/>
        <a:ln>
          <a:noFill/>
        </a:ln>
        <a:effectLst/>
      </c:spPr>
      <c:txPr>
        <a:bodyPr rot="0" spcFirstLastPara="1" vertOverflow="ellipsis" vert="horz" wrap="square" anchor="ctr" anchorCtr="1"/>
        <a:lstStyle/>
        <a:p>
          <a:pPr>
            <a:defRPr sz="1400" b="0" i="0" u="none" strike="noStrike" kern="1200" spc="0" baseline="0" dirty="0">
              <a:solidFill>
                <a:schemeClr val="tx1">
                  <a:lumMod val="65000"/>
                  <a:lumOff val="35000"/>
                </a:schemeClr>
              </a:solidFill>
              <a:latin typeface="+mn-lt"/>
              <a:ea typeface="+mn-ea"/>
              <a:cs typeface="+mn-cs"/>
            </a:defRPr>
          </a:pPr>
          <a:endParaRPr lang="de-DE"/>
        </a:p>
      </c:txPr>
    </c:title>
    <c:autoTitleDeleted val="0"/>
    <c:plotArea>
      <c:layout>
        <c:manualLayout>
          <c:layoutTarget val="inner"/>
          <c:xMode val="edge"/>
          <c:yMode val="edge"/>
          <c:x val="7.62813774783348E-2"/>
          <c:y val="0.13454206001153038"/>
          <c:w val="0.59476858395615995"/>
          <c:h val="0.71407152763275561"/>
        </c:manualLayout>
      </c:layout>
      <c:barChart>
        <c:barDir val="bar"/>
        <c:grouping val="clustered"/>
        <c:varyColors val="0"/>
        <c:ser>
          <c:idx val="0"/>
          <c:order val="0"/>
          <c:tx>
            <c:strRef>
              <c:f>🚗!$L$25</c:f>
              <c:strCache>
                <c:ptCount val="1"/>
                <c:pt idx="0">
                  <c:v>Urban</c:v>
                </c:pt>
              </c:strCache>
            </c:strRef>
          </c:tx>
          <c:spPr>
            <a:solidFill>
              <a:srgbClr val="86F686"/>
            </a:solidFill>
            <a:ln>
              <a:noFill/>
            </a:ln>
            <a:effectLst/>
          </c:spPr>
          <c:invertIfNegative val="0"/>
          <c:val>
            <c:numRef>
              <c:f>🚗!$V$25</c:f>
              <c:numCache>
                <c:formatCode>#,##0</c:formatCode>
                <c:ptCount val="1"/>
                <c:pt idx="0">
                  <c:v>4564</c:v>
                </c:pt>
              </c:numCache>
            </c:numRef>
          </c:val>
          <c:extLst>
            <c:ext xmlns:c16="http://schemas.microsoft.com/office/drawing/2014/chart" uri="{C3380CC4-5D6E-409C-BE32-E72D297353CC}">
              <c16:uniqueId val="{00000000-AB24-457A-A239-CF24D0E7FECA}"/>
            </c:ext>
          </c:extLst>
        </c:ser>
        <c:ser>
          <c:idx val="1"/>
          <c:order val="1"/>
          <c:tx>
            <c:strRef>
              <c:f>🚗!$L$26</c:f>
              <c:strCache>
                <c:ptCount val="1"/>
                <c:pt idx="0">
                  <c:v>Sub-Urban</c:v>
                </c:pt>
              </c:strCache>
            </c:strRef>
          </c:tx>
          <c:spPr>
            <a:solidFill>
              <a:srgbClr val="6ACA5B"/>
            </a:solidFill>
            <a:ln>
              <a:noFill/>
            </a:ln>
            <a:effectLst/>
          </c:spPr>
          <c:invertIfNegative val="0"/>
          <c:val>
            <c:numRef>
              <c:f>🚗!$V$26</c:f>
              <c:numCache>
                <c:formatCode>#,##0</c:formatCode>
                <c:ptCount val="1"/>
                <c:pt idx="0">
                  <c:v>5305</c:v>
                </c:pt>
              </c:numCache>
            </c:numRef>
          </c:val>
          <c:extLst>
            <c:ext xmlns:c16="http://schemas.microsoft.com/office/drawing/2014/chart" uri="{C3380CC4-5D6E-409C-BE32-E72D297353CC}">
              <c16:uniqueId val="{00000001-AB24-457A-A239-CF24D0E7FECA}"/>
            </c:ext>
          </c:extLst>
        </c:ser>
        <c:ser>
          <c:idx val="2"/>
          <c:order val="2"/>
          <c:tx>
            <c:strRef>
              <c:f>🚗!$L$27</c:f>
              <c:strCache>
                <c:ptCount val="1"/>
                <c:pt idx="0">
                  <c:v>Ländlich mit Pendelverkehr, ÖV gut</c:v>
                </c:pt>
              </c:strCache>
            </c:strRef>
          </c:tx>
          <c:spPr>
            <a:solidFill>
              <a:srgbClr val="FFFBBC"/>
            </a:solidFill>
            <a:ln>
              <a:noFill/>
            </a:ln>
            <a:effectLst/>
          </c:spPr>
          <c:invertIfNegative val="0"/>
          <c:val>
            <c:numRef>
              <c:f>🚗!$V$27</c:f>
              <c:numCache>
                <c:formatCode>#,##0</c:formatCode>
                <c:ptCount val="1"/>
                <c:pt idx="0">
                  <c:v>6361</c:v>
                </c:pt>
              </c:numCache>
            </c:numRef>
          </c:val>
          <c:extLst>
            <c:ext xmlns:c16="http://schemas.microsoft.com/office/drawing/2014/chart" uri="{C3380CC4-5D6E-409C-BE32-E72D297353CC}">
              <c16:uniqueId val="{00000002-AB24-457A-A239-CF24D0E7FECA}"/>
            </c:ext>
          </c:extLst>
        </c:ser>
        <c:ser>
          <c:idx val="3"/>
          <c:order val="3"/>
          <c:tx>
            <c:strRef>
              <c:f>🚗!$L$28</c:f>
              <c:strCache>
                <c:ptCount val="1"/>
                <c:pt idx="0">
                  <c:v>Ländlich mit Pendelverkehr</c:v>
                </c:pt>
              </c:strCache>
            </c:strRef>
          </c:tx>
          <c:spPr>
            <a:solidFill>
              <a:srgbClr val="DCCB60"/>
            </a:solidFill>
            <a:ln>
              <a:noFill/>
            </a:ln>
            <a:effectLst/>
          </c:spPr>
          <c:invertIfNegative val="0"/>
          <c:val>
            <c:numRef>
              <c:f>🚗!$V$28</c:f>
              <c:numCache>
                <c:formatCode>#,##0</c:formatCode>
                <c:ptCount val="1"/>
                <c:pt idx="0">
                  <c:v>6731</c:v>
                </c:pt>
              </c:numCache>
            </c:numRef>
          </c:val>
          <c:extLst>
            <c:ext xmlns:c16="http://schemas.microsoft.com/office/drawing/2014/chart" uri="{C3380CC4-5D6E-409C-BE32-E72D297353CC}">
              <c16:uniqueId val="{00000003-AB24-457A-A239-CF24D0E7FECA}"/>
            </c:ext>
          </c:extLst>
        </c:ser>
        <c:ser>
          <c:idx val="4"/>
          <c:order val="4"/>
          <c:tx>
            <c:strRef>
              <c:f>🚗!$L$29</c:f>
              <c:strCache>
                <c:ptCount val="1"/>
                <c:pt idx="0">
                  <c:v>Ländlich mit Pendelverkehr, ÖV schlecht</c:v>
                </c:pt>
              </c:strCache>
            </c:strRef>
          </c:tx>
          <c:spPr>
            <a:solidFill>
              <a:srgbClr val="926A12"/>
            </a:solidFill>
            <a:ln>
              <a:noFill/>
            </a:ln>
            <a:effectLst/>
          </c:spPr>
          <c:invertIfNegative val="0"/>
          <c:val>
            <c:numRef>
              <c:f>🚗!$V$29</c:f>
              <c:numCache>
                <c:formatCode>#,##0</c:formatCode>
                <c:ptCount val="1"/>
                <c:pt idx="0">
                  <c:v>10953</c:v>
                </c:pt>
              </c:numCache>
            </c:numRef>
          </c:val>
          <c:extLst>
            <c:ext xmlns:c16="http://schemas.microsoft.com/office/drawing/2014/chart" uri="{C3380CC4-5D6E-409C-BE32-E72D297353CC}">
              <c16:uniqueId val="{00000004-AB24-457A-A239-CF24D0E7FECA}"/>
            </c:ext>
          </c:extLst>
        </c:ser>
        <c:ser>
          <c:idx val="5"/>
          <c:order val="5"/>
          <c:tx>
            <c:strRef>
              <c:f>🚗!$L$30</c:f>
              <c:strCache>
                <c:ptCount val="1"/>
                <c:pt idx="0">
                  <c:v>Ländlich, ÖV gut</c:v>
                </c:pt>
              </c:strCache>
            </c:strRef>
          </c:tx>
          <c:spPr>
            <a:solidFill>
              <a:srgbClr val="F2ABA9"/>
            </a:solidFill>
            <a:ln>
              <a:noFill/>
            </a:ln>
            <a:effectLst/>
          </c:spPr>
          <c:invertIfNegative val="0"/>
          <c:val>
            <c:numRef>
              <c:f>🚗!$V$30</c:f>
              <c:numCache>
                <c:formatCode>#,##0</c:formatCode>
                <c:ptCount val="1"/>
                <c:pt idx="0">
                  <c:v>6155</c:v>
                </c:pt>
              </c:numCache>
            </c:numRef>
          </c:val>
          <c:extLst>
            <c:ext xmlns:c16="http://schemas.microsoft.com/office/drawing/2014/chart" uri="{C3380CC4-5D6E-409C-BE32-E72D297353CC}">
              <c16:uniqueId val="{00000005-AB24-457A-A239-CF24D0E7FECA}"/>
            </c:ext>
          </c:extLst>
        </c:ser>
        <c:ser>
          <c:idx val="6"/>
          <c:order val="6"/>
          <c:tx>
            <c:strRef>
              <c:f>🚗!$L$31</c:f>
              <c:strCache>
                <c:ptCount val="1"/>
                <c:pt idx="0">
                  <c:v>Ländlich</c:v>
                </c:pt>
              </c:strCache>
            </c:strRef>
          </c:tx>
          <c:spPr>
            <a:solidFill>
              <a:srgbClr val="DD7E72"/>
            </a:solidFill>
            <a:ln>
              <a:noFill/>
            </a:ln>
            <a:effectLst/>
          </c:spPr>
          <c:invertIfNegative val="0"/>
          <c:val>
            <c:numRef>
              <c:f>🚗!$V$31</c:f>
              <c:numCache>
                <c:formatCode>#,##0</c:formatCode>
                <c:ptCount val="1"/>
                <c:pt idx="0">
                  <c:v>6275</c:v>
                </c:pt>
              </c:numCache>
            </c:numRef>
          </c:val>
          <c:extLst>
            <c:ext xmlns:c16="http://schemas.microsoft.com/office/drawing/2014/chart" uri="{C3380CC4-5D6E-409C-BE32-E72D297353CC}">
              <c16:uniqueId val="{00000006-AB24-457A-A239-CF24D0E7FECA}"/>
            </c:ext>
          </c:extLst>
        </c:ser>
        <c:ser>
          <c:idx val="7"/>
          <c:order val="7"/>
          <c:tx>
            <c:strRef>
              <c:f>🚗!$L$32</c:f>
              <c:strCache>
                <c:ptCount val="1"/>
                <c:pt idx="0">
                  <c:v>Ländlich, ÖV schlecht</c:v>
                </c:pt>
              </c:strCache>
            </c:strRef>
          </c:tx>
          <c:spPr>
            <a:solidFill>
              <a:srgbClr val="C86C61"/>
            </a:solidFill>
            <a:ln>
              <a:noFill/>
            </a:ln>
            <a:effectLst/>
          </c:spPr>
          <c:invertIfNegative val="0"/>
          <c:val>
            <c:numRef>
              <c:f>🚗!$V$32</c:f>
              <c:numCache>
                <c:formatCode>#,##0</c:formatCode>
                <c:ptCount val="1"/>
                <c:pt idx="0">
                  <c:v>7429</c:v>
                </c:pt>
              </c:numCache>
            </c:numRef>
          </c:val>
          <c:extLst>
            <c:ext xmlns:c16="http://schemas.microsoft.com/office/drawing/2014/chart" uri="{C3380CC4-5D6E-409C-BE32-E72D297353CC}">
              <c16:uniqueId val="{00000007-AB24-457A-A239-CF24D0E7FECA}"/>
            </c:ext>
          </c:extLst>
        </c:ser>
        <c:ser>
          <c:idx val="8"/>
          <c:order val="8"/>
          <c:tx>
            <c:strRef>
              <c:f>🚗!$L$33</c:f>
              <c:strCache>
                <c:ptCount val="1"/>
                <c:pt idx="0">
                  <c:v>Wien Zentrum</c:v>
                </c:pt>
              </c:strCache>
            </c:strRef>
          </c:tx>
          <c:spPr>
            <a:solidFill>
              <a:srgbClr val="C9FFF5"/>
            </a:solidFill>
            <a:ln>
              <a:noFill/>
            </a:ln>
            <a:effectLst/>
          </c:spPr>
          <c:invertIfNegative val="0"/>
          <c:val>
            <c:numRef>
              <c:f>🚗!$V$33</c:f>
              <c:numCache>
                <c:formatCode>#,##0</c:formatCode>
                <c:ptCount val="1"/>
                <c:pt idx="0">
                  <c:v>3279</c:v>
                </c:pt>
              </c:numCache>
            </c:numRef>
          </c:val>
          <c:extLst>
            <c:ext xmlns:c16="http://schemas.microsoft.com/office/drawing/2014/chart" uri="{C3380CC4-5D6E-409C-BE32-E72D297353CC}">
              <c16:uniqueId val="{00000008-AB24-457A-A239-CF24D0E7FECA}"/>
            </c:ext>
          </c:extLst>
        </c:ser>
        <c:ser>
          <c:idx val="9"/>
          <c:order val="9"/>
          <c:tx>
            <c:strRef>
              <c:f>🚗!$L$34</c:f>
              <c:strCache>
                <c:ptCount val="1"/>
                <c:pt idx="0">
                  <c:v>Wien</c:v>
                </c:pt>
              </c:strCache>
            </c:strRef>
          </c:tx>
          <c:spPr>
            <a:solidFill>
              <a:srgbClr val="80E3E5"/>
            </a:solidFill>
            <a:ln>
              <a:noFill/>
            </a:ln>
            <a:effectLst/>
          </c:spPr>
          <c:invertIfNegative val="0"/>
          <c:val>
            <c:numRef>
              <c:f>🚗!$V$34</c:f>
              <c:numCache>
                <c:formatCode>#,##0</c:formatCode>
                <c:ptCount val="1"/>
                <c:pt idx="0">
                  <c:v>2578</c:v>
                </c:pt>
              </c:numCache>
            </c:numRef>
          </c:val>
          <c:extLst>
            <c:ext xmlns:c16="http://schemas.microsoft.com/office/drawing/2014/chart" uri="{C3380CC4-5D6E-409C-BE32-E72D297353CC}">
              <c16:uniqueId val="{00000009-AB24-457A-A239-CF24D0E7FECA}"/>
            </c:ext>
          </c:extLst>
        </c:ser>
        <c:ser>
          <c:idx val="10"/>
          <c:order val="10"/>
          <c:tx>
            <c:strRef>
              <c:f>🚗!$L$35</c:f>
              <c:strCache>
                <c:ptCount val="1"/>
                <c:pt idx="0">
                  <c:v>Wien Randbezirke</c:v>
                </c:pt>
              </c:strCache>
            </c:strRef>
          </c:tx>
          <c:spPr>
            <a:solidFill>
              <a:srgbClr val="3ACAC3"/>
            </a:solidFill>
            <a:ln>
              <a:noFill/>
            </a:ln>
            <a:effectLst/>
          </c:spPr>
          <c:invertIfNegative val="0"/>
          <c:val>
            <c:numRef>
              <c:f>🚗!$V$35</c:f>
              <c:numCache>
                <c:formatCode>#,##0</c:formatCode>
                <c:ptCount val="1"/>
                <c:pt idx="0">
                  <c:v>3679</c:v>
                </c:pt>
              </c:numCache>
            </c:numRef>
          </c:val>
          <c:extLst>
            <c:ext xmlns:c16="http://schemas.microsoft.com/office/drawing/2014/chart" uri="{C3380CC4-5D6E-409C-BE32-E72D297353CC}">
              <c16:uniqueId val="{0000000A-AB24-457A-A239-CF24D0E7FECA}"/>
            </c:ext>
          </c:extLst>
        </c:ser>
        <c:dLbls>
          <c:showLegendKey val="0"/>
          <c:showVal val="0"/>
          <c:showCatName val="0"/>
          <c:showSerName val="0"/>
          <c:showPercent val="0"/>
          <c:showBubbleSize val="0"/>
        </c:dLbls>
        <c:gapWidth val="219"/>
        <c:axId val="634896912"/>
        <c:axId val="634898352"/>
      </c:barChart>
      <c:catAx>
        <c:axId val="634896912"/>
        <c:scaling>
          <c:orientation val="minMax"/>
        </c:scaling>
        <c:delete val="1"/>
        <c:axPos val="l"/>
        <c:title>
          <c:tx>
            <c:rich>
              <a:bodyPr rot="-5400000" spcFirstLastPara="1" vertOverflow="ellipsis" vert="horz" wrap="square" anchor="ctr" anchorCtr="1"/>
              <a:lstStyle/>
              <a:p>
                <a:pPr>
                  <a:defRPr sz="1000" b="0" i="0" u="none" strike="noStrike" kern="1200" baseline="0" dirty="0">
                    <a:solidFill>
                      <a:schemeClr val="tx1">
                        <a:lumMod val="65000"/>
                        <a:lumOff val="35000"/>
                      </a:schemeClr>
                    </a:solidFill>
                    <a:latin typeface="+mn-lt"/>
                    <a:ea typeface="+mn-ea"/>
                    <a:cs typeface="+mn-cs"/>
                  </a:defRPr>
                </a:pPr>
                <a:r>
                  <a:rPr lang="de-DE" dirty="0"/>
                  <a:t>Mobilitäts-ÖV-Typ</a:t>
                </a:r>
              </a:p>
            </c:rich>
          </c:tx>
          <c:overlay val="0"/>
          <c:spPr>
            <a:noFill/>
            <a:ln>
              <a:noFill/>
            </a:ln>
            <a:effectLst/>
          </c:spPr>
          <c:txPr>
            <a:bodyPr rot="-5400000" spcFirstLastPara="1" vertOverflow="ellipsis" vert="horz" wrap="square" anchor="ctr" anchorCtr="1"/>
            <a:lstStyle/>
            <a:p>
              <a:pPr>
                <a:defRPr sz="1000" b="0" i="0" u="none" strike="noStrike" kern="1200" baseline="0" dirty="0">
                  <a:solidFill>
                    <a:schemeClr val="tx1">
                      <a:lumMod val="65000"/>
                      <a:lumOff val="35000"/>
                    </a:schemeClr>
                  </a:solidFill>
                  <a:latin typeface="+mn-lt"/>
                  <a:ea typeface="+mn-ea"/>
                  <a:cs typeface="+mn-cs"/>
                </a:defRPr>
              </a:pPr>
              <a:endParaRPr lang="de-DE"/>
            </a:p>
          </c:txPr>
        </c:title>
        <c:majorTickMark val="none"/>
        <c:minorTickMark val="none"/>
        <c:tickLblPos val="nextTo"/>
        <c:crossAx val="634898352"/>
        <c:crosses val="autoZero"/>
        <c:auto val="1"/>
        <c:lblAlgn val="ctr"/>
        <c:lblOffset val="100"/>
        <c:noMultiLvlLbl val="0"/>
      </c:catAx>
      <c:valAx>
        <c:axId val="63489835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dirty="0">
                    <a:solidFill>
                      <a:schemeClr val="tx1">
                        <a:lumMod val="65000"/>
                        <a:lumOff val="35000"/>
                      </a:schemeClr>
                    </a:solidFill>
                    <a:latin typeface="+mn-lt"/>
                    <a:ea typeface="+mn-ea"/>
                    <a:cs typeface="+mn-cs"/>
                  </a:defRPr>
                </a:pPr>
                <a:r>
                  <a:rPr lang="de-DE" dirty="0"/>
                  <a:t>MIV Jahrespersonenkilometer (</a:t>
                </a:r>
                <a:r>
                  <a:rPr lang="de-DE" dirty="0" err="1"/>
                  <a:t>Pkm</a:t>
                </a:r>
                <a:r>
                  <a:rPr lang="de-DE"/>
                  <a:t>/a)</a:t>
                </a:r>
              </a:p>
            </c:rich>
          </c:tx>
          <c:overlay val="0"/>
          <c:spPr>
            <a:noFill/>
            <a:ln>
              <a:noFill/>
            </a:ln>
            <a:effectLst/>
          </c:spPr>
          <c:txPr>
            <a:bodyPr rot="0" spcFirstLastPara="1" vertOverflow="ellipsis" vert="horz" wrap="square" anchor="ctr" anchorCtr="1"/>
            <a:lstStyle/>
            <a:p>
              <a:pPr>
                <a:defRPr sz="1000" b="0" i="0" u="none" strike="noStrike" kern="1200" baseline="0" dirty="0">
                  <a:solidFill>
                    <a:schemeClr val="tx1">
                      <a:lumMod val="65000"/>
                      <a:lumOff val="35000"/>
                    </a:schemeClr>
                  </a:solidFill>
                  <a:latin typeface="+mn-lt"/>
                  <a:ea typeface="+mn-ea"/>
                  <a:cs typeface="+mn-cs"/>
                </a:defRPr>
              </a:pPr>
              <a:endParaRPr lang="de-DE"/>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dirty="0">
                <a:solidFill>
                  <a:schemeClr val="tx1">
                    <a:lumMod val="65000"/>
                    <a:lumOff val="35000"/>
                  </a:schemeClr>
                </a:solidFill>
                <a:latin typeface="+mn-lt"/>
                <a:ea typeface="+mn-ea"/>
                <a:cs typeface="+mn-cs"/>
              </a:defRPr>
            </a:pPr>
            <a:endParaRPr lang="de-DE"/>
          </a:p>
        </c:txPr>
        <c:crossAx val="634896912"/>
        <c:crosses val="autoZero"/>
        <c:crossBetween val="between"/>
      </c:valAx>
      <c:spPr>
        <a:noFill/>
        <a:ln>
          <a:noFill/>
        </a:ln>
        <a:effectLst/>
      </c:spPr>
    </c:plotArea>
    <c:legend>
      <c:legendPos val="b"/>
      <c:legendEntry>
        <c:idx val="6"/>
        <c:txPr>
          <a:bodyPr rot="0" spcFirstLastPara="1" vertOverflow="ellipsis" vert="horz" wrap="square" anchor="ctr" anchorCtr="1"/>
          <a:lstStyle/>
          <a:p>
            <a:pPr>
              <a:defRPr sz="900" b="0" i="0" u="none" strike="noStrike" kern="1200" baseline="0" dirty="0">
                <a:solidFill>
                  <a:schemeClr val="tx1">
                    <a:lumMod val="65000"/>
                    <a:lumOff val="35000"/>
                  </a:schemeClr>
                </a:solidFill>
                <a:latin typeface="+mn-lt"/>
                <a:ea typeface="+mn-ea"/>
                <a:cs typeface="+mn-cs"/>
              </a:defRPr>
            </a:pPr>
            <a:endParaRPr lang="de-DE"/>
          </a:p>
        </c:txPr>
      </c:legendEntry>
      <c:layout>
        <c:manualLayout>
          <c:xMode val="edge"/>
          <c:yMode val="edge"/>
          <c:x val="0"/>
          <c:y val="0.18946273062994079"/>
          <c:w val="0.57344257445312896"/>
          <c:h val="0.60409203600477646"/>
        </c:manualLayout>
      </c:layout>
      <c:overlay val="0"/>
      <c:spPr>
        <a:noFill/>
        <a:ln>
          <a:noFill/>
        </a:ln>
        <a:effectLst/>
      </c:spPr>
      <c:txPr>
        <a:bodyPr rot="0" spcFirstLastPara="1" vertOverflow="ellipsis" vert="horz" wrap="square" anchor="ctr" anchorCtr="1"/>
        <a:lstStyle/>
        <a:p>
          <a:pPr>
            <a:defRPr sz="900" b="0" i="0" u="none" strike="noStrike" kern="1200" baseline="0" dirty="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dirty="0"/>
      </a:pPr>
      <a:endParaRPr lang="de-DE"/>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464152507252383"/>
          <c:y val="5.6945345067160723E-2"/>
          <c:w val="0.34110038132025949"/>
          <c:h val="0.7404581596418095"/>
        </c:manualLayout>
      </c:layout>
      <c:lineChart>
        <c:grouping val="standard"/>
        <c:varyColors val="0"/>
        <c:ser>
          <c:idx val="0"/>
          <c:order val="0"/>
          <c:tx>
            <c:strRef>
              <c:f>rcps!$A$4</c:f>
              <c:strCache>
                <c:ptCount val="1"/>
                <c:pt idx="0">
                  <c:v>Electricity Average</c:v>
                </c:pt>
              </c:strCache>
            </c:strRef>
          </c:tx>
          <c:spPr>
            <a:ln w="28575" cap="rnd">
              <a:solidFill>
                <a:schemeClr val="accent4"/>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rcps!$P$4:$AO$4</c:f>
              <c:numCache>
                <c:formatCode>0</c:formatCode>
                <c:ptCount val="26"/>
                <c:pt idx="0">
                  <c:v>127.51536735219105</c:v>
                </c:pt>
                <c:pt idx="1">
                  <c:v>111.44843106581497</c:v>
                </c:pt>
                <c:pt idx="2">
                  <c:v>95.381494779438896</c:v>
                </c:pt>
                <c:pt idx="3">
                  <c:v>79.314558493062833</c:v>
                </c:pt>
                <c:pt idx="4">
                  <c:v>63.247622206686756</c:v>
                </c:pt>
                <c:pt idx="5">
                  <c:v>47.180685920310687</c:v>
                </c:pt>
                <c:pt idx="6">
                  <c:v>45.522986144732201</c:v>
                </c:pt>
                <c:pt idx="7">
                  <c:v>43.865286369153722</c:v>
                </c:pt>
                <c:pt idx="8">
                  <c:v>42.207586593575236</c:v>
                </c:pt>
                <c:pt idx="9">
                  <c:v>40.54988681799675</c:v>
                </c:pt>
                <c:pt idx="10">
                  <c:v>38.892187042418271</c:v>
                </c:pt>
                <c:pt idx="11">
                  <c:v>37.234487266839785</c:v>
                </c:pt>
                <c:pt idx="12">
                  <c:v>35.5767874912613</c:v>
                </c:pt>
                <c:pt idx="13">
                  <c:v>33.919087715682821</c:v>
                </c:pt>
                <c:pt idx="14">
                  <c:v>32.261387940104328</c:v>
                </c:pt>
                <c:pt idx="15">
                  <c:v>30.603688164525849</c:v>
                </c:pt>
                <c:pt idx="16">
                  <c:v>27.543319348073265</c:v>
                </c:pt>
                <c:pt idx="17">
                  <c:v>24.482950531620681</c:v>
                </c:pt>
                <c:pt idx="18">
                  <c:v>21.422581715168093</c:v>
                </c:pt>
                <c:pt idx="19">
                  <c:v>18.362212898715509</c:v>
                </c:pt>
                <c:pt idx="20">
                  <c:v>15.301844082262923</c:v>
                </c:pt>
                <c:pt idx="21">
                  <c:v>12.24147526581034</c:v>
                </c:pt>
                <c:pt idx="22">
                  <c:v>9.1811064493577561</c:v>
                </c:pt>
                <c:pt idx="23">
                  <c:v>6.1207376329051684</c:v>
                </c:pt>
                <c:pt idx="24">
                  <c:v>3.0603688164525842</c:v>
                </c:pt>
                <c:pt idx="25">
                  <c:v>0</c:v>
                </c:pt>
              </c:numCache>
            </c:numRef>
          </c:val>
          <c:smooth val="0"/>
          <c:extLst>
            <c:ext xmlns:c16="http://schemas.microsoft.com/office/drawing/2014/chart" uri="{C3380CC4-5D6E-409C-BE32-E72D297353CC}">
              <c16:uniqueId val="{00000000-7C9C-4D30-A828-707CCAADCC3F}"/>
            </c:ext>
          </c:extLst>
        </c:ser>
        <c:ser>
          <c:idx val="1"/>
          <c:order val="1"/>
          <c:tx>
            <c:strRef>
              <c:f>rcps!$A$5</c:f>
              <c:strCache>
                <c:ptCount val="1"/>
                <c:pt idx="0">
                  <c:v>Electricity Max</c:v>
                </c:pt>
              </c:strCache>
            </c:strRef>
          </c:tx>
          <c:spPr>
            <a:ln w="9525" cap="rnd">
              <a:solidFill>
                <a:srgbClr val="FFC000">
                  <a:lumMod val="40000"/>
                  <a:lumOff val="60000"/>
                </a:srgbClr>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rcps!$P$5:$AO$5</c:f>
              <c:numCache>
                <c:formatCode>0</c:formatCode>
                <c:ptCount val="26"/>
                <c:pt idx="0">
                  <c:v>168.32856622254369</c:v>
                </c:pt>
                <c:pt idx="1">
                  <c:v>147.11916687850319</c:v>
                </c:pt>
                <c:pt idx="2">
                  <c:v>125.90976753446267</c:v>
                </c:pt>
                <c:pt idx="3">
                  <c:v>104.70036819042218</c:v>
                </c:pt>
                <c:pt idx="4">
                  <c:v>83.490968846381676</c:v>
                </c:pt>
                <c:pt idx="5">
                  <c:v>62.281569502341164</c:v>
                </c:pt>
                <c:pt idx="6">
                  <c:v>60.093298141448095</c:v>
                </c:pt>
                <c:pt idx="7">
                  <c:v>57.905026780555026</c:v>
                </c:pt>
                <c:pt idx="8">
                  <c:v>55.716755419661958</c:v>
                </c:pt>
                <c:pt idx="9">
                  <c:v>53.528484058768896</c:v>
                </c:pt>
                <c:pt idx="10">
                  <c:v>51.340212697875828</c:v>
                </c:pt>
                <c:pt idx="11">
                  <c:v>49.151941336982759</c:v>
                </c:pt>
                <c:pt idx="12">
                  <c:v>46.96366997608969</c:v>
                </c:pt>
                <c:pt idx="13">
                  <c:v>44.775398615196622</c:v>
                </c:pt>
                <c:pt idx="14">
                  <c:v>42.587127254303553</c:v>
                </c:pt>
                <c:pt idx="15">
                  <c:v>40.398855893410484</c:v>
                </c:pt>
                <c:pt idx="16">
                  <c:v>36.358970304069437</c:v>
                </c:pt>
                <c:pt idx="17">
                  <c:v>32.31908471472839</c:v>
                </c:pt>
                <c:pt idx="18">
                  <c:v>28.27919912538734</c:v>
                </c:pt>
                <c:pt idx="19">
                  <c:v>24.239313536046289</c:v>
                </c:pt>
                <c:pt idx="20">
                  <c:v>20.199427946705242</c:v>
                </c:pt>
                <c:pt idx="21">
                  <c:v>16.159542357364195</c:v>
                </c:pt>
                <c:pt idx="22">
                  <c:v>12.119656768023145</c:v>
                </c:pt>
                <c:pt idx="23">
                  <c:v>8.079771178682094</c:v>
                </c:pt>
                <c:pt idx="24">
                  <c:v>4.039885589341047</c:v>
                </c:pt>
                <c:pt idx="25">
                  <c:v>0</c:v>
                </c:pt>
              </c:numCache>
            </c:numRef>
          </c:val>
          <c:smooth val="0"/>
          <c:extLst>
            <c:ext xmlns:c16="http://schemas.microsoft.com/office/drawing/2014/chart" uri="{C3380CC4-5D6E-409C-BE32-E72D297353CC}">
              <c16:uniqueId val="{00000001-7C9C-4D30-A828-707CCAADCC3F}"/>
            </c:ext>
          </c:extLst>
        </c:ser>
        <c:ser>
          <c:idx val="2"/>
          <c:order val="2"/>
          <c:tx>
            <c:strRef>
              <c:f>rcps!$A$6</c:f>
              <c:strCache>
                <c:ptCount val="1"/>
                <c:pt idx="0">
                  <c:v>Electricity Min</c:v>
                </c:pt>
              </c:strCache>
            </c:strRef>
          </c:tx>
          <c:spPr>
            <a:ln w="9525" cap="rnd">
              <a:solidFill>
                <a:srgbClr val="FFC000">
                  <a:lumMod val="40000"/>
                  <a:lumOff val="60000"/>
                </a:srgbClr>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rcps!$P$6:$AO$6</c:f>
              <c:numCache>
                <c:formatCode>0</c:formatCode>
                <c:ptCount val="26"/>
                <c:pt idx="0">
                  <c:v>105.44309965403197</c:v>
                </c:pt>
                <c:pt idx="1">
                  <c:v>92.157269097623939</c:v>
                </c:pt>
                <c:pt idx="2">
                  <c:v>78.871438541215909</c:v>
                </c:pt>
                <c:pt idx="3">
                  <c:v>65.585607984807879</c:v>
                </c:pt>
                <c:pt idx="4">
                  <c:v>52.29977742839985</c:v>
                </c:pt>
                <c:pt idx="5">
                  <c:v>39.013946871991827</c:v>
                </c:pt>
                <c:pt idx="6">
                  <c:v>37.643186576489413</c:v>
                </c:pt>
                <c:pt idx="7">
                  <c:v>36.272426280986998</c:v>
                </c:pt>
                <c:pt idx="8">
                  <c:v>34.901665985484577</c:v>
                </c:pt>
                <c:pt idx="9">
                  <c:v>33.530905689982163</c:v>
                </c:pt>
                <c:pt idx="10">
                  <c:v>32.160145394479748</c:v>
                </c:pt>
                <c:pt idx="11">
                  <c:v>30.789385098977334</c:v>
                </c:pt>
                <c:pt idx="12">
                  <c:v>29.418624803474916</c:v>
                </c:pt>
                <c:pt idx="13">
                  <c:v>28.047864507972502</c:v>
                </c:pt>
                <c:pt idx="14">
                  <c:v>26.677104212470084</c:v>
                </c:pt>
                <c:pt idx="15">
                  <c:v>25.30634391696767</c:v>
                </c:pt>
                <c:pt idx="16">
                  <c:v>22.775709525270901</c:v>
                </c:pt>
                <c:pt idx="17">
                  <c:v>20.245075133574137</c:v>
                </c:pt>
                <c:pt idx="18">
                  <c:v>17.714440741877368</c:v>
                </c:pt>
                <c:pt idx="19">
                  <c:v>15.183806350180602</c:v>
                </c:pt>
                <c:pt idx="20">
                  <c:v>12.653171958483835</c:v>
                </c:pt>
                <c:pt idx="21">
                  <c:v>10.12253756678707</c:v>
                </c:pt>
                <c:pt idx="22">
                  <c:v>7.5919031750903017</c:v>
                </c:pt>
                <c:pt idx="23">
                  <c:v>5.0612687833935333</c:v>
                </c:pt>
                <c:pt idx="24">
                  <c:v>2.5306343916967649</c:v>
                </c:pt>
                <c:pt idx="25">
                  <c:v>0</c:v>
                </c:pt>
              </c:numCache>
            </c:numRef>
          </c:val>
          <c:smooth val="0"/>
          <c:extLst>
            <c:ext xmlns:c16="http://schemas.microsoft.com/office/drawing/2014/chart" uri="{C3380CC4-5D6E-409C-BE32-E72D297353CC}">
              <c16:uniqueId val="{00000002-7C9C-4D30-A828-707CCAADCC3F}"/>
            </c:ext>
          </c:extLst>
        </c:ser>
        <c:ser>
          <c:idx val="3"/>
          <c:order val="3"/>
          <c:tx>
            <c:strRef>
              <c:f>rcps!$A$7</c:f>
              <c:strCache>
                <c:ptCount val="1"/>
                <c:pt idx="0">
                  <c:v>Electricity 75%</c:v>
                </c:pt>
              </c:strCache>
            </c:strRef>
          </c:tx>
          <c:spPr>
            <a:ln w="12700" cap="rnd">
              <a:solidFill>
                <a:srgbClr val="FFC000">
                  <a:lumMod val="75000"/>
                </a:srgbClr>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rcps!$P$7:$AO$7</c:f>
              <c:numCache>
                <c:formatCode>0</c:formatCode>
                <c:ptCount val="26"/>
                <c:pt idx="0">
                  <c:v>147.92196678736735</c:v>
                </c:pt>
                <c:pt idx="1">
                  <c:v>129.28379897215908</c:v>
                </c:pt>
                <c:pt idx="2">
                  <c:v>110.64563115695077</c:v>
                </c:pt>
                <c:pt idx="3">
                  <c:v>92.007463341742493</c:v>
                </c:pt>
                <c:pt idx="4">
                  <c:v>73.369295526534202</c:v>
                </c:pt>
                <c:pt idx="5">
                  <c:v>54.731127711325918</c:v>
                </c:pt>
                <c:pt idx="6">
                  <c:v>52.808142143090144</c:v>
                </c:pt>
                <c:pt idx="7">
                  <c:v>50.885156574854371</c:v>
                </c:pt>
                <c:pt idx="8">
                  <c:v>48.96217100661859</c:v>
                </c:pt>
                <c:pt idx="9">
                  <c:v>47.039185438382816</c:v>
                </c:pt>
                <c:pt idx="10">
                  <c:v>45.116199870147042</c:v>
                </c:pt>
                <c:pt idx="11">
                  <c:v>43.193214301911269</c:v>
                </c:pt>
                <c:pt idx="12">
                  <c:v>41.270228733675495</c:v>
                </c:pt>
                <c:pt idx="13">
                  <c:v>39.347243165439721</c:v>
                </c:pt>
                <c:pt idx="14">
                  <c:v>37.42425759720394</c:v>
                </c:pt>
                <c:pt idx="15">
                  <c:v>35.501272028968167</c:v>
                </c:pt>
                <c:pt idx="16">
                  <c:v>31.951144826071349</c:v>
                </c:pt>
                <c:pt idx="17">
                  <c:v>28.401017623174532</c:v>
                </c:pt>
                <c:pt idx="18">
                  <c:v>24.850890420277718</c:v>
                </c:pt>
                <c:pt idx="19">
                  <c:v>21.300763217380901</c:v>
                </c:pt>
                <c:pt idx="20">
                  <c:v>17.750636014484083</c:v>
                </c:pt>
                <c:pt idx="21">
                  <c:v>14.20050881158727</c:v>
                </c:pt>
                <c:pt idx="22">
                  <c:v>10.650381608690452</c:v>
                </c:pt>
                <c:pt idx="23">
                  <c:v>7.1002544057936348</c:v>
                </c:pt>
                <c:pt idx="24">
                  <c:v>3.5501272028968174</c:v>
                </c:pt>
                <c:pt idx="25">
                  <c:v>0</c:v>
                </c:pt>
              </c:numCache>
            </c:numRef>
          </c:val>
          <c:smooth val="0"/>
          <c:extLst>
            <c:ext xmlns:c16="http://schemas.microsoft.com/office/drawing/2014/chart" uri="{C3380CC4-5D6E-409C-BE32-E72D297353CC}">
              <c16:uniqueId val="{00000003-7C9C-4D30-A828-707CCAADCC3F}"/>
            </c:ext>
          </c:extLst>
        </c:ser>
        <c:ser>
          <c:idx val="4"/>
          <c:order val="4"/>
          <c:tx>
            <c:strRef>
              <c:f>rcps!$A$8</c:f>
              <c:strCache>
                <c:ptCount val="1"/>
                <c:pt idx="0">
                  <c:v>DH from heating plant (renewable)</c:v>
                </c:pt>
              </c:strCache>
            </c:strRef>
          </c:tx>
          <c:spPr>
            <a:ln w="28575" cap="rnd">
              <a:solidFill>
                <a:schemeClr val="accent1">
                  <a:lumMod val="40000"/>
                  <a:lumOff val="60000"/>
                </a:schemeClr>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rcps!$P$8:$AO$8</c:f>
              <c:numCache>
                <c:formatCode>0</c:formatCode>
                <c:ptCount val="26"/>
                <c:pt idx="0">
                  <c:v>59</c:v>
                </c:pt>
                <c:pt idx="1">
                  <c:v>56.64</c:v>
                </c:pt>
                <c:pt idx="2">
                  <c:v>54.28</c:v>
                </c:pt>
                <c:pt idx="3">
                  <c:v>51.92</c:v>
                </c:pt>
                <c:pt idx="4">
                  <c:v>49.56</c:v>
                </c:pt>
                <c:pt idx="5">
                  <c:v>47.2</c:v>
                </c:pt>
                <c:pt idx="6">
                  <c:v>44.84</c:v>
                </c:pt>
                <c:pt idx="7">
                  <c:v>42.480000000000004</c:v>
                </c:pt>
                <c:pt idx="8">
                  <c:v>40.120000000000005</c:v>
                </c:pt>
                <c:pt idx="9">
                  <c:v>37.760000000000005</c:v>
                </c:pt>
                <c:pt idx="10">
                  <c:v>35.400000000000006</c:v>
                </c:pt>
                <c:pt idx="11">
                  <c:v>33.04</c:v>
                </c:pt>
                <c:pt idx="12">
                  <c:v>30.68</c:v>
                </c:pt>
                <c:pt idx="13">
                  <c:v>28.32</c:v>
                </c:pt>
                <c:pt idx="14">
                  <c:v>25.96</c:v>
                </c:pt>
                <c:pt idx="15">
                  <c:v>23.6</c:v>
                </c:pt>
                <c:pt idx="16">
                  <c:v>21.240000000000002</c:v>
                </c:pt>
                <c:pt idx="17">
                  <c:v>18.880000000000003</c:v>
                </c:pt>
                <c:pt idx="18">
                  <c:v>16.52</c:v>
                </c:pt>
                <c:pt idx="19">
                  <c:v>14.16</c:v>
                </c:pt>
                <c:pt idx="20">
                  <c:v>11.8</c:v>
                </c:pt>
                <c:pt idx="21">
                  <c:v>9.44</c:v>
                </c:pt>
                <c:pt idx="22">
                  <c:v>7.0799999999999983</c:v>
                </c:pt>
                <c:pt idx="23">
                  <c:v>4.7199999999999989</c:v>
                </c:pt>
                <c:pt idx="24">
                  <c:v>2.3599999999999994</c:v>
                </c:pt>
                <c:pt idx="25">
                  <c:v>0</c:v>
                </c:pt>
              </c:numCache>
            </c:numRef>
          </c:val>
          <c:smooth val="0"/>
          <c:extLst>
            <c:ext xmlns:c16="http://schemas.microsoft.com/office/drawing/2014/chart" uri="{C3380CC4-5D6E-409C-BE32-E72D297353CC}">
              <c16:uniqueId val="{00000004-7C9C-4D30-A828-707CCAADCC3F}"/>
            </c:ext>
          </c:extLst>
        </c:ser>
        <c:ser>
          <c:idx val="5"/>
          <c:order val="5"/>
          <c:tx>
            <c:strRef>
              <c:f>rcps!$A$9</c:f>
              <c:strCache>
                <c:ptCount val="1"/>
                <c:pt idx="0">
                  <c:v>DH from heating plant (non-renewable)</c:v>
                </c:pt>
              </c:strCache>
            </c:strRef>
          </c:tx>
          <c:spPr>
            <a:ln w="28575" cap="rnd">
              <a:solidFill>
                <a:schemeClr val="accent1">
                  <a:lumMod val="75000"/>
                </a:schemeClr>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rcps!$P$9:$AO$9</c:f>
              <c:numCache>
                <c:formatCode>0</c:formatCode>
                <c:ptCount val="26"/>
                <c:pt idx="0">
                  <c:v>193</c:v>
                </c:pt>
                <c:pt idx="1">
                  <c:v>192.614</c:v>
                </c:pt>
                <c:pt idx="2">
                  <c:v>192.22800000000001</c:v>
                </c:pt>
                <c:pt idx="3">
                  <c:v>191.84199999999998</c:v>
                </c:pt>
                <c:pt idx="4">
                  <c:v>191.45599999999999</c:v>
                </c:pt>
                <c:pt idx="5">
                  <c:v>191.07</c:v>
                </c:pt>
                <c:pt idx="6">
                  <c:v>190.684</c:v>
                </c:pt>
                <c:pt idx="7">
                  <c:v>190.298</c:v>
                </c:pt>
                <c:pt idx="8">
                  <c:v>189.91200000000001</c:v>
                </c:pt>
                <c:pt idx="9">
                  <c:v>189.52600000000001</c:v>
                </c:pt>
                <c:pt idx="10">
                  <c:v>189.14</c:v>
                </c:pt>
                <c:pt idx="11">
                  <c:v>188.75399999999999</c:v>
                </c:pt>
                <c:pt idx="12">
                  <c:v>188.36799999999999</c:v>
                </c:pt>
                <c:pt idx="13">
                  <c:v>187.982</c:v>
                </c:pt>
                <c:pt idx="14">
                  <c:v>187.596</c:v>
                </c:pt>
                <c:pt idx="15">
                  <c:v>187.21</c:v>
                </c:pt>
                <c:pt idx="16">
                  <c:v>186.82400000000001</c:v>
                </c:pt>
                <c:pt idx="17">
                  <c:v>186.43800000000002</c:v>
                </c:pt>
                <c:pt idx="18">
                  <c:v>186.05199999999999</c:v>
                </c:pt>
                <c:pt idx="19">
                  <c:v>185.666</c:v>
                </c:pt>
                <c:pt idx="20">
                  <c:v>185.28</c:v>
                </c:pt>
                <c:pt idx="21">
                  <c:v>184.89400000000001</c:v>
                </c:pt>
                <c:pt idx="22">
                  <c:v>184.50800000000001</c:v>
                </c:pt>
                <c:pt idx="23">
                  <c:v>184.12199999999999</c:v>
                </c:pt>
                <c:pt idx="24">
                  <c:v>183.73599999999999</c:v>
                </c:pt>
                <c:pt idx="25">
                  <c:v>183.35</c:v>
                </c:pt>
              </c:numCache>
            </c:numRef>
          </c:val>
          <c:smooth val="0"/>
          <c:extLst>
            <c:ext xmlns:c16="http://schemas.microsoft.com/office/drawing/2014/chart" uri="{C3380CC4-5D6E-409C-BE32-E72D297353CC}">
              <c16:uniqueId val="{00000005-7C9C-4D30-A828-707CCAADCC3F}"/>
            </c:ext>
          </c:extLst>
        </c:ser>
        <c:ser>
          <c:idx val="6"/>
          <c:order val="6"/>
          <c:tx>
            <c:strRef>
              <c:f>rcps!$A$10</c:f>
              <c:strCache>
                <c:ptCount val="1"/>
                <c:pt idx="0">
                  <c:v>DH from high-efficiency CHP(1) (default value)</c:v>
                </c:pt>
              </c:strCache>
            </c:strRef>
          </c:tx>
          <c:spPr>
            <a:ln w="28575" cap="rnd">
              <a:solidFill>
                <a:srgbClr val="4472C4"/>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rcps!$P$10:$AO$10</c:f>
              <c:numCache>
                <c:formatCode>0</c:formatCode>
                <c:ptCount val="26"/>
                <c:pt idx="0">
                  <c:v>67</c:v>
                </c:pt>
                <c:pt idx="1">
                  <c:v>64.319999999999993</c:v>
                </c:pt>
                <c:pt idx="2">
                  <c:v>61.64</c:v>
                </c:pt>
                <c:pt idx="3">
                  <c:v>58.96</c:v>
                </c:pt>
                <c:pt idx="4">
                  <c:v>56.28</c:v>
                </c:pt>
                <c:pt idx="5">
                  <c:v>53.6</c:v>
                </c:pt>
                <c:pt idx="6">
                  <c:v>50.92</c:v>
                </c:pt>
                <c:pt idx="7">
                  <c:v>48.24</c:v>
                </c:pt>
                <c:pt idx="8">
                  <c:v>45.56</c:v>
                </c:pt>
                <c:pt idx="9">
                  <c:v>42.88</c:v>
                </c:pt>
                <c:pt idx="10">
                  <c:v>40.200000000000003</c:v>
                </c:pt>
                <c:pt idx="11">
                  <c:v>37.519999999999996</c:v>
                </c:pt>
                <c:pt idx="12">
                  <c:v>34.840000000000003</c:v>
                </c:pt>
                <c:pt idx="13">
                  <c:v>32.159999999999997</c:v>
                </c:pt>
                <c:pt idx="14">
                  <c:v>29.48</c:v>
                </c:pt>
                <c:pt idx="15">
                  <c:v>26.8</c:v>
                </c:pt>
                <c:pt idx="16">
                  <c:v>24.12</c:v>
                </c:pt>
                <c:pt idx="17">
                  <c:v>21.44</c:v>
                </c:pt>
                <c:pt idx="18">
                  <c:v>18.759999999999998</c:v>
                </c:pt>
                <c:pt idx="19">
                  <c:v>16.079999999999998</c:v>
                </c:pt>
                <c:pt idx="20">
                  <c:v>13.4</c:v>
                </c:pt>
                <c:pt idx="21">
                  <c:v>10.719999999999999</c:v>
                </c:pt>
                <c:pt idx="22">
                  <c:v>8.0400000000000027</c:v>
                </c:pt>
                <c:pt idx="23">
                  <c:v>5.3599999999999994</c:v>
                </c:pt>
                <c:pt idx="24">
                  <c:v>2.6799999999999997</c:v>
                </c:pt>
                <c:pt idx="25">
                  <c:v>0</c:v>
                </c:pt>
              </c:numCache>
            </c:numRef>
          </c:val>
          <c:smooth val="0"/>
          <c:extLst>
            <c:ext xmlns:c16="http://schemas.microsoft.com/office/drawing/2014/chart" uri="{C3380CC4-5D6E-409C-BE32-E72D297353CC}">
              <c16:uniqueId val="{00000006-7C9C-4D30-A828-707CCAADCC3F}"/>
            </c:ext>
          </c:extLst>
        </c:ser>
        <c:ser>
          <c:idx val="7"/>
          <c:order val="7"/>
          <c:tx>
            <c:strRef>
              <c:f>rcps!$A$11</c:f>
              <c:strCache>
                <c:ptCount val="1"/>
                <c:pt idx="0">
                  <c:v>DH from high-efficiency CHP(1) (best value)</c:v>
                </c:pt>
              </c:strCache>
            </c:strRef>
          </c:tx>
          <c:spPr>
            <a:ln w="28575" cap="rnd">
              <a:solidFill>
                <a:srgbClr val="4472C4">
                  <a:lumMod val="75000"/>
                </a:srgbClr>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rcps!$P$11:$AO$11</c:f>
              <c:numCache>
                <c:formatCode>0</c:formatCode>
                <c:ptCount val="26"/>
                <c:pt idx="0">
                  <c:v>20</c:v>
                </c:pt>
                <c:pt idx="1">
                  <c:v>19.2</c:v>
                </c:pt>
                <c:pt idx="2">
                  <c:v>18.399999999999999</c:v>
                </c:pt>
                <c:pt idx="3">
                  <c:v>17.600000000000001</c:v>
                </c:pt>
                <c:pt idx="4">
                  <c:v>16.8</c:v>
                </c:pt>
                <c:pt idx="5">
                  <c:v>16</c:v>
                </c:pt>
                <c:pt idx="6">
                  <c:v>15.2</c:v>
                </c:pt>
                <c:pt idx="7">
                  <c:v>14.4</c:v>
                </c:pt>
                <c:pt idx="8">
                  <c:v>13.6</c:v>
                </c:pt>
                <c:pt idx="9">
                  <c:v>12.8</c:v>
                </c:pt>
                <c:pt idx="10">
                  <c:v>12</c:v>
                </c:pt>
                <c:pt idx="11">
                  <c:v>11.2</c:v>
                </c:pt>
                <c:pt idx="12">
                  <c:v>10.4</c:v>
                </c:pt>
                <c:pt idx="13">
                  <c:v>9.6</c:v>
                </c:pt>
                <c:pt idx="14">
                  <c:v>8.8000000000000007</c:v>
                </c:pt>
                <c:pt idx="15">
                  <c:v>8</c:v>
                </c:pt>
                <c:pt idx="16">
                  <c:v>7.2</c:v>
                </c:pt>
                <c:pt idx="17">
                  <c:v>6.4</c:v>
                </c:pt>
                <c:pt idx="18">
                  <c:v>5.6</c:v>
                </c:pt>
                <c:pt idx="19">
                  <c:v>4.8</c:v>
                </c:pt>
                <c:pt idx="20">
                  <c:v>4</c:v>
                </c:pt>
                <c:pt idx="21">
                  <c:v>3.2</c:v>
                </c:pt>
                <c:pt idx="22">
                  <c:v>2.4000000000000004</c:v>
                </c:pt>
                <c:pt idx="23">
                  <c:v>1.5999999999999996</c:v>
                </c:pt>
                <c:pt idx="24">
                  <c:v>0.79999999999999982</c:v>
                </c:pt>
                <c:pt idx="25">
                  <c:v>0</c:v>
                </c:pt>
              </c:numCache>
            </c:numRef>
          </c:val>
          <c:smooth val="0"/>
          <c:extLst>
            <c:ext xmlns:c16="http://schemas.microsoft.com/office/drawing/2014/chart" uri="{C3380CC4-5D6E-409C-BE32-E72D297353CC}">
              <c16:uniqueId val="{00000007-7C9C-4D30-A828-707CCAADCC3F}"/>
            </c:ext>
          </c:extLst>
        </c:ser>
        <c:ser>
          <c:idx val="8"/>
          <c:order val="8"/>
          <c:tx>
            <c:strRef>
              <c:f>rcps!$A$12</c:f>
              <c:strCache>
                <c:ptCount val="1"/>
                <c:pt idx="0">
                  <c:v>DH Vienna</c:v>
                </c:pt>
              </c:strCache>
            </c:strRef>
          </c:tx>
          <c:spPr>
            <a:ln w="28575" cap="rnd">
              <a:solidFill>
                <a:srgbClr val="FFC000"/>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rcps!$P$12:$AO$12</c:f>
              <c:numCache>
                <c:formatCode>0</c:formatCode>
                <c:ptCount val="26"/>
                <c:pt idx="0">
                  <c:v>20</c:v>
                </c:pt>
                <c:pt idx="1">
                  <c:v>19.2</c:v>
                </c:pt>
                <c:pt idx="2">
                  <c:v>18.399999999999999</c:v>
                </c:pt>
                <c:pt idx="3">
                  <c:v>17.600000000000001</c:v>
                </c:pt>
                <c:pt idx="4">
                  <c:v>16.8</c:v>
                </c:pt>
                <c:pt idx="5">
                  <c:v>16</c:v>
                </c:pt>
                <c:pt idx="6">
                  <c:v>15.2</c:v>
                </c:pt>
                <c:pt idx="7">
                  <c:v>14.4</c:v>
                </c:pt>
                <c:pt idx="8">
                  <c:v>13.6</c:v>
                </c:pt>
                <c:pt idx="9">
                  <c:v>12.8</c:v>
                </c:pt>
                <c:pt idx="10">
                  <c:v>12</c:v>
                </c:pt>
                <c:pt idx="11">
                  <c:v>11.2</c:v>
                </c:pt>
                <c:pt idx="12">
                  <c:v>10.4</c:v>
                </c:pt>
                <c:pt idx="13">
                  <c:v>9.6</c:v>
                </c:pt>
                <c:pt idx="14">
                  <c:v>8.8000000000000007</c:v>
                </c:pt>
                <c:pt idx="15">
                  <c:v>8</c:v>
                </c:pt>
                <c:pt idx="16">
                  <c:v>7.2</c:v>
                </c:pt>
                <c:pt idx="17">
                  <c:v>6.4</c:v>
                </c:pt>
                <c:pt idx="18">
                  <c:v>5.6</c:v>
                </c:pt>
                <c:pt idx="19">
                  <c:v>4.8</c:v>
                </c:pt>
                <c:pt idx="20">
                  <c:v>4</c:v>
                </c:pt>
                <c:pt idx="21">
                  <c:v>3.2</c:v>
                </c:pt>
                <c:pt idx="22">
                  <c:v>2.4000000000000004</c:v>
                </c:pt>
                <c:pt idx="23">
                  <c:v>1.5999999999999996</c:v>
                </c:pt>
                <c:pt idx="24">
                  <c:v>0.79999999999999982</c:v>
                </c:pt>
                <c:pt idx="25">
                  <c:v>0</c:v>
                </c:pt>
              </c:numCache>
            </c:numRef>
          </c:val>
          <c:smooth val="0"/>
          <c:extLst>
            <c:ext xmlns:c16="http://schemas.microsoft.com/office/drawing/2014/chart" uri="{C3380CC4-5D6E-409C-BE32-E72D297353CC}">
              <c16:uniqueId val="{00000008-7C9C-4D30-A828-707CCAADCC3F}"/>
            </c:ext>
          </c:extLst>
        </c:ser>
        <c:ser>
          <c:idx val="9"/>
          <c:order val="9"/>
          <c:tx>
            <c:strRef>
              <c:f>rcps!$A$13</c:f>
              <c:strCache>
                <c:ptCount val="1"/>
                <c:pt idx="0">
                  <c:v>Waste heat (default value)</c:v>
                </c:pt>
              </c:strCache>
            </c:strRef>
          </c:tx>
          <c:spPr>
            <a:ln w="28575" cap="rnd">
              <a:solidFill>
                <a:schemeClr val="tx2">
                  <a:lumMod val="40000"/>
                  <a:lumOff val="60000"/>
                </a:schemeClr>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rcps!$P$13:$AO$13</c:f>
              <c:numCache>
                <c:formatCode>0</c:formatCode>
                <c:ptCount val="26"/>
                <c:pt idx="0">
                  <c:v>20</c:v>
                </c:pt>
                <c:pt idx="1">
                  <c:v>19.2</c:v>
                </c:pt>
                <c:pt idx="2">
                  <c:v>18.399999999999999</c:v>
                </c:pt>
                <c:pt idx="3">
                  <c:v>17.600000000000001</c:v>
                </c:pt>
                <c:pt idx="4">
                  <c:v>16.8</c:v>
                </c:pt>
                <c:pt idx="5">
                  <c:v>16</c:v>
                </c:pt>
                <c:pt idx="6">
                  <c:v>15.2</c:v>
                </c:pt>
                <c:pt idx="7">
                  <c:v>14.4</c:v>
                </c:pt>
                <c:pt idx="8">
                  <c:v>13.6</c:v>
                </c:pt>
                <c:pt idx="9">
                  <c:v>12.8</c:v>
                </c:pt>
                <c:pt idx="10">
                  <c:v>12</c:v>
                </c:pt>
                <c:pt idx="11">
                  <c:v>11.2</c:v>
                </c:pt>
                <c:pt idx="12">
                  <c:v>10.4</c:v>
                </c:pt>
                <c:pt idx="13">
                  <c:v>9.6</c:v>
                </c:pt>
                <c:pt idx="14">
                  <c:v>8.8000000000000007</c:v>
                </c:pt>
                <c:pt idx="15">
                  <c:v>8</c:v>
                </c:pt>
                <c:pt idx="16">
                  <c:v>7.2</c:v>
                </c:pt>
                <c:pt idx="17">
                  <c:v>6.4</c:v>
                </c:pt>
                <c:pt idx="18">
                  <c:v>5.6</c:v>
                </c:pt>
                <c:pt idx="19">
                  <c:v>4.8</c:v>
                </c:pt>
                <c:pt idx="20">
                  <c:v>4</c:v>
                </c:pt>
                <c:pt idx="21">
                  <c:v>3.2</c:v>
                </c:pt>
                <c:pt idx="22">
                  <c:v>2.4000000000000004</c:v>
                </c:pt>
                <c:pt idx="23">
                  <c:v>1.5999999999999996</c:v>
                </c:pt>
                <c:pt idx="24">
                  <c:v>0.79999999999999982</c:v>
                </c:pt>
                <c:pt idx="25">
                  <c:v>0</c:v>
                </c:pt>
              </c:numCache>
            </c:numRef>
          </c:val>
          <c:smooth val="0"/>
          <c:extLst>
            <c:ext xmlns:c16="http://schemas.microsoft.com/office/drawing/2014/chart" uri="{C3380CC4-5D6E-409C-BE32-E72D297353CC}">
              <c16:uniqueId val="{00000009-7C9C-4D30-A828-707CCAADCC3F}"/>
            </c:ext>
          </c:extLst>
        </c:ser>
        <c:ser>
          <c:idx val="10"/>
          <c:order val="10"/>
          <c:tx>
            <c:strRef>
              <c:f>rcps!$A$14</c:f>
              <c:strCache>
                <c:ptCount val="1"/>
                <c:pt idx="0">
                  <c:v>Waste heat (best value)</c:v>
                </c:pt>
              </c:strCache>
            </c:strRef>
          </c:tx>
          <c:spPr>
            <a:ln w="19050" cap="rnd">
              <a:solidFill>
                <a:srgbClr val="ED7D31">
                  <a:lumMod val="40000"/>
                  <a:lumOff val="60000"/>
                </a:srgbClr>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rcps!$P$14:$AO$14</c:f>
              <c:numCache>
                <c:formatCode>0</c:formatCode>
                <c:ptCount val="26"/>
                <c:pt idx="0">
                  <c:v>20</c:v>
                </c:pt>
                <c:pt idx="1">
                  <c:v>19.2</c:v>
                </c:pt>
                <c:pt idx="2">
                  <c:v>18.399999999999999</c:v>
                </c:pt>
                <c:pt idx="3">
                  <c:v>17.600000000000001</c:v>
                </c:pt>
                <c:pt idx="4">
                  <c:v>16.8</c:v>
                </c:pt>
                <c:pt idx="5">
                  <c:v>16</c:v>
                </c:pt>
                <c:pt idx="6">
                  <c:v>15.2</c:v>
                </c:pt>
                <c:pt idx="7">
                  <c:v>14.4</c:v>
                </c:pt>
                <c:pt idx="8">
                  <c:v>13.6</c:v>
                </c:pt>
                <c:pt idx="9">
                  <c:v>12.8</c:v>
                </c:pt>
                <c:pt idx="10">
                  <c:v>12</c:v>
                </c:pt>
                <c:pt idx="11">
                  <c:v>11.2</c:v>
                </c:pt>
                <c:pt idx="12">
                  <c:v>10.4</c:v>
                </c:pt>
                <c:pt idx="13">
                  <c:v>9.6</c:v>
                </c:pt>
                <c:pt idx="14">
                  <c:v>8.8000000000000007</c:v>
                </c:pt>
                <c:pt idx="15">
                  <c:v>8</c:v>
                </c:pt>
                <c:pt idx="16">
                  <c:v>7.2</c:v>
                </c:pt>
                <c:pt idx="17">
                  <c:v>6.4</c:v>
                </c:pt>
                <c:pt idx="18">
                  <c:v>5.6</c:v>
                </c:pt>
                <c:pt idx="19">
                  <c:v>4.8</c:v>
                </c:pt>
                <c:pt idx="20">
                  <c:v>4</c:v>
                </c:pt>
                <c:pt idx="21">
                  <c:v>3.2</c:v>
                </c:pt>
                <c:pt idx="22">
                  <c:v>2.4000000000000004</c:v>
                </c:pt>
                <c:pt idx="23">
                  <c:v>1.5999999999999996</c:v>
                </c:pt>
                <c:pt idx="24">
                  <c:v>0.79999999999999982</c:v>
                </c:pt>
                <c:pt idx="25">
                  <c:v>0</c:v>
                </c:pt>
              </c:numCache>
            </c:numRef>
          </c:val>
          <c:smooth val="0"/>
          <c:extLst>
            <c:ext xmlns:c16="http://schemas.microsoft.com/office/drawing/2014/chart" uri="{C3380CC4-5D6E-409C-BE32-E72D297353CC}">
              <c16:uniqueId val="{0000000A-7C9C-4D30-A828-707CCAADCC3F}"/>
            </c:ext>
          </c:extLst>
        </c:ser>
        <c:ser>
          <c:idx val="11"/>
          <c:order val="11"/>
          <c:tx>
            <c:strRef>
              <c:f>rcps!$A$15</c:f>
              <c:strCache>
                <c:ptCount val="1"/>
                <c:pt idx="0">
                  <c:v>Coal</c:v>
                </c:pt>
              </c:strCache>
            </c:strRef>
          </c:tx>
          <c:spPr>
            <a:ln w="19050" cap="rnd">
              <a:solidFill>
                <a:srgbClr val="E7E6E6">
                  <a:lumMod val="10000"/>
                </a:srgbClr>
              </a:solidFill>
              <a:prstDash val="dash"/>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rcps!$P$15:$AO$15</c:f>
              <c:numCache>
                <c:formatCode>0</c:formatCode>
                <c:ptCount val="26"/>
                <c:pt idx="0">
                  <c:v>360</c:v>
                </c:pt>
                <c:pt idx="1">
                  <c:v>359.28</c:v>
                </c:pt>
                <c:pt idx="2">
                  <c:v>358.56</c:v>
                </c:pt>
                <c:pt idx="3">
                  <c:v>357.84</c:v>
                </c:pt>
                <c:pt idx="4">
                  <c:v>357.12</c:v>
                </c:pt>
                <c:pt idx="5">
                  <c:v>356.4</c:v>
                </c:pt>
                <c:pt idx="6">
                  <c:v>355.67999999999995</c:v>
                </c:pt>
                <c:pt idx="7">
                  <c:v>354.96</c:v>
                </c:pt>
                <c:pt idx="8">
                  <c:v>354.24</c:v>
                </c:pt>
                <c:pt idx="9">
                  <c:v>353.52</c:v>
                </c:pt>
                <c:pt idx="10">
                  <c:v>352.79999999999995</c:v>
                </c:pt>
                <c:pt idx="11">
                  <c:v>352.08</c:v>
                </c:pt>
                <c:pt idx="12">
                  <c:v>351.36</c:v>
                </c:pt>
                <c:pt idx="13">
                  <c:v>350.64</c:v>
                </c:pt>
                <c:pt idx="14">
                  <c:v>349.91999999999996</c:v>
                </c:pt>
                <c:pt idx="15">
                  <c:v>349.2</c:v>
                </c:pt>
                <c:pt idx="16">
                  <c:v>348.48</c:v>
                </c:pt>
                <c:pt idx="17">
                  <c:v>347.76</c:v>
                </c:pt>
                <c:pt idx="18">
                  <c:v>347.03999999999996</c:v>
                </c:pt>
                <c:pt idx="19">
                  <c:v>346.32</c:v>
                </c:pt>
                <c:pt idx="20">
                  <c:v>345.6</c:v>
                </c:pt>
                <c:pt idx="21">
                  <c:v>344.88</c:v>
                </c:pt>
                <c:pt idx="22">
                  <c:v>344.15999999999997</c:v>
                </c:pt>
                <c:pt idx="23">
                  <c:v>343.44</c:v>
                </c:pt>
                <c:pt idx="24">
                  <c:v>342.72</c:v>
                </c:pt>
                <c:pt idx="25">
                  <c:v>342</c:v>
                </c:pt>
              </c:numCache>
            </c:numRef>
          </c:val>
          <c:smooth val="0"/>
          <c:extLst>
            <c:ext xmlns:c16="http://schemas.microsoft.com/office/drawing/2014/chart" uri="{C3380CC4-5D6E-409C-BE32-E72D297353CC}">
              <c16:uniqueId val="{0000000B-7C9C-4D30-A828-707CCAADCC3F}"/>
            </c:ext>
          </c:extLst>
        </c:ser>
        <c:ser>
          <c:idx val="12"/>
          <c:order val="12"/>
          <c:tx>
            <c:strRef>
              <c:f>rcps!$A$16</c:f>
              <c:strCache>
                <c:ptCount val="1"/>
                <c:pt idx="0">
                  <c:v>Heating oil</c:v>
                </c:pt>
              </c:strCache>
            </c:strRef>
          </c:tx>
          <c:spPr>
            <a:ln w="19050" cap="rnd">
              <a:solidFill>
                <a:srgbClr val="E7E6E6">
                  <a:lumMod val="25000"/>
                </a:srgbClr>
              </a:solidFill>
              <a:prstDash val="sysDash"/>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rcps!$P$16:$AO$16</c:f>
              <c:numCache>
                <c:formatCode>0</c:formatCode>
                <c:ptCount val="26"/>
                <c:pt idx="0">
                  <c:v>271</c:v>
                </c:pt>
                <c:pt idx="1">
                  <c:v>270.45800000000003</c:v>
                </c:pt>
                <c:pt idx="2">
                  <c:v>269.916</c:v>
                </c:pt>
                <c:pt idx="3">
                  <c:v>269.37400000000002</c:v>
                </c:pt>
                <c:pt idx="4">
                  <c:v>268.83199999999999</c:v>
                </c:pt>
                <c:pt idx="5">
                  <c:v>268.29000000000002</c:v>
                </c:pt>
                <c:pt idx="6">
                  <c:v>267.74800000000005</c:v>
                </c:pt>
                <c:pt idx="7">
                  <c:v>267.20600000000002</c:v>
                </c:pt>
                <c:pt idx="8">
                  <c:v>266.66399999999999</c:v>
                </c:pt>
                <c:pt idx="9">
                  <c:v>266.12200000000001</c:v>
                </c:pt>
                <c:pt idx="10">
                  <c:v>265.58000000000004</c:v>
                </c:pt>
                <c:pt idx="11">
                  <c:v>265.03800000000001</c:v>
                </c:pt>
                <c:pt idx="12">
                  <c:v>264.49599999999998</c:v>
                </c:pt>
                <c:pt idx="13">
                  <c:v>263.95400000000001</c:v>
                </c:pt>
                <c:pt idx="14">
                  <c:v>263.41200000000003</c:v>
                </c:pt>
                <c:pt idx="15">
                  <c:v>262.87</c:v>
                </c:pt>
                <c:pt idx="16">
                  <c:v>262.32799999999997</c:v>
                </c:pt>
                <c:pt idx="17">
                  <c:v>261.786</c:v>
                </c:pt>
                <c:pt idx="18">
                  <c:v>261.24400000000003</c:v>
                </c:pt>
                <c:pt idx="19">
                  <c:v>260.702</c:v>
                </c:pt>
                <c:pt idx="20">
                  <c:v>260.15999999999997</c:v>
                </c:pt>
                <c:pt idx="21">
                  <c:v>259.61799999999999</c:v>
                </c:pt>
                <c:pt idx="22">
                  <c:v>259.07600000000002</c:v>
                </c:pt>
                <c:pt idx="23">
                  <c:v>258.53399999999999</c:v>
                </c:pt>
                <c:pt idx="24">
                  <c:v>257.99199999999996</c:v>
                </c:pt>
                <c:pt idx="25">
                  <c:v>257.45</c:v>
                </c:pt>
              </c:numCache>
            </c:numRef>
          </c:val>
          <c:smooth val="0"/>
          <c:extLst>
            <c:ext xmlns:c16="http://schemas.microsoft.com/office/drawing/2014/chart" uri="{C3380CC4-5D6E-409C-BE32-E72D297353CC}">
              <c16:uniqueId val="{0000000C-7C9C-4D30-A828-707CCAADCC3F}"/>
            </c:ext>
          </c:extLst>
        </c:ser>
        <c:ser>
          <c:idx val="13"/>
          <c:order val="13"/>
          <c:tx>
            <c:strRef>
              <c:f>rcps!$A$17</c:f>
              <c:strCache>
                <c:ptCount val="1"/>
                <c:pt idx="0">
                  <c:v>Natural gas</c:v>
                </c:pt>
              </c:strCache>
            </c:strRef>
          </c:tx>
          <c:spPr>
            <a:ln w="19050" cap="rnd">
              <a:solidFill>
                <a:srgbClr val="E7E6E6">
                  <a:lumMod val="50000"/>
                </a:srgbClr>
              </a:solidFill>
              <a:prstDash val="sysDot"/>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rcps!$P$17:$AO$17</c:f>
              <c:numCache>
                <c:formatCode>0</c:formatCode>
                <c:ptCount val="26"/>
                <c:pt idx="0">
                  <c:v>201</c:v>
                </c:pt>
                <c:pt idx="1">
                  <c:v>200.59800000000001</c:v>
                </c:pt>
                <c:pt idx="2">
                  <c:v>200.196</c:v>
                </c:pt>
                <c:pt idx="3">
                  <c:v>199.79400000000001</c:v>
                </c:pt>
                <c:pt idx="4">
                  <c:v>199.392</c:v>
                </c:pt>
                <c:pt idx="5">
                  <c:v>198.99</c:v>
                </c:pt>
                <c:pt idx="6">
                  <c:v>198.58800000000002</c:v>
                </c:pt>
                <c:pt idx="7">
                  <c:v>198.18600000000001</c:v>
                </c:pt>
                <c:pt idx="8">
                  <c:v>197.78399999999999</c:v>
                </c:pt>
                <c:pt idx="9">
                  <c:v>197.38200000000001</c:v>
                </c:pt>
                <c:pt idx="10">
                  <c:v>196.98000000000002</c:v>
                </c:pt>
                <c:pt idx="11">
                  <c:v>196.578</c:v>
                </c:pt>
                <c:pt idx="12">
                  <c:v>196.17599999999999</c:v>
                </c:pt>
                <c:pt idx="13">
                  <c:v>195.774</c:v>
                </c:pt>
                <c:pt idx="14">
                  <c:v>195.37200000000001</c:v>
                </c:pt>
                <c:pt idx="15">
                  <c:v>194.97</c:v>
                </c:pt>
                <c:pt idx="16">
                  <c:v>194.56799999999998</c:v>
                </c:pt>
                <c:pt idx="17">
                  <c:v>194.166</c:v>
                </c:pt>
                <c:pt idx="18">
                  <c:v>193.76400000000001</c:v>
                </c:pt>
                <c:pt idx="19">
                  <c:v>193.36199999999999</c:v>
                </c:pt>
                <c:pt idx="20">
                  <c:v>192.95999999999998</c:v>
                </c:pt>
                <c:pt idx="21">
                  <c:v>192.55799999999999</c:v>
                </c:pt>
                <c:pt idx="22">
                  <c:v>192.15600000000001</c:v>
                </c:pt>
                <c:pt idx="23">
                  <c:v>191.75399999999999</c:v>
                </c:pt>
                <c:pt idx="24">
                  <c:v>191.35199999999998</c:v>
                </c:pt>
                <c:pt idx="25">
                  <c:v>190.95</c:v>
                </c:pt>
              </c:numCache>
            </c:numRef>
          </c:val>
          <c:smooth val="0"/>
          <c:extLst>
            <c:ext xmlns:c16="http://schemas.microsoft.com/office/drawing/2014/chart" uri="{C3380CC4-5D6E-409C-BE32-E72D297353CC}">
              <c16:uniqueId val="{0000000D-7C9C-4D30-A828-707CCAADCC3F}"/>
            </c:ext>
          </c:extLst>
        </c:ser>
        <c:ser>
          <c:idx val="14"/>
          <c:order val="14"/>
          <c:tx>
            <c:strRef>
              <c:f>rcps!$A$18</c:f>
              <c:strCache>
                <c:ptCount val="1"/>
                <c:pt idx="0">
                  <c:v>Solid biomass</c:v>
                </c:pt>
              </c:strCache>
            </c:strRef>
          </c:tx>
          <c:spPr>
            <a:ln w="19050" cap="rnd">
              <a:solidFill>
                <a:srgbClr val="70AD47"/>
              </a:solidFill>
              <a:prstDash val="lgDash"/>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rcps!$P$18:$AO$18</c:f>
              <c:numCache>
                <c:formatCode>0</c:formatCode>
                <c:ptCount val="26"/>
                <c:pt idx="0">
                  <c:v>247</c:v>
                </c:pt>
                <c:pt idx="1">
                  <c:v>237.12</c:v>
                </c:pt>
                <c:pt idx="2">
                  <c:v>227.24</c:v>
                </c:pt>
                <c:pt idx="3">
                  <c:v>217.36</c:v>
                </c:pt>
                <c:pt idx="4">
                  <c:v>207.48000000000002</c:v>
                </c:pt>
                <c:pt idx="5">
                  <c:v>197.60000000000002</c:v>
                </c:pt>
                <c:pt idx="6">
                  <c:v>187.72000000000003</c:v>
                </c:pt>
                <c:pt idx="7">
                  <c:v>177.84000000000003</c:v>
                </c:pt>
                <c:pt idx="8">
                  <c:v>167.96</c:v>
                </c:pt>
                <c:pt idx="9">
                  <c:v>158.08000000000001</c:v>
                </c:pt>
                <c:pt idx="10">
                  <c:v>148.20000000000002</c:v>
                </c:pt>
                <c:pt idx="11">
                  <c:v>138.32000000000002</c:v>
                </c:pt>
                <c:pt idx="12">
                  <c:v>128.44</c:v>
                </c:pt>
                <c:pt idx="13">
                  <c:v>118.56000000000002</c:v>
                </c:pt>
                <c:pt idx="14">
                  <c:v>108.68000000000002</c:v>
                </c:pt>
                <c:pt idx="15">
                  <c:v>98.800000000000011</c:v>
                </c:pt>
                <c:pt idx="16">
                  <c:v>88.920000000000016</c:v>
                </c:pt>
                <c:pt idx="17">
                  <c:v>79.040000000000006</c:v>
                </c:pt>
                <c:pt idx="18">
                  <c:v>69.160000000000011</c:v>
                </c:pt>
                <c:pt idx="19">
                  <c:v>59.280000000000008</c:v>
                </c:pt>
                <c:pt idx="20">
                  <c:v>49.400000000000006</c:v>
                </c:pt>
                <c:pt idx="21">
                  <c:v>39.520000000000003</c:v>
                </c:pt>
                <c:pt idx="22">
                  <c:v>29.64</c:v>
                </c:pt>
                <c:pt idx="23">
                  <c:v>19.760000000000005</c:v>
                </c:pt>
                <c:pt idx="24">
                  <c:v>9.8800000000000097</c:v>
                </c:pt>
                <c:pt idx="25">
                  <c:v>0</c:v>
                </c:pt>
              </c:numCache>
            </c:numRef>
          </c:val>
          <c:smooth val="0"/>
          <c:extLst>
            <c:ext xmlns:c16="http://schemas.microsoft.com/office/drawing/2014/chart" uri="{C3380CC4-5D6E-409C-BE32-E72D297353CC}">
              <c16:uniqueId val="{0000000E-7C9C-4D30-A828-707CCAADCC3F}"/>
            </c:ext>
          </c:extLst>
        </c:ser>
        <c:ser>
          <c:idx val="15"/>
          <c:order val="15"/>
          <c:tx>
            <c:strRef>
              <c:f>rcps!$A$19</c:f>
              <c:strCache>
                <c:ptCount val="1"/>
                <c:pt idx="0">
                  <c:v>Gaseous biofuels (island operation)</c:v>
                </c:pt>
              </c:strCache>
            </c:strRef>
          </c:tx>
          <c:spPr>
            <a:ln w="19050" cap="rnd">
              <a:solidFill>
                <a:srgbClr val="70AD47"/>
              </a:solidFill>
              <a:prstDash val="sysDot"/>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rcps!$P$19:$AO$19</c:f>
              <c:numCache>
                <c:formatCode>0</c:formatCode>
                <c:ptCount val="26"/>
                <c:pt idx="0">
                  <c:v>100</c:v>
                </c:pt>
                <c:pt idx="1">
                  <c:v>96</c:v>
                </c:pt>
                <c:pt idx="2">
                  <c:v>92</c:v>
                </c:pt>
                <c:pt idx="3">
                  <c:v>88</c:v>
                </c:pt>
                <c:pt idx="4">
                  <c:v>84</c:v>
                </c:pt>
                <c:pt idx="5">
                  <c:v>80</c:v>
                </c:pt>
                <c:pt idx="6">
                  <c:v>76</c:v>
                </c:pt>
                <c:pt idx="7">
                  <c:v>72</c:v>
                </c:pt>
                <c:pt idx="8">
                  <c:v>68</c:v>
                </c:pt>
                <c:pt idx="9">
                  <c:v>64</c:v>
                </c:pt>
                <c:pt idx="10">
                  <c:v>60</c:v>
                </c:pt>
                <c:pt idx="11">
                  <c:v>56</c:v>
                </c:pt>
                <c:pt idx="12">
                  <c:v>52</c:v>
                </c:pt>
                <c:pt idx="13">
                  <c:v>48</c:v>
                </c:pt>
                <c:pt idx="14">
                  <c:v>44</c:v>
                </c:pt>
                <c:pt idx="15">
                  <c:v>40</c:v>
                </c:pt>
                <c:pt idx="16">
                  <c:v>36</c:v>
                </c:pt>
                <c:pt idx="17">
                  <c:v>32</c:v>
                </c:pt>
                <c:pt idx="18">
                  <c:v>28</c:v>
                </c:pt>
                <c:pt idx="19">
                  <c:v>24</c:v>
                </c:pt>
                <c:pt idx="20">
                  <c:v>20</c:v>
                </c:pt>
                <c:pt idx="21">
                  <c:v>16</c:v>
                </c:pt>
                <c:pt idx="22">
                  <c:v>12</c:v>
                </c:pt>
                <c:pt idx="23">
                  <c:v>8</c:v>
                </c:pt>
                <c:pt idx="24">
                  <c:v>4</c:v>
                </c:pt>
                <c:pt idx="25">
                  <c:v>0</c:v>
                </c:pt>
              </c:numCache>
            </c:numRef>
          </c:val>
          <c:smooth val="0"/>
          <c:extLst>
            <c:ext xmlns:c16="http://schemas.microsoft.com/office/drawing/2014/chart" uri="{C3380CC4-5D6E-409C-BE32-E72D297353CC}">
              <c16:uniqueId val="{0000000F-7C9C-4D30-A828-707CCAADCC3F}"/>
            </c:ext>
          </c:extLst>
        </c:ser>
        <c:ser>
          <c:idx val="16"/>
          <c:order val="16"/>
          <c:tx>
            <c:strRef>
              <c:f>rcps!$A$20</c:f>
              <c:strCache>
                <c:ptCount val="1"/>
                <c:pt idx="0">
                  <c:v>Liquid biofuels (island operation)</c:v>
                </c:pt>
              </c:strCache>
            </c:strRef>
          </c:tx>
          <c:spPr>
            <a:ln w="19050" cap="rnd">
              <a:solidFill>
                <a:srgbClr val="70AD47"/>
              </a:solidFill>
              <a:round/>
            </a:ln>
            <a:effectLst/>
          </c:spPr>
          <c:marker>
            <c:symbol val="none"/>
          </c:marker>
          <c:cat>
            <c:numRef>
              <c:f>rcps!$P$3:$AO$3</c:f>
              <c:numCache>
                <c:formatCode>General</c:formatCode>
                <c:ptCount val="26"/>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pt idx="21">
                  <c:v>2046</c:v>
                </c:pt>
                <c:pt idx="22">
                  <c:v>2047</c:v>
                </c:pt>
                <c:pt idx="23">
                  <c:v>2048</c:v>
                </c:pt>
                <c:pt idx="24">
                  <c:v>2049</c:v>
                </c:pt>
                <c:pt idx="25">
                  <c:v>2050</c:v>
                </c:pt>
              </c:numCache>
            </c:numRef>
          </c:cat>
          <c:val>
            <c:numRef>
              <c:f>rcps!$P$20:$AO$20</c:f>
              <c:numCache>
                <c:formatCode>0</c:formatCode>
                <c:ptCount val="26"/>
                <c:pt idx="0">
                  <c:v>70</c:v>
                </c:pt>
                <c:pt idx="1">
                  <c:v>67.2</c:v>
                </c:pt>
                <c:pt idx="2">
                  <c:v>64.400000000000006</c:v>
                </c:pt>
                <c:pt idx="3">
                  <c:v>61.6</c:v>
                </c:pt>
                <c:pt idx="4">
                  <c:v>58.8</c:v>
                </c:pt>
                <c:pt idx="5">
                  <c:v>56</c:v>
                </c:pt>
                <c:pt idx="6">
                  <c:v>53.2</c:v>
                </c:pt>
                <c:pt idx="7">
                  <c:v>50.4</c:v>
                </c:pt>
                <c:pt idx="8">
                  <c:v>47.6</c:v>
                </c:pt>
                <c:pt idx="9">
                  <c:v>44.8</c:v>
                </c:pt>
                <c:pt idx="10">
                  <c:v>42</c:v>
                </c:pt>
                <c:pt idx="11">
                  <c:v>39.200000000000003</c:v>
                </c:pt>
                <c:pt idx="12">
                  <c:v>36.4</c:v>
                </c:pt>
                <c:pt idx="13">
                  <c:v>33.6</c:v>
                </c:pt>
                <c:pt idx="14">
                  <c:v>30.8</c:v>
                </c:pt>
                <c:pt idx="15">
                  <c:v>28</c:v>
                </c:pt>
                <c:pt idx="16">
                  <c:v>25.2</c:v>
                </c:pt>
                <c:pt idx="17">
                  <c:v>22.4</c:v>
                </c:pt>
                <c:pt idx="18">
                  <c:v>19.600000000000001</c:v>
                </c:pt>
                <c:pt idx="19">
                  <c:v>16.8</c:v>
                </c:pt>
                <c:pt idx="20">
                  <c:v>14</c:v>
                </c:pt>
                <c:pt idx="21">
                  <c:v>11.2</c:v>
                </c:pt>
                <c:pt idx="22">
                  <c:v>8.3999999999999986</c:v>
                </c:pt>
                <c:pt idx="23">
                  <c:v>5.6000000000000014</c:v>
                </c:pt>
                <c:pt idx="24">
                  <c:v>2.8000000000000007</c:v>
                </c:pt>
                <c:pt idx="25">
                  <c:v>0</c:v>
                </c:pt>
              </c:numCache>
            </c:numRef>
          </c:val>
          <c:smooth val="0"/>
          <c:extLst>
            <c:ext xmlns:c16="http://schemas.microsoft.com/office/drawing/2014/chart" uri="{C3380CC4-5D6E-409C-BE32-E72D297353CC}">
              <c16:uniqueId val="{00000010-7C9C-4D30-A828-707CCAADCC3F}"/>
            </c:ext>
          </c:extLst>
        </c:ser>
        <c:dLbls>
          <c:showLegendKey val="0"/>
          <c:showVal val="0"/>
          <c:showCatName val="0"/>
          <c:showSerName val="0"/>
          <c:showPercent val="0"/>
          <c:showBubbleSize val="0"/>
        </c:dLbls>
        <c:smooth val="0"/>
        <c:axId val="573012672"/>
        <c:axId val="573013152"/>
      </c:lineChart>
      <c:catAx>
        <c:axId val="57301267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ysClr val="windowText" lastClr="000000"/>
                    </a:solidFill>
                    <a:latin typeface="Aptos" panose="020B0004020202020204" pitchFamily="34" charset="0"/>
                    <a:ea typeface="+mn-ea"/>
                    <a:cs typeface="+mn-cs"/>
                  </a:defRPr>
                </a:pPr>
                <a:r>
                  <a:rPr lang="de-DE" dirty="0"/>
                  <a:t>Year</a:t>
                </a:r>
              </a:p>
            </c:rich>
          </c:tx>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Aptos" panose="020B0004020202020204" pitchFamily="34" charset="0"/>
                  <a:ea typeface="+mn-ea"/>
                  <a:cs typeface="+mn-cs"/>
                </a:defRPr>
              </a:pPr>
              <a:endParaRPr lang="zh-CN"/>
            </a:p>
          </c:txPr>
        </c:title>
        <c:numFmt formatCode="General" sourceLinked="1"/>
        <c:majorTickMark val="none"/>
        <c:minorTickMark val="none"/>
        <c:tickLblPos val="nextTo"/>
        <c:spPr>
          <a:noFill/>
          <a:ln w="9525" cap="flat" cmpd="sng" algn="ctr">
            <a:solidFill>
              <a:srgbClr val="000000"/>
            </a:solidFill>
            <a:round/>
          </a:ln>
          <a:effectLst/>
        </c:spPr>
        <c:txPr>
          <a:bodyPr rot="-5400000" spcFirstLastPara="1" vertOverflow="ellipsis" wrap="square" anchor="ctr" anchorCtr="1"/>
          <a:lstStyle/>
          <a:p>
            <a:pPr>
              <a:defRPr sz="1000" b="0" i="0" u="none" strike="noStrike" kern="1200" baseline="0">
                <a:solidFill>
                  <a:sysClr val="windowText" lastClr="000000"/>
                </a:solidFill>
                <a:latin typeface="Aptos" panose="020B0004020202020204" pitchFamily="34" charset="0"/>
                <a:ea typeface="+mn-ea"/>
                <a:cs typeface="+mn-cs"/>
              </a:defRPr>
            </a:pPr>
            <a:endParaRPr lang="zh-CN"/>
          </a:p>
        </c:txPr>
        <c:crossAx val="573013152"/>
        <c:crosses val="autoZero"/>
        <c:auto val="1"/>
        <c:lblAlgn val="ctr"/>
        <c:lblOffset val="100"/>
        <c:tickLblSkip val="5"/>
        <c:tickMarkSkip val="5"/>
        <c:noMultiLvlLbl val="0"/>
      </c:catAx>
      <c:valAx>
        <c:axId val="57301315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ysClr val="windowText" lastClr="000000"/>
                    </a:solidFill>
                    <a:latin typeface="Aptos" panose="020B0004020202020204" pitchFamily="34" charset="0"/>
                    <a:ea typeface="+mn-ea"/>
                    <a:cs typeface="+mn-cs"/>
                  </a:defRPr>
                </a:pPr>
                <a:r>
                  <a:rPr lang="de-DE" dirty="0"/>
                  <a:t>Emission Intensity [gCO2eq/kWh]</a:t>
                </a:r>
              </a:p>
            </c:rich>
          </c:tx>
          <c:overlay val="0"/>
          <c:spPr>
            <a:noFill/>
            <a:ln>
              <a:noFill/>
            </a:ln>
            <a:effectLst/>
          </c:spPr>
          <c:txPr>
            <a:bodyPr rot="-5400000" spcFirstLastPara="1" vertOverflow="ellipsis" vert="horz" wrap="square" anchor="ctr" anchorCtr="1"/>
            <a:lstStyle/>
            <a:p>
              <a:pPr>
                <a:defRPr sz="1000" b="0" i="0" u="none" strike="noStrike" kern="1200" baseline="0">
                  <a:solidFill>
                    <a:sysClr val="windowText" lastClr="000000"/>
                  </a:solidFill>
                  <a:latin typeface="Aptos" panose="020B0004020202020204" pitchFamily="34" charset="0"/>
                  <a:ea typeface="+mn-ea"/>
                  <a:cs typeface="+mn-cs"/>
                </a:defRPr>
              </a:pPr>
              <a:endParaRPr lang="zh-CN"/>
            </a:p>
          </c:txPr>
        </c:title>
        <c:numFmt formatCode="General" sourceLinked="0"/>
        <c:majorTickMark val="out"/>
        <c:minorTickMark val="none"/>
        <c:tickLblPos val="nextTo"/>
        <c:spPr>
          <a:noFill/>
          <a:ln>
            <a:solidFill>
              <a:srgbClr val="000000"/>
            </a:solidFill>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Aptos" panose="020B0004020202020204" pitchFamily="34" charset="0"/>
                <a:ea typeface="+mn-ea"/>
                <a:cs typeface="+mn-cs"/>
              </a:defRPr>
            </a:pPr>
            <a:endParaRPr lang="zh-CN"/>
          </a:p>
        </c:txPr>
        <c:crossAx val="573012672"/>
        <c:crosses val="autoZero"/>
        <c:crossBetween val="between"/>
        <c:majorUnit val="50"/>
        <c:minorUnit val="25"/>
      </c:valAx>
      <c:spPr>
        <a:noFill/>
        <a:ln>
          <a:noFill/>
        </a:ln>
        <a:effectLst/>
      </c:spPr>
    </c:plotArea>
    <c:legend>
      <c:legendPos val="b"/>
      <c:legendEntry>
        <c:idx val="8"/>
        <c:delete val="1"/>
      </c:legendEntry>
      <c:layout>
        <c:manualLayout>
          <c:xMode val="edge"/>
          <c:yMode val="edge"/>
          <c:x val="0.42108507448575788"/>
          <c:y val="3.7349853327157637E-2"/>
          <c:w val="0.57646457143114405"/>
          <c:h val="0.93644858730893932"/>
        </c:manualLayout>
      </c:layout>
      <c:overlay val="0"/>
      <c:spPr>
        <a:noFill/>
        <a:ln>
          <a:noFill/>
        </a:ln>
        <a:effectLst/>
      </c:spPr>
      <c:txPr>
        <a:bodyPr rot="0" spcFirstLastPara="1" vertOverflow="ellipsis" vert="horz" wrap="square" anchor="ctr" anchorCtr="1"/>
        <a:lstStyle/>
        <a:p>
          <a:pPr>
            <a:defRPr sz="1000" b="0" i="0" u="none" strike="noStrike" kern="1200" baseline="0">
              <a:solidFill>
                <a:sysClr val="windowText" lastClr="000000"/>
              </a:solidFill>
              <a:latin typeface="Aptos" panose="020B0004020202020204" pitchFamily="34" charset="0"/>
              <a:ea typeface="+mn-ea"/>
              <a:cs typeface="+mn-cs"/>
            </a:defRPr>
          </a:pPr>
          <a:endParaRPr lang="zh-CN"/>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solidFill>
      <a:schemeClr val="bg1"/>
    </a:solidFill>
    <a:ln w="3175" cap="flat" cmpd="sng" algn="ctr">
      <a:noFill/>
      <a:round/>
    </a:ln>
    <a:effectLst/>
  </c:spPr>
  <c:txPr>
    <a:bodyPr/>
    <a:lstStyle/>
    <a:p>
      <a:pPr>
        <a:defRPr sz="1000">
          <a:solidFill>
            <a:sysClr val="windowText" lastClr="000000"/>
          </a:solidFill>
          <a:latin typeface="Aptos" panose="020B0004020202020204" pitchFamily="34" charset="0"/>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 Id="rId5" Type="http://schemas.openxmlformats.org/officeDocument/2006/relationships/image" Target="../media/image19.png"/><Relationship Id="rId4" Type="http://schemas.openxmlformats.org/officeDocument/2006/relationships/image" Target="../media/image18.png"/></Relationships>
</file>

<file path=ppt/diagrams/_rels/data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 Id="rId5" Type="http://schemas.openxmlformats.org/officeDocument/2006/relationships/image" Target="../media/image19.png"/><Relationship Id="rId4" Type="http://schemas.openxmlformats.org/officeDocument/2006/relationships/image" Target="../media/image18.png"/></Relationships>
</file>

<file path=ppt/diagrams/_rels/drawing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530B0B-2C3E-45F6-BFF5-3AA6F212BACF}" type="doc">
      <dgm:prSet loTypeId="urn:microsoft.com/office/officeart/2005/8/layout/venn1" loCatId="relationship" qsTypeId="urn:microsoft.com/office/officeart/2005/8/quickstyle/simple3" qsCatId="simple" csTypeId="urn:microsoft.com/office/officeart/2005/8/colors/colorful1" csCatId="colorful" phldr="1"/>
      <dgm:spPr/>
      <dgm:t>
        <a:bodyPr/>
        <a:lstStyle/>
        <a:p>
          <a:endParaRPr lang="de-AT"/>
        </a:p>
      </dgm:t>
    </dgm:pt>
    <dgm:pt modelId="{825192C6-B9D1-4808-BC72-0A004EDDD9E7}">
      <dgm:prSet phldrT="[Text]"/>
      <dgm:spPr>
        <a:xfrm>
          <a:off x="3115708" y="78095"/>
          <a:ext cx="3748604" cy="3748604"/>
        </a:xfrm>
        <a:prstGeom prst="ellipse">
          <a:avLst/>
        </a:prstGeom>
        <a:gradFill rotWithShape="0">
          <a:gsLst>
            <a:gs pos="0">
              <a:srgbClr val="E97132">
                <a:alpha val="50000"/>
                <a:hueOff val="0"/>
                <a:satOff val="0"/>
                <a:lumOff val="0"/>
                <a:alphaOff val="0"/>
                <a:lumMod val="110000"/>
                <a:satMod val="105000"/>
                <a:tint val="67000"/>
              </a:srgbClr>
            </a:gs>
            <a:gs pos="50000">
              <a:srgbClr val="E97132">
                <a:alpha val="50000"/>
                <a:hueOff val="0"/>
                <a:satOff val="0"/>
                <a:lumOff val="0"/>
                <a:alphaOff val="0"/>
                <a:lumMod val="105000"/>
                <a:satMod val="103000"/>
                <a:tint val="73000"/>
              </a:srgbClr>
            </a:gs>
            <a:gs pos="100000">
              <a:srgbClr val="E97132">
                <a:alpha val="50000"/>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gm:spPr>
      <dgm:t>
        <a:bodyPr/>
        <a:lstStyle/>
        <a:p>
          <a:pPr>
            <a:buNone/>
          </a:pPr>
          <a:endParaRPr lang="de-AT" dirty="0">
            <a:solidFill>
              <a:sysClr val="windowText" lastClr="000000">
                <a:hueOff val="0"/>
                <a:satOff val="0"/>
                <a:lumOff val="0"/>
                <a:alphaOff val="0"/>
              </a:sysClr>
            </a:solidFill>
            <a:latin typeface="Aptos" panose="02110004020202020204"/>
            <a:ea typeface="+mn-ea"/>
            <a:cs typeface="+mn-cs"/>
          </a:endParaRPr>
        </a:p>
      </dgm:t>
    </dgm:pt>
    <dgm:pt modelId="{EA5DA8DA-2EC0-427D-B9AA-837069185E72}" type="parTrans" cxnId="{ADAAC740-35D5-43D8-96F0-EF13694B0210}">
      <dgm:prSet/>
      <dgm:spPr/>
      <dgm:t>
        <a:bodyPr/>
        <a:lstStyle/>
        <a:p>
          <a:endParaRPr lang="de-AT"/>
        </a:p>
      </dgm:t>
    </dgm:pt>
    <dgm:pt modelId="{1567EACC-7362-4EBD-B1F9-874EF802E146}" type="sibTrans" cxnId="{ADAAC740-35D5-43D8-96F0-EF13694B0210}">
      <dgm:prSet/>
      <dgm:spPr/>
      <dgm:t>
        <a:bodyPr/>
        <a:lstStyle/>
        <a:p>
          <a:endParaRPr lang="de-AT"/>
        </a:p>
      </dgm:t>
    </dgm:pt>
    <dgm:pt modelId="{50CC2855-4B61-4920-ADE3-C46FE27DC172}">
      <dgm:prSet phldrT="[Text]"/>
      <dgm:spPr>
        <a:xfrm>
          <a:off x="4468330" y="2420973"/>
          <a:ext cx="3748604" cy="3748604"/>
        </a:xfrm>
        <a:prstGeom prst="ellipse">
          <a:avLst/>
        </a:prstGeom>
        <a:gradFill rotWithShape="0">
          <a:gsLst>
            <a:gs pos="0">
              <a:srgbClr val="196B24">
                <a:alpha val="50000"/>
                <a:hueOff val="0"/>
                <a:satOff val="0"/>
                <a:lumOff val="0"/>
                <a:alphaOff val="0"/>
                <a:lumMod val="110000"/>
                <a:satMod val="105000"/>
                <a:tint val="67000"/>
              </a:srgbClr>
            </a:gs>
            <a:gs pos="50000">
              <a:srgbClr val="196B24">
                <a:alpha val="50000"/>
                <a:hueOff val="0"/>
                <a:satOff val="0"/>
                <a:lumOff val="0"/>
                <a:alphaOff val="0"/>
                <a:lumMod val="105000"/>
                <a:satMod val="103000"/>
                <a:tint val="73000"/>
              </a:srgbClr>
            </a:gs>
            <a:gs pos="100000">
              <a:srgbClr val="196B24">
                <a:alpha val="50000"/>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gm:spPr>
      <dgm:t>
        <a:bodyPr/>
        <a:lstStyle/>
        <a:p>
          <a:pPr>
            <a:buNone/>
          </a:pPr>
          <a:endParaRPr lang="de-AT" dirty="0">
            <a:solidFill>
              <a:sysClr val="windowText" lastClr="000000">
                <a:hueOff val="0"/>
                <a:satOff val="0"/>
                <a:lumOff val="0"/>
                <a:alphaOff val="0"/>
              </a:sysClr>
            </a:solidFill>
            <a:latin typeface="Aptos" panose="02110004020202020204"/>
            <a:ea typeface="+mn-ea"/>
            <a:cs typeface="+mn-cs"/>
          </a:endParaRPr>
        </a:p>
      </dgm:t>
    </dgm:pt>
    <dgm:pt modelId="{521482DA-374F-4A52-94DE-26C3E9CCA9E4}" type="parTrans" cxnId="{ED87CEF3-51C0-4D5C-A693-BCD40A5F7353}">
      <dgm:prSet/>
      <dgm:spPr/>
      <dgm:t>
        <a:bodyPr/>
        <a:lstStyle/>
        <a:p>
          <a:endParaRPr lang="de-AT"/>
        </a:p>
      </dgm:t>
    </dgm:pt>
    <dgm:pt modelId="{F64985DD-CC89-4B1E-909C-A2E7E99A5F4B}" type="sibTrans" cxnId="{ED87CEF3-51C0-4D5C-A693-BCD40A5F7353}">
      <dgm:prSet/>
      <dgm:spPr/>
      <dgm:t>
        <a:bodyPr/>
        <a:lstStyle/>
        <a:p>
          <a:endParaRPr lang="de-AT"/>
        </a:p>
      </dgm:t>
    </dgm:pt>
    <dgm:pt modelId="{E08165EE-37AF-4AAB-A961-872FD44976FE}">
      <dgm:prSet phldrT="[Text]"/>
      <dgm:spPr>
        <a:xfrm>
          <a:off x="1763087" y="2420973"/>
          <a:ext cx="3748604" cy="3748604"/>
        </a:xfrm>
        <a:prstGeom prst="ellipse">
          <a:avLst/>
        </a:prstGeom>
        <a:gradFill rotWithShape="0">
          <a:gsLst>
            <a:gs pos="0">
              <a:srgbClr val="0F9ED5">
                <a:alpha val="50000"/>
                <a:hueOff val="0"/>
                <a:satOff val="0"/>
                <a:lumOff val="0"/>
                <a:alphaOff val="0"/>
                <a:lumMod val="110000"/>
                <a:satMod val="105000"/>
                <a:tint val="67000"/>
              </a:srgbClr>
            </a:gs>
            <a:gs pos="50000">
              <a:srgbClr val="0F9ED5">
                <a:alpha val="50000"/>
                <a:hueOff val="0"/>
                <a:satOff val="0"/>
                <a:lumOff val="0"/>
                <a:alphaOff val="0"/>
                <a:lumMod val="105000"/>
                <a:satMod val="103000"/>
                <a:tint val="73000"/>
              </a:srgbClr>
            </a:gs>
            <a:gs pos="100000">
              <a:srgbClr val="0F9ED5">
                <a:alpha val="50000"/>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gm:spPr>
      <dgm:t>
        <a:bodyPr/>
        <a:lstStyle/>
        <a:p>
          <a:pPr>
            <a:buNone/>
          </a:pPr>
          <a:endParaRPr lang="de-AT" dirty="0">
            <a:solidFill>
              <a:sysClr val="windowText" lastClr="000000">
                <a:hueOff val="0"/>
                <a:satOff val="0"/>
                <a:lumOff val="0"/>
                <a:alphaOff val="0"/>
              </a:sysClr>
            </a:solidFill>
            <a:latin typeface="Aptos" panose="02110004020202020204"/>
            <a:ea typeface="+mn-ea"/>
            <a:cs typeface="+mn-cs"/>
          </a:endParaRPr>
        </a:p>
      </dgm:t>
    </dgm:pt>
    <dgm:pt modelId="{589F5A4C-CAEA-45DC-97A3-FFB8BA847D6E}" type="parTrans" cxnId="{988758EC-0EA0-4C08-A2A8-DF716394336E}">
      <dgm:prSet/>
      <dgm:spPr/>
      <dgm:t>
        <a:bodyPr/>
        <a:lstStyle/>
        <a:p>
          <a:endParaRPr lang="de-AT"/>
        </a:p>
      </dgm:t>
    </dgm:pt>
    <dgm:pt modelId="{D65C9DD1-1EED-4B28-9A1C-DF09A4163A1B}" type="sibTrans" cxnId="{988758EC-0EA0-4C08-A2A8-DF716394336E}">
      <dgm:prSet/>
      <dgm:spPr/>
      <dgm:t>
        <a:bodyPr/>
        <a:lstStyle/>
        <a:p>
          <a:endParaRPr lang="de-AT"/>
        </a:p>
      </dgm:t>
    </dgm:pt>
    <dgm:pt modelId="{8E0D487C-D75A-4811-9E36-C96E305B558D}" type="pres">
      <dgm:prSet presAssocID="{E8530B0B-2C3E-45F6-BFF5-3AA6F212BACF}" presName="compositeShape" presStyleCnt="0">
        <dgm:presLayoutVars>
          <dgm:chMax val="7"/>
          <dgm:dir/>
          <dgm:resizeHandles val="exact"/>
        </dgm:presLayoutVars>
      </dgm:prSet>
      <dgm:spPr/>
    </dgm:pt>
    <dgm:pt modelId="{986E3809-EDC3-4569-A9EA-D722225D9EB2}" type="pres">
      <dgm:prSet presAssocID="{825192C6-B9D1-4808-BC72-0A004EDDD9E7}" presName="circ1" presStyleLbl="vennNode1" presStyleIdx="0" presStyleCnt="3"/>
      <dgm:spPr/>
    </dgm:pt>
    <dgm:pt modelId="{8DFD7BC5-54D2-40CE-BE79-EB20E4B1926C}" type="pres">
      <dgm:prSet presAssocID="{825192C6-B9D1-4808-BC72-0A004EDDD9E7}" presName="circ1Tx" presStyleLbl="revTx" presStyleIdx="0" presStyleCnt="0">
        <dgm:presLayoutVars>
          <dgm:chMax val="0"/>
          <dgm:chPref val="0"/>
          <dgm:bulletEnabled val="1"/>
        </dgm:presLayoutVars>
      </dgm:prSet>
      <dgm:spPr/>
    </dgm:pt>
    <dgm:pt modelId="{4EDDB78B-3149-4926-A328-A093BBB33D0A}" type="pres">
      <dgm:prSet presAssocID="{50CC2855-4B61-4920-ADE3-C46FE27DC172}" presName="circ2" presStyleLbl="vennNode1" presStyleIdx="1" presStyleCnt="3"/>
      <dgm:spPr/>
    </dgm:pt>
    <dgm:pt modelId="{E2776FAF-32D2-40B7-9A7F-DBB102B9862E}" type="pres">
      <dgm:prSet presAssocID="{50CC2855-4B61-4920-ADE3-C46FE27DC172}" presName="circ2Tx" presStyleLbl="revTx" presStyleIdx="0" presStyleCnt="0">
        <dgm:presLayoutVars>
          <dgm:chMax val="0"/>
          <dgm:chPref val="0"/>
          <dgm:bulletEnabled val="1"/>
        </dgm:presLayoutVars>
      </dgm:prSet>
      <dgm:spPr/>
    </dgm:pt>
    <dgm:pt modelId="{02CDB062-307C-4759-B60F-E23DDAD087EA}" type="pres">
      <dgm:prSet presAssocID="{E08165EE-37AF-4AAB-A961-872FD44976FE}" presName="circ3" presStyleLbl="vennNode1" presStyleIdx="2" presStyleCnt="3"/>
      <dgm:spPr/>
    </dgm:pt>
    <dgm:pt modelId="{A1073588-DFFC-4AE8-A088-537EA79D01E6}" type="pres">
      <dgm:prSet presAssocID="{E08165EE-37AF-4AAB-A961-872FD44976FE}" presName="circ3Tx" presStyleLbl="revTx" presStyleIdx="0" presStyleCnt="0">
        <dgm:presLayoutVars>
          <dgm:chMax val="0"/>
          <dgm:chPref val="0"/>
          <dgm:bulletEnabled val="1"/>
        </dgm:presLayoutVars>
      </dgm:prSet>
      <dgm:spPr/>
    </dgm:pt>
  </dgm:ptLst>
  <dgm:cxnLst>
    <dgm:cxn modelId="{89A1530B-FD4B-4FCB-8683-85527149DA3A}" type="presOf" srcId="{50CC2855-4B61-4920-ADE3-C46FE27DC172}" destId="{4EDDB78B-3149-4926-A328-A093BBB33D0A}" srcOrd="0" destOrd="0" presId="urn:microsoft.com/office/officeart/2005/8/layout/venn1"/>
    <dgm:cxn modelId="{1A265534-AD91-4BC9-B6E9-EEA6FE166097}" type="presOf" srcId="{E8530B0B-2C3E-45F6-BFF5-3AA6F212BACF}" destId="{8E0D487C-D75A-4811-9E36-C96E305B558D}" srcOrd="0" destOrd="0" presId="urn:microsoft.com/office/officeart/2005/8/layout/venn1"/>
    <dgm:cxn modelId="{ADAAC740-35D5-43D8-96F0-EF13694B0210}" srcId="{E8530B0B-2C3E-45F6-BFF5-3AA6F212BACF}" destId="{825192C6-B9D1-4808-BC72-0A004EDDD9E7}" srcOrd="0" destOrd="0" parTransId="{EA5DA8DA-2EC0-427D-B9AA-837069185E72}" sibTransId="{1567EACC-7362-4EBD-B1F9-874EF802E146}"/>
    <dgm:cxn modelId="{3114325A-6B0E-4AF0-BDC9-E12FAFDA9F29}" type="presOf" srcId="{E08165EE-37AF-4AAB-A961-872FD44976FE}" destId="{02CDB062-307C-4759-B60F-E23DDAD087EA}" srcOrd="0" destOrd="0" presId="urn:microsoft.com/office/officeart/2005/8/layout/venn1"/>
    <dgm:cxn modelId="{28FBC995-2559-47E8-A38B-F939431189FD}" type="presOf" srcId="{825192C6-B9D1-4808-BC72-0A004EDDD9E7}" destId="{986E3809-EDC3-4569-A9EA-D722225D9EB2}" srcOrd="0" destOrd="0" presId="urn:microsoft.com/office/officeart/2005/8/layout/venn1"/>
    <dgm:cxn modelId="{67589ABF-C7E9-47DF-BB38-DFF0490E4321}" type="presOf" srcId="{E08165EE-37AF-4AAB-A961-872FD44976FE}" destId="{A1073588-DFFC-4AE8-A088-537EA79D01E6}" srcOrd="1" destOrd="0" presId="urn:microsoft.com/office/officeart/2005/8/layout/venn1"/>
    <dgm:cxn modelId="{6F3396C8-FDFE-4CFA-B887-7D4713BFA87D}" type="presOf" srcId="{825192C6-B9D1-4808-BC72-0A004EDDD9E7}" destId="{8DFD7BC5-54D2-40CE-BE79-EB20E4B1926C}" srcOrd="1" destOrd="0" presId="urn:microsoft.com/office/officeart/2005/8/layout/venn1"/>
    <dgm:cxn modelId="{988758EC-0EA0-4C08-A2A8-DF716394336E}" srcId="{E8530B0B-2C3E-45F6-BFF5-3AA6F212BACF}" destId="{E08165EE-37AF-4AAB-A961-872FD44976FE}" srcOrd="2" destOrd="0" parTransId="{589F5A4C-CAEA-45DC-97A3-FFB8BA847D6E}" sibTransId="{D65C9DD1-1EED-4B28-9A1C-DF09A4163A1B}"/>
    <dgm:cxn modelId="{ED87CEF3-51C0-4D5C-A693-BCD40A5F7353}" srcId="{E8530B0B-2C3E-45F6-BFF5-3AA6F212BACF}" destId="{50CC2855-4B61-4920-ADE3-C46FE27DC172}" srcOrd="1" destOrd="0" parTransId="{521482DA-374F-4A52-94DE-26C3E9CCA9E4}" sibTransId="{F64985DD-CC89-4B1E-909C-A2E7E99A5F4B}"/>
    <dgm:cxn modelId="{AAD665F6-FA98-4606-ACCB-BC3707C7CF2C}" type="presOf" srcId="{50CC2855-4B61-4920-ADE3-C46FE27DC172}" destId="{E2776FAF-32D2-40B7-9A7F-DBB102B9862E}" srcOrd="1" destOrd="0" presId="urn:microsoft.com/office/officeart/2005/8/layout/venn1"/>
    <dgm:cxn modelId="{FDDE17C3-C2BD-45EB-A010-8570DDAB3BB1}" type="presParOf" srcId="{8E0D487C-D75A-4811-9E36-C96E305B558D}" destId="{986E3809-EDC3-4569-A9EA-D722225D9EB2}" srcOrd="0" destOrd="0" presId="urn:microsoft.com/office/officeart/2005/8/layout/venn1"/>
    <dgm:cxn modelId="{730F5F44-D62E-4734-B6D2-1F508C858236}" type="presParOf" srcId="{8E0D487C-D75A-4811-9E36-C96E305B558D}" destId="{8DFD7BC5-54D2-40CE-BE79-EB20E4B1926C}" srcOrd="1" destOrd="0" presId="urn:microsoft.com/office/officeart/2005/8/layout/venn1"/>
    <dgm:cxn modelId="{5FE15C34-4939-4453-AD0D-D90ADFF8CFB2}" type="presParOf" srcId="{8E0D487C-D75A-4811-9E36-C96E305B558D}" destId="{4EDDB78B-3149-4926-A328-A093BBB33D0A}" srcOrd="2" destOrd="0" presId="urn:microsoft.com/office/officeart/2005/8/layout/venn1"/>
    <dgm:cxn modelId="{DFA401BE-FC11-49F1-887A-162430E238CB}" type="presParOf" srcId="{8E0D487C-D75A-4811-9E36-C96E305B558D}" destId="{E2776FAF-32D2-40B7-9A7F-DBB102B9862E}" srcOrd="3" destOrd="0" presId="urn:microsoft.com/office/officeart/2005/8/layout/venn1"/>
    <dgm:cxn modelId="{2EDAFD1A-07E1-47D6-9323-532268A37FCF}" type="presParOf" srcId="{8E0D487C-D75A-4811-9E36-C96E305B558D}" destId="{02CDB062-307C-4759-B60F-E23DDAD087EA}" srcOrd="4" destOrd="0" presId="urn:microsoft.com/office/officeart/2005/8/layout/venn1"/>
    <dgm:cxn modelId="{640D69A6-2042-4D2D-AE1E-0E10DFEAD6E4}" type="presParOf" srcId="{8E0D487C-D75A-4811-9E36-C96E305B558D}" destId="{A1073588-DFFC-4AE8-A088-537EA79D01E6}" srcOrd="5" destOrd="0" presId="urn:microsoft.com/office/officeart/2005/8/layout/venn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18F271-4799-4D7B-8BA4-96391919333C}" type="doc">
      <dgm:prSet loTypeId="urn:microsoft.com/office/officeart/2005/8/layout/hProcess10" loCatId="process" qsTypeId="urn:microsoft.com/office/officeart/2005/8/quickstyle/simple1" qsCatId="simple" csTypeId="urn:microsoft.com/office/officeart/2005/8/colors/colorful1" csCatId="colorful" phldr="1"/>
      <dgm:spPr/>
      <dgm:t>
        <a:bodyPr/>
        <a:lstStyle/>
        <a:p>
          <a:endParaRPr lang="de-AT"/>
        </a:p>
      </dgm:t>
    </dgm:pt>
    <dgm:pt modelId="{E999C120-03FE-43F5-9F23-A288AD9FB714}">
      <dgm:prSet phldrT="[Text]" custT="1"/>
      <dgm:spPr/>
      <dgm:t>
        <a:bodyPr/>
        <a:lstStyle/>
        <a:p>
          <a:r>
            <a:rPr lang="de-AT" sz="1800" dirty="0"/>
            <a:t>2018: Lehre</a:t>
          </a:r>
        </a:p>
      </dgm:t>
    </dgm:pt>
    <dgm:pt modelId="{9486A21F-AF98-4F2C-8029-7230E3B517D0}" type="parTrans" cxnId="{CCE8A5DE-BBE5-4BE9-A986-C629B2E45622}">
      <dgm:prSet/>
      <dgm:spPr/>
      <dgm:t>
        <a:bodyPr/>
        <a:lstStyle/>
        <a:p>
          <a:endParaRPr lang="de-AT" sz="2000"/>
        </a:p>
      </dgm:t>
    </dgm:pt>
    <dgm:pt modelId="{9FA5508F-8417-44EB-A8F9-15559952CB07}" type="sibTrans" cxnId="{CCE8A5DE-BBE5-4BE9-A986-C629B2E45622}">
      <dgm:prSet custT="1"/>
      <dgm:spPr/>
      <dgm:t>
        <a:bodyPr/>
        <a:lstStyle/>
        <a:p>
          <a:endParaRPr lang="de-AT" sz="1600" dirty="0"/>
        </a:p>
      </dgm:t>
    </dgm:pt>
    <dgm:pt modelId="{4C0415BD-9D73-4C49-A46A-7DB12C5B0A35}">
      <dgm:prSet phldrT="[Text]" custT="1"/>
      <dgm:spPr/>
      <dgm:t>
        <a:bodyPr/>
        <a:lstStyle/>
        <a:p>
          <a:r>
            <a:rPr lang="de-AT" sz="1400" dirty="0"/>
            <a:t>„PVWindkraft“-Excel as Simple Teaching tool for flexible integration of RES into district storages (TABS, batteries, Evs)</a:t>
          </a:r>
        </a:p>
      </dgm:t>
    </dgm:pt>
    <dgm:pt modelId="{F8E3461D-04A6-472B-ACC0-47D4EFA7028B}" type="parTrans" cxnId="{60CCFC68-3211-4388-A34F-772F8FFDA567}">
      <dgm:prSet/>
      <dgm:spPr/>
      <dgm:t>
        <a:bodyPr/>
        <a:lstStyle/>
        <a:p>
          <a:endParaRPr lang="de-AT" sz="2000"/>
        </a:p>
      </dgm:t>
    </dgm:pt>
    <dgm:pt modelId="{AC4BD405-3910-4435-8375-442C7E36009C}" type="sibTrans" cxnId="{60CCFC68-3211-4388-A34F-772F8FFDA567}">
      <dgm:prSet/>
      <dgm:spPr/>
      <dgm:t>
        <a:bodyPr/>
        <a:lstStyle/>
        <a:p>
          <a:endParaRPr lang="de-AT" sz="2000"/>
        </a:p>
      </dgm:t>
    </dgm:pt>
    <dgm:pt modelId="{0DF4F208-161E-444C-8EE5-F0F8688B3821}">
      <dgm:prSet phldrT="[Text]" custT="1"/>
      <dgm:spPr/>
      <dgm:t>
        <a:bodyPr/>
        <a:lstStyle/>
        <a:p>
          <a:r>
            <a:rPr lang="de-AT" sz="1800" dirty="0"/>
            <a:t>2019: Forschung</a:t>
          </a:r>
        </a:p>
      </dgm:t>
    </dgm:pt>
    <dgm:pt modelId="{6C6E14F7-3B06-42A1-8E9D-85663B8733FC}" type="parTrans" cxnId="{465E3D13-40A1-41AE-8A9F-DB60AE7F518D}">
      <dgm:prSet/>
      <dgm:spPr/>
      <dgm:t>
        <a:bodyPr/>
        <a:lstStyle/>
        <a:p>
          <a:endParaRPr lang="de-AT" sz="2000"/>
        </a:p>
      </dgm:t>
    </dgm:pt>
    <dgm:pt modelId="{CC52B973-B9C6-480E-8D5F-C77835EDB22F}" type="sibTrans" cxnId="{465E3D13-40A1-41AE-8A9F-DB60AE7F518D}">
      <dgm:prSet custT="1"/>
      <dgm:spPr/>
      <dgm:t>
        <a:bodyPr/>
        <a:lstStyle/>
        <a:p>
          <a:endParaRPr lang="de-AT" sz="1600" dirty="0"/>
        </a:p>
      </dgm:t>
    </dgm:pt>
    <dgm:pt modelId="{A9977D64-16CA-4942-93F3-22EC44B89E24}">
      <dgm:prSet phldrT="[Text]" custT="1"/>
      <dgm:spPr/>
      <dgm:t>
        <a:bodyPr/>
        <a:lstStyle/>
        <a:p>
          <a:r>
            <a:rPr lang="de-AT" sz="1400" dirty="0"/>
            <a:t>Scenario assessment of 6 Viennese demonstration sites</a:t>
          </a:r>
        </a:p>
      </dgm:t>
    </dgm:pt>
    <dgm:pt modelId="{694C372D-989A-441D-8E3B-F4B3E52F3462}" type="parTrans" cxnId="{F63B9286-BB59-4823-954A-114EF340B316}">
      <dgm:prSet/>
      <dgm:spPr/>
      <dgm:t>
        <a:bodyPr/>
        <a:lstStyle/>
        <a:p>
          <a:endParaRPr lang="de-AT" sz="2000"/>
        </a:p>
      </dgm:t>
    </dgm:pt>
    <dgm:pt modelId="{9713514C-BEE6-49B4-8F1F-C54320B88FCB}" type="sibTrans" cxnId="{F63B9286-BB59-4823-954A-114EF340B316}">
      <dgm:prSet/>
      <dgm:spPr/>
      <dgm:t>
        <a:bodyPr/>
        <a:lstStyle/>
        <a:p>
          <a:endParaRPr lang="de-AT" sz="2000"/>
        </a:p>
      </dgm:t>
    </dgm:pt>
    <dgm:pt modelId="{12982794-134D-4BD1-8E51-00B3118F1814}">
      <dgm:prSet phldrT="[Text]" custT="1"/>
      <dgm:spPr/>
      <dgm:t>
        <a:bodyPr/>
        <a:lstStyle/>
        <a:p>
          <a:r>
            <a:rPr lang="de-AT" sz="1800" dirty="0"/>
            <a:t>2019-24: Weiter-Entwicklung</a:t>
          </a:r>
        </a:p>
      </dgm:t>
    </dgm:pt>
    <dgm:pt modelId="{9CB8CFF5-9331-4C14-80D9-17BC58A8BC4F}" type="parTrans" cxnId="{A9D8A1F9-238C-4C3E-B58A-49170831022B}">
      <dgm:prSet/>
      <dgm:spPr/>
      <dgm:t>
        <a:bodyPr/>
        <a:lstStyle/>
        <a:p>
          <a:endParaRPr lang="de-AT" sz="2000"/>
        </a:p>
      </dgm:t>
    </dgm:pt>
    <dgm:pt modelId="{E53F053F-DB17-49B5-BD74-7A0D559CECD8}" type="sibTrans" cxnId="{A9D8A1F9-238C-4C3E-B58A-49170831022B}">
      <dgm:prSet custT="1"/>
      <dgm:spPr/>
      <dgm:t>
        <a:bodyPr/>
        <a:lstStyle/>
        <a:p>
          <a:endParaRPr lang="de-AT" sz="1600" dirty="0"/>
        </a:p>
      </dgm:t>
    </dgm:pt>
    <dgm:pt modelId="{DB68E8F6-8226-456A-A7E4-C972F6CCC816}">
      <dgm:prSet phldrT="[Text]" custT="1"/>
      <dgm:spPr/>
      <dgm:t>
        <a:bodyPr/>
        <a:lstStyle/>
        <a:p>
          <a:r>
            <a:rPr lang="de-AT" sz="1800" dirty="0"/>
            <a:t>2024: </a:t>
          </a:r>
          <a:r>
            <a:rPr lang="de-AT" sz="1800" b="0" dirty="0"/>
            <a:t>klima</a:t>
          </a:r>
          <a:r>
            <a:rPr lang="de-AT" sz="1800" b="1" dirty="0"/>
            <a:t>aktiv </a:t>
          </a:r>
          <a:r>
            <a:rPr lang="de-AT" sz="1800" b="0" dirty="0"/>
            <a:t>Theorie</a:t>
          </a:r>
        </a:p>
      </dgm:t>
    </dgm:pt>
    <dgm:pt modelId="{13A7460E-87D8-478F-A73B-DBB5B1A506BA}" type="parTrans" cxnId="{86CC4F9E-5B86-4EA0-81D7-9E8DF99B0283}">
      <dgm:prSet/>
      <dgm:spPr/>
      <dgm:t>
        <a:bodyPr/>
        <a:lstStyle/>
        <a:p>
          <a:endParaRPr lang="de-AT" sz="2000"/>
        </a:p>
      </dgm:t>
    </dgm:pt>
    <dgm:pt modelId="{74ED4450-AF1E-4FB9-AF42-CE9589E10483}" type="sibTrans" cxnId="{86CC4F9E-5B86-4EA0-81D7-9E8DF99B0283}">
      <dgm:prSet/>
      <dgm:spPr/>
      <dgm:t>
        <a:bodyPr/>
        <a:lstStyle/>
        <a:p>
          <a:endParaRPr lang="de-AT" sz="2000" dirty="0"/>
        </a:p>
      </dgm:t>
    </dgm:pt>
    <dgm:pt modelId="{EDF10BAA-A11C-4554-8CB5-8632BF0A8082}">
      <dgm:prSet phldrT="[Text]" custT="1"/>
      <dgm:spPr/>
      <dgm:t>
        <a:bodyPr/>
        <a:lstStyle/>
        <a:p>
          <a:r>
            <a:rPr lang="de-AT" sz="1400" dirty="0"/>
            <a:t>klima</a:t>
          </a:r>
          <a:r>
            <a:rPr lang="de-AT" sz="1400" b="1" dirty="0"/>
            <a:t>aktiv </a:t>
          </a:r>
          <a:r>
            <a:rPr lang="de-AT" sz="1400" dirty="0"/>
            <a:t>Deklarationstool „Klimaneutrale Plusenergiequartiere“</a:t>
          </a:r>
        </a:p>
      </dgm:t>
    </dgm:pt>
    <dgm:pt modelId="{83CAB1DD-C754-4CDC-9F67-DC0347BBB8C7}" type="parTrans" cxnId="{BD072E79-BC6A-4F24-8EAA-4B4C9072C8CC}">
      <dgm:prSet/>
      <dgm:spPr/>
      <dgm:t>
        <a:bodyPr/>
        <a:lstStyle/>
        <a:p>
          <a:endParaRPr lang="de-AT" sz="2000"/>
        </a:p>
      </dgm:t>
    </dgm:pt>
    <dgm:pt modelId="{F083264A-3F39-459D-8D6B-E8753994AE82}" type="sibTrans" cxnId="{BD072E79-BC6A-4F24-8EAA-4B4C9072C8CC}">
      <dgm:prSet/>
      <dgm:spPr/>
      <dgm:t>
        <a:bodyPr/>
        <a:lstStyle/>
        <a:p>
          <a:endParaRPr lang="de-AT" sz="2000"/>
        </a:p>
      </dgm:t>
    </dgm:pt>
    <dgm:pt modelId="{7C060A29-CF04-4669-867A-1FE82A2EE4AB}">
      <dgm:prSet phldrT="[Text]" custT="1"/>
      <dgm:spPr/>
      <dgm:t>
        <a:bodyPr/>
        <a:lstStyle/>
        <a:p>
          <a:r>
            <a:rPr lang="de-AT" sz="1400" dirty="0"/>
            <a:t>Definition of PED system boundary conditions</a:t>
          </a:r>
        </a:p>
      </dgm:t>
    </dgm:pt>
    <dgm:pt modelId="{FEB2DF60-48D1-4C5A-B46E-18F8C9E3710D}" type="parTrans" cxnId="{A6F04B37-E6C0-4682-8FB3-EE8F85829A0E}">
      <dgm:prSet/>
      <dgm:spPr/>
      <dgm:t>
        <a:bodyPr/>
        <a:lstStyle/>
        <a:p>
          <a:endParaRPr lang="de-AT" sz="2000"/>
        </a:p>
      </dgm:t>
    </dgm:pt>
    <dgm:pt modelId="{4695306F-8FB2-4832-B0A6-7CDA7690BDF4}" type="sibTrans" cxnId="{A6F04B37-E6C0-4682-8FB3-EE8F85829A0E}">
      <dgm:prSet/>
      <dgm:spPr/>
      <dgm:t>
        <a:bodyPr/>
        <a:lstStyle/>
        <a:p>
          <a:endParaRPr lang="de-AT" sz="2000"/>
        </a:p>
      </dgm:t>
    </dgm:pt>
    <dgm:pt modelId="{DC677077-FA20-4AA1-8FBF-8C03A78FA18A}">
      <dgm:prSet phldrT="[Text]" custT="1"/>
      <dgm:spPr/>
      <dgm:t>
        <a:bodyPr/>
        <a:lstStyle/>
        <a:p>
          <a:r>
            <a:rPr lang="de-AT" sz="1400" dirty="0"/>
            <a:t>Mobility energy model</a:t>
          </a:r>
        </a:p>
      </dgm:t>
    </dgm:pt>
    <dgm:pt modelId="{9EE6A27E-D77F-4A58-A784-47893DB4DE2A}" type="parTrans" cxnId="{D67729C7-66B2-4F24-9F39-AF1A81BC38AA}">
      <dgm:prSet/>
      <dgm:spPr/>
      <dgm:t>
        <a:bodyPr/>
        <a:lstStyle/>
        <a:p>
          <a:endParaRPr lang="de-AT" sz="2000"/>
        </a:p>
      </dgm:t>
    </dgm:pt>
    <dgm:pt modelId="{E1FD797A-06F9-4F07-B507-33E53076613C}" type="sibTrans" cxnId="{D67729C7-66B2-4F24-9F39-AF1A81BC38AA}">
      <dgm:prSet/>
      <dgm:spPr/>
      <dgm:t>
        <a:bodyPr/>
        <a:lstStyle/>
        <a:p>
          <a:endParaRPr lang="de-AT" sz="2000"/>
        </a:p>
      </dgm:t>
    </dgm:pt>
    <dgm:pt modelId="{9541C6B2-515B-484C-8999-90EF58635AD4}">
      <dgm:prSet phldrT="[Text]" custT="1"/>
      <dgm:spPr/>
      <dgm:t>
        <a:bodyPr/>
        <a:lstStyle/>
        <a:p>
          <a:r>
            <a:rPr lang="de-AT" sz="1400" dirty="0"/>
            <a:t>Scenario batch analysis</a:t>
          </a:r>
        </a:p>
      </dgm:t>
    </dgm:pt>
    <dgm:pt modelId="{48F39543-CC0C-4882-9060-D556AE55B883}" type="parTrans" cxnId="{40B464B9-3044-43DD-BC4F-C6982C7692B0}">
      <dgm:prSet/>
      <dgm:spPr/>
      <dgm:t>
        <a:bodyPr/>
        <a:lstStyle/>
        <a:p>
          <a:endParaRPr lang="de-AT" sz="2000"/>
        </a:p>
      </dgm:t>
    </dgm:pt>
    <dgm:pt modelId="{DC97CF88-9FC9-41C3-BDA0-CBA9BE086152}" type="sibTrans" cxnId="{40B464B9-3044-43DD-BC4F-C6982C7692B0}">
      <dgm:prSet/>
      <dgm:spPr/>
      <dgm:t>
        <a:bodyPr/>
        <a:lstStyle/>
        <a:p>
          <a:endParaRPr lang="de-AT" sz="2000"/>
        </a:p>
      </dgm:t>
    </dgm:pt>
    <dgm:pt modelId="{8082043D-FA6C-4056-96DE-BB97308D5720}">
      <dgm:prSet phldrT="[Text]" custT="1"/>
      <dgm:spPr/>
      <dgm:t>
        <a:bodyPr/>
        <a:lstStyle/>
        <a:p>
          <a:r>
            <a:rPr lang="de-DE" sz="1800" kern="1200" dirty="0"/>
            <a:t>2025: k</a:t>
          </a:r>
          <a:r>
            <a:rPr lang="de-AT" sz="1800" kern="1200" dirty="0">
              <a:solidFill>
                <a:srgbClr val="FFFFFF"/>
              </a:solidFill>
              <a:latin typeface="Calibri" panose="020F0502020204030204"/>
              <a:ea typeface="+mn-ea"/>
              <a:cs typeface="+mn-cs"/>
            </a:rPr>
            <a:t>lima</a:t>
          </a:r>
          <a:r>
            <a:rPr lang="de-AT" sz="1800" b="1" kern="1200" dirty="0">
              <a:solidFill>
                <a:srgbClr val="FFFFFF"/>
              </a:solidFill>
              <a:latin typeface="Calibri" panose="020F0502020204030204"/>
              <a:ea typeface="+mn-ea"/>
              <a:cs typeface="+mn-cs"/>
            </a:rPr>
            <a:t>aktiv </a:t>
          </a:r>
          <a:r>
            <a:rPr lang="de-AT" sz="1800" b="0" kern="1200" dirty="0">
              <a:solidFill>
                <a:srgbClr val="FFFFFF"/>
              </a:solidFill>
              <a:latin typeface="Calibri" panose="020F0502020204030204"/>
              <a:ea typeface="+mn-ea"/>
              <a:cs typeface="+mn-cs"/>
            </a:rPr>
            <a:t>Praxis</a:t>
          </a:r>
          <a:r>
            <a:rPr lang="de-AT" sz="1800" b="1" kern="1200" dirty="0">
              <a:solidFill>
                <a:srgbClr val="FFFFFF"/>
              </a:solidFill>
              <a:latin typeface="Calibri" panose="020F0502020204030204"/>
              <a:ea typeface="+mn-ea"/>
              <a:cs typeface="+mn-cs"/>
            </a:rPr>
            <a:t> </a:t>
          </a:r>
        </a:p>
      </dgm:t>
    </dgm:pt>
    <dgm:pt modelId="{56A09A6B-1708-461D-80E5-A34F11952B13}" type="parTrans" cxnId="{DB6CD46F-EB88-4054-990D-863DE9E7B3D7}">
      <dgm:prSet/>
      <dgm:spPr/>
      <dgm:t>
        <a:bodyPr/>
        <a:lstStyle/>
        <a:p>
          <a:endParaRPr lang="de-AT"/>
        </a:p>
      </dgm:t>
    </dgm:pt>
    <dgm:pt modelId="{1C47EA9C-1D20-4B1B-92D0-E50669F8E6EA}" type="sibTrans" cxnId="{DB6CD46F-EB88-4054-990D-863DE9E7B3D7}">
      <dgm:prSet/>
      <dgm:spPr/>
      <dgm:t>
        <a:bodyPr/>
        <a:lstStyle/>
        <a:p>
          <a:endParaRPr lang="de-AT"/>
        </a:p>
      </dgm:t>
    </dgm:pt>
    <dgm:pt modelId="{63E5A499-C8E3-468B-9AE8-D6DEB693DC38}">
      <dgm:prSet phldrT="[Text]" custT="1"/>
      <dgm:spPr/>
      <dgm:t>
        <a:bodyPr/>
        <a:lstStyle/>
        <a:p>
          <a:r>
            <a:rPr lang="de-DE" sz="1400" kern="1200" dirty="0"/>
            <a:t>Complete re-implementation</a:t>
          </a:r>
          <a:endParaRPr lang="de-AT" sz="1400" kern="1200" dirty="0"/>
        </a:p>
      </dgm:t>
    </dgm:pt>
    <dgm:pt modelId="{FABEBB45-D9FD-4B0A-9691-A508DE549952}" type="parTrans" cxnId="{006079ED-11BF-48FF-9F8F-65A3CAF25654}">
      <dgm:prSet/>
      <dgm:spPr/>
      <dgm:t>
        <a:bodyPr/>
        <a:lstStyle/>
        <a:p>
          <a:endParaRPr lang="de-AT"/>
        </a:p>
      </dgm:t>
    </dgm:pt>
    <dgm:pt modelId="{DC953D19-042B-47A5-A4EF-0858B9509F3C}" type="sibTrans" cxnId="{006079ED-11BF-48FF-9F8F-65A3CAF25654}">
      <dgm:prSet/>
      <dgm:spPr/>
      <dgm:t>
        <a:bodyPr/>
        <a:lstStyle/>
        <a:p>
          <a:endParaRPr lang="de-AT"/>
        </a:p>
      </dgm:t>
    </dgm:pt>
    <dgm:pt modelId="{E720AABC-58AC-48EB-9A57-E7AFE821FFBA}">
      <dgm:prSet phldrT="[Text]" custT="1"/>
      <dgm:spPr/>
      <dgm:t>
        <a:bodyPr/>
        <a:lstStyle/>
        <a:p>
          <a:r>
            <a:rPr lang="de-DE" sz="1400" kern="1200" dirty="0"/>
            <a:t>Multi-Zone</a:t>
          </a:r>
          <a:endParaRPr lang="de-AT" sz="1400" kern="1200" dirty="0"/>
        </a:p>
      </dgm:t>
    </dgm:pt>
    <dgm:pt modelId="{D9355080-9DBE-4C39-A840-C415289069A5}" type="parTrans" cxnId="{71822046-9ACF-49CF-8E33-E9B389A9A334}">
      <dgm:prSet/>
      <dgm:spPr/>
      <dgm:t>
        <a:bodyPr/>
        <a:lstStyle/>
        <a:p>
          <a:endParaRPr lang="de-AT"/>
        </a:p>
      </dgm:t>
    </dgm:pt>
    <dgm:pt modelId="{C76E90B4-EE20-4D9E-B082-818C169F9543}" type="sibTrans" cxnId="{71822046-9ACF-49CF-8E33-E9B389A9A334}">
      <dgm:prSet/>
      <dgm:spPr/>
      <dgm:t>
        <a:bodyPr/>
        <a:lstStyle/>
        <a:p>
          <a:endParaRPr lang="de-AT"/>
        </a:p>
      </dgm:t>
    </dgm:pt>
    <dgm:pt modelId="{2A69921E-2323-41EB-8459-2CD18E31F605}">
      <dgm:prSet phldrT="[Text]" custT="1"/>
      <dgm:spPr/>
      <dgm:t>
        <a:bodyPr/>
        <a:lstStyle/>
        <a:p>
          <a:r>
            <a:rPr lang="de-DE" sz="1400" kern="1200" dirty="0"/>
            <a:t>Multi-Energy-Systems</a:t>
          </a:r>
          <a:endParaRPr lang="de-AT" sz="1400" kern="1200" dirty="0"/>
        </a:p>
      </dgm:t>
    </dgm:pt>
    <dgm:pt modelId="{EAA434AA-65A2-4BED-A481-D33B07D20A4F}" type="parTrans" cxnId="{0465607B-F85B-4F16-AF65-8F30FCE93972}">
      <dgm:prSet/>
      <dgm:spPr/>
      <dgm:t>
        <a:bodyPr/>
        <a:lstStyle/>
        <a:p>
          <a:endParaRPr lang="de-AT"/>
        </a:p>
      </dgm:t>
    </dgm:pt>
    <dgm:pt modelId="{D1D14E17-8464-49E3-BE87-B1CB5D0E5192}" type="sibTrans" cxnId="{0465607B-F85B-4F16-AF65-8F30FCE93972}">
      <dgm:prSet/>
      <dgm:spPr/>
      <dgm:t>
        <a:bodyPr/>
        <a:lstStyle/>
        <a:p>
          <a:endParaRPr lang="de-AT"/>
        </a:p>
      </dgm:t>
    </dgm:pt>
    <dgm:pt modelId="{03943337-90C2-473A-9AFB-25B3AA02CB0E}">
      <dgm:prSet phldrT="[Text]" custT="1"/>
      <dgm:spPr/>
      <dgm:t>
        <a:bodyPr/>
        <a:lstStyle/>
        <a:p>
          <a:r>
            <a:rPr lang="de-DE" sz="1400" kern="1200" dirty="0"/>
            <a:t>and the list goes on</a:t>
          </a:r>
          <a:endParaRPr lang="de-AT" sz="1400" kern="1200" dirty="0"/>
        </a:p>
      </dgm:t>
    </dgm:pt>
    <dgm:pt modelId="{2BA8F76B-E44D-462B-8517-8723ADF67E62}" type="parTrans" cxnId="{8E8F69D1-7044-4D99-8A45-ACB5494BA0E1}">
      <dgm:prSet/>
      <dgm:spPr/>
      <dgm:t>
        <a:bodyPr/>
        <a:lstStyle/>
        <a:p>
          <a:endParaRPr lang="de-AT"/>
        </a:p>
      </dgm:t>
    </dgm:pt>
    <dgm:pt modelId="{632E333D-E546-4C67-B585-635C1C923768}" type="sibTrans" cxnId="{8E8F69D1-7044-4D99-8A45-ACB5494BA0E1}">
      <dgm:prSet/>
      <dgm:spPr/>
      <dgm:t>
        <a:bodyPr/>
        <a:lstStyle/>
        <a:p>
          <a:endParaRPr lang="de-AT"/>
        </a:p>
      </dgm:t>
    </dgm:pt>
    <dgm:pt modelId="{2D32DB69-6D67-4B3E-93C0-EBCF468BC47A}">
      <dgm:prSet phldrT="[Text]" custT="1"/>
      <dgm:spPr/>
      <dgm:t>
        <a:bodyPr/>
        <a:lstStyle/>
        <a:p>
          <a:endParaRPr lang="de-AT" sz="1400" kern="1200" dirty="0"/>
        </a:p>
      </dgm:t>
    </dgm:pt>
    <dgm:pt modelId="{991B1FF1-7295-482B-A763-28CBD95C47C4}" type="parTrans" cxnId="{A302F222-3B56-45A2-B275-0AB8E5AC2737}">
      <dgm:prSet/>
      <dgm:spPr/>
      <dgm:t>
        <a:bodyPr/>
        <a:lstStyle/>
        <a:p>
          <a:endParaRPr lang="de-AT"/>
        </a:p>
      </dgm:t>
    </dgm:pt>
    <dgm:pt modelId="{6A07A25F-5071-4B6A-9C3A-7353D8398576}" type="sibTrans" cxnId="{A302F222-3B56-45A2-B275-0AB8E5AC2737}">
      <dgm:prSet/>
      <dgm:spPr/>
      <dgm:t>
        <a:bodyPr/>
        <a:lstStyle/>
        <a:p>
          <a:endParaRPr lang="de-AT"/>
        </a:p>
      </dgm:t>
    </dgm:pt>
    <dgm:pt modelId="{F083DF78-3B42-415E-9194-CF0DC3CDE2F2}" type="pres">
      <dgm:prSet presAssocID="{B718F271-4799-4D7B-8BA4-96391919333C}" presName="Name0" presStyleCnt="0">
        <dgm:presLayoutVars>
          <dgm:dir/>
          <dgm:resizeHandles val="exact"/>
        </dgm:presLayoutVars>
      </dgm:prSet>
      <dgm:spPr/>
    </dgm:pt>
    <dgm:pt modelId="{09513B4B-D198-448F-9F8A-C826C4138402}" type="pres">
      <dgm:prSet presAssocID="{E999C120-03FE-43F5-9F23-A288AD9FB714}" presName="composite" presStyleCnt="0"/>
      <dgm:spPr/>
    </dgm:pt>
    <dgm:pt modelId="{645E4351-B4F6-45AC-8BE5-2FE1F35FD873}" type="pres">
      <dgm:prSet presAssocID="{E999C120-03FE-43F5-9F23-A288AD9FB714}" presName="imagSh" presStyleLbl="bgImgPlace1" presStyleIdx="0" presStyleCnt="5"/>
      <dgm:spPr>
        <a:blipFill rotWithShape="1">
          <a:blip xmlns:r="http://schemas.openxmlformats.org/officeDocument/2006/relationships" r:embed="rId1">
            <a:extLst>
              <a:ext uri="{28A0092B-C50C-407E-A947-70E740481C1C}">
                <a14:useLocalDpi xmlns:a14="http://schemas.microsoft.com/office/drawing/2010/main"/>
              </a:ext>
            </a:extLst>
          </a:blip>
          <a:srcRect/>
          <a:stretch>
            <a:fillRect/>
          </a:stretch>
        </a:blipFill>
      </dgm:spPr>
    </dgm:pt>
    <dgm:pt modelId="{9E3E65D5-AEFC-4186-B75F-FDA513E35881}" type="pres">
      <dgm:prSet presAssocID="{E999C120-03FE-43F5-9F23-A288AD9FB714}" presName="txNode" presStyleLbl="node1" presStyleIdx="0" presStyleCnt="5" custScaleY="137005">
        <dgm:presLayoutVars>
          <dgm:bulletEnabled val="1"/>
        </dgm:presLayoutVars>
      </dgm:prSet>
      <dgm:spPr/>
    </dgm:pt>
    <dgm:pt modelId="{FCC019F9-C544-4A8C-A185-FF511388A587}" type="pres">
      <dgm:prSet presAssocID="{9FA5508F-8417-44EB-A8F9-15559952CB07}" presName="sibTrans" presStyleLbl="sibTrans2D1" presStyleIdx="0" presStyleCnt="4"/>
      <dgm:spPr/>
    </dgm:pt>
    <dgm:pt modelId="{8B0515CE-B42F-4CF6-AD66-8704F34B98AF}" type="pres">
      <dgm:prSet presAssocID="{9FA5508F-8417-44EB-A8F9-15559952CB07}" presName="connTx" presStyleLbl="sibTrans2D1" presStyleIdx="0" presStyleCnt="4"/>
      <dgm:spPr/>
    </dgm:pt>
    <dgm:pt modelId="{4FD9DD7D-4000-4BD5-A03E-2A73C0146CE9}" type="pres">
      <dgm:prSet presAssocID="{0DF4F208-161E-444C-8EE5-F0F8688B3821}" presName="composite" presStyleCnt="0"/>
      <dgm:spPr/>
    </dgm:pt>
    <dgm:pt modelId="{3514CD4B-9DCF-4BCF-8C1E-A8C9F79003CB}" type="pres">
      <dgm:prSet presAssocID="{0DF4F208-161E-444C-8EE5-F0F8688B3821}" presName="imagSh" presStyleLbl="bgImgPlace1" presStyleIdx="1" presStyleCnt="5"/>
      <dgm:spPr>
        <a:blipFill rotWithShape="1">
          <a:blip xmlns:r="http://schemas.openxmlformats.org/officeDocument/2006/relationships" r:embed="rId2">
            <a:extLst>
              <a:ext uri="{28A0092B-C50C-407E-A947-70E740481C1C}">
                <a14:useLocalDpi xmlns:a14="http://schemas.microsoft.com/office/drawing/2010/main"/>
              </a:ext>
            </a:extLst>
          </a:blip>
          <a:srcRect/>
          <a:stretch>
            <a:fillRect/>
          </a:stretch>
        </a:blipFill>
      </dgm:spPr>
    </dgm:pt>
    <dgm:pt modelId="{209A4291-BB69-4054-9CC4-313A1FA37402}" type="pres">
      <dgm:prSet presAssocID="{0DF4F208-161E-444C-8EE5-F0F8688B3821}" presName="txNode" presStyleLbl="node1" presStyleIdx="1" presStyleCnt="5" custScaleY="167654">
        <dgm:presLayoutVars>
          <dgm:bulletEnabled val="1"/>
        </dgm:presLayoutVars>
      </dgm:prSet>
      <dgm:spPr/>
    </dgm:pt>
    <dgm:pt modelId="{41195C04-5742-4A39-9519-61C2A1BA33A8}" type="pres">
      <dgm:prSet presAssocID="{CC52B973-B9C6-480E-8D5F-C77835EDB22F}" presName="sibTrans" presStyleLbl="sibTrans2D1" presStyleIdx="1" presStyleCnt="4"/>
      <dgm:spPr/>
    </dgm:pt>
    <dgm:pt modelId="{723421EC-57C3-4B6D-9E42-EF2007C72E3B}" type="pres">
      <dgm:prSet presAssocID="{CC52B973-B9C6-480E-8D5F-C77835EDB22F}" presName="connTx" presStyleLbl="sibTrans2D1" presStyleIdx="1" presStyleCnt="4"/>
      <dgm:spPr/>
    </dgm:pt>
    <dgm:pt modelId="{3E46B3F6-B362-4529-A5B1-C6E7238A77DF}" type="pres">
      <dgm:prSet presAssocID="{12982794-134D-4BD1-8E51-00B3118F1814}" presName="composite" presStyleCnt="0"/>
      <dgm:spPr/>
    </dgm:pt>
    <dgm:pt modelId="{323DADB1-886A-4772-A12F-7B0D3F5648E9}" type="pres">
      <dgm:prSet presAssocID="{12982794-134D-4BD1-8E51-00B3118F1814}" presName="imagSh" presStyleLbl="bgImgPlace1" presStyleIdx="2" presStyleCnt="5"/>
      <dgm:spPr>
        <a:blipFill rotWithShape="1">
          <a:blip xmlns:r="http://schemas.openxmlformats.org/officeDocument/2006/relationships" r:embed="rId3">
            <a:extLst>
              <a:ext uri="{28A0092B-C50C-407E-A947-70E740481C1C}">
                <a14:useLocalDpi xmlns:a14="http://schemas.microsoft.com/office/drawing/2010/main"/>
              </a:ext>
            </a:extLst>
          </a:blip>
          <a:srcRect/>
          <a:stretch>
            <a:fillRect/>
          </a:stretch>
        </a:blipFill>
      </dgm:spPr>
    </dgm:pt>
    <dgm:pt modelId="{FB1C9FC2-216B-4564-8B6B-C1B4FECBE4FD}" type="pres">
      <dgm:prSet presAssocID="{12982794-134D-4BD1-8E51-00B3118F1814}" presName="txNode" presStyleLbl="node1" presStyleIdx="2" presStyleCnt="5" custScaleY="114486">
        <dgm:presLayoutVars>
          <dgm:bulletEnabled val="1"/>
        </dgm:presLayoutVars>
      </dgm:prSet>
      <dgm:spPr/>
    </dgm:pt>
    <dgm:pt modelId="{67E5DE69-1FA4-46CF-A142-87B6B5CAE9AC}" type="pres">
      <dgm:prSet presAssocID="{E53F053F-DB17-49B5-BD74-7A0D559CECD8}" presName="sibTrans" presStyleLbl="sibTrans2D1" presStyleIdx="2" presStyleCnt="4"/>
      <dgm:spPr/>
    </dgm:pt>
    <dgm:pt modelId="{37E689BE-5A18-4244-8CCD-A6C38916BFB2}" type="pres">
      <dgm:prSet presAssocID="{E53F053F-DB17-49B5-BD74-7A0D559CECD8}" presName="connTx" presStyleLbl="sibTrans2D1" presStyleIdx="2" presStyleCnt="4"/>
      <dgm:spPr/>
    </dgm:pt>
    <dgm:pt modelId="{8385484D-2137-4939-ABAE-740916953C4E}" type="pres">
      <dgm:prSet presAssocID="{DB68E8F6-8226-456A-A7E4-C972F6CCC816}" presName="composite" presStyleCnt="0"/>
      <dgm:spPr/>
    </dgm:pt>
    <dgm:pt modelId="{6A1064AE-09E6-4915-A438-176EBB8204D9}" type="pres">
      <dgm:prSet presAssocID="{DB68E8F6-8226-456A-A7E4-C972F6CCC816}" presName="imagSh" presStyleLbl="bgImgPlace1" presStyleIdx="3" presStyleCnt="5"/>
      <dgm:spPr>
        <a:blipFill rotWithShape="1">
          <a:blip xmlns:r="http://schemas.openxmlformats.org/officeDocument/2006/relationships" r:embed="rId4">
            <a:extLst>
              <a:ext uri="{28A0092B-C50C-407E-A947-70E740481C1C}">
                <a14:useLocalDpi xmlns:a14="http://schemas.microsoft.com/office/drawing/2010/main"/>
              </a:ext>
            </a:extLst>
          </a:blip>
          <a:srcRect/>
          <a:stretch>
            <a:fillRect/>
          </a:stretch>
        </a:blipFill>
      </dgm:spPr>
    </dgm:pt>
    <dgm:pt modelId="{ACF42C8A-8820-42F7-A3F1-CB4252FA0C58}" type="pres">
      <dgm:prSet presAssocID="{DB68E8F6-8226-456A-A7E4-C972F6CCC816}" presName="txNode" presStyleLbl="node1" presStyleIdx="3" presStyleCnt="5" custScaleY="114486">
        <dgm:presLayoutVars>
          <dgm:bulletEnabled val="1"/>
        </dgm:presLayoutVars>
      </dgm:prSet>
      <dgm:spPr/>
    </dgm:pt>
    <dgm:pt modelId="{B3173A3C-870A-4A39-B3ED-19B9F1370270}" type="pres">
      <dgm:prSet presAssocID="{74ED4450-AF1E-4FB9-AF42-CE9589E10483}" presName="sibTrans" presStyleLbl="sibTrans2D1" presStyleIdx="3" presStyleCnt="4"/>
      <dgm:spPr/>
    </dgm:pt>
    <dgm:pt modelId="{99D21E14-5593-46A0-829F-BFDD8066E5F4}" type="pres">
      <dgm:prSet presAssocID="{74ED4450-AF1E-4FB9-AF42-CE9589E10483}" presName="connTx" presStyleLbl="sibTrans2D1" presStyleIdx="3" presStyleCnt="4"/>
      <dgm:spPr/>
    </dgm:pt>
    <dgm:pt modelId="{C8562BF5-066C-4939-98D1-87CC1155C8D3}" type="pres">
      <dgm:prSet presAssocID="{8082043D-FA6C-4056-96DE-BB97308D5720}" presName="composite" presStyleCnt="0"/>
      <dgm:spPr/>
    </dgm:pt>
    <dgm:pt modelId="{C166E8EB-65AE-4DB0-BC95-48065E3D9E4D}" type="pres">
      <dgm:prSet presAssocID="{8082043D-FA6C-4056-96DE-BB97308D5720}" presName="imagSh" presStyleLbl="bgImgPlace1" presStyleIdx="4" presStyleCnt="5"/>
      <dgm:spPr>
        <a:blipFill rotWithShape="1">
          <a:blip xmlns:r="http://schemas.openxmlformats.org/officeDocument/2006/relationships" r:embed="rId5"/>
          <a:srcRect/>
          <a:stretch>
            <a:fillRect l="-31000" r="-31000"/>
          </a:stretch>
        </a:blipFill>
      </dgm:spPr>
    </dgm:pt>
    <dgm:pt modelId="{D27AF51F-E2B1-4A70-A1BC-9A2791F5F88D}" type="pres">
      <dgm:prSet presAssocID="{8082043D-FA6C-4056-96DE-BB97308D5720}" presName="txNode" presStyleLbl="node1" presStyleIdx="4" presStyleCnt="5" custScaleY="137988">
        <dgm:presLayoutVars>
          <dgm:bulletEnabled val="1"/>
        </dgm:presLayoutVars>
      </dgm:prSet>
      <dgm:spPr/>
    </dgm:pt>
  </dgm:ptLst>
  <dgm:cxnLst>
    <dgm:cxn modelId="{A7877301-E6FF-4E2E-982A-044E6498FFE2}" type="presOf" srcId="{DC677077-FA20-4AA1-8FBF-8C03A78FA18A}" destId="{FB1C9FC2-216B-4564-8B6B-C1B4FECBE4FD}" srcOrd="0" destOrd="1" presId="urn:microsoft.com/office/officeart/2005/8/layout/hProcess10"/>
    <dgm:cxn modelId="{15F21208-8F22-479B-B128-CAB8ADD01DFE}" type="presOf" srcId="{9541C6B2-515B-484C-8999-90EF58635AD4}" destId="{FB1C9FC2-216B-4564-8B6B-C1B4FECBE4FD}" srcOrd="0" destOrd="2" presId="urn:microsoft.com/office/officeart/2005/8/layout/hProcess10"/>
    <dgm:cxn modelId="{167C050D-3721-47CF-951A-091F5BF75956}" type="presOf" srcId="{8082043D-FA6C-4056-96DE-BB97308D5720}" destId="{D27AF51F-E2B1-4A70-A1BC-9A2791F5F88D}" srcOrd="0" destOrd="0" presId="urn:microsoft.com/office/officeart/2005/8/layout/hProcess10"/>
    <dgm:cxn modelId="{465E3D13-40A1-41AE-8A9F-DB60AE7F518D}" srcId="{B718F271-4799-4D7B-8BA4-96391919333C}" destId="{0DF4F208-161E-444C-8EE5-F0F8688B3821}" srcOrd="1" destOrd="0" parTransId="{6C6E14F7-3B06-42A1-8E9D-85663B8733FC}" sibTransId="{CC52B973-B9C6-480E-8D5F-C77835EDB22F}"/>
    <dgm:cxn modelId="{39D1EF19-FA84-4363-AD4E-6DF87574CBB5}" type="presOf" srcId="{E53F053F-DB17-49B5-BD74-7A0D559CECD8}" destId="{67E5DE69-1FA4-46CF-A142-87B6B5CAE9AC}" srcOrd="0" destOrd="0" presId="urn:microsoft.com/office/officeart/2005/8/layout/hProcess10"/>
    <dgm:cxn modelId="{A302F222-3B56-45A2-B275-0AB8E5AC2737}" srcId="{8082043D-FA6C-4056-96DE-BB97308D5720}" destId="{2D32DB69-6D67-4B3E-93C0-EBCF468BC47A}" srcOrd="4" destOrd="0" parTransId="{991B1FF1-7295-482B-A763-28CBD95C47C4}" sibTransId="{6A07A25F-5071-4B6A-9C3A-7353D8398576}"/>
    <dgm:cxn modelId="{E4BEDD29-26D6-46E9-9677-9529CFEF69A2}" type="presOf" srcId="{0DF4F208-161E-444C-8EE5-F0F8688B3821}" destId="{209A4291-BB69-4054-9CC4-313A1FA37402}" srcOrd="0" destOrd="0" presId="urn:microsoft.com/office/officeart/2005/8/layout/hProcess10"/>
    <dgm:cxn modelId="{A6F04B37-E6C0-4682-8FB3-EE8F85829A0E}" srcId="{0DF4F208-161E-444C-8EE5-F0F8688B3821}" destId="{7C060A29-CF04-4669-867A-1FE82A2EE4AB}" srcOrd="1" destOrd="0" parTransId="{FEB2DF60-48D1-4C5A-B46E-18F8C9E3710D}" sibTransId="{4695306F-8FB2-4832-B0A6-7CDA7690BDF4}"/>
    <dgm:cxn modelId="{F3C7E43E-B6B8-4175-8502-32F01BCFC29E}" type="presOf" srcId="{74ED4450-AF1E-4FB9-AF42-CE9589E10483}" destId="{99D21E14-5593-46A0-829F-BFDD8066E5F4}" srcOrd="1" destOrd="0" presId="urn:microsoft.com/office/officeart/2005/8/layout/hProcess10"/>
    <dgm:cxn modelId="{3D2D9440-B097-498A-BEBE-304D46BC45BD}" type="presOf" srcId="{7C060A29-CF04-4669-867A-1FE82A2EE4AB}" destId="{209A4291-BB69-4054-9CC4-313A1FA37402}" srcOrd="0" destOrd="2" presId="urn:microsoft.com/office/officeart/2005/8/layout/hProcess10"/>
    <dgm:cxn modelId="{C83BB141-9A77-49F0-B105-EF1C7D9B2084}" type="presOf" srcId="{9FA5508F-8417-44EB-A8F9-15559952CB07}" destId="{FCC019F9-C544-4A8C-A185-FF511388A587}" srcOrd="0" destOrd="0" presId="urn:microsoft.com/office/officeart/2005/8/layout/hProcess10"/>
    <dgm:cxn modelId="{11DA9A44-CD37-49A1-800A-3FC1B1E54AB7}" type="presOf" srcId="{9FA5508F-8417-44EB-A8F9-15559952CB07}" destId="{8B0515CE-B42F-4CF6-AD66-8704F34B98AF}" srcOrd="1" destOrd="0" presId="urn:microsoft.com/office/officeart/2005/8/layout/hProcess10"/>
    <dgm:cxn modelId="{71822046-9ACF-49CF-8E33-E9B389A9A334}" srcId="{8082043D-FA6C-4056-96DE-BB97308D5720}" destId="{E720AABC-58AC-48EB-9A57-E7AFE821FFBA}" srcOrd="1" destOrd="0" parTransId="{D9355080-9DBE-4C39-A840-C415289069A5}" sibTransId="{C76E90B4-EE20-4D9E-B082-818C169F9543}"/>
    <dgm:cxn modelId="{92AEB867-41EC-4537-AD9E-D3AA6BEE6C2F}" type="presOf" srcId="{12982794-134D-4BD1-8E51-00B3118F1814}" destId="{FB1C9FC2-216B-4564-8B6B-C1B4FECBE4FD}" srcOrd="0" destOrd="0" presId="urn:microsoft.com/office/officeart/2005/8/layout/hProcess10"/>
    <dgm:cxn modelId="{60CCFC68-3211-4388-A34F-772F8FFDA567}" srcId="{E999C120-03FE-43F5-9F23-A288AD9FB714}" destId="{4C0415BD-9D73-4C49-A46A-7DB12C5B0A35}" srcOrd="0" destOrd="0" parTransId="{F8E3461D-04A6-472B-ACC0-47D4EFA7028B}" sibTransId="{AC4BD405-3910-4435-8375-442C7E36009C}"/>
    <dgm:cxn modelId="{C705334D-39EC-4425-A2DC-16C109F147E5}" type="presOf" srcId="{B718F271-4799-4D7B-8BA4-96391919333C}" destId="{F083DF78-3B42-415E-9194-CF0DC3CDE2F2}" srcOrd="0" destOrd="0" presId="urn:microsoft.com/office/officeart/2005/8/layout/hProcess10"/>
    <dgm:cxn modelId="{DB6CD46F-EB88-4054-990D-863DE9E7B3D7}" srcId="{B718F271-4799-4D7B-8BA4-96391919333C}" destId="{8082043D-FA6C-4056-96DE-BB97308D5720}" srcOrd="4" destOrd="0" parTransId="{56A09A6B-1708-461D-80E5-A34F11952B13}" sibTransId="{1C47EA9C-1D20-4B1B-92D0-E50669F8E6EA}"/>
    <dgm:cxn modelId="{08F88274-8549-4477-AF03-CB95CB220781}" type="presOf" srcId="{DB68E8F6-8226-456A-A7E4-C972F6CCC816}" destId="{ACF42C8A-8820-42F7-A3F1-CB4252FA0C58}" srcOrd="0" destOrd="0" presId="urn:microsoft.com/office/officeart/2005/8/layout/hProcess10"/>
    <dgm:cxn modelId="{BD072E79-BC6A-4F24-8EAA-4B4C9072C8CC}" srcId="{DB68E8F6-8226-456A-A7E4-C972F6CCC816}" destId="{EDF10BAA-A11C-4554-8CB5-8632BF0A8082}" srcOrd="0" destOrd="0" parTransId="{83CAB1DD-C754-4CDC-9F67-DC0347BBB8C7}" sibTransId="{F083264A-3F39-459D-8D6B-E8753994AE82}"/>
    <dgm:cxn modelId="{0465607B-F85B-4F16-AF65-8F30FCE93972}" srcId="{8082043D-FA6C-4056-96DE-BB97308D5720}" destId="{2A69921E-2323-41EB-8459-2CD18E31F605}" srcOrd="2" destOrd="0" parTransId="{EAA434AA-65A2-4BED-A481-D33B07D20A4F}" sibTransId="{D1D14E17-8464-49E3-BE87-B1CB5D0E5192}"/>
    <dgm:cxn modelId="{140EB37C-48CD-45BD-8714-7D1733B8AE30}" type="presOf" srcId="{E999C120-03FE-43F5-9F23-A288AD9FB714}" destId="{9E3E65D5-AEFC-4186-B75F-FDA513E35881}" srcOrd="0" destOrd="0" presId="urn:microsoft.com/office/officeart/2005/8/layout/hProcess10"/>
    <dgm:cxn modelId="{F63B9286-BB59-4823-954A-114EF340B316}" srcId="{0DF4F208-161E-444C-8EE5-F0F8688B3821}" destId="{A9977D64-16CA-4942-93F3-22EC44B89E24}" srcOrd="0" destOrd="0" parTransId="{694C372D-989A-441D-8E3B-F4B3E52F3462}" sibTransId="{9713514C-BEE6-49B4-8F1F-C54320B88FCB}"/>
    <dgm:cxn modelId="{E4445C90-8513-4C0C-9BE4-D4A433423B72}" type="presOf" srcId="{63E5A499-C8E3-468B-9AE8-D6DEB693DC38}" destId="{D27AF51F-E2B1-4A70-A1BC-9A2791F5F88D}" srcOrd="0" destOrd="1" presId="urn:microsoft.com/office/officeart/2005/8/layout/hProcess10"/>
    <dgm:cxn modelId="{86CC4F9E-5B86-4EA0-81D7-9E8DF99B0283}" srcId="{B718F271-4799-4D7B-8BA4-96391919333C}" destId="{DB68E8F6-8226-456A-A7E4-C972F6CCC816}" srcOrd="3" destOrd="0" parTransId="{13A7460E-87D8-478F-A73B-DBB5B1A506BA}" sibTransId="{74ED4450-AF1E-4FB9-AF42-CE9589E10483}"/>
    <dgm:cxn modelId="{5D988CA8-5A8D-43CE-B17F-0E298419E5F7}" type="presOf" srcId="{4C0415BD-9D73-4C49-A46A-7DB12C5B0A35}" destId="{9E3E65D5-AEFC-4186-B75F-FDA513E35881}" srcOrd="0" destOrd="1" presId="urn:microsoft.com/office/officeart/2005/8/layout/hProcess10"/>
    <dgm:cxn modelId="{BF10EDAA-2D8B-4B34-938B-6823565E7883}" type="presOf" srcId="{E720AABC-58AC-48EB-9A57-E7AFE821FFBA}" destId="{D27AF51F-E2B1-4A70-A1BC-9A2791F5F88D}" srcOrd="0" destOrd="2" presId="urn:microsoft.com/office/officeart/2005/8/layout/hProcess10"/>
    <dgm:cxn modelId="{40B464B9-3044-43DD-BC4F-C6982C7692B0}" srcId="{12982794-134D-4BD1-8E51-00B3118F1814}" destId="{9541C6B2-515B-484C-8999-90EF58635AD4}" srcOrd="1" destOrd="0" parTransId="{48F39543-CC0C-4882-9060-D556AE55B883}" sibTransId="{DC97CF88-9FC9-41C3-BDA0-CBA9BE086152}"/>
    <dgm:cxn modelId="{D67729C7-66B2-4F24-9F39-AF1A81BC38AA}" srcId="{12982794-134D-4BD1-8E51-00B3118F1814}" destId="{DC677077-FA20-4AA1-8FBF-8C03A78FA18A}" srcOrd="0" destOrd="0" parTransId="{9EE6A27E-D77F-4A58-A784-47893DB4DE2A}" sibTransId="{E1FD797A-06F9-4F07-B507-33E53076613C}"/>
    <dgm:cxn modelId="{3CFD8CCD-594A-4020-A12A-340021D5A109}" type="presOf" srcId="{CC52B973-B9C6-480E-8D5F-C77835EDB22F}" destId="{41195C04-5742-4A39-9519-61C2A1BA33A8}" srcOrd="0" destOrd="0" presId="urn:microsoft.com/office/officeart/2005/8/layout/hProcess10"/>
    <dgm:cxn modelId="{8E8F69D1-7044-4D99-8A45-ACB5494BA0E1}" srcId="{8082043D-FA6C-4056-96DE-BB97308D5720}" destId="{03943337-90C2-473A-9AFB-25B3AA02CB0E}" srcOrd="3" destOrd="0" parTransId="{2BA8F76B-E44D-462B-8517-8723ADF67E62}" sibTransId="{632E333D-E546-4C67-B585-635C1C923768}"/>
    <dgm:cxn modelId="{3E53E1D7-5CDA-4459-8CD6-9DFA8DA14F9C}" type="presOf" srcId="{CC52B973-B9C6-480E-8D5F-C77835EDB22F}" destId="{723421EC-57C3-4B6D-9E42-EF2007C72E3B}" srcOrd="1" destOrd="0" presId="urn:microsoft.com/office/officeart/2005/8/layout/hProcess10"/>
    <dgm:cxn modelId="{3D4C05DA-A644-416F-BBB7-233AE7B734B7}" type="presOf" srcId="{03943337-90C2-473A-9AFB-25B3AA02CB0E}" destId="{D27AF51F-E2B1-4A70-A1BC-9A2791F5F88D}" srcOrd="0" destOrd="4" presId="urn:microsoft.com/office/officeart/2005/8/layout/hProcess10"/>
    <dgm:cxn modelId="{CCE8A5DE-BBE5-4BE9-A986-C629B2E45622}" srcId="{B718F271-4799-4D7B-8BA4-96391919333C}" destId="{E999C120-03FE-43F5-9F23-A288AD9FB714}" srcOrd="0" destOrd="0" parTransId="{9486A21F-AF98-4F2C-8029-7230E3B517D0}" sibTransId="{9FA5508F-8417-44EB-A8F9-15559952CB07}"/>
    <dgm:cxn modelId="{7EC7B7E0-907B-47BB-AA15-01860DAD835C}" type="presOf" srcId="{2A69921E-2323-41EB-8459-2CD18E31F605}" destId="{D27AF51F-E2B1-4A70-A1BC-9A2791F5F88D}" srcOrd="0" destOrd="3" presId="urn:microsoft.com/office/officeart/2005/8/layout/hProcess10"/>
    <dgm:cxn modelId="{7AD065E3-ADE0-4904-8775-92D9A47F4307}" type="presOf" srcId="{74ED4450-AF1E-4FB9-AF42-CE9589E10483}" destId="{B3173A3C-870A-4A39-B3ED-19B9F1370270}" srcOrd="0" destOrd="0" presId="urn:microsoft.com/office/officeart/2005/8/layout/hProcess10"/>
    <dgm:cxn modelId="{54C5A1E4-3C83-48DF-98FA-E1463FA52706}" type="presOf" srcId="{E53F053F-DB17-49B5-BD74-7A0D559CECD8}" destId="{37E689BE-5A18-4244-8CCD-A6C38916BFB2}" srcOrd="1" destOrd="0" presId="urn:microsoft.com/office/officeart/2005/8/layout/hProcess10"/>
    <dgm:cxn modelId="{2ECEA9E6-1ECF-4A5F-8A16-41C2DC6CC75B}" type="presOf" srcId="{A9977D64-16CA-4942-93F3-22EC44B89E24}" destId="{209A4291-BB69-4054-9CC4-313A1FA37402}" srcOrd="0" destOrd="1" presId="urn:microsoft.com/office/officeart/2005/8/layout/hProcess10"/>
    <dgm:cxn modelId="{006079ED-11BF-48FF-9F8F-65A3CAF25654}" srcId="{8082043D-FA6C-4056-96DE-BB97308D5720}" destId="{63E5A499-C8E3-468B-9AE8-D6DEB693DC38}" srcOrd="0" destOrd="0" parTransId="{FABEBB45-D9FD-4B0A-9691-A508DE549952}" sibTransId="{DC953D19-042B-47A5-A4EF-0858B9509F3C}"/>
    <dgm:cxn modelId="{52DC7EF0-D809-4F5E-8C74-C88543F3C8FC}" type="presOf" srcId="{2D32DB69-6D67-4B3E-93C0-EBCF468BC47A}" destId="{D27AF51F-E2B1-4A70-A1BC-9A2791F5F88D}" srcOrd="0" destOrd="5" presId="urn:microsoft.com/office/officeart/2005/8/layout/hProcess10"/>
    <dgm:cxn modelId="{A9D8A1F9-238C-4C3E-B58A-49170831022B}" srcId="{B718F271-4799-4D7B-8BA4-96391919333C}" destId="{12982794-134D-4BD1-8E51-00B3118F1814}" srcOrd="2" destOrd="0" parTransId="{9CB8CFF5-9331-4C14-80D9-17BC58A8BC4F}" sibTransId="{E53F053F-DB17-49B5-BD74-7A0D559CECD8}"/>
    <dgm:cxn modelId="{C86999FA-75F7-4572-BE2C-900BDD0F656A}" type="presOf" srcId="{EDF10BAA-A11C-4554-8CB5-8632BF0A8082}" destId="{ACF42C8A-8820-42F7-A3F1-CB4252FA0C58}" srcOrd="0" destOrd="1" presId="urn:microsoft.com/office/officeart/2005/8/layout/hProcess10"/>
    <dgm:cxn modelId="{2FCF2E7E-FCBA-40BA-9503-69F006CEE93E}" type="presParOf" srcId="{F083DF78-3B42-415E-9194-CF0DC3CDE2F2}" destId="{09513B4B-D198-448F-9F8A-C826C4138402}" srcOrd="0" destOrd="0" presId="urn:microsoft.com/office/officeart/2005/8/layout/hProcess10"/>
    <dgm:cxn modelId="{C46D4050-D30F-4772-A4EF-5D21C3065726}" type="presParOf" srcId="{09513B4B-D198-448F-9F8A-C826C4138402}" destId="{645E4351-B4F6-45AC-8BE5-2FE1F35FD873}" srcOrd="0" destOrd="0" presId="urn:microsoft.com/office/officeart/2005/8/layout/hProcess10"/>
    <dgm:cxn modelId="{29B6C94D-B439-41D4-9743-8ECC6B9AD6D9}" type="presParOf" srcId="{09513B4B-D198-448F-9F8A-C826C4138402}" destId="{9E3E65D5-AEFC-4186-B75F-FDA513E35881}" srcOrd="1" destOrd="0" presId="urn:microsoft.com/office/officeart/2005/8/layout/hProcess10"/>
    <dgm:cxn modelId="{8E9E0FBA-8AE2-4EB6-94D7-476AA96246A2}" type="presParOf" srcId="{F083DF78-3B42-415E-9194-CF0DC3CDE2F2}" destId="{FCC019F9-C544-4A8C-A185-FF511388A587}" srcOrd="1" destOrd="0" presId="urn:microsoft.com/office/officeart/2005/8/layout/hProcess10"/>
    <dgm:cxn modelId="{31FC8D1D-38E5-44C8-8123-429BD16E174E}" type="presParOf" srcId="{FCC019F9-C544-4A8C-A185-FF511388A587}" destId="{8B0515CE-B42F-4CF6-AD66-8704F34B98AF}" srcOrd="0" destOrd="0" presId="urn:microsoft.com/office/officeart/2005/8/layout/hProcess10"/>
    <dgm:cxn modelId="{E63DD266-6C3A-4859-ABC3-62D49D6F504B}" type="presParOf" srcId="{F083DF78-3B42-415E-9194-CF0DC3CDE2F2}" destId="{4FD9DD7D-4000-4BD5-A03E-2A73C0146CE9}" srcOrd="2" destOrd="0" presId="urn:microsoft.com/office/officeart/2005/8/layout/hProcess10"/>
    <dgm:cxn modelId="{CA1FF124-24DB-466B-B225-9F5540025F7D}" type="presParOf" srcId="{4FD9DD7D-4000-4BD5-A03E-2A73C0146CE9}" destId="{3514CD4B-9DCF-4BCF-8C1E-A8C9F79003CB}" srcOrd="0" destOrd="0" presId="urn:microsoft.com/office/officeart/2005/8/layout/hProcess10"/>
    <dgm:cxn modelId="{DF7260CE-A7FA-4E81-98C4-19FF660481FA}" type="presParOf" srcId="{4FD9DD7D-4000-4BD5-A03E-2A73C0146CE9}" destId="{209A4291-BB69-4054-9CC4-313A1FA37402}" srcOrd="1" destOrd="0" presId="urn:microsoft.com/office/officeart/2005/8/layout/hProcess10"/>
    <dgm:cxn modelId="{AE433AF2-7E14-46B9-B9B6-4A44C8BF17E7}" type="presParOf" srcId="{F083DF78-3B42-415E-9194-CF0DC3CDE2F2}" destId="{41195C04-5742-4A39-9519-61C2A1BA33A8}" srcOrd="3" destOrd="0" presId="urn:microsoft.com/office/officeart/2005/8/layout/hProcess10"/>
    <dgm:cxn modelId="{2EA8A44D-AC6D-45F2-8577-F71E8C7D1429}" type="presParOf" srcId="{41195C04-5742-4A39-9519-61C2A1BA33A8}" destId="{723421EC-57C3-4B6D-9E42-EF2007C72E3B}" srcOrd="0" destOrd="0" presId="urn:microsoft.com/office/officeart/2005/8/layout/hProcess10"/>
    <dgm:cxn modelId="{B8E0F26B-3327-487E-A5FC-7D49DE48EF45}" type="presParOf" srcId="{F083DF78-3B42-415E-9194-CF0DC3CDE2F2}" destId="{3E46B3F6-B362-4529-A5B1-C6E7238A77DF}" srcOrd="4" destOrd="0" presId="urn:microsoft.com/office/officeart/2005/8/layout/hProcess10"/>
    <dgm:cxn modelId="{0E30F2E4-C5C1-4F8D-9C2E-5897029B85A6}" type="presParOf" srcId="{3E46B3F6-B362-4529-A5B1-C6E7238A77DF}" destId="{323DADB1-886A-4772-A12F-7B0D3F5648E9}" srcOrd="0" destOrd="0" presId="urn:microsoft.com/office/officeart/2005/8/layout/hProcess10"/>
    <dgm:cxn modelId="{261C2665-EB56-49F5-99AC-704BE643E37A}" type="presParOf" srcId="{3E46B3F6-B362-4529-A5B1-C6E7238A77DF}" destId="{FB1C9FC2-216B-4564-8B6B-C1B4FECBE4FD}" srcOrd="1" destOrd="0" presId="urn:microsoft.com/office/officeart/2005/8/layout/hProcess10"/>
    <dgm:cxn modelId="{8DF0710F-26CE-43F5-9E40-AE25EECFED84}" type="presParOf" srcId="{F083DF78-3B42-415E-9194-CF0DC3CDE2F2}" destId="{67E5DE69-1FA4-46CF-A142-87B6B5CAE9AC}" srcOrd="5" destOrd="0" presId="urn:microsoft.com/office/officeart/2005/8/layout/hProcess10"/>
    <dgm:cxn modelId="{ED1D3936-5A37-4F56-BA99-38E391BDD9AC}" type="presParOf" srcId="{67E5DE69-1FA4-46CF-A142-87B6B5CAE9AC}" destId="{37E689BE-5A18-4244-8CCD-A6C38916BFB2}" srcOrd="0" destOrd="0" presId="urn:microsoft.com/office/officeart/2005/8/layout/hProcess10"/>
    <dgm:cxn modelId="{4F0FE84B-081C-46B9-AA0C-8ED3B4694073}" type="presParOf" srcId="{F083DF78-3B42-415E-9194-CF0DC3CDE2F2}" destId="{8385484D-2137-4939-ABAE-740916953C4E}" srcOrd="6" destOrd="0" presId="urn:microsoft.com/office/officeart/2005/8/layout/hProcess10"/>
    <dgm:cxn modelId="{C31D9ECF-3C9A-4E74-AC3F-D6A79EBDD38A}" type="presParOf" srcId="{8385484D-2137-4939-ABAE-740916953C4E}" destId="{6A1064AE-09E6-4915-A438-176EBB8204D9}" srcOrd="0" destOrd="0" presId="urn:microsoft.com/office/officeart/2005/8/layout/hProcess10"/>
    <dgm:cxn modelId="{9F0CE385-3E61-4C80-8014-80BF172171EF}" type="presParOf" srcId="{8385484D-2137-4939-ABAE-740916953C4E}" destId="{ACF42C8A-8820-42F7-A3F1-CB4252FA0C58}" srcOrd="1" destOrd="0" presId="urn:microsoft.com/office/officeart/2005/8/layout/hProcess10"/>
    <dgm:cxn modelId="{A27099BC-96B4-44A4-BB9D-1D73DB22251A}" type="presParOf" srcId="{F083DF78-3B42-415E-9194-CF0DC3CDE2F2}" destId="{B3173A3C-870A-4A39-B3ED-19B9F1370270}" srcOrd="7" destOrd="0" presId="urn:microsoft.com/office/officeart/2005/8/layout/hProcess10"/>
    <dgm:cxn modelId="{9E02AF3F-37D4-42E3-BA96-B4F6BAF9C10A}" type="presParOf" srcId="{B3173A3C-870A-4A39-B3ED-19B9F1370270}" destId="{99D21E14-5593-46A0-829F-BFDD8066E5F4}" srcOrd="0" destOrd="0" presId="urn:microsoft.com/office/officeart/2005/8/layout/hProcess10"/>
    <dgm:cxn modelId="{0533BF05-1DF8-40FF-BC50-ACD3318A2CBC}" type="presParOf" srcId="{F083DF78-3B42-415E-9194-CF0DC3CDE2F2}" destId="{C8562BF5-066C-4939-98D1-87CC1155C8D3}" srcOrd="8" destOrd="0" presId="urn:microsoft.com/office/officeart/2005/8/layout/hProcess10"/>
    <dgm:cxn modelId="{1EC6FD4D-E6EA-40BA-9A21-18CE35E2708F}" type="presParOf" srcId="{C8562BF5-066C-4939-98D1-87CC1155C8D3}" destId="{C166E8EB-65AE-4DB0-BC95-48065E3D9E4D}" srcOrd="0" destOrd="0" presId="urn:microsoft.com/office/officeart/2005/8/layout/hProcess10"/>
    <dgm:cxn modelId="{0357089F-C96C-46A5-BF36-C4FC25D28A80}" type="presParOf" srcId="{C8562BF5-066C-4939-98D1-87CC1155C8D3}" destId="{D27AF51F-E2B1-4A70-A1BC-9A2791F5F88D}" srcOrd="1" destOrd="0" presId="urn:microsoft.com/office/officeart/2005/8/layout/hProcess10"/>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1655B15-5146-419B-9CC1-501CB61349FA}" type="doc">
      <dgm:prSet loTypeId="urn:microsoft.com/office/officeart/2005/8/layout/cycle8" loCatId="cycle" qsTypeId="urn:microsoft.com/office/officeart/2005/8/quickstyle/simple1" qsCatId="simple" csTypeId="urn:microsoft.com/office/officeart/2005/8/colors/colorful2" csCatId="colorful" phldr="1"/>
      <dgm:spPr/>
      <dgm:t>
        <a:bodyPr/>
        <a:lstStyle/>
        <a:p>
          <a:endParaRPr lang="de-AT"/>
        </a:p>
      </dgm:t>
    </dgm:pt>
    <dgm:pt modelId="{E403D4FC-0272-494E-8EC4-BAFB665F1A18}">
      <dgm:prSet phldrT="[Text]" custT="1"/>
      <dgm:spPr>
        <a:xfrm>
          <a:off x="1399032" y="304037"/>
          <a:ext cx="2688336" cy="2688336"/>
        </a:xfrm>
        <a:prstGeom prst="pie">
          <a:avLst>
            <a:gd name="adj1" fmla="val 1800000"/>
            <a:gd name="adj2" fmla="val 9000000"/>
          </a:avLst>
        </a:prstGeom>
        <a:blipFill rotWithShape="0">
          <a:blip xmlns:r="http://schemas.openxmlformats.org/officeDocument/2006/relationships" r:embed="rId1"/>
          <a:srcRect/>
          <a:stretch>
            <a:fillRect l="-23000" r="-23000"/>
          </a:stretch>
        </a:blipFill>
      </dgm:spPr>
      <dgm:t>
        <a:bodyPr/>
        <a:lstStyle/>
        <a:p>
          <a:pPr>
            <a:buNone/>
          </a:pPr>
          <a:r>
            <a:rPr lang="de-AT" sz="2800" b="1" dirty="0">
              <a:solidFill>
                <a:schemeClr val="accent6">
                  <a:lumMod val="75000"/>
                </a:schemeClr>
              </a:solidFill>
              <a:latin typeface="Aptos" panose="02110004020202020204"/>
              <a:ea typeface="+mn-ea"/>
              <a:cs typeface="+mn-cs"/>
            </a:rPr>
            <a:t>Analyse</a:t>
          </a:r>
        </a:p>
      </dgm:t>
    </dgm:pt>
    <dgm:pt modelId="{AD395BEE-4804-4C62-A74E-270FBA78302E}" type="parTrans" cxnId="{F8B045D8-8351-4DAC-8CFC-90E784EB214F}">
      <dgm:prSet/>
      <dgm:spPr/>
      <dgm:t>
        <a:bodyPr/>
        <a:lstStyle/>
        <a:p>
          <a:endParaRPr lang="de-AT" sz="3600"/>
        </a:p>
      </dgm:t>
    </dgm:pt>
    <dgm:pt modelId="{4FF515A0-1C4E-4BFA-9939-6D3B2ADF4F7A}" type="sibTrans" cxnId="{F8B045D8-8351-4DAC-8CFC-90E784EB214F}">
      <dgm:prSet/>
      <dgm:spPr/>
      <dgm:t>
        <a:bodyPr/>
        <a:lstStyle/>
        <a:p>
          <a:endParaRPr lang="de-AT" sz="3600"/>
        </a:p>
      </dgm:t>
    </dgm:pt>
    <dgm:pt modelId="{B486E2FA-27BB-4A1E-9953-B5BE1F8812E5}">
      <dgm:prSet phldrT="[Text]" custT="1"/>
      <dgm:spPr>
        <a:xfrm>
          <a:off x="1343665" y="208025"/>
          <a:ext cx="2688336" cy="2688336"/>
        </a:xfrm>
        <a:prstGeom prst="pie">
          <a:avLst>
            <a:gd name="adj1" fmla="val 9000000"/>
            <a:gd name="adj2" fmla="val 16200000"/>
          </a:avLst>
        </a:prstGeom>
        <a:blipFill rotWithShape="0">
          <a:blip xmlns:r="http://schemas.openxmlformats.org/officeDocument/2006/relationships" r:embed="rId2"/>
          <a:srcRect/>
          <a:stretch>
            <a:fillRect t="-43000" b="-43000"/>
          </a:stretch>
        </a:blipFill>
      </dgm:spPr>
      <dgm:t>
        <a:bodyPr/>
        <a:lstStyle/>
        <a:p>
          <a:pPr>
            <a:buNone/>
          </a:pPr>
          <a:r>
            <a:rPr lang="de-AT" sz="2800" b="1" dirty="0">
              <a:solidFill>
                <a:schemeClr val="accent3">
                  <a:lumMod val="75000"/>
                </a:schemeClr>
              </a:solidFill>
              <a:latin typeface="Aptos" panose="02110004020202020204"/>
              <a:ea typeface="+mn-ea"/>
              <a:cs typeface="+mn-cs"/>
            </a:rPr>
            <a:t>Modellierung</a:t>
          </a:r>
        </a:p>
      </dgm:t>
    </dgm:pt>
    <dgm:pt modelId="{FBE2A1C7-71C9-4FF2-B2D7-A417923F27A1}" type="parTrans" cxnId="{1418EEE3-E29F-47B6-9B94-D3DB0F649B99}">
      <dgm:prSet/>
      <dgm:spPr/>
      <dgm:t>
        <a:bodyPr/>
        <a:lstStyle/>
        <a:p>
          <a:endParaRPr lang="de-AT" sz="3600"/>
        </a:p>
      </dgm:t>
    </dgm:pt>
    <dgm:pt modelId="{B0FE260F-06BA-45B1-B72A-4D81F58ABE79}" type="sibTrans" cxnId="{1418EEE3-E29F-47B6-9B94-D3DB0F649B99}">
      <dgm:prSet/>
      <dgm:spPr/>
      <dgm:t>
        <a:bodyPr/>
        <a:lstStyle/>
        <a:p>
          <a:endParaRPr lang="de-AT" sz="3600"/>
        </a:p>
      </dgm:t>
    </dgm:pt>
    <dgm:pt modelId="{7A2FB325-8C75-45E0-97B4-0344C8B07F65}">
      <dgm:prSet phldrT="[Text]" custT="1"/>
      <dgm:spPr>
        <a:xfrm>
          <a:off x="1454398" y="208025"/>
          <a:ext cx="2688336" cy="2688336"/>
        </a:xfrm>
        <a:prstGeom prst="pie">
          <a:avLst>
            <a:gd name="adj1" fmla="val 16200000"/>
            <a:gd name="adj2" fmla="val 1800000"/>
          </a:avLst>
        </a:prstGeom>
        <a:blipFill rotWithShape="0">
          <a:blip xmlns:r="http://schemas.openxmlformats.org/officeDocument/2006/relationships" r:embed="rId3"/>
          <a:srcRect/>
          <a:stretch>
            <a:fillRect l="-6000" r="-6000"/>
          </a:stretch>
        </a:blipFill>
      </dgm:spPr>
      <dgm:t>
        <a:bodyPr/>
        <a:lstStyle/>
        <a:p>
          <a:pPr>
            <a:buNone/>
          </a:pPr>
          <a:r>
            <a:rPr lang="de-AT" sz="2800" b="1" dirty="0">
              <a:solidFill>
                <a:schemeClr val="accent2">
                  <a:lumMod val="75000"/>
                </a:schemeClr>
              </a:solidFill>
              <a:latin typeface="Aptos" panose="02110004020202020204"/>
              <a:ea typeface="+mn-ea"/>
              <a:cs typeface="+mn-cs"/>
            </a:rPr>
            <a:t>Simulation</a:t>
          </a:r>
        </a:p>
      </dgm:t>
    </dgm:pt>
    <dgm:pt modelId="{AC18EE2F-C9AF-476C-8BBB-B4F0C8332A99}" type="parTrans" cxnId="{9EECBDF3-5777-4849-B477-D363869CDBC8}">
      <dgm:prSet/>
      <dgm:spPr/>
      <dgm:t>
        <a:bodyPr/>
        <a:lstStyle/>
        <a:p>
          <a:endParaRPr lang="de-AT" sz="3600"/>
        </a:p>
      </dgm:t>
    </dgm:pt>
    <dgm:pt modelId="{4F9B1877-E559-4752-BB0C-A985BE0D6996}" type="sibTrans" cxnId="{9EECBDF3-5777-4849-B477-D363869CDBC8}">
      <dgm:prSet/>
      <dgm:spPr/>
      <dgm:t>
        <a:bodyPr/>
        <a:lstStyle/>
        <a:p>
          <a:endParaRPr lang="de-AT" sz="3600"/>
        </a:p>
      </dgm:t>
    </dgm:pt>
    <dgm:pt modelId="{37A06F91-A825-4ECF-8992-5099597E2B2B}" type="pres">
      <dgm:prSet presAssocID="{C1655B15-5146-419B-9CC1-501CB61349FA}" presName="compositeShape" presStyleCnt="0">
        <dgm:presLayoutVars>
          <dgm:chMax val="7"/>
          <dgm:dir/>
          <dgm:resizeHandles val="exact"/>
        </dgm:presLayoutVars>
      </dgm:prSet>
      <dgm:spPr/>
    </dgm:pt>
    <dgm:pt modelId="{8B1AD076-1F0F-4566-BF8A-CEAACA777AA2}" type="pres">
      <dgm:prSet presAssocID="{C1655B15-5146-419B-9CC1-501CB61349FA}" presName="wedge1" presStyleLbl="node1" presStyleIdx="0" presStyleCnt="3"/>
      <dgm:spPr/>
    </dgm:pt>
    <dgm:pt modelId="{1F7CA927-4459-4821-ABF3-11EC0FD94D3B}" type="pres">
      <dgm:prSet presAssocID="{C1655B15-5146-419B-9CC1-501CB61349FA}" presName="dummy1a" presStyleCnt="0"/>
      <dgm:spPr/>
    </dgm:pt>
    <dgm:pt modelId="{16AF3C33-AFC6-4757-8830-95201F270B57}" type="pres">
      <dgm:prSet presAssocID="{C1655B15-5146-419B-9CC1-501CB61349FA}" presName="dummy1b" presStyleCnt="0"/>
      <dgm:spPr/>
    </dgm:pt>
    <dgm:pt modelId="{A9D4F7E7-1028-4291-8942-84B3DE32D63A}" type="pres">
      <dgm:prSet presAssocID="{C1655B15-5146-419B-9CC1-501CB61349FA}" presName="wedge1Tx" presStyleLbl="node1" presStyleIdx="0" presStyleCnt="3">
        <dgm:presLayoutVars>
          <dgm:chMax val="0"/>
          <dgm:chPref val="0"/>
          <dgm:bulletEnabled val="1"/>
        </dgm:presLayoutVars>
      </dgm:prSet>
      <dgm:spPr/>
    </dgm:pt>
    <dgm:pt modelId="{16E17EEB-4F20-4877-9BCB-A0E87A1C3603}" type="pres">
      <dgm:prSet presAssocID="{C1655B15-5146-419B-9CC1-501CB61349FA}" presName="wedge2" presStyleLbl="node1" presStyleIdx="1" presStyleCnt="3"/>
      <dgm:spPr/>
    </dgm:pt>
    <dgm:pt modelId="{839C72FC-C3BB-421A-926B-A7DFDADEA0FD}" type="pres">
      <dgm:prSet presAssocID="{C1655B15-5146-419B-9CC1-501CB61349FA}" presName="dummy2a" presStyleCnt="0"/>
      <dgm:spPr/>
    </dgm:pt>
    <dgm:pt modelId="{D169F3A0-504A-4A1C-BD0D-5E3797D7A1E2}" type="pres">
      <dgm:prSet presAssocID="{C1655B15-5146-419B-9CC1-501CB61349FA}" presName="dummy2b" presStyleCnt="0"/>
      <dgm:spPr/>
    </dgm:pt>
    <dgm:pt modelId="{A95D4CD4-1F50-4A17-B509-55524B12EAE0}" type="pres">
      <dgm:prSet presAssocID="{C1655B15-5146-419B-9CC1-501CB61349FA}" presName="wedge2Tx" presStyleLbl="node1" presStyleIdx="1" presStyleCnt="3">
        <dgm:presLayoutVars>
          <dgm:chMax val="0"/>
          <dgm:chPref val="0"/>
          <dgm:bulletEnabled val="1"/>
        </dgm:presLayoutVars>
      </dgm:prSet>
      <dgm:spPr/>
    </dgm:pt>
    <dgm:pt modelId="{933DEE6D-2F59-4F0C-BCA0-790B9D92FB87}" type="pres">
      <dgm:prSet presAssocID="{C1655B15-5146-419B-9CC1-501CB61349FA}" presName="wedge3" presStyleLbl="node1" presStyleIdx="2" presStyleCnt="3"/>
      <dgm:spPr/>
    </dgm:pt>
    <dgm:pt modelId="{DC297EB4-ABF2-48B1-A0E1-364376307449}" type="pres">
      <dgm:prSet presAssocID="{C1655B15-5146-419B-9CC1-501CB61349FA}" presName="dummy3a" presStyleCnt="0"/>
      <dgm:spPr/>
    </dgm:pt>
    <dgm:pt modelId="{4213E93E-C5C2-4924-8407-0E99B49C85D5}" type="pres">
      <dgm:prSet presAssocID="{C1655B15-5146-419B-9CC1-501CB61349FA}" presName="dummy3b" presStyleCnt="0"/>
      <dgm:spPr/>
    </dgm:pt>
    <dgm:pt modelId="{24663728-F36E-40E4-A436-78EBBDE53077}" type="pres">
      <dgm:prSet presAssocID="{C1655B15-5146-419B-9CC1-501CB61349FA}" presName="wedge3Tx" presStyleLbl="node1" presStyleIdx="2" presStyleCnt="3">
        <dgm:presLayoutVars>
          <dgm:chMax val="0"/>
          <dgm:chPref val="0"/>
          <dgm:bulletEnabled val="1"/>
        </dgm:presLayoutVars>
      </dgm:prSet>
      <dgm:spPr/>
    </dgm:pt>
    <dgm:pt modelId="{213C512E-B79B-4513-9D3D-C3D9ACAA97AF}" type="pres">
      <dgm:prSet presAssocID="{4F9B1877-E559-4752-BB0C-A985BE0D6996}" presName="arrowWedge1" presStyleLbl="fgSibTrans2D1" presStyleIdx="0" presStyleCnt="3"/>
      <dgm:spPr>
        <a:xfrm>
          <a:off x="1288200" y="41605"/>
          <a:ext cx="3021177" cy="3021177"/>
        </a:xfrm>
        <a:prstGeom prst="circularArrow">
          <a:avLst>
            <a:gd name="adj1" fmla="val 5085"/>
            <a:gd name="adj2" fmla="val 327528"/>
            <a:gd name="adj3" fmla="val 1472472"/>
            <a:gd name="adj4" fmla="val 16199432"/>
            <a:gd name="adj5" fmla="val 5932"/>
          </a:avLst>
        </a:prstGeom>
      </dgm:spPr>
    </dgm:pt>
    <dgm:pt modelId="{BCE046EA-C755-4F28-8FBC-6E2370DE5E02}" type="pres">
      <dgm:prSet presAssocID="{4FF515A0-1C4E-4BFA-9939-6D3B2ADF4F7A}" presName="arrowWedge2" presStyleLbl="fgSibTrans2D1" presStyleIdx="1" presStyleCnt="3"/>
      <dgm:spPr>
        <a:xfrm>
          <a:off x="1232611" y="137447"/>
          <a:ext cx="3021177" cy="3021177"/>
        </a:xfrm>
        <a:prstGeom prst="circularArrow">
          <a:avLst>
            <a:gd name="adj1" fmla="val 5085"/>
            <a:gd name="adj2" fmla="val 327528"/>
            <a:gd name="adj3" fmla="val 8671970"/>
            <a:gd name="adj4" fmla="val 1800502"/>
            <a:gd name="adj5" fmla="val 5932"/>
          </a:avLst>
        </a:prstGeom>
      </dgm:spPr>
    </dgm:pt>
    <dgm:pt modelId="{48D690EE-3512-4D6E-8309-700BB114CFB6}" type="pres">
      <dgm:prSet presAssocID="{B0FE260F-06BA-45B1-B72A-4D81F58ABE79}" presName="arrowWedge3" presStyleLbl="fgSibTrans2D1" presStyleIdx="2" presStyleCnt="3"/>
      <dgm:spPr>
        <a:xfrm>
          <a:off x="1177022" y="41605"/>
          <a:ext cx="3021177" cy="3021177"/>
        </a:xfrm>
        <a:prstGeom prst="circularArrow">
          <a:avLst>
            <a:gd name="adj1" fmla="val 5085"/>
            <a:gd name="adj2" fmla="val 327528"/>
            <a:gd name="adj3" fmla="val 15873039"/>
            <a:gd name="adj4" fmla="val 9000000"/>
            <a:gd name="adj5" fmla="val 5932"/>
          </a:avLst>
        </a:prstGeom>
      </dgm:spPr>
    </dgm:pt>
  </dgm:ptLst>
  <dgm:cxnLst>
    <dgm:cxn modelId="{EB7C7F01-C8B5-4033-8EEA-4D432DB7F321}" type="presOf" srcId="{E403D4FC-0272-494E-8EC4-BAFB665F1A18}" destId="{16E17EEB-4F20-4877-9BCB-A0E87A1C3603}" srcOrd="0" destOrd="0" presId="urn:microsoft.com/office/officeart/2005/8/layout/cycle8"/>
    <dgm:cxn modelId="{FBA5410C-D167-4F88-8BC5-C9AA1679B2B0}" type="presOf" srcId="{C1655B15-5146-419B-9CC1-501CB61349FA}" destId="{37A06F91-A825-4ECF-8992-5099597E2B2B}" srcOrd="0" destOrd="0" presId="urn:microsoft.com/office/officeart/2005/8/layout/cycle8"/>
    <dgm:cxn modelId="{99532F4F-EC1B-4DF3-8CD1-4E78F11DEFA7}" type="presOf" srcId="{7A2FB325-8C75-45E0-97B4-0344C8B07F65}" destId="{8B1AD076-1F0F-4566-BF8A-CEAACA777AA2}" srcOrd="0" destOrd="0" presId="urn:microsoft.com/office/officeart/2005/8/layout/cycle8"/>
    <dgm:cxn modelId="{D7594255-C142-4C75-BAD7-6E79E84D4450}" type="presOf" srcId="{B486E2FA-27BB-4A1E-9953-B5BE1F8812E5}" destId="{933DEE6D-2F59-4F0C-BCA0-790B9D92FB87}" srcOrd="0" destOrd="0" presId="urn:microsoft.com/office/officeart/2005/8/layout/cycle8"/>
    <dgm:cxn modelId="{DE0C288D-1DDC-47DD-BF6C-2E362431EA63}" type="presOf" srcId="{7A2FB325-8C75-45E0-97B4-0344C8B07F65}" destId="{A9D4F7E7-1028-4291-8942-84B3DE32D63A}" srcOrd="1" destOrd="0" presId="urn:microsoft.com/office/officeart/2005/8/layout/cycle8"/>
    <dgm:cxn modelId="{8EC84D9E-166E-4B68-B52E-34F1FF6766D3}" type="presOf" srcId="{E403D4FC-0272-494E-8EC4-BAFB665F1A18}" destId="{A95D4CD4-1F50-4A17-B509-55524B12EAE0}" srcOrd="1" destOrd="0" presId="urn:microsoft.com/office/officeart/2005/8/layout/cycle8"/>
    <dgm:cxn modelId="{F8B045D8-8351-4DAC-8CFC-90E784EB214F}" srcId="{C1655B15-5146-419B-9CC1-501CB61349FA}" destId="{E403D4FC-0272-494E-8EC4-BAFB665F1A18}" srcOrd="1" destOrd="0" parTransId="{AD395BEE-4804-4C62-A74E-270FBA78302E}" sibTransId="{4FF515A0-1C4E-4BFA-9939-6D3B2ADF4F7A}"/>
    <dgm:cxn modelId="{1418EEE3-E29F-47B6-9B94-D3DB0F649B99}" srcId="{C1655B15-5146-419B-9CC1-501CB61349FA}" destId="{B486E2FA-27BB-4A1E-9953-B5BE1F8812E5}" srcOrd="2" destOrd="0" parTransId="{FBE2A1C7-71C9-4FF2-B2D7-A417923F27A1}" sibTransId="{B0FE260F-06BA-45B1-B72A-4D81F58ABE79}"/>
    <dgm:cxn modelId="{C1F6BFEB-A0ED-4F1D-961C-210A33DFD42D}" type="presOf" srcId="{B486E2FA-27BB-4A1E-9953-B5BE1F8812E5}" destId="{24663728-F36E-40E4-A436-78EBBDE53077}" srcOrd="1" destOrd="0" presId="urn:microsoft.com/office/officeart/2005/8/layout/cycle8"/>
    <dgm:cxn modelId="{9EECBDF3-5777-4849-B477-D363869CDBC8}" srcId="{C1655B15-5146-419B-9CC1-501CB61349FA}" destId="{7A2FB325-8C75-45E0-97B4-0344C8B07F65}" srcOrd="0" destOrd="0" parTransId="{AC18EE2F-C9AF-476C-8BBB-B4F0C8332A99}" sibTransId="{4F9B1877-E559-4752-BB0C-A985BE0D6996}"/>
    <dgm:cxn modelId="{52F3EBAA-D641-4B7B-8F4C-2DE6F794E1C2}" type="presParOf" srcId="{37A06F91-A825-4ECF-8992-5099597E2B2B}" destId="{8B1AD076-1F0F-4566-BF8A-CEAACA777AA2}" srcOrd="0" destOrd="0" presId="urn:microsoft.com/office/officeart/2005/8/layout/cycle8"/>
    <dgm:cxn modelId="{2904D95C-D1D1-457B-83FE-15BB04DF92DC}" type="presParOf" srcId="{37A06F91-A825-4ECF-8992-5099597E2B2B}" destId="{1F7CA927-4459-4821-ABF3-11EC0FD94D3B}" srcOrd="1" destOrd="0" presId="urn:microsoft.com/office/officeart/2005/8/layout/cycle8"/>
    <dgm:cxn modelId="{0B5C418A-9249-4502-9CF6-BEECFFEE1466}" type="presParOf" srcId="{37A06F91-A825-4ECF-8992-5099597E2B2B}" destId="{16AF3C33-AFC6-4757-8830-95201F270B57}" srcOrd="2" destOrd="0" presId="urn:microsoft.com/office/officeart/2005/8/layout/cycle8"/>
    <dgm:cxn modelId="{4C9AEE81-133C-4B40-9E2C-8947D67732FD}" type="presParOf" srcId="{37A06F91-A825-4ECF-8992-5099597E2B2B}" destId="{A9D4F7E7-1028-4291-8942-84B3DE32D63A}" srcOrd="3" destOrd="0" presId="urn:microsoft.com/office/officeart/2005/8/layout/cycle8"/>
    <dgm:cxn modelId="{3F3B2427-9145-4E77-9901-C5D92B4AC803}" type="presParOf" srcId="{37A06F91-A825-4ECF-8992-5099597E2B2B}" destId="{16E17EEB-4F20-4877-9BCB-A0E87A1C3603}" srcOrd="4" destOrd="0" presId="urn:microsoft.com/office/officeart/2005/8/layout/cycle8"/>
    <dgm:cxn modelId="{9448691A-443F-43D9-B8EF-887342133B67}" type="presParOf" srcId="{37A06F91-A825-4ECF-8992-5099597E2B2B}" destId="{839C72FC-C3BB-421A-926B-A7DFDADEA0FD}" srcOrd="5" destOrd="0" presId="urn:microsoft.com/office/officeart/2005/8/layout/cycle8"/>
    <dgm:cxn modelId="{F843353A-F779-4F15-BBDF-E55503AF933F}" type="presParOf" srcId="{37A06F91-A825-4ECF-8992-5099597E2B2B}" destId="{D169F3A0-504A-4A1C-BD0D-5E3797D7A1E2}" srcOrd="6" destOrd="0" presId="urn:microsoft.com/office/officeart/2005/8/layout/cycle8"/>
    <dgm:cxn modelId="{1737A17B-A03F-464C-A582-657A14B2FC6A}" type="presParOf" srcId="{37A06F91-A825-4ECF-8992-5099597E2B2B}" destId="{A95D4CD4-1F50-4A17-B509-55524B12EAE0}" srcOrd="7" destOrd="0" presId="urn:microsoft.com/office/officeart/2005/8/layout/cycle8"/>
    <dgm:cxn modelId="{DFBAAB6A-5215-4B0B-8CB5-D2E13A76785E}" type="presParOf" srcId="{37A06F91-A825-4ECF-8992-5099597E2B2B}" destId="{933DEE6D-2F59-4F0C-BCA0-790B9D92FB87}" srcOrd="8" destOrd="0" presId="urn:microsoft.com/office/officeart/2005/8/layout/cycle8"/>
    <dgm:cxn modelId="{90F0F607-1B44-47B4-A19D-10C3299271EF}" type="presParOf" srcId="{37A06F91-A825-4ECF-8992-5099597E2B2B}" destId="{DC297EB4-ABF2-48B1-A0E1-364376307449}" srcOrd="9" destOrd="0" presId="urn:microsoft.com/office/officeart/2005/8/layout/cycle8"/>
    <dgm:cxn modelId="{080A89EF-829B-4930-9442-A1D78955403A}" type="presParOf" srcId="{37A06F91-A825-4ECF-8992-5099597E2B2B}" destId="{4213E93E-C5C2-4924-8407-0E99B49C85D5}" srcOrd="10" destOrd="0" presId="urn:microsoft.com/office/officeart/2005/8/layout/cycle8"/>
    <dgm:cxn modelId="{293ABCC7-A2AC-45D7-9371-A239274DD857}" type="presParOf" srcId="{37A06F91-A825-4ECF-8992-5099597E2B2B}" destId="{24663728-F36E-40E4-A436-78EBBDE53077}" srcOrd="11" destOrd="0" presId="urn:microsoft.com/office/officeart/2005/8/layout/cycle8"/>
    <dgm:cxn modelId="{FF9E0ABD-E316-4A0A-B145-47E89F690A8C}" type="presParOf" srcId="{37A06F91-A825-4ECF-8992-5099597E2B2B}" destId="{213C512E-B79B-4513-9D3D-C3D9ACAA97AF}" srcOrd="12" destOrd="0" presId="urn:microsoft.com/office/officeart/2005/8/layout/cycle8"/>
    <dgm:cxn modelId="{ACFFDC4C-CAFE-4606-B17B-3A5EBF2B6043}" type="presParOf" srcId="{37A06F91-A825-4ECF-8992-5099597E2B2B}" destId="{BCE046EA-C755-4F28-8FBC-6E2370DE5E02}" srcOrd="13" destOrd="0" presId="urn:microsoft.com/office/officeart/2005/8/layout/cycle8"/>
    <dgm:cxn modelId="{DA328ADC-DCEC-4E15-A077-BDF2EE7E1AC2}" type="presParOf" srcId="{37A06F91-A825-4ECF-8992-5099597E2B2B}" destId="{48D690EE-3512-4D6E-8309-700BB114CFB6}"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6E3809-EDC3-4569-A9EA-D722225D9EB2}">
      <dsp:nvSpPr>
        <dsp:cNvPr id="0" name=""/>
        <dsp:cNvSpPr/>
      </dsp:nvSpPr>
      <dsp:spPr>
        <a:xfrm>
          <a:off x="2678103" y="66983"/>
          <a:ext cx="3215203" cy="3215203"/>
        </a:xfrm>
        <a:prstGeom prst="ellipse">
          <a:avLst/>
        </a:prstGeom>
        <a:gradFill rotWithShape="0">
          <a:gsLst>
            <a:gs pos="0">
              <a:srgbClr val="E97132">
                <a:alpha val="50000"/>
                <a:hueOff val="0"/>
                <a:satOff val="0"/>
                <a:lumOff val="0"/>
                <a:alphaOff val="0"/>
                <a:lumMod val="110000"/>
                <a:satMod val="105000"/>
                <a:tint val="67000"/>
              </a:srgbClr>
            </a:gs>
            <a:gs pos="50000">
              <a:srgbClr val="E97132">
                <a:alpha val="50000"/>
                <a:hueOff val="0"/>
                <a:satOff val="0"/>
                <a:lumOff val="0"/>
                <a:alphaOff val="0"/>
                <a:lumMod val="105000"/>
                <a:satMod val="103000"/>
                <a:tint val="73000"/>
              </a:srgbClr>
            </a:gs>
            <a:gs pos="100000">
              <a:srgbClr val="E97132">
                <a:alpha val="50000"/>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endParaRPr lang="de-AT" sz="6500" kern="1200" dirty="0">
            <a:solidFill>
              <a:sysClr val="windowText" lastClr="000000">
                <a:hueOff val="0"/>
                <a:satOff val="0"/>
                <a:lumOff val="0"/>
                <a:alphaOff val="0"/>
              </a:sysClr>
            </a:solidFill>
            <a:latin typeface="Aptos" panose="02110004020202020204"/>
            <a:ea typeface="+mn-ea"/>
            <a:cs typeface="+mn-cs"/>
          </a:endParaRPr>
        </a:p>
      </dsp:txBody>
      <dsp:txXfrm>
        <a:off x="3452091" y="841529"/>
        <a:ext cx="1667228" cy="1023071"/>
      </dsp:txXfrm>
    </dsp:sp>
    <dsp:sp modelId="{4EDDB78B-3149-4926-A328-A093BBB33D0A}">
      <dsp:nvSpPr>
        <dsp:cNvPr id="0" name=""/>
        <dsp:cNvSpPr/>
      </dsp:nvSpPr>
      <dsp:spPr>
        <a:xfrm>
          <a:off x="3838256" y="2076485"/>
          <a:ext cx="3215203" cy="3215203"/>
        </a:xfrm>
        <a:prstGeom prst="ellipse">
          <a:avLst/>
        </a:prstGeom>
        <a:gradFill rotWithShape="0">
          <a:gsLst>
            <a:gs pos="0">
              <a:srgbClr val="196B24">
                <a:alpha val="50000"/>
                <a:hueOff val="0"/>
                <a:satOff val="0"/>
                <a:lumOff val="0"/>
                <a:alphaOff val="0"/>
                <a:lumMod val="110000"/>
                <a:satMod val="105000"/>
                <a:tint val="67000"/>
              </a:srgbClr>
            </a:gs>
            <a:gs pos="50000">
              <a:srgbClr val="196B24">
                <a:alpha val="50000"/>
                <a:hueOff val="0"/>
                <a:satOff val="0"/>
                <a:lumOff val="0"/>
                <a:alphaOff val="0"/>
                <a:lumMod val="105000"/>
                <a:satMod val="103000"/>
                <a:tint val="73000"/>
              </a:srgbClr>
            </a:gs>
            <a:gs pos="100000">
              <a:srgbClr val="196B24">
                <a:alpha val="50000"/>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endParaRPr lang="de-AT" sz="6500" kern="1200" dirty="0">
            <a:solidFill>
              <a:sysClr val="windowText" lastClr="000000">
                <a:hueOff val="0"/>
                <a:satOff val="0"/>
                <a:lumOff val="0"/>
                <a:alphaOff val="0"/>
              </a:sysClr>
            </a:solidFill>
            <a:latin typeface="Aptos" panose="02110004020202020204"/>
            <a:ea typeface="+mn-ea"/>
            <a:cs typeface="+mn-cs"/>
          </a:endParaRPr>
        </a:p>
      </dsp:txBody>
      <dsp:txXfrm>
        <a:off x="5104085" y="3166051"/>
        <a:ext cx="1364096" cy="1250420"/>
      </dsp:txXfrm>
    </dsp:sp>
    <dsp:sp modelId="{02CDB062-307C-4759-B60F-E23DDAD087EA}">
      <dsp:nvSpPr>
        <dsp:cNvPr id="0" name=""/>
        <dsp:cNvSpPr/>
      </dsp:nvSpPr>
      <dsp:spPr>
        <a:xfrm>
          <a:off x="1517950" y="2076485"/>
          <a:ext cx="3215203" cy="3215203"/>
        </a:xfrm>
        <a:prstGeom prst="ellipse">
          <a:avLst/>
        </a:prstGeom>
        <a:gradFill rotWithShape="0">
          <a:gsLst>
            <a:gs pos="0">
              <a:srgbClr val="0F9ED5">
                <a:alpha val="50000"/>
                <a:hueOff val="0"/>
                <a:satOff val="0"/>
                <a:lumOff val="0"/>
                <a:alphaOff val="0"/>
                <a:lumMod val="110000"/>
                <a:satMod val="105000"/>
                <a:tint val="67000"/>
              </a:srgbClr>
            </a:gs>
            <a:gs pos="50000">
              <a:srgbClr val="0F9ED5">
                <a:alpha val="50000"/>
                <a:hueOff val="0"/>
                <a:satOff val="0"/>
                <a:lumOff val="0"/>
                <a:alphaOff val="0"/>
                <a:lumMod val="105000"/>
                <a:satMod val="103000"/>
                <a:tint val="73000"/>
              </a:srgbClr>
            </a:gs>
            <a:gs pos="100000">
              <a:srgbClr val="0F9ED5">
                <a:alpha val="50000"/>
                <a:hueOff val="0"/>
                <a:satOff val="0"/>
                <a:lumOff val="0"/>
                <a:alphaOff val="0"/>
                <a:lumMod val="105000"/>
                <a:satMod val="109000"/>
                <a:tint val="81000"/>
              </a:srgb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endParaRPr lang="de-AT" sz="6500" kern="1200" dirty="0">
            <a:solidFill>
              <a:sysClr val="windowText" lastClr="000000">
                <a:hueOff val="0"/>
                <a:satOff val="0"/>
                <a:lumOff val="0"/>
                <a:alphaOff val="0"/>
              </a:sysClr>
            </a:solidFill>
            <a:latin typeface="Aptos" panose="02110004020202020204"/>
            <a:ea typeface="+mn-ea"/>
            <a:cs typeface="+mn-cs"/>
          </a:endParaRPr>
        </a:p>
      </dsp:txBody>
      <dsp:txXfrm>
        <a:off x="2103228" y="3166051"/>
        <a:ext cx="1364096" cy="12504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5E4351-B4F6-45AC-8BE5-2FE1F35FD873}">
      <dsp:nvSpPr>
        <dsp:cNvPr id="0" name=""/>
        <dsp:cNvSpPr/>
      </dsp:nvSpPr>
      <dsp:spPr>
        <a:xfrm>
          <a:off x="6934" y="891494"/>
          <a:ext cx="1621145" cy="1621145"/>
        </a:xfrm>
        <a:prstGeom prst="roundRect">
          <a:avLst>
            <a:gd name="adj" fmla="val 10000"/>
          </a:avLst>
        </a:prstGeom>
        <a:blipFill rotWithShape="1">
          <a:blip xmlns:r="http://schemas.openxmlformats.org/officeDocument/2006/relationships" r:embed="rId1">
            <a:extLst>
              <a:ext uri="{28A0092B-C50C-407E-A947-70E740481C1C}">
                <a14:useLocalDpi xmlns:a14="http://schemas.microsoft.com/office/drawing/2010/main"/>
              </a:ext>
            </a:extLst>
          </a:blip>
          <a:srcRect/>
          <a:stretch>
            <a:fillRect/>
          </a:stretch>
        </a:blip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E3E65D5-AEFC-4186-B75F-FDA513E35881}">
      <dsp:nvSpPr>
        <dsp:cNvPr id="0" name=""/>
        <dsp:cNvSpPr/>
      </dsp:nvSpPr>
      <dsp:spPr>
        <a:xfrm>
          <a:off x="270841" y="1564229"/>
          <a:ext cx="1621145" cy="2221050"/>
        </a:xfrm>
        <a:prstGeom prst="roundRect">
          <a:avLst>
            <a:gd name="adj" fmla="val 10000"/>
          </a:avLst>
        </a:prstGeom>
        <a:solidFill>
          <a:schemeClr val="accent2">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de-AT" sz="1800" kern="1200" dirty="0"/>
            <a:t>2018: Lehre</a:t>
          </a:r>
        </a:p>
        <a:p>
          <a:pPr marL="114300" lvl="1" indent="-114300" algn="l" defTabSz="622300">
            <a:lnSpc>
              <a:spcPct val="90000"/>
            </a:lnSpc>
            <a:spcBef>
              <a:spcPct val="0"/>
            </a:spcBef>
            <a:spcAft>
              <a:spcPct val="15000"/>
            </a:spcAft>
            <a:buChar char="•"/>
          </a:pPr>
          <a:r>
            <a:rPr lang="de-AT" sz="1400" kern="1200" dirty="0"/>
            <a:t>„PVWindkraft“-Excel as Simple Teaching tool for flexible integration of RES into district storages (TABS, batteries, Evs)</a:t>
          </a:r>
        </a:p>
      </dsp:txBody>
      <dsp:txXfrm>
        <a:off x="318323" y="1611711"/>
        <a:ext cx="1526181" cy="2126086"/>
      </dsp:txXfrm>
    </dsp:sp>
    <dsp:sp modelId="{FCC019F9-C544-4A8C-A185-FF511388A587}">
      <dsp:nvSpPr>
        <dsp:cNvPr id="0" name=""/>
        <dsp:cNvSpPr/>
      </dsp:nvSpPr>
      <dsp:spPr>
        <a:xfrm rot="21430235">
          <a:off x="1940157" y="1444087"/>
          <a:ext cx="312649" cy="389538"/>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de-AT" sz="1600" kern="1200" dirty="0"/>
        </a:p>
      </dsp:txBody>
      <dsp:txXfrm>
        <a:off x="1940214" y="1524310"/>
        <a:ext cx="218854" cy="233722"/>
      </dsp:txXfrm>
    </dsp:sp>
    <dsp:sp modelId="{3514CD4B-9DCF-4BCF-8C1E-A8C9F79003CB}">
      <dsp:nvSpPr>
        <dsp:cNvPr id="0" name=""/>
        <dsp:cNvSpPr/>
      </dsp:nvSpPr>
      <dsp:spPr>
        <a:xfrm>
          <a:off x="2520275" y="767278"/>
          <a:ext cx="1621145" cy="1621145"/>
        </a:xfrm>
        <a:prstGeom prst="roundRect">
          <a:avLst>
            <a:gd name="adj" fmla="val 10000"/>
          </a:avLst>
        </a:prstGeom>
        <a:blipFill rotWithShape="1">
          <a:blip xmlns:r="http://schemas.openxmlformats.org/officeDocument/2006/relationships" r:embed="rId2">
            <a:extLst>
              <a:ext uri="{28A0092B-C50C-407E-A947-70E740481C1C}">
                <a14:useLocalDpi xmlns:a14="http://schemas.microsoft.com/office/drawing/2010/main"/>
              </a:ext>
            </a:extLst>
          </a:blip>
          <a:srcRect/>
          <a:stretch>
            <a:fillRect/>
          </a:stretch>
        </a:blip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9A4291-BB69-4054-9CC4-313A1FA37402}">
      <dsp:nvSpPr>
        <dsp:cNvPr id="0" name=""/>
        <dsp:cNvSpPr/>
      </dsp:nvSpPr>
      <dsp:spPr>
        <a:xfrm>
          <a:off x="2784183" y="1191580"/>
          <a:ext cx="1621145" cy="2717915"/>
        </a:xfrm>
        <a:prstGeom prst="roundRect">
          <a:avLst>
            <a:gd name="adj" fmla="val 10000"/>
          </a:avLst>
        </a:prstGeom>
        <a:solidFill>
          <a:schemeClr val="accent3">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de-AT" sz="1800" kern="1200" dirty="0"/>
            <a:t>2019: Forschung</a:t>
          </a:r>
        </a:p>
        <a:p>
          <a:pPr marL="114300" lvl="1" indent="-114300" algn="l" defTabSz="622300">
            <a:lnSpc>
              <a:spcPct val="90000"/>
            </a:lnSpc>
            <a:spcBef>
              <a:spcPct val="0"/>
            </a:spcBef>
            <a:spcAft>
              <a:spcPct val="15000"/>
            </a:spcAft>
            <a:buChar char="•"/>
          </a:pPr>
          <a:r>
            <a:rPr lang="de-AT" sz="1400" kern="1200" dirty="0"/>
            <a:t>Scenario assessment of 6 Viennese demonstration sites</a:t>
          </a:r>
        </a:p>
        <a:p>
          <a:pPr marL="114300" lvl="1" indent="-114300" algn="l" defTabSz="622300">
            <a:lnSpc>
              <a:spcPct val="90000"/>
            </a:lnSpc>
            <a:spcBef>
              <a:spcPct val="0"/>
            </a:spcBef>
            <a:spcAft>
              <a:spcPct val="15000"/>
            </a:spcAft>
            <a:buChar char="•"/>
          </a:pPr>
          <a:r>
            <a:rPr lang="de-AT" sz="1400" kern="1200" dirty="0"/>
            <a:t>Definition of PED system boundary conditions</a:t>
          </a:r>
        </a:p>
      </dsp:txBody>
      <dsp:txXfrm>
        <a:off x="2831665" y="1239062"/>
        <a:ext cx="1526181" cy="2622951"/>
      </dsp:txXfrm>
    </dsp:sp>
    <dsp:sp modelId="{41195C04-5742-4A39-9519-61C2A1BA33A8}">
      <dsp:nvSpPr>
        <dsp:cNvPr id="0" name=""/>
        <dsp:cNvSpPr/>
      </dsp:nvSpPr>
      <dsp:spPr>
        <a:xfrm rot="294018">
          <a:off x="4453117" y="1492735"/>
          <a:ext cx="313414" cy="389538"/>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de-AT" sz="1600" kern="1200" dirty="0"/>
        </a:p>
      </dsp:txBody>
      <dsp:txXfrm>
        <a:off x="4453289" y="1566627"/>
        <a:ext cx="219390" cy="233722"/>
      </dsp:txXfrm>
    </dsp:sp>
    <dsp:sp modelId="{323DADB1-886A-4772-A12F-7B0D3F5648E9}">
      <dsp:nvSpPr>
        <dsp:cNvPr id="0" name=""/>
        <dsp:cNvSpPr/>
      </dsp:nvSpPr>
      <dsp:spPr>
        <a:xfrm>
          <a:off x="5033616" y="982761"/>
          <a:ext cx="1621145" cy="1621145"/>
        </a:xfrm>
        <a:prstGeom prst="roundRect">
          <a:avLst>
            <a:gd name="adj" fmla="val 10000"/>
          </a:avLst>
        </a:prstGeom>
        <a:blipFill rotWithShape="1">
          <a:blip xmlns:r="http://schemas.openxmlformats.org/officeDocument/2006/relationships" r:embed="rId3">
            <a:extLst>
              <a:ext uri="{28A0092B-C50C-407E-A947-70E740481C1C}">
                <a14:useLocalDpi xmlns:a14="http://schemas.microsoft.com/office/drawing/2010/main"/>
              </a:ext>
            </a:extLst>
          </a:blip>
          <a:srcRect/>
          <a:stretch>
            <a:fillRect/>
          </a:stretch>
        </a:blip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1C9FC2-216B-4564-8B6B-C1B4FECBE4FD}">
      <dsp:nvSpPr>
        <dsp:cNvPr id="0" name=""/>
        <dsp:cNvSpPr/>
      </dsp:nvSpPr>
      <dsp:spPr>
        <a:xfrm>
          <a:off x="5297524" y="1838029"/>
          <a:ext cx="1621145" cy="1855984"/>
        </a:xfrm>
        <a:prstGeom prst="roundRect">
          <a:avLst>
            <a:gd name="adj" fmla="val 10000"/>
          </a:avLst>
        </a:prstGeom>
        <a:solidFill>
          <a:schemeClr val="accent4">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de-AT" sz="1800" kern="1200" dirty="0"/>
            <a:t>2019-24: Weiter-Entwicklung</a:t>
          </a:r>
        </a:p>
        <a:p>
          <a:pPr marL="114300" lvl="1" indent="-114300" algn="l" defTabSz="622300">
            <a:lnSpc>
              <a:spcPct val="90000"/>
            </a:lnSpc>
            <a:spcBef>
              <a:spcPct val="0"/>
            </a:spcBef>
            <a:spcAft>
              <a:spcPct val="15000"/>
            </a:spcAft>
            <a:buChar char="•"/>
          </a:pPr>
          <a:r>
            <a:rPr lang="de-AT" sz="1400" kern="1200" dirty="0"/>
            <a:t>Mobility energy model</a:t>
          </a:r>
        </a:p>
        <a:p>
          <a:pPr marL="114300" lvl="1" indent="-114300" algn="l" defTabSz="622300">
            <a:lnSpc>
              <a:spcPct val="90000"/>
            </a:lnSpc>
            <a:spcBef>
              <a:spcPct val="0"/>
            </a:spcBef>
            <a:spcAft>
              <a:spcPct val="15000"/>
            </a:spcAft>
            <a:buChar char="•"/>
          </a:pPr>
          <a:r>
            <a:rPr lang="de-AT" sz="1400" kern="1200" dirty="0"/>
            <a:t>Scenario batch analysis</a:t>
          </a:r>
        </a:p>
      </dsp:txBody>
      <dsp:txXfrm>
        <a:off x="5345006" y="1885511"/>
        <a:ext cx="1526181" cy="1761020"/>
      </dsp:txXfrm>
    </dsp:sp>
    <dsp:sp modelId="{67E5DE69-1FA4-46CF-A142-87B6B5CAE9AC}">
      <dsp:nvSpPr>
        <dsp:cNvPr id="0" name=""/>
        <dsp:cNvSpPr/>
      </dsp:nvSpPr>
      <dsp:spPr>
        <a:xfrm>
          <a:off x="6967031" y="1598564"/>
          <a:ext cx="312268" cy="389538"/>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de-AT" sz="1600" kern="1200" dirty="0"/>
        </a:p>
      </dsp:txBody>
      <dsp:txXfrm>
        <a:off x="6967031" y="1676472"/>
        <a:ext cx="218588" cy="233722"/>
      </dsp:txXfrm>
    </dsp:sp>
    <dsp:sp modelId="{6A1064AE-09E6-4915-A438-176EBB8204D9}">
      <dsp:nvSpPr>
        <dsp:cNvPr id="0" name=""/>
        <dsp:cNvSpPr/>
      </dsp:nvSpPr>
      <dsp:spPr>
        <a:xfrm>
          <a:off x="7546958" y="982761"/>
          <a:ext cx="1621145" cy="1621145"/>
        </a:xfrm>
        <a:prstGeom prst="roundRect">
          <a:avLst>
            <a:gd name="adj" fmla="val 10000"/>
          </a:avLst>
        </a:prstGeom>
        <a:blipFill rotWithShape="1">
          <a:blip xmlns:r="http://schemas.openxmlformats.org/officeDocument/2006/relationships" r:embed="rId4">
            <a:extLst>
              <a:ext uri="{28A0092B-C50C-407E-A947-70E740481C1C}">
                <a14:useLocalDpi xmlns:a14="http://schemas.microsoft.com/office/drawing/2010/main"/>
              </a:ext>
            </a:extLst>
          </a:blip>
          <a:srcRect/>
          <a:stretch>
            <a:fillRect/>
          </a:stretch>
        </a:blip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CF42C8A-8820-42F7-A3F1-CB4252FA0C58}">
      <dsp:nvSpPr>
        <dsp:cNvPr id="0" name=""/>
        <dsp:cNvSpPr/>
      </dsp:nvSpPr>
      <dsp:spPr>
        <a:xfrm>
          <a:off x="7810865" y="1838029"/>
          <a:ext cx="1621145" cy="1855984"/>
        </a:xfrm>
        <a:prstGeom prst="roundRect">
          <a:avLst>
            <a:gd name="adj" fmla="val 10000"/>
          </a:avLst>
        </a:prstGeom>
        <a:solidFill>
          <a:schemeClr val="accent5">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de-AT" sz="1800" kern="1200" dirty="0"/>
            <a:t>2024: </a:t>
          </a:r>
          <a:r>
            <a:rPr lang="de-AT" sz="1800" b="0" kern="1200" dirty="0"/>
            <a:t>klima</a:t>
          </a:r>
          <a:r>
            <a:rPr lang="de-AT" sz="1800" b="1" kern="1200" dirty="0"/>
            <a:t>aktiv </a:t>
          </a:r>
          <a:r>
            <a:rPr lang="de-AT" sz="1800" b="0" kern="1200" dirty="0"/>
            <a:t>Theorie</a:t>
          </a:r>
        </a:p>
        <a:p>
          <a:pPr marL="114300" lvl="1" indent="-114300" algn="l" defTabSz="622300">
            <a:lnSpc>
              <a:spcPct val="90000"/>
            </a:lnSpc>
            <a:spcBef>
              <a:spcPct val="0"/>
            </a:spcBef>
            <a:spcAft>
              <a:spcPct val="15000"/>
            </a:spcAft>
            <a:buChar char="•"/>
          </a:pPr>
          <a:r>
            <a:rPr lang="de-AT" sz="1400" kern="1200" dirty="0"/>
            <a:t>klima</a:t>
          </a:r>
          <a:r>
            <a:rPr lang="de-AT" sz="1400" b="1" kern="1200" dirty="0"/>
            <a:t>aktiv </a:t>
          </a:r>
          <a:r>
            <a:rPr lang="de-AT" sz="1400" kern="1200" dirty="0"/>
            <a:t>Deklarationstool „Klimaneutrale Plusenergiequartiere“</a:t>
          </a:r>
        </a:p>
      </dsp:txBody>
      <dsp:txXfrm>
        <a:off x="7858347" y="1885511"/>
        <a:ext cx="1526181" cy="1761020"/>
      </dsp:txXfrm>
    </dsp:sp>
    <dsp:sp modelId="{B3173A3C-870A-4A39-B3ED-19B9F1370270}">
      <dsp:nvSpPr>
        <dsp:cNvPr id="0" name=""/>
        <dsp:cNvSpPr/>
      </dsp:nvSpPr>
      <dsp:spPr>
        <a:xfrm rot="21469779">
          <a:off x="9480260" y="1550094"/>
          <a:ext cx="312492" cy="389538"/>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de-AT" sz="1600" kern="1200" dirty="0"/>
        </a:p>
      </dsp:txBody>
      <dsp:txXfrm>
        <a:off x="9480294" y="1629777"/>
        <a:ext cx="218744" cy="233722"/>
      </dsp:txXfrm>
    </dsp:sp>
    <dsp:sp modelId="{C166E8EB-65AE-4DB0-BC95-48065E3D9E4D}">
      <dsp:nvSpPr>
        <dsp:cNvPr id="0" name=""/>
        <dsp:cNvSpPr/>
      </dsp:nvSpPr>
      <dsp:spPr>
        <a:xfrm>
          <a:off x="10060299" y="887510"/>
          <a:ext cx="1621145" cy="1621145"/>
        </a:xfrm>
        <a:prstGeom prst="roundRect">
          <a:avLst>
            <a:gd name="adj" fmla="val 10000"/>
          </a:avLst>
        </a:prstGeom>
        <a:blipFill rotWithShape="1">
          <a:blip xmlns:r="http://schemas.openxmlformats.org/officeDocument/2006/relationships" r:embed="rId5"/>
          <a:srcRect/>
          <a:stretch>
            <a:fillRect l="-31000" r="-31000"/>
          </a:stretch>
        </a:blip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27AF51F-E2B1-4A70-A1BC-9A2791F5F88D}">
      <dsp:nvSpPr>
        <dsp:cNvPr id="0" name=""/>
        <dsp:cNvSpPr/>
      </dsp:nvSpPr>
      <dsp:spPr>
        <a:xfrm>
          <a:off x="10324206" y="1552277"/>
          <a:ext cx="1621145" cy="2236986"/>
        </a:xfrm>
        <a:prstGeom prst="roundRect">
          <a:avLst>
            <a:gd name="adj" fmla="val 10000"/>
          </a:avLst>
        </a:prstGeom>
        <a:solidFill>
          <a:schemeClr val="accent6">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de-DE" sz="1800" kern="1200" dirty="0"/>
            <a:t>2025: k</a:t>
          </a:r>
          <a:r>
            <a:rPr lang="de-AT" sz="1800" kern="1200" dirty="0">
              <a:solidFill>
                <a:srgbClr val="FFFFFF"/>
              </a:solidFill>
              <a:latin typeface="Calibri" panose="020F0502020204030204"/>
              <a:ea typeface="+mn-ea"/>
              <a:cs typeface="+mn-cs"/>
            </a:rPr>
            <a:t>lima</a:t>
          </a:r>
          <a:r>
            <a:rPr lang="de-AT" sz="1800" b="1" kern="1200" dirty="0">
              <a:solidFill>
                <a:srgbClr val="FFFFFF"/>
              </a:solidFill>
              <a:latin typeface="Calibri" panose="020F0502020204030204"/>
              <a:ea typeface="+mn-ea"/>
              <a:cs typeface="+mn-cs"/>
            </a:rPr>
            <a:t>aktiv </a:t>
          </a:r>
          <a:r>
            <a:rPr lang="de-AT" sz="1800" b="0" kern="1200" dirty="0">
              <a:solidFill>
                <a:srgbClr val="FFFFFF"/>
              </a:solidFill>
              <a:latin typeface="Calibri" panose="020F0502020204030204"/>
              <a:ea typeface="+mn-ea"/>
              <a:cs typeface="+mn-cs"/>
            </a:rPr>
            <a:t>Praxis</a:t>
          </a:r>
          <a:r>
            <a:rPr lang="de-AT" sz="1800" b="1" kern="1200" dirty="0">
              <a:solidFill>
                <a:srgbClr val="FFFFFF"/>
              </a:solidFill>
              <a:latin typeface="Calibri" panose="020F0502020204030204"/>
              <a:ea typeface="+mn-ea"/>
              <a:cs typeface="+mn-cs"/>
            </a:rPr>
            <a:t> </a:t>
          </a:r>
        </a:p>
        <a:p>
          <a:pPr marL="114300" lvl="1" indent="-114300" algn="l" defTabSz="622300">
            <a:lnSpc>
              <a:spcPct val="90000"/>
            </a:lnSpc>
            <a:spcBef>
              <a:spcPct val="0"/>
            </a:spcBef>
            <a:spcAft>
              <a:spcPct val="15000"/>
            </a:spcAft>
            <a:buChar char="•"/>
          </a:pPr>
          <a:r>
            <a:rPr lang="de-DE" sz="1400" kern="1200" dirty="0"/>
            <a:t>Complete re-implementation</a:t>
          </a:r>
          <a:endParaRPr lang="de-AT" sz="1400" kern="1200" dirty="0"/>
        </a:p>
        <a:p>
          <a:pPr marL="114300" lvl="1" indent="-114300" algn="l" defTabSz="622300">
            <a:lnSpc>
              <a:spcPct val="90000"/>
            </a:lnSpc>
            <a:spcBef>
              <a:spcPct val="0"/>
            </a:spcBef>
            <a:spcAft>
              <a:spcPct val="15000"/>
            </a:spcAft>
            <a:buChar char="•"/>
          </a:pPr>
          <a:r>
            <a:rPr lang="de-DE" sz="1400" kern="1200" dirty="0"/>
            <a:t>Multi-Zone</a:t>
          </a:r>
          <a:endParaRPr lang="de-AT" sz="1400" kern="1200" dirty="0"/>
        </a:p>
        <a:p>
          <a:pPr marL="114300" lvl="1" indent="-114300" algn="l" defTabSz="622300">
            <a:lnSpc>
              <a:spcPct val="90000"/>
            </a:lnSpc>
            <a:spcBef>
              <a:spcPct val="0"/>
            </a:spcBef>
            <a:spcAft>
              <a:spcPct val="15000"/>
            </a:spcAft>
            <a:buChar char="•"/>
          </a:pPr>
          <a:r>
            <a:rPr lang="de-DE" sz="1400" kern="1200" dirty="0"/>
            <a:t>Multi-Energy-Systems</a:t>
          </a:r>
          <a:endParaRPr lang="de-AT" sz="1400" kern="1200" dirty="0"/>
        </a:p>
        <a:p>
          <a:pPr marL="114300" lvl="1" indent="-114300" algn="l" defTabSz="622300">
            <a:lnSpc>
              <a:spcPct val="90000"/>
            </a:lnSpc>
            <a:spcBef>
              <a:spcPct val="0"/>
            </a:spcBef>
            <a:spcAft>
              <a:spcPct val="15000"/>
            </a:spcAft>
            <a:buChar char="•"/>
          </a:pPr>
          <a:r>
            <a:rPr lang="de-DE" sz="1400" kern="1200" dirty="0"/>
            <a:t>and the list goes on</a:t>
          </a:r>
          <a:endParaRPr lang="de-AT" sz="1400" kern="1200" dirty="0"/>
        </a:p>
        <a:p>
          <a:pPr marL="114300" lvl="1" indent="-114300" algn="l" defTabSz="622300">
            <a:lnSpc>
              <a:spcPct val="90000"/>
            </a:lnSpc>
            <a:spcBef>
              <a:spcPct val="0"/>
            </a:spcBef>
            <a:spcAft>
              <a:spcPct val="15000"/>
            </a:spcAft>
            <a:buChar char="•"/>
          </a:pPr>
          <a:endParaRPr lang="de-AT" sz="1400" kern="1200" dirty="0"/>
        </a:p>
      </dsp:txBody>
      <dsp:txXfrm>
        <a:off x="10371688" y="1599759"/>
        <a:ext cx="1526181" cy="21420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1AD076-1F0F-4566-BF8A-CEAACA777AA2}">
      <dsp:nvSpPr>
        <dsp:cNvPr id="0" name=""/>
        <dsp:cNvSpPr/>
      </dsp:nvSpPr>
      <dsp:spPr>
        <a:xfrm>
          <a:off x="1863446" y="319982"/>
          <a:ext cx="4135157" cy="4135157"/>
        </a:xfrm>
        <a:prstGeom prst="pie">
          <a:avLst>
            <a:gd name="adj1" fmla="val 16200000"/>
            <a:gd name="adj2" fmla="val 1800000"/>
          </a:avLst>
        </a:prstGeom>
        <a:blipFill rotWithShape="0">
          <a:blip xmlns:r="http://schemas.openxmlformats.org/officeDocument/2006/relationships" r:embed="rId1"/>
          <a:srcRect/>
          <a:stretch>
            <a:fillRect l="-6000" r="-6000"/>
          </a:stretch>
        </a:blip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de-AT" sz="2800" b="1" kern="1200" dirty="0">
              <a:solidFill>
                <a:schemeClr val="accent2">
                  <a:lumMod val="75000"/>
                </a:schemeClr>
              </a:solidFill>
              <a:latin typeface="Aptos" panose="02110004020202020204"/>
              <a:ea typeface="+mn-ea"/>
              <a:cs typeface="+mn-cs"/>
            </a:rPr>
            <a:t>Simulation</a:t>
          </a:r>
        </a:p>
      </dsp:txBody>
      <dsp:txXfrm>
        <a:off x="4259050" y="1376473"/>
        <a:ext cx="1044285" cy="870237"/>
      </dsp:txXfrm>
    </dsp:sp>
    <dsp:sp modelId="{16E17EEB-4F20-4877-9BCB-A0E87A1C3603}">
      <dsp:nvSpPr>
        <dsp:cNvPr id="0" name=""/>
        <dsp:cNvSpPr/>
      </dsp:nvSpPr>
      <dsp:spPr>
        <a:xfrm>
          <a:off x="1778281" y="467666"/>
          <a:ext cx="4135157" cy="4135157"/>
        </a:xfrm>
        <a:prstGeom prst="pie">
          <a:avLst>
            <a:gd name="adj1" fmla="val 1800000"/>
            <a:gd name="adj2" fmla="val 9000000"/>
          </a:avLst>
        </a:prstGeom>
        <a:blipFill rotWithShape="0">
          <a:blip xmlns:r="http://schemas.openxmlformats.org/officeDocument/2006/relationships" r:embed="rId2"/>
          <a:srcRect/>
          <a:stretch>
            <a:fillRect l="-23000" r="-23000"/>
          </a:stretch>
        </a:blip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de-AT" sz="2800" b="1" kern="1200" dirty="0">
              <a:solidFill>
                <a:schemeClr val="accent6">
                  <a:lumMod val="75000"/>
                </a:schemeClr>
              </a:solidFill>
              <a:latin typeface="Aptos" panose="02110004020202020204"/>
              <a:ea typeface="+mn-ea"/>
              <a:cs typeface="+mn-cs"/>
            </a:rPr>
            <a:t>Analyse</a:t>
          </a:r>
        </a:p>
      </dsp:txBody>
      <dsp:txXfrm>
        <a:off x="3087260" y="3309199"/>
        <a:ext cx="1566426" cy="765809"/>
      </dsp:txXfrm>
    </dsp:sp>
    <dsp:sp modelId="{933DEE6D-2F59-4F0C-BCA0-790B9D92FB87}">
      <dsp:nvSpPr>
        <dsp:cNvPr id="0" name=""/>
        <dsp:cNvSpPr/>
      </dsp:nvSpPr>
      <dsp:spPr>
        <a:xfrm>
          <a:off x="1693116" y="319982"/>
          <a:ext cx="4135157" cy="4135157"/>
        </a:xfrm>
        <a:prstGeom prst="pie">
          <a:avLst>
            <a:gd name="adj1" fmla="val 9000000"/>
            <a:gd name="adj2" fmla="val 16200000"/>
          </a:avLst>
        </a:prstGeom>
        <a:blipFill rotWithShape="0">
          <a:blip xmlns:r="http://schemas.openxmlformats.org/officeDocument/2006/relationships" r:embed="rId3"/>
          <a:srcRect/>
          <a:stretch>
            <a:fillRect t="-43000" b="-43000"/>
          </a:stretch>
        </a:blip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de-AT" sz="2800" b="1" kern="1200" dirty="0">
              <a:solidFill>
                <a:schemeClr val="accent3">
                  <a:lumMod val="75000"/>
                </a:schemeClr>
              </a:solidFill>
              <a:latin typeface="Aptos" panose="02110004020202020204"/>
              <a:ea typeface="+mn-ea"/>
              <a:cs typeface="+mn-cs"/>
            </a:rPr>
            <a:t>Modellierung</a:t>
          </a:r>
        </a:p>
      </dsp:txBody>
      <dsp:txXfrm>
        <a:off x="2388383" y="1376473"/>
        <a:ext cx="1044285" cy="870237"/>
      </dsp:txXfrm>
    </dsp:sp>
    <dsp:sp modelId="{213C512E-B79B-4513-9D3D-C3D9ACAA97AF}">
      <dsp:nvSpPr>
        <dsp:cNvPr id="0" name=""/>
        <dsp:cNvSpPr/>
      </dsp:nvSpPr>
      <dsp:spPr>
        <a:xfrm>
          <a:off x="1607801" y="63996"/>
          <a:ext cx="4647128" cy="4647128"/>
        </a:xfrm>
        <a:prstGeom prst="circularArrow">
          <a:avLst>
            <a:gd name="adj1" fmla="val 5085"/>
            <a:gd name="adj2" fmla="val 327528"/>
            <a:gd name="adj3" fmla="val 1472472"/>
            <a:gd name="adj4" fmla="val 16199432"/>
            <a:gd name="adj5" fmla="val 5932"/>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CE046EA-C755-4F28-8FBC-6E2370DE5E02}">
      <dsp:nvSpPr>
        <dsp:cNvPr id="0" name=""/>
        <dsp:cNvSpPr/>
      </dsp:nvSpPr>
      <dsp:spPr>
        <a:xfrm>
          <a:off x="1522295" y="211419"/>
          <a:ext cx="4647128" cy="4647128"/>
        </a:xfrm>
        <a:prstGeom prst="circularArrow">
          <a:avLst>
            <a:gd name="adj1" fmla="val 5085"/>
            <a:gd name="adj2" fmla="val 327528"/>
            <a:gd name="adj3" fmla="val 8671970"/>
            <a:gd name="adj4" fmla="val 1800502"/>
            <a:gd name="adj5" fmla="val 5932"/>
          </a:avLst>
        </a:prstGeom>
        <a:solidFill>
          <a:schemeClr val="accent2">
            <a:hueOff val="6181983"/>
            <a:satOff val="22474"/>
            <a:lumOff val="-1098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8D690EE-3512-4D6E-8309-700BB114CFB6}">
      <dsp:nvSpPr>
        <dsp:cNvPr id="0" name=""/>
        <dsp:cNvSpPr/>
      </dsp:nvSpPr>
      <dsp:spPr>
        <a:xfrm>
          <a:off x="1436789" y="63996"/>
          <a:ext cx="4647128" cy="4647128"/>
        </a:xfrm>
        <a:prstGeom prst="circularArrow">
          <a:avLst>
            <a:gd name="adj1" fmla="val 5085"/>
            <a:gd name="adj2" fmla="val 327528"/>
            <a:gd name="adj3" fmla="val 15873039"/>
            <a:gd name="adj4" fmla="val 9000000"/>
            <a:gd name="adj5" fmla="val 5932"/>
          </a:avLst>
        </a:prstGeom>
        <a:solidFill>
          <a:schemeClr val="accent2">
            <a:hueOff val="12363965"/>
            <a:satOff val="44947"/>
            <a:lumOff val="-2196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0"/>
            <a:ext cx="2063750" cy="435849"/>
          </a:xfrm>
          <a:prstGeom prst="rect">
            <a:avLst/>
          </a:prstGeom>
        </p:spPr>
        <p:txBody>
          <a:bodyPr vert="horz" lIns="73408" tIns="36704" rIns="73408" bIns="36704" rtlCol="0"/>
          <a:lstStyle>
            <a:lvl1pPr algn="l">
              <a:defRPr sz="900"/>
            </a:lvl1pPr>
          </a:lstStyle>
          <a:p>
            <a:endParaRPr lang="de-DE" dirty="0"/>
          </a:p>
        </p:txBody>
      </p:sp>
      <p:sp>
        <p:nvSpPr>
          <p:cNvPr id="3" name="Datumsplatzhalter 2"/>
          <p:cNvSpPr>
            <a:spLocks noGrp="1"/>
          </p:cNvSpPr>
          <p:nvPr>
            <p:ph type="dt" sz="quarter" idx="1"/>
          </p:nvPr>
        </p:nvSpPr>
        <p:spPr>
          <a:xfrm>
            <a:off x="2697648" y="0"/>
            <a:ext cx="2063750" cy="435849"/>
          </a:xfrm>
          <a:prstGeom prst="rect">
            <a:avLst/>
          </a:prstGeom>
        </p:spPr>
        <p:txBody>
          <a:bodyPr vert="horz" lIns="73408" tIns="36704" rIns="73408" bIns="36704" rtlCol="0"/>
          <a:lstStyle>
            <a:lvl1pPr algn="r">
              <a:defRPr sz="900"/>
            </a:lvl1pPr>
          </a:lstStyle>
          <a:p>
            <a:fld id="{E2AF8261-D3FF-41F6-9DE9-1CF22005ABD8}" type="datetimeFigureOut">
              <a:rPr lang="de-DE" smtClean="0"/>
              <a:t>20.10.2026</a:t>
            </a:fld>
            <a:endParaRPr lang="de-DE" dirty="0"/>
          </a:p>
        </p:txBody>
      </p:sp>
      <p:sp>
        <p:nvSpPr>
          <p:cNvPr id="4" name="Fußzeilenplatzhalter 3"/>
          <p:cNvSpPr>
            <a:spLocks noGrp="1"/>
          </p:cNvSpPr>
          <p:nvPr>
            <p:ph type="ftr" sz="quarter" idx="2"/>
          </p:nvPr>
        </p:nvSpPr>
        <p:spPr>
          <a:xfrm>
            <a:off x="1" y="8250954"/>
            <a:ext cx="2063750" cy="435848"/>
          </a:xfrm>
          <a:prstGeom prst="rect">
            <a:avLst/>
          </a:prstGeom>
        </p:spPr>
        <p:txBody>
          <a:bodyPr vert="horz" lIns="73408" tIns="36704" rIns="73408" bIns="36704" rtlCol="0" anchor="b"/>
          <a:lstStyle>
            <a:lvl1pPr algn="l">
              <a:defRPr sz="900"/>
            </a:lvl1pPr>
          </a:lstStyle>
          <a:p>
            <a:endParaRPr lang="de-DE" dirty="0"/>
          </a:p>
        </p:txBody>
      </p:sp>
      <p:sp>
        <p:nvSpPr>
          <p:cNvPr id="5" name="Foliennummernplatzhalter 4"/>
          <p:cNvSpPr>
            <a:spLocks noGrp="1"/>
          </p:cNvSpPr>
          <p:nvPr>
            <p:ph type="sldNum" sz="quarter" idx="3"/>
          </p:nvPr>
        </p:nvSpPr>
        <p:spPr>
          <a:xfrm>
            <a:off x="2697648" y="8250954"/>
            <a:ext cx="2063750" cy="435848"/>
          </a:xfrm>
          <a:prstGeom prst="rect">
            <a:avLst/>
          </a:prstGeom>
        </p:spPr>
        <p:txBody>
          <a:bodyPr vert="horz" lIns="73408" tIns="36704" rIns="73408" bIns="36704" rtlCol="0" anchor="b"/>
          <a:lstStyle>
            <a:lvl1pPr algn="r">
              <a:defRPr sz="900"/>
            </a:lvl1pPr>
          </a:lstStyle>
          <a:p>
            <a:fld id="{41476BC4-EDDD-4C7B-8D9D-3659BD6BE372}" type="slidenum">
              <a:rPr lang="de-DE" smtClean="0"/>
              <a:t>‹Nr.›</a:t>
            </a:fld>
            <a:endParaRPr lang="de-DE" dirty="0"/>
          </a:p>
        </p:txBody>
      </p:sp>
    </p:spTree>
    <p:extLst>
      <p:ext uri="{BB962C8B-B14F-4D97-AF65-F5344CB8AC3E}">
        <p14:creationId xmlns:p14="http://schemas.microsoft.com/office/powerpoint/2010/main" val="29440358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0"/>
            <a:ext cx="2063750" cy="435849"/>
          </a:xfrm>
          <a:prstGeom prst="rect">
            <a:avLst/>
          </a:prstGeom>
        </p:spPr>
        <p:txBody>
          <a:bodyPr vert="horz" lIns="73408" tIns="36704" rIns="73408" bIns="36704" rtlCol="0"/>
          <a:lstStyle>
            <a:lvl1pPr algn="l">
              <a:defRPr sz="900"/>
            </a:lvl1pPr>
          </a:lstStyle>
          <a:p>
            <a:endParaRPr lang="de-DE" dirty="0"/>
          </a:p>
        </p:txBody>
      </p:sp>
      <p:sp>
        <p:nvSpPr>
          <p:cNvPr id="3" name="Datumsplatzhalter 2"/>
          <p:cNvSpPr>
            <a:spLocks noGrp="1"/>
          </p:cNvSpPr>
          <p:nvPr>
            <p:ph type="dt" idx="1"/>
          </p:nvPr>
        </p:nvSpPr>
        <p:spPr>
          <a:xfrm>
            <a:off x="2697648" y="0"/>
            <a:ext cx="2063750" cy="435849"/>
          </a:xfrm>
          <a:prstGeom prst="rect">
            <a:avLst/>
          </a:prstGeom>
        </p:spPr>
        <p:txBody>
          <a:bodyPr vert="horz" lIns="73408" tIns="36704" rIns="73408" bIns="36704" rtlCol="0"/>
          <a:lstStyle>
            <a:lvl1pPr algn="r">
              <a:defRPr sz="900"/>
            </a:lvl1pPr>
          </a:lstStyle>
          <a:p>
            <a:fld id="{117DD2C6-C20B-40C5-81AA-2CE8686D716E}" type="datetimeFigureOut">
              <a:rPr lang="de-DE" smtClean="0"/>
              <a:t>20.10.2026</a:t>
            </a:fld>
            <a:endParaRPr lang="de-DE" dirty="0"/>
          </a:p>
        </p:txBody>
      </p:sp>
      <p:sp>
        <p:nvSpPr>
          <p:cNvPr id="4" name="Folienbildplatzhalter 3"/>
          <p:cNvSpPr>
            <a:spLocks noGrp="1" noRot="1" noChangeAspect="1"/>
          </p:cNvSpPr>
          <p:nvPr>
            <p:ph type="sldImg" idx="2"/>
          </p:nvPr>
        </p:nvSpPr>
        <p:spPr>
          <a:xfrm>
            <a:off x="-223838" y="1085850"/>
            <a:ext cx="5210176" cy="2932113"/>
          </a:xfrm>
          <a:prstGeom prst="rect">
            <a:avLst/>
          </a:prstGeom>
          <a:noFill/>
          <a:ln w="12700">
            <a:solidFill>
              <a:prstClr val="black"/>
            </a:solidFill>
          </a:ln>
        </p:spPr>
        <p:txBody>
          <a:bodyPr vert="horz" lIns="73408" tIns="36704" rIns="73408" bIns="36704" rtlCol="0" anchor="ctr"/>
          <a:lstStyle/>
          <a:p>
            <a:endParaRPr lang="de-DE" dirty="0"/>
          </a:p>
        </p:txBody>
      </p:sp>
      <p:sp>
        <p:nvSpPr>
          <p:cNvPr id="5" name="Notizenplatzhalter 4"/>
          <p:cNvSpPr>
            <a:spLocks noGrp="1"/>
          </p:cNvSpPr>
          <p:nvPr>
            <p:ph type="body" sz="quarter" idx="3"/>
          </p:nvPr>
        </p:nvSpPr>
        <p:spPr>
          <a:xfrm>
            <a:off x="476251" y="4180523"/>
            <a:ext cx="3810000" cy="3420427"/>
          </a:xfrm>
          <a:prstGeom prst="rect">
            <a:avLst/>
          </a:prstGeom>
        </p:spPr>
        <p:txBody>
          <a:bodyPr vert="horz" lIns="73408" tIns="36704" rIns="73408" bIns="36704"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1" y="8250954"/>
            <a:ext cx="2063750" cy="435848"/>
          </a:xfrm>
          <a:prstGeom prst="rect">
            <a:avLst/>
          </a:prstGeom>
        </p:spPr>
        <p:txBody>
          <a:bodyPr vert="horz" lIns="73408" tIns="36704" rIns="73408" bIns="36704" rtlCol="0" anchor="b"/>
          <a:lstStyle>
            <a:lvl1pPr algn="l">
              <a:defRPr sz="900"/>
            </a:lvl1pPr>
          </a:lstStyle>
          <a:p>
            <a:endParaRPr lang="de-DE" dirty="0"/>
          </a:p>
        </p:txBody>
      </p:sp>
      <p:sp>
        <p:nvSpPr>
          <p:cNvPr id="7" name="Foliennummernplatzhalter 6"/>
          <p:cNvSpPr>
            <a:spLocks noGrp="1"/>
          </p:cNvSpPr>
          <p:nvPr>
            <p:ph type="sldNum" sz="quarter" idx="5"/>
          </p:nvPr>
        </p:nvSpPr>
        <p:spPr>
          <a:xfrm>
            <a:off x="2697648" y="8250954"/>
            <a:ext cx="2063750" cy="435848"/>
          </a:xfrm>
          <a:prstGeom prst="rect">
            <a:avLst/>
          </a:prstGeom>
        </p:spPr>
        <p:txBody>
          <a:bodyPr vert="horz" lIns="73408" tIns="36704" rIns="73408" bIns="36704" rtlCol="0" anchor="b"/>
          <a:lstStyle>
            <a:lvl1pPr algn="r">
              <a:defRPr sz="900"/>
            </a:lvl1pPr>
          </a:lstStyle>
          <a:p>
            <a:fld id="{A8EDB8ED-BFAA-47E0-A0F3-2E779EB54340}" type="slidenum">
              <a:rPr lang="de-DE" smtClean="0"/>
              <a:t>‹Nr.›</a:t>
            </a:fld>
            <a:endParaRPr lang="de-DE" dirty="0"/>
          </a:p>
        </p:txBody>
      </p:sp>
    </p:spTree>
    <p:extLst>
      <p:ext uri="{BB962C8B-B14F-4D97-AF65-F5344CB8AC3E}">
        <p14:creationId xmlns:p14="http://schemas.microsoft.com/office/powerpoint/2010/main" val="258586580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23838" y="1085850"/>
            <a:ext cx="5210176" cy="2932113"/>
          </a:xfrm>
        </p:spPr>
        <p:txBody>
          <a:bodyPr/>
          <a:lstStyle/>
          <a:p>
            <a:endParaRPr lang="de-AT" dirty="0"/>
          </a:p>
        </p:txBody>
      </p:sp>
      <p:sp>
        <p:nvSpPr>
          <p:cNvPr id="3" name="Notizenplatzhalt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600"/>
              </a:spcAft>
              <a:buClrTx/>
              <a:buSzTx/>
              <a:buFontTx/>
              <a:buNone/>
              <a:tabLst/>
              <a:defRPr/>
            </a:pPr>
            <a:r>
              <a:rPr lang="en-US" sz="1800" dirty="0">
                <a:effectLst/>
                <a:latin typeface="Arial" panose="020B0604020202020204" pitchFamily="34" charset="0"/>
                <a:ea typeface="Times New Roman" panose="02020603050405020304" pitchFamily="18" charset="0"/>
                <a:cs typeface="Times New Roman" panose="02020603050405020304" pitchFamily="18" charset="0"/>
              </a:rPr>
              <a:t>Figure 1 District energy models (DEMs) trade-off between accessibility &amp; simplicity of modeling, accuracy, resolution and speed of simulation results, and coverage of energy services (from HVAC, DHW, plug-loads, mobility to embodied energy)</a:t>
            </a:r>
            <a:endParaRPr lang="de-AT" sz="1800" dirty="0">
              <a:effectLst/>
              <a:latin typeface="Arial" panose="020B0604020202020204" pitchFamily="34" charset="0"/>
              <a:ea typeface="Times New Roman" panose="02020603050405020304" pitchFamily="18" charset="0"/>
              <a:cs typeface="Times New Roman" panose="02020603050405020304" pitchFamily="18" charset="0"/>
            </a:endParaRPr>
          </a:p>
          <a:p>
            <a:pPr algn="just">
              <a:spcAft>
                <a:spcPts val="600"/>
              </a:spcAft>
            </a:pPr>
            <a:endParaRPr lang="en-GB" sz="1200" dirty="0">
              <a:effectLst/>
              <a:latin typeface="Arial" panose="020B0604020202020204" pitchFamily="34" charset="0"/>
              <a:ea typeface="Calibri" panose="020F0502020204030204" pitchFamily="34" charset="0"/>
              <a:cs typeface="Times New Roman" panose="02020603050405020304" pitchFamily="18" charset="0"/>
            </a:endParaRPr>
          </a:p>
          <a:p>
            <a:pPr algn="just">
              <a:spcAft>
                <a:spcPts val="600"/>
              </a:spcAft>
            </a:pPr>
            <a:endParaRPr lang="en-GB" sz="1200" dirty="0">
              <a:effectLst/>
              <a:latin typeface="Arial" panose="020B0604020202020204" pitchFamily="34" charset="0"/>
              <a:ea typeface="Calibri" panose="020F0502020204030204" pitchFamily="34" charset="0"/>
              <a:cs typeface="Times New Roman" panose="02020603050405020304" pitchFamily="18" charset="0"/>
            </a:endParaRPr>
          </a:p>
          <a:p>
            <a:pPr algn="just">
              <a:spcAft>
                <a:spcPts val="600"/>
              </a:spcAft>
            </a:pPr>
            <a:r>
              <a:rPr lang="en-GB" sz="1200" dirty="0">
                <a:effectLst/>
                <a:latin typeface="Arial" panose="020B0604020202020204" pitchFamily="34" charset="0"/>
                <a:ea typeface="Calibri" panose="020F0502020204030204" pitchFamily="34" charset="0"/>
                <a:cs typeface="Times New Roman" panose="02020603050405020304" pitchFamily="18" charset="0"/>
              </a:rPr>
              <a:t>Positive Energy Districts (PED) represent large and complex systems, </a:t>
            </a:r>
            <a:r>
              <a:rPr lang="en-GB" sz="1200" strike="sngStrike"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whose</a:t>
            </a:r>
            <a:r>
              <a:rPr lang="en-GB" sz="1200" u="sng" dirty="0">
                <a:solidFill>
                  <a:srgbClr val="008080"/>
                </a:solidFill>
                <a:effectLst/>
                <a:latin typeface="Arial" panose="020B0604020202020204" pitchFamily="34" charset="0"/>
                <a:ea typeface="Calibri" panose="020F0502020204030204" pitchFamily="34" charset="0"/>
                <a:cs typeface="Times New Roman" panose="02020603050405020304" pitchFamily="18" charset="0"/>
              </a:rPr>
              <a:t>their</a:t>
            </a:r>
            <a:r>
              <a:rPr lang="en-GB" sz="1200" dirty="0">
                <a:effectLst/>
                <a:latin typeface="Arial" panose="020B0604020202020204" pitchFamily="34" charset="0"/>
                <a:ea typeface="Calibri" panose="020F0502020204030204" pitchFamily="34" charset="0"/>
                <a:cs typeface="Times New Roman" panose="02020603050405020304" pitchFamily="18" charset="0"/>
              </a:rPr>
              <a:t> implementation</a:t>
            </a:r>
            <a:r>
              <a:rPr lang="en-US" sz="1200" dirty="0">
                <a:effectLst/>
                <a:latin typeface="Arial" panose="020B0604020202020204" pitchFamily="34" charset="0"/>
                <a:ea typeface="Calibri" panose="020F0502020204030204" pitchFamily="34" charset="0"/>
                <a:cs typeface="Times New Roman" panose="02020603050405020304" pitchFamily="18" charset="0"/>
              </a:rPr>
              <a:t> requires integrated planning in a holistic manner across multiple disciplines and domains </a:t>
            </a:r>
            <a:r>
              <a:rPr lang="en-US" sz="1200" dirty="0">
                <a:effectLst/>
                <a:latin typeface="Arial" panose="020B0604020202020204" pitchFamily="34" charset="0"/>
                <a:ea typeface="Calibri" panose="020F0502020204030204" pitchFamily="34" charset="0"/>
                <a:cs typeface="Arial" panose="020B0604020202020204" pitchFamily="34" charset="0"/>
              </a:rPr>
              <a:t>(“Ten questions concerning positive energy districts | Elsevier Enhanced Reader,” n.d.)</a:t>
            </a:r>
            <a:r>
              <a:rPr lang="en-US" sz="1200" dirty="0">
                <a:effectLst/>
                <a:latin typeface="Arial" panose="020B0604020202020204" pitchFamily="34" charset="0"/>
                <a:ea typeface="Calibri" panose="020F0502020204030204" pitchFamily="34" charset="0"/>
                <a:cs typeface="Times New Roman" panose="02020603050405020304" pitchFamily="18" charset="0"/>
              </a:rPr>
              <a:t>. City planners believe that addressing PED implementation challenges in the early conceptual phase through a broad stakeholder commitment approach can help prevent many problems by incorporating these intentions into the master planning directives </a:t>
            </a:r>
            <a:r>
              <a:rPr lang="pt-PT" sz="1200" dirty="0">
                <a:effectLst/>
                <a:latin typeface="Arial" panose="020B0604020202020204" pitchFamily="34" charset="0"/>
                <a:ea typeface="Calibri" panose="020F0502020204030204" pitchFamily="34" charset="0"/>
                <a:cs typeface="Times New Roman" panose="02020603050405020304" pitchFamily="18" charset="0"/>
              </a:rPr>
              <a:t>(Nielsen et al., 2019)</a:t>
            </a:r>
            <a:r>
              <a:rPr lang="en-US" sz="1200" dirty="0">
                <a:effectLst/>
                <a:latin typeface="Arial" panose="020B0604020202020204" pitchFamily="34" charset="0"/>
                <a:ea typeface="Calibri" panose="020F0502020204030204" pitchFamily="34" charset="0"/>
                <a:cs typeface="Times New Roman" panose="02020603050405020304" pitchFamily="18" charset="0"/>
              </a:rPr>
              <a:t>. </a:t>
            </a:r>
          </a:p>
          <a:p>
            <a:pPr algn="just">
              <a:spcAft>
                <a:spcPts val="600"/>
              </a:spcAft>
            </a:pPr>
            <a:endParaRPr lang="de-AT" sz="1200" dirty="0">
              <a:effectLst/>
              <a:latin typeface="Arial" panose="020B0604020202020204" pitchFamily="34" charset="0"/>
              <a:ea typeface="Calibri" panose="020F0502020204030204" pitchFamily="34" charset="0"/>
              <a:cs typeface="Times New Roman" panose="02020603050405020304" pitchFamily="18" charset="0"/>
            </a:endParaRPr>
          </a:p>
          <a:p>
            <a:pPr algn="just">
              <a:spcAft>
                <a:spcPts val="600"/>
              </a:spcAft>
            </a:pPr>
            <a:r>
              <a:rPr lang="en-US" sz="1200" dirty="0">
                <a:effectLst/>
                <a:latin typeface="Arial" panose="020B0604020202020204" pitchFamily="34" charset="0"/>
                <a:ea typeface="Calibri" panose="020F0502020204030204" pitchFamily="34" charset="0"/>
                <a:cs typeface="Times New Roman" panose="02020603050405020304" pitchFamily="18" charset="0"/>
              </a:rPr>
              <a:t>However, </a:t>
            </a:r>
            <a:r>
              <a:rPr lang="en-GB" sz="1200" dirty="0">
                <a:effectLst/>
                <a:latin typeface="Arial" panose="020B0604020202020204" pitchFamily="34" charset="0"/>
                <a:ea typeface="Calibri" panose="020F0502020204030204" pitchFamily="34" charset="0"/>
                <a:cs typeface="Times New Roman" panose="02020603050405020304" pitchFamily="18" charset="0"/>
              </a:rPr>
              <a:t>it is apparent that for a PED definition focusing on a holistic and integrated energy assessment, including building operation and use, mobility and embodied energy, </a:t>
            </a:r>
            <a:r>
              <a:rPr lang="en-US" sz="1200" dirty="0">
                <a:effectLst/>
                <a:latin typeface="Arial" panose="020B0604020202020204" pitchFamily="34" charset="0"/>
                <a:ea typeface="Calibri" panose="020F0502020204030204" pitchFamily="34" charset="0"/>
                <a:cs typeface="Times New Roman" panose="02020603050405020304" pitchFamily="18" charset="0"/>
              </a:rPr>
              <a:t>current dynamic models are unfeasible to deploy in early planning phases </a:t>
            </a:r>
            <a:r>
              <a:rPr lang="pt-PT" sz="1200" dirty="0">
                <a:effectLst/>
                <a:latin typeface="Arial" panose="020B0604020202020204" pitchFamily="34" charset="0"/>
                <a:ea typeface="Calibri" panose="020F0502020204030204" pitchFamily="34" charset="0"/>
                <a:cs typeface="Arial" panose="020B0604020202020204" pitchFamily="34" charset="0"/>
              </a:rPr>
              <a:t>(Hedman et al., 2021)</a:t>
            </a:r>
            <a:r>
              <a:rPr lang="en-US" sz="1200" dirty="0">
                <a:effectLst/>
                <a:latin typeface="Arial" panose="020B0604020202020204" pitchFamily="34" charset="0"/>
                <a:ea typeface="Calibri" panose="020F0502020204030204" pitchFamily="34" charset="0"/>
                <a:cs typeface="Times New Roman" panose="02020603050405020304" pitchFamily="18" charset="0"/>
              </a:rPr>
              <a:t>. </a:t>
            </a:r>
            <a:endParaRPr lang="de-AT" sz="1200" dirty="0">
              <a:effectLst/>
              <a:latin typeface="Arial" panose="020B0604020202020204" pitchFamily="34" charset="0"/>
              <a:ea typeface="Calibri" panose="020F0502020204030204" pitchFamily="34" charset="0"/>
              <a:cs typeface="Times New Roman" panose="02020603050405020304" pitchFamily="18" charset="0"/>
            </a:endParaRPr>
          </a:p>
          <a:p>
            <a:pPr algn="just">
              <a:spcAft>
                <a:spcPts val="600"/>
              </a:spcAft>
            </a:pPr>
            <a:r>
              <a:rPr lang="en-US" sz="1200" dirty="0">
                <a:effectLst/>
                <a:latin typeface="Arial" panose="020B0604020202020204" pitchFamily="34" charset="0"/>
                <a:ea typeface="Calibri" panose="020F0502020204030204" pitchFamily="34" charset="0"/>
                <a:cs typeface="Times New Roman" panose="02020603050405020304" pitchFamily="18" charset="0"/>
              </a:rPr>
              <a:t>The lack of early integration of energy planning in the district development is mostly due to the lack of data to feed more intricate energy simulation frameworks </a:t>
            </a:r>
            <a:r>
              <a:rPr lang="pt-PT" sz="1200" dirty="0">
                <a:effectLst/>
                <a:latin typeface="Arial" panose="020B0604020202020204" pitchFamily="34" charset="0"/>
                <a:ea typeface="Calibri" panose="020F0502020204030204" pitchFamily="34" charset="0"/>
                <a:cs typeface="Times New Roman" panose="02020603050405020304" pitchFamily="18" charset="0"/>
              </a:rPr>
              <a:t>(Koutra et al., 2018)</a:t>
            </a:r>
            <a:r>
              <a:rPr lang="en-US" sz="1200" dirty="0">
                <a:effectLst/>
                <a:latin typeface="Arial" panose="020B0604020202020204" pitchFamily="34" charset="0"/>
                <a:ea typeface="Calibri" panose="020F0502020204030204" pitchFamily="34" charset="0"/>
                <a:cs typeface="Times New Roman" panose="02020603050405020304" pitchFamily="18" charset="0"/>
              </a:rPr>
              <a:t>: Even if sufficient data is available and modelling possible, using district simulation models is typically too resource-intensive to deploy early, as the planning will inevitably change in the process, rendering detailed simulation results invalid. On the other hand, simpler decision support systems (DSS) employing stationary methods can lack resolution of key flexibility features of PEDs or lack coverage of all required energy flows.</a:t>
            </a:r>
            <a:endParaRPr lang="de-AT" sz="1200" dirty="0">
              <a:effectLst/>
              <a:latin typeface="Arial" panose="020B0604020202020204" pitchFamily="34" charset="0"/>
              <a:ea typeface="Calibri" panose="020F0502020204030204" pitchFamily="34" charset="0"/>
              <a:cs typeface="Times New Roman" panose="02020603050405020304" pitchFamily="18" charset="0"/>
            </a:endParaRPr>
          </a:p>
          <a:p>
            <a:endParaRPr lang="de-AT"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C7499-846D-425B-BA35-BCEB5E92F7B5}" type="slidenum">
              <a:rPr kumimoji="0" lang="de-AT"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AT"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80054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23838" y="1085850"/>
            <a:ext cx="5210176" cy="2932113"/>
          </a:xfrm>
        </p:spPr>
        <p:txBody>
          <a:bodyPr/>
          <a:lstStyle/>
          <a:p>
            <a:endParaRPr lang="de-AT"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CC8C7499-846D-425B-BA35-BCEB5E92F7B5}" type="slidenum">
              <a:rPr lang="de-AT" smtClean="0"/>
              <a:t>6</a:t>
            </a:fld>
            <a:endParaRPr lang="de-AT" dirty="0"/>
          </a:p>
        </p:txBody>
      </p:sp>
    </p:spTree>
    <p:extLst>
      <p:ext uri="{BB962C8B-B14F-4D97-AF65-F5344CB8AC3E}">
        <p14:creationId xmlns:p14="http://schemas.microsoft.com/office/powerpoint/2010/main" val="3988528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23838" y="1085850"/>
            <a:ext cx="5210176" cy="2932113"/>
          </a:xfrm>
        </p:spPr>
        <p:txBody>
          <a:bodyPr/>
          <a:lstStyle/>
          <a:p>
            <a:endParaRPr lang="de-AT" dirty="0"/>
          </a:p>
        </p:txBody>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CC8C7499-846D-425B-BA35-BCEB5E92F7B5}" type="slidenum">
              <a:rPr lang="de-AT" smtClean="0"/>
              <a:t>7</a:t>
            </a:fld>
            <a:endParaRPr lang="de-AT" dirty="0"/>
          </a:p>
        </p:txBody>
      </p:sp>
    </p:spTree>
    <p:extLst>
      <p:ext uri="{BB962C8B-B14F-4D97-AF65-F5344CB8AC3E}">
        <p14:creationId xmlns:p14="http://schemas.microsoft.com/office/powerpoint/2010/main" val="17515657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9" name="Rechteck 8"/>
          <p:cNvSpPr/>
          <p:nvPr userDrawn="1"/>
        </p:nvSpPr>
        <p:spPr>
          <a:xfrm>
            <a:off x="1" y="1171700"/>
            <a:ext cx="12192002" cy="5686301"/>
          </a:xfrm>
          <a:prstGeom prst="rect">
            <a:avLst/>
          </a:prstGeom>
          <a:solidFill>
            <a:srgbClr val="EBF0F4"/>
          </a:solidFill>
          <a:ln>
            <a:solidFill>
              <a:srgbClr val="EBF0F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2400" dirty="0"/>
          </a:p>
        </p:txBody>
      </p:sp>
      <p:sp>
        <p:nvSpPr>
          <p:cNvPr id="2" name="Titel 1"/>
          <p:cNvSpPr>
            <a:spLocks noGrp="1"/>
          </p:cNvSpPr>
          <p:nvPr>
            <p:ph type="ctrTitle" hasCustomPrompt="1"/>
          </p:nvPr>
        </p:nvSpPr>
        <p:spPr>
          <a:xfrm>
            <a:off x="719999" y="1564359"/>
            <a:ext cx="10638035" cy="1329055"/>
          </a:xfrm>
        </p:spPr>
        <p:txBody>
          <a:bodyPr anchor="b" anchorCtr="0"/>
          <a:lstStyle>
            <a:lvl1pPr>
              <a:lnSpc>
                <a:spcPts val="5333"/>
              </a:lnSpc>
              <a:defRPr sz="4800">
                <a:solidFill>
                  <a:schemeClr val="tx1"/>
                </a:solidFill>
                <a:latin typeface="+mj-lt"/>
              </a:defRPr>
            </a:lvl1pPr>
          </a:lstStyle>
          <a:p>
            <a:r>
              <a:rPr lang="de-DE" dirty="0"/>
              <a:t>Titelmasterformat </a:t>
            </a:r>
            <a:br>
              <a:rPr lang="de-DE" dirty="0"/>
            </a:br>
            <a:r>
              <a:rPr lang="de-DE" dirty="0"/>
              <a:t>durch Klicken bearbeiten</a:t>
            </a:r>
            <a:endParaRPr lang="de-AT" dirty="0"/>
          </a:p>
        </p:txBody>
      </p:sp>
      <p:sp>
        <p:nvSpPr>
          <p:cNvPr id="3" name="Untertitel 1"/>
          <p:cNvSpPr>
            <a:spLocks noGrp="1"/>
          </p:cNvSpPr>
          <p:nvPr>
            <p:ph type="subTitle" idx="1"/>
          </p:nvPr>
        </p:nvSpPr>
        <p:spPr>
          <a:xfrm>
            <a:off x="719999" y="2983764"/>
            <a:ext cx="10638035" cy="1853851"/>
          </a:xfrm>
        </p:spPr>
        <p:txBody>
          <a:bodyPr/>
          <a:lstStyle>
            <a:lvl1pPr marL="0" indent="0" algn="l">
              <a:lnSpc>
                <a:spcPts val="5333"/>
              </a:lnSpc>
              <a:spcBef>
                <a:spcPts val="0"/>
              </a:spcBef>
              <a:buNone/>
              <a:defRPr sz="4000">
                <a:solidFill>
                  <a:schemeClr val="tx1"/>
                </a:solidFill>
              </a:defRPr>
            </a:lvl1pPr>
            <a:lvl2pPr marL="609544" indent="0" algn="ctr">
              <a:buNone/>
              <a:defRPr>
                <a:solidFill>
                  <a:schemeClr val="tx1">
                    <a:tint val="75000"/>
                  </a:schemeClr>
                </a:solidFill>
              </a:defRPr>
            </a:lvl2pPr>
            <a:lvl3pPr marL="1219089" indent="0" algn="ctr">
              <a:buNone/>
              <a:defRPr>
                <a:solidFill>
                  <a:schemeClr val="tx1">
                    <a:tint val="75000"/>
                  </a:schemeClr>
                </a:solidFill>
              </a:defRPr>
            </a:lvl3pPr>
            <a:lvl4pPr marL="1828632" indent="0" algn="ctr">
              <a:buNone/>
              <a:defRPr>
                <a:solidFill>
                  <a:schemeClr val="tx1">
                    <a:tint val="75000"/>
                  </a:schemeClr>
                </a:solidFill>
              </a:defRPr>
            </a:lvl4pPr>
            <a:lvl5pPr marL="2438176" indent="0" algn="ctr">
              <a:buNone/>
              <a:defRPr>
                <a:solidFill>
                  <a:schemeClr val="tx1">
                    <a:tint val="75000"/>
                  </a:schemeClr>
                </a:solidFill>
              </a:defRPr>
            </a:lvl5pPr>
            <a:lvl6pPr marL="3047720" indent="0" algn="ctr">
              <a:buNone/>
              <a:defRPr>
                <a:solidFill>
                  <a:schemeClr val="tx1">
                    <a:tint val="75000"/>
                  </a:schemeClr>
                </a:solidFill>
              </a:defRPr>
            </a:lvl6pPr>
            <a:lvl7pPr marL="3657264" indent="0" algn="ctr">
              <a:buNone/>
              <a:defRPr>
                <a:solidFill>
                  <a:schemeClr val="tx1">
                    <a:tint val="75000"/>
                  </a:schemeClr>
                </a:solidFill>
              </a:defRPr>
            </a:lvl7pPr>
            <a:lvl8pPr marL="4266808" indent="0" algn="ctr">
              <a:buNone/>
              <a:defRPr>
                <a:solidFill>
                  <a:schemeClr val="tx1">
                    <a:tint val="75000"/>
                  </a:schemeClr>
                </a:solidFill>
              </a:defRPr>
            </a:lvl8pPr>
            <a:lvl9pPr marL="4876352" indent="0" algn="ctr">
              <a:buNone/>
              <a:defRPr>
                <a:solidFill>
                  <a:schemeClr val="tx1">
                    <a:tint val="75000"/>
                  </a:schemeClr>
                </a:solidFill>
              </a:defRPr>
            </a:lvl9pPr>
          </a:lstStyle>
          <a:p>
            <a:r>
              <a:rPr lang="de-DE"/>
              <a:t>Formatvorlage des Untertitelmasters durch Klicken bearbeiten</a:t>
            </a:r>
            <a:endParaRPr lang="de-AT" dirty="0"/>
          </a:p>
        </p:txBody>
      </p:sp>
      <p:sp>
        <p:nvSpPr>
          <p:cNvPr id="5" name="Textplatzhalter 4"/>
          <p:cNvSpPr>
            <a:spLocks noGrp="1"/>
          </p:cNvSpPr>
          <p:nvPr>
            <p:ph type="body" sz="quarter" idx="10"/>
          </p:nvPr>
        </p:nvSpPr>
        <p:spPr>
          <a:xfrm>
            <a:off x="719667" y="5588001"/>
            <a:ext cx="4563533" cy="554039"/>
          </a:xfrm>
        </p:spPr>
        <p:txBody>
          <a:bodyPr anchor="b" anchorCtr="0"/>
          <a:lstStyle>
            <a:lvl1pPr marL="0" indent="0">
              <a:lnSpc>
                <a:spcPts val="2400"/>
              </a:lnSpc>
              <a:spcAft>
                <a:spcPts val="0"/>
              </a:spcAft>
              <a:buNone/>
              <a:defRPr sz="1867"/>
            </a:lvl1pPr>
          </a:lstStyle>
          <a:p>
            <a:pPr lvl="0"/>
            <a:r>
              <a:rPr lang="de-DE"/>
              <a:t>Formatvorlagen des Textmasters bearbeiten</a:t>
            </a:r>
          </a:p>
        </p:txBody>
      </p:sp>
    </p:spTree>
    <p:extLst>
      <p:ext uri="{BB962C8B-B14F-4D97-AF65-F5344CB8AC3E}">
        <p14:creationId xmlns:p14="http://schemas.microsoft.com/office/powerpoint/2010/main" val="1711823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elfolie">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719999" y="1564359"/>
            <a:ext cx="10638035" cy="1329055"/>
          </a:xfrm>
        </p:spPr>
        <p:txBody>
          <a:bodyPr anchor="b" anchorCtr="0"/>
          <a:lstStyle>
            <a:lvl1pPr>
              <a:lnSpc>
                <a:spcPts val="5333"/>
              </a:lnSpc>
              <a:defRPr sz="4800">
                <a:solidFill>
                  <a:schemeClr val="tx1"/>
                </a:solidFill>
                <a:latin typeface="+mj-lt"/>
              </a:defRPr>
            </a:lvl1pPr>
          </a:lstStyle>
          <a:p>
            <a:r>
              <a:rPr lang="de-DE" dirty="0"/>
              <a:t>Titelmasterformat </a:t>
            </a:r>
            <a:br>
              <a:rPr lang="de-DE" dirty="0"/>
            </a:br>
            <a:r>
              <a:rPr lang="de-DE" dirty="0"/>
              <a:t>durch Klicken bearbeiten</a:t>
            </a:r>
            <a:endParaRPr lang="de-AT" dirty="0"/>
          </a:p>
        </p:txBody>
      </p:sp>
      <p:sp>
        <p:nvSpPr>
          <p:cNvPr id="3" name="Untertitel 1"/>
          <p:cNvSpPr>
            <a:spLocks noGrp="1"/>
          </p:cNvSpPr>
          <p:nvPr>
            <p:ph type="subTitle" idx="1"/>
          </p:nvPr>
        </p:nvSpPr>
        <p:spPr>
          <a:xfrm>
            <a:off x="719999" y="2983764"/>
            <a:ext cx="10638035" cy="1853851"/>
          </a:xfrm>
        </p:spPr>
        <p:txBody>
          <a:bodyPr/>
          <a:lstStyle>
            <a:lvl1pPr marL="0" indent="0" algn="l">
              <a:lnSpc>
                <a:spcPts val="5333"/>
              </a:lnSpc>
              <a:spcBef>
                <a:spcPts val="0"/>
              </a:spcBef>
              <a:buNone/>
              <a:defRPr sz="4000">
                <a:solidFill>
                  <a:schemeClr val="tx1"/>
                </a:solidFill>
              </a:defRPr>
            </a:lvl1pPr>
            <a:lvl2pPr marL="609544" indent="0" algn="ctr">
              <a:buNone/>
              <a:defRPr>
                <a:solidFill>
                  <a:schemeClr val="tx1">
                    <a:tint val="75000"/>
                  </a:schemeClr>
                </a:solidFill>
              </a:defRPr>
            </a:lvl2pPr>
            <a:lvl3pPr marL="1219089" indent="0" algn="ctr">
              <a:buNone/>
              <a:defRPr>
                <a:solidFill>
                  <a:schemeClr val="tx1">
                    <a:tint val="75000"/>
                  </a:schemeClr>
                </a:solidFill>
              </a:defRPr>
            </a:lvl3pPr>
            <a:lvl4pPr marL="1828632" indent="0" algn="ctr">
              <a:buNone/>
              <a:defRPr>
                <a:solidFill>
                  <a:schemeClr val="tx1">
                    <a:tint val="75000"/>
                  </a:schemeClr>
                </a:solidFill>
              </a:defRPr>
            </a:lvl4pPr>
            <a:lvl5pPr marL="2438176" indent="0" algn="ctr">
              <a:buNone/>
              <a:defRPr>
                <a:solidFill>
                  <a:schemeClr val="tx1">
                    <a:tint val="75000"/>
                  </a:schemeClr>
                </a:solidFill>
              </a:defRPr>
            </a:lvl5pPr>
            <a:lvl6pPr marL="3047720" indent="0" algn="ctr">
              <a:buNone/>
              <a:defRPr>
                <a:solidFill>
                  <a:schemeClr val="tx1">
                    <a:tint val="75000"/>
                  </a:schemeClr>
                </a:solidFill>
              </a:defRPr>
            </a:lvl6pPr>
            <a:lvl7pPr marL="3657264" indent="0" algn="ctr">
              <a:buNone/>
              <a:defRPr>
                <a:solidFill>
                  <a:schemeClr val="tx1">
                    <a:tint val="75000"/>
                  </a:schemeClr>
                </a:solidFill>
              </a:defRPr>
            </a:lvl7pPr>
            <a:lvl8pPr marL="4266808" indent="0" algn="ctr">
              <a:buNone/>
              <a:defRPr>
                <a:solidFill>
                  <a:schemeClr val="tx1">
                    <a:tint val="75000"/>
                  </a:schemeClr>
                </a:solidFill>
              </a:defRPr>
            </a:lvl8pPr>
            <a:lvl9pPr marL="4876352" indent="0" algn="ctr">
              <a:buNone/>
              <a:defRPr>
                <a:solidFill>
                  <a:schemeClr val="tx1">
                    <a:tint val="75000"/>
                  </a:schemeClr>
                </a:solidFill>
              </a:defRPr>
            </a:lvl9pPr>
          </a:lstStyle>
          <a:p>
            <a:r>
              <a:rPr lang="de-DE"/>
              <a:t>Formatvorlage des Untertitelmasters durch Klicken bearbeiten</a:t>
            </a:r>
            <a:endParaRPr lang="de-AT" dirty="0"/>
          </a:p>
        </p:txBody>
      </p:sp>
      <p:sp>
        <p:nvSpPr>
          <p:cNvPr id="5" name="Textplatzhalter 4"/>
          <p:cNvSpPr>
            <a:spLocks noGrp="1"/>
          </p:cNvSpPr>
          <p:nvPr>
            <p:ph type="body" sz="quarter" idx="10"/>
          </p:nvPr>
        </p:nvSpPr>
        <p:spPr>
          <a:xfrm>
            <a:off x="719667" y="5588001"/>
            <a:ext cx="4563533" cy="554039"/>
          </a:xfrm>
        </p:spPr>
        <p:txBody>
          <a:bodyPr anchor="b" anchorCtr="0"/>
          <a:lstStyle>
            <a:lvl1pPr marL="0" indent="0">
              <a:lnSpc>
                <a:spcPts val="2400"/>
              </a:lnSpc>
              <a:spcAft>
                <a:spcPts val="0"/>
              </a:spcAft>
              <a:buNone/>
              <a:defRPr sz="1867"/>
            </a:lvl1pPr>
          </a:lstStyle>
          <a:p>
            <a:pPr lvl="0"/>
            <a:r>
              <a:rPr lang="de-DE"/>
              <a:t>Formatvorlagen des Textmasters bearbeiten</a:t>
            </a:r>
          </a:p>
        </p:txBody>
      </p:sp>
      <p:sp>
        <p:nvSpPr>
          <p:cNvPr id="7" name="Fußzeilenplatzhalter 12">
            <a:extLst>
              <a:ext uri="{FF2B5EF4-FFF2-40B4-BE49-F238E27FC236}">
                <a16:creationId xmlns:a16="http://schemas.microsoft.com/office/drawing/2014/main" id="{DBCEAC9F-C2FD-C07A-2530-B387BABE810D}"/>
              </a:ext>
            </a:extLst>
          </p:cNvPr>
          <p:cNvSpPr>
            <a:spLocks noGrp="1"/>
          </p:cNvSpPr>
          <p:nvPr>
            <p:ph type="ftr" sz="quarter" idx="3"/>
          </p:nvPr>
        </p:nvSpPr>
        <p:spPr>
          <a:xfrm>
            <a:off x="720001" y="6387004"/>
            <a:ext cx="9167888" cy="266700"/>
          </a:xfrm>
          <a:prstGeom prst="rect">
            <a:avLst/>
          </a:prstGeom>
        </p:spPr>
        <p:txBody>
          <a:bodyPr vert="horz" lIns="0" tIns="0" rIns="0" bIns="0" rtlCol="0" anchor="ctr"/>
          <a:lstStyle>
            <a:lvl1pPr algn="l">
              <a:defRPr sz="1867">
                <a:solidFill>
                  <a:schemeClr val="tx1"/>
                </a:solidFill>
              </a:defRPr>
            </a:lvl1pPr>
          </a:lstStyle>
          <a:p>
            <a:r>
              <a:rPr lang="de-AT" dirty="0"/>
              <a:t>Klimaaktiv Nachweistool Plus-Energie-Quartiere</a:t>
            </a:r>
          </a:p>
        </p:txBody>
      </p:sp>
    </p:spTree>
    <p:extLst>
      <p:ext uri="{BB962C8B-B14F-4D97-AF65-F5344CB8AC3E}">
        <p14:creationId xmlns:p14="http://schemas.microsoft.com/office/powerpoint/2010/main" val="2684753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folie mit 1-zeiligem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DE" dirty="0"/>
          </a:p>
        </p:txBody>
      </p:sp>
      <p:sp>
        <p:nvSpPr>
          <p:cNvPr id="8" name="Textplatzhalter 7"/>
          <p:cNvSpPr>
            <a:spLocks noGrp="1"/>
          </p:cNvSpPr>
          <p:nvPr>
            <p:ph type="body" sz="quarter" idx="13"/>
          </p:nvPr>
        </p:nvSpPr>
        <p:spPr>
          <a:xfrm>
            <a:off x="719668" y="2164802"/>
            <a:ext cx="10638368" cy="3977767"/>
          </a:xfrm>
        </p:spPr>
        <p:txBody>
          <a:bodyPr/>
          <a:lstStyle/>
          <a:p>
            <a:pPr lvl="0"/>
            <a:r>
              <a:rPr lang="de-DE"/>
              <a:t>Formatvorlagen des Textmasters bearbeiten</a:t>
            </a:r>
          </a:p>
          <a:p>
            <a:pPr lvl="1"/>
            <a:r>
              <a:rPr lang="de-DE"/>
              <a:t>Zweite Ebene</a:t>
            </a:r>
          </a:p>
          <a:p>
            <a:pPr lvl="2"/>
            <a:r>
              <a:rPr lang="de-DE"/>
              <a:t>Dritte Ebene</a:t>
            </a:r>
          </a:p>
        </p:txBody>
      </p:sp>
      <p:sp>
        <p:nvSpPr>
          <p:cNvPr id="4" name="Fußzeilenplatzhalter 3"/>
          <p:cNvSpPr>
            <a:spLocks noGrp="1"/>
          </p:cNvSpPr>
          <p:nvPr>
            <p:ph type="ftr" sz="quarter" idx="11"/>
          </p:nvPr>
        </p:nvSpPr>
        <p:spPr>
          <a:xfrm>
            <a:off x="720001" y="6387004"/>
            <a:ext cx="9167888" cy="266700"/>
          </a:xfrm>
          <a:prstGeom prst="rect">
            <a:avLst/>
          </a:prstGeom>
        </p:spPr>
        <p:txBody>
          <a:bodyPr/>
          <a:lstStyle/>
          <a:p>
            <a:r>
              <a:rPr lang="de-AT" dirty="0"/>
              <a:t>Klimaaktiv Nachweistool Plus-Energie-Quartiere</a:t>
            </a:r>
          </a:p>
        </p:txBody>
      </p:sp>
      <p:sp>
        <p:nvSpPr>
          <p:cNvPr id="5" name="Foliennummernplatzhalter 4"/>
          <p:cNvSpPr>
            <a:spLocks noGrp="1"/>
          </p:cNvSpPr>
          <p:nvPr>
            <p:ph type="sldNum" sz="quarter" idx="12"/>
          </p:nvPr>
        </p:nvSpPr>
        <p:spPr>
          <a:xfrm>
            <a:off x="10272006" y="6387004"/>
            <a:ext cx="1086030" cy="266700"/>
          </a:xfrm>
        </p:spPr>
        <p:txBody>
          <a:bodyPr/>
          <a:lstStyle/>
          <a:p>
            <a:fld id="{1206269C-C24E-4E80-9A4B-E7E19BB59A67}" type="slidenum">
              <a:rPr lang="de-AT" smtClean="0"/>
              <a:pPr/>
              <a:t>‹Nr.›</a:t>
            </a:fld>
            <a:endParaRPr lang="de-AT" dirty="0"/>
          </a:p>
        </p:txBody>
      </p:sp>
      <p:sp>
        <p:nvSpPr>
          <p:cNvPr id="6" name="Fußzeilenplatzhalter 12">
            <a:extLst>
              <a:ext uri="{FF2B5EF4-FFF2-40B4-BE49-F238E27FC236}">
                <a16:creationId xmlns:a16="http://schemas.microsoft.com/office/drawing/2014/main" id="{C38F4447-7357-893F-EB3C-A8EDB43FB3A0}"/>
              </a:ext>
            </a:extLst>
          </p:cNvPr>
          <p:cNvSpPr txBox="1">
            <a:spLocks/>
          </p:cNvSpPr>
          <p:nvPr userDrawn="1"/>
        </p:nvSpPr>
        <p:spPr>
          <a:xfrm>
            <a:off x="872399" y="65394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de-AT" sz="1867" dirty="0"/>
          </a:p>
        </p:txBody>
      </p:sp>
    </p:spTree>
    <p:extLst>
      <p:ext uri="{BB962C8B-B14F-4D97-AF65-F5344CB8AC3E}">
        <p14:creationId xmlns:p14="http://schemas.microsoft.com/office/powerpoint/2010/main" val="108749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ild">
    <p:spTree>
      <p:nvGrpSpPr>
        <p:cNvPr id="1" name=""/>
        <p:cNvGrpSpPr/>
        <p:nvPr/>
      </p:nvGrpSpPr>
      <p:grpSpPr>
        <a:xfrm>
          <a:off x="0" y="0"/>
          <a:ext cx="0" cy="0"/>
          <a:chOff x="0" y="0"/>
          <a:chExt cx="0" cy="0"/>
        </a:xfrm>
      </p:grpSpPr>
      <p:sp>
        <p:nvSpPr>
          <p:cNvPr id="2" name="Titel 1"/>
          <p:cNvSpPr>
            <a:spLocks noGrp="1"/>
          </p:cNvSpPr>
          <p:nvPr>
            <p:ph type="title"/>
          </p:nvPr>
        </p:nvSpPr>
        <p:spPr>
          <a:xfrm>
            <a:off x="720003" y="1406402"/>
            <a:ext cx="10638034" cy="829455"/>
          </a:xfrm>
        </p:spPr>
        <p:txBody>
          <a:bodyPr/>
          <a:lstStyle/>
          <a:p>
            <a:r>
              <a:rPr lang="de-DE"/>
              <a:t>Titelmasterformat durch Klicken bearbeiten</a:t>
            </a:r>
            <a:endParaRPr lang="de-DE" dirty="0"/>
          </a:p>
        </p:txBody>
      </p:sp>
      <p:sp>
        <p:nvSpPr>
          <p:cNvPr id="7" name="Bildplatzhalter 6"/>
          <p:cNvSpPr>
            <a:spLocks noGrp="1"/>
          </p:cNvSpPr>
          <p:nvPr>
            <p:ph type="pic" sz="quarter" idx="13"/>
          </p:nvPr>
        </p:nvSpPr>
        <p:spPr>
          <a:xfrm>
            <a:off x="719668" y="2174401"/>
            <a:ext cx="10638368" cy="3968167"/>
          </a:xfrm>
        </p:spPr>
        <p:txBody>
          <a:bodyPr/>
          <a:lstStyle/>
          <a:p>
            <a:r>
              <a:rPr lang="de-DE" dirty="0"/>
              <a:t>Bild durch Klicken auf Symbol hinzufügen</a:t>
            </a:r>
          </a:p>
        </p:txBody>
      </p:sp>
      <p:sp>
        <p:nvSpPr>
          <p:cNvPr id="4" name="Fußzeilenplatzhalter 3"/>
          <p:cNvSpPr>
            <a:spLocks noGrp="1"/>
          </p:cNvSpPr>
          <p:nvPr>
            <p:ph type="ftr" sz="quarter" idx="11"/>
          </p:nvPr>
        </p:nvSpPr>
        <p:spPr>
          <a:xfrm>
            <a:off x="720001" y="6387004"/>
            <a:ext cx="9167888" cy="266700"/>
          </a:xfrm>
          <a:prstGeom prst="rect">
            <a:avLst/>
          </a:prstGeom>
        </p:spPr>
        <p:txBody>
          <a:bodyPr/>
          <a:lstStyle/>
          <a:p>
            <a:r>
              <a:rPr lang="de-AT" dirty="0"/>
              <a:t>Klimaaktiv Nachweistool Plus-Energie-Quartiere</a:t>
            </a:r>
          </a:p>
        </p:txBody>
      </p:sp>
      <p:sp>
        <p:nvSpPr>
          <p:cNvPr id="5" name="Foliennummernplatzhalter 4"/>
          <p:cNvSpPr>
            <a:spLocks noGrp="1"/>
          </p:cNvSpPr>
          <p:nvPr>
            <p:ph type="sldNum" sz="quarter" idx="12"/>
          </p:nvPr>
        </p:nvSpPr>
        <p:spPr/>
        <p:txBody>
          <a:bodyPr/>
          <a:lstStyle/>
          <a:p>
            <a:fld id="{1206269C-C24E-4E80-9A4B-E7E19BB59A67}" type="slidenum">
              <a:rPr lang="de-AT" smtClean="0"/>
              <a:pPr/>
              <a:t>‹Nr.›</a:t>
            </a:fld>
            <a:endParaRPr lang="de-AT" dirty="0"/>
          </a:p>
        </p:txBody>
      </p:sp>
    </p:spTree>
    <p:extLst>
      <p:ext uri="{BB962C8B-B14F-4D97-AF65-F5344CB8AC3E}">
        <p14:creationId xmlns:p14="http://schemas.microsoft.com/office/powerpoint/2010/main" val="3863636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ild + Text nebeneinand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DE" dirty="0"/>
          </a:p>
        </p:txBody>
      </p:sp>
      <p:sp>
        <p:nvSpPr>
          <p:cNvPr id="4" name="Foliennummernplatzhalter 3"/>
          <p:cNvSpPr>
            <a:spLocks noGrp="1"/>
          </p:cNvSpPr>
          <p:nvPr>
            <p:ph type="sldNum" sz="quarter" idx="11"/>
          </p:nvPr>
        </p:nvSpPr>
        <p:spPr/>
        <p:txBody>
          <a:bodyPr/>
          <a:lstStyle/>
          <a:p>
            <a:fld id="{1206269C-C24E-4E80-9A4B-E7E19BB59A67}" type="slidenum">
              <a:rPr lang="de-AT" smtClean="0"/>
              <a:pPr/>
              <a:t>‹Nr.›</a:t>
            </a:fld>
            <a:endParaRPr lang="de-AT" dirty="0"/>
          </a:p>
        </p:txBody>
      </p:sp>
      <p:sp>
        <p:nvSpPr>
          <p:cNvPr id="5" name="Bildplatzhalter 6"/>
          <p:cNvSpPr>
            <a:spLocks noGrp="1"/>
          </p:cNvSpPr>
          <p:nvPr>
            <p:ph type="pic" sz="quarter" idx="13"/>
          </p:nvPr>
        </p:nvSpPr>
        <p:spPr>
          <a:xfrm>
            <a:off x="719669" y="2174401"/>
            <a:ext cx="5084233" cy="3968167"/>
          </a:xfrm>
        </p:spPr>
        <p:txBody>
          <a:bodyPr/>
          <a:lstStyle/>
          <a:p>
            <a:r>
              <a:rPr lang="de-DE" dirty="0"/>
              <a:t>Bild durch Klicken auf Symbol hinzufügen</a:t>
            </a:r>
          </a:p>
        </p:txBody>
      </p:sp>
      <p:sp>
        <p:nvSpPr>
          <p:cNvPr id="7" name="Textplatzhalter 6"/>
          <p:cNvSpPr>
            <a:spLocks noGrp="1"/>
          </p:cNvSpPr>
          <p:nvPr>
            <p:ph type="body" sz="quarter" idx="14"/>
          </p:nvPr>
        </p:nvSpPr>
        <p:spPr>
          <a:xfrm>
            <a:off x="6274834" y="2174401"/>
            <a:ext cx="5083200" cy="3968167"/>
          </a:xfrm>
        </p:spPr>
        <p:txBody>
          <a:bodyPr/>
          <a:lstStyle/>
          <a:p>
            <a:pPr lvl="0"/>
            <a:r>
              <a:rPr lang="de-DE"/>
              <a:t>Formatvorlagen des Textmasters bearbeiten</a:t>
            </a:r>
          </a:p>
        </p:txBody>
      </p:sp>
      <p:sp>
        <p:nvSpPr>
          <p:cNvPr id="8" name="Fußzeilenplatzhalter 12">
            <a:extLst>
              <a:ext uri="{FF2B5EF4-FFF2-40B4-BE49-F238E27FC236}">
                <a16:creationId xmlns:a16="http://schemas.microsoft.com/office/drawing/2014/main" id="{996D3A74-3DEC-36D4-9CD5-869D4036A20C}"/>
              </a:ext>
            </a:extLst>
          </p:cNvPr>
          <p:cNvSpPr>
            <a:spLocks noGrp="1"/>
          </p:cNvSpPr>
          <p:nvPr>
            <p:ph type="ftr" sz="quarter" idx="3"/>
          </p:nvPr>
        </p:nvSpPr>
        <p:spPr>
          <a:xfrm>
            <a:off x="720001" y="6387004"/>
            <a:ext cx="9167888" cy="266700"/>
          </a:xfrm>
          <a:prstGeom prst="rect">
            <a:avLst/>
          </a:prstGeom>
        </p:spPr>
        <p:txBody>
          <a:bodyPr vert="horz" lIns="0" tIns="0" rIns="0" bIns="0" rtlCol="0" anchor="ctr"/>
          <a:lstStyle>
            <a:lvl1pPr algn="l">
              <a:defRPr sz="1867">
                <a:solidFill>
                  <a:schemeClr val="tx1"/>
                </a:solidFill>
              </a:defRPr>
            </a:lvl1pPr>
          </a:lstStyle>
          <a:p>
            <a:r>
              <a:rPr lang="de-AT" dirty="0"/>
              <a:t>Klimaaktiv Nachweistool Plus-Energie-Quartiere</a:t>
            </a:r>
          </a:p>
        </p:txBody>
      </p:sp>
    </p:spTree>
    <p:extLst>
      <p:ext uri="{BB962C8B-B14F-4D97-AF65-F5344CB8AC3E}">
        <p14:creationId xmlns:p14="http://schemas.microsoft.com/office/powerpoint/2010/main" val="4047900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Inhalte beliebig - nebeneinand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4" name="Foliennummernplatzhalter 3"/>
          <p:cNvSpPr>
            <a:spLocks noGrp="1"/>
          </p:cNvSpPr>
          <p:nvPr>
            <p:ph type="sldNum" sz="quarter" idx="11"/>
          </p:nvPr>
        </p:nvSpPr>
        <p:spPr/>
        <p:txBody>
          <a:bodyPr/>
          <a:lstStyle/>
          <a:p>
            <a:fld id="{1206269C-C24E-4E80-9A4B-E7E19BB59A67}" type="slidenum">
              <a:rPr lang="de-AT" smtClean="0"/>
              <a:pPr/>
              <a:t>‹Nr.›</a:t>
            </a:fld>
            <a:endParaRPr lang="de-AT" dirty="0"/>
          </a:p>
        </p:txBody>
      </p:sp>
      <p:sp>
        <p:nvSpPr>
          <p:cNvPr id="8" name="Inhaltsplatzhalter 7"/>
          <p:cNvSpPr>
            <a:spLocks noGrp="1"/>
          </p:cNvSpPr>
          <p:nvPr>
            <p:ph sz="quarter" idx="15"/>
          </p:nvPr>
        </p:nvSpPr>
        <p:spPr>
          <a:xfrm>
            <a:off x="720001" y="2174401"/>
            <a:ext cx="5118101" cy="3968167"/>
          </a:xfrm>
        </p:spPr>
        <p:txBody>
          <a:bodyPr/>
          <a:lstStyle/>
          <a:p>
            <a:pPr lvl="0"/>
            <a:r>
              <a:rPr lang="de-DE"/>
              <a:t>Formatvorlagen des Textmasters bearbeiten</a:t>
            </a:r>
          </a:p>
          <a:p>
            <a:pPr lvl="1"/>
            <a:r>
              <a:rPr lang="de-DE"/>
              <a:t>Zweite Ebene</a:t>
            </a:r>
          </a:p>
          <a:p>
            <a:pPr lvl="2"/>
            <a:r>
              <a:rPr lang="de-DE"/>
              <a:t>Dritte Ebene</a:t>
            </a:r>
          </a:p>
        </p:txBody>
      </p:sp>
      <p:sp>
        <p:nvSpPr>
          <p:cNvPr id="9" name="Inhaltsplatzhalter 7"/>
          <p:cNvSpPr>
            <a:spLocks noGrp="1"/>
          </p:cNvSpPr>
          <p:nvPr>
            <p:ph sz="quarter" idx="16"/>
          </p:nvPr>
        </p:nvSpPr>
        <p:spPr>
          <a:xfrm>
            <a:off x="6239935" y="2174401"/>
            <a:ext cx="5118101" cy="3968167"/>
          </a:xfrm>
        </p:spPr>
        <p:txBody>
          <a:bodyPr/>
          <a:lstStyle/>
          <a:p>
            <a:pPr lvl="0"/>
            <a:r>
              <a:rPr lang="de-DE"/>
              <a:t>Formatvorlagen des Textmasters bearbeiten</a:t>
            </a:r>
          </a:p>
          <a:p>
            <a:pPr lvl="1"/>
            <a:r>
              <a:rPr lang="de-DE"/>
              <a:t>Zweite Ebene</a:t>
            </a:r>
          </a:p>
          <a:p>
            <a:pPr lvl="2"/>
            <a:r>
              <a:rPr lang="de-DE"/>
              <a:t>Dritte Ebene</a:t>
            </a:r>
          </a:p>
        </p:txBody>
      </p:sp>
      <p:sp>
        <p:nvSpPr>
          <p:cNvPr id="5" name="Fußzeilenplatzhalter 12">
            <a:extLst>
              <a:ext uri="{FF2B5EF4-FFF2-40B4-BE49-F238E27FC236}">
                <a16:creationId xmlns:a16="http://schemas.microsoft.com/office/drawing/2014/main" id="{A6F60197-CA56-E3FC-1F5B-CFD61FED5DCA}"/>
              </a:ext>
            </a:extLst>
          </p:cNvPr>
          <p:cNvSpPr>
            <a:spLocks noGrp="1"/>
          </p:cNvSpPr>
          <p:nvPr>
            <p:ph type="ftr" sz="quarter" idx="3"/>
          </p:nvPr>
        </p:nvSpPr>
        <p:spPr>
          <a:xfrm>
            <a:off x="720001" y="6387004"/>
            <a:ext cx="9167888" cy="266700"/>
          </a:xfrm>
          <a:prstGeom prst="rect">
            <a:avLst/>
          </a:prstGeom>
        </p:spPr>
        <p:txBody>
          <a:bodyPr vert="horz" lIns="0" tIns="0" rIns="0" bIns="0" rtlCol="0" anchor="ctr"/>
          <a:lstStyle>
            <a:lvl1pPr algn="l">
              <a:defRPr sz="1867">
                <a:solidFill>
                  <a:schemeClr val="tx1"/>
                </a:solidFill>
              </a:defRPr>
            </a:lvl1pPr>
          </a:lstStyle>
          <a:p>
            <a:r>
              <a:rPr lang="de-AT" dirty="0"/>
              <a:t>Klimaaktiv Nachweistool Plus-Energie-Quartiere</a:t>
            </a:r>
          </a:p>
        </p:txBody>
      </p:sp>
    </p:spTree>
    <p:extLst>
      <p:ext uri="{BB962C8B-B14F-4D97-AF65-F5344CB8AC3E}">
        <p14:creationId xmlns:p14="http://schemas.microsoft.com/office/powerpoint/2010/main" val="771817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beliebig mit 1-zeiligem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9" name="Inhaltsplatzhalter 8"/>
          <p:cNvSpPr>
            <a:spLocks noGrp="1"/>
          </p:cNvSpPr>
          <p:nvPr>
            <p:ph sz="quarter" idx="13"/>
          </p:nvPr>
        </p:nvSpPr>
        <p:spPr>
          <a:xfrm>
            <a:off x="719668" y="2174401"/>
            <a:ext cx="10638368" cy="3968167"/>
          </a:xfrm>
        </p:spPr>
        <p:txBody>
          <a:bodyPr/>
          <a:lstStyle/>
          <a:p>
            <a:pPr lvl="0"/>
            <a:r>
              <a:rPr lang="de-DE"/>
              <a:t>Formatvorlagen des Textmasters bearbeiten</a:t>
            </a:r>
          </a:p>
          <a:p>
            <a:pPr lvl="1"/>
            <a:r>
              <a:rPr lang="de-DE"/>
              <a:t>Zweite Ebene</a:t>
            </a:r>
          </a:p>
          <a:p>
            <a:pPr lvl="2"/>
            <a:r>
              <a:rPr lang="de-DE"/>
              <a:t>Dritte Ebene</a:t>
            </a:r>
          </a:p>
        </p:txBody>
      </p:sp>
      <p:sp>
        <p:nvSpPr>
          <p:cNvPr id="4" name="Fußzeilenplatzhalter 3"/>
          <p:cNvSpPr>
            <a:spLocks noGrp="1"/>
          </p:cNvSpPr>
          <p:nvPr>
            <p:ph type="ftr" sz="quarter" idx="11"/>
          </p:nvPr>
        </p:nvSpPr>
        <p:spPr>
          <a:xfrm>
            <a:off x="720001" y="6387004"/>
            <a:ext cx="9167888" cy="266700"/>
          </a:xfrm>
          <a:prstGeom prst="rect">
            <a:avLst/>
          </a:prstGeom>
        </p:spPr>
        <p:txBody>
          <a:bodyPr/>
          <a:lstStyle/>
          <a:p>
            <a:r>
              <a:rPr lang="de-AT" dirty="0"/>
              <a:t>Klimaaktiv Nachweistool Plus-Energie-Quartiere</a:t>
            </a:r>
          </a:p>
        </p:txBody>
      </p:sp>
      <p:sp>
        <p:nvSpPr>
          <p:cNvPr id="5" name="Foliennummernplatzhalter 4"/>
          <p:cNvSpPr>
            <a:spLocks noGrp="1"/>
          </p:cNvSpPr>
          <p:nvPr>
            <p:ph type="sldNum" sz="quarter" idx="12"/>
          </p:nvPr>
        </p:nvSpPr>
        <p:spPr/>
        <p:txBody>
          <a:bodyPr/>
          <a:lstStyle/>
          <a:p>
            <a:fld id="{1206269C-C24E-4E80-9A4B-E7E19BB59A67}" type="slidenum">
              <a:rPr lang="de-AT" smtClean="0"/>
              <a:pPr/>
              <a:t>‹Nr.›</a:t>
            </a:fld>
            <a:endParaRPr lang="de-AT" dirty="0"/>
          </a:p>
        </p:txBody>
      </p:sp>
    </p:spTree>
    <p:extLst>
      <p:ext uri="{BB962C8B-B14F-4D97-AF65-F5344CB8AC3E}">
        <p14:creationId xmlns:p14="http://schemas.microsoft.com/office/powerpoint/2010/main" val="3819766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d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719999" y="1339240"/>
            <a:ext cx="7185600" cy="1417608"/>
          </a:xfrm>
        </p:spPr>
        <p:txBody>
          <a:bodyPr/>
          <a:lstStyle>
            <a:lvl1pPr>
              <a:lnSpc>
                <a:spcPts val="5333"/>
              </a:lnSpc>
              <a:defRPr sz="4000" b="0">
                <a:solidFill>
                  <a:schemeClr val="tx1"/>
                </a:solidFill>
              </a:defRPr>
            </a:lvl1pPr>
          </a:lstStyle>
          <a:p>
            <a:r>
              <a:rPr lang="de-DE" dirty="0"/>
              <a:t>Titelmasterformat durch Klicken </a:t>
            </a:r>
            <a:br>
              <a:rPr lang="de-DE" dirty="0"/>
            </a:br>
            <a:r>
              <a:rPr lang="de-DE" dirty="0"/>
              <a:t>bearbeiten</a:t>
            </a:r>
          </a:p>
        </p:txBody>
      </p:sp>
      <p:sp>
        <p:nvSpPr>
          <p:cNvPr id="9" name="Textplatzhalter 8"/>
          <p:cNvSpPr>
            <a:spLocks noGrp="1"/>
          </p:cNvSpPr>
          <p:nvPr>
            <p:ph type="body" sz="quarter" idx="10"/>
          </p:nvPr>
        </p:nvSpPr>
        <p:spPr>
          <a:xfrm>
            <a:off x="719667" y="4857751"/>
            <a:ext cx="4564800" cy="1284288"/>
          </a:xfrm>
        </p:spPr>
        <p:txBody>
          <a:bodyPr anchor="b" anchorCtr="0"/>
          <a:lstStyle>
            <a:lvl1pPr marL="0" indent="0">
              <a:lnSpc>
                <a:spcPts val="2400"/>
              </a:lnSpc>
              <a:spcAft>
                <a:spcPts val="0"/>
              </a:spcAft>
              <a:buNone/>
              <a:defRPr sz="1867"/>
            </a:lvl1pPr>
          </a:lstStyle>
          <a:p>
            <a:pPr lvl="0"/>
            <a:r>
              <a:rPr lang="de-DE"/>
              <a:t>Formatvorlagen des Textmasters bearbeiten</a:t>
            </a:r>
          </a:p>
        </p:txBody>
      </p:sp>
    </p:spTree>
    <p:extLst>
      <p:ext uri="{BB962C8B-B14F-4D97-AF65-F5344CB8AC3E}">
        <p14:creationId xmlns:p14="http://schemas.microsoft.com/office/powerpoint/2010/main" val="2394153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userDrawn="1">
  <p:cSld name="Interne/formlose Folie">
    <p:spTree>
      <p:nvGrpSpPr>
        <p:cNvPr id="1" name=""/>
        <p:cNvGrpSpPr/>
        <p:nvPr/>
      </p:nvGrpSpPr>
      <p:grpSpPr bwMode="auto">
        <a:xfrm>
          <a:off x="0" y="0"/>
          <a:ext cx="0" cy="0"/>
          <a:chOff x="0" y="0"/>
          <a:chExt cx="0" cy="0"/>
        </a:xfrm>
      </p:grpSpPr>
      <p:sp>
        <p:nvSpPr>
          <p:cNvPr id="4" name="Titel 1"/>
          <p:cNvSpPr>
            <a:spLocks noGrp="1"/>
          </p:cNvSpPr>
          <p:nvPr>
            <p:ph type="title" hasCustomPrompt="1"/>
          </p:nvPr>
        </p:nvSpPr>
        <p:spPr bwMode="auto">
          <a:xfrm>
            <a:off x="239710" y="317214"/>
            <a:ext cx="11671394" cy="622300"/>
          </a:xfrm>
        </p:spPr>
        <p:txBody>
          <a:bodyPr lIns="0"/>
          <a:lstStyle>
            <a:lvl1pPr>
              <a:defRPr>
                <a:solidFill>
                  <a:schemeClr val="tx1"/>
                </a:solidFill>
                <a:latin typeface="Bahnschrift" panose="020B0502040204020203" pitchFamily="34" charset="0"/>
              </a:defRPr>
            </a:lvl1pPr>
          </a:lstStyle>
          <a:p>
            <a:pPr>
              <a:defRPr/>
            </a:pPr>
            <a:r>
              <a:rPr lang="de-DE"/>
              <a:t>Interne / formlose Präsentation</a:t>
            </a:r>
            <a:endParaRPr lang="de-AT"/>
          </a:p>
        </p:txBody>
      </p:sp>
      <p:sp>
        <p:nvSpPr>
          <p:cNvPr id="6" name="Rectangle 6"/>
          <p:cNvSpPr>
            <a:spLocks noGrp="1" noChangeArrowheads="1"/>
          </p:cNvSpPr>
          <p:nvPr>
            <p:ph type="sldNum" sz="quarter" idx="10"/>
          </p:nvPr>
        </p:nvSpPr>
        <p:spPr bwMode="auto">
          <a:xfrm>
            <a:off x="8110081" y="6327238"/>
            <a:ext cx="1237032" cy="476250"/>
          </a:xfrm>
          <a:ln/>
        </p:spPr>
        <p:txBody>
          <a:bodyPr/>
          <a:lstStyle>
            <a:lvl1pPr>
              <a:defRPr sz="1000">
                <a:solidFill>
                  <a:schemeClr val="tx1"/>
                </a:solidFill>
                <a:latin typeface="+mj-lt"/>
              </a:defRPr>
            </a:lvl1pPr>
          </a:lstStyle>
          <a:p>
            <a:pPr defTabSz="914339">
              <a:defRPr/>
            </a:pPr>
            <a:endParaRPr lang="de-AT" kern="0">
              <a:solidFill>
                <a:prstClr val="black"/>
              </a:solidFill>
              <a:latin typeface="Calibri Light"/>
              <a:cs typeface="Arial"/>
            </a:endParaRPr>
          </a:p>
          <a:p>
            <a:pPr>
              <a:defRPr/>
            </a:pPr>
            <a:fld id="{6DF1416F-3104-4888-B9E3-BED4C99BC5D9}" type="slidenum">
              <a:rPr lang="de-AT" sz="800" kern="0" smtClean="0">
                <a:solidFill>
                  <a:srgbClr val="626B71"/>
                </a:solidFill>
                <a:latin typeface="Calibri Light"/>
                <a:cs typeface="Arial"/>
              </a:rPr>
              <a:pPr>
                <a:defRPr/>
              </a:pPr>
              <a:t>‹Nr.›</a:t>
            </a:fld>
            <a:endParaRPr lang="de-AT" sz="800" kern="0" dirty="0">
              <a:solidFill>
                <a:srgbClr val="626B71"/>
              </a:solidFill>
              <a:latin typeface="Calibri Light"/>
              <a:cs typeface="Arial"/>
            </a:endParaRPr>
          </a:p>
        </p:txBody>
      </p:sp>
      <p:pic>
        <p:nvPicPr>
          <p:cNvPr id="10" name="Grafik 8"/>
          <p:cNvPicPr>
            <a:picLocks noChangeAspect="1"/>
          </p:cNvPicPr>
          <p:nvPr userDrawn="1"/>
        </p:nvPicPr>
        <p:blipFill>
          <a:blip r:embed="rId2"/>
          <a:stretch/>
        </p:blipFill>
        <p:spPr bwMode="auto">
          <a:xfrm>
            <a:off x="11126832" y="6280363"/>
            <a:ext cx="1053216" cy="570003"/>
          </a:xfrm>
          <a:prstGeom prst="rect">
            <a:avLst/>
          </a:prstGeom>
        </p:spPr>
      </p:pic>
      <p:pic>
        <p:nvPicPr>
          <p:cNvPr id="3" name="Grafik 2">
            <a:extLst>
              <a:ext uri="{FF2B5EF4-FFF2-40B4-BE49-F238E27FC236}">
                <a16:creationId xmlns:a16="http://schemas.microsoft.com/office/drawing/2014/main" id="{7A032F0F-416B-70E8-56F4-FC924B6FB8AF}"/>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9528009" y="6295497"/>
            <a:ext cx="1598824" cy="490579"/>
          </a:xfrm>
          <a:prstGeom prst="rect">
            <a:avLst/>
          </a:prstGeom>
        </p:spPr>
      </p:pic>
      <p:sp>
        <p:nvSpPr>
          <p:cNvPr id="11" name="Inhaltsplatzhalter 2">
            <a:extLst>
              <a:ext uri="{FF2B5EF4-FFF2-40B4-BE49-F238E27FC236}">
                <a16:creationId xmlns:a16="http://schemas.microsoft.com/office/drawing/2014/main" id="{BCA78159-342C-BCF6-F117-116DD689D753}"/>
              </a:ext>
            </a:extLst>
          </p:cNvPr>
          <p:cNvSpPr>
            <a:spLocks noGrp="1"/>
          </p:cNvSpPr>
          <p:nvPr>
            <p:ph idx="1"/>
          </p:nvPr>
        </p:nvSpPr>
        <p:spPr bwMode="auto">
          <a:xfrm>
            <a:off x="239713" y="1628800"/>
            <a:ext cx="11952288" cy="4391003"/>
          </a:xfrm>
        </p:spPr>
        <p:txBody>
          <a:bodyPr/>
          <a:lstStyle>
            <a:lvl1pPr marL="342877" indent="-342877">
              <a:lnSpc>
                <a:spcPct val="150000"/>
              </a:lnSpc>
              <a:buClr>
                <a:schemeClr val="accent6"/>
              </a:buClr>
              <a:buFont typeface="Calibri"/>
              <a:buChar char="⌂"/>
              <a:defRPr>
                <a:solidFill>
                  <a:schemeClr val="tx1"/>
                </a:solidFill>
                <a:latin typeface="Bahnschrift" panose="020B0502040204020203" pitchFamily="34" charset="0"/>
              </a:defRPr>
            </a:lvl1pPr>
            <a:lvl2pPr marL="742900" indent="-285731">
              <a:lnSpc>
                <a:spcPct val="150000"/>
              </a:lnSpc>
              <a:buClr>
                <a:schemeClr val="accent6"/>
              </a:buClr>
              <a:buFontTx/>
              <a:buChar char="►"/>
              <a:defRPr>
                <a:solidFill>
                  <a:schemeClr val="tx1"/>
                </a:solidFill>
                <a:latin typeface="Bahnschrift" panose="020B0502040204020203" pitchFamily="34" charset="0"/>
              </a:defRPr>
            </a:lvl2pPr>
            <a:lvl3pPr>
              <a:lnSpc>
                <a:spcPct val="150000"/>
              </a:lnSpc>
              <a:buClr>
                <a:schemeClr val="accent6"/>
              </a:buClr>
              <a:buSzPct val="120000"/>
              <a:defRPr>
                <a:solidFill>
                  <a:schemeClr val="tx1"/>
                </a:solidFill>
                <a:latin typeface="Bahnschrift" panose="020B0502040204020203" pitchFamily="34" charset="0"/>
              </a:defRPr>
            </a:lvl3pPr>
            <a:lvl4pPr>
              <a:lnSpc>
                <a:spcPct val="150000"/>
              </a:lnSpc>
              <a:buClr>
                <a:schemeClr val="accent6"/>
              </a:buClr>
              <a:defRPr>
                <a:solidFill>
                  <a:schemeClr val="tx1"/>
                </a:solidFill>
                <a:latin typeface="Bahnschrift" panose="020B0502040204020203" pitchFamily="34" charset="0"/>
              </a:defRPr>
            </a:lvl4pPr>
            <a:lvl5pPr>
              <a:lnSpc>
                <a:spcPct val="150000"/>
              </a:lnSpc>
              <a:buClr>
                <a:schemeClr val="accent6"/>
              </a:buClr>
              <a:defRPr>
                <a:solidFill>
                  <a:schemeClr val="tx1"/>
                </a:solidFill>
                <a:latin typeface="Bahnschrift" panose="020B0502040204020203" pitchFamily="34" charset="0"/>
              </a:defRPr>
            </a:lvl5pPr>
          </a:lstStyle>
          <a:p>
            <a:pPr lvl="0">
              <a:defRPr/>
            </a:pPr>
            <a:r>
              <a:rPr lang="de-DE"/>
              <a:t>Textmasterformat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lang="de-AT"/>
          </a:p>
        </p:txBody>
      </p:sp>
    </p:spTree>
    <p:extLst>
      <p:ext uri="{BB962C8B-B14F-4D97-AF65-F5344CB8AC3E}">
        <p14:creationId xmlns:p14="http://schemas.microsoft.com/office/powerpoint/2010/main" val="3859213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extfolie mit 1-zeiligem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chemeClr val="accent1"/>
                </a:solidFill>
              </a:defRPr>
            </a:lvl1pPr>
          </a:lstStyle>
          <a:p>
            <a:r>
              <a:rPr lang="de-DE"/>
              <a:t>Titelmasterformat durch Klicken bearbeiten</a:t>
            </a:r>
            <a:endParaRPr lang="de-DE" dirty="0"/>
          </a:p>
        </p:txBody>
      </p:sp>
      <p:sp>
        <p:nvSpPr>
          <p:cNvPr id="8" name="Textplatzhalter 7"/>
          <p:cNvSpPr>
            <a:spLocks noGrp="1"/>
          </p:cNvSpPr>
          <p:nvPr>
            <p:ph type="body" sz="quarter" idx="13"/>
          </p:nvPr>
        </p:nvSpPr>
        <p:spPr>
          <a:xfrm>
            <a:off x="719668" y="2390400"/>
            <a:ext cx="10638368" cy="3753600"/>
          </a:xfrm>
        </p:spPr>
        <p:txBody>
          <a:bodyPr/>
          <a:lstStyle/>
          <a:p>
            <a:pPr lvl="0"/>
            <a:r>
              <a:rPr lang="de-DE"/>
              <a:t>Formatvorlagen des Textmasters bearbeiten</a:t>
            </a:r>
          </a:p>
          <a:p>
            <a:pPr lvl="1"/>
            <a:r>
              <a:rPr lang="de-DE"/>
              <a:t>Zweite Ebene</a:t>
            </a:r>
          </a:p>
          <a:p>
            <a:pPr lvl="2"/>
            <a:r>
              <a:rPr lang="de-DE"/>
              <a:t>Dritte Ebene</a:t>
            </a:r>
          </a:p>
        </p:txBody>
      </p:sp>
      <p:sp>
        <p:nvSpPr>
          <p:cNvPr id="4" name="Fußzeilenplatzhalter 3"/>
          <p:cNvSpPr>
            <a:spLocks noGrp="1"/>
          </p:cNvSpPr>
          <p:nvPr>
            <p:ph type="ftr" sz="quarter" idx="11"/>
          </p:nvPr>
        </p:nvSpPr>
        <p:spPr>
          <a:xfrm>
            <a:off x="4038601" y="6356351"/>
            <a:ext cx="4114799" cy="365125"/>
          </a:xfrm>
          <a:prstGeom prst="rect">
            <a:avLst/>
          </a:prstGeom>
        </p:spPr>
        <p:txBody>
          <a:bodyPr/>
          <a:lstStyle/>
          <a:p>
            <a:r>
              <a:rPr lang="de-AT" dirty="0"/>
              <a:t>klima</a:t>
            </a:r>
            <a:r>
              <a:rPr lang="de-AT" b="1" dirty="0"/>
              <a:t>aktiv</a:t>
            </a:r>
            <a:r>
              <a:rPr lang="de-AT" dirty="0"/>
              <a:t> Siedlungen und Quartiere</a:t>
            </a:r>
          </a:p>
        </p:txBody>
      </p:sp>
      <p:sp>
        <p:nvSpPr>
          <p:cNvPr id="5" name="Foliennummernplatzhalter 4"/>
          <p:cNvSpPr>
            <a:spLocks noGrp="1"/>
          </p:cNvSpPr>
          <p:nvPr>
            <p:ph type="sldNum" sz="quarter" idx="12"/>
          </p:nvPr>
        </p:nvSpPr>
        <p:spPr>
          <a:xfrm>
            <a:off x="10272006" y="6387004"/>
            <a:ext cx="1086030" cy="266700"/>
          </a:xfrm>
        </p:spPr>
        <p:txBody>
          <a:bodyPr/>
          <a:lstStyle/>
          <a:p>
            <a:fld id="{1206269C-C24E-4E80-9A4B-E7E19BB59A67}" type="slidenum">
              <a:rPr lang="de-AT" smtClean="0"/>
              <a:pPr/>
              <a:t>‹Nr.›</a:t>
            </a:fld>
            <a:endParaRPr lang="de-AT" dirty="0"/>
          </a:p>
        </p:txBody>
      </p:sp>
    </p:spTree>
    <p:extLst>
      <p:ext uri="{BB962C8B-B14F-4D97-AF65-F5344CB8AC3E}">
        <p14:creationId xmlns:p14="http://schemas.microsoft.com/office/powerpoint/2010/main" val="980863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userDrawn="1">
  <p:cSld name="Extern/Formell">
    <p:spTree>
      <p:nvGrpSpPr>
        <p:cNvPr id="1" name=""/>
        <p:cNvGrpSpPr/>
        <p:nvPr/>
      </p:nvGrpSpPr>
      <p:grpSpPr bwMode="auto">
        <a:xfrm>
          <a:off x="0" y="0"/>
          <a:ext cx="0" cy="0"/>
          <a:chOff x="0" y="0"/>
          <a:chExt cx="0" cy="0"/>
        </a:xfrm>
      </p:grpSpPr>
      <p:sp>
        <p:nvSpPr>
          <p:cNvPr id="4" name="Titel 1"/>
          <p:cNvSpPr>
            <a:spLocks noGrp="1"/>
          </p:cNvSpPr>
          <p:nvPr>
            <p:ph type="title" hasCustomPrompt="1"/>
          </p:nvPr>
        </p:nvSpPr>
        <p:spPr bwMode="auto">
          <a:xfrm>
            <a:off x="239710" y="317214"/>
            <a:ext cx="11671394" cy="622300"/>
          </a:xfrm>
        </p:spPr>
        <p:txBody>
          <a:bodyPr lIns="0"/>
          <a:lstStyle>
            <a:lvl1pPr>
              <a:defRPr>
                <a:solidFill>
                  <a:schemeClr val="tx1"/>
                </a:solidFill>
                <a:latin typeface="Bahnschrift" panose="020B0502040204020203" pitchFamily="34" charset="0"/>
              </a:defRPr>
            </a:lvl1pPr>
          </a:lstStyle>
          <a:p>
            <a:pPr>
              <a:defRPr/>
            </a:pPr>
            <a:r>
              <a:rPr lang="de-DE"/>
              <a:t>Externe/formelle Präsentation</a:t>
            </a:r>
            <a:endParaRPr lang="de-AT"/>
          </a:p>
        </p:txBody>
      </p:sp>
      <p:sp>
        <p:nvSpPr>
          <p:cNvPr id="6" name="Rectangle 6"/>
          <p:cNvSpPr>
            <a:spLocks noGrp="1" noChangeArrowheads="1"/>
          </p:cNvSpPr>
          <p:nvPr>
            <p:ph type="sldNum" sz="quarter" idx="10"/>
          </p:nvPr>
        </p:nvSpPr>
        <p:spPr bwMode="auto">
          <a:xfrm>
            <a:off x="9130939" y="6349684"/>
            <a:ext cx="1237032" cy="476250"/>
          </a:xfrm>
          <a:ln/>
        </p:spPr>
        <p:txBody>
          <a:bodyPr/>
          <a:lstStyle>
            <a:lvl1pPr>
              <a:defRPr sz="1000">
                <a:solidFill>
                  <a:schemeClr val="tx1"/>
                </a:solidFill>
                <a:latin typeface="+mj-lt"/>
              </a:defRPr>
            </a:lvl1pPr>
          </a:lstStyle>
          <a:p>
            <a:pPr defTabSz="914339">
              <a:defRPr/>
            </a:pPr>
            <a:endParaRPr lang="de-AT" kern="0">
              <a:solidFill>
                <a:prstClr val="black"/>
              </a:solidFill>
              <a:latin typeface="Calibri Light"/>
              <a:cs typeface="Arial"/>
            </a:endParaRPr>
          </a:p>
          <a:p>
            <a:pPr>
              <a:defRPr/>
            </a:pPr>
            <a:fld id="{6DF1416F-3104-4888-B9E3-BED4C99BC5D9}" type="slidenum">
              <a:rPr lang="de-AT" sz="800" kern="0" smtClean="0">
                <a:solidFill>
                  <a:srgbClr val="626B71"/>
                </a:solidFill>
                <a:latin typeface="Calibri Light"/>
                <a:cs typeface="Arial"/>
              </a:rPr>
              <a:pPr>
                <a:defRPr/>
              </a:pPr>
              <a:t>‹Nr.›</a:t>
            </a:fld>
            <a:endParaRPr lang="de-AT" sz="800" kern="0" dirty="0">
              <a:solidFill>
                <a:srgbClr val="626B71"/>
              </a:solidFill>
              <a:latin typeface="Calibri Light"/>
              <a:cs typeface="Arial"/>
            </a:endParaRPr>
          </a:p>
        </p:txBody>
      </p:sp>
      <p:cxnSp>
        <p:nvCxnSpPr>
          <p:cNvPr id="8" name="Gerade Verbindung 5"/>
          <p:cNvCxnSpPr>
            <a:cxnSpLocks/>
          </p:cNvCxnSpPr>
          <p:nvPr userDrawn="1"/>
        </p:nvCxnSpPr>
        <p:spPr bwMode="auto">
          <a:xfrm flipH="1">
            <a:off x="88292" y="6282021"/>
            <a:ext cx="12091757"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Grafik 8"/>
          <p:cNvPicPr>
            <a:picLocks noChangeAspect="1"/>
          </p:cNvPicPr>
          <p:nvPr userDrawn="1"/>
        </p:nvPicPr>
        <p:blipFill>
          <a:blip r:embed="rId2"/>
          <a:stretch/>
        </p:blipFill>
        <p:spPr bwMode="auto">
          <a:xfrm>
            <a:off x="1" y="6297523"/>
            <a:ext cx="1053216" cy="570003"/>
          </a:xfrm>
          <a:prstGeom prst="rect">
            <a:avLst/>
          </a:prstGeom>
        </p:spPr>
      </p:pic>
      <p:pic>
        <p:nvPicPr>
          <p:cNvPr id="3" name="Grafik 2">
            <a:extLst>
              <a:ext uri="{FF2B5EF4-FFF2-40B4-BE49-F238E27FC236}">
                <a16:creationId xmlns:a16="http://schemas.microsoft.com/office/drawing/2014/main" id="{7A032F0F-416B-70E8-56F4-FC924B6FB8AF}"/>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0504887" y="6290294"/>
            <a:ext cx="1598824" cy="490579"/>
          </a:xfrm>
          <a:prstGeom prst="rect">
            <a:avLst/>
          </a:prstGeom>
        </p:spPr>
      </p:pic>
      <p:sp>
        <p:nvSpPr>
          <p:cNvPr id="9" name="Textfeld 7"/>
          <p:cNvSpPr>
            <a:spLocks noAdjustHandles="1"/>
          </p:cNvSpPr>
          <p:nvPr userDrawn="1"/>
        </p:nvSpPr>
        <p:spPr bwMode="auto">
          <a:xfrm>
            <a:off x="1083433" y="6268948"/>
            <a:ext cx="10264844" cy="553998"/>
          </a:xfrm>
          <a:prstGeom prst="rect">
            <a:avLst/>
          </a:prstGeom>
          <a:noFill/>
        </p:spPr>
        <p:txBody>
          <a:bodyPr wrap="square" lIns="0" rtlCol="0">
            <a:spAutoFit/>
          </a:bodyPr>
          <a:lstStyle/>
          <a:p>
            <a:pPr marL="0" marR="0" lvl="0" indent="0" algn="l" defTabSz="914339" rtl="0" eaLnBrk="1" fontAlgn="auto" latinLnBrk="0" hangingPunct="1">
              <a:lnSpc>
                <a:spcPct val="100000"/>
              </a:lnSpc>
              <a:spcBef>
                <a:spcPts val="0"/>
              </a:spcBef>
              <a:spcAft>
                <a:spcPts val="0"/>
              </a:spcAft>
              <a:buClrTx/>
              <a:buSzTx/>
              <a:buFontTx/>
              <a:buNone/>
              <a:tabLst/>
              <a:defRPr/>
            </a:pPr>
            <a:r>
              <a:rPr kumimoji="0" lang="de-DE" sz="1000" b="0" i="0" u="none" strike="noStrike" kern="0" cap="none" spc="0" normalizeH="0" baseline="0" noProof="0" dirty="0">
                <a:ln>
                  <a:noFill/>
                </a:ln>
                <a:solidFill>
                  <a:srgbClr val="455F51"/>
                </a:solidFill>
                <a:effectLst/>
                <a:uLnTx/>
                <a:uFillTx/>
                <a:latin typeface="Calibri Light"/>
                <a:ea typeface="Roboto Mono"/>
                <a:cs typeface="Calibri Light"/>
              </a:rPr>
              <a:t>Simon Schneider – Stadt Wien Kompetenzteam für klimafitte Stadtsanierung (KlimSta)</a:t>
            </a:r>
          </a:p>
          <a:p>
            <a:pPr marL="0" marR="0" lvl="0" indent="0" algn="l" defTabSz="914339"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455F51"/>
                </a:solidFill>
                <a:effectLst/>
                <a:uLnTx/>
                <a:uFillTx/>
                <a:latin typeface="Calibri Light"/>
                <a:ea typeface="Roboto Mono"/>
                <a:cs typeface="Calibri Light"/>
              </a:rPr>
              <a:t>PEEExcel – A fast one-stop-shop Assessment and Simulation framework for Positive Energy Districts</a:t>
            </a:r>
          </a:p>
          <a:p>
            <a:pPr marL="0" marR="0" lvl="0" indent="0" algn="l" defTabSz="914339" rtl="0" eaLnBrk="1" fontAlgn="auto" latinLnBrk="0" hangingPunct="1">
              <a:lnSpc>
                <a:spcPct val="100000"/>
              </a:lnSpc>
              <a:spcBef>
                <a:spcPts val="0"/>
              </a:spcBef>
              <a:spcAft>
                <a:spcPts val="0"/>
              </a:spcAft>
              <a:buClrTx/>
              <a:buSzTx/>
              <a:buFontTx/>
              <a:buNone/>
              <a:tabLst/>
              <a:defRPr/>
            </a:pPr>
            <a:r>
              <a:rPr kumimoji="0" lang="de-AT" sz="1000" b="0" i="0" u="none" strike="noStrike" kern="0" cap="none" spc="0" normalizeH="0" baseline="0" noProof="0" dirty="0">
                <a:ln>
                  <a:noFill/>
                </a:ln>
                <a:solidFill>
                  <a:srgbClr val="455F51"/>
                </a:solidFill>
                <a:effectLst/>
                <a:uLnTx/>
                <a:uFillTx/>
                <a:latin typeface="Calibri Light"/>
                <a:ea typeface="Roboto Mono"/>
                <a:cs typeface="Calibri Light"/>
              </a:rPr>
              <a:t>25.09.2024, BauSim Konferenz 2024 TU Wien</a:t>
            </a:r>
          </a:p>
        </p:txBody>
      </p:sp>
      <p:sp>
        <p:nvSpPr>
          <p:cNvPr id="11" name="Inhaltsplatzhalter 2">
            <a:extLst>
              <a:ext uri="{FF2B5EF4-FFF2-40B4-BE49-F238E27FC236}">
                <a16:creationId xmlns:a16="http://schemas.microsoft.com/office/drawing/2014/main" id="{BCA78159-342C-BCF6-F117-116DD689D753}"/>
              </a:ext>
            </a:extLst>
          </p:cNvPr>
          <p:cNvSpPr>
            <a:spLocks noGrp="1"/>
          </p:cNvSpPr>
          <p:nvPr>
            <p:ph idx="1"/>
          </p:nvPr>
        </p:nvSpPr>
        <p:spPr bwMode="auto">
          <a:xfrm>
            <a:off x="239713" y="1628800"/>
            <a:ext cx="11952288" cy="4391003"/>
          </a:xfrm>
        </p:spPr>
        <p:txBody>
          <a:bodyPr/>
          <a:lstStyle>
            <a:lvl1pPr marL="342877" indent="-342877">
              <a:lnSpc>
                <a:spcPct val="150000"/>
              </a:lnSpc>
              <a:buClr>
                <a:schemeClr val="accent6"/>
              </a:buClr>
              <a:buFont typeface="Calibri"/>
              <a:buChar char="⌂"/>
              <a:defRPr>
                <a:solidFill>
                  <a:schemeClr val="tx1"/>
                </a:solidFill>
                <a:latin typeface="Bahnschrift" panose="020B0502040204020203" pitchFamily="34" charset="0"/>
              </a:defRPr>
            </a:lvl1pPr>
            <a:lvl2pPr marL="742900" indent="-285731">
              <a:lnSpc>
                <a:spcPct val="150000"/>
              </a:lnSpc>
              <a:buClr>
                <a:schemeClr val="accent6"/>
              </a:buClr>
              <a:buFontTx/>
              <a:buChar char="►"/>
              <a:defRPr>
                <a:solidFill>
                  <a:schemeClr val="tx1"/>
                </a:solidFill>
                <a:latin typeface="Bahnschrift" panose="020B0502040204020203" pitchFamily="34" charset="0"/>
              </a:defRPr>
            </a:lvl2pPr>
            <a:lvl3pPr>
              <a:lnSpc>
                <a:spcPct val="150000"/>
              </a:lnSpc>
              <a:buClr>
                <a:schemeClr val="accent6"/>
              </a:buClr>
              <a:buSzPct val="120000"/>
              <a:defRPr>
                <a:solidFill>
                  <a:schemeClr val="tx1"/>
                </a:solidFill>
                <a:latin typeface="Bahnschrift" panose="020B0502040204020203" pitchFamily="34" charset="0"/>
              </a:defRPr>
            </a:lvl3pPr>
            <a:lvl4pPr>
              <a:lnSpc>
                <a:spcPct val="150000"/>
              </a:lnSpc>
              <a:buClr>
                <a:schemeClr val="accent6"/>
              </a:buClr>
              <a:defRPr>
                <a:solidFill>
                  <a:schemeClr val="tx1"/>
                </a:solidFill>
                <a:latin typeface="Bahnschrift" panose="020B0502040204020203" pitchFamily="34" charset="0"/>
              </a:defRPr>
            </a:lvl4pPr>
            <a:lvl5pPr>
              <a:lnSpc>
                <a:spcPct val="150000"/>
              </a:lnSpc>
              <a:buClr>
                <a:schemeClr val="accent6"/>
              </a:buClr>
              <a:defRPr>
                <a:solidFill>
                  <a:schemeClr val="tx1"/>
                </a:solidFill>
                <a:latin typeface="Bahnschrift" panose="020B0502040204020203" pitchFamily="34" charset="0"/>
              </a:defRPr>
            </a:lvl5pPr>
          </a:lstStyle>
          <a:p>
            <a:pPr lvl="0">
              <a:defRPr/>
            </a:pPr>
            <a:r>
              <a:rPr lang="de-DE"/>
              <a:t>Textmasterformat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lang="de-AT"/>
          </a:p>
        </p:txBody>
      </p:sp>
    </p:spTree>
    <p:extLst>
      <p:ext uri="{BB962C8B-B14F-4D97-AF65-F5344CB8AC3E}">
        <p14:creationId xmlns:p14="http://schemas.microsoft.com/office/powerpoint/2010/main" val="32554259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voller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55C7FC-78A4-4EEA-B411-D4B8D2085F1E}"/>
              </a:ext>
            </a:extLst>
          </p:cNvPr>
          <p:cNvSpPr>
            <a:spLocks noGrp="1"/>
          </p:cNvSpPr>
          <p:nvPr>
            <p:ph type="title"/>
          </p:nvPr>
        </p:nvSpPr>
        <p:spPr/>
        <p:txBody>
          <a:bodyPr/>
          <a:lstStyle/>
          <a:p>
            <a:r>
              <a:rPr lang="de-DE"/>
              <a:t>Titelmasterformat durch Klicken bearbeiten</a:t>
            </a:r>
            <a:endParaRPr lang="de-AT"/>
          </a:p>
        </p:txBody>
      </p:sp>
      <p:sp>
        <p:nvSpPr>
          <p:cNvPr id="3" name="Inhaltsplatzhalter 2">
            <a:extLst>
              <a:ext uri="{FF2B5EF4-FFF2-40B4-BE49-F238E27FC236}">
                <a16:creationId xmlns:a16="http://schemas.microsoft.com/office/drawing/2014/main" id="{8D91BAEE-20C8-433E-A5B3-07E5BEE3747A}"/>
              </a:ext>
            </a:extLst>
          </p:cNvPr>
          <p:cNvSpPr>
            <a:spLocks noGrp="1"/>
          </p:cNvSpPr>
          <p:nvPr>
            <p:ph sz="half" idx="1"/>
          </p:nvPr>
        </p:nvSpPr>
        <p:spPr>
          <a:xfrm>
            <a:off x="474360" y="2228853"/>
            <a:ext cx="11239069" cy="3962401"/>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5" name="Datumsplatzhalter 4">
            <a:extLst>
              <a:ext uri="{FF2B5EF4-FFF2-40B4-BE49-F238E27FC236}">
                <a16:creationId xmlns:a16="http://schemas.microsoft.com/office/drawing/2014/main" id="{90FC5EE4-E8FA-45FF-A84E-7A016BADF22A}"/>
              </a:ext>
            </a:extLst>
          </p:cNvPr>
          <p:cNvSpPr>
            <a:spLocks noGrp="1"/>
          </p:cNvSpPr>
          <p:nvPr>
            <p:ph type="dt" sz="half" idx="10"/>
          </p:nvPr>
        </p:nvSpPr>
        <p:spPr>
          <a:xfrm>
            <a:off x="838201" y="6356351"/>
            <a:ext cx="2743200" cy="365125"/>
          </a:xfrm>
          <a:prstGeom prst="rect">
            <a:avLst/>
          </a:prstGeom>
        </p:spPr>
        <p:txBody>
          <a:bodyPr/>
          <a:lstStyle/>
          <a:p>
            <a:fld id="{C2E9FAEE-756D-46F9-BB2D-CF472042B11A}" type="datetimeFigureOut">
              <a:rPr lang="de-AT" smtClean="0"/>
              <a:t>20.10.2026</a:t>
            </a:fld>
            <a:endParaRPr lang="de-AT" dirty="0"/>
          </a:p>
        </p:txBody>
      </p:sp>
      <p:sp>
        <p:nvSpPr>
          <p:cNvPr id="6" name="Fußzeilenplatzhalter 5">
            <a:extLst>
              <a:ext uri="{FF2B5EF4-FFF2-40B4-BE49-F238E27FC236}">
                <a16:creationId xmlns:a16="http://schemas.microsoft.com/office/drawing/2014/main" id="{CBFE78F5-2A0E-4319-B89B-F998FD2A8C01}"/>
              </a:ext>
            </a:extLst>
          </p:cNvPr>
          <p:cNvSpPr>
            <a:spLocks noGrp="1"/>
          </p:cNvSpPr>
          <p:nvPr>
            <p:ph type="ftr" sz="quarter" idx="11"/>
          </p:nvPr>
        </p:nvSpPr>
        <p:spPr>
          <a:xfrm>
            <a:off x="4038601" y="6356351"/>
            <a:ext cx="4114799" cy="365125"/>
          </a:xfrm>
          <a:prstGeom prst="rect">
            <a:avLst/>
          </a:prstGeom>
        </p:spPr>
        <p:txBody>
          <a:bodyPr/>
          <a:lstStyle/>
          <a:p>
            <a:endParaRPr lang="de-AT" dirty="0"/>
          </a:p>
        </p:txBody>
      </p:sp>
      <p:sp>
        <p:nvSpPr>
          <p:cNvPr id="7" name="Foliennummernplatzhalter 6">
            <a:extLst>
              <a:ext uri="{FF2B5EF4-FFF2-40B4-BE49-F238E27FC236}">
                <a16:creationId xmlns:a16="http://schemas.microsoft.com/office/drawing/2014/main" id="{C1D65CD6-244A-4740-8F53-54A880EB2E0A}"/>
              </a:ext>
            </a:extLst>
          </p:cNvPr>
          <p:cNvSpPr>
            <a:spLocks noGrp="1"/>
          </p:cNvSpPr>
          <p:nvPr>
            <p:ph type="sldNum" sz="quarter" idx="12"/>
          </p:nvPr>
        </p:nvSpPr>
        <p:spPr/>
        <p:txBody>
          <a:bodyPr/>
          <a:lstStyle/>
          <a:p>
            <a:fld id="{9A7E6D26-00FC-4AEB-93A9-14AB1AD1112B}" type="slidenum">
              <a:rPr lang="de-AT" smtClean="0"/>
              <a:t>‹Nr.›</a:t>
            </a:fld>
            <a:endParaRPr lang="de-AT" dirty="0"/>
          </a:p>
        </p:txBody>
      </p:sp>
      <p:sp>
        <p:nvSpPr>
          <p:cNvPr id="8" name="Textplatzhalter 10">
            <a:extLst>
              <a:ext uri="{FF2B5EF4-FFF2-40B4-BE49-F238E27FC236}">
                <a16:creationId xmlns:a16="http://schemas.microsoft.com/office/drawing/2014/main" id="{F655D4A5-2205-4F85-AF14-45107B4BD994}"/>
              </a:ext>
            </a:extLst>
          </p:cNvPr>
          <p:cNvSpPr>
            <a:spLocks noGrp="1"/>
          </p:cNvSpPr>
          <p:nvPr>
            <p:ph type="body" sz="quarter" idx="14"/>
          </p:nvPr>
        </p:nvSpPr>
        <p:spPr>
          <a:xfrm>
            <a:off x="474358" y="958853"/>
            <a:ext cx="11239070" cy="698315"/>
          </a:xfrm>
        </p:spPr>
        <p:txBody>
          <a:bodyPr/>
          <a:lstStyle>
            <a:lvl1pPr>
              <a:lnSpc>
                <a:spcPct val="109000"/>
              </a:lnSpc>
              <a:defRPr sz="2911">
                <a:solidFill>
                  <a:schemeClr val="accent1"/>
                </a:solidFill>
              </a:defRPr>
            </a:lvl1pPr>
            <a:lvl2pPr marL="0" indent="0">
              <a:buNone/>
              <a:defRPr/>
            </a:lvl2pPr>
          </a:lstStyle>
          <a:p>
            <a:pPr lvl="0"/>
            <a:r>
              <a:rPr lang="de-DE"/>
              <a:t>Formatvorlagen des Textmasters bearbeiten</a:t>
            </a:r>
          </a:p>
        </p:txBody>
      </p:sp>
    </p:spTree>
    <p:extLst>
      <p:ext uri="{BB962C8B-B14F-4D97-AF65-F5344CB8AC3E}">
        <p14:creationId xmlns:p14="http://schemas.microsoft.com/office/powerpoint/2010/main" val="21448246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781E1FE9-D3AA-872F-5CD6-31EA00C07FE5}"/>
              </a:ext>
            </a:extLst>
          </p:cNvPr>
          <p:cNvSpPr>
            <a:spLocks noGrp="1"/>
          </p:cNvSpPr>
          <p:nvPr>
            <p:ph type="dt" sz="half" idx="10"/>
          </p:nvPr>
        </p:nvSpPr>
        <p:spPr/>
        <p:txBody>
          <a:bodyPr/>
          <a:lstStyle/>
          <a:p>
            <a:fld id="{09EDABD4-5CEA-48A1-887D-B9C409678EB2}" type="datetimeFigureOut">
              <a:rPr lang="de-DE" smtClean="0"/>
              <a:t>20.10.2026</a:t>
            </a:fld>
            <a:endParaRPr lang="de-DE"/>
          </a:p>
        </p:txBody>
      </p:sp>
      <p:sp>
        <p:nvSpPr>
          <p:cNvPr id="3" name="Fußzeilenplatzhalter 2">
            <a:extLst>
              <a:ext uri="{FF2B5EF4-FFF2-40B4-BE49-F238E27FC236}">
                <a16:creationId xmlns:a16="http://schemas.microsoft.com/office/drawing/2014/main" id="{635A7770-1FAE-1F5A-91D6-9509F3F0F1D6}"/>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491E61B0-CB7F-F3B5-B946-686053E7E7DB}"/>
              </a:ext>
            </a:extLst>
          </p:cNvPr>
          <p:cNvSpPr>
            <a:spLocks noGrp="1"/>
          </p:cNvSpPr>
          <p:nvPr>
            <p:ph type="sldNum" sz="quarter" idx="12"/>
          </p:nvPr>
        </p:nvSpPr>
        <p:spPr/>
        <p:txBody>
          <a:bodyPr/>
          <a:lstStyle/>
          <a:p>
            <a:fld id="{BFAAEC71-18BC-4EEC-A883-1E65FFA4492B}" type="slidenum">
              <a:rPr lang="de-DE" smtClean="0"/>
              <a:t>‹Nr.›</a:t>
            </a:fld>
            <a:endParaRPr lang="de-DE"/>
          </a:p>
        </p:txBody>
      </p:sp>
    </p:spTree>
    <p:extLst>
      <p:ext uri="{BB962C8B-B14F-4D97-AF65-F5344CB8AC3E}">
        <p14:creationId xmlns:p14="http://schemas.microsoft.com/office/powerpoint/2010/main" val="2875523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594362" y="1406527"/>
            <a:ext cx="10763675" cy="829455"/>
          </a:xfrm>
          <a:prstGeom prst="rect">
            <a:avLst/>
          </a:prstGeom>
        </p:spPr>
        <p:txBody>
          <a:bodyPr vert="horz" wrap="none" lIns="0" tIns="0" rIns="0" bIns="0" rtlCol="0" anchor="t" anchorCtr="0">
            <a:noAutofit/>
          </a:bodyPr>
          <a:lstStyle/>
          <a:p>
            <a:r>
              <a:rPr lang="de-DE" dirty="0"/>
              <a:t>Titelmasterformat durch Klicken bearbeiten</a:t>
            </a:r>
            <a:endParaRPr lang="de-AT" dirty="0"/>
          </a:p>
        </p:txBody>
      </p:sp>
      <p:sp>
        <p:nvSpPr>
          <p:cNvPr id="3" name="Textplatzhalter 2"/>
          <p:cNvSpPr>
            <a:spLocks noGrp="1"/>
          </p:cNvSpPr>
          <p:nvPr>
            <p:ph type="body" idx="1"/>
          </p:nvPr>
        </p:nvSpPr>
        <p:spPr>
          <a:xfrm>
            <a:off x="594362" y="2164769"/>
            <a:ext cx="10763675" cy="3977799"/>
          </a:xfrm>
          <a:prstGeom prst="rect">
            <a:avLst/>
          </a:prstGeom>
        </p:spPr>
        <p:txBody>
          <a:bodyPr vert="horz" lIns="0" tIns="0" rIns="0" bIns="0" rtlCol="0">
            <a:noAutofit/>
          </a:bodyPr>
          <a:lstStyle/>
          <a:p>
            <a:pPr lvl="0"/>
            <a:r>
              <a:rPr lang="de-DE" dirty="0"/>
              <a:t>Textmasterformat bearbeiten </a:t>
            </a:r>
            <a:br>
              <a:rPr lang="de-DE" dirty="0"/>
            </a:br>
            <a:r>
              <a:rPr lang="de-DE" dirty="0"/>
              <a:t>Erste Ebene </a:t>
            </a:r>
          </a:p>
          <a:p>
            <a:pPr lvl="1"/>
            <a:r>
              <a:rPr lang="de-DE" dirty="0"/>
              <a:t>Zweite Ebene – wie Ebene zuvor</a:t>
            </a:r>
          </a:p>
          <a:p>
            <a:pPr lvl="2"/>
            <a:r>
              <a:rPr lang="de-DE" dirty="0"/>
              <a:t>Dritte Ebene – wie Ebene zuvor</a:t>
            </a:r>
          </a:p>
        </p:txBody>
      </p:sp>
      <p:sp>
        <p:nvSpPr>
          <p:cNvPr id="20" name="Foliennummernplatzhalter 13"/>
          <p:cNvSpPr>
            <a:spLocks noGrp="1"/>
          </p:cNvSpPr>
          <p:nvPr>
            <p:ph type="sldNum" sz="quarter" idx="4"/>
          </p:nvPr>
        </p:nvSpPr>
        <p:spPr>
          <a:xfrm>
            <a:off x="10077601" y="6387004"/>
            <a:ext cx="1280433" cy="266700"/>
          </a:xfrm>
          <a:prstGeom prst="rect">
            <a:avLst/>
          </a:prstGeom>
        </p:spPr>
        <p:txBody>
          <a:bodyPr vert="horz" lIns="0" tIns="0" rIns="0" bIns="0" rtlCol="0" anchor="ctr"/>
          <a:lstStyle>
            <a:lvl1pPr algn="r">
              <a:defRPr sz="1867">
                <a:solidFill>
                  <a:schemeClr val="tx1"/>
                </a:solidFill>
              </a:defRPr>
            </a:lvl1pPr>
          </a:lstStyle>
          <a:p>
            <a:fld id="{1206269C-C24E-4E80-9A4B-E7E19BB59A67}" type="slidenum">
              <a:rPr lang="de-AT" smtClean="0"/>
              <a:pPr/>
              <a:t>‹Nr.›</a:t>
            </a:fld>
            <a:endParaRPr lang="de-AT" dirty="0"/>
          </a:p>
        </p:txBody>
      </p:sp>
      <p:sp>
        <p:nvSpPr>
          <p:cNvPr id="10" name="Textfeld 9"/>
          <p:cNvSpPr txBox="1"/>
          <p:nvPr userDrawn="1"/>
        </p:nvSpPr>
        <p:spPr>
          <a:xfrm>
            <a:off x="8869003" y="273600"/>
            <a:ext cx="2933699" cy="492443"/>
          </a:xfrm>
          <a:prstGeom prst="rect">
            <a:avLst/>
          </a:prstGeom>
          <a:noFill/>
        </p:spPr>
        <p:txBody>
          <a:bodyPr wrap="square" lIns="0" tIns="0" rIns="0" bIns="0" rtlCol="0">
            <a:spAutoFit/>
          </a:bodyPr>
          <a:lstStyle/>
          <a:p>
            <a:pPr algn="r"/>
            <a:r>
              <a:rPr lang="de-AT" sz="1600" dirty="0">
                <a:solidFill>
                  <a:srgbClr val="003D84"/>
                </a:solidFill>
              </a:rPr>
              <a:t>Bmluk.gv.at</a:t>
            </a:r>
          </a:p>
          <a:p>
            <a:pPr algn="r"/>
            <a:r>
              <a:rPr lang="de-AT" sz="1600" dirty="0">
                <a:solidFill>
                  <a:srgbClr val="003D84"/>
                </a:solidFill>
              </a:rPr>
              <a:t>klimaaktiv.at</a:t>
            </a:r>
          </a:p>
        </p:txBody>
      </p:sp>
      <p:pic>
        <p:nvPicPr>
          <p:cNvPr id="11" name="Grafik 10"/>
          <p:cNvPicPr>
            <a:picLocks noChangeAspect="1"/>
          </p:cNvPicPr>
          <p:nvPr userDrawn="1"/>
        </p:nvPicPr>
        <p:blipFill>
          <a:blip r:embed="rId14"/>
          <a:stretch>
            <a:fillRect/>
          </a:stretch>
        </p:blipFill>
        <p:spPr>
          <a:xfrm>
            <a:off x="2775493" y="333806"/>
            <a:ext cx="1616322" cy="492443"/>
          </a:xfrm>
          <a:prstGeom prst="rect">
            <a:avLst/>
          </a:prstGeom>
        </p:spPr>
      </p:pic>
      <p:pic>
        <p:nvPicPr>
          <p:cNvPr id="7" name="Grafik 6">
            <a:extLst>
              <a:ext uri="{FF2B5EF4-FFF2-40B4-BE49-F238E27FC236}">
                <a16:creationId xmlns:a16="http://schemas.microsoft.com/office/drawing/2014/main" id="{B6204EA7-48FE-2E6D-0FE5-D5178B2FF4C5}"/>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294469" y="272478"/>
            <a:ext cx="2417736" cy="763495"/>
          </a:xfrm>
          <a:prstGeom prst="rect">
            <a:avLst/>
          </a:prstGeom>
        </p:spPr>
      </p:pic>
      <p:grpSp>
        <p:nvGrpSpPr>
          <p:cNvPr id="8" name="Gruppieren 7">
            <a:extLst>
              <a:ext uri="{FF2B5EF4-FFF2-40B4-BE49-F238E27FC236}">
                <a16:creationId xmlns:a16="http://schemas.microsoft.com/office/drawing/2014/main" id="{90D0323D-9F50-D343-2A15-C17A1C14AE6D}"/>
              </a:ext>
            </a:extLst>
          </p:cNvPr>
          <p:cNvGrpSpPr/>
          <p:nvPr userDrawn="1"/>
        </p:nvGrpSpPr>
        <p:grpSpPr>
          <a:xfrm>
            <a:off x="3" y="6189842"/>
            <a:ext cx="668158" cy="668158"/>
            <a:chOff x="-1669746" y="1246831"/>
            <a:chExt cx="7309604" cy="7309576"/>
          </a:xfrm>
        </p:grpSpPr>
        <p:sp>
          <p:nvSpPr>
            <p:cNvPr id="4" name="Ellipse 3">
              <a:extLst>
                <a:ext uri="{FF2B5EF4-FFF2-40B4-BE49-F238E27FC236}">
                  <a16:creationId xmlns:a16="http://schemas.microsoft.com/office/drawing/2014/main" id="{FB1DFCE9-5490-7F52-9879-C3A76AC2AB8A}"/>
                </a:ext>
              </a:extLst>
            </p:cNvPr>
            <p:cNvSpPr/>
            <p:nvPr/>
          </p:nvSpPr>
          <p:spPr>
            <a:xfrm>
              <a:off x="-1669746" y="1246831"/>
              <a:ext cx="7309604" cy="7309576"/>
            </a:xfrm>
            <a:prstGeom prst="ellipse">
              <a:avLst/>
            </a:prstGeom>
            <a:solidFill>
              <a:sysClr val="window" lastClr="FFFFFF"/>
            </a:solidFill>
            <a:ln w="19050" cap="flat" cmpd="sng" algn="ctr">
              <a:noFill/>
              <a:prstDash val="solid"/>
              <a:miter lim="800000"/>
            </a:ln>
            <a:effectLst/>
          </p:spPr>
          <p:txBody>
            <a:bodyPr rtlCol="0" anchor="ctr"/>
            <a:lstStyle/>
            <a:p>
              <a:pPr marL="0" marR="0" lvl="0" indent="0" algn="ctr" defTabSz="914339" eaLnBrk="1" fontAlgn="auto" latinLnBrk="0" hangingPunct="1">
                <a:lnSpc>
                  <a:spcPct val="100000"/>
                </a:lnSpc>
                <a:spcBef>
                  <a:spcPts val="0"/>
                </a:spcBef>
                <a:spcAft>
                  <a:spcPts val="0"/>
                </a:spcAft>
                <a:buClrTx/>
                <a:buSzTx/>
                <a:buFontTx/>
                <a:buNone/>
                <a:tabLst/>
                <a:defRPr/>
              </a:pPr>
              <a:endParaRPr kumimoji="0" lang="de-AT" sz="6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5" name="Picture 2">
              <a:extLst>
                <a:ext uri="{FF2B5EF4-FFF2-40B4-BE49-F238E27FC236}">
                  <a16:creationId xmlns:a16="http://schemas.microsoft.com/office/drawing/2014/main" id="{0D8FEC2C-BF01-0FD8-D8B0-EE778174CD0A}"/>
                </a:ext>
              </a:extLst>
            </p:cNvPr>
            <p:cNvPicPr>
              <a:picLocks noChangeAspect="1" noChangeArrowheads="1"/>
            </p:cNvPicPr>
            <p:nvPr/>
          </p:nvPicPr>
          <p:blipFill>
            <a:blip r:embed="rId16">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10302" y="1382960"/>
              <a:ext cx="7150156" cy="715015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66657424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86" r:id="rId9"/>
    <p:sldLayoutId id="2147483682" r:id="rId10"/>
    <p:sldLayoutId id="2147483683" r:id="rId11"/>
    <p:sldLayoutId id="2147483685" r:id="rId12"/>
  </p:sldLayoutIdLst>
  <p:hf hdr="0" dt="0"/>
  <p:txStyles>
    <p:titleStyle>
      <a:lvl1pPr algn="l" defTabSz="1219089" rtl="0" eaLnBrk="1" latinLnBrk="0" hangingPunct="1">
        <a:lnSpc>
          <a:spcPts val="4000"/>
        </a:lnSpc>
        <a:spcBef>
          <a:spcPct val="0"/>
        </a:spcBef>
        <a:buNone/>
        <a:defRPr sz="3200" b="1" kern="1200">
          <a:solidFill>
            <a:srgbClr val="003D84"/>
          </a:solidFill>
          <a:latin typeface="+mj-lt"/>
          <a:ea typeface="+mj-ea"/>
          <a:cs typeface="+mj-cs"/>
        </a:defRPr>
      </a:lvl1pPr>
    </p:titleStyle>
    <p:bodyStyle>
      <a:lvl1pPr marL="335970" marR="0" indent="-335970" algn="l" defTabSz="1219089" rtl="0" eaLnBrk="1" fontAlgn="auto" latinLnBrk="0" hangingPunct="1">
        <a:lnSpc>
          <a:spcPct val="100000"/>
        </a:lnSpc>
        <a:spcBef>
          <a:spcPts val="0"/>
        </a:spcBef>
        <a:spcAft>
          <a:spcPts val="600"/>
        </a:spcAft>
        <a:buClr>
          <a:srgbClr val="003D84"/>
        </a:buClr>
        <a:buSzTx/>
        <a:buFont typeface="Arial" panose="020B0604020202020204" pitchFamily="34" charset="0"/>
        <a:buChar char="•"/>
        <a:tabLst/>
        <a:defRPr sz="1600" kern="1200">
          <a:solidFill>
            <a:schemeClr val="bg1">
              <a:lumMod val="10000"/>
            </a:schemeClr>
          </a:solidFill>
          <a:latin typeface="+mn-lt"/>
          <a:ea typeface="+mn-ea"/>
          <a:cs typeface="+mn-cs"/>
        </a:defRPr>
      </a:lvl1pPr>
      <a:lvl2pPr marL="671938" marR="0" indent="-335970" algn="l" defTabSz="1219089" rtl="0" eaLnBrk="1" fontAlgn="auto" latinLnBrk="0" hangingPunct="1">
        <a:lnSpc>
          <a:spcPct val="100000"/>
        </a:lnSpc>
        <a:spcBef>
          <a:spcPts val="0"/>
        </a:spcBef>
        <a:spcAft>
          <a:spcPts val="600"/>
        </a:spcAft>
        <a:buClrTx/>
        <a:buSzTx/>
        <a:buFont typeface="Corbel" panose="020B0503020204020204" pitchFamily="34" charset="0"/>
        <a:buChar char="−"/>
        <a:tabLst/>
        <a:defRPr sz="1600" kern="1200">
          <a:solidFill>
            <a:schemeClr val="bg1">
              <a:lumMod val="10000"/>
            </a:schemeClr>
          </a:solidFill>
          <a:latin typeface="+mn-lt"/>
          <a:ea typeface="+mn-ea"/>
          <a:cs typeface="+mn-cs"/>
        </a:defRPr>
      </a:lvl2pPr>
      <a:lvl3pPr marL="1007908" indent="-335970" algn="l" defTabSz="1219089" rtl="0" eaLnBrk="1" latinLnBrk="0" hangingPunct="1">
        <a:lnSpc>
          <a:spcPct val="100000"/>
        </a:lnSpc>
        <a:spcBef>
          <a:spcPts val="0"/>
        </a:spcBef>
        <a:spcAft>
          <a:spcPts val="600"/>
        </a:spcAft>
        <a:buClr>
          <a:srgbClr val="003D84"/>
        </a:buClr>
        <a:buFont typeface="Arial" pitchFamily="34" charset="0"/>
        <a:buChar char="•"/>
        <a:defRPr sz="1600" kern="1200">
          <a:solidFill>
            <a:schemeClr val="bg1">
              <a:lumMod val="10000"/>
            </a:schemeClr>
          </a:solidFill>
          <a:latin typeface="+mn-lt"/>
          <a:ea typeface="+mn-ea"/>
          <a:cs typeface="+mn-cs"/>
        </a:defRPr>
      </a:lvl3pPr>
      <a:lvl4pPr marL="2133404" indent="-304771" algn="l" defTabSz="1219089" rtl="0" eaLnBrk="1" latinLnBrk="0" hangingPunct="1">
        <a:lnSpc>
          <a:spcPct val="90000"/>
        </a:lnSpc>
        <a:spcBef>
          <a:spcPts val="800"/>
        </a:spcBef>
        <a:buClr>
          <a:schemeClr val="tx2"/>
        </a:buClr>
        <a:buFont typeface="Arial" pitchFamily="34" charset="0"/>
        <a:buChar char="–"/>
        <a:defRPr sz="2400" kern="1200">
          <a:solidFill>
            <a:schemeClr val="bg1">
              <a:lumMod val="10000"/>
            </a:schemeClr>
          </a:solidFill>
          <a:latin typeface="+mn-lt"/>
          <a:ea typeface="+mn-ea"/>
          <a:cs typeface="+mn-cs"/>
        </a:defRPr>
      </a:lvl4pPr>
      <a:lvl5pPr marL="2742948" indent="-304771" algn="l" defTabSz="1219089" rtl="0" eaLnBrk="1" latinLnBrk="0" hangingPunct="1">
        <a:lnSpc>
          <a:spcPct val="90000"/>
        </a:lnSpc>
        <a:spcBef>
          <a:spcPts val="533"/>
        </a:spcBef>
        <a:buClr>
          <a:schemeClr val="tx2"/>
        </a:buClr>
        <a:buFont typeface="Arial" pitchFamily="34" charset="0"/>
        <a:buChar char="»"/>
        <a:defRPr sz="2400" kern="1200">
          <a:solidFill>
            <a:schemeClr val="bg1">
              <a:lumMod val="10000"/>
            </a:schemeClr>
          </a:solidFill>
          <a:latin typeface="+mn-lt"/>
          <a:ea typeface="+mn-ea"/>
          <a:cs typeface="+mn-cs"/>
        </a:defRPr>
      </a:lvl5pPr>
      <a:lvl6pPr marL="3352492" indent="-304771" algn="l" defTabSz="1219089"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037" indent="-304771" algn="l" defTabSz="1219089"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581" indent="-304771" algn="l" defTabSz="1219089"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124" indent="-304771" algn="l" defTabSz="1219089"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de-DE"/>
      </a:defPPr>
      <a:lvl1pPr marL="0" algn="l" defTabSz="1219089" rtl="0" eaLnBrk="1" latinLnBrk="0" hangingPunct="1">
        <a:defRPr sz="2400" kern="1200">
          <a:solidFill>
            <a:schemeClr val="tx1"/>
          </a:solidFill>
          <a:latin typeface="+mn-lt"/>
          <a:ea typeface="+mn-ea"/>
          <a:cs typeface="+mn-cs"/>
        </a:defRPr>
      </a:lvl1pPr>
      <a:lvl2pPr marL="609544" algn="l" defTabSz="1219089" rtl="0" eaLnBrk="1" latinLnBrk="0" hangingPunct="1">
        <a:defRPr sz="2400" kern="1200">
          <a:solidFill>
            <a:schemeClr val="tx1"/>
          </a:solidFill>
          <a:latin typeface="+mn-lt"/>
          <a:ea typeface="+mn-ea"/>
          <a:cs typeface="+mn-cs"/>
        </a:defRPr>
      </a:lvl2pPr>
      <a:lvl3pPr marL="1219089" algn="l" defTabSz="1219089" rtl="0" eaLnBrk="1" latinLnBrk="0" hangingPunct="1">
        <a:defRPr sz="2400" kern="1200">
          <a:solidFill>
            <a:schemeClr val="tx1"/>
          </a:solidFill>
          <a:latin typeface="+mn-lt"/>
          <a:ea typeface="+mn-ea"/>
          <a:cs typeface="+mn-cs"/>
        </a:defRPr>
      </a:lvl3pPr>
      <a:lvl4pPr marL="1828632" algn="l" defTabSz="1219089" rtl="0" eaLnBrk="1" latinLnBrk="0" hangingPunct="1">
        <a:defRPr sz="2400" kern="1200">
          <a:solidFill>
            <a:schemeClr val="tx1"/>
          </a:solidFill>
          <a:latin typeface="+mn-lt"/>
          <a:ea typeface="+mn-ea"/>
          <a:cs typeface="+mn-cs"/>
        </a:defRPr>
      </a:lvl4pPr>
      <a:lvl5pPr marL="2438176" algn="l" defTabSz="1219089" rtl="0" eaLnBrk="1" latinLnBrk="0" hangingPunct="1">
        <a:defRPr sz="2400" kern="1200">
          <a:solidFill>
            <a:schemeClr val="tx1"/>
          </a:solidFill>
          <a:latin typeface="+mn-lt"/>
          <a:ea typeface="+mn-ea"/>
          <a:cs typeface="+mn-cs"/>
        </a:defRPr>
      </a:lvl5pPr>
      <a:lvl6pPr marL="3047720" algn="l" defTabSz="1219089" rtl="0" eaLnBrk="1" latinLnBrk="0" hangingPunct="1">
        <a:defRPr sz="2400" kern="1200">
          <a:solidFill>
            <a:schemeClr val="tx1"/>
          </a:solidFill>
          <a:latin typeface="+mn-lt"/>
          <a:ea typeface="+mn-ea"/>
          <a:cs typeface="+mn-cs"/>
        </a:defRPr>
      </a:lvl6pPr>
      <a:lvl7pPr marL="3657264" algn="l" defTabSz="1219089" rtl="0" eaLnBrk="1" latinLnBrk="0" hangingPunct="1">
        <a:defRPr sz="2400" kern="1200">
          <a:solidFill>
            <a:schemeClr val="tx1"/>
          </a:solidFill>
          <a:latin typeface="+mn-lt"/>
          <a:ea typeface="+mn-ea"/>
          <a:cs typeface="+mn-cs"/>
        </a:defRPr>
      </a:lvl7pPr>
      <a:lvl8pPr marL="4266808" algn="l" defTabSz="1219089" rtl="0" eaLnBrk="1" latinLnBrk="0" hangingPunct="1">
        <a:defRPr sz="2400" kern="1200">
          <a:solidFill>
            <a:schemeClr val="tx1"/>
          </a:solidFill>
          <a:latin typeface="+mn-lt"/>
          <a:ea typeface="+mn-ea"/>
          <a:cs typeface="+mn-cs"/>
        </a:defRPr>
      </a:lvl8pPr>
      <a:lvl9pPr marL="4876352" algn="l" defTabSz="1219089"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E33CB05-4842-FBBE-242E-B46F83993D48}"/>
              </a:ext>
            </a:extLst>
          </p:cNvPr>
          <p:cNvSpPr>
            <a:spLocks noGrp="1"/>
          </p:cNvSpPr>
          <p:nvPr>
            <p:ph type="title"/>
          </p:nvPr>
        </p:nvSpPr>
        <p:spPr>
          <a:xfrm>
            <a:off x="838200" y="365126"/>
            <a:ext cx="10515601"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8030CA52-8160-B3BA-4C22-663A410E3EE2}"/>
              </a:ext>
            </a:extLst>
          </p:cNvPr>
          <p:cNvSpPr>
            <a:spLocks noGrp="1"/>
          </p:cNvSpPr>
          <p:nvPr>
            <p:ph type="body" idx="1"/>
          </p:nvPr>
        </p:nvSpPr>
        <p:spPr>
          <a:xfrm>
            <a:off x="838200" y="1825625"/>
            <a:ext cx="10515601"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A8637B6-A884-B7BE-04F7-E1749ACC2FCB}"/>
              </a:ext>
            </a:extLst>
          </p:cNvPr>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EDABD4-5CEA-48A1-887D-B9C409678EB2}" type="datetimeFigureOut">
              <a:rPr lang="de-DE" smtClean="0"/>
              <a:t>20.10.2026</a:t>
            </a:fld>
            <a:endParaRPr lang="de-DE"/>
          </a:p>
        </p:txBody>
      </p:sp>
      <p:sp>
        <p:nvSpPr>
          <p:cNvPr id="5" name="Fußzeilenplatzhalter 4">
            <a:extLst>
              <a:ext uri="{FF2B5EF4-FFF2-40B4-BE49-F238E27FC236}">
                <a16:creationId xmlns:a16="http://schemas.microsoft.com/office/drawing/2014/main" id="{09F34D54-3279-4C33-9DC9-2BAB8F321EA9}"/>
              </a:ext>
            </a:extLst>
          </p:cNvPr>
          <p:cNvSpPr>
            <a:spLocks noGrp="1"/>
          </p:cNvSpPr>
          <p:nvPr>
            <p:ph type="ftr" sz="quarter" idx="3"/>
          </p:nvPr>
        </p:nvSpPr>
        <p:spPr>
          <a:xfrm>
            <a:off x="4038601" y="6356351"/>
            <a:ext cx="4114799"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EF50EF75-1E0F-57B9-F837-6BBB33251089}"/>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AAEC71-18BC-4EEC-A883-1E65FFA4492B}" type="slidenum">
              <a:rPr lang="de-DE" smtClean="0"/>
              <a:t>‹Nr.›</a:t>
            </a:fld>
            <a:endParaRPr lang="de-DE"/>
          </a:p>
        </p:txBody>
      </p:sp>
    </p:spTree>
    <p:extLst>
      <p:ext uri="{BB962C8B-B14F-4D97-AF65-F5344CB8AC3E}">
        <p14:creationId xmlns:p14="http://schemas.microsoft.com/office/powerpoint/2010/main" val="3015791668"/>
      </p:ext>
    </p:extLst>
  </p:cSld>
  <p:clrMap bg1="lt1" tx1="dk1" bg2="lt2" tx2="dk2" accent1="accent1" accent2="accent2" accent3="accent3" accent4="accent4" accent5="accent5" accent6="accent6" hlink="hlink" folHlink="folHlink"/>
  <p:sldLayoutIdLst>
    <p:sldLayoutId id="2147483694" r:id="rId1"/>
  </p:sldLayoutIdLst>
  <p:txStyles>
    <p:titleStyle>
      <a:lvl1pPr algn="l" defTabSz="914339"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5" indent="-228585" algn="l" defTabSz="914339"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4" indent="-228585" algn="l" defTabSz="914339"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24" indent="-228585" algn="l" defTabSz="914339"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93" indent="-228585" algn="l" defTabSz="91433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62" indent="-228585" algn="l" defTabSz="91433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32" indent="-228585" algn="l" defTabSz="91433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01" indent="-228585" algn="l" defTabSz="91433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71" indent="-228585" algn="l" defTabSz="91433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41" indent="-228585" algn="l" defTabSz="91433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339" rtl="0" eaLnBrk="1" latinLnBrk="0" hangingPunct="1">
        <a:defRPr sz="1800" kern="1200">
          <a:solidFill>
            <a:schemeClr val="tx1"/>
          </a:solidFill>
          <a:latin typeface="+mn-lt"/>
          <a:ea typeface="+mn-ea"/>
          <a:cs typeface="+mn-cs"/>
        </a:defRPr>
      </a:lvl1pPr>
      <a:lvl2pPr marL="457170" algn="l" defTabSz="914339" rtl="0" eaLnBrk="1" latinLnBrk="0" hangingPunct="1">
        <a:defRPr sz="1800" kern="1200">
          <a:solidFill>
            <a:schemeClr val="tx1"/>
          </a:solidFill>
          <a:latin typeface="+mn-lt"/>
          <a:ea typeface="+mn-ea"/>
          <a:cs typeface="+mn-cs"/>
        </a:defRPr>
      </a:lvl2pPr>
      <a:lvl3pPr marL="914339" algn="l" defTabSz="914339" rtl="0" eaLnBrk="1" latinLnBrk="0" hangingPunct="1">
        <a:defRPr sz="1800" kern="1200">
          <a:solidFill>
            <a:schemeClr val="tx1"/>
          </a:solidFill>
          <a:latin typeface="+mn-lt"/>
          <a:ea typeface="+mn-ea"/>
          <a:cs typeface="+mn-cs"/>
        </a:defRPr>
      </a:lvl3pPr>
      <a:lvl4pPr marL="1371509" algn="l" defTabSz="914339" rtl="0" eaLnBrk="1" latinLnBrk="0" hangingPunct="1">
        <a:defRPr sz="1800" kern="1200">
          <a:solidFill>
            <a:schemeClr val="tx1"/>
          </a:solidFill>
          <a:latin typeface="+mn-lt"/>
          <a:ea typeface="+mn-ea"/>
          <a:cs typeface="+mn-cs"/>
        </a:defRPr>
      </a:lvl4pPr>
      <a:lvl5pPr marL="1828678" algn="l" defTabSz="914339" rtl="0" eaLnBrk="1" latinLnBrk="0" hangingPunct="1">
        <a:defRPr sz="1800" kern="1200">
          <a:solidFill>
            <a:schemeClr val="tx1"/>
          </a:solidFill>
          <a:latin typeface="+mn-lt"/>
          <a:ea typeface="+mn-ea"/>
          <a:cs typeface="+mn-cs"/>
        </a:defRPr>
      </a:lvl5pPr>
      <a:lvl6pPr marL="2285847" algn="l" defTabSz="914339" rtl="0" eaLnBrk="1" latinLnBrk="0" hangingPunct="1">
        <a:defRPr sz="1800" kern="1200">
          <a:solidFill>
            <a:schemeClr val="tx1"/>
          </a:solidFill>
          <a:latin typeface="+mn-lt"/>
          <a:ea typeface="+mn-ea"/>
          <a:cs typeface="+mn-cs"/>
        </a:defRPr>
      </a:lvl6pPr>
      <a:lvl7pPr marL="2743017" algn="l" defTabSz="914339" rtl="0" eaLnBrk="1" latinLnBrk="0" hangingPunct="1">
        <a:defRPr sz="1800" kern="1200">
          <a:solidFill>
            <a:schemeClr val="tx1"/>
          </a:solidFill>
          <a:latin typeface="+mn-lt"/>
          <a:ea typeface="+mn-ea"/>
          <a:cs typeface="+mn-cs"/>
        </a:defRPr>
      </a:lvl7pPr>
      <a:lvl8pPr marL="3200186" algn="l" defTabSz="914339" rtl="0" eaLnBrk="1" latinLnBrk="0" hangingPunct="1">
        <a:defRPr sz="1800" kern="1200">
          <a:solidFill>
            <a:schemeClr val="tx1"/>
          </a:solidFill>
          <a:latin typeface="+mn-lt"/>
          <a:ea typeface="+mn-ea"/>
          <a:cs typeface="+mn-cs"/>
        </a:defRPr>
      </a:lvl8pPr>
      <a:lvl9pPr marL="3657356" algn="l" defTabSz="91433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github.com/simonschaluppe/peexcel"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34" Type="http://schemas.openxmlformats.org/officeDocument/2006/relationships/tags" Target="../tags/tag34.xml"/><Relationship Id="rId42" Type="http://schemas.openxmlformats.org/officeDocument/2006/relationships/tags" Target="../tags/tag42.xml"/><Relationship Id="rId47" Type="http://schemas.openxmlformats.org/officeDocument/2006/relationships/tags" Target="../tags/tag47.xml"/><Relationship Id="rId50" Type="http://schemas.openxmlformats.org/officeDocument/2006/relationships/tags" Target="../tags/tag50.xml"/><Relationship Id="rId55" Type="http://schemas.openxmlformats.org/officeDocument/2006/relationships/tags" Target="../tags/tag55.xml"/><Relationship Id="rId63" Type="http://schemas.openxmlformats.org/officeDocument/2006/relationships/tags" Target="../tags/tag63.xml"/><Relationship Id="rId7" Type="http://schemas.openxmlformats.org/officeDocument/2006/relationships/tags" Target="../tags/tag7.xml"/><Relationship Id="rId2" Type="http://schemas.openxmlformats.org/officeDocument/2006/relationships/tags" Target="../tags/tag2.xml"/><Relationship Id="rId16" Type="http://schemas.openxmlformats.org/officeDocument/2006/relationships/tags" Target="../tags/tag16.xml"/><Relationship Id="rId29" Type="http://schemas.openxmlformats.org/officeDocument/2006/relationships/tags" Target="../tags/tag29.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45" Type="http://schemas.openxmlformats.org/officeDocument/2006/relationships/tags" Target="../tags/tag45.xml"/><Relationship Id="rId53" Type="http://schemas.openxmlformats.org/officeDocument/2006/relationships/tags" Target="../tags/tag53.xml"/><Relationship Id="rId58" Type="http://schemas.openxmlformats.org/officeDocument/2006/relationships/tags" Target="../tags/tag58.xml"/><Relationship Id="rId5" Type="http://schemas.openxmlformats.org/officeDocument/2006/relationships/tags" Target="../tags/tag5.xml"/><Relationship Id="rId61" Type="http://schemas.openxmlformats.org/officeDocument/2006/relationships/tags" Target="../tags/tag61.xml"/><Relationship Id="rId19" Type="http://schemas.openxmlformats.org/officeDocument/2006/relationships/tags" Target="../tags/tag1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48" Type="http://schemas.openxmlformats.org/officeDocument/2006/relationships/tags" Target="../tags/tag48.xml"/><Relationship Id="rId56" Type="http://schemas.openxmlformats.org/officeDocument/2006/relationships/tags" Target="../tags/tag56.xml"/><Relationship Id="rId64" Type="http://schemas.openxmlformats.org/officeDocument/2006/relationships/tags" Target="../tags/tag64.xml"/><Relationship Id="rId8" Type="http://schemas.openxmlformats.org/officeDocument/2006/relationships/tags" Target="../tags/tag8.xml"/><Relationship Id="rId51" Type="http://schemas.openxmlformats.org/officeDocument/2006/relationships/tags" Target="../tags/tag51.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slideLayout" Target="../slideLayouts/slideLayout3.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s>
</file>

<file path=ppt/slides/_rels/slide5.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diagramColors" Target="../diagrams/colors1.xml"/><Relationship Id="rId11" Type="http://schemas.openxmlformats.org/officeDocument/2006/relationships/image" Target="../media/image13.jpeg"/><Relationship Id="rId5" Type="http://schemas.openxmlformats.org/officeDocument/2006/relationships/diagramQuickStyle" Target="../diagrams/quickStyle1.xml"/><Relationship Id="rId10" Type="http://schemas.openxmlformats.org/officeDocument/2006/relationships/image" Target="../media/image12.jpeg"/><Relationship Id="rId4" Type="http://schemas.openxmlformats.org/officeDocument/2006/relationships/diagramLayout" Target="../diagrams/layout1.xml"/><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tags" Target="../tags/tag72.xml"/><Relationship Id="rId13" Type="http://schemas.openxmlformats.org/officeDocument/2006/relationships/tags" Target="../tags/tag77.xml"/><Relationship Id="rId18" Type="http://schemas.openxmlformats.org/officeDocument/2006/relationships/tags" Target="../tags/tag82.xml"/><Relationship Id="rId3" Type="http://schemas.openxmlformats.org/officeDocument/2006/relationships/tags" Target="../tags/tag67.xml"/><Relationship Id="rId21" Type="http://schemas.openxmlformats.org/officeDocument/2006/relationships/slideLayout" Target="../slideLayouts/slideLayout3.xml"/><Relationship Id="rId7" Type="http://schemas.openxmlformats.org/officeDocument/2006/relationships/tags" Target="../tags/tag71.xml"/><Relationship Id="rId12" Type="http://schemas.openxmlformats.org/officeDocument/2006/relationships/tags" Target="../tags/tag76.xml"/><Relationship Id="rId17" Type="http://schemas.openxmlformats.org/officeDocument/2006/relationships/tags" Target="../tags/tag81.xml"/><Relationship Id="rId2" Type="http://schemas.openxmlformats.org/officeDocument/2006/relationships/tags" Target="../tags/tag66.xml"/><Relationship Id="rId16" Type="http://schemas.openxmlformats.org/officeDocument/2006/relationships/tags" Target="../tags/tag80.xml"/><Relationship Id="rId20" Type="http://schemas.openxmlformats.org/officeDocument/2006/relationships/tags" Target="../tags/tag84.xml"/><Relationship Id="rId1" Type="http://schemas.openxmlformats.org/officeDocument/2006/relationships/tags" Target="../tags/tag65.xml"/><Relationship Id="rId6" Type="http://schemas.openxmlformats.org/officeDocument/2006/relationships/tags" Target="../tags/tag70.xml"/><Relationship Id="rId11" Type="http://schemas.openxmlformats.org/officeDocument/2006/relationships/tags" Target="../tags/tag75.xml"/><Relationship Id="rId5" Type="http://schemas.openxmlformats.org/officeDocument/2006/relationships/tags" Target="../tags/tag69.xml"/><Relationship Id="rId15" Type="http://schemas.openxmlformats.org/officeDocument/2006/relationships/tags" Target="../tags/tag79.xml"/><Relationship Id="rId10" Type="http://schemas.openxmlformats.org/officeDocument/2006/relationships/tags" Target="../tags/tag74.xml"/><Relationship Id="rId19" Type="http://schemas.openxmlformats.org/officeDocument/2006/relationships/tags" Target="../tags/tag83.xml"/><Relationship Id="rId4" Type="http://schemas.openxmlformats.org/officeDocument/2006/relationships/tags" Target="../tags/tag68.xml"/><Relationship Id="rId9" Type="http://schemas.openxmlformats.org/officeDocument/2006/relationships/tags" Target="../tags/tag73.xml"/><Relationship Id="rId14" Type="http://schemas.openxmlformats.org/officeDocument/2006/relationships/tags" Target="../tags/tag78.xml"/><Relationship Id="rId22" Type="http://schemas.openxmlformats.org/officeDocument/2006/relationships/image" Target="../media/image25.svg"/></Relationships>
</file>

<file path=ppt/slides/_rels/slide10.xml.rels><?xml version="1.0" encoding="UTF-8" standalone="yes"?>
<Relationships xmlns="http://schemas.openxmlformats.org/package/2006/relationships"><Relationship Id="rId8" Type="http://schemas.openxmlformats.org/officeDocument/2006/relationships/tags" Target="../tags/tag92.xml"/><Relationship Id="rId13" Type="http://schemas.openxmlformats.org/officeDocument/2006/relationships/tags" Target="../tags/tag97.xml"/><Relationship Id="rId18" Type="http://schemas.openxmlformats.org/officeDocument/2006/relationships/tags" Target="../tags/tag102.xml"/><Relationship Id="rId3" Type="http://schemas.openxmlformats.org/officeDocument/2006/relationships/tags" Target="../tags/tag87.xml"/><Relationship Id="rId21" Type="http://schemas.openxmlformats.org/officeDocument/2006/relationships/slideLayout" Target="../slideLayouts/slideLayout3.xml"/><Relationship Id="rId7" Type="http://schemas.openxmlformats.org/officeDocument/2006/relationships/tags" Target="../tags/tag91.xml"/><Relationship Id="rId12" Type="http://schemas.openxmlformats.org/officeDocument/2006/relationships/tags" Target="../tags/tag96.xml"/><Relationship Id="rId17" Type="http://schemas.openxmlformats.org/officeDocument/2006/relationships/tags" Target="../tags/tag101.xml"/><Relationship Id="rId2" Type="http://schemas.openxmlformats.org/officeDocument/2006/relationships/tags" Target="../tags/tag86.xml"/><Relationship Id="rId16" Type="http://schemas.openxmlformats.org/officeDocument/2006/relationships/tags" Target="../tags/tag100.xml"/><Relationship Id="rId20" Type="http://schemas.openxmlformats.org/officeDocument/2006/relationships/tags" Target="../tags/tag104.xml"/><Relationship Id="rId1" Type="http://schemas.openxmlformats.org/officeDocument/2006/relationships/tags" Target="../tags/tag85.xml"/><Relationship Id="rId6" Type="http://schemas.openxmlformats.org/officeDocument/2006/relationships/tags" Target="../tags/tag90.xml"/><Relationship Id="rId11" Type="http://schemas.openxmlformats.org/officeDocument/2006/relationships/tags" Target="../tags/tag95.xml"/><Relationship Id="rId5" Type="http://schemas.openxmlformats.org/officeDocument/2006/relationships/tags" Target="../tags/tag89.xml"/><Relationship Id="rId15" Type="http://schemas.openxmlformats.org/officeDocument/2006/relationships/tags" Target="../tags/tag99.xml"/><Relationship Id="rId10" Type="http://schemas.openxmlformats.org/officeDocument/2006/relationships/tags" Target="../tags/tag94.xml"/><Relationship Id="rId19" Type="http://schemas.openxmlformats.org/officeDocument/2006/relationships/tags" Target="../tags/tag103.xml"/><Relationship Id="rId4" Type="http://schemas.openxmlformats.org/officeDocument/2006/relationships/tags" Target="../tags/tag88.xml"/><Relationship Id="rId9" Type="http://schemas.openxmlformats.org/officeDocument/2006/relationships/tags" Target="../tags/tag93.xml"/><Relationship Id="rId14" Type="http://schemas.openxmlformats.org/officeDocument/2006/relationships/tags" Target="../tags/tag98.xml"/><Relationship Id="rId22" Type="http://schemas.openxmlformats.org/officeDocument/2006/relationships/image" Target="../media/image25.sv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tags" Target="../tags/tag107.xml"/><Relationship Id="rId21" Type="http://schemas.openxmlformats.org/officeDocument/2006/relationships/image" Target="../media/image40.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tags" Target="../tags/tag106.xml"/><Relationship Id="rId16" Type="http://schemas.openxmlformats.org/officeDocument/2006/relationships/image" Target="../media/image35.png"/><Relationship Id="rId20" Type="http://schemas.openxmlformats.org/officeDocument/2006/relationships/image" Target="../media/image39.png"/><Relationship Id="rId1" Type="http://schemas.openxmlformats.org/officeDocument/2006/relationships/tags" Target="../tags/tag105.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slideLayout" Target="../slideLayouts/slideLayout3.xml"/><Relationship Id="rId15" Type="http://schemas.openxmlformats.org/officeDocument/2006/relationships/image" Target="../media/image34.png"/><Relationship Id="rId23" Type="http://schemas.openxmlformats.org/officeDocument/2006/relationships/image" Target="../media/image42.png"/><Relationship Id="rId10" Type="http://schemas.openxmlformats.org/officeDocument/2006/relationships/image" Target="../media/image29.png"/><Relationship Id="rId19" Type="http://schemas.openxmlformats.org/officeDocument/2006/relationships/image" Target="../media/image38.png"/><Relationship Id="rId4" Type="http://schemas.openxmlformats.org/officeDocument/2006/relationships/tags" Target="../tags/tag108.xml"/><Relationship Id="rId9" Type="http://schemas.openxmlformats.org/officeDocument/2006/relationships/image" Target="../media/image28.png"/><Relationship Id="rId14" Type="http://schemas.openxmlformats.org/officeDocument/2006/relationships/image" Target="../media/image33.png"/><Relationship Id="rId22" Type="http://schemas.openxmlformats.org/officeDocument/2006/relationships/image" Target="../media/image41.png"/></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tags" Target="../tags/tag111.xml"/><Relationship Id="rId21" Type="http://schemas.openxmlformats.org/officeDocument/2006/relationships/image" Target="../media/image40.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tags" Target="../tags/tag110.xml"/><Relationship Id="rId16" Type="http://schemas.openxmlformats.org/officeDocument/2006/relationships/image" Target="../media/image35.png"/><Relationship Id="rId20" Type="http://schemas.openxmlformats.org/officeDocument/2006/relationships/image" Target="../media/image39.png"/><Relationship Id="rId1" Type="http://schemas.openxmlformats.org/officeDocument/2006/relationships/tags" Target="../tags/tag109.xml"/><Relationship Id="rId6" Type="http://schemas.openxmlformats.org/officeDocument/2006/relationships/image" Target="../media/image43.png"/><Relationship Id="rId11" Type="http://schemas.openxmlformats.org/officeDocument/2006/relationships/image" Target="../media/image30.png"/><Relationship Id="rId5" Type="http://schemas.openxmlformats.org/officeDocument/2006/relationships/slideLayout" Target="../slideLayouts/slideLayout3.xml"/><Relationship Id="rId15" Type="http://schemas.openxmlformats.org/officeDocument/2006/relationships/image" Target="../media/image34.png"/><Relationship Id="rId10" Type="http://schemas.openxmlformats.org/officeDocument/2006/relationships/image" Target="../media/image29.png"/><Relationship Id="rId19" Type="http://schemas.openxmlformats.org/officeDocument/2006/relationships/image" Target="../media/image38.png"/><Relationship Id="rId4" Type="http://schemas.openxmlformats.org/officeDocument/2006/relationships/tags" Target="../tags/tag112.xml"/><Relationship Id="rId9" Type="http://schemas.openxmlformats.org/officeDocument/2006/relationships/image" Target="../media/image28.png"/><Relationship Id="rId14" Type="http://schemas.openxmlformats.org/officeDocument/2006/relationships/image" Target="../media/image33.png"/><Relationship Id="rId22" Type="http://schemas.openxmlformats.org/officeDocument/2006/relationships/image" Target="../media/image41.png"/></Relationships>
</file>

<file path=ppt/slides/_rels/slide13.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18" Type="http://schemas.openxmlformats.org/officeDocument/2006/relationships/image" Target="../media/image54.png"/><Relationship Id="rId3" Type="http://schemas.openxmlformats.org/officeDocument/2006/relationships/tags" Target="../tags/tag115.xml"/><Relationship Id="rId21" Type="http://schemas.openxmlformats.org/officeDocument/2006/relationships/image" Target="../media/image57.png"/><Relationship Id="rId7" Type="http://schemas.openxmlformats.org/officeDocument/2006/relationships/image" Target="../media/image26.png"/><Relationship Id="rId12" Type="http://schemas.openxmlformats.org/officeDocument/2006/relationships/image" Target="../media/image48.png"/><Relationship Id="rId17" Type="http://schemas.openxmlformats.org/officeDocument/2006/relationships/image" Target="../media/image53.png"/><Relationship Id="rId2" Type="http://schemas.openxmlformats.org/officeDocument/2006/relationships/tags" Target="../tags/tag114.xml"/><Relationship Id="rId16" Type="http://schemas.openxmlformats.org/officeDocument/2006/relationships/image" Target="../media/image52.png"/><Relationship Id="rId20" Type="http://schemas.openxmlformats.org/officeDocument/2006/relationships/image" Target="../media/image56.png"/><Relationship Id="rId1" Type="http://schemas.openxmlformats.org/officeDocument/2006/relationships/tags" Target="../tags/tag113.xml"/><Relationship Id="rId6" Type="http://schemas.openxmlformats.org/officeDocument/2006/relationships/image" Target="../media/image430.png"/><Relationship Id="rId11" Type="http://schemas.openxmlformats.org/officeDocument/2006/relationships/image" Target="../media/image47.png"/><Relationship Id="rId5" Type="http://schemas.openxmlformats.org/officeDocument/2006/relationships/slideLayout" Target="../slideLayouts/slideLayout3.xml"/><Relationship Id="rId15" Type="http://schemas.openxmlformats.org/officeDocument/2006/relationships/image" Target="../media/image51.png"/><Relationship Id="rId23" Type="http://schemas.openxmlformats.org/officeDocument/2006/relationships/image" Target="../media/image42.png"/><Relationship Id="rId10" Type="http://schemas.openxmlformats.org/officeDocument/2006/relationships/image" Target="../media/image46.png"/><Relationship Id="rId19" Type="http://schemas.openxmlformats.org/officeDocument/2006/relationships/image" Target="../media/image55.png"/><Relationship Id="rId4" Type="http://schemas.openxmlformats.org/officeDocument/2006/relationships/tags" Target="../tags/tag116.xml"/><Relationship Id="rId9" Type="http://schemas.openxmlformats.org/officeDocument/2006/relationships/image" Target="../media/image45.png"/><Relationship Id="rId14" Type="http://schemas.openxmlformats.org/officeDocument/2006/relationships/image" Target="../media/image50.png"/><Relationship Id="rId22" Type="http://schemas.openxmlformats.org/officeDocument/2006/relationships/image" Target="../media/image5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tags" Target="../tags/tag124.xml"/><Relationship Id="rId13" Type="http://schemas.openxmlformats.org/officeDocument/2006/relationships/tags" Target="../tags/tag129.xml"/><Relationship Id="rId18" Type="http://schemas.openxmlformats.org/officeDocument/2006/relationships/tags" Target="../tags/tag134.xml"/><Relationship Id="rId3" Type="http://schemas.openxmlformats.org/officeDocument/2006/relationships/tags" Target="../tags/tag119.xml"/><Relationship Id="rId21" Type="http://schemas.openxmlformats.org/officeDocument/2006/relationships/tags" Target="../tags/tag137.xml"/><Relationship Id="rId7" Type="http://schemas.openxmlformats.org/officeDocument/2006/relationships/tags" Target="../tags/tag123.xml"/><Relationship Id="rId12" Type="http://schemas.openxmlformats.org/officeDocument/2006/relationships/tags" Target="../tags/tag128.xml"/><Relationship Id="rId17" Type="http://schemas.openxmlformats.org/officeDocument/2006/relationships/tags" Target="../tags/tag133.xml"/><Relationship Id="rId2" Type="http://schemas.openxmlformats.org/officeDocument/2006/relationships/tags" Target="../tags/tag118.xml"/><Relationship Id="rId16" Type="http://schemas.openxmlformats.org/officeDocument/2006/relationships/tags" Target="../tags/tag132.xml"/><Relationship Id="rId20" Type="http://schemas.openxmlformats.org/officeDocument/2006/relationships/tags" Target="../tags/tag136.xml"/><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tags" Target="../tags/tag127.xml"/><Relationship Id="rId5" Type="http://schemas.openxmlformats.org/officeDocument/2006/relationships/tags" Target="../tags/tag121.xml"/><Relationship Id="rId15" Type="http://schemas.openxmlformats.org/officeDocument/2006/relationships/tags" Target="../tags/tag131.xml"/><Relationship Id="rId23" Type="http://schemas.openxmlformats.org/officeDocument/2006/relationships/slideLayout" Target="../slideLayouts/slideLayout3.xml"/><Relationship Id="rId10" Type="http://schemas.openxmlformats.org/officeDocument/2006/relationships/tags" Target="../tags/tag126.xml"/><Relationship Id="rId19" Type="http://schemas.openxmlformats.org/officeDocument/2006/relationships/tags" Target="../tags/tag135.xml"/><Relationship Id="rId4" Type="http://schemas.openxmlformats.org/officeDocument/2006/relationships/tags" Target="../tags/tag120.xml"/><Relationship Id="rId9" Type="http://schemas.openxmlformats.org/officeDocument/2006/relationships/tags" Target="../tags/tag125.xml"/><Relationship Id="rId14" Type="http://schemas.openxmlformats.org/officeDocument/2006/relationships/tags" Target="../tags/tag130.xml"/><Relationship Id="rId22" Type="http://schemas.openxmlformats.org/officeDocument/2006/relationships/tags" Target="../tags/tag138.xml"/></Relationships>
</file>

<file path=ppt/slides/_rels/slide17.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tags" Target="../tags/tag151.xml"/><Relationship Id="rId18" Type="http://schemas.openxmlformats.org/officeDocument/2006/relationships/tags" Target="../tags/tag156.xml"/><Relationship Id="rId3" Type="http://schemas.openxmlformats.org/officeDocument/2006/relationships/tags" Target="../tags/tag141.xml"/><Relationship Id="rId21" Type="http://schemas.openxmlformats.org/officeDocument/2006/relationships/tags" Target="../tags/tag159.xml"/><Relationship Id="rId7" Type="http://schemas.openxmlformats.org/officeDocument/2006/relationships/tags" Target="../tags/tag145.xml"/><Relationship Id="rId12" Type="http://schemas.openxmlformats.org/officeDocument/2006/relationships/tags" Target="../tags/tag150.xml"/><Relationship Id="rId17" Type="http://schemas.openxmlformats.org/officeDocument/2006/relationships/tags" Target="../tags/tag155.xml"/><Relationship Id="rId2" Type="http://schemas.openxmlformats.org/officeDocument/2006/relationships/tags" Target="../tags/tag140.xml"/><Relationship Id="rId16" Type="http://schemas.openxmlformats.org/officeDocument/2006/relationships/tags" Target="../tags/tag154.xml"/><Relationship Id="rId20" Type="http://schemas.openxmlformats.org/officeDocument/2006/relationships/tags" Target="../tags/tag158.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tags" Target="../tags/tag149.xml"/><Relationship Id="rId5" Type="http://schemas.openxmlformats.org/officeDocument/2006/relationships/tags" Target="../tags/tag143.xml"/><Relationship Id="rId15" Type="http://schemas.openxmlformats.org/officeDocument/2006/relationships/tags" Target="../tags/tag153.xml"/><Relationship Id="rId23" Type="http://schemas.openxmlformats.org/officeDocument/2006/relationships/slideLayout" Target="../slideLayouts/slideLayout13.xml"/><Relationship Id="rId10" Type="http://schemas.openxmlformats.org/officeDocument/2006/relationships/tags" Target="../tags/tag148.xml"/><Relationship Id="rId19" Type="http://schemas.openxmlformats.org/officeDocument/2006/relationships/tags" Target="../tags/tag157.xml"/><Relationship Id="rId4" Type="http://schemas.openxmlformats.org/officeDocument/2006/relationships/tags" Target="../tags/tag142.xml"/><Relationship Id="rId9" Type="http://schemas.openxmlformats.org/officeDocument/2006/relationships/tags" Target="../tags/tag147.xml"/><Relationship Id="rId14" Type="http://schemas.openxmlformats.org/officeDocument/2006/relationships/tags" Target="../tags/tag152.xml"/><Relationship Id="rId22" Type="http://schemas.openxmlformats.org/officeDocument/2006/relationships/tags" Target="../tags/tag16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1.xml"/></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3.xml"/><Relationship Id="rId1" Type="http://schemas.openxmlformats.org/officeDocument/2006/relationships/tags" Target="../tags/tag162.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8" Type="http://schemas.openxmlformats.org/officeDocument/2006/relationships/tags" Target="../tags/tag170.xml"/><Relationship Id="rId13" Type="http://schemas.openxmlformats.org/officeDocument/2006/relationships/image" Target="../media/image62.png"/><Relationship Id="rId3" Type="http://schemas.openxmlformats.org/officeDocument/2006/relationships/tags" Target="../tags/tag165.xml"/><Relationship Id="rId7" Type="http://schemas.openxmlformats.org/officeDocument/2006/relationships/tags" Target="../tags/tag169.xml"/><Relationship Id="rId12" Type="http://schemas.openxmlformats.org/officeDocument/2006/relationships/image" Target="../media/image61.svg"/><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tags" Target="../tags/tag168.xml"/><Relationship Id="rId11" Type="http://schemas.openxmlformats.org/officeDocument/2006/relationships/image" Target="../media/image60.png"/><Relationship Id="rId5" Type="http://schemas.openxmlformats.org/officeDocument/2006/relationships/tags" Target="../tags/tag167.xml"/><Relationship Id="rId10" Type="http://schemas.openxmlformats.org/officeDocument/2006/relationships/slideLayout" Target="../slideLayouts/slideLayout3.xml"/><Relationship Id="rId4" Type="http://schemas.openxmlformats.org/officeDocument/2006/relationships/tags" Target="../tags/tag166.xml"/><Relationship Id="rId9" Type="http://schemas.openxmlformats.org/officeDocument/2006/relationships/tags" Target="../tags/tag17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tags" Target="../tags/tag179.xml"/><Relationship Id="rId13" Type="http://schemas.openxmlformats.org/officeDocument/2006/relationships/tags" Target="../tags/tag184.xml"/><Relationship Id="rId18" Type="http://schemas.openxmlformats.org/officeDocument/2006/relationships/slideLayout" Target="../slideLayouts/slideLayout3.xml"/><Relationship Id="rId3" Type="http://schemas.openxmlformats.org/officeDocument/2006/relationships/tags" Target="../tags/tag174.xml"/><Relationship Id="rId21" Type="http://schemas.openxmlformats.org/officeDocument/2006/relationships/hyperlink" Target="https://svgsilh.com/de/image/2541651.html" TargetMode="External"/><Relationship Id="rId7" Type="http://schemas.openxmlformats.org/officeDocument/2006/relationships/tags" Target="../tags/tag178.xml"/><Relationship Id="rId12" Type="http://schemas.openxmlformats.org/officeDocument/2006/relationships/tags" Target="../tags/tag183.xml"/><Relationship Id="rId17" Type="http://schemas.openxmlformats.org/officeDocument/2006/relationships/tags" Target="../tags/tag188.xml"/><Relationship Id="rId2" Type="http://schemas.openxmlformats.org/officeDocument/2006/relationships/tags" Target="../tags/tag173.xml"/><Relationship Id="rId16" Type="http://schemas.openxmlformats.org/officeDocument/2006/relationships/tags" Target="../tags/tag187.xml"/><Relationship Id="rId20" Type="http://schemas.openxmlformats.org/officeDocument/2006/relationships/image" Target="../media/image64.svg"/><Relationship Id="rId1" Type="http://schemas.openxmlformats.org/officeDocument/2006/relationships/tags" Target="../tags/tag172.xml"/><Relationship Id="rId6" Type="http://schemas.openxmlformats.org/officeDocument/2006/relationships/tags" Target="../tags/tag177.xml"/><Relationship Id="rId11" Type="http://schemas.openxmlformats.org/officeDocument/2006/relationships/tags" Target="../tags/tag182.xml"/><Relationship Id="rId5" Type="http://schemas.openxmlformats.org/officeDocument/2006/relationships/tags" Target="../tags/tag176.xml"/><Relationship Id="rId15" Type="http://schemas.openxmlformats.org/officeDocument/2006/relationships/tags" Target="../tags/tag186.xml"/><Relationship Id="rId23" Type="http://schemas.openxmlformats.org/officeDocument/2006/relationships/image" Target="../media/image66.png"/><Relationship Id="rId10" Type="http://schemas.openxmlformats.org/officeDocument/2006/relationships/tags" Target="../tags/tag181.xml"/><Relationship Id="rId19" Type="http://schemas.openxmlformats.org/officeDocument/2006/relationships/image" Target="../media/image63.png"/><Relationship Id="rId4" Type="http://schemas.openxmlformats.org/officeDocument/2006/relationships/tags" Target="../tags/tag175.xml"/><Relationship Id="rId9" Type="http://schemas.openxmlformats.org/officeDocument/2006/relationships/tags" Target="../tags/tag180.xml"/><Relationship Id="rId14" Type="http://schemas.openxmlformats.org/officeDocument/2006/relationships/tags" Target="../tags/tag185.xml"/><Relationship Id="rId22" Type="http://schemas.openxmlformats.org/officeDocument/2006/relationships/image" Target="../media/image65.svg"/></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3390/designs9060123" TargetMode="External"/><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simonschaluppe/peexcel/blob/master/docs/Handbuch%20zur%20Nachweisf%C3%BChrung.pdf" TargetMode="External"/><Relationship Id="rId2" Type="http://schemas.openxmlformats.org/officeDocument/2006/relationships/hyperlink" Target="https://github.com/simonschaluppe/peexcel/blob/master/peexcel/ka_PEQ_Nachweistool.xlsb" TargetMode="External"/><Relationship Id="rId1" Type="http://schemas.openxmlformats.org/officeDocument/2006/relationships/slideLayout" Target="../slideLayouts/slideLayout3.xml"/><Relationship Id="rId6" Type="http://schemas.openxmlformats.org/officeDocument/2006/relationships/image" Target="../media/image67.png"/><Relationship Id="rId5" Type="http://schemas.openxmlformats.org/officeDocument/2006/relationships/hyperlink" Target="https://github.com/simonschaluppe/peexcel" TargetMode="External"/><Relationship Id="rId4" Type="http://schemas.openxmlformats.org/officeDocument/2006/relationships/hyperlink" Target="https://github.com/simonschaluppe/peexcel/blob/master/docs/Leitfaden%20PEQ%20Definition%20und%20Operationalisierung_StandJuni2023.pdf" TargetMode="External"/></Relationships>
</file>

<file path=ppt/slides/_rels/slide26.xml.rels><?xml version="1.0" encoding="UTF-8" standalone="yes"?>
<Relationships xmlns="http://schemas.openxmlformats.org/package/2006/relationships"><Relationship Id="rId8" Type="http://schemas.openxmlformats.org/officeDocument/2006/relationships/image" Target="../media/image74.emf"/><Relationship Id="rId13" Type="http://schemas.openxmlformats.org/officeDocument/2006/relationships/image" Target="../media/image79.emf"/><Relationship Id="rId18" Type="http://schemas.openxmlformats.org/officeDocument/2006/relationships/image" Target="../media/image81.png"/><Relationship Id="rId3" Type="http://schemas.openxmlformats.org/officeDocument/2006/relationships/image" Target="../media/image69.emf"/><Relationship Id="rId21" Type="http://schemas.openxmlformats.org/officeDocument/2006/relationships/image" Target="../media/image84.emf"/><Relationship Id="rId7" Type="http://schemas.openxmlformats.org/officeDocument/2006/relationships/image" Target="../media/image73.emf"/><Relationship Id="rId12" Type="http://schemas.openxmlformats.org/officeDocument/2006/relationships/image" Target="../media/image78.emf"/><Relationship Id="rId17" Type="http://schemas.openxmlformats.org/officeDocument/2006/relationships/image" Target="../media/image80.png"/><Relationship Id="rId2" Type="http://schemas.openxmlformats.org/officeDocument/2006/relationships/image" Target="../media/image68.emf"/><Relationship Id="rId16" Type="http://schemas.openxmlformats.org/officeDocument/2006/relationships/hyperlink" Target="file:///C:\Users\Simon%20Schneider\Code\peexcel\peexcel\&#127774;PV" TargetMode="External"/><Relationship Id="rId20" Type="http://schemas.openxmlformats.org/officeDocument/2006/relationships/image" Target="../media/image83.png"/><Relationship Id="rId1" Type="http://schemas.openxmlformats.org/officeDocument/2006/relationships/slideLayout" Target="../slideLayouts/slideLayout3.xml"/><Relationship Id="rId6" Type="http://schemas.openxmlformats.org/officeDocument/2006/relationships/image" Target="../media/image72.emf"/><Relationship Id="rId11" Type="http://schemas.openxmlformats.org/officeDocument/2006/relationships/image" Target="../media/image77.emf"/><Relationship Id="rId5" Type="http://schemas.openxmlformats.org/officeDocument/2006/relationships/image" Target="../media/image71.emf"/><Relationship Id="rId15" Type="http://schemas.openxmlformats.org/officeDocument/2006/relationships/hyperlink" Target="#RANGE!A1"/><Relationship Id="rId23" Type="http://schemas.openxmlformats.org/officeDocument/2006/relationships/image" Target="../media/image86.png"/><Relationship Id="rId10" Type="http://schemas.openxmlformats.org/officeDocument/2006/relationships/image" Target="../media/image76.emf"/><Relationship Id="rId19" Type="http://schemas.openxmlformats.org/officeDocument/2006/relationships/image" Target="../media/image82.png"/><Relationship Id="rId4" Type="http://schemas.openxmlformats.org/officeDocument/2006/relationships/image" Target="../media/image70.emf"/><Relationship Id="rId9" Type="http://schemas.openxmlformats.org/officeDocument/2006/relationships/image" Target="../media/image75.emf"/><Relationship Id="rId14" Type="http://schemas.openxmlformats.org/officeDocument/2006/relationships/hyperlink" Target="file:///C:\Users\Simon%20Schneider\Code\peexcel\peexcel\&#128293;H" TargetMode="External"/><Relationship Id="rId22" Type="http://schemas.openxmlformats.org/officeDocument/2006/relationships/image" Target="../media/image85.emf"/></Relationships>
</file>

<file path=ppt/slides/_rels/slide27.xml.rels><?xml version="1.0" encoding="UTF-8" standalone="yes"?>
<Relationships xmlns="http://schemas.openxmlformats.org/package/2006/relationships"><Relationship Id="rId8" Type="http://schemas.openxmlformats.org/officeDocument/2006/relationships/image" Target="../media/image74.emf"/><Relationship Id="rId13" Type="http://schemas.openxmlformats.org/officeDocument/2006/relationships/image" Target="../media/image79.emf"/><Relationship Id="rId18" Type="http://schemas.openxmlformats.org/officeDocument/2006/relationships/image" Target="../media/image83.png"/><Relationship Id="rId3" Type="http://schemas.openxmlformats.org/officeDocument/2006/relationships/image" Target="../media/image69.emf"/><Relationship Id="rId7" Type="http://schemas.openxmlformats.org/officeDocument/2006/relationships/image" Target="../media/image73.emf"/><Relationship Id="rId12" Type="http://schemas.openxmlformats.org/officeDocument/2006/relationships/image" Target="../media/image78.emf"/><Relationship Id="rId17" Type="http://schemas.openxmlformats.org/officeDocument/2006/relationships/image" Target="../media/image82.png"/><Relationship Id="rId2" Type="http://schemas.openxmlformats.org/officeDocument/2006/relationships/image" Target="../media/image68.emf"/><Relationship Id="rId16" Type="http://schemas.openxmlformats.org/officeDocument/2006/relationships/image" Target="../media/image80.png"/><Relationship Id="rId1" Type="http://schemas.openxmlformats.org/officeDocument/2006/relationships/slideLayout" Target="../slideLayouts/slideLayout3.xml"/><Relationship Id="rId6" Type="http://schemas.openxmlformats.org/officeDocument/2006/relationships/image" Target="../media/image72.emf"/><Relationship Id="rId11" Type="http://schemas.openxmlformats.org/officeDocument/2006/relationships/image" Target="../media/image77.emf"/><Relationship Id="rId5" Type="http://schemas.openxmlformats.org/officeDocument/2006/relationships/image" Target="../media/image71.emf"/><Relationship Id="rId15" Type="http://schemas.openxmlformats.org/officeDocument/2006/relationships/hyperlink" Target="file:///C:\Users\Simon%20Schneider\Code\peexcel\peexcel\&#127774;PV" TargetMode="External"/><Relationship Id="rId10" Type="http://schemas.openxmlformats.org/officeDocument/2006/relationships/image" Target="../media/image76.emf"/><Relationship Id="rId19" Type="http://schemas.openxmlformats.org/officeDocument/2006/relationships/image" Target="../media/image84.emf"/><Relationship Id="rId4" Type="http://schemas.openxmlformats.org/officeDocument/2006/relationships/image" Target="../media/image70.emf"/><Relationship Id="rId9" Type="http://schemas.openxmlformats.org/officeDocument/2006/relationships/image" Target="../media/image75.emf"/><Relationship Id="rId14" Type="http://schemas.openxmlformats.org/officeDocument/2006/relationships/hyperlink" Target="file:///C:\Users\Simon%20Schneider\Code\peexcel\peexcel\&#128293;H" TargetMode="External"/></Relationships>
</file>

<file path=ppt/slides/_rels/slide28.xml.rels><?xml version="1.0" encoding="UTF-8" standalone="yes"?>
<Relationships xmlns="http://schemas.openxmlformats.org/package/2006/relationships"><Relationship Id="rId8" Type="http://schemas.openxmlformats.org/officeDocument/2006/relationships/image" Target="../media/image74.emf"/><Relationship Id="rId13" Type="http://schemas.openxmlformats.org/officeDocument/2006/relationships/image" Target="../media/image79.emf"/><Relationship Id="rId18" Type="http://schemas.openxmlformats.org/officeDocument/2006/relationships/image" Target="../media/image81.png"/><Relationship Id="rId3" Type="http://schemas.openxmlformats.org/officeDocument/2006/relationships/image" Target="../media/image69.emf"/><Relationship Id="rId21" Type="http://schemas.openxmlformats.org/officeDocument/2006/relationships/image" Target="../media/image84.emf"/><Relationship Id="rId7" Type="http://schemas.openxmlformats.org/officeDocument/2006/relationships/image" Target="../media/image73.emf"/><Relationship Id="rId12" Type="http://schemas.openxmlformats.org/officeDocument/2006/relationships/image" Target="../media/image78.emf"/><Relationship Id="rId17" Type="http://schemas.openxmlformats.org/officeDocument/2006/relationships/image" Target="../media/image80.png"/><Relationship Id="rId2" Type="http://schemas.openxmlformats.org/officeDocument/2006/relationships/image" Target="../media/image68.emf"/><Relationship Id="rId16" Type="http://schemas.openxmlformats.org/officeDocument/2006/relationships/hyperlink" Target="file:///C:\Users\Simon%20Schneider\Code\peexcel\peexcel\&#127774;PV" TargetMode="External"/><Relationship Id="rId20" Type="http://schemas.openxmlformats.org/officeDocument/2006/relationships/image" Target="../media/image83.png"/><Relationship Id="rId1" Type="http://schemas.openxmlformats.org/officeDocument/2006/relationships/slideLayout" Target="../slideLayouts/slideLayout3.xml"/><Relationship Id="rId6" Type="http://schemas.openxmlformats.org/officeDocument/2006/relationships/image" Target="../media/image72.emf"/><Relationship Id="rId11" Type="http://schemas.openxmlformats.org/officeDocument/2006/relationships/image" Target="../media/image77.emf"/><Relationship Id="rId5" Type="http://schemas.openxmlformats.org/officeDocument/2006/relationships/image" Target="../media/image71.emf"/><Relationship Id="rId15" Type="http://schemas.openxmlformats.org/officeDocument/2006/relationships/hyperlink" Target="#RANGE!A1"/><Relationship Id="rId23" Type="http://schemas.openxmlformats.org/officeDocument/2006/relationships/image" Target="../media/image86.png"/><Relationship Id="rId10" Type="http://schemas.openxmlformats.org/officeDocument/2006/relationships/image" Target="../media/image76.emf"/><Relationship Id="rId19" Type="http://schemas.openxmlformats.org/officeDocument/2006/relationships/image" Target="../media/image82.png"/><Relationship Id="rId4" Type="http://schemas.openxmlformats.org/officeDocument/2006/relationships/image" Target="../media/image70.emf"/><Relationship Id="rId9" Type="http://schemas.openxmlformats.org/officeDocument/2006/relationships/image" Target="../media/image75.emf"/><Relationship Id="rId14" Type="http://schemas.openxmlformats.org/officeDocument/2006/relationships/hyperlink" Target="file:///C:\Users\Simon%20Schneider\Code\peexcel\peexcel\&#128293;H" TargetMode="External"/><Relationship Id="rId22" Type="http://schemas.openxmlformats.org/officeDocument/2006/relationships/image" Target="../media/image85.emf"/></Relationships>
</file>

<file path=ppt/slides/_rels/slide2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hyperlink" Target="https://www.baubook.at/eco2soft/" TargetMode="Externa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image" Target="../media/image92.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6" Type="http://schemas.openxmlformats.org/officeDocument/2006/relationships/tags" Target="../tags/tag214.xml"/><Relationship Id="rId21" Type="http://schemas.openxmlformats.org/officeDocument/2006/relationships/tags" Target="../tags/tag209.xml"/><Relationship Id="rId34" Type="http://schemas.openxmlformats.org/officeDocument/2006/relationships/tags" Target="../tags/tag222.xml"/><Relationship Id="rId42" Type="http://schemas.openxmlformats.org/officeDocument/2006/relationships/tags" Target="../tags/tag230.xml"/><Relationship Id="rId47" Type="http://schemas.openxmlformats.org/officeDocument/2006/relationships/tags" Target="../tags/tag235.xml"/><Relationship Id="rId50" Type="http://schemas.openxmlformats.org/officeDocument/2006/relationships/tags" Target="../tags/tag238.xml"/><Relationship Id="rId55" Type="http://schemas.openxmlformats.org/officeDocument/2006/relationships/tags" Target="../tags/tag243.xml"/><Relationship Id="rId63" Type="http://schemas.openxmlformats.org/officeDocument/2006/relationships/tags" Target="../tags/tag251.xml"/><Relationship Id="rId68" Type="http://schemas.openxmlformats.org/officeDocument/2006/relationships/image" Target="../media/image95.png"/><Relationship Id="rId7" Type="http://schemas.openxmlformats.org/officeDocument/2006/relationships/tags" Target="../tags/tag195.xml"/><Relationship Id="rId2" Type="http://schemas.openxmlformats.org/officeDocument/2006/relationships/tags" Target="../tags/tag190.xml"/><Relationship Id="rId16" Type="http://schemas.openxmlformats.org/officeDocument/2006/relationships/tags" Target="../tags/tag204.xml"/><Relationship Id="rId29" Type="http://schemas.openxmlformats.org/officeDocument/2006/relationships/tags" Target="../tags/tag217.xml"/><Relationship Id="rId11" Type="http://schemas.openxmlformats.org/officeDocument/2006/relationships/tags" Target="../tags/tag199.xml"/><Relationship Id="rId24" Type="http://schemas.openxmlformats.org/officeDocument/2006/relationships/tags" Target="../tags/tag212.xml"/><Relationship Id="rId32" Type="http://schemas.openxmlformats.org/officeDocument/2006/relationships/tags" Target="../tags/tag220.xml"/><Relationship Id="rId37" Type="http://schemas.openxmlformats.org/officeDocument/2006/relationships/tags" Target="../tags/tag225.xml"/><Relationship Id="rId40" Type="http://schemas.openxmlformats.org/officeDocument/2006/relationships/tags" Target="../tags/tag228.xml"/><Relationship Id="rId45" Type="http://schemas.openxmlformats.org/officeDocument/2006/relationships/tags" Target="../tags/tag233.xml"/><Relationship Id="rId53" Type="http://schemas.openxmlformats.org/officeDocument/2006/relationships/tags" Target="../tags/tag241.xml"/><Relationship Id="rId58" Type="http://schemas.openxmlformats.org/officeDocument/2006/relationships/tags" Target="../tags/tag246.xml"/><Relationship Id="rId66" Type="http://schemas.openxmlformats.org/officeDocument/2006/relationships/hyperlink" Target="mailto:Simon.schneider@technikum-wien.at" TargetMode="External"/><Relationship Id="rId5" Type="http://schemas.openxmlformats.org/officeDocument/2006/relationships/tags" Target="../tags/tag193.xml"/><Relationship Id="rId61" Type="http://schemas.openxmlformats.org/officeDocument/2006/relationships/tags" Target="../tags/tag249.xml"/><Relationship Id="rId19" Type="http://schemas.openxmlformats.org/officeDocument/2006/relationships/tags" Target="../tags/tag207.xml"/><Relationship Id="rId14" Type="http://schemas.openxmlformats.org/officeDocument/2006/relationships/tags" Target="../tags/tag202.xml"/><Relationship Id="rId22" Type="http://schemas.openxmlformats.org/officeDocument/2006/relationships/tags" Target="../tags/tag210.xml"/><Relationship Id="rId27" Type="http://schemas.openxmlformats.org/officeDocument/2006/relationships/tags" Target="../tags/tag215.xml"/><Relationship Id="rId30" Type="http://schemas.openxmlformats.org/officeDocument/2006/relationships/tags" Target="../tags/tag218.xml"/><Relationship Id="rId35" Type="http://schemas.openxmlformats.org/officeDocument/2006/relationships/tags" Target="../tags/tag223.xml"/><Relationship Id="rId43" Type="http://schemas.openxmlformats.org/officeDocument/2006/relationships/tags" Target="../tags/tag231.xml"/><Relationship Id="rId48" Type="http://schemas.openxmlformats.org/officeDocument/2006/relationships/tags" Target="../tags/tag236.xml"/><Relationship Id="rId56" Type="http://schemas.openxmlformats.org/officeDocument/2006/relationships/tags" Target="../tags/tag244.xml"/><Relationship Id="rId64" Type="http://schemas.openxmlformats.org/officeDocument/2006/relationships/tags" Target="../tags/tag252.xml"/><Relationship Id="rId8" Type="http://schemas.openxmlformats.org/officeDocument/2006/relationships/tags" Target="../tags/tag196.xml"/><Relationship Id="rId51" Type="http://schemas.openxmlformats.org/officeDocument/2006/relationships/tags" Target="../tags/tag239.xml"/><Relationship Id="rId3" Type="http://schemas.openxmlformats.org/officeDocument/2006/relationships/tags" Target="../tags/tag191.xml"/><Relationship Id="rId12" Type="http://schemas.openxmlformats.org/officeDocument/2006/relationships/tags" Target="../tags/tag200.xml"/><Relationship Id="rId17" Type="http://schemas.openxmlformats.org/officeDocument/2006/relationships/tags" Target="../tags/tag205.xml"/><Relationship Id="rId25" Type="http://schemas.openxmlformats.org/officeDocument/2006/relationships/tags" Target="../tags/tag213.xml"/><Relationship Id="rId33" Type="http://schemas.openxmlformats.org/officeDocument/2006/relationships/tags" Target="../tags/tag221.xml"/><Relationship Id="rId38" Type="http://schemas.openxmlformats.org/officeDocument/2006/relationships/tags" Target="../tags/tag226.xml"/><Relationship Id="rId46" Type="http://schemas.openxmlformats.org/officeDocument/2006/relationships/tags" Target="../tags/tag234.xml"/><Relationship Id="rId59" Type="http://schemas.openxmlformats.org/officeDocument/2006/relationships/tags" Target="../tags/tag247.xml"/><Relationship Id="rId67" Type="http://schemas.openxmlformats.org/officeDocument/2006/relationships/image" Target="../media/image94.png"/><Relationship Id="rId20" Type="http://schemas.openxmlformats.org/officeDocument/2006/relationships/tags" Target="../tags/tag208.xml"/><Relationship Id="rId41" Type="http://schemas.openxmlformats.org/officeDocument/2006/relationships/tags" Target="../tags/tag229.xml"/><Relationship Id="rId54" Type="http://schemas.openxmlformats.org/officeDocument/2006/relationships/tags" Target="../tags/tag242.xml"/><Relationship Id="rId62" Type="http://schemas.openxmlformats.org/officeDocument/2006/relationships/tags" Target="../tags/tag250.xml"/><Relationship Id="rId1" Type="http://schemas.openxmlformats.org/officeDocument/2006/relationships/tags" Target="../tags/tag189.xml"/><Relationship Id="rId6" Type="http://schemas.openxmlformats.org/officeDocument/2006/relationships/tags" Target="../tags/tag194.xml"/><Relationship Id="rId15" Type="http://schemas.openxmlformats.org/officeDocument/2006/relationships/tags" Target="../tags/tag203.xml"/><Relationship Id="rId23" Type="http://schemas.openxmlformats.org/officeDocument/2006/relationships/tags" Target="../tags/tag211.xml"/><Relationship Id="rId28" Type="http://schemas.openxmlformats.org/officeDocument/2006/relationships/tags" Target="../tags/tag216.xml"/><Relationship Id="rId36" Type="http://schemas.openxmlformats.org/officeDocument/2006/relationships/tags" Target="../tags/tag224.xml"/><Relationship Id="rId49" Type="http://schemas.openxmlformats.org/officeDocument/2006/relationships/tags" Target="../tags/tag237.xml"/><Relationship Id="rId57" Type="http://schemas.openxmlformats.org/officeDocument/2006/relationships/tags" Target="../tags/tag245.xml"/><Relationship Id="rId10" Type="http://schemas.openxmlformats.org/officeDocument/2006/relationships/tags" Target="../tags/tag198.xml"/><Relationship Id="rId31" Type="http://schemas.openxmlformats.org/officeDocument/2006/relationships/tags" Target="../tags/tag219.xml"/><Relationship Id="rId44" Type="http://schemas.openxmlformats.org/officeDocument/2006/relationships/tags" Target="../tags/tag232.xml"/><Relationship Id="rId52" Type="http://schemas.openxmlformats.org/officeDocument/2006/relationships/tags" Target="../tags/tag240.xml"/><Relationship Id="rId60" Type="http://schemas.openxmlformats.org/officeDocument/2006/relationships/tags" Target="../tags/tag248.xml"/><Relationship Id="rId65" Type="http://schemas.openxmlformats.org/officeDocument/2006/relationships/slideLayout" Target="../slideLayouts/slideLayout8.xml"/><Relationship Id="rId4" Type="http://schemas.openxmlformats.org/officeDocument/2006/relationships/tags" Target="../tags/tag192.xml"/><Relationship Id="rId9" Type="http://schemas.openxmlformats.org/officeDocument/2006/relationships/tags" Target="../tags/tag197.xml"/><Relationship Id="rId13" Type="http://schemas.openxmlformats.org/officeDocument/2006/relationships/tags" Target="../tags/tag201.xml"/><Relationship Id="rId18" Type="http://schemas.openxmlformats.org/officeDocument/2006/relationships/tags" Target="../tags/tag206.xml"/><Relationship Id="rId39" Type="http://schemas.openxmlformats.org/officeDocument/2006/relationships/tags" Target="../tags/tag2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7CAD9ACB-243E-6607-3402-1387CE18A019}"/>
              </a:ext>
            </a:extLst>
          </p:cNvPr>
          <p:cNvPicPr>
            <a:picLocks noChangeAspect="1"/>
          </p:cNvPicPr>
          <p:nvPr/>
        </p:nvPicPr>
        <p:blipFill>
          <a:blip r:embed="rId2">
            <a:extLst>
              <a:ext uri="{BEBA8EAE-BF5A-486C-A8C5-ECC9F3942E4B}">
                <a14:imgProps xmlns:a14="http://schemas.microsoft.com/office/drawing/2010/main">
                  <a14:imgLayer r:embed="rId3">
                    <a14:imgEffect>
                      <a14:artisticLightScreen gridSize="9"/>
                    </a14:imgEffect>
                  </a14:imgLayer>
                </a14:imgProps>
              </a:ext>
            </a:extLst>
          </a:blip>
          <a:stretch>
            <a:fillRect/>
          </a:stretch>
        </p:blipFill>
        <p:spPr>
          <a:xfrm>
            <a:off x="0" y="2855321"/>
            <a:ext cx="12192000" cy="396458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itel 1">
            <a:extLst>
              <a:ext uri="{FF2B5EF4-FFF2-40B4-BE49-F238E27FC236}">
                <a16:creationId xmlns:a16="http://schemas.microsoft.com/office/drawing/2014/main" id="{EE506452-FFCB-A224-B9E3-8039121A7C15}"/>
              </a:ext>
            </a:extLst>
          </p:cNvPr>
          <p:cNvSpPr>
            <a:spLocks noGrp="1"/>
          </p:cNvSpPr>
          <p:nvPr>
            <p:ph type="ctrTitle"/>
          </p:nvPr>
        </p:nvSpPr>
        <p:spPr/>
        <p:txBody>
          <a:bodyPr/>
          <a:lstStyle/>
          <a:p>
            <a:r>
              <a:rPr lang="de-AT" dirty="0"/>
              <a:t>Das Nachweistool für Plus-Energie-Quartiere</a:t>
            </a:r>
          </a:p>
        </p:txBody>
      </p:sp>
      <p:sp>
        <p:nvSpPr>
          <p:cNvPr id="3" name="Untertitel 2">
            <a:extLst>
              <a:ext uri="{FF2B5EF4-FFF2-40B4-BE49-F238E27FC236}">
                <a16:creationId xmlns:a16="http://schemas.microsoft.com/office/drawing/2014/main" id="{0722D227-0AD4-A9B0-9752-B6653260A6BC}"/>
              </a:ext>
            </a:extLst>
          </p:cNvPr>
          <p:cNvSpPr>
            <a:spLocks noGrp="1"/>
          </p:cNvSpPr>
          <p:nvPr>
            <p:ph type="subTitle" idx="1"/>
          </p:nvPr>
        </p:nvSpPr>
        <p:spPr/>
        <p:txBody>
          <a:bodyPr/>
          <a:lstStyle/>
          <a:p>
            <a:r>
              <a:rPr lang="de-AT" dirty="0"/>
              <a:t>Funktionen und Verwendung</a:t>
            </a:r>
          </a:p>
          <a:p>
            <a:r>
              <a:rPr lang="de-AT" dirty="0"/>
              <a:t>Klimaaktiv Standard „Plus-Energie-Quartiere“</a:t>
            </a:r>
          </a:p>
        </p:txBody>
      </p:sp>
      <p:sp>
        <p:nvSpPr>
          <p:cNvPr id="4" name="Textplatzhalter 3">
            <a:extLst>
              <a:ext uri="{FF2B5EF4-FFF2-40B4-BE49-F238E27FC236}">
                <a16:creationId xmlns:a16="http://schemas.microsoft.com/office/drawing/2014/main" id="{18FFA89A-34E0-26B9-DD6E-1AE845D1A449}"/>
              </a:ext>
            </a:extLst>
          </p:cNvPr>
          <p:cNvSpPr>
            <a:spLocks noGrp="1"/>
          </p:cNvSpPr>
          <p:nvPr>
            <p:ph type="body" sz="quarter" idx="10"/>
          </p:nvPr>
        </p:nvSpPr>
        <p:spPr/>
        <p:txBody>
          <a:bodyPr/>
          <a:lstStyle/>
          <a:p>
            <a:r>
              <a:rPr lang="de-AT" dirty="0"/>
              <a:t>Simon Schneider, FH Technikum Wien</a:t>
            </a:r>
          </a:p>
          <a:p>
            <a:r>
              <a:rPr lang="de-AT" dirty="0"/>
              <a:t>Wien, 14.10.2026</a:t>
            </a:r>
          </a:p>
        </p:txBody>
      </p:sp>
      <p:grpSp>
        <p:nvGrpSpPr>
          <p:cNvPr id="6" name="Gruppieren 5">
            <a:extLst>
              <a:ext uri="{FF2B5EF4-FFF2-40B4-BE49-F238E27FC236}">
                <a16:creationId xmlns:a16="http://schemas.microsoft.com/office/drawing/2014/main" id="{F47F1B33-1CC3-C89D-18ED-517D2C6AA2EB}"/>
              </a:ext>
            </a:extLst>
          </p:cNvPr>
          <p:cNvGrpSpPr/>
          <p:nvPr/>
        </p:nvGrpSpPr>
        <p:grpSpPr>
          <a:xfrm>
            <a:off x="4992185" y="65752"/>
            <a:ext cx="2093662" cy="2093658"/>
            <a:chOff x="-1669746" y="1246831"/>
            <a:chExt cx="7309604" cy="7309576"/>
          </a:xfrm>
        </p:grpSpPr>
        <p:sp>
          <p:nvSpPr>
            <p:cNvPr id="7" name="Ellipse 6">
              <a:extLst>
                <a:ext uri="{FF2B5EF4-FFF2-40B4-BE49-F238E27FC236}">
                  <a16:creationId xmlns:a16="http://schemas.microsoft.com/office/drawing/2014/main" id="{302A6ED9-9DC0-AB25-899A-3927C143A354}"/>
                </a:ext>
              </a:extLst>
            </p:cNvPr>
            <p:cNvSpPr/>
            <p:nvPr/>
          </p:nvSpPr>
          <p:spPr>
            <a:xfrm>
              <a:off x="-1669746" y="1246831"/>
              <a:ext cx="7309604" cy="7309576"/>
            </a:xfrm>
            <a:prstGeom prst="ellipse">
              <a:avLst/>
            </a:prstGeom>
            <a:solidFill>
              <a:sysClr val="window" lastClr="FFFFFF"/>
            </a:solidFill>
            <a:ln w="19050" cap="flat" cmpd="sng" algn="ctr">
              <a:noFill/>
              <a:prstDash val="solid"/>
              <a:miter lim="800000"/>
            </a:ln>
            <a:effectLst/>
          </p:spPr>
          <p:txBody>
            <a:bodyPr rtlCol="0" anchor="ctr"/>
            <a:lstStyle/>
            <a:p>
              <a:pPr algn="ctr" defTabSz="914339">
                <a:defRPr/>
              </a:pPr>
              <a:endParaRPr lang="de-AT" sz="600" kern="0" dirty="0">
                <a:solidFill>
                  <a:prstClr val="white"/>
                </a:solidFill>
                <a:latin typeface="Aptos" panose="02110004020202020204"/>
              </a:endParaRPr>
            </a:p>
          </p:txBody>
        </p:sp>
        <p:pic>
          <p:nvPicPr>
            <p:cNvPr id="8" name="Picture 2">
              <a:extLst>
                <a:ext uri="{FF2B5EF4-FFF2-40B4-BE49-F238E27FC236}">
                  <a16:creationId xmlns:a16="http://schemas.microsoft.com/office/drawing/2014/main" id="{40BA6DF8-8EE3-CB86-656F-A86D5D2D6597}"/>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10302" y="1382960"/>
              <a:ext cx="7150156" cy="715015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642531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BECA66-4B51-97A3-6C0C-25B2ECCEFAC9}"/>
              </a:ext>
            </a:extLst>
          </p:cNvPr>
          <p:cNvSpPr>
            <a:spLocks noGrp="1"/>
          </p:cNvSpPr>
          <p:nvPr>
            <p:ph type="title"/>
          </p:nvPr>
        </p:nvSpPr>
        <p:spPr/>
        <p:txBody>
          <a:bodyPr/>
          <a:lstStyle/>
          <a:p>
            <a:r>
              <a:rPr lang="de-DE" dirty="0"/>
              <a:t>klimaaktiv | Die Klimaschutzinitiative der österr. Bundesregierung</a:t>
            </a:r>
            <a:endParaRPr lang="de-AT" dirty="0"/>
          </a:p>
        </p:txBody>
      </p:sp>
      <p:sp>
        <p:nvSpPr>
          <p:cNvPr id="3" name="Bildplatzhalter 2">
            <a:extLst>
              <a:ext uri="{FF2B5EF4-FFF2-40B4-BE49-F238E27FC236}">
                <a16:creationId xmlns:a16="http://schemas.microsoft.com/office/drawing/2014/main" id="{37C52ABC-CD02-E1C3-0E8E-E18317F0200D}"/>
              </a:ext>
            </a:extLst>
          </p:cNvPr>
          <p:cNvSpPr>
            <a:spLocks noGrp="1"/>
          </p:cNvSpPr>
          <p:nvPr>
            <p:ph type="pic" sz="quarter" idx="13"/>
          </p:nvPr>
        </p:nvSpPr>
        <p:spPr/>
        <p:txBody>
          <a:bodyPr/>
          <a:lstStyle/>
          <a:p>
            <a:pPr marL="0" indent="0">
              <a:buNone/>
            </a:pPr>
            <a:r>
              <a:rPr lang="de-DE" dirty="0"/>
              <a:t>Vermittelt das „Gewusst wie“ zum Klimaschutz rund um die Themen Energiesparen, klimafitte Gebäude, erneuerbare Energieträger, umweltfreundliche Mobilität und Klimakommunikation. klima</a:t>
            </a:r>
            <a:r>
              <a:rPr lang="de-DE" b="1" dirty="0"/>
              <a:t>aktiv</a:t>
            </a:r>
            <a:r>
              <a:rPr lang="de-DE" dirty="0"/>
              <a:t> trägt so zur Erreichung der Klimaneutralität sowie zur Umsetzung des Nationalen Energie- und Klimaplans in Österreich bei. Programme:</a:t>
            </a:r>
          </a:p>
          <a:p>
            <a:endParaRPr lang="de-AT" dirty="0"/>
          </a:p>
        </p:txBody>
      </p:sp>
      <p:sp>
        <p:nvSpPr>
          <p:cNvPr id="4" name="Fußzeilenplatzhalter 3">
            <a:extLst>
              <a:ext uri="{FF2B5EF4-FFF2-40B4-BE49-F238E27FC236}">
                <a16:creationId xmlns:a16="http://schemas.microsoft.com/office/drawing/2014/main" id="{0CCDF6CE-9625-31DD-AAE9-BDFBF3B5DF42}"/>
              </a:ext>
            </a:extLst>
          </p:cNvPr>
          <p:cNvSpPr>
            <a:spLocks noGrp="1"/>
          </p:cNvSpPr>
          <p:nvPr>
            <p:ph type="ftr" sz="quarter" idx="11"/>
          </p:nvPr>
        </p:nvSpPr>
        <p:spPr/>
        <p:txBody>
          <a:bodyPr/>
          <a:lstStyle/>
          <a:p>
            <a:endParaRPr lang="de-AT" dirty="0"/>
          </a:p>
        </p:txBody>
      </p:sp>
      <p:sp>
        <p:nvSpPr>
          <p:cNvPr id="5" name="Foliennummernplatzhalter 4">
            <a:extLst>
              <a:ext uri="{FF2B5EF4-FFF2-40B4-BE49-F238E27FC236}">
                <a16:creationId xmlns:a16="http://schemas.microsoft.com/office/drawing/2014/main" id="{BF84AD4A-5C7D-189C-C95C-EDAAAE873AA8}"/>
              </a:ext>
            </a:extLst>
          </p:cNvPr>
          <p:cNvSpPr>
            <a:spLocks noGrp="1"/>
          </p:cNvSpPr>
          <p:nvPr>
            <p:ph type="sldNum" sz="quarter" idx="12"/>
          </p:nvPr>
        </p:nvSpPr>
        <p:spPr/>
        <p:txBody>
          <a:bodyPr/>
          <a:lstStyle/>
          <a:p>
            <a:fld id="{1206269C-C24E-4E80-9A4B-E7E19BB59A67}" type="slidenum">
              <a:rPr lang="de-AT" smtClean="0"/>
              <a:pPr/>
              <a:t>2</a:t>
            </a:fld>
            <a:endParaRPr lang="de-AT" dirty="0"/>
          </a:p>
        </p:txBody>
      </p:sp>
      <p:pic>
        <p:nvPicPr>
          <p:cNvPr id="6" name="Grafik 5">
            <a:extLst>
              <a:ext uri="{FF2B5EF4-FFF2-40B4-BE49-F238E27FC236}">
                <a16:creationId xmlns:a16="http://schemas.microsoft.com/office/drawing/2014/main" id="{D0523D5D-F749-BA6C-10E6-6C99B628F36B}"/>
              </a:ext>
            </a:extLst>
          </p:cNvPr>
          <p:cNvPicPr>
            <a:picLocks noChangeAspect="1"/>
          </p:cNvPicPr>
          <p:nvPr/>
        </p:nvPicPr>
        <p:blipFill>
          <a:blip r:embed="rId2"/>
          <a:stretch>
            <a:fillRect/>
          </a:stretch>
        </p:blipFill>
        <p:spPr>
          <a:xfrm>
            <a:off x="5242490" y="273158"/>
            <a:ext cx="1739082" cy="603142"/>
          </a:xfrm>
          <a:prstGeom prst="rect">
            <a:avLst/>
          </a:prstGeom>
        </p:spPr>
      </p:pic>
      <p:pic>
        <p:nvPicPr>
          <p:cNvPr id="7" name="Grafik 6">
            <a:extLst>
              <a:ext uri="{FF2B5EF4-FFF2-40B4-BE49-F238E27FC236}">
                <a16:creationId xmlns:a16="http://schemas.microsoft.com/office/drawing/2014/main" id="{98347943-31ED-7FF5-FEA0-536E864AFD2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129948" y="147236"/>
            <a:ext cx="1620017" cy="850509"/>
          </a:xfrm>
          <a:prstGeom prst="rect">
            <a:avLst/>
          </a:prstGeom>
        </p:spPr>
      </p:pic>
      <p:sp>
        <p:nvSpPr>
          <p:cNvPr id="8" name="Rechteck: abgerundete Ecken 7">
            <a:extLst>
              <a:ext uri="{FF2B5EF4-FFF2-40B4-BE49-F238E27FC236}">
                <a16:creationId xmlns:a16="http://schemas.microsoft.com/office/drawing/2014/main" id="{F201E517-483B-FECD-D0F3-9042CC01CA47}"/>
              </a:ext>
            </a:extLst>
          </p:cNvPr>
          <p:cNvSpPr/>
          <p:nvPr/>
        </p:nvSpPr>
        <p:spPr>
          <a:xfrm>
            <a:off x="4905376" y="5532909"/>
            <a:ext cx="2266950" cy="6218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dirty="0"/>
              <a:t>klimaaktiv Gebäude</a:t>
            </a:r>
          </a:p>
        </p:txBody>
      </p:sp>
      <p:sp>
        <p:nvSpPr>
          <p:cNvPr id="9" name="Rechteck: abgerundete Ecken 8">
            <a:extLst>
              <a:ext uri="{FF2B5EF4-FFF2-40B4-BE49-F238E27FC236}">
                <a16:creationId xmlns:a16="http://schemas.microsoft.com/office/drawing/2014/main" id="{E9B309F8-FE3A-CE4B-1F77-9C8EF1F8A502}"/>
              </a:ext>
            </a:extLst>
          </p:cNvPr>
          <p:cNvSpPr/>
          <p:nvPr/>
        </p:nvSpPr>
        <p:spPr>
          <a:xfrm>
            <a:off x="719669" y="4809038"/>
            <a:ext cx="2462806" cy="6218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dirty="0"/>
              <a:t>klimaaktiv Klimadialog</a:t>
            </a:r>
          </a:p>
        </p:txBody>
      </p:sp>
      <p:sp>
        <p:nvSpPr>
          <p:cNvPr id="10" name="Rechteck: abgerundete Ecken 9">
            <a:extLst>
              <a:ext uri="{FF2B5EF4-FFF2-40B4-BE49-F238E27FC236}">
                <a16:creationId xmlns:a16="http://schemas.microsoft.com/office/drawing/2014/main" id="{3E83345D-3163-29BE-C651-A1FFD4C5DC2B}"/>
              </a:ext>
            </a:extLst>
          </p:cNvPr>
          <p:cNvSpPr/>
          <p:nvPr/>
        </p:nvSpPr>
        <p:spPr>
          <a:xfrm>
            <a:off x="3440982" y="4809038"/>
            <a:ext cx="3871914" cy="6218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dirty="0"/>
              <a:t>klimaaktiv Heizwerke und Wärmenetze</a:t>
            </a:r>
          </a:p>
        </p:txBody>
      </p:sp>
      <p:sp>
        <p:nvSpPr>
          <p:cNvPr id="11" name="Rechteck: abgerundete Ecken 10">
            <a:extLst>
              <a:ext uri="{FF2B5EF4-FFF2-40B4-BE49-F238E27FC236}">
                <a16:creationId xmlns:a16="http://schemas.microsoft.com/office/drawing/2014/main" id="{4048A295-6014-DE32-2564-BDDD01120FE7}"/>
              </a:ext>
            </a:extLst>
          </p:cNvPr>
          <p:cNvSpPr/>
          <p:nvPr/>
        </p:nvSpPr>
        <p:spPr>
          <a:xfrm>
            <a:off x="719669" y="4000500"/>
            <a:ext cx="2359749" cy="6218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dirty="0"/>
              <a:t>klimaaktiv Gemeinden</a:t>
            </a:r>
          </a:p>
        </p:txBody>
      </p:sp>
      <p:sp>
        <p:nvSpPr>
          <p:cNvPr id="12" name="Rechteck: abgerundete Ecken 11">
            <a:extLst>
              <a:ext uri="{FF2B5EF4-FFF2-40B4-BE49-F238E27FC236}">
                <a16:creationId xmlns:a16="http://schemas.microsoft.com/office/drawing/2014/main" id="{D432FEB6-9395-C681-911D-7AA98EDD73CB}"/>
              </a:ext>
            </a:extLst>
          </p:cNvPr>
          <p:cNvSpPr/>
          <p:nvPr/>
        </p:nvSpPr>
        <p:spPr>
          <a:xfrm>
            <a:off x="9579459" y="4000500"/>
            <a:ext cx="1759675" cy="6218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dirty="0"/>
              <a:t>klimaaktiv mobil</a:t>
            </a:r>
          </a:p>
        </p:txBody>
      </p:sp>
      <p:sp>
        <p:nvSpPr>
          <p:cNvPr id="13" name="Rechteck: abgerundete Ecken 12">
            <a:extLst>
              <a:ext uri="{FF2B5EF4-FFF2-40B4-BE49-F238E27FC236}">
                <a16:creationId xmlns:a16="http://schemas.microsoft.com/office/drawing/2014/main" id="{51A6B47E-1EFB-E5F9-E695-DE612BE03A83}"/>
              </a:ext>
            </a:extLst>
          </p:cNvPr>
          <p:cNvSpPr/>
          <p:nvPr/>
        </p:nvSpPr>
        <p:spPr>
          <a:xfrm>
            <a:off x="4060978" y="4000501"/>
            <a:ext cx="4536924" cy="621839"/>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t"/>
          <a:lstStyle/>
          <a:p>
            <a:pPr algn="ctr"/>
            <a:r>
              <a:rPr lang="de-AT" sz="2000" dirty="0"/>
              <a:t>klimaaktiv Siedlungen und Quartiere</a:t>
            </a:r>
          </a:p>
        </p:txBody>
      </p:sp>
      <p:sp>
        <p:nvSpPr>
          <p:cNvPr id="14" name="Rechteck: abgerundete Ecken 13">
            <a:extLst>
              <a:ext uri="{FF2B5EF4-FFF2-40B4-BE49-F238E27FC236}">
                <a16:creationId xmlns:a16="http://schemas.microsoft.com/office/drawing/2014/main" id="{2A41E3CB-618D-039E-53C1-1D86DCC235D0}"/>
              </a:ext>
            </a:extLst>
          </p:cNvPr>
          <p:cNvSpPr/>
          <p:nvPr/>
        </p:nvSpPr>
        <p:spPr>
          <a:xfrm>
            <a:off x="7571404" y="4809039"/>
            <a:ext cx="3767731" cy="6218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dirty="0"/>
              <a:t>klimaaktiv erneuerbare Energiewende</a:t>
            </a:r>
          </a:p>
        </p:txBody>
      </p:sp>
      <p:sp>
        <p:nvSpPr>
          <p:cNvPr id="15" name="Rechteck: abgerundete Ecken 14">
            <a:extLst>
              <a:ext uri="{FF2B5EF4-FFF2-40B4-BE49-F238E27FC236}">
                <a16:creationId xmlns:a16="http://schemas.microsoft.com/office/drawing/2014/main" id="{1D84F371-9E76-FFE5-A9E7-BBA7C8E59F5F}"/>
              </a:ext>
            </a:extLst>
          </p:cNvPr>
          <p:cNvSpPr/>
          <p:nvPr/>
        </p:nvSpPr>
        <p:spPr>
          <a:xfrm>
            <a:off x="8895227" y="5532908"/>
            <a:ext cx="2462806" cy="6218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dirty="0"/>
              <a:t>klimaaktiv Betriebe</a:t>
            </a:r>
          </a:p>
        </p:txBody>
      </p:sp>
      <p:sp>
        <p:nvSpPr>
          <p:cNvPr id="16" name="Rechteck: abgerundete Ecken 15">
            <a:extLst>
              <a:ext uri="{FF2B5EF4-FFF2-40B4-BE49-F238E27FC236}">
                <a16:creationId xmlns:a16="http://schemas.microsoft.com/office/drawing/2014/main" id="{9866FC70-BBDE-9EA6-E7E7-895D425BBCB1}"/>
              </a:ext>
            </a:extLst>
          </p:cNvPr>
          <p:cNvSpPr/>
          <p:nvPr/>
        </p:nvSpPr>
        <p:spPr>
          <a:xfrm>
            <a:off x="719669" y="5532908"/>
            <a:ext cx="2462806" cy="6218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AT" sz="2000" dirty="0"/>
              <a:t>klimaaktiv Haushalte</a:t>
            </a:r>
          </a:p>
        </p:txBody>
      </p:sp>
      <p:sp>
        <p:nvSpPr>
          <p:cNvPr id="17" name="Rechteck: abgerundete Ecken 16">
            <a:extLst>
              <a:ext uri="{FF2B5EF4-FFF2-40B4-BE49-F238E27FC236}">
                <a16:creationId xmlns:a16="http://schemas.microsoft.com/office/drawing/2014/main" id="{290EF796-9173-72F2-9AAC-5F2DA62C745C}"/>
              </a:ext>
            </a:extLst>
          </p:cNvPr>
          <p:cNvSpPr/>
          <p:nvPr/>
        </p:nvSpPr>
        <p:spPr>
          <a:xfrm>
            <a:off x="4350658" y="4400570"/>
            <a:ext cx="4761927" cy="352425"/>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de-AT" dirty="0"/>
              <a:t>klimaaktiv klimaneutrale Plus-Energie-Quartiere</a:t>
            </a:r>
          </a:p>
        </p:txBody>
      </p:sp>
    </p:spTree>
    <p:extLst>
      <p:ext uri="{BB962C8B-B14F-4D97-AF65-F5344CB8AC3E}">
        <p14:creationId xmlns:p14="http://schemas.microsoft.com/office/powerpoint/2010/main" val="1815067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C6F1DA17-73AD-17F8-7E33-7FE4AF5CC36A}"/>
              </a:ext>
            </a:extLst>
          </p:cNvPr>
          <p:cNvSpPr>
            <a:spLocks noGrp="1"/>
          </p:cNvSpPr>
          <p:nvPr>
            <p:ph type="title"/>
          </p:nvPr>
        </p:nvSpPr>
        <p:spPr>
          <a:xfrm>
            <a:off x="720002" y="1406526"/>
            <a:ext cx="10638033" cy="829455"/>
          </a:xfrm>
        </p:spPr>
        <p:txBody>
          <a:bodyPr/>
          <a:lstStyle/>
          <a:p>
            <a:r>
              <a:rPr lang="de-DE" dirty="0"/>
              <a:t>Das Tool im Überblick</a:t>
            </a:r>
          </a:p>
        </p:txBody>
      </p:sp>
      <p:sp>
        <p:nvSpPr>
          <p:cNvPr id="6" name="Textplatzhalter 5">
            <a:extLst>
              <a:ext uri="{FF2B5EF4-FFF2-40B4-BE49-F238E27FC236}">
                <a16:creationId xmlns:a16="http://schemas.microsoft.com/office/drawing/2014/main" id="{9E86326F-27CC-D5B3-8F29-932028BA8F57}"/>
              </a:ext>
            </a:extLst>
          </p:cNvPr>
          <p:cNvSpPr>
            <a:spLocks noGrp="1"/>
          </p:cNvSpPr>
          <p:nvPr>
            <p:ph type="body" sz="quarter" idx="13"/>
          </p:nvPr>
        </p:nvSpPr>
        <p:spPr>
          <a:xfrm>
            <a:off x="719670" y="2164801"/>
            <a:ext cx="5988108" cy="3977767"/>
          </a:xfrm>
        </p:spPr>
        <p:txBody>
          <a:bodyPr/>
          <a:lstStyle/>
          <a:p>
            <a:r>
              <a:rPr lang="de-DE" sz="2400" dirty="0"/>
              <a:t>Ziel und Zweck: Abbildung von Quartieren zur Nachweisführung</a:t>
            </a:r>
          </a:p>
          <a:p>
            <a:r>
              <a:rPr lang="de-DE" sz="2400" dirty="0"/>
              <a:t>Funktionen: Stündliches Energiemodell für Gebäude-Betrieb, MIV und Ökobilanz</a:t>
            </a:r>
          </a:p>
          <a:p>
            <a:r>
              <a:rPr lang="de-DE" sz="2400" dirty="0"/>
              <a:t>Bezug und Verwendung: Frei verfügbar unter: </a:t>
            </a:r>
            <a:r>
              <a:rPr lang="de-DE" sz="2400" dirty="0">
                <a:hlinkClick r:id="rId2"/>
              </a:rPr>
              <a:t>https://github.com/simonschaluppe/peexcel</a:t>
            </a:r>
            <a:r>
              <a:rPr lang="de-DE" sz="2400" dirty="0"/>
              <a:t> </a:t>
            </a:r>
          </a:p>
          <a:p>
            <a:r>
              <a:rPr lang="de-DE" sz="2400" dirty="0"/>
              <a:t>Benötigte Daten, Verfügbare Schnittstellen: Energieausweis und Eco2Soft LCA</a:t>
            </a:r>
          </a:p>
          <a:p>
            <a:endParaRPr lang="de-DE" sz="2400" dirty="0"/>
          </a:p>
        </p:txBody>
      </p:sp>
      <p:sp>
        <p:nvSpPr>
          <p:cNvPr id="7" name="Sprechblase: rechteckig mit abgerundeten Ecken 6">
            <a:extLst>
              <a:ext uri="{FF2B5EF4-FFF2-40B4-BE49-F238E27FC236}">
                <a16:creationId xmlns:a16="http://schemas.microsoft.com/office/drawing/2014/main" id="{5C50EBAE-C980-E613-6C90-52072417EA26}"/>
              </a:ext>
            </a:extLst>
          </p:cNvPr>
          <p:cNvSpPr/>
          <p:nvPr/>
        </p:nvSpPr>
        <p:spPr>
          <a:xfrm>
            <a:off x="9983556" y="1321666"/>
            <a:ext cx="1736429" cy="999173"/>
          </a:xfrm>
          <a:prstGeom prst="wedgeRoundRectCallout">
            <a:avLst>
              <a:gd name="adj1" fmla="val -52100"/>
              <a:gd name="adj2" fmla="val 9526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t>Diese Blase zeigt zusätzliche Infos über das Tool in der Praxis</a:t>
            </a:r>
          </a:p>
        </p:txBody>
      </p:sp>
      <p:sp>
        <p:nvSpPr>
          <p:cNvPr id="15" name="Fußzeilenplatzhalter 12">
            <a:extLst>
              <a:ext uri="{FF2B5EF4-FFF2-40B4-BE49-F238E27FC236}">
                <a16:creationId xmlns:a16="http://schemas.microsoft.com/office/drawing/2014/main" id="{34464837-29FA-5125-C531-D0483748EDCC}"/>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pic>
        <p:nvPicPr>
          <p:cNvPr id="17" name="Grafik 16">
            <a:extLst>
              <a:ext uri="{FF2B5EF4-FFF2-40B4-BE49-F238E27FC236}">
                <a16:creationId xmlns:a16="http://schemas.microsoft.com/office/drawing/2014/main" id="{C114B321-BC51-E48E-D7CD-B2E186D40A0C}"/>
              </a:ext>
            </a:extLst>
          </p:cNvPr>
          <p:cNvPicPr>
            <a:picLocks noChangeAspect="1"/>
          </p:cNvPicPr>
          <p:nvPr/>
        </p:nvPicPr>
        <p:blipFill>
          <a:blip r:embed="rId3"/>
          <a:srcRect t="871" b="1"/>
          <a:stretch>
            <a:fillRect/>
          </a:stretch>
        </p:blipFill>
        <p:spPr>
          <a:xfrm>
            <a:off x="7293972" y="3719744"/>
            <a:ext cx="2059034" cy="2011301"/>
          </a:xfrm>
          <a:prstGeom prst="rect">
            <a:avLst/>
          </a:prstGeom>
        </p:spPr>
      </p:pic>
    </p:spTree>
    <p:extLst>
      <p:ext uri="{BB962C8B-B14F-4D97-AF65-F5344CB8AC3E}">
        <p14:creationId xmlns:p14="http://schemas.microsoft.com/office/powerpoint/2010/main" val="4051717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76507C8A-58CF-DCC3-DF17-2608C373C83C}"/>
              </a:ext>
            </a:extLst>
          </p:cNvPr>
          <p:cNvSpPr>
            <a:spLocks noGrp="1"/>
          </p:cNvSpPr>
          <p:nvPr>
            <p:ph type="title"/>
          </p:nvPr>
        </p:nvSpPr>
        <p:spPr/>
        <p:txBody>
          <a:bodyPr/>
          <a:lstStyle/>
          <a:p>
            <a:r>
              <a:rPr lang="de-DE" dirty="0"/>
              <a:t>Ziele des Nachweistools </a:t>
            </a:r>
          </a:p>
        </p:txBody>
      </p:sp>
      <p:sp>
        <p:nvSpPr>
          <p:cNvPr id="230" name="Textplatzhalter 229">
            <a:extLst>
              <a:ext uri="{FF2B5EF4-FFF2-40B4-BE49-F238E27FC236}">
                <a16:creationId xmlns:a16="http://schemas.microsoft.com/office/drawing/2014/main" id="{94A7CDEE-1E46-B1C3-0E54-13ADEF1F54AA}"/>
              </a:ext>
            </a:extLst>
          </p:cNvPr>
          <p:cNvSpPr>
            <a:spLocks noGrp="1"/>
          </p:cNvSpPr>
          <p:nvPr>
            <p:ph type="body" sz="quarter" idx="13"/>
          </p:nvPr>
        </p:nvSpPr>
        <p:spPr>
          <a:xfrm>
            <a:off x="719669" y="2184400"/>
            <a:ext cx="4518745" cy="3958168"/>
          </a:xfrm>
        </p:spPr>
        <p:txBody>
          <a:bodyPr/>
          <a:lstStyle/>
          <a:p>
            <a:pPr marL="0" indent="-457170">
              <a:buNone/>
            </a:pPr>
            <a:r>
              <a:rPr lang="de-DE" sz="1400" dirty="0"/>
              <a:t>🎯Bewertung der PEQ-Definition im Einklang mit 100% erneuerbarer Energie und Klimaneutralität 2040</a:t>
            </a:r>
          </a:p>
          <a:p>
            <a:pPr marL="0" indent="-457170">
              <a:buNone/>
            </a:pPr>
            <a:r>
              <a:rPr lang="de-DE" sz="1400" dirty="0"/>
              <a:t>⏱️Transiente Simulation aller Energieflüsse inklusive E-Mobilität </a:t>
            </a:r>
          </a:p>
          <a:p>
            <a:pPr marL="0" indent="-457170">
              <a:buNone/>
            </a:pPr>
            <a:r>
              <a:rPr lang="de-DE" sz="1400" dirty="0"/>
              <a:t>⌛Betrachtungszeitraum 2025-2075 mit jährlichen sektoralen Dekarbonisierungspfaden</a:t>
            </a:r>
          </a:p>
          <a:p>
            <a:pPr marL="0" indent="-457170">
              <a:buNone/>
            </a:pPr>
            <a:r>
              <a:rPr lang="de-DE" sz="1400" dirty="0"/>
              <a:t>🔋⚡Einbeziehung energieflexibler Regelschemata und DSM zur Erhöhung der Nutzung volatiler RES und zur Verbesserung der Bilanz-Bewertung</a:t>
            </a:r>
          </a:p>
          <a:p>
            <a:pPr marL="0" indent="-457170">
              <a:buNone/>
            </a:pPr>
            <a:r>
              <a:rPr lang="de-DE" sz="1400" dirty="0"/>
              <a:t>🔋 🔥Einbeziehung des thermischen Gebäudespeicherpotenzials zur Erhöhung der Nutzung volatiler RES und zur Verbesserung der Bilanz-Bewertung</a:t>
            </a:r>
          </a:p>
          <a:p>
            <a:pPr marL="0" indent="0">
              <a:buNone/>
            </a:pPr>
            <a:r>
              <a:rPr lang="de-DE" sz="1400" dirty="0"/>
              <a:t>👷Praktische Verwendbarkeit, Verfügbarkeit und Transparenz</a:t>
            </a:r>
          </a:p>
          <a:p>
            <a:pPr marL="0" indent="-457170"/>
            <a:endParaRPr lang="de-DE" sz="1400" dirty="0"/>
          </a:p>
        </p:txBody>
      </p:sp>
      <p:sp>
        <p:nvSpPr>
          <p:cNvPr id="7" name="Zylinder 6">
            <a:extLst>
              <a:ext uri="{FF2B5EF4-FFF2-40B4-BE49-F238E27FC236}">
                <a16:creationId xmlns:a16="http://schemas.microsoft.com/office/drawing/2014/main" id="{08AE2D32-25DC-F06F-CF80-A0E8BD63C9C2}"/>
              </a:ext>
            </a:extLst>
          </p:cNvPr>
          <p:cNvSpPr/>
          <p:nvPr/>
        </p:nvSpPr>
        <p:spPr bwMode="auto">
          <a:xfrm>
            <a:off x="5244752" y="5362088"/>
            <a:ext cx="1547693" cy="1077599"/>
          </a:xfrm>
          <a:prstGeom prst="can">
            <a:avLst/>
          </a:prstGeom>
          <a:gradFill rotWithShape="1">
            <a:gsLst>
              <a:gs pos="0">
                <a:srgbClr val="F59C00">
                  <a:lumMod val="110000"/>
                  <a:satMod val="105000"/>
                  <a:tint val="67000"/>
                </a:srgbClr>
              </a:gs>
              <a:gs pos="50000">
                <a:srgbClr val="F59C00">
                  <a:lumMod val="105000"/>
                  <a:satMod val="103000"/>
                  <a:tint val="73000"/>
                </a:srgbClr>
              </a:gs>
              <a:gs pos="100000">
                <a:srgbClr val="F59C00">
                  <a:lumMod val="105000"/>
                  <a:satMod val="109000"/>
                  <a:tint val="81000"/>
                </a:srgbClr>
              </a:gs>
            </a:gsLst>
            <a:lin ang="5400000" scaled="0"/>
          </a:gradFill>
          <a:ln w="6350" cap="flat" cmpd="sng" algn="ctr">
            <a:solidFill>
              <a:srgbClr val="F59C00"/>
            </a:solidFill>
            <a:prstDash val="solid"/>
            <a:miter lim="800000"/>
          </a:ln>
          <a:effectLst/>
        </p:spPr>
        <p:txBody>
          <a:bodyPr lIns="36000" rIns="36000" rtlCol="0" anchor="ctr"/>
          <a:lstStyle/>
          <a:p>
            <a:pPr algn="ctr" defTabSz="914339">
              <a:defRPr/>
            </a:pPr>
            <a:r>
              <a:rPr lang="de-DE" sz="1400" b="1" kern="0" noProof="1">
                <a:solidFill>
                  <a:srgbClr val="000000"/>
                </a:solidFill>
                <a:latin typeface="Calibri" panose="020F0502020204030204"/>
              </a:rPr>
              <a:t>🛠️🏗️ Praktische Anwendbarkeit und Erreichbarkeit</a:t>
            </a:r>
            <a:endParaRPr lang="de-DE" sz="1400" kern="0" noProof="1">
              <a:solidFill>
                <a:srgbClr val="000000"/>
              </a:solidFill>
              <a:latin typeface="Calibri" panose="020F0502020204030204"/>
            </a:endParaRPr>
          </a:p>
        </p:txBody>
      </p:sp>
      <p:sp>
        <p:nvSpPr>
          <p:cNvPr id="8" name="Zylinder 7">
            <a:extLst>
              <a:ext uri="{FF2B5EF4-FFF2-40B4-BE49-F238E27FC236}">
                <a16:creationId xmlns:a16="http://schemas.microsoft.com/office/drawing/2014/main" id="{D7DF9A5B-C685-6BBB-6624-14BF47B1D788}"/>
              </a:ext>
            </a:extLst>
          </p:cNvPr>
          <p:cNvSpPr/>
          <p:nvPr/>
        </p:nvSpPr>
        <p:spPr bwMode="auto">
          <a:xfrm>
            <a:off x="8525476" y="5362088"/>
            <a:ext cx="1547693" cy="1077599"/>
          </a:xfrm>
          <a:prstGeom prst="can">
            <a:avLst/>
          </a:prstGeom>
          <a:gradFill rotWithShape="1">
            <a:gsLst>
              <a:gs pos="0">
                <a:srgbClr val="F59C00">
                  <a:lumMod val="110000"/>
                  <a:satMod val="105000"/>
                  <a:tint val="67000"/>
                </a:srgbClr>
              </a:gs>
              <a:gs pos="50000">
                <a:srgbClr val="F59C00">
                  <a:lumMod val="105000"/>
                  <a:satMod val="103000"/>
                  <a:tint val="73000"/>
                </a:srgbClr>
              </a:gs>
              <a:gs pos="100000">
                <a:srgbClr val="F59C00">
                  <a:lumMod val="105000"/>
                  <a:satMod val="109000"/>
                  <a:tint val="81000"/>
                </a:srgbClr>
              </a:gs>
            </a:gsLst>
            <a:lin ang="5400000" scaled="0"/>
          </a:gradFill>
          <a:ln w="6350" cap="flat" cmpd="sng" algn="ctr">
            <a:solidFill>
              <a:srgbClr val="F59C00"/>
            </a:solidFill>
            <a:prstDash val="solid"/>
            <a:miter lim="800000"/>
          </a:ln>
          <a:effectLst/>
        </p:spPr>
        <p:txBody>
          <a:bodyPr lIns="0" rIns="0" rtlCol="0" anchor="ctr"/>
          <a:lstStyle/>
          <a:p>
            <a:pPr algn="ctr" defTabSz="914339">
              <a:defRPr/>
            </a:pPr>
            <a:r>
              <a:rPr lang="de-DE" sz="1600" b="1" kern="0" noProof="1">
                <a:solidFill>
                  <a:srgbClr val="000000"/>
                </a:solidFill>
                <a:latin typeface="Calibri" panose="020F0502020204030204"/>
              </a:rPr>
              <a:t>⏲️</a:t>
            </a:r>
            <a:r>
              <a:rPr lang="de-DE" sz="1200" b="1" kern="0" noProof="1">
                <a:solidFill>
                  <a:srgbClr val="000000"/>
                </a:solidFill>
                <a:latin typeface="Calibri" panose="020F0502020204030204"/>
              </a:rPr>
              <a:t>Hohe Zeitliche Auflösung</a:t>
            </a:r>
            <a:endParaRPr lang="de-DE" sz="1400" b="1" kern="0" noProof="1">
              <a:solidFill>
                <a:srgbClr val="000000"/>
              </a:solidFill>
              <a:latin typeface="Calibri" panose="020F0502020204030204"/>
            </a:endParaRPr>
          </a:p>
          <a:p>
            <a:pPr algn="ctr" defTabSz="914339">
              <a:defRPr/>
            </a:pPr>
            <a:r>
              <a:rPr lang="de-DE" sz="1200" b="1" kern="0" noProof="1">
                <a:solidFill>
                  <a:srgbClr val="000000"/>
                </a:solidFill>
                <a:latin typeface="Calibri" panose="020F0502020204030204"/>
              </a:rPr>
              <a:t>(stündlich 2025</a:t>
            </a:r>
            <a:r>
              <a:rPr lang="de-DE" sz="1200" b="1" kern="0" dirty="0">
                <a:solidFill>
                  <a:srgbClr val="000000"/>
                </a:solidFill>
                <a:latin typeface="Calibri" panose="020F0502020204030204"/>
              </a:rPr>
              <a:t>−</a:t>
            </a:r>
            <a:r>
              <a:rPr lang="de-DE" sz="1200" b="1" kern="0" noProof="1">
                <a:solidFill>
                  <a:srgbClr val="000000"/>
                </a:solidFill>
                <a:latin typeface="Calibri" panose="020F0502020204030204"/>
              </a:rPr>
              <a:t>2050)</a:t>
            </a:r>
            <a:r>
              <a:rPr lang="de-DE" sz="1600" kern="0" noProof="1">
                <a:solidFill>
                  <a:srgbClr val="000000"/>
                </a:solidFill>
                <a:latin typeface="Calibri" panose="020F0502020204030204"/>
              </a:rPr>
              <a:t> </a:t>
            </a:r>
          </a:p>
        </p:txBody>
      </p:sp>
      <p:sp>
        <p:nvSpPr>
          <p:cNvPr id="9" name="Zylinder 8">
            <a:extLst>
              <a:ext uri="{FF2B5EF4-FFF2-40B4-BE49-F238E27FC236}">
                <a16:creationId xmlns:a16="http://schemas.microsoft.com/office/drawing/2014/main" id="{C90565A8-E34E-01AA-1315-CC8F3B692ECC}"/>
              </a:ext>
            </a:extLst>
          </p:cNvPr>
          <p:cNvSpPr/>
          <p:nvPr/>
        </p:nvSpPr>
        <p:spPr bwMode="auto">
          <a:xfrm>
            <a:off x="10169278" y="5362087"/>
            <a:ext cx="1547693" cy="1077599"/>
          </a:xfrm>
          <a:prstGeom prst="can">
            <a:avLst/>
          </a:prstGeom>
          <a:gradFill rotWithShape="1">
            <a:gsLst>
              <a:gs pos="0">
                <a:srgbClr val="F59C00">
                  <a:lumMod val="110000"/>
                  <a:satMod val="105000"/>
                  <a:tint val="67000"/>
                </a:srgbClr>
              </a:gs>
              <a:gs pos="50000">
                <a:srgbClr val="F59C00">
                  <a:lumMod val="105000"/>
                  <a:satMod val="103000"/>
                  <a:tint val="73000"/>
                </a:srgbClr>
              </a:gs>
              <a:gs pos="100000">
                <a:srgbClr val="F59C00">
                  <a:lumMod val="105000"/>
                  <a:satMod val="109000"/>
                  <a:tint val="81000"/>
                </a:srgbClr>
              </a:gs>
            </a:gsLst>
            <a:lin ang="5400000" scaled="0"/>
          </a:gradFill>
          <a:ln w="6350" cap="flat" cmpd="sng" algn="ctr">
            <a:solidFill>
              <a:srgbClr val="F59C00"/>
            </a:solidFill>
            <a:prstDash val="solid"/>
            <a:miter lim="800000"/>
          </a:ln>
          <a:effectLst/>
        </p:spPr>
        <p:txBody>
          <a:bodyPr rtlCol="0" anchor="ctr"/>
          <a:lstStyle/>
          <a:p>
            <a:pPr algn="ctr" defTabSz="914339">
              <a:defRPr/>
            </a:pPr>
            <a:r>
              <a:rPr lang="de-DE" sz="1100" b="1" kern="0" noProof="1">
                <a:solidFill>
                  <a:srgbClr val="000000"/>
                </a:solidFill>
                <a:latin typeface="Calibri" panose="020F0502020204030204"/>
              </a:rPr>
              <a:t>Zielwerte wissenschaftlich fundiert mit Pariser Klimazielen verknüpft </a:t>
            </a:r>
            <a:endParaRPr lang="de-DE" sz="1100" kern="0" noProof="1">
              <a:solidFill>
                <a:srgbClr val="000000"/>
              </a:solidFill>
              <a:latin typeface="Calibri" panose="020F0502020204030204"/>
            </a:endParaRPr>
          </a:p>
        </p:txBody>
      </p:sp>
      <p:sp>
        <p:nvSpPr>
          <p:cNvPr id="10" name="Zylinder 9">
            <a:extLst>
              <a:ext uri="{FF2B5EF4-FFF2-40B4-BE49-F238E27FC236}">
                <a16:creationId xmlns:a16="http://schemas.microsoft.com/office/drawing/2014/main" id="{E86C241C-BA30-BA4C-8330-A3C052C7808B}"/>
              </a:ext>
            </a:extLst>
          </p:cNvPr>
          <p:cNvSpPr/>
          <p:nvPr/>
        </p:nvSpPr>
        <p:spPr bwMode="auto">
          <a:xfrm>
            <a:off x="6885114" y="5362088"/>
            <a:ext cx="1547693" cy="1077599"/>
          </a:xfrm>
          <a:prstGeom prst="can">
            <a:avLst/>
          </a:prstGeom>
          <a:gradFill rotWithShape="1">
            <a:gsLst>
              <a:gs pos="0">
                <a:srgbClr val="F59C00">
                  <a:lumMod val="110000"/>
                  <a:satMod val="105000"/>
                  <a:tint val="67000"/>
                </a:srgbClr>
              </a:gs>
              <a:gs pos="50000">
                <a:srgbClr val="F59C00">
                  <a:lumMod val="105000"/>
                  <a:satMod val="103000"/>
                  <a:tint val="73000"/>
                </a:srgbClr>
              </a:gs>
              <a:gs pos="100000">
                <a:srgbClr val="F59C00">
                  <a:lumMod val="105000"/>
                  <a:satMod val="109000"/>
                  <a:tint val="81000"/>
                </a:srgbClr>
              </a:gs>
            </a:gsLst>
            <a:lin ang="5400000" scaled="0"/>
          </a:gradFill>
          <a:ln w="6350" cap="flat" cmpd="sng" algn="ctr">
            <a:solidFill>
              <a:srgbClr val="F59C00"/>
            </a:solidFill>
            <a:prstDash val="solid"/>
            <a:miter lim="800000"/>
          </a:ln>
          <a:effectLst/>
        </p:spPr>
        <p:txBody>
          <a:bodyPr rtlCol="0" anchor="ctr"/>
          <a:lstStyle/>
          <a:p>
            <a:pPr algn="ctr" defTabSz="914339">
              <a:defRPr/>
            </a:pPr>
            <a:r>
              <a:rPr lang="de-DE" sz="1400" b="1" kern="0" noProof="1">
                <a:solidFill>
                  <a:srgbClr val="000000"/>
                </a:solidFill>
                <a:latin typeface="Calibri" panose="020F0502020204030204"/>
              </a:rPr>
              <a:t>🏙️Klar definierte Systemgrenzen</a:t>
            </a:r>
            <a:endParaRPr lang="de-DE" sz="1400" kern="0" noProof="1">
              <a:solidFill>
                <a:srgbClr val="000000"/>
              </a:solidFill>
              <a:latin typeface="Calibri" panose="020F0502020204030204"/>
            </a:endParaRPr>
          </a:p>
        </p:txBody>
      </p:sp>
      <p:sp>
        <p:nvSpPr>
          <p:cNvPr id="11" name="Rechteck 10">
            <a:extLst>
              <a:ext uri="{FF2B5EF4-FFF2-40B4-BE49-F238E27FC236}">
                <a16:creationId xmlns:a16="http://schemas.microsoft.com/office/drawing/2014/main" id="{979DD1E2-7B2F-6D71-B975-DC6390D85FF8}"/>
              </a:ext>
            </a:extLst>
          </p:cNvPr>
          <p:cNvSpPr/>
          <p:nvPr/>
        </p:nvSpPr>
        <p:spPr bwMode="auto">
          <a:xfrm>
            <a:off x="5591431" y="5005838"/>
            <a:ext cx="1654744" cy="425881"/>
          </a:xfrm>
          <a:prstGeom prst="rect">
            <a:avLst/>
          </a:prstGeom>
          <a:solidFill>
            <a:srgbClr val="D8D7B7"/>
          </a:solidFill>
          <a:ln w="28575" cap="flat" cmpd="sng" algn="ctr">
            <a:noFill/>
            <a:prstDash val="dash"/>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2" name="Building5" descr="{&quot;Key&quot;:&quot;POWER_USER_SHAPE_ICON&quot;,&quot;Value&quot;:&quot;POWER_USER_SHAPE_ICON_STYLE_1&quot;}">
            <a:extLst>
              <a:ext uri="{FF2B5EF4-FFF2-40B4-BE49-F238E27FC236}">
                <a16:creationId xmlns:a16="http://schemas.microsoft.com/office/drawing/2014/main" id="{D204C0A2-8413-7A1D-A7AD-34342013A1ED}"/>
              </a:ext>
            </a:extLst>
          </p:cNvPr>
          <p:cNvSpPr>
            <a:spLocks noChangeAspect="1" noEditPoints="1"/>
          </p:cNvSpPr>
          <p:nvPr>
            <p:custDataLst>
              <p:tags r:id="rId1"/>
            </p:custDataLst>
          </p:nvPr>
        </p:nvSpPr>
        <p:spPr bwMode="auto">
          <a:xfrm>
            <a:off x="5652015" y="3646384"/>
            <a:ext cx="1233099" cy="1369475"/>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3" name="Rechteck 12">
            <a:extLst>
              <a:ext uri="{FF2B5EF4-FFF2-40B4-BE49-F238E27FC236}">
                <a16:creationId xmlns:a16="http://schemas.microsoft.com/office/drawing/2014/main" id="{205036ED-BD0C-D8AF-999B-D0DA60EB761B}"/>
              </a:ext>
            </a:extLst>
          </p:cNvPr>
          <p:cNvSpPr/>
          <p:nvPr/>
        </p:nvSpPr>
        <p:spPr bwMode="auto">
          <a:xfrm>
            <a:off x="5557338" y="3601631"/>
            <a:ext cx="1052055" cy="553998"/>
          </a:xfrm>
          <a:prstGeom prst="rect">
            <a:avLst/>
          </a:prstGeom>
        </p:spPr>
        <p:txBody>
          <a:bodyPr wrap="square">
            <a:spAutoFit/>
          </a:bodyPr>
          <a:lstStyle/>
          <a:p>
            <a:pPr defTabSz="685754">
              <a:defRPr/>
            </a:pPr>
            <a:r>
              <a:rPr lang="de-DE" sz="1000" noProof="1">
                <a:solidFill>
                  <a:srgbClr val="5FB564"/>
                </a:solidFill>
                <a:latin typeface="Bahnschrift" panose="020B0502040204020203" pitchFamily="34" charset="0"/>
              </a:rPr>
              <a:t>Gebäude-Betrieb </a:t>
            </a:r>
          </a:p>
          <a:p>
            <a:pPr defTabSz="685754">
              <a:defRPr/>
            </a:pPr>
            <a:r>
              <a:rPr lang="de-DE" sz="1000" noProof="1">
                <a:solidFill>
                  <a:srgbClr val="5FB564"/>
                </a:solidFill>
                <a:latin typeface="Bahnschrift" panose="020B0502040204020203" pitchFamily="34" charset="0"/>
              </a:rPr>
              <a:t>und -Nutzung</a:t>
            </a:r>
          </a:p>
        </p:txBody>
      </p:sp>
      <p:grpSp>
        <p:nvGrpSpPr>
          <p:cNvPr id="14" name="Gruppieren 13">
            <a:extLst>
              <a:ext uri="{FF2B5EF4-FFF2-40B4-BE49-F238E27FC236}">
                <a16:creationId xmlns:a16="http://schemas.microsoft.com/office/drawing/2014/main" id="{718C5F77-8E97-3358-99B9-A525B5A97C5F}"/>
              </a:ext>
            </a:extLst>
          </p:cNvPr>
          <p:cNvGrpSpPr/>
          <p:nvPr/>
        </p:nvGrpSpPr>
        <p:grpSpPr>
          <a:xfrm>
            <a:off x="6248288" y="4315958"/>
            <a:ext cx="298582" cy="276822"/>
            <a:chOff x="-19101" y="2381281"/>
            <a:chExt cx="699820" cy="699820"/>
          </a:xfrm>
        </p:grpSpPr>
        <p:sp>
          <p:nvSpPr>
            <p:cNvPr id="15" name="Ellipse 14">
              <a:extLst>
                <a:ext uri="{FF2B5EF4-FFF2-40B4-BE49-F238E27FC236}">
                  <a16:creationId xmlns:a16="http://schemas.microsoft.com/office/drawing/2014/main" id="{74B0342B-6945-F65D-70A0-A543F890CC35}"/>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6" name="Plug" descr="{&quot;Key&quot;:&quot;POWER_USER_SHAPE_ICON&quot;,&quot;Value&quot;:&quot;POWER_USER_SHAPE_ICON_STYLE_1&quot;}">
              <a:extLst>
                <a:ext uri="{FF2B5EF4-FFF2-40B4-BE49-F238E27FC236}">
                  <a16:creationId xmlns:a16="http://schemas.microsoft.com/office/drawing/2014/main" id="{99BD143D-02C1-01D8-9E2A-F727BF14C65D}"/>
                </a:ext>
              </a:extLst>
            </p:cNvPr>
            <p:cNvSpPr>
              <a:spLocks noChangeAspect="1" noEditPoints="1"/>
            </p:cNvSpPr>
            <p:nvPr>
              <p:custDataLst>
                <p:tags r:id="rId64"/>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17" name="Gruppieren 16" descr="{&quot;Key&quot;:&quot;POWER_USER_SHAPE_ICON&quot;,&quot;Value&quot;:&quot;POWER_USER_SHAPE_ICON_STYLE_2&quot;}">
            <a:extLst>
              <a:ext uri="{FF2B5EF4-FFF2-40B4-BE49-F238E27FC236}">
                <a16:creationId xmlns:a16="http://schemas.microsoft.com/office/drawing/2014/main" id="{F7A252C3-FCF3-D533-7BA5-3A2A31BD9485}"/>
              </a:ext>
            </a:extLst>
          </p:cNvPr>
          <p:cNvGrpSpPr>
            <a:grpSpLocks noChangeAspect="1"/>
          </p:cNvGrpSpPr>
          <p:nvPr/>
        </p:nvGrpSpPr>
        <p:grpSpPr>
          <a:xfrm>
            <a:off x="6120548" y="4081173"/>
            <a:ext cx="295815" cy="295814"/>
            <a:chOff x="-151229" y="3030538"/>
            <a:chExt cx="762000" cy="762000"/>
          </a:xfrm>
        </p:grpSpPr>
        <p:sp>
          <p:nvSpPr>
            <p:cNvPr id="18" name="POWER_USER_SHAPE_ICON_STYLE_2">
              <a:extLst>
                <a:ext uri="{FF2B5EF4-FFF2-40B4-BE49-F238E27FC236}">
                  <a16:creationId xmlns:a16="http://schemas.microsoft.com/office/drawing/2014/main" id="{C43C823C-9104-A16B-9B8B-2379DE6B46B7}"/>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19" name="Gruppieren 18">
              <a:extLst>
                <a:ext uri="{FF2B5EF4-FFF2-40B4-BE49-F238E27FC236}">
                  <a16:creationId xmlns:a16="http://schemas.microsoft.com/office/drawing/2014/main" id="{41D4356E-2048-931C-73BA-C0DBC1A94ED0}"/>
                </a:ext>
              </a:extLst>
            </p:cNvPr>
            <p:cNvGrpSpPr>
              <a:grpSpLocks noChangeAspect="1"/>
            </p:cNvGrpSpPr>
            <p:nvPr/>
          </p:nvGrpSpPr>
          <p:grpSpPr>
            <a:xfrm>
              <a:off x="1" y="3157538"/>
              <a:ext cx="459541" cy="508000"/>
              <a:chOff x="0" y="3157538"/>
              <a:chExt cx="491134" cy="542925"/>
            </a:xfrm>
          </p:grpSpPr>
          <p:sp>
            <p:nvSpPr>
              <p:cNvPr id="20" name="Crowdsourcing2">
                <a:extLst>
                  <a:ext uri="{FF2B5EF4-FFF2-40B4-BE49-F238E27FC236}">
                    <a16:creationId xmlns:a16="http://schemas.microsoft.com/office/drawing/2014/main" id="{E5CBCFE0-3FA9-EF3F-9BF6-71DF45E6663F}"/>
                  </a:ext>
                </a:extLst>
              </p:cNvPr>
              <p:cNvSpPr>
                <a:spLocks/>
              </p:cNvSpPr>
              <p:nvPr>
                <p:custDataLst>
                  <p:tags r:id="rId56"/>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21" name="Crowdsourcing2">
                <a:extLst>
                  <a:ext uri="{FF2B5EF4-FFF2-40B4-BE49-F238E27FC236}">
                    <a16:creationId xmlns:a16="http://schemas.microsoft.com/office/drawing/2014/main" id="{8006256E-55D9-058A-360F-C6F10E4E9006}"/>
                  </a:ext>
                </a:extLst>
              </p:cNvPr>
              <p:cNvSpPr>
                <a:spLocks/>
              </p:cNvSpPr>
              <p:nvPr>
                <p:custDataLst>
                  <p:tags r:id="rId57"/>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22" name="Crowdsourcing2">
                <a:extLst>
                  <a:ext uri="{FF2B5EF4-FFF2-40B4-BE49-F238E27FC236}">
                    <a16:creationId xmlns:a16="http://schemas.microsoft.com/office/drawing/2014/main" id="{39CA820E-8471-7BBC-9F8F-A043880DB429}"/>
                  </a:ext>
                </a:extLst>
              </p:cNvPr>
              <p:cNvSpPr>
                <a:spLocks/>
              </p:cNvSpPr>
              <p:nvPr>
                <p:custDataLst>
                  <p:tags r:id="rId58"/>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23" name="Crowdsourcing2">
                <a:extLst>
                  <a:ext uri="{FF2B5EF4-FFF2-40B4-BE49-F238E27FC236}">
                    <a16:creationId xmlns:a16="http://schemas.microsoft.com/office/drawing/2014/main" id="{02F66934-63C7-4A51-712D-5BEE0044850A}"/>
                  </a:ext>
                </a:extLst>
              </p:cNvPr>
              <p:cNvSpPr>
                <a:spLocks/>
              </p:cNvSpPr>
              <p:nvPr>
                <p:custDataLst>
                  <p:tags r:id="rId59"/>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24" name="Crowdsourcing2">
                <a:extLst>
                  <a:ext uri="{FF2B5EF4-FFF2-40B4-BE49-F238E27FC236}">
                    <a16:creationId xmlns:a16="http://schemas.microsoft.com/office/drawing/2014/main" id="{4336B5C7-502A-797B-3B5F-D001B4269304}"/>
                  </a:ext>
                </a:extLst>
              </p:cNvPr>
              <p:cNvSpPr>
                <a:spLocks/>
              </p:cNvSpPr>
              <p:nvPr>
                <p:custDataLst>
                  <p:tags r:id="rId60"/>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25" name="Crowdsourcing2">
                <a:extLst>
                  <a:ext uri="{FF2B5EF4-FFF2-40B4-BE49-F238E27FC236}">
                    <a16:creationId xmlns:a16="http://schemas.microsoft.com/office/drawing/2014/main" id="{3E39143D-9034-678A-ADE8-ED71293FD10A}"/>
                  </a:ext>
                </a:extLst>
              </p:cNvPr>
              <p:cNvSpPr>
                <a:spLocks/>
              </p:cNvSpPr>
              <p:nvPr>
                <p:custDataLst>
                  <p:tags r:id="rId61"/>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26" name="Crowdsourcing2">
                <a:extLst>
                  <a:ext uri="{FF2B5EF4-FFF2-40B4-BE49-F238E27FC236}">
                    <a16:creationId xmlns:a16="http://schemas.microsoft.com/office/drawing/2014/main" id="{22A2E8C4-8578-9982-EBC8-327E7F5DD1B1}"/>
                  </a:ext>
                </a:extLst>
              </p:cNvPr>
              <p:cNvSpPr>
                <a:spLocks/>
              </p:cNvSpPr>
              <p:nvPr>
                <p:custDataLst>
                  <p:tags r:id="rId62"/>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27" name="Crowdsourcing2">
                <a:extLst>
                  <a:ext uri="{FF2B5EF4-FFF2-40B4-BE49-F238E27FC236}">
                    <a16:creationId xmlns:a16="http://schemas.microsoft.com/office/drawing/2014/main" id="{ED820A75-4CB3-FE5F-B1F9-EB9DFBCD63BE}"/>
                  </a:ext>
                </a:extLst>
              </p:cNvPr>
              <p:cNvSpPr>
                <a:spLocks/>
              </p:cNvSpPr>
              <p:nvPr>
                <p:custDataLst>
                  <p:tags r:id="rId63"/>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nvGrpSpPr>
          <p:cNvPr id="28" name="Gruppieren 27">
            <a:extLst>
              <a:ext uri="{FF2B5EF4-FFF2-40B4-BE49-F238E27FC236}">
                <a16:creationId xmlns:a16="http://schemas.microsoft.com/office/drawing/2014/main" id="{4E0A503E-4115-8A1D-9BF7-30CF29C58A57}"/>
              </a:ext>
            </a:extLst>
          </p:cNvPr>
          <p:cNvGrpSpPr/>
          <p:nvPr/>
        </p:nvGrpSpPr>
        <p:grpSpPr>
          <a:xfrm>
            <a:off x="5781625" y="4403321"/>
            <a:ext cx="480669" cy="448955"/>
            <a:chOff x="1369937" y="4620185"/>
            <a:chExt cx="512470" cy="478658"/>
          </a:xfrm>
        </p:grpSpPr>
        <p:grpSp>
          <p:nvGrpSpPr>
            <p:cNvPr id="29" name="Gruppieren 28" descr="{&quot;Key&quot;:&quot;POWER_USER_SHAPE_ICON&quot;,&quot;Value&quot;:&quot;POWER_USER_SHAPE_ICON_STYLE_2&quot;}">
              <a:extLst>
                <a:ext uri="{FF2B5EF4-FFF2-40B4-BE49-F238E27FC236}">
                  <a16:creationId xmlns:a16="http://schemas.microsoft.com/office/drawing/2014/main" id="{37B0B131-881D-F946-18F0-A15C626DABEA}"/>
                </a:ext>
              </a:extLst>
            </p:cNvPr>
            <p:cNvGrpSpPr>
              <a:grpSpLocks noChangeAspect="1"/>
            </p:cNvGrpSpPr>
            <p:nvPr/>
          </p:nvGrpSpPr>
          <p:grpSpPr>
            <a:xfrm>
              <a:off x="1498726" y="4620185"/>
              <a:ext cx="286311" cy="286311"/>
              <a:chOff x="-147119" y="3030538"/>
              <a:chExt cx="762000" cy="762000"/>
            </a:xfrm>
            <a:solidFill>
              <a:srgbClr val="000066"/>
            </a:solidFill>
          </p:grpSpPr>
          <p:sp>
            <p:nvSpPr>
              <p:cNvPr id="39" name="POWER_USER_SHAPE_ICON_STYLE_2">
                <a:extLst>
                  <a:ext uri="{FF2B5EF4-FFF2-40B4-BE49-F238E27FC236}">
                    <a16:creationId xmlns:a16="http://schemas.microsoft.com/office/drawing/2014/main" id="{A1507302-1D4C-28AA-69F5-7F85D9872F5C}"/>
                  </a:ext>
                </a:extLst>
              </p:cNvPr>
              <p:cNvSpPr/>
              <p:nvPr/>
            </p:nvSpPr>
            <p:spPr>
              <a:xfrm>
                <a:off x="-147119" y="3030538"/>
                <a:ext cx="762000" cy="762000"/>
              </a:xfrm>
              <a:prstGeom prst="ellipse">
                <a:avLst/>
              </a:prstGeom>
              <a:gr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0" name="Snowflake2" descr="{&quot;Key&quot;:&quot;POWER_USER_SHAPE_ICON&quot;,&quot;Value&quot;:&quot;POWER_USER_SHAPE_ICON_STYLE_1&quot;}">
                <a:extLst>
                  <a:ext uri="{FF2B5EF4-FFF2-40B4-BE49-F238E27FC236}">
                    <a16:creationId xmlns:a16="http://schemas.microsoft.com/office/drawing/2014/main" id="{074F624D-C99A-2421-4FF1-95EE0175F51F}"/>
                  </a:ext>
                </a:extLst>
              </p:cNvPr>
              <p:cNvSpPr>
                <a:spLocks noChangeAspect="1"/>
              </p:cNvSpPr>
              <p:nvPr/>
            </p:nvSpPr>
            <p:spPr bwMode="auto">
              <a:xfrm>
                <a:off x="0" y="3157538"/>
                <a:ext cx="467762" cy="508000"/>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30" name="Gruppieren 29" descr="{&quot;Key&quot;:&quot;POWER_USER_SHAPE_ICON&quot;,&quot;Value&quot;:&quot;POWER_USER_SHAPE_ICON_STYLE_2&quot;}">
              <a:extLst>
                <a:ext uri="{FF2B5EF4-FFF2-40B4-BE49-F238E27FC236}">
                  <a16:creationId xmlns:a16="http://schemas.microsoft.com/office/drawing/2014/main" id="{25DE3536-7478-553C-BB00-A2BEB34ED66E}"/>
                </a:ext>
              </a:extLst>
            </p:cNvPr>
            <p:cNvGrpSpPr>
              <a:grpSpLocks noChangeAspect="1"/>
            </p:cNvGrpSpPr>
            <p:nvPr/>
          </p:nvGrpSpPr>
          <p:grpSpPr>
            <a:xfrm>
              <a:off x="1369937" y="4810589"/>
              <a:ext cx="288254" cy="288254"/>
              <a:chOff x="-158376" y="3030538"/>
              <a:chExt cx="762000" cy="762000"/>
            </a:xfrm>
          </p:grpSpPr>
          <p:sp>
            <p:nvSpPr>
              <p:cNvPr id="37" name="POWER_USER_SHAPE_ICON_STYLE_2">
                <a:extLst>
                  <a:ext uri="{FF2B5EF4-FFF2-40B4-BE49-F238E27FC236}">
                    <a16:creationId xmlns:a16="http://schemas.microsoft.com/office/drawing/2014/main" id="{71D9FE5B-81B2-DC04-C326-DF37F0D9B05B}"/>
                  </a:ext>
                </a:extLst>
              </p:cNvPr>
              <p:cNvSpPr/>
              <p:nvPr/>
            </p:nvSpPr>
            <p:spPr>
              <a:xfrm>
                <a:off x="-158376" y="3030538"/>
                <a:ext cx="762000" cy="7620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38" name="Flame3" descr="{&quot;Key&quot;:&quot;POWER_USER_SHAPE_ICON&quot;,&quot;Value&quot;:&quot;POWER_USER_SHAPE_ICON_STYLE_1&quot;}">
                <a:extLst>
                  <a:ext uri="{FF2B5EF4-FFF2-40B4-BE49-F238E27FC236}">
                    <a16:creationId xmlns:a16="http://schemas.microsoft.com/office/drawing/2014/main" id="{62F90A3C-43EC-666B-153C-9FE32F429C27}"/>
                  </a:ext>
                </a:extLst>
              </p:cNvPr>
              <p:cNvSpPr>
                <a:spLocks noChangeAspect="1"/>
              </p:cNvSpPr>
              <p:nvPr>
                <p:custDataLst>
                  <p:tags r:id="rId55"/>
                </p:custDataLst>
              </p:nvPr>
            </p:nvSpPr>
            <p:spPr bwMode="auto">
              <a:xfrm>
                <a:off x="1" y="3157538"/>
                <a:ext cx="445247" cy="508000"/>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31" name="Gruppieren 30" descr="{&quot;Key&quot;:&quot;POWER_USER_SHAPE_ICON&quot;,&quot;Value&quot;:&quot;POWER_USER_SHAPE_ICON_STYLE_2&quot;}">
              <a:extLst>
                <a:ext uri="{FF2B5EF4-FFF2-40B4-BE49-F238E27FC236}">
                  <a16:creationId xmlns:a16="http://schemas.microsoft.com/office/drawing/2014/main" id="{C67BF190-6AA2-1D90-E58F-89CDC28D86E6}"/>
                </a:ext>
              </a:extLst>
            </p:cNvPr>
            <p:cNvGrpSpPr>
              <a:grpSpLocks noChangeAspect="1"/>
            </p:cNvGrpSpPr>
            <p:nvPr/>
          </p:nvGrpSpPr>
          <p:grpSpPr>
            <a:xfrm>
              <a:off x="1612540" y="4824795"/>
              <a:ext cx="269867" cy="269867"/>
              <a:chOff x="-127000" y="2980451"/>
              <a:chExt cx="762000" cy="762000"/>
            </a:xfrm>
          </p:grpSpPr>
          <p:sp>
            <p:nvSpPr>
              <p:cNvPr id="32" name="POWER_USER_SHAPE_ICON_STYLE_2">
                <a:extLst>
                  <a:ext uri="{FF2B5EF4-FFF2-40B4-BE49-F238E27FC236}">
                    <a16:creationId xmlns:a16="http://schemas.microsoft.com/office/drawing/2014/main" id="{8D019FED-710A-3577-222B-B1A08564CA3C}"/>
                  </a:ext>
                </a:extLst>
              </p:cNvPr>
              <p:cNvSpPr/>
              <p:nvPr/>
            </p:nvSpPr>
            <p:spPr>
              <a:xfrm>
                <a:off x="-127000" y="2980451"/>
                <a:ext cx="762000" cy="76200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33" name="Gruppieren 32">
                <a:extLst>
                  <a:ext uri="{FF2B5EF4-FFF2-40B4-BE49-F238E27FC236}">
                    <a16:creationId xmlns:a16="http://schemas.microsoft.com/office/drawing/2014/main" id="{A605D0C4-7B9A-CDFB-4744-396FF4B4C271}"/>
                  </a:ext>
                </a:extLst>
              </p:cNvPr>
              <p:cNvGrpSpPr>
                <a:grpSpLocks noChangeAspect="1"/>
              </p:cNvGrpSpPr>
              <p:nvPr/>
            </p:nvGrpSpPr>
            <p:grpSpPr>
              <a:xfrm>
                <a:off x="0" y="3157538"/>
                <a:ext cx="508000" cy="407826"/>
                <a:chOff x="0" y="3157538"/>
                <a:chExt cx="676283" cy="542925"/>
              </a:xfrm>
            </p:grpSpPr>
            <p:sp>
              <p:nvSpPr>
                <p:cNvPr id="34" name="Freeform 284">
                  <a:extLst>
                    <a:ext uri="{FF2B5EF4-FFF2-40B4-BE49-F238E27FC236}">
                      <a16:creationId xmlns:a16="http://schemas.microsoft.com/office/drawing/2014/main" id="{C3E688BF-16CE-90C4-0A8C-2151AF921FA5}"/>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35" name="Freeform 285">
                  <a:extLst>
                    <a:ext uri="{FF2B5EF4-FFF2-40B4-BE49-F238E27FC236}">
                      <a16:creationId xmlns:a16="http://schemas.microsoft.com/office/drawing/2014/main" id="{AF6CEE4A-5CC0-BA33-C0E4-842C77574AA5}"/>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36" name="Freeform 286">
                  <a:extLst>
                    <a:ext uri="{FF2B5EF4-FFF2-40B4-BE49-F238E27FC236}">
                      <a16:creationId xmlns:a16="http://schemas.microsoft.com/office/drawing/2014/main" id="{ECA91991-167E-1AFE-3FB2-894B5FD4FA6F}"/>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grpSp>
        <p:nvGrpSpPr>
          <p:cNvPr id="41" name="Gruppieren 40" descr="{&quot;Key&quot;:&quot;POWER_USER_SHAPE_ICON&quot;,&quot;Value&quot;:&quot;POWER_USER_SHAPE_ICON_STYLE_2&quot;}">
            <a:extLst>
              <a:ext uri="{FF2B5EF4-FFF2-40B4-BE49-F238E27FC236}">
                <a16:creationId xmlns:a16="http://schemas.microsoft.com/office/drawing/2014/main" id="{D71C4F1E-4C28-3131-0A68-282A85111423}"/>
              </a:ext>
            </a:extLst>
          </p:cNvPr>
          <p:cNvGrpSpPr>
            <a:grpSpLocks noChangeAspect="1"/>
          </p:cNvGrpSpPr>
          <p:nvPr/>
        </p:nvGrpSpPr>
        <p:grpSpPr>
          <a:xfrm>
            <a:off x="6541793" y="3620944"/>
            <a:ext cx="332846" cy="332846"/>
            <a:chOff x="6103281" y="1370067"/>
            <a:chExt cx="762000" cy="762000"/>
          </a:xfrm>
        </p:grpSpPr>
        <p:sp>
          <p:nvSpPr>
            <p:cNvPr id="42" name="POWER_USER_SHAPE_ICON_STYLE_2">
              <a:extLst>
                <a:ext uri="{FF2B5EF4-FFF2-40B4-BE49-F238E27FC236}">
                  <a16:creationId xmlns:a16="http://schemas.microsoft.com/office/drawing/2014/main" id="{F82229A1-B43A-5A1A-90FC-955E8A060D11}"/>
                </a:ext>
              </a:extLst>
            </p:cNvPr>
            <p:cNvSpPr/>
            <p:nvPr/>
          </p:nvSpPr>
          <p:spPr>
            <a:xfrm>
              <a:off x="6103281" y="1370067"/>
              <a:ext cx="762000" cy="762000"/>
            </a:xfrm>
            <a:prstGeom prst="ellipse">
              <a:avLst/>
            </a:prstGeom>
            <a:solidFill>
              <a:srgbClr val="00B05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3" name="Solar_panel2" descr="{&quot;Key&quot;:&quot;POWER_USER_SHAPE_ICON&quot;,&quot;Value&quot;:&quot;POWER_USER_SHAPE_ICON_STYLE_1&quot;}">
              <a:extLst>
                <a:ext uri="{FF2B5EF4-FFF2-40B4-BE49-F238E27FC236}">
                  <a16:creationId xmlns:a16="http://schemas.microsoft.com/office/drawing/2014/main" id="{63F588F6-F33C-C79F-04A4-722AA2A82808}"/>
                </a:ext>
              </a:extLst>
            </p:cNvPr>
            <p:cNvSpPr>
              <a:spLocks noChangeAspect="1" noEditPoints="1"/>
            </p:cNvSpPr>
            <p:nvPr>
              <p:custDataLst>
                <p:tags r:id="rId54"/>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sp>
        <p:nvSpPr>
          <p:cNvPr id="44" name="Rechteck 43">
            <a:extLst>
              <a:ext uri="{FF2B5EF4-FFF2-40B4-BE49-F238E27FC236}">
                <a16:creationId xmlns:a16="http://schemas.microsoft.com/office/drawing/2014/main" id="{536D576C-B1A8-CA6D-2CA9-B31A807718B7}"/>
              </a:ext>
            </a:extLst>
          </p:cNvPr>
          <p:cNvSpPr/>
          <p:nvPr/>
        </p:nvSpPr>
        <p:spPr bwMode="auto">
          <a:xfrm>
            <a:off x="5571537" y="3564578"/>
            <a:ext cx="1685713" cy="1877603"/>
          </a:xfrm>
          <a:prstGeom prst="rect">
            <a:avLst/>
          </a:prstGeom>
          <a:noFill/>
          <a:ln w="28575" cap="flat" cmpd="sng" algn="ctr">
            <a:solidFill>
              <a:srgbClr val="950F53"/>
            </a:solidFill>
            <a:prstDash val="sysDot"/>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5" name="Rechteck 44">
            <a:extLst>
              <a:ext uri="{FF2B5EF4-FFF2-40B4-BE49-F238E27FC236}">
                <a16:creationId xmlns:a16="http://schemas.microsoft.com/office/drawing/2014/main" id="{863D3515-7129-36E0-6411-FC06B25DE954}"/>
              </a:ext>
            </a:extLst>
          </p:cNvPr>
          <p:cNvSpPr/>
          <p:nvPr/>
        </p:nvSpPr>
        <p:spPr bwMode="auto">
          <a:xfrm>
            <a:off x="6533126" y="3947503"/>
            <a:ext cx="868590" cy="861774"/>
          </a:xfrm>
          <a:prstGeom prst="rect">
            <a:avLst/>
          </a:prstGeom>
        </p:spPr>
        <p:txBody>
          <a:bodyPr wrap="square">
            <a:spAutoFit/>
          </a:bodyPr>
          <a:lstStyle/>
          <a:p>
            <a:pPr defTabSz="685754">
              <a:defRPr/>
            </a:pPr>
            <a:r>
              <a:rPr lang="de-DE" sz="1000" noProof="1">
                <a:solidFill>
                  <a:srgbClr val="00B050"/>
                </a:solidFill>
                <a:latin typeface="Bahnschrift" panose="020B0502040204020203" pitchFamily="34" charset="0"/>
              </a:rPr>
              <a:t>Lokale </a:t>
            </a:r>
          </a:p>
          <a:p>
            <a:pPr defTabSz="685754">
              <a:defRPr/>
            </a:pPr>
            <a:r>
              <a:rPr lang="de-DE" sz="1000" noProof="1">
                <a:solidFill>
                  <a:srgbClr val="00B050"/>
                </a:solidFill>
                <a:latin typeface="Bahnschrift" panose="020B0502040204020203" pitchFamily="34" charset="0"/>
              </a:rPr>
              <a:t>Erneuer-bare</a:t>
            </a:r>
          </a:p>
          <a:p>
            <a:pPr defTabSz="685754">
              <a:defRPr/>
            </a:pPr>
            <a:r>
              <a:rPr lang="de-DE" sz="1000" noProof="1">
                <a:solidFill>
                  <a:srgbClr val="00B050"/>
                </a:solidFill>
                <a:latin typeface="Bahnschrift" panose="020B0502040204020203" pitchFamily="34" charset="0"/>
              </a:rPr>
              <a:t>Energie-Quelle</a:t>
            </a:r>
          </a:p>
        </p:txBody>
      </p:sp>
      <p:sp>
        <p:nvSpPr>
          <p:cNvPr id="46" name="Rechteck 45">
            <a:extLst>
              <a:ext uri="{FF2B5EF4-FFF2-40B4-BE49-F238E27FC236}">
                <a16:creationId xmlns:a16="http://schemas.microsoft.com/office/drawing/2014/main" id="{CE0ED7E3-94FA-594C-9A76-6E50D6B55198}"/>
              </a:ext>
            </a:extLst>
          </p:cNvPr>
          <p:cNvSpPr/>
          <p:nvPr/>
        </p:nvSpPr>
        <p:spPr bwMode="auto">
          <a:xfrm>
            <a:off x="7376486" y="4438816"/>
            <a:ext cx="1845106" cy="994121"/>
          </a:xfrm>
          <a:prstGeom prst="rect">
            <a:avLst/>
          </a:prstGeom>
          <a:solidFill>
            <a:srgbClr val="D8D7B7"/>
          </a:solidFill>
          <a:ln w="28575" cap="flat" cmpd="sng" algn="ctr">
            <a:noFill/>
            <a:prstDash val="dash"/>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7" name="Rechteck 46">
            <a:extLst>
              <a:ext uri="{FF2B5EF4-FFF2-40B4-BE49-F238E27FC236}">
                <a16:creationId xmlns:a16="http://schemas.microsoft.com/office/drawing/2014/main" id="{014DC2C8-5EA4-28F9-7B56-06750DC8E64B}"/>
              </a:ext>
            </a:extLst>
          </p:cNvPr>
          <p:cNvSpPr/>
          <p:nvPr/>
        </p:nvSpPr>
        <p:spPr bwMode="auto">
          <a:xfrm>
            <a:off x="7362937" y="3155265"/>
            <a:ext cx="1858655" cy="2284468"/>
          </a:xfrm>
          <a:prstGeom prst="rect">
            <a:avLst/>
          </a:prstGeom>
          <a:noFill/>
          <a:ln w="28575" cap="flat" cmpd="sng" algn="ctr">
            <a:solidFill>
              <a:srgbClr val="3BACBE">
                <a:lumMod val="60000"/>
                <a:lumOff val="40000"/>
              </a:srgbClr>
            </a:solidFill>
            <a:prstDash val="sysDot"/>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8" name="Building5" descr="{&quot;Key&quot;:&quot;POWER_USER_SHAPE_ICON&quot;,&quot;Value&quot;:&quot;POWER_USER_SHAPE_ICON_STYLE_1&quot;}">
            <a:extLst>
              <a:ext uri="{FF2B5EF4-FFF2-40B4-BE49-F238E27FC236}">
                <a16:creationId xmlns:a16="http://schemas.microsoft.com/office/drawing/2014/main" id="{C5E9CC31-A756-CB7A-EA04-02B52774836C}"/>
              </a:ext>
            </a:extLst>
          </p:cNvPr>
          <p:cNvSpPr>
            <a:spLocks noChangeAspect="1" noEditPoints="1"/>
          </p:cNvSpPr>
          <p:nvPr>
            <p:custDataLst>
              <p:tags r:id="rId2"/>
            </p:custDataLst>
          </p:nvPr>
        </p:nvSpPr>
        <p:spPr bwMode="auto">
          <a:xfrm>
            <a:off x="7510106" y="3216291"/>
            <a:ext cx="1233099" cy="1229321"/>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nvGrpSpPr>
          <p:cNvPr id="49" name="Gruppieren 48">
            <a:extLst>
              <a:ext uri="{FF2B5EF4-FFF2-40B4-BE49-F238E27FC236}">
                <a16:creationId xmlns:a16="http://schemas.microsoft.com/office/drawing/2014/main" id="{43118DA4-F01C-73BE-5EFC-77533A8BE631}"/>
              </a:ext>
            </a:extLst>
          </p:cNvPr>
          <p:cNvGrpSpPr/>
          <p:nvPr/>
        </p:nvGrpSpPr>
        <p:grpSpPr>
          <a:xfrm>
            <a:off x="8125403" y="3755733"/>
            <a:ext cx="298582" cy="276822"/>
            <a:chOff x="-19101" y="2381281"/>
            <a:chExt cx="699820" cy="699820"/>
          </a:xfrm>
        </p:grpSpPr>
        <p:sp>
          <p:nvSpPr>
            <p:cNvPr id="50" name="Ellipse 49">
              <a:extLst>
                <a:ext uri="{FF2B5EF4-FFF2-40B4-BE49-F238E27FC236}">
                  <a16:creationId xmlns:a16="http://schemas.microsoft.com/office/drawing/2014/main" id="{5DA2E80C-3EF3-62F8-56B7-80737B09A378}"/>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1" name="Plug" descr="{&quot;Key&quot;:&quot;POWER_USER_SHAPE_ICON&quot;,&quot;Value&quot;:&quot;POWER_USER_SHAPE_ICON_STYLE_1&quot;}">
              <a:extLst>
                <a:ext uri="{FF2B5EF4-FFF2-40B4-BE49-F238E27FC236}">
                  <a16:creationId xmlns:a16="http://schemas.microsoft.com/office/drawing/2014/main" id="{D76D6309-F56E-50FF-0A37-237196466A6C}"/>
                </a:ext>
              </a:extLst>
            </p:cNvPr>
            <p:cNvSpPr>
              <a:spLocks noChangeAspect="1" noEditPoints="1"/>
            </p:cNvSpPr>
            <p:nvPr>
              <p:custDataLst>
                <p:tags r:id="rId53"/>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52" name="Gruppieren 51" descr="{&quot;Key&quot;:&quot;POWER_USER_SHAPE_ICON&quot;,&quot;Value&quot;:&quot;POWER_USER_SHAPE_ICON_STYLE_2&quot;}">
            <a:extLst>
              <a:ext uri="{FF2B5EF4-FFF2-40B4-BE49-F238E27FC236}">
                <a16:creationId xmlns:a16="http://schemas.microsoft.com/office/drawing/2014/main" id="{A2515656-232F-2554-23CB-94C777628015}"/>
              </a:ext>
            </a:extLst>
          </p:cNvPr>
          <p:cNvGrpSpPr>
            <a:grpSpLocks noChangeAspect="1"/>
          </p:cNvGrpSpPr>
          <p:nvPr/>
        </p:nvGrpSpPr>
        <p:grpSpPr>
          <a:xfrm>
            <a:off x="7997664" y="3520948"/>
            <a:ext cx="295815" cy="295814"/>
            <a:chOff x="-151229" y="3030538"/>
            <a:chExt cx="762000" cy="762000"/>
          </a:xfrm>
        </p:grpSpPr>
        <p:sp>
          <p:nvSpPr>
            <p:cNvPr id="53" name="POWER_USER_SHAPE_ICON_STYLE_2">
              <a:extLst>
                <a:ext uri="{FF2B5EF4-FFF2-40B4-BE49-F238E27FC236}">
                  <a16:creationId xmlns:a16="http://schemas.microsoft.com/office/drawing/2014/main" id="{8789DB4F-3E22-F89E-B66C-AD092BC1CB5D}"/>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54" name="Gruppieren 53">
              <a:extLst>
                <a:ext uri="{FF2B5EF4-FFF2-40B4-BE49-F238E27FC236}">
                  <a16:creationId xmlns:a16="http://schemas.microsoft.com/office/drawing/2014/main" id="{853A71CF-F70A-A6A4-71BF-FF22785A43B8}"/>
                </a:ext>
              </a:extLst>
            </p:cNvPr>
            <p:cNvGrpSpPr>
              <a:grpSpLocks noChangeAspect="1"/>
            </p:cNvGrpSpPr>
            <p:nvPr/>
          </p:nvGrpSpPr>
          <p:grpSpPr>
            <a:xfrm>
              <a:off x="1" y="3157538"/>
              <a:ext cx="459541" cy="508000"/>
              <a:chOff x="0" y="3157538"/>
              <a:chExt cx="491134" cy="542925"/>
            </a:xfrm>
          </p:grpSpPr>
          <p:sp>
            <p:nvSpPr>
              <p:cNvPr id="55" name="Crowdsourcing2">
                <a:extLst>
                  <a:ext uri="{FF2B5EF4-FFF2-40B4-BE49-F238E27FC236}">
                    <a16:creationId xmlns:a16="http://schemas.microsoft.com/office/drawing/2014/main" id="{B1424C1A-83CC-6A6B-8FC0-A5CA994F9240}"/>
                  </a:ext>
                </a:extLst>
              </p:cNvPr>
              <p:cNvSpPr>
                <a:spLocks/>
              </p:cNvSpPr>
              <p:nvPr>
                <p:custDataLst>
                  <p:tags r:id="rId45"/>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6" name="Crowdsourcing2">
                <a:extLst>
                  <a:ext uri="{FF2B5EF4-FFF2-40B4-BE49-F238E27FC236}">
                    <a16:creationId xmlns:a16="http://schemas.microsoft.com/office/drawing/2014/main" id="{BFA76B39-A474-2CBE-727F-86701325E4E8}"/>
                  </a:ext>
                </a:extLst>
              </p:cNvPr>
              <p:cNvSpPr>
                <a:spLocks/>
              </p:cNvSpPr>
              <p:nvPr>
                <p:custDataLst>
                  <p:tags r:id="rId46"/>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7" name="Crowdsourcing2">
                <a:extLst>
                  <a:ext uri="{FF2B5EF4-FFF2-40B4-BE49-F238E27FC236}">
                    <a16:creationId xmlns:a16="http://schemas.microsoft.com/office/drawing/2014/main" id="{97FB4A05-4B3E-77E9-7C0C-CD811FE614EF}"/>
                  </a:ext>
                </a:extLst>
              </p:cNvPr>
              <p:cNvSpPr>
                <a:spLocks/>
              </p:cNvSpPr>
              <p:nvPr>
                <p:custDataLst>
                  <p:tags r:id="rId47"/>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8" name="Crowdsourcing2">
                <a:extLst>
                  <a:ext uri="{FF2B5EF4-FFF2-40B4-BE49-F238E27FC236}">
                    <a16:creationId xmlns:a16="http://schemas.microsoft.com/office/drawing/2014/main" id="{6AD550B0-821A-49D1-5285-B3E35F9E9CFC}"/>
                  </a:ext>
                </a:extLst>
              </p:cNvPr>
              <p:cNvSpPr>
                <a:spLocks/>
              </p:cNvSpPr>
              <p:nvPr>
                <p:custDataLst>
                  <p:tags r:id="rId48"/>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9" name="Crowdsourcing2">
                <a:extLst>
                  <a:ext uri="{FF2B5EF4-FFF2-40B4-BE49-F238E27FC236}">
                    <a16:creationId xmlns:a16="http://schemas.microsoft.com/office/drawing/2014/main" id="{283CC56E-22CA-AB59-3D84-B8125943CEE7}"/>
                  </a:ext>
                </a:extLst>
              </p:cNvPr>
              <p:cNvSpPr>
                <a:spLocks/>
              </p:cNvSpPr>
              <p:nvPr>
                <p:custDataLst>
                  <p:tags r:id="rId49"/>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60" name="Crowdsourcing2">
                <a:extLst>
                  <a:ext uri="{FF2B5EF4-FFF2-40B4-BE49-F238E27FC236}">
                    <a16:creationId xmlns:a16="http://schemas.microsoft.com/office/drawing/2014/main" id="{1D48C719-6A8A-B15E-4A7E-58F49EA34FEB}"/>
                  </a:ext>
                </a:extLst>
              </p:cNvPr>
              <p:cNvSpPr>
                <a:spLocks/>
              </p:cNvSpPr>
              <p:nvPr>
                <p:custDataLst>
                  <p:tags r:id="rId50"/>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61" name="Crowdsourcing2">
                <a:extLst>
                  <a:ext uri="{FF2B5EF4-FFF2-40B4-BE49-F238E27FC236}">
                    <a16:creationId xmlns:a16="http://schemas.microsoft.com/office/drawing/2014/main" id="{97388A02-72EA-5C67-43BB-016F0C67A65D}"/>
                  </a:ext>
                </a:extLst>
              </p:cNvPr>
              <p:cNvSpPr>
                <a:spLocks/>
              </p:cNvSpPr>
              <p:nvPr>
                <p:custDataLst>
                  <p:tags r:id="rId51"/>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62" name="Crowdsourcing2">
                <a:extLst>
                  <a:ext uri="{FF2B5EF4-FFF2-40B4-BE49-F238E27FC236}">
                    <a16:creationId xmlns:a16="http://schemas.microsoft.com/office/drawing/2014/main" id="{10A4E262-E6E6-1B9A-E273-E7FAE6CD243E}"/>
                  </a:ext>
                </a:extLst>
              </p:cNvPr>
              <p:cNvSpPr>
                <a:spLocks/>
              </p:cNvSpPr>
              <p:nvPr>
                <p:custDataLst>
                  <p:tags r:id="rId52"/>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nvGrpSpPr>
          <p:cNvPr id="63" name="Gruppieren 62">
            <a:extLst>
              <a:ext uri="{FF2B5EF4-FFF2-40B4-BE49-F238E27FC236}">
                <a16:creationId xmlns:a16="http://schemas.microsoft.com/office/drawing/2014/main" id="{297A3D8E-E1EC-4C8F-B1FE-8B49047B3D81}"/>
              </a:ext>
            </a:extLst>
          </p:cNvPr>
          <p:cNvGrpSpPr/>
          <p:nvPr/>
        </p:nvGrpSpPr>
        <p:grpSpPr>
          <a:xfrm>
            <a:off x="7560151" y="3947502"/>
            <a:ext cx="480669" cy="448956"/>
            <a:chOff x="1369937" y="4620184"/>
            <a:chExt cx="512470" cy="478659"/>
          </a:xfrm>
        </p:grpSpPr>
        <p:grpSp>
          <p:nvGrpSpPr>
            <p:cNvPr id="64" name="Gruppieren 63" descr="{&quot;Key&quot;:&quot;POWER_USER_SHAPE_ICON&quot;,&quot;Value&quot;:&quot;POWER_USER_SHAPE_ICON_STYLE_2&quot;}">
              <a:extLst>
                <a:ext uri="{FF2B5EF4-FFF2-40B4-BE49-F238E27FC236}">
                  <a16:creationId xmlns:a16="http://schemas.microsoft.com/office/drawing/2014/main" id="{DD84B8A4-A46B-6FA8-DEB3-F4DADF235A59}"/>
                </a:ext>
              </a:extLst>
            </p:cNvPr>
            <p:cNvGrpSpPr>
              <a:grpSpLocks noChangeAspect="1"/>
            </p:cNvGrpSpPr>
            <p:nvPr/>
          </p:nvGrpSpPr>
          <p:grpSpPr>
            <a:xfrm>
              <a:off x="1498727" y="4620184"/>
              <a:ext cx="286310" cy="286311"/>
              <a:chOff x="-147119" y="3030535"/>
              <a:chExt cx="762000" cy="762000"/>
            </a:xfrm>
            <a:solidFill>
              <a:srgbClr val="000066"/>
            </a:solidFill>
          </p:grpSpPr>
          <p:sp>
            <p:nvSpPr>
              <p:cNvPr id="72" name="POWER_USER_SHAPE_ICON_STYLE_2">
                <a:extLst>
                  <a:ext uri="{FF2B5EF4-FFF2-40B4-BE49-F238E27FC236}">
                    <a16:creationId xmlns:a16="http://schemas.microsoft.com/office/drawing/2014/main" id="{4436B240-DB5C-483F-433F-A8E86140AA11}"/>
                  </a:ext>
                </a:extLst>
              </p:cNvPr>
              <p:cNvSpPr/>
              <p:nvPr/>
            </p:nvSpPr>
            <p:spPr>
              <a:xfrm>
                <a:off x="-147119" y="3030535"/>
                <a:ext cx="762000" cy="762000"/>
              </a:xfrm>
              <a:prstGeom prst="ellipse">
                <a:avLst/>
              </a:prstGeom>
              <a:gr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73" name="Snowflake2" descr="{&quot;Key&quot;:&quot;POWER_USER_SHAPE_ICON&quot;,&quot;Value&quot;:&quot;POWER_USER_SHAPE_ICON_STYLE_1&quot;}">
                <a:extLst>
                  <a:ext uri="{FF2B5EF4-FFF2-40B4-BE49-F238E27FC236}">
                    <a16:creationId xmlns:a16="http://schemas.microsoft.com/office/drawing/2014/main" id="{0D71D8A2-9C23-8211-40B0-9F768572ED22}"/>
                  </a:ext>
                </a:extLst>
              </p:cNvPr>
              <p:cNvSpPr>
                <a:spLocks noChangeAspect="1"/>
              </p:cNvSpPr>
              <p:nvPr/>
            </p:nvSpPr>
            <p:spPr bwMode="auto">
              <a:xfrm>
                <a:off x="0" y="3157538"/>
                <a:ext cx="467762" cy="508000"/>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sp>
          <p:nvSpPr>
            <p:cNvPr id="65" name="POWER_USER_SHAPE_ICON_STYLE_2">
              <a:extLst>
                <a:ext uri="{FF2B5EF4-FFF2-40B4-BE49-F238E27FC236}">
                  <a16:creationId xmlns:a16="http://schemas.microsoft.com/office/drawing/2014/main" id="{547E2FB9-1D4A-F426-F94B-53A5535C8BFA}"/>
                </a:ext>
              </a:extLst>
            </p:cNvPr>
            <p:cNvSpPr/>
            <p:nvPr/>
          </p:nvSpPr>
          <p:spPr>
            <a:xfrm>
              <a:off x="1369937" y="4810590"/>
              <a:ext cx="288254" cy="288253"/>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66" name="Gruppieren 65" descr="{&quot;Key&quot;:&quot;POWER_USER_SHAPE_ICON&quot;,&quot;Value&quot;:&quot;POWER_USER_SHAPE_ICON_STYLE_2&quot;}">
              <a:extLst>
                <a:ext uri="{FF2B5EF4-FFF2-40B4-BE49-F238E27FC236}">
                  <a16:creationId xmlns:a16="http://schemas.microsoft.com/office/drawing/2014/main" id="{A74955C2-9984-CA75-5B29-E9AC6D7ADA4B}"/>
                </a:ext>
              </a:extLst>
            </p:cNvPr>
            <p:cNvGrpSpPr>
              <a:grpSpLocks noChangeAspect="1"/>
            </p:cNvGrpSpPr>
            <p:nvPr/>
          </p:nvGrpSpPr>
          <p:grpSpPr>
            <a:xfrm>
              <a:off x="1612540" y="4824797"/>
              <a:ext cx="269867" cy="269868"/>
              <a:chOff x="-127001" y="2980457"/>
              <a:chExt cx="762001" cy="762003"/>
            </a:xfrm>
          </p:grpSpPr>
          <p:sp>
            <p:nvSpPr>
              <p:cNvPr id="67" name="POWER_USER_SHAPE_ICON_STYLE_2">
                <a:extLst>
                  <a:ext uri="{FF2B5EF4-FFF2-40B4-BE49-F238E27FC236}">
                    <a16:creationId xmlns:a16="http://schemas.microsoft.com/office/drawing/2014/main" id="{A71CD23C-6530-ED95-195E-6EA9FA2BF061}"/>
                  </a:ext>
                </a:extLst>
              </p:cNvPr>
              <p:cNvSpPr/>
              <p:nvPr/>
            </p:nvSpPr>
            <p:spPr>
              <a:xfrm>
                <a:off x="-127001" y="2980457"/>
                <a:ext cx="762001" cy="762003"/>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68" name="Gruppieren 67">
                <a:extLst>
                  <a:ext uri="{FF2B5EF4-FFF2-40B4-BE49-F238E27FC236}">
                    <a16:creationId xmlns:a16="http://schemas.microsoft.com/office/drawing/2014/main" id="{0967876E-765C-5809-1115-7B8BBED59249}"/>
                  </a:ext>
                </a:extLst>
              </p:cNvPr>
              <p:cNvGrpSpPr>
                <a:grpSpLocks noChangeAspect="1"/>
              </p:cNvGrpSpPr>
              <p:nvPr/>
            </p:nvGrpSpPr>
            <p:grpSpPr>
              <a:xfrm>
                <a:off x="0" y="3157538"/>
                <a:ext cx="508000" cy="407826"/>
                <a:chOff x="0" y="3157538"/>
                <a:chExt cx="676283" cy="542925"/>
              </a:xfrm>
            </p:grpSpPr>
            <p:sp>
              <p:nvSpPr>
                <p:cNvPr id="69" name="Freeform 284">
                  <a:extLst>
                    <a:ext uri="{FF2B5EF4-FFF2-40B4-BE49-F238E27FC236}">
                      <a16:creationId xmlns:a16="http://schemas.microsoft.com/office/drawing/2014/main" id="{866F9448-274A-113B-09D8-3EA2546286B6}"/>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70" name="Freeform 285">
                  <a:extLst>
                    <a:ext uri="{FF2B5EF4-FFF2-40B4-BE49-F238E27FC236}">
                      <a16:creationId xmlns:a16="http://schemas.microsoft.com/office/drawing/2014/main" id="{7F7FC96C-3067-E535-ECD4-D79E83931E51}"/>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71" name="Freeform 286">
                  <a:extLst>
                    <a:ext uri="{FF2B5EF4-FFF2-40B4-BE49-F238E27FC236}">
                      <a16:creationId xmlns:a16="http://schemas.microsoft.com/office/drawing/2014/main" id="{E8FF4F62-A5BF-700F-11C4-5073445E5C90}"/>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grpSp>
        <p:nvGrpSpPr>
          <p:cNvPr id="74" name="Gruppieren 73" descr="{&quot;Key&quot;:&quot;POWER_USER_SHAPE_ICON&quot;,&quot;Value&quot;:&quot;POWER_USER_SHAPE_ICON_STYLE_2&quot;}">
            <a:extLst>
              <a:ext uri="{FF2B5EF4-FFF2-40B4-BE49-F238E27FC236}">
                <a16:creationId xmlns:a16="http://schemas.microsoft.com/office/drawing/2014/main" id="{EA4CF6E6-8EE3-5B5E-1FF8-1B384318ADFC}"/>
              </a:ext>
            </a:extLst>
          </p:cNvPr>
          <p:cNvGrpSpPr>
            <a:grpSpLocks noChangeAspect="1"/>
          </p:cNvGrpSpPr>
          <p:nvPr/>
        </p:nvGrpSpPr>
        <p:grpSpPr>
          <a:xfrm>
            <a:off x="8228375" y="3200416"/>
            <a:ext cx="332846" cy="332846"/>
            <a:chOff x="6103281" y="1370067"/>
            <a:chExt cx="762000" cy="762000"/>
          </a:xfrm>
        </p:grpSpPr>
        <p:sp>
          <p:nvSpPr>
            <p:cNvPr id="75" name="POWER_USER_SHAPE_ICON_STYLE_2">
              <a:extLst>
                <a:ext uri="{FF2B5EF4-FFF2-40B4-BE49-F238E27FC236}">
                  <a16:creationId xmlns:a16="http://schemas.microsoft.com/office/drawing/2014/main" id="{836EC4EB-A271-ECA8-0A60-18DEA44009E7}"/>
                </a:ext>
              </a:extLst>
            </p:cNvPr>
            <p:cNvSpPr/>
            <p:nvPr/>
          </p:nvSpPr>
          <p:spPr>
            <a:xfrm>
              <a:off x="6103281" y="1370067"/>
              <a:ext cx="762000" cy="762000"/>
            </a:xfrm>
            <a:prstGeom prst="ellipse">
              <a:avLst/>
            </a:prstGeom>
            <a:solidFill>
              <a:srgbClr val="00B05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76" name="Solar_panel2" descr="{&quot;Key&quot;:&quot;POWER_USER_SHAPE_ICON&quot;,&quot;Value&quot;:&quot;POWER_USER_SHAPE_ICON_STYLE_1&quot;}">
              <a:extLst>
                <a:ext uri="{FF2B5EF4-FFF2-40B4-BE49-F238E27FC236}">
                  <a16:creationId xmlns:a16="http://schemas.microsoft.com/office/drawing/2014/main" id="{9D2A5706-DD42-8195-B7EC-C1411AA87FE9}"/>
                </a:ext>
              </a:extLst>
            </p:cNvPr>
            <p:cNvSpPr>
              <a:spLocks noChangeAspect="1" noEditPoints="1"/>
            </p:cNvSpPr>
            <p:nvPr>
              <p:custDataLst>
                <p:tags r:id="rId44"/>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77" name="Gruppieren 76" descr="{&quot;Key&quot;:&quot;POWER_USER_SHAPE_ICON&quot;,&quot;Value&quot;:&quot;POWER_USER_SHAPE_ICON_STYLE_2&quot;}">
            <a:extLst>
              <a:ext uri="{FF2B5EF4-FFF2-40B4-BE49-F238E27FC236}">
                <a16:creationId xmlns:a16="http://schemas.microsoft.com/office/drawing/2014/main" id="{777A3BE8-98A3-7887-7602-43F709C7DB78}"/>
              </a:ext>
            </a:extLst>
          </p:cNvPr>
          <p:cNvGrpSpPr>
            <a:grpSpLocks noChangeAspect="1"/>
          </p:cNvGrpSpPr>
          <p:nvPr/>
        </p:nvGrpSpPr>
        <p:grpSpPr>
          <a:xfrm>
            <a:off x="8325987" y="4592956"/>
            <a:ext cx="365272" cy="365272"/>
            <a:chOff x="462870" y="3616571"/>
            <a:chExt cx="762001" cy="762000"/>
          </a:xfrm>
        </p:grpSpPr>
        <p:sp>
          <p:nvSpPr>
            <p:cNvPr id="78" name="POWER_USER_SHAPE_ICON_STYLE_2">
              <a:extLst>
                <a:ext uri="{FF2B5EF4-FFF2-40B4-BE49-F238E27FC236}">
                  <a16:creationId xmlns:a16="http://schemas.microsoft.com/office/drawing/2014/main" id="{88E723BA-2560-0C15-8B53-C90262B430DA}"/>
                </a:ext>
              </a:extLst>
            </p:cNvPr>
            <p:cNvSpPr/>
            <p:nvPr/>
          </p:nvSpPr>
          <p:spPr>
            <a:xfrm>
              <a:off x="462870" y="3616571"/>
              <a:ext cx="762001" cy="762000"/>
            </a:xfrm>
            <a:prstGeom prst="ellipse">
              <a:avLst/>
            </a:prstGeom>
            <a:solidFill>
              <a:srgbClr val="FFC000">
                <a:lumMod val="5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600" kern="0" noProof="1">
                <a:solidFill>
                  <a:prstClr val="white"/>
                </a:solidFill>
                <a:latin typeface="Calibri" panose="020F0502020204030204"/>
              </a:endParaRPr>
            </a:p>
          </p:txBody>
        </p:sp>
        <p:sp>
          <p:nvSpPr>
            <p:cNvPr id="79" name="Freeform 63">
              <a:extLst>
                <a:ext uri="{FF2B5EF4-FFF2-40B4-BE49-F238E27FC236}">
                  <a16:creationId xmlns:a16="http://schemas.microsoft.com/office/drawing/2014/main" id="{8CB8FC3E-68A6-C3D1-5E89-F0D03DF8443F}"/>
                </a:ext>
              </a:extLst>
            </p:cNvPr>
            <p:cNvSpPr>
              <a:spLocks noEditPoints="1"/>
            </p:cNvSpPr>
            <p:nvPr/>
          </p:nvSpPr>
          <p:spPr bwMode="auto">
            <a:xfrm>
              <a:off x="589873" y="3874198"/>
              <a:ext cx="508000" cy="311858"/>
            </a:xfrm>
            <a:custGeom>
              <a:avLst/>
              <a:gdLst>
                <a:gd name="T0" fmla="*/ 966 w 1289"/>
                <a:gd name="T1" fmla="*/ 420 h 792"/>
                <a:gd name="T2" fmla="*/ 951 w 1289"/>
                <a:gd name="T3" fmla="*/ 283 h 792"/>
                <a:gd name="T4" fmla="*/ 1059 w 1289"/>
                <a:gd name="T5" fmla="*/ 266 h 792"/>
                <a:gd name="T6" fmla="*/ 1170 w 1289"/>
                <a:gd name="T7" fmla="*/ 398 h 792"/>
                <a:gd name="T8" fmla="*/ 1076 w 1289"/>
                <a:gd name="T9" fmla="*/ 731 h 792"/>
                <a:gd name="T10" fmla="*/ 1076 w 1289"/>
                <a:gd name="T11" fmla="*/ 586 h 792"/>
                <a:gd name="T12" fmla="*/ 1076 w 1289"/>
                <a:gd name="T13" fmla="*/ 731 h 792"/>
                <a:gd name="T14" fmla="*/ 502 w 1289"/>
                <a:gd name="T15" fmla="*/ 492 h 792"/>
                <a:gd name="T16" fmla="*/ 64 w 1289"/>
                <a:gd name="T17" fmla="*/ 328 h 792"/>
                <a:gd name="T18" fmla="*/ 532 w 1289"/>
                <a:gd name="T19" fmla="*/ 64 h 792"/>
                <a:gd name="T20" fmla="*/ 774 w 1289"/>
                <a:gd name="T21" fmla="*/ 160 h 792"/>
                <a:gd name="T22" fmla="*/ 554 w 1289"/>
                <a:gd name="T23" fmla="*/ 731 h 792"/>
                <a:gd name="T24" fmla="*/ 554 w 1289"/>
                <a:gd name="T25" fmla="*/ 586 h 792"/>
                <a:gd name="T26" fmla="*/ 554 w 1289"/>
                <a:gd name="T27" fmla="*/ 731 h 792"/>
                <a:gd name="T28" fmla="*/ 221 w 1289"/>
                <a:gd name="T29" fmla="*/ 659 h 792"/>
                <a:gd name="T30" fmla="*/ 366 w 1289"/>
                <a:gd name="T31" fmla="*/ 659 h 792"/>
                <a:gd name="T32" fmla="*/ 1270 w 1289"/>
                <a:gd name="T33" fmla="*/ 520 h 792"/>
                <a:gd name="T34" fmla="*/ 1256 w 1289"/>
                <a:gd name="T35" fmla="*/ 442 h 792"/>
                <a:gd name="T36" fmla="*/ 1125 w 1289"/>
                <a:gd name="T37" fmla="*/ 234 h 792"/>
                <a:gd name="T38" fmla="*/ 941 w 1289"/>
                <a:gd name="T39" fmla="*/ 207 h 792"/>
                <a:gd name="T40" fmla="*/ 882 w 1289"/>
                <a:gd name="T41" fmla="*/ 124 h 792"/>
                <a:gd name="T42" fmla="*/ 824 w 1289"/>
                <a:gd name="T43" fmla="*/ 387 h 792"/>
                <a:gd name="T44" fmla="*/ 808 w 1289"/>
                <a:gd name="T45" fmla="*/ 107 h 792"/>
                <a:gd name="T46" fmla="*/ 525 w 1289"/>
                <a:gd name="T47" fmla="*/ 3 h 792"/>
                <a:gd name="T48" fmla="*/ 22 w 1289"/>
                <a:gd name="T49" fmla="*/ 110 h 792"/>
                <a:gd name="T50" fmla="*/ 32 w 1289"/>
                <a:gd name="T51" fmla="*/ 382 h 792"/>
                <a:gd name="T52" fmla="*/ 95 w 1289"/>
                <a:gd name="T53" fmla="*/ 642 h 792"/>
                <a:gd name="T54" fmla="*/ 160 w 1289"/>
                <a:gd name="T55" fmla="*/ 661 h 792"/>
                <a:gd name="T56" fmla="*/ 424 w 1289"/>
                <a:gd name="T57" fmla="*/ 690 h 792"/>
                <a:gd name="T58" fmla="*/ 687 w 1289"/>
                <a:gd name="T59" fmla="*/ 661 h 792"/>
                <a:gd name="T60" fmla="*/ 1076 w 1289"/>
                <a:gd name="T61" fmla="*/ 792 h 792"/>
                <a:gd name="T62" fmla="*/ 1270 w 1289"/>
                <a:gd name="T63" fmla="*/ 661 h 792"/>
                <a:gd name="T64" fmla="*/ 1289 w 1289"/>
                <a:gd name="T65" fmla="*/ 539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89" h="792">
                  <a:moveTo>
                    <a:pt x="1161" y="420"/>
                  </a:moveTo>
                  <a:lnTo>
                    <a:pt x="966" y="420"/>
                  </a:lnTo>
                  <a:cubicBezTo>
                    <a:pt x="958" y="420"/>
                    <a:pt x="951" y="412"/>
                    <a:pt x="951" y="404"/>
                  </a:cubicBezTo>
                  <a:lnTo>
                    <a:pt x="951" y="283"/>
                  </a:lnTo>
                  <a:cubicBezTo>
                    <a:pt x="951" y="274"/>
                    <a:pt x="958" y="267"/>
                    <a:pt x="966" y="267"/>
                  </a:cubicBezTo>
                  <a:lnTo>
                    <a:pt x="1059" y="266"/>
                  </a:lnTo>
                  <a:cubicBezTo>
                    <a:pt x="1067" y="266"/>
                    <a:pt x="1078" y="271"/>
                    <a:pt x="1083" y="277"/>
                  </a:cubicBezTo>
                  <a:lnTo>
                    <a:pt x="1170" y="398"/>
                  </a:lnTo>
                  <a:cubicBezTo>
                    <a:pt x="1175" y="404"/>
                    <a:pt x="1169" y="420"/>
                    <a:pt x="1161" y="420"/>
                  </a:cubicBezTo>
                  <a:close/>
                  <a:moveTo>
                    <a:pt x="1076" y="731"/>
                  </a:moveTo>
                  <a:cubicBezTo>
                    <a:pt x="1036" y="731"/>
                    <a:pt x="1004" y="699"/>
                    <a:pt x="1004" y="659"/>
                  </a:cubicBezTo>
                  <a:cubicBezTo>
                    <a:pt x="1004" y="619"/>
                    <a:pt x="1036" y="586"/>
                    <a:pt x="1076" y="586"/>
                  </a:cubicBezTo>
                  <a:cubicBezTo>
                    <a:pt x="1116" y="586"/>
                    <a:pt x="1148" y="619"/>
                    <a:pt x="1148" y="659"/>
                  </a:cubicBezTo>
                  <a:cubicBezTo>
                    <a:pt x="1148" y="699"/>
                    <a:pt x="1116" y="731"/>
                    <a:pt x="1076" y="731"/>
                  </a:cubicBezTo>
                  <a:close/>
                  <a:moveTo>
                    <a:pt x="748" y="473"/>
                  </a:moveTo>
                  <a:lnTo>
                    <a:pt x="502" y="492"/>
                  </a:lnTo>
                  <a:cubicBezTo>
                    <a:pt x="496" y="492"/>
                    <a:pt x="491" y="492"/>
                    <a:pt x="490" y="492"/>
                  </a:cubicBezTo>
                  <a:lnTo>
                    <a:pt x="64" y="328"/>
                  </a:lnTo>
                  <a:lnTo>
                    <a:pt x="83" y="125"/>
                  </a:lnTo>
                  <a:lnTo>
                    <a:pt x="532" y="64"/>
                  </a:lnTo>
                  <a:cubicBezTo>
                    <a:pt x="537" y="63"/>
                    <a:pt x="543" y="65"/>
                    <a:pt x="543" y="65"/>
                  </a:cubicBezTo>
                  <a:lnTo>
                    <a:pt x="774" y="160"/>
                  </a:lnTo>
                  <a:cubicBezTo>
                    <a:pt x="774" y="192"/>
                    <a:pt x="774" y="358"/>
                    <a:pt x="748" y="473"/>
                  </a:cubicBezTo>
                  <a:close/>
                  <a:moveTo>
                    <a:pt x="554" y="731"/>
                  </a:moveTo>
                  <a:cubicBezTo>
                    <a:pt x="514" y="731"/>
                    <a:pt x="481" y="699"/>
                    <a:pt x="481" y="659"/>
                  </a:cubicBezTo>
                  <a:cubicBezTo>
                    <a:pt x="481" y="619"/>
                    <a:pt x="514" y="586"/>
                    <a:pt x="554" y="586"/>
                  </a:cubicBezTo>
                  <a:cubicBezTo>
                    <a:pt x="593" y="586"/>
                    <a:pt x="626" y="619"/>
                    <a:pt x="626" y="659"/>
                  </a:cubicBezTo>
                  <a:cubicBezTo>
                    <a:pt x="626" y="699"/>
                    <a:pt x="593" y="731"/>
                    <a:pt x="554" y="731"/>
                  </a:cubicBezTo>
                  <a:close/>
                  <a:moveTo>
                    <a:pt x="294" y="731"/>
                  </a:moveTo>
                  <a:cubicBezTo>
                    <a:pt x="254" y="731"/>
                    <a:pt x="221" y="699"/>
                    <a:pt x="221" y="659"/>
                  </a:cubicBezTo>
                  <a:cubicBezTo>
                    <a:pt x="221" y="619"/>
                    <a:pt x="254" y="586"/>
                    <a:pt x="294" y="586"/>
                  </a:cubicBezTo>
                  <a:cubicBezTo>
                    <a:pt x="334" y="586"/>
                    <a:pt x="366" y="619"/>
                    <a:pt x="366" y="659"/>
                  </a:cubicBezTo>
                  <a:cubicBezTo>
                    <a:pt x="366" y="699"/>
                    <a:pt x="334" y="731"/>
                    <a:pt x="294" y="731"/>
                  </a:cubicBezTo>
                  <a:close/>
                  <a:moveTo>
                    <a:pt x="1270" y="520"/>
                  </a:moveTo>
                  <a:lnTo>
                    <a:pt x="1256" y="520"/>
                  </a:lnTo>
                  <a:lnTo>
                    <a:pt x="1256" y="442"/>
                  </a:lnTo>
                  <a:cubicBezTo>
                    <a:pt x="1256" y="422"/>
                    <a:pt x="1246" y="405"/>
                    <a:pt x="1234" y="390"/>
                  </a:cubicBezTo>
                  <a:lnTo>
                    <a:pt x="1125" y="234"/>
                  </a:lnTo>
                  <a:cubicBezTo>
                    <a:pt x="1113" y="219"/>
                    <a:pt x="1098" y="207"/>
                    <a:pt x="1080" y="207"/>
                  </a:cubicBezTo>
                  <a:lnTo>
                    <a:pt x="941" y="207"/>
                  </a:lnTo>
                  <a:lnTo>
                    <a:pt x="941" y="124"/>
                  </a:lnTo>
                  <a:lnTo>
                    <a:pt x="882" y="124"/>
                  </a:lnTo>
                  <a:lnTo>
                    <a:pt x="882" y="387"/>
                  </a:lnTo>
                  <a:lnTo>
                    <a:pt x="824" y="387"/>
                  </a:lnTo>
                  <a:cubicBezTo>
                    <a:pt x="837" y="278"/>
                    <a:pt x="835" y="168"/>
                    <a:pt x="835" y="154"/>
                  </a:cubicBezTo>
                  <a:cubicBezTo>
                    <a:pt x="836" y="135"/>
                    <a:pt x="825" y="116"/>
                    <a:pt x="808" y="107"/>
                  </a:cubicBezTo>
                  <a:lnTo>
                    <a:pt x="566" y="8"/>
                  </a:lnTo>
                  <a:cubicBezTo>
                    <a:pt x="554" y="2"/>
                    <a:pt x="538" y="0"/>
                    <a:pt x="525" y="3"/>
                  </a:cubicBezTo>
                  <a:lnTo>
                    <a:pt x="60" y="67"/>
                  </a:lnTo>
                  <a:cubicBezTo>
                    <a:pt x="40" y="71"/>
                    <a:pt x="24" y="89"/>
                    <a:pt x="22" y="110"/>
                  </a:cubicBezTo>
                  <a:lnTo>
                    <a:pt x="2" y="331"/>
                  </a:lnTo>
                  <a:cubicBezTo>
                    <a:pt x="0" y="352"/>
                    <a:pt x="12" y="373"/>
                    <a:pt x="32" y="382"/>
                  </a:cubicBezTo>
                  <a:lnTo>
                    <a:pt x="95" y="406"/>
                  </a:lnTo>
                  <a:lnTo>
                    <a:pt x="95" y="642"/>
                  </a:lnTo>
                  <a:cubicBezTo>
                    <a:pt x="95" y="652"/>
                    <a:pt x="103" y="661"/>
                    <a:pt x="113" y="661"/>
                  </a:cubicBezTo>
                  <a:lnTo>
                    <a:pt x="160" y="661"/>
                  </a:lnTo>
                  <a:cubicBezTo>
                    <a:pt x="161" y="734"/>
                    <a:pt x="221" y="792"/>
                    <a:pt x="294" y="792"/>
                  </a:cubicBezTo>
                  <a:cubicBezTo>
                    <a:pt x="357" y="792"/>
                    <a:pt x="409" y="749"/>
                    <a:pt x="424" y="690"/>
                  </a:cubicBezTo>
                  <a:cubicBezTo>
                    <a:pt x="438" y="749"/>
                    <a:pt x="491" y="792"/>
                    <a:pt x="554" y="792"/>
                  </a:cubicBezTo>
                  <a:cubicBezTo>
                    <a:pt x="627" y="792"/>
                    <a:pt x="686" y="734"/>
                    <a:pt x="687" y="661"/>
                  </a:cubicBezTo>
                  <a:lnTo>
                    <a:pt x="942" y="661"/>
                  </a:lnTo>
                  <a:cubicBezTo>
                    <a:pt x="944" y="734"/>
                    <a:pt x="1003" y="792"/>
                    <a:pt x="1076" y="792"/>
                  </a:cubicBezTo>
                  <a:cubicBezTo>
                    <a:pt x="1149" y="792"/>
                    <a:pt x="1209" y="734"/>
                    <a:pt x="1210" y="661"/>
                  </a:cubicBezTo>
                  <a:lnTo>
                    <a:pt x="1270" y="661"/>
                  </a:lnTo>
                  <a:cubicBezTo>
                    <a:pt x="1281" y="661"/>
                    <a:pt x="1289" y="652"/>
                    <a:pt x="1289" y="642"/>
                  </a:cubicBezTo>
                  <a:lnTo>
                    <a:pt x="1289" y="539"/>
                  </a:lnTo>
                  <a:cubicBezTo>
                    <a:pt x="1289" y="529"/>
                    <a:pt x="1281" y="520"/>
                    <a:pt x="1270" y="520"/>
                  </a:cubicBezTo>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600" kern="0" noProof="1">
                <a:solidFill>
                  <a:prstClr val="black"/>
                </a:solidFill>
                <a:latin typeface="Calibri" panose="020F0502020204030204"/>
              </a:endParaRPr>
            </a:p>
          </p:txBody>
        </p:sp>
      </p:grpSp>
      <p:grpSp>
        <p:nvGrpSpPr>
          <p:cNvPr id="80" name="Gruppieren 79" descr="{&quot;Key&quot;:&quot;POWER_USER_SHAPE_ICON&quot;,&quot;Value&quot;:&quot;POWER_USER_SHAPE_ICON_STYLE_2&quot;}">
            <a:extLst>
              <a:ext uri="{FF2B5EF4-FFF2-40B4-BE49-F238E27FC236}">
                <a16:creationId xmlns:a16="http://schemas.microsoft.com/office/drawing/2014/main" id="{E4E07AC2-F1E2-0027-0EE4-E22C5166EABF}"/>
              </a:ext>
            </a:extLst>
          </p:cNvPr>
          <p:cNvGrpSpPr>
            <a:grpSpLocks noChangeAspect="1"/>
          </p:cNvGrpSpPr>
          <p:nvPr/>
        </p:nvGrpSpPr>
        <p:grpSpPr>
          <a:xfrm>
            <a:off x="8615404" y="4463755"/>
            <a:ext cx="329602" cy="329602"/>
            <a:chOff x="6665358" y="1041710"/>
            <a:chExt cx="762000" cy="762000"/>
          </a:xfrm>
        </p:grpSpPr>
        <p:sp>
          <p:nvSpPr>
            <p:cNvPr id="81" name="Solar_panel2" descr="{&quot;Key&quot;:&quot;POWER_USER_SHAPE_ICON&quot;,&quot;Value&quot;:&quot;POWER_USER_SHAPE_ICON_STYLE_1&quot;}">
              <a:extLst>
                <a:ext uri="{FF2B5EF4-FFF2-40B4-BE49-F238E27FC236}">
                  <a16:creationId xmlns:a16="http://schemas.microsoft.com/office/drawing/2014/main" id="{439AB5B5-3F8F-856E-B44D-A530E63903BE}"/>
                </a:ext>
              </a:extLst>
            </p:cNvPr>
            <p:cNvSpPr>
              <a:spLocks noChangeAspect="1" noEditPoints="1"/>
            </p:cNvSpPr>
            <p:nvPr>
              <p:custDataLst>
                <p:tags r:id="rId43"/>
              </p:custDataLst>
            </p:nvPr>
          </p:nvSpPr>
          <p:spPr bwMode="auto">
            <a:xfrm>
              <a:off x="6792354" y="1217351"/>
              <a:ext cx="508001" cy="482877"/>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600" kern="0" noProof="1">
                <a:solidFill>
                  <a:prstClr val="black"/>
                </a:solidFill>
                <a:latin typeface="Calibri" panose="020F0502020204030204"/>
              </a:endParaRPr>
            </a:p>
          </p:txBody>
        </p:sp>
        <p:sp>
          <p:nvSpPr>
            <p:cNvPr id="82" name="POWER_USER_SHAPE_ICON_STYLE_2">
              <a:extLst>
                <a:ext uri="{FF2B5EF4-FFF2-40B4-BE49-F238E27FC236}">
                  <a16:creationId xmlns:a16="http://schemas.microsoft.com/office/drawing/2014/main" id="{25BB8770-6CE6-9B62-456F-67CA63CEA39E}"/>
                </a:ext>
              </a:extLst>
            </p:cNvPr>
            <p:cNvSpPr/>
            <p:nvPr/>
          </p:nvSpPr>
          <p:spPr>
            <a:xfrm>
              <a:off x="6665358" y="1041710"/>
              <a:ext cx="762000" cy="762000"/>
            </a:xfrm>
            <a:prstGeom prst="ellipse">
              <a:avLst/>
            </a:prstGeom>
            <a:solidFill>
              <a:srgbClr val="7F6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600" kern="0" noProof="1">
                <a:solidFill>
                  <a:prstClr val="white"/>
                </a:solidFill>
                <a:latin typeface="Calibri" panose="020F0502020204030204"/>
              </a:endParaRPr>
            </a:p>
          </p:txBody>
        </p:sp>
      </p:grpSp>
      <p:grpSp>
        <p:nvGrpSpPr>
          <p:cNvPr id="83" name="Gruppieren 82" descr="{&quot;Key&quot;:&quot;POWER_USER_SHAPE_ICON&quot;,&quot;Value&quot;:&quot;POWER_USER_SHAPE_ICON_STYLE_2&quot;}">
            <a:extLst>
              <a:ext uri="{FF2B5EF4-FFF2-40B4-BE49-F238E27FC236}">
                <a16:creationId xmlns:a16="http://schemas.microsoft.com/office/drawing/2014/main" id="{03AD8F59-0DB0-4DA8-BF0F-4AE5B63CACAC}"/>
              </a:ext>
            </a:extLst>
          </p:cNvPr>
          <p:cNvGrpSpPr>
            <a:grpSpLocks noChangeAspect="1"/>
          </p:cNvGrpSpPr>
          <p:nvPr/>
        </p:nvGrpSpPr>
        <p:grpSpPr>
          <a:xfrm>
            <a:off x="8755655" y="4682542"/>
            <a:ext cx="333258" cy="333258"/>
            <a:chOff x="1765816" y="2747710"/>
            <a:chExt cx="762000" cy="762000"/>
          </a:xfrm>
        </p:grpSpPr>
        <p:sp>
          <p:nvSpPr>
            <p:cNvPr id="84" name="POWER_USER_SHAPE_ICON_STYLE_2">
              <a:extLst>
                <a:ext uri="{FF2B5EF4-FFF2-40B4-BE49-F238E27FC236}">
                  <a16:creationId xmlns:a16="http://schemas.microsoft.com/office/drawing/2014/main" id="{CEFE3E7A-30DC-CF26-02C7-F68E2E902E72}"/>
                </a:ext>
              </a:extLst>
            </p:cNvPr>
            <p:cNvSpPr/>
            <p:nvPr/>
          </p:nvSpPr>
          <p:spPr>
            <a:xfrm>
              <a:off x="1765816" y="2747710"/>
              <a:ext cx="762000" cy="762000"/>
            </a:xfrm>
            <a:prstGeom prst="ellipse">
              <a:avLst/>
            </a:prstGeom>
            <a:solidFill>
              <a:srgbClr val="7F6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600" kern="0" noProof="1">
                <a:solidFill>
                  <a:prstClr val="white"/>
                </a:solidFill>
                <a:latin typeface="Calibri" panose="020F0502020204030204"/>
              </a:endParaRPr>
            </a:p>
          </p:txBody>
        </p:sp>
        <p:sp>
          <p:nvSpPr>
            <p:cNvPr id="85" name="Gas4" descr="{&quot;Key&quot;:&quot;POWER_USER_SHAPE_ICON&quot;,&quot;Value&quot;:&quot;POWER_USER_SHAPE_ICON_STYLE_1&quot;}">
              <a:extLst>
                <a:ext uri="{FF2B5EF4-FFF2-40B4-BE49-F238E27FC236}">
                  <a16:creationId xmlns:a16="http://schemas.microsoft.com/office/drawing/2014/main" id="{C0968339-78A9-B88E-77FA-21231F3C2CC6}"/>
                </a:ext>
              </a:extLst>
            </p:cNvPr>
            <p:cNvSpPr>
              <a:spLocks noChangeAspect="1" noEditPoints="1"/>
            </p:cNvSpPr>
            <p:nvPr>
              <p:custDataLst>
                <p:tags r:id="rId42"/>
              </p:custDataLst>
            </p:nvPr>
          </p:nvSpPr>
          <p:spPr bwMode="auto">
            <a:xfrm>
              <a:off x="1918761" y="2910392"/>
              <a:ext cx="456108" cy="507999"/>
            </a:xfrm>
            <a:custGeom>
              <a:avLst/>
              <a:gdLst>
                <a:gd name="T0" fmla="*/ 198 w 696"/>
                <a:gd name="T1" fmla="*/ 308 h 774"/>
                <a:gd name="T2" fmla="*/ 272 w 696"/>
                <a:gd name="T3" fmla="*/ 298 h 774"/>
                <a:gd name="T4" fmla="*/ 287 w 696"/>
                <a:gd name="T5" fmla="*/ 240 h 774"/>
                <a:gd name="T6" fmla="*/ 152 w 696"/>
                <a:gd name="T7" fmla="*/ 197 h 774"/>
                <a:gd name="T8" fmla="*/ 110 w 696"/>
                <a:gd name="T9" fmla="*/ 376 h 774"/>
                <a:gd name="T10" fmla="*/ 319 w 696"/>
                <a:gd name="T11" fmla="*/ 419 h 774"/>
                <a:gd name="T12" fmla="*/ 362 w 696"/>
                <a:gd name="T13" fmla="*/ 239 h 774"/>
                <a:gd name="T14" fmla="*/ 152 w 696"/>
                <a:gd name="T15" fmla="*/ 197 h 774"/>
                <a:gd name="T16" fmla="*/ 424 w 696"/>
                <a:gd name="T17" fmla="*/ 680 h 774"/>
                <a:gd name="T18" fmla="*/ 47 w 696"/>
                <a:gd name="T19" fmla="*/ 727 h 774"/>
                <a:gd name="T20" fmla="*/ 622 w 696"/>
                <a:gd name="T21" fmla="*/ 289 h 774"/>
                <a:gd name="T22" fmla="*/ 582 w 696"/>
                <a:gd name="T23" fmla="*/ 238 h 774"/>
                <a:gd name="T24" fmla="*/ 622 w 696"/>
                <a:gd name="T25" fmla="*/ 289 h 774"/>
                <a:gd name="T26" fmla="*/ 696 w 696"/>
                <a:gd name="T27" fmla="*/ 200 h 774"/>
                <a:gd name="T28" fmla="*/ 645 w 696"/>
                <a:gd name="T29" fmla="*/ 115 h 774"/>
                <a:gd name="T30" fmla="*/ 587 w 696"/>
                <a:gd name="T31" fmla="*/ 66 h 774"/>
                <a:gd name="T32" fmla="*/ 498 w 696"/>
                <a:gd name="T33" fmla="*/ 0 h 774"/>
                <a:gd name="T34" fmla="*/ 529 w 696"/>
                <a:gd name="T35" fmla="*/ 73 h 774"/>
                <a:gd name="T36" fmla="*/ 576 w 696"/>
                <a:gd name="T37" fmla="*/ 142 h 774"/>
                <a:gd name="T38" fmla="*/ 546 w 696"/>
                <a:gd name="T39" fmla="*/ 179 h 774"/>
                <a:gd name="T40" fmla="*/ 555 w 696"/>
                <a:gd name="T41" fmla="*/ 292 h 774"/>
                <a:gd name="T42" fmla="*/ 622 w 696"/>
                <a:gd name="T43" fmla="*/ 570 h 774"/>
                <a:gd name="T44" fmla="*/ 556 w 696"/>
                <a:gd name="T45" fmla="*/ 570 h 774"/>
                <a:gd name="T46" fmla="*/ 460 w 696"/>
                <a:gd name="T47" fmla="*/ 303 h 774"/>
                <a:gd name="T48" fmla="*/ 508 w 696"/>
                <a:gd name="T49" fmla="*/ 399 h 774"/>
                <a:gd name="T50" fmla="*/ 589 w 696"/>
                <a:gd name="T51" fmla="*/ 650 h 774"/>
                <a:gd name="T52" fmla="*/ 669 w 696"/>
                <a:gd name="T53" fmla="*/ 234 h 774"/>
                <a:gd name="T54" fmla="*/ 153 w 696"/>
                <a:gd name="T55" fmla="*/ 92 h 774"/>
                <a:gd name="T56" fmla="*/ 424 w 696"/>
                <a:gd name="T57" fmla="*/ 197 h 774"/>
                <a:gd name="T58" fmla="*/ 448 w 696"/>
                <a:gd name="T59" fmla="*/ 633 h 774"/>
                <a:gd name="T60" fmla="*/ 472 w 696"/>
                <a:gd name="T61" fmla="*/ 751 h 774"/>
                <a:gd name="T62" fmla="*/ 24 w 696"/>
                <a:gd name="T63" fmla="*/ 774 h 774"/>
                <a:gd name="T64" fmla="*/ 0 w 696"/>
                <a:gd name="T65" fmla="*/ 656 h 774"/>
                <a:gd name="T66" fmla="*/ 47 w 696"/>
                <a:gd name="T67" fmla="*/ 633 h 774"/>
                <a:gd name="T68" fmla="*/ 153 w 696"/>
                <a:gd name="T69" fmla="*/ 92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96" h="774">
                  <a:moveTo>
                    <a:pt x="245" y="271"/>
                  </a:moveTo>
                  <a:cubicBezTo>
                    <a:pt x="222" y="265"/>
                    <a:pt x="198" y="283"/>
                    <a:pt x="198" y="308"/>
                  </a:cubicBezTo>
                  <a:cubicBezTo>
                    <a:pt x="198" y="328"/>
                    <a:pt x="215" y="345"/>
                    <a:pt x="236" y="345"/>
                  </a:cubicBezTo>
                  <a:cubicBezTo>
                    <a:pt x="261" y="345"/>
                    <a:pt x="278" y="322"/>
                    <a:pt x="272" y="298"/>
                  </a:cubicBezTo>
                  <a:lnTo>
                    <a:pt x="303" y="256"/>
                  </a:lnTo>
                  <a:cubicBezTo>
                    <a:pt x="312" y="244"/>
                    <a:pt x="300" y="232"/>
                    <a:pt x="287" y="240"/>
                  </a:cubicBezTo>
                  <a:lnTo>
                    <a:pt x="245" y="271"/>
                  </a:lnTo>
                  <a:close/>
                  <a:moveTo>
                    <a:pt x="152" y="197"/>
                  </a:moveTo>
                  <a:cubicBezTo>
                    <a:pt x="129" y="197"/>
                    <a:pt x="110" y="216"/>
                    <a:pt x="110" y="239"/>
                  </a:cubicBezTo>
                  <a:lnTo>
                    <a:pt x="110" y="376"/>
                  </a:lnTo>
                  <a:cubicBezTo>
                    <a:pt x="110" y="400"/>
                    <a:pt x="129" y="419"/>
                    <a:pt x="152" y="419"/>
                  </a:cubicBezTo>
                  <a:lnTo>
                    <a:pt x="319" y="419"/>
                  </a:lnTo>
                  <a:cubicBezTo>
                    <a:pt x="343" y="419"/>
                    <a:pt x="362" y="400"/>
                    <a:pt x="362" y="376"/>
                  </a:cubicBezTo>
                  <a:lnTo>
                    <a:pt x="362" y="239"/>
                  </a:lnTo>
                  <a:cubicBezTo>
                    <a:pt x="362" y="216"/>
                    <a:pt x="343" y="197"/>
                    <a:pt x="319" y="197"/>
                  </a:cubicBezTo>
                  <a:lnTo>
                    <a:pt x="152" y="197"/>
                  </a:lnTo>
                  <a:close/>
                  <a:moveTo>
                    <a:pt x="424" y="727"/>
                  </a:moveTo>
                  <a:lnTo>
                    <a:pt x="424" y="680"/>
                  </a:lnTo>
                  <a:lnTo>
                    <a:pt x="47" y="680"/>
                  </a:lnTo>
                  <a:lnTo>
                    <a:pt x="47" y="727"/>
                  </a:lnTo>
                  <a:lnTo>
                    <a:pt x="424" y="727"/>
                  </a:lnTo>
                  <a:close/>
                  <a:moveTo>
                    <a:pt x="622" y="289"/>
                  </a:moveTo>
                  <a:lnTo>
                    <a:pt x="582" y="266"/>
                  </a:lnTo>
                  <a:lnTo>
                    <a:pt x="582" y="238"/>
                  </a:lnTo>
                  <a:lnTo>
                    <a:pt x="622" y="238"/>
                  </a:lnTo>
                  <a:lnTo>
                    <a:pt x="622" y="289"/>
                  </a:lnTo>
                  <a:close/>
                  <a:moveTo>
                    <a:pt x="690" y="212"/>
                  </a:moveTo>
                  <a:cubicBezTo>
                    <a:pt x="693" y="209"/>
                    <a:pt x="696" y="205"/>
                    <a:pt x="696" y="200"/>
                  </a:cubicBezTo>
                  <a:lnTo>
                    <a:pt x="696" y="166"/>
                  </a:lnTo>
                  <a:cubicBezTo>
                    <a:pt x="696" y="138"/>
                    <a:pt x="673" y="115"/>
                    <a:pt x="645" y="115"/>
                  </a:cubicBezTo>
                  <a:lnTo>
                    <a:pt x="615" y="115"/>
                  </a:lnTo>
                  <a:cubicBezTo>
                    <a:pt x="607" y="101"/>
                    <a:pt x="587" y="67"/>
                    <a:pt x="587" y="66"/>
                  </a:cubicBezTo>
                  <a:cubicBezTo>
                    <a:pt x="578" y="50"/>
                    <a:pt x="569" y="41"/>
                    <a:pt x="553" y="32"/>
                  </a:cubicBezTo>
                  <a:lnTo>
                    <a:pt x="498" y="0"/>
                  </a:lnTo>
                  <a:lnTo>
                    <a:pt x="475" y="41"/>
                  </a:lnTo>
                  <a:lnTo>
                    <a:pt x="529" y="73"/>
                  </a:lnTo>
                  <a:cubicBezTo>
                    <a:pt x="538" y="78"/>
                    <a:pt x="541" y="81"/>
                    <a:pt x="547" y="90"/>
                  </a:cubicBezTo>
                  <a:lnTo>
                    <a:pt x="576" y="142"/>
                  </a:lnTo>
                  <a:lnTo>
                    <a:pt x="552" y="166"/>
                  </a:lnTo>
                  <a:cubicBezTo>
                    <a:pt x="549" y="169"/>
                    <a:pt x="546" y="174"/>
                    <a:pt x="546" y="179"/>
                  </a:cubicBezTo>
                  <a:lnTo>
                    <a:pt x="547" y="276"/>
                  </a:lnTo>
                  <a:cubicBezTo>
                    <a:pt x="547" y="282"/>
                    <a:pt x="550" y="288"/>
                    <a:pt x="555" y="292"/>
                  </a:cubicBezTo>
                  <a:lnTo>
                    <a:pt x="622" y="330"/>
                  </a:lnTo>
                  <a:lnTo>
                    <a:pt x="622" y="570"/>
                  </a:lnTo>
                  <a:cubicBezTo>
                    <a:pt x="622" y="588"/>
                    <a:pt x="607" y="603"/>
                    <a:pt x="589" y="603"/>
                  </a:cubicBezTo>
                  <a:cubicBezTo>
                    <a:pt x="570" y="603"/>
                    <a:pt x="556" y="588"/>
                    <a:pt x="556" y="570"/>
                  </a:cubicBezTo>
                  <a:lnTo>
                    <a:pt x="556" y="399"/>
                  </a:lnTo>
                  <a:cubicBezTo>
                    <a:pt x="556" y="346"/>
                    <a:pt x="512" y="303"/>
                    <a:pt x="460" y="303"/>
                  </a:cubicBezTo>
                  <a:lnTo>
                    <a:pt x="460" y="350"/>
                  </a:lnTo>
                  <a:cubicBezTo>
                    <a:pt x="486" y="350"/>
                    <a:pt x="508" y="372"/>
                    <a:pt x="508" y="399"/>
                  </a:cubicBezTo>
                  <a:lnTo>
                    <a:pt x="508" y="570"/>
                  </a:lnTo>
                  <a:cubicBezTo>
                    <a:pt x="508" y="614"/>
                    <a:pt x="544" y="650"/>
                    <a:pt x="589" y="650"/>
                  </a:cubicBezTo>
                  <a:cubicBezTo>
                    <a:pt x="633" y="650"/>
                    <a:pt x="669" y="614"/>
                    <a:pt x="669" y="570"/>
                  </a:cubicBezTo>
                  <a:lnTo>
                    <a:pt x="669" y="234"/>
                  </a:lnTo>
                  <a:lnTo>
                    <a:pt x="690" y="212"/>
                  </a:lnTo>
                  <a:close/>
                  <a:moveTo>
                    <a:pt x="153" y="92"/>
                  </a:moveTo>
                  <a:lnTo>
                    <a:pt x="319" y="92"/>
                  </a:lnTo>
                  <a:cubicBezTo>
                    <a:pt x="379" y="92"/>
                    <a:pt x="424" y="137"/>
                    <a:pt x="424" y="197"/>
                  </a:cubicBezTo>
                  <a:lnTo>
                    <a:pt x="424" y="633"/>
                  </a:lnTo>
                  <a:lnTo>
                    <a:pt x="448" y="633"/>
                  </a:lnTo>
                  <a:cubicBezTo>
                    <a:pt x="461" y="633"/>
                    <a:pt x="472" y="643"/>
                    <a:pt x="472" y="656"/>
                  </a:cubicBezTo>
                  <a:lnTo>
                    <a:pt x="472" y="751"/>
                  </a:lnTo>
                  <a:cubicBezTo>
                    <a:pt x="472" y="764"/>
                    <a:pt x="461" y="774"/>
                    <a:pt x="448" y="774"/>
                  </a:cubicBezTo>
                  <a:lnTo>
                    <a:pt x="24" y="774"/>
                  </a:lnTo>
                  <a:cubicBezTo>
                    <a:pt x="11" y="774"/>
                    <a:pt x="0" y="764"/>
                    <a:pt x="0" y="751"/>
                  </a:cubicBezTo>
                  <a:lnTo>
                    <a:pt x="0" y="656"/>
                  </a:lnTo>
                  <a:cubicBezTo>
                    <a:pt x="0" y="643"/>
                    <a:pt x="11" y="633"/>
                    <a:pt x="24" y="633"/>
                  </a:cubicBezTo>
                  <a:lnTo>
                    <a:pt x="47" y="633"/>
                  </a:lnTo>
                  <a:lnTo>
                    <a:pt x="47" y="197"/>
                  </a:lnTo>
                  <a:cubicBezTo>
                    <a:pt x="47" y="137"/>
                    <a:pt x="93" y="92"/>
                    <a:pt x="153" y="92"/>
                  </a:cubicBezTo>
                  <a:lnTo>
                    <a:pt x="153" y="92"/>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600" kern="0" noProof="1">
                <a:solidFill>
                  <a:prstClr val="black"/>
                </a:solidFill>
                <a:latin typeface="Calibri" panose="020F0502020204030204"/>
              </a:endParaRPr>
            </a:p>
          </p:txBody>
        </p:sp>
      </p:grpSp>
      <p:sp>
        <p:nvSpPr>
          <p:cNvPr id="86" name="Rechteck 85">
            <a:extLst>
              <a:ext uri="{FF2B5EF4-FFF2-40B4-BE49-F238E27FC236}">
                <a16:creationId xmlns:a16="http://schemas.microsoft.com/office/drawing/2014/main" id="{BA0EAB17-8B2D-2E48-7882-BA463798A935}"/>
              </a:ext>
            </a:extLst>
          </p:cNvPr>
          <p:cNvSpPr/>
          <p:nvPr/>
        </p:nvSpPr>
        <p:spPr bwMode="auto">
          <a:xfrm>
            <a:off x="7413488" y="4426488"/>
            <a:ext cx="952221" cy="553998"/>
          </a:xfrm>
          <a:prstGeom prst="rect">
            <a:avLst/>
          </a:prstGeom>
        </p:spPr>
        <p:txBody>
          <a:bodyPr wrap="square">
            <a:spAutoFit/>
          </a:bodyPr>
          <a:lstStyle/>
          <a:p>
            <a:pPr algn="r" defTabSz="685754">
              <a:defRPr/>
            </a:pPr>
            <a:r>
              <a:rPr lang="de-DE" sz="1000" noProof="1">
                <a:solidFill>
                  <a:srgbClr val="00B050"/>
                </a:solidFill>
                <a:latin typeface="Bahnschrift" panose="020B0502040204020203" pitchFamily="34" charset="0"/>
              </a:rPr>
              <a:t>Graue Energie Errichtung</a:t>
            </a:r>
          </a:p>
        </p:txBody>
      </p:sp>
      <p:grpSp>
        <p:nvGrpSpPr>
          <p:cNvPr id="87" name="Gruppieren 86" descr="{&quot;Key&quot;:&quot;POWER_USER_SHAPE_ICON&quot;,&quot;Value&quot;:&quot;POWER_USER_SHAPE_ICON_STYLE_2&quot;}">
            <a:extLst>
              <a:ext uri="{FF2B5EF4-FFF2-40B4-BE49-F238E27FC236}">
                <a16:creationId xmlns:a16="http://schemas.microsoft.com/office/drawing/2014/main" id="{F18BFBDF-9D65-CD7A-88F5-68DE09E32D8F}"/>
              </a:ext>
            </a:extLst>
          </p:cNvPr>
          <p:cNvGrpSpPr>
            <a:grpSpLocks noChangeAspect="1"/>
          </p:cNvGrpSpPr>
          <p:nvPr/>
        </p:nvGrpSpPr>
        <p:grpSpPr>
          <a:xfrm>
            <a:off x="8386145" y="4268048"/>
            <a:ext cx="283747" cy="283747"/>
            <a:chOff x="-127000" y="2976049"/>
            <a:chExt cx="762000" cy="762000"/>
          </a:xfrm>
        </p:grpSpPr>
        <p:sp>
          <p:nvSpPr>
            <p:cNvPr id="88" name="POWER_USER_SHAPE_ICON_STYLE_2">
              <a:extLst>
                <a:ext uri="{FF2B5EF4-FFF2-40B4-BE49-F238E27FC236}">
                  <a16:creationId xmlns:a16="http://schemas.microsoft.com/office/drawing/2014/main" id="{96E891F8-CF3F-1150-CF2F-F4922F2F676C}"/>
                </a:ext>
              </a:extLst>
            </p:cNvPr>
            <p:cNvSpPr/>
            <p:nvPr/>
          </p:nvSpPr>
          <p:spPr>
            <a:xfrm>
              <a:off x="-127000" y="2976049"/>
              <a:ext cx="762000" cy="762000"/>
            </a:xfrm>
            <a:prstGeom prst="ellipse">
              <a:avLst/>
            </a:prstGeom>
            <a:solidFill>
              <a:srgbClr val="FFFFFF">
                <a:lumMod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89" name="Scooter" descr="{&quot;Key&quot;:&quot;POWER_USER_SHAPE_ICON&quot;,&quot;Value&quot;:&quot;POWER_USER_SHAPE_ICON_STYLE_1&quot;}">
              <a:extLst>
                <a:ext uri="{FF2B5EF4-FFF2-40B4-BE49-F238E27FC236}">
                  <a16:creationId xmlns:a16="http://schemas.microsoft.com/office/drawing/2014/main" id="{4F074C33-84F8-4FED-E730-40A3F42D21BA}"/>
                </a:ext>
              </a:extLst>
            </p:cNvPr>
            <p:cNvSpPr>
              <a:spLocks noChangeAspect="1" noEditPoints="1"/>
            </p:cNvSpPr>
            <p:nvPr>
              <p:custDataLst>
                <p:tags r:id="rId41"/>
              </p:custDataLst>
            </p:nvPr>
          </p:nvSpPr>
          <p:spPr bwMode="auto">
            <a:xfrm>
              <a:off x="0" y="3157538"/>
              <a:ext cx="508000" cy="399021"/>
            </a:xfrm>
            <a:custGeom>
              <a:avLst/>
              <a:gdLst>
                <a:gd name="T0" fmla="*/ 602 w 829"/>
                <a:gd name="T1" fmla="*/ 522 h 650"/>
                <a:gd name="T2" fmla="*/ 649 w 829"/>
                <a:gd name="T3" fmla="*/ 462 h 650"/>
                <a:gd name="T4" fmla="*/ 726 w 829"/>
                <a:gd name="T5" fmla="*/ 522 h 650"/>
                <a:gd name="T6" fmla="*/ 397 w 829"/>
                <a:gd name="T7" fmla="*/ 484 h 650"/>
                <a:gd name="T8" fmla="*/ 281 w 829"/>
                <a:gd name="T9" fmla="*/ 367 h 650"/>
                <a:gd name="T10" fmla="*/ 406 w 829"/>
                <a:gd name="T11" fmla="*/ 484 h 650"/>
                <a:gd name="T12" fmla="*/ 200 w 829"/>
                <a:gd name="T13" fmla="*/ 584 h 650"/>
                <a:gd name="T14" fmla="*/ 255 w 829"/>
                <a:gd name="T15" fmla="*/ 550 h 650"/>
                <a:gd name="T16" fmla="*/ 688 w 829"/>
                <a:gd name="T17" fmla="*/ 345 h 650"/>
                <a:gd name="T18" fmla="*/ 417 w 829"/>
                <a:gd name="T19" fmla="*/ 0 h 650"/>
                <a:gd name="T20" fmla="*/ 332 w 829"/>
                <a:gd name="T21" fmla="*/ 34 h 650"/>
                <a:gd name="T22" fmla="*/ 407 w 829"/>
                <a:gd name="T23" fmla="*/ 67 h 650"/>
                <a:gd name="T24" fmla="*/ 528 w 829"/>
                <a:gd name="T25" fmla="*/ 430 h 650"/>
                <a:gd name="T26" fmla="*/ 398 w 829"/>
                <a:gd name="T27" fmla="*/ 274 h 650"/>
                <a:gd name="T28" fmla="*/ 64 w 829"/>
                <a:gd name="T29" fmla="*/ 307 h 650"/>
                <a:gd name="T30" fmla="*/ 139 w 829"/>
                <a:gd name="T31" fmla="*/ 341 h 650"/>
                <a:gd name="T32" fmla="*/ 1 w 829"/>
                <a:gd name="T33" fmla="*/ 511 h 650"/>
                <a:gd name="T34" fmla="*/ 0 w 829"/>
                <a:gd name="T35" fmla="*/ 518 h 650"/>
                <a:gd name="T36" fmla="*/ 1 w 829"/>
                <a:gd name="T37" fmla="*/ 526 h 650"/>
                <a:gd name="T38" fmla="*/ 5 w 829"/>
                <a:gd name="T39" fmla="*/ 533 h 650"/>
                <a:gd name="T40" fmla="*/ 6 w 829"/>
                <a:gd name="T41" fmla="*/ 536 h 650"/>
                <a:gd name="T42" fmla="*/ 9 w 829"/>
                <a:gd name="T43" fmla="*/ 540 h 650"/>
                <a:gd name="T44" fmla="*/ 16 w 829"/>
                <a:gd name="T45" fmla="*/ 545 h 650"/>
                <a:gd name="T46" fmla="*/ 23 w 829"/>
                <a:gd name="T47" fmla="*/ 548 h 650"/>
                <a:gd name="T48" fmla="*/ 33 w 829"/>
                <a:gd name="T49" fmla="*/ 550 h 650"/>
                <a:gd name="T50" fmla="*/ 200 w 829"/>
                <a:gd name="T51" fmla="*/ 650 h 650"/>
                <a:gd name="T52" fmla="*/ 440 w 829"/>
                <a:gd name="T53" fmla="*/ 550 h 650"/>
                <a:gd name="T54" fmla="*/ 440 w 829"/>
                <a:gd name="T55" fmla="*/ 550 h 650"/>
                <a:gd name="T56" fmla="*/ 506 w 829"/>
                <a:gd name="T57" fmla="*/ 550 h 650"/>
                <a:gd name="T58" fmla="*/ 537 w 829"/>
                <a:gd name="T59" fmla="*/ 536 h 650"/>
                <a:gd name="T60" fmla="*/ 793 w 829"/>
                <a:gd name="T61" fmla="*/ 522 h 650"/>
                <a:gd name="T62" fmla="*/ 800 w 829"/>
                <a:gd name="T63" fmla="*/ 516 h 650"/>
                <a:gd name="T64" fmla="*/ 688 w 829"/>
                <a:gd name="T65" fmla="*/ 345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29" h="650">
                  <a:moveTo>
                    <a:pt x="664" y="584"/>
                  </a:moveTo>
                  <a:cubicBezTo>
                    <a:pt x="630" y="584"/>
                    <a:pt x="602" y="556"/>
                    <a:pt x="602" y="522"/>
                  </a:cubicBezTo>
                  <a:cubicBezTo>
                    <a:pt x="602" y="508"/>
                    <a:pt x="607" y="495"/>
                    <a:pt x="615" y="484"/>
                  </a:cubicBezTo>
                  <a:lnTo>
                    <a:pt x="649" y="462"/>
                  </a:lnTo>
                  <a:cubicBezTo>
                    <a:pt x="654" y="461"/>
                    <a:pt x="659" y="460"/>
                    <a:pt x="664" y="460"/>
                  </a:cubicBezTo>
                  <a:cubicBezTo>
                    <a:pt x="698" y="460"/>
                    <a:pt x="726" y="488"/>
                    <a:pt x="726" y="522"/>
                  </a:cubicBezTo>
                  <a:cubicBezTo>
                    <a:pt x="726" y="556"/>
                    <a:pt x="698" y="584"/>
                    <a:pt x="664" y="584"/>
                  </a:cubicBezTo>
                  <a:close/>
                  <a:moveTo>
                    <a:pt x="397" y="484"/>
                  </a:moveTo>
                  <a:lnTo>
                    <a:pt x="90" y="484"/>
                  </a:lnTo>
                  <a:cubicBezTo>
                    <a:pt x="122" y="436"/>
                    <a:pt x="185" y="367"/>
                    <a:pt x="281" y="367"/>
                  </a:cubicBezTo>
                  <a:cubicBezTo>
                    <a:pt x="320" y="367"/>
                    <a:pt x="350" y="378"/>
                    <a:pt x="371" y="400"/>
                  </a:cubicBezTo>
                  <a:cubicBezTo>
                    <a:pt x="394" y="425"/>
                    <a:pt x="402" y="459"/>
                    <a:pt x="406" y="484"/>
                  </a:cubicBezTo>
                  <a:lnTo>
                    <a:pt x="397" y="484"/>
                  </a:lnTo>
                  <a:close/>
                  <a:moveTo>
                    <a:pt x="200" y="584"/>
                  </a:moveTo>
                  <a:cubicBezTo>
                    <a:pt x="176" y="584"/>
                    <a:pt x="156" y="570"/>
                    <a:pt x="145" y="550"/>
                  </a:cubicBezTo>
                  <a:lnTo>
                    <a:pt x="255" y="550"/>
                  </a:lnTo>
                  <a:cubicBezTo>
                    <a:pt x="244" y="570"/>
                    <a:pt x="224" y="584"/>
                    <a:pt x="200" y="584"/>
                  </a:cubicBezTo>
                  <a:close/>
                  <a:moveTo>
                    <a:pt x="688" y="345"/>
                  </a:moveTo>
                  <a:cubicBezTo>
                    <a:pt x="692" y="276"/>
                    <a:pt x="664" y="143"/>
                    <a:pt x="434" y="5"/>
                  </a:cubicBezTo>
                  <a:cubicBezTo>
                    <a:pt x="429" y="2"/>
                    <a:pt x="423" y="0"/>
                    <a:pt x="417" y="0"/>
                  </a:cubicBezTo>
                  <a:lnTo>
                    <a:pt x="365" y="0"/>
                  </a:lnTo>
                  <a:cubicBezTo>
                    <a:pt x="346" y="0"/>
                    <a:pt x="332" y="15"/>
                    <a:pt x="332" y="34"/>
                  </a:cubicBezTo>
                  <a:cubicBezTo>
                    <a:pt x="332" y="52"/>
                    <a:pt x="346" y="67"/>
                    <a:pt x="365" y="67"/>
                  </a:cubicBezTo>
                  <a:lnTo>
                    <a:pt x="407" y="67"/>
                  </a:lnTo>
                  <a:cubicBezTo>
                    <a:pt x="591" y="179"/>
                    <a:pt x="637" y="293"/>
                    <a:pt x="618" y="362"/>
                  </a:cubicBezTo>
                  <a:cubicBezTo>
                    <a:pt x="606" y="403"/>
                    <a:pt x="571" y="430"/>
                    <a:pt x="528" y="430"/>
                  </a:cubicBezTo>
                  <a:cubicBezTo>
                    <a:pt x="441" y="430"/>
                    <a:pt x="431" y="310"/>
                    <a:pt x="431" y="305"/>
                  </a:cubicBezTo>
                  <a:cubicBezTo>
                    <a:pt x="430" y="288"/>
                    <a:pt x="415" y="274"/>
                    <a:pt x="398" y="274"/>
                  </a:cubicBezTo>
                  <a:lnTo>
                    <a:pt x="98" y="274"/>
                  </a:lnTo>
                  <a:cubicBezTo>
                    <a:pt x="79" y="274"/>
                    <a:pt x="64" y="289"/>
                    <a:pt x="64" y="307"/>
                  </a:cubicBezTo>
                  <a:cubicBezTo>
                    <a:pt x="64" y="326"/>
                    <a:pt x="79" y="341"/>
                    <a:pt x="98" y="341"/>
                  </a:cubicBezTo>
                  <a:lnTo>
                    <a:pt x="139" y="341"/>
                  </a:lnTo>
                  <a:cubicBezTo>
                    <a:pt x="56" y="380"/>
                    <a:pt x="14" y="460"/>
                    <a:pt x="1" y="509"/>
                  </a:cubicBezTo>
                  <a:cubicBezTo>
                    <a:pt x="1" y="509"/>
                    <a:pt x="1" y="510"/>
                    <a:pt x="1" y="511"/>
                  </a:cubicBezTo>
                  <a:cubicBezTo>
                    <a:pt x="1" y="512"/>
                    <a:pt x="0" y="513"/>
                    <a:pt x="0" y="514"/>
                  </a:cubicBezTo>
                  <a:cubicBezTo>
                    <a:pt x="0" y="516"/>
                    <a:pt x="0" y="517"/>
                    <a:pt x="0" y="518"/>
                  </a:cubicBezTo>
                  <a:cubicBezTo>
                    <a:pt x="0" y="520"/>
                    <a:pt x="0" y="521"/>
                    <a:pt x="1" y="522"/>
                  </a:cubicBezTo>
                  <a:cubicBezTo>
                    <a:pt x="1" y="523"/>
                    <a:pt x="1" y="525"/>
                    <a:pt x="1" y="526"/>
                  </a:cubicBezTo>
                  <a:cubicBezTo>
                    <a:pt x="2" y="527"/>
                    <a:pt x="2" y="528"/>
                    <a:pt x="3" y="529"/>
                  </a:cubicBezTo>
                  <a:cubicBezTo>
                    <a:pt x="3" y="531"/>
                    <a:pt x="4" y="532"/>
                    <a:pt x="5" y="533"/>
                  </a:cubicBezTo>
                  <a:cubicBezTo>
                    <a:pt x="5" y="534"/>
                    <a:pt x="5" y="535"/>
                    <a:pt x="6" y="536"/>
                  </a:cubicBezTo>
                  <a:cubicBezTo>
                    <a:pt x="6" y="536"/>
                    <a:pt x="6" y="536"/>
                    <a:pt x="6" y="536"/>
                  </a:cubicBezTo>
                  <a:cubicBezTo>
                    <a:pt x="7" y="537"/>
                    <a:pt x="7" y="537"/>
                    <a:pt x="7" y="537"/>
                  </a:cubicBezTo>
                  <a:cubicBezTo>
                    <a:pt x="8" y="538"/>
                    <a:pt x="9" y="539"/>
                    <a:pt x="9" y="540"/>
                  </a:cubicBezTo>
                  <a:cubicBezTo>
                    <a:pt x="10" y="541"/>
                    <a:pt x="11" y="541"/>
                    <a:pt x="12" y="542"/>
                  </a:cubicBezTo>
                  <a:cubicBezTo>
                    <a:pt x="13" y="543"/>
                    <a:pt x="14" y="544"/>
                    <a:pt x="16" y="545"/>
                  </a:cubicBezTo>
                  <a:cubicBezTo>
                    <a:pt x="16" y="545"/>
                    <a:pt x="17" y="546"/>
                    <a:pt x="18" y="547"/>
                  </a:cubicBezTo>
                  <a:cubicBezTo>
                    <a:pt x="20" y="547"/>
                    <a:pt x="21" y="548"/>
                    <a:pt x="23" y="548"/>
                  </a:cubicBezTo>
                  <a:cubicBezTo>
                    <a:pt x="24" y="549"/>
                    <a:pt x="25" y="549"/>
                    <a:pt x="25" y="549"/>
                  </a:cubicBezTo>
                  <a:cubicBezTo>
                    <a:pt x="28" y="550"/>
                    <a:pt x="31" y="550"/>
                    <a:pt x="33" y="550"/>
                  </a:cubicBezTo>
                  <a:lnTo>
                    <a:pt x="75" y="550"/>
                  </a:lnTo>
                  <a:cubicBezTo>
                    <a:pt x="88" y="608"/>
                    <a:pt x="139" y="650"/>
                    <a:pt x="200" y="650"/>
                  </a:cubicBezTo>
                  <a:cubicBezTo>
                    <a:pt x="261" y="650"/>
                    <a:pt x="312" y="608"/>
                    <a:pt x="325" y="550"/>
                  </a:cubicBezTo>
                  <a:lnTo>
                    <a:pt x="440" y="550"/>
                  </a:lnTo>
                  <a:lnTo>
                    <a:pt x="440" y="550"/>
                  </a:lnTo>
                  <a:lnTo>
                    <a:pt x="440" y="550"/>
                  </a:lnTo>
                  <a:lnTo>
                    <a:pt x="441" y="550"/>
                  </a:lnTo>
                  <a:lnTo>
                    <a:pt x="506" y="550"/>
                  </a:lnTo>
                  <a:cubicBezTo>
                    <a:pt x="512" y="550"/>
                    <a:pt x="519" y="548"/>
                    <a:pt x="524" y="545"/>
                  </a:cubicBezTo>
                  <a:lnTo>
                    <a:pt x="537" y="536"/>
                  </a:lnTo>
                  <a:cubicBezTo>
                    <a:pt x="544" y="601"/>
                    <a:pt x="598" y="650"/>
                    <a:pt x="664" y="650"/>
                  </a:cubicBezTo>
                  <a:cubicBezTo>
                    <a:pt x="735" y="650"/>
                    <a:pt x="793" y="593"/>
                    <a:pt x="793" y="522"/>
                  </a:cubicBezTo>
                  <a:cubicBezTo>
                    <a:pt x="793" y="520"/>
                    <a:pt x="793" y="519"/>
                    <a:pt x="793" y="517"/>
                  </a:cubicBezTo>
                  <a:cubicBezTo>
                    <a:pt x="795" y="517"/>
                    <a:pt x="798" y="517"/>
                    <a:pt x="800" y="516"/>
                  </a:cubicBezTo>
                  <a:cubicBezTo>
                    <a:pt x="818" y="511"/>
                    <a:pt x="829" y="493"/>
                    <a:pt x="824" y="475"/>
                  </a:cubicBezTo>
                  <a:cubicBezTo>
                    <a:pt x="801" y="388"/>
                    <a:pt x="728" y="356"/>
                    <a:pt x="688" y="345"/>
                  </a:cubicBez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90" name="Gruppieren 89" descr="{&quot;Key&quot;:&quot;POWER_USER_SHAPE_ICON&quot;,&quot;Value&quot;:&quot;POWER_USER_SHAPE_ICON_STYLE_2&quot;}">
            <a:extLst>
              <a:ext uri="{FF2B5EF4-FFF2-40B4-BE49-F238E27FC236}">
                <a16:creationId xmlns:a16="http://schemas.microsoft.com/office/drawing/2014/main" id="{21EFC556-B467-8BE3-DA1D-FDFE5727FDE2}"/>
              </a:ext>
            </a:extLst>
          </p:cNvPr>
          <p:cNvGrpSpPr>
            <a:grpSpLocks noChangeAspect="1"/>
          </p:cNvGrpSpPr>
          <p:nvPr/>
        </p:nvGrpSpPr>
        <p:grpSpPr>
          <a:xfrm>
            <a:off x="8860584" y="4266845"/>
            <a:ext cx="306630" cy="306630"/>
            <a:chOff x="-127000" y="2990387"/>
            <a:chExt cx="762000" cy="762000"/>
          </a:xfrm>
        </p:grpSpPr>
        <p:sp>
          <p:nvSpPr>
            <p:cNvPr id="91" name="POWER_USER_SHAPE_ICON_STYLE_2">
              <a:extLst>
                <a:ext uri="{FF2B5EF4-FFF2-40B4-BE49-F238E27FC236}">
                  <a16:creationId xmlns:a16="http://schemas.microsoft.com/office/drawing/2014/main" id="{FB636E09-DC7F-0124-0AB6-4B5E5921338E}"/>
                </a:ext>
              </a:extLst>
            </p:cNvPr>
            <p:cNvSpPr/>
            <p:nvPr/>
          </p:nvSpPr>
          <p:spPr>
            <a:xfrm>
              <a:off x="-127000" y="2990387"/>
              <a:ext cx="762000" cy="762000"/>
            </a:xfrm>
            <a:prstGeom prst="ellipse">
              <a:avLst/>
            </a:prstGeom>
            <a:solidFill>
              <a:sysClr val="windowText" lastClr="000000">
                <a:lumMod val="50000"/>
                <a:lumOff val="50000"/>
              </a:sys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92" name="Car7" descr="{&quot;Key&quot;:&quot;POWER_USER_SHAPE_ICON&quot;,&quot;Value&quot;:&quot;POWER_USER_SHAPE_ICON_STYLE_1&quot;}">
              <a:extLst>
                <a:ext uri="{FF2B5EF4-FFF2-40B4-BE49-F238E27FC236}">
                  <a16:creationId xmlns:a16="http://schemas.microsoft.com/office/drawing/2014/main" id="{8ACFB012-6B5F-8992-76B7-87D10E8DCE12}"/>
                </a:ext>
              </a:extLst>
            </p:cNvPr>
            <p:cNvSpPr>
              <a:spLocks noChangeAspect="1" noEditPoints="1"/>
            </p:cNvSpPr>
            <p:nvPr>
              <p:custDataLst>
                <p:tags r:id="rId40"/>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93" name="Gruppieren 92" descr="{&quot;Key&quot;:&quot;POWER_USER_SHAPE_ICON&quot;,&quot;Value&quot;:&quot;POWER_USER_SHAPE_ICON_STYLE_2&quot;}">
            <a:extLst>
              <a:ext uri="{FF2B5EF4-FFF2-40B4-BE49-F238E27FC236}">
                <a16:creationId xmlns:a16="http://schemas.microsoft.com/office/drawing/2014/main" id="{698D050A-DCF3-DEE5-0093-588DACAADD7B}"/>
              </a:ext>
            </a:extLst>
          </p:cNvPr>
          <p:cNvGrpSpPr>
            <a:grpSpLocks noChangeAspect="1"/>
          </p:cNvGrpSpPr>
          <p:nvPr/>
        </p:nvGrpSpPr>
        <p:grpSpPr>
          <a:xfrm>
            <a:off x="8588245" y="4126275"/>
            <a:ext cx="349283" cy="349282"/>
            <a:chOff x="288345" y="3340831"/>
            <a:chExt cx="762000" cy="762000"/>
          </a:xfrm>
        </p:grpSpPr>
        <p:sp>
          <p:nvSpPr>
            <p:cNvPr id="94" name="POWER_USER_SHAPE_ICON_STYLE_2">
              <a:extLst>
                <a:ext uri="{FF2B5EF4-FFF2-40B4-BE49-F238E27FC236}">
                  <a16:creationId xmlns:a16="http://schemas.microsoft.com/office/drawing/2014/main" id="{9AF52B2A-A98E-478D-952E-1620E0A89782}"/>
                </a:ext>
              </a:extLst>
            </p:cNvPr>
            <p:cNvSpPr/>
            <p:nvPr/>
          </p:nvSpPr>
          <p:spPr>
            <a:xfrm>
              <a:off x="288345" y="3340831"/>
              <a:ext cx="762000" cy="762000"/>
            </a:xfrm>
            <a:prstGeom prst="ellipse">
              <a:avLst/>
            </a:prstGeom>
            <a:solidFill>
              <a:srgbClr val="007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95" name="Electric_Car" descr="{&quot;Key&quot;:&quot;POWER_USER_SHAPE_ICON&quot;,&quot;Value&quot;:&quot;POWER_USER_SHAPE_ICON_STYLE_1&quot;}">
              <a:extLst>
                <a:ext uri="{FF2B5EF4-FFF2-40B4-BE49-F238E27FC236}">
                  <a16:creationId xmlns:a16="http://schemas.microsoft.com/office/drawing/2014/main" id="{A4044908-9D5E-46AE-CA98-752C04A34D7F}"/>
                </a:ext>
              </a:extLst>
            </p:cNvPr>
            <p:cNvSpPr>
              <a:spLocks noChangeAspect="1" noEditPoints="1"/>
            </p:cNvSpPr>
            <p:nvPr>
              <p:custDataLst>
                <p:tags r:id="rId39"/>
              </p:custDataLst>
            </p:nvPr>
          </p:nvSpPr>
          <p:spPr bwMode="auto">
            <a:xfrm>
              <a:off x="415345" y="3593005"/>
              <a:ext cx="508000" cy="257651"/>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96" name="Gruppieren 95">
            <a:extLst>
              <a:ext uri="{FF2B5EF4-FFF2-40B4-BE49-F238E27FC236}">
                <a16:creationId xmlns:a16="http://schemas.microsoft.com/office/drawing/2014/main" id="{C613C898-D2BB-3D31-590D-D1C320E45039}"/>
              </a:ext>
            </a:extLst>
          </p:cNvPr>
          <p:cNvGrpSpPr/>
          <p:nvPr/>
        </p:nvGrpSpPr>
        <p:grpSpPr>
          <a:xfrm>
            <a:off x="8438320" y="4930179"/>
            <a:ext cx="309876" cy="426836"/>
            <a:chOff x="9081827" y="4010639"/>
            <a:chExt cx="442175" cy="609070"/>
          </a:xfrm>
        </p:grpSpPr>
        <p:grpSp>
          <p:nvGrpSpPr>
            <p:cNvPr id="97" name="Gruppieren 96">
              <a:extLst>
                <a:ext uri="{FF2B5EF4-FFF2-40B4-BE49-F238E27FC236}">
                  <a16:creationId xmlns:a16="http://schemas.microsoft.com/office/drawing/2014/main" id="{7F1402FC-B655-8026-1D3F-C6751E88E293}"/>
                </a:ext>
              </a:extLst>
            </p:cNvPr>
            <p:cNvGrpSpPr/>
            <p:nvPr/>
          </p:nvGrpSpPr>
          <p:grpSpPr>
            <a:xfrm>
              <a:off x="9081827" y="4040069"/>
              <a:ext cx="442175" cy="579640"/>
              <a:chOff x="0" y="3078492"/>
              <a:chExt cx="545343" cy="621971"/>
            </a:xfrm>
          </p:grpSpPr>
          <p:grpSp>
            <p:nvGrpSpPr>
              <p:cNvPr id="103" name="Gruppieren 102">
                <a:extLst>
                  <a:ext uri="{FF2B5EF4-FFF2-40B4-BE49-F238E27FC236}">
                    <a16:creationId xmlns:a16="http://schemas.microsoft.com/office/drawing/2014/main" id="{486C336A-36CC-285B-EA70-4EB16EC0A4FA}"/>
                  </a:ext>
                </a:extLst>
              </p:cNvPr>
              <p:cNvGrpSpPr/>
              <p:nvPr>
                <p:custDataLst>
                  <p:tags r:id="rId38"/>
                </p:custDataLst>
              </p:nvPr>
            </p:nvGrpSpPr>
            <p:grpSpPr>
              <a:xfrm>
                <a:off x="0" y="3157538"/>
                <a:ext cx="545343" cy="542925"/>
                <a:chOff x="0" y="3157538"/>
                <a:chExt cx="545343" cy="542925"/>
              </a:xfrm>
              <a:solidFill>
                <a:srgbClr val="9954CC"/>
              </a:solidFill>
            </p:grpSpPr>
            <p:sp>
              <p:nvSpPr>
                <p:cNvPr id="105" name="Freeform 203">
                  <a:extLst>
                    <a:ext uri="{FF2B5EF4-FFF2-40B4-BE49-F238E27FC236}">
                      <a16:creationId xmlns:a16="http://schemas.microsoft.com/office/drawing/2014/main" id="{8890CBF1-C170-DFF3-0EEF-27F8C4FB782B}"/>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solidFill>
                  <a:srgbClr val="ED7D31"/>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sp>
              <p:nvSpPr>
                <p:cNvPr id="106" name="Freeform 204">
                  <a:extLst>
                    <a:ext uri="{FF2B5EF4-FFF2-40B4-BE49-F238E27FC236}">
                      <a16:creationId xmlns:a16="http://schemas.microsoft.com/office/drawing/2014/main" id="{FAB6D487-32D0-F13B-C99A-A1F3D930B605}"/>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solidFill>
                  <a:srgbClr val="ED7D31"/>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sp>
              <p:nvSpPr>
                <p:cNvPr id="107" name="Freeform 206">
                  <a:extLst>
                    <a:ext uri="{FF2B5EF4-FFF2-40B4-BE49-F238E27FC236}">
                      <a16:creationId xmlns:a16="http://schemas.microsoft.com/office/drawing/2014/main" id="{CF298BB4-9FDA-ACCB-6F97-44A3A75A3AB7}"/>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grpSp>
          <p:sp>
            <p:nvSpPr>
              <p:cNvPr id="104" name="Freihandform 291">
                <a:extLst>
                  <a:ext uri="{FF2B5EF4-FFF2-40B4-BE49-F238E27FC236}">
                    <a16:creationId xmlns:a16="http://schemas.microsoft.com/office/drawing/2014/main" id="{D8CE7C62-4DF8-CDF3-34C8-4DBCDEFDB1DE}"/>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solidFill>
                <a:sysClr val="window" lastClr="FFFFFF"/>
              </a:solid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srgbClr val="ED7D31"/>
                  </a:solidFill>
                  <a:latin typeface="Calibri" panose="020F0502020204030204"/>
                </a:endParaRPr>
              </a:p>
            </p:txBody>
          </p:sp>
        </p:grpSp>
        <p:grpSp>
          <p:nvGrpSpPr>
            <p:cNvPr id="98" name="Gruppieren 97" descr="{&quot;Key&quot;:&quot;POWER_USER_SHAPE_ICON&quot;,&quot;Value&quot;:&quot;POWER_USER_SHAPE_ICON_STYLE_2&quot;}">
              <a:extLst>
                <a:ext uri="{FF2B5EF4-FFF2-40B4-BE49-F238E27FC236}">
                  <a16:creationId xmlns:a16="http://schemas.microsoft.com/office/drawing/2014/main" id="{787A19A9-533F-1283-86C8-806AB06E25A3}"/>
                </a:ext>
              </a:extLst>
            </p:cNvPr>
            <p:cNvGrpSpPr>
              <a:grpSpLocks noChangeAspect="1"/>
            </p:cNvGrpSpPr>
            <p:nvPr/>
          </p:nvGrpSpPr>
          <p:grpSpPr>
            <a:xfrm>
              <a:off x="9158430" y="4010639"/>
              <a:ext cx="349906" cy="349906"/>
              <a:chOff x="-127600" y="3030538"/>
              <a:chExt cx="762000" cy="762000"/>
            </a:xfrm>
          </p:grpSpPr>
          <p:sp>
            <p:nvSpPr>
              <p:cNvPr id="99" name="POWER_USER_SHAPE_ICON_STYLE_2">
                <a:extLst>
                  <a:ext uri="{FF2B5EF4-FFF2-40B4-BE49-F238E27FC236}">
                    <a16:creationId xmlns:a16="http://schemas.microsoft.com/office/drawing/2014/main" id="{23F44021-7016-930D-79B9-F09325C958C8}"/>
                  </a:ext>
                </a:extLst>
              </p:cNvPr>
              <p:cNvSpPr/>
              <p:nvPr/>
            </p:nvSpPr>
            <p:spPr>
              <a:xfrm>
                <a:off x="-127600" y="3030538"/>
                <a:ext cx="762000" cy="762000"/>
              </a:xfrm>
              <a:prstGeom prst="ellipse">
                <a:avLst/>
              </a:prstGeom>
              <a:noFill/>
              <a:ln w="38100" cap="flat" cmpd="sng" algn="ctr">
                <a:solidFill>
                  <a:srgbClr val="ED7D31"/>
                </a:solidFill>
                <a:prstDash val="sysDot"/>
                <a:miter lim="800000"/>
              </a:ln>
              <a:effectLst/>
            </p:spPr>
            <p:txBody>
              <a:bodyPr rtlCol="0" anchor="ctr"/>
              <a:lstStyle/>
              <a:p>
                <a:pPr algn="ctr" defTabSz="685754">
                  <a:defRPr/>
                </a:pPr>
                <a:endParaRPr lang="de-DE" sz="1350" kern="0" noProof="1">
                  <a:solidFill>
                    <a:srgbClr val="ED7D31"/>
                  </a:solidFill>
                  <a:latin typeface="Calibri" panose="020F0502020204030204"/>
                </a:endParaRPr>
              </a:p>
            </p:txBody>
          </p:sp>
          <p:grpSp>
            <p:nvGrpSpPr>
              <p:cNvPr id="100" name="Gruppieren 99">
                <a:extLst>
                  <a:ext uri="{FF2B5EF4-FFF2-40B4-BE49-F238E27FC236}">
                    <a16:creationId xmlns:a16="http://schemas.microsoft.com/office/drawing/2014/main" id="{61B6D11B-6206-526D-B3F0-2FF3E2711E11}"/>
                  </a:ext>
                </a:extLst>
              </p:cNvPr>
              <p:cNvGrpSpPr>
                <a:grpSpLocks noChangeAspect="1"/>
              </p:cNvGrpSpPr>
              <p:nvPr/>
            </p:nvGrpSpPr>
            <p:grpSpPr>
              <a:xfrm>
                <a:off x="0" y="3157538"/>
                <a:ext cx="506799" cy="508000"/>
                <a:chOff x="0" y="3157538"/>
                <a:chExt cx="541641" cy="542925"/>
              </a:xfrm>
            </p:grpSpPr>
            <p:sp>
              <p:nvSpPr>
                <p:cNvPr id="101" name="Earth">
                  <a:extLst>
                    <a:ext uri="{FF2B5EF4-FFF2-40B4-BE49-F238E27FC236}">
                      <a16:creationId xmlns:a16="http://schemas.microsoft.com/office/drawing/2014/main" id="{B47B7EDD-AA3E-99B5-EC02-B56088063B42}"/>
                    </a:ext>
                  </a:extLst>
                </p:cNvPr>
                <p:cNvSpPr>
                  <a:spLocks/>
                </p:cNvSpPr>
                <p:nvPr>
                  <p:custDataLst>
                    <p:tags r:id="rId36"/>
                  </p:custDataLst>
                </p:nvPr>
              </p:nvSpPr>
              <p:spPr bwMode="auto">
                <a:xfrm>
                  <a:off x="383769" y="3536174"/>
                  <a:ext cx="50057" cy="75727"/>
                </a:xfrm>
                <a:custGeom>
                  <a:avLst/>
                  <a:gdLst>
                    <a:gd name="T0" fmla="*/ 98 w 104"/>
                    <a:gd name="T1" fmla="*/ 1 h 155"/>
                    <a:gd name="T2" fmla="*/ 95 w 104"/>
                    <a:gd name="T3" fmla="*/ 44 h 155"/>
                    <a:gd name="T4" fmla="*/ 50 w 104"/>
                    <a:gd name="T5" fmla="*/ 128 h 155"/>
                    <a:gd name="T6" fmla="*/ 20 w 104"/>
                    <a:gd name="T7" fmla="*/ 109 h 155"/>
                    <a:gd name="T8" fmla="*/ 35 w 104"/>
                    <a:gd name="T9" fmla="*/ 60 h 155"/>
                    <a:gd name="T10" fmla="*/ 82 w 104"/>
                    <a:gd name="T11" fmla="*/ 21 h 155"/>
                    <a:gd name="T12" fmla="*/ 98 w 104"/>
                    <a:gd name="T13" fmla="*/ 1 h 155"/>
                  </a:gdLst>
                  <a:ahLst/>
                  <a:cxnLst>
                    <a:cxn ang="0">
                      <a:pos x="T0" y="T1"/>
                    </a:cxn>
                    <a:cxn ang="0">
                      <a:pos x="T2" y="T3"/>
                    </a:cxn>
                    <a:cxn ang="0">
                      <a:pos x="T4" y="T5"/>
                    </a:cxn>
                    <a:cxn ang="0">
                      <a:pos x="T6" y="T7"/>
                    </a:cxn>
                    <a:cxn ang="0">
                      <a:pos x="T8" y="T9"/>
                    </a:cxn>
                    <a:cxn ang="0">
                      <a:pos x="T10" y="T11"/>
                    </a:cxn>
                    <a:cxn ang="0">
                      <a:pos x="T12" y="T13"/>
                    </a:cxn>
                  </a:cxnLst>
                  <a:rect l="0" t="0" r="r" b="b"/>
                  <a:pathLst>
                    <a:path w="104" h="155">
                      <a:moveTo>
                        <a:pt x="98" y="1"/>
                      </a:moveTo>
                      <a:cubicBezTo>
                        <a:pt x="102" y="2"/>
                        <a:pt x="104" y="26"/>
                        <a:pt x="95" y="44"/>
                      </a:cubicBezTo>
                      <a:cubicBezTo>
                        <a:pt x="86" y="61"/>
                        <a:pt x="56" y="118"/>
                        <a:pt x="50" y="128"/>
                      </a:cubicBezTo>
                      <a:cubicBezTo>
                        <a:pt x="35" y="155"/>
                        <a:pt x="0" y="145"/>
                        <a:pt x="20" y="109"/>
                      </a:cubicBezTo>
                      <a:cubicBezTo>
                        <a:pt x="39" y="75"/>
                        <a:pt x="28" y="74"/>
                        <a:pt x="35" y="60"/>
                      </a:cubicBezTo>
                      <a:cubicBezTo>
                        <a:pt x="42" y="47"/>
                        <a:pt x="65" y="54"/>
                        <a:pt x="82" y="21"/>
                      </a:cubicBezTo>
                      <a:cubicBezTo>
                        <a:pt x="93" y="1"/>
                        <a:pt x="94" y="0"/>
                        <a:pt x="98" y="1"/>
                      </a:cubicBezTo>
                      <a:close/>
                    </a:path>
                  </a:pathLst>
                </a:custGeom>
                <a:solidFill>
                  <a:srgbClr val="FFFFFF"/>
                </a:solidFill>
                <a:ln w="0">
                  <a:solidFill>
                    <a:srgbClr val="ED7D31"/>
                  </a:solid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sp>
              <p:nvSpPr>
                <p:cNvPr id="102" name="Earth">
                  <a:extLst>
                    <a:ext uri="{FF2B5EF4-FFF2-40B4-BE49-F238E27FC236}">
                      <a16:creationId xmlns:a16="http://schemas.microsoft.com/office/drawing/2014/main" id="{DEDBEDA9-28CA-01AA-EBF9-437013E82D10}"/>
                    </a:ext>
                  </a:extLst>
                </p:cNvPr>
                <p:cNvSpPr>
                  <a:spLocks noEditPoints="1"/>
                </p:cNvSpPr>
                <p:nvPr>
                  <p:custDataLst>
                    <p:tags r:id="rId37"/>
                  </p:custDataLst>
                </p:nvPr>
              </p:nvSpPr>
              <p:spPr bwMode="auto">
                <a:xfrm>
                  <a:off x="0" y="3157538"/>
                  <a:ext cx="541641" cy="542925"/>
                </a:xfrm>
                <a:custGeom>
                  <a:avLst/>
                  <a:gdLst>
                    <a:gd name="T0" fmla="*/ 562 w 1125"/>
                    <a:gd name="T1" fmla="*/ 1125 h 1125"/>
                    <a:gd name="T2" fmla="*/ 562 w 1125"/>
                    <a:gd name="T3" fmla="*/ 0 h 1125"/>
                    <a:gd name="T4" fmla="*/ 1100 w 1125"/>
                    <a:gd name="T5" fmla="*/ 501 h 1125"/>
                    <a:gd name="T6" fmla="*/ 1034 w 1125"/>
                    <a:gd name="T7" fmla="*/ 367 h 1125"/>
                    <a:gd name="T8" fmla="*/ 960 w 1125"/>
                    <a:gd name="T9" fmla="*/ 325 h 1125"/>
                    <a:gd name="T10" fmla="*/ 904 w 1125"/>
                    <a:gd name="T11" fmla="*/ 311 h 1125"/>
                    <a:gd name="T12" fmla="*/ 837 w 1125"/>
                    <a:gd name="T13" fmla="*/ 279 h 1125"/>
                    <a:gd name="T14" fmla="*/ 903 w 1125"/>
                    <a:gd name="T15" fmla="*/ 343 h 1125"/>
                    <a:gd name="T16" fmla="*/ 949 w 1125"/>
                    <a:gd name="T17" fmla="*/ 395 h 1125"/>
                    <a:gd name="T18" fmla="*/ 820 w 1125"/>
                    <a:gd name="T19" fmla="*/ 456 h 1125"/>
                    <a:gd name="T20" fmla="*/ 709 w 1125"/>
                    <a:gd name="T21" fmla="*/ 335 h 1125"/>
                    <a:gd name="T22" fmla="*/ 890 w 1125"/>
                    <a:gd name="T23" fmla="*/ 502 h 1125"/>
                    <a:gd name="T24" fmla="*/ 834 w 1125"/>
                    <a:gd name="T25" fmla="*/ 650 h 1125"/>
                    <a:gd name="T26" fmla="*/ 768 w 1125"/>
                    <a:gd name="T27" fmla="*/ 859 h 1125"/>
                    <a:gd name="T28" fmla="*/ 687 w 1125"/>
                    <a:gd name="T29" fmla="*/ 973 h 1125"/>
                    <a:gd name="T30" fmla="*/ 496 w 1125"/>
                    <a:gd name="T31" fmla="*/ 950 h 1125"/>
                    <a:gd name="T32" fmla="*/ 435 w 1125"/>
                    <a:gd name="T33" fmla="*/ 725 h 1125"/>
                    <a:gd name="T34" fmla="*/ 378 w 1125"/>
                    <a:gd name="T35" fmla="*/ 602 h 1125"/>
                    <a:gd name="T36" fmla="*/ 184 w 1125"/>
                    <a:gd name="T37" fmla="*/ 579 h 1125"/>
                    <a:gd name="T38" fmla="*/ 175 w 1125"/>
                    <a:gd name="T39" fmla="*/ 358 h 1125"/>
                    <a:gd name="T40" fmla="*/ 271 w 1125"/>
                    <a:gd name="T41" fmla="*/ 256 h 1125"/>
                    <a:gd name="T42" fmla="*/ 284 w 1125"/>
                    <a:gd name="T43" fmla="*/ 190 h 1125"/>
                    <a:gd name="T44" fmla="*/ 361 w 1125"/>
                    <a:gd name="T45" fmla="*/ 150 h 1125"/>
                    <a:gd name="T46" fmla="*/ 366 w 1125"/>
                    <a:gd name="T47" fmla="*/ 74 h 1125"/>
                    <a:gd name="T48" fmla="*/ 412 w 1125"/>
                    <a:gd name="T49" fmla="*/ 89 h 1125"/>
                    <a:gd name="T50" fmla="*/ 456 w 1125"/>
                    <a:gd name="T51" fmla="*/ 51 h 1125"/>
                    <a:gd name="T52" fmla="*/ 20 w 1125"/>
                    <a:gd name="T53" fmla="*/ 562 h 1125"/>
                    <a:gd name="T54" fmla="*/ 1104 w 1125"/>
                    <a:gd name="T55" fmla="*/ 562 h 1125"/>
                    <a:gd name="T56" fmla="*/ 528 w 1125"/>
                    <a:gd name="T57" fmla="*/ 47 h 1125"/>
                    <a:gd name="T58" fmla="*/ 515 w 1125"/>
                    <a:gd name="T59" fmla="*/ 77 h 1125"/>
                    <a:gd name="T60" fmla="*/ 550 w 1125"/>
                    <a:gd name="T61" fmla="*/ 38 h 1125"/>
                    <a:gd name="T62" fmla="*/ 528 w 1125"/>
                    <a:gd name="T63" fmla="*/ 47 h 1125"/>
                    <a:gd name="T64" fmla="*/ 783 w 1125"/>
                    <a:gd name="T65" fmla="*/ 159 h 1125"/>
                    <a:gd name="T66" fmla="*/ 842 w 1125"/>
                    <a:gd name="T67" fmla="*/ 210 h 1125"/>
                    <a:gd name="T68" fmla="*/ 790 w 1125"/>
                    <a:gd name="T69" fmla="*/ 125 h 1125"/>
                    <a:gd name="T70" fmla="*/ 618 w 1125"/>
                    <a:gd name="T71" fmla="*/ 143 h 1125"/>
                    <a:gd name="T72" fmla="*/ 690 w 1125"/>
                    <a:gd name="T73" fmla="*/ 168 h 1125"/>
                    <a:gd name="T74" fmla="*/ 677 w 1125"/>
                    <a:gd name="T75" fmla="*/ 134 h 1125"/>
                    <a:gd name="T76" fmla="*/ 305 w 1125"/>
                    <a:gd name="T77" fmla="*/ 233 h 1125"/>
                    <a:gd name="T78" fmla="*/ 380 w 1125"/>
                    <a:gd name="T79" fmla="*/ 218 h 1125"/>
                    <a:gd name="T80" fmla="*/ 440 w 1125"/>
                    <a:gd name="T81" fmla="*/ 241 h 1125"/>
                    <a:gd name="T82" fmla="*/ 490 w 1125"/>
                    <a:gd name="T83" fmla="*/ 269 h 1125"/>
                    <a:gd name="T84" fmla="*/ 542 w 1125"/>
                    <a:gd name="T85" fmla="*/ 262 h 1125"/>
                    <a:gd name="T86" fmla="*/ 646 w 1125"/>
                    <a:gd name="T87" fmla="*/ 271 h 1125"/>
                    <a:gd name="T88" fmla="*/ 666 w 1125"/>
                    <a:gd name="T89" fmla="*/ 216 h 1125"/>
                    <a:gd name="T90" fmla="*/ 581 w 1125"/>
                    <a:gd name="T91" fmla="*/ 173 h 1125"/>
                    <a:gd name="T92" fmla="*/ 544 w 1125"/>
                    <a:gd name="T93" fmla="*/ 193 h 1125"/>
                    <a:gd name="T94" fmla="*/ 493 w 1125"/>
                    <a:gd name="T95" fmla="*/ 145 h 1125"/>
                    <a:gd name="T96" fmla="*/ 492 w 1125"/>
                    <a:gd name="T97" fmla="*/ 164 h 1125"/>
                    <a:gd name="T98" fmla="*/ 492 w 1125"/>
                    <a:gd name="T99" fmla="*/ 216 h 1125"/>
                    <a:gd name="T100" fmla="*/ 493 w 1125"/>
                    <a:gd name="T101" fmla="*/ 197 h 1125"/>
                    <a:gd name="T102" fmla="*/ 429 w 1125"/>
                    <a:gd name="T103" fmla="*/ 156 h 1125"/>
                    <a:gd name="T104" fmla="*/ 347 w 1125"/>
                    <a:gd name="T105" fmla="*/ 207 h 1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125" h="1125">
                      <a:moveTo>
                        <a:pt x="1125" y="562"/>
                      </a:moveTo>
                      <a:cubicBezTo>
                        <a:pt x="1125" y="873"/>
                        <a:pt x="873" y="1125"/>
                        <a:pt x="562" y="1125"/>
                      </a:cubicBezTo>
                      <a:cubicBezTo>
                        <a:pt x="251" y="1125"/>
                        <a:pt x="0" y="873"/>
                        <a:pt x="0" y="562"/>
                      </a:cubicBezTo>
                      <a:cubicBezTo>
                        <a:pt x="0" y="251"/>
                        <a:pt x="251" y="0"/>
                        <a:pt x="562" y="0"/>
                      </a:cubicBezTo>
                      <a:cubicBezTo>
                        <a:pt x="873" y="0"/>
                        <a:pt x="1125" y="251"/>
                        <a:pt x="1125" y="562"/>
                      </a:cubicBezTo>
                      <a:close/>
                      <a:moveTo>
                        <a:pt x="1100" y="501"/>
                      </a:moveTo>
                      <a:cubicBezTo>
                        <a:pt x="1082" y="503"/>
                        <a:pt x="1065" y="441"/>
                        <a:pt x="1059" y="424"/>
                      </a:cubicBezTo>
                      <a:cubicBezTo>
                        <a:pt x="1054" y="405"/>
                        <a:pt x="1041" y="362"/>
                        <a:pt x="1034" y="367"/>
                      </a:cubicBezTo>
                      <a:cubicBezTo>
                        <a:pt x="1027" y="371"/>
                        <a:pt x="1013" y="358"/>
                        <a:pt x="1003" y="342"/>
                      </a:cubicBezTo>
                      <a:cubicBezTo>
                        <a:pt x="992" y="326"/>
                        <a:pt x="975" y="322"/>
                        <a:pt x="960" y="325"/>
                      </a:cubicBezTo>
                      <a:cubicBezTo>
                        <a:pt x="946" y="328"/>
                        <a:pt x="927" y="324"/>
                        <a:pt x="924" y="318"/>
                      </a:cubicBezTo>
                      <a:cubicBezTo>
                        <a:pt x="920" y="312"/>
                        <a:pt x="917" y="305"/>
                        <a:pt x="904" y="311"/>
                      </a:cubicBezTo>
                      <a:cubicBezTo>
                        <a:pt x="891" y="317"/>
                        <a:pt x="885" y="314"/>
                        <a:pt x="871" y="299"/>
                      </a:cubicBezTo>
                      <a:cubicBezTo>
                        <a:pt x="857" y="283"/>
                        <a:pt x="845" y="275"/>
                        <a:pt x="837" y="279"/>
                      </a:cubicBezTo>
                      <a:cubicBezTo>
                        <a:pt x="829" y="284"/>
                        <a:pt x="840" y="296"/>
                        <a:pt x="856" y="314"/>
                      </a:cubicBezTo>
                      <a:cubicBezTo>
                        <a:pt x="873" y="332"/>
                        <a:pt x="891" y="352"/>
                        <a:pt x="903" y="343"/>
                      </a:cubicBezTo>
                      <a:cubicBezTo>
                        <a:pt x="915" y="334"/>
                        <a:pt x="923" y="336"/>
                        <a:pt x="932" y="343"/>
                      </a:cubicBezTo>
                      <a:cubicBezTo>
                        <a:pt x="941" y="350"/>
                        <a:pt x="957" y="356"/>
                        <a:pt x="949" y="395"/>
                      </a:cubicBezTo>
                      <a:cubicBezTo>
                        <a:pt x="940" y="434"/>
                        <a:pt x="883" y="458"/>
                        <a:pt x="858" y="476"/>
                      </a:cubicBezTo>
                      <a:cubicBezTo>
                        <a:pt x="832" y="494"/>
                        <a:pt x="828" y="482"/>
                        <a:pt x="820" y="456"/>
                      </a:cubicBezTo>
                      <a:cubicBezTo>
                        <a:pt x="813" y="430"/>
                        <a:pt x="744" y="347"/>
                        <a:pt x="724" y="320"/>
                      </a:cubicBezTo>
                      <a:cubicBezTo>
                        <a:pt x="704" y="292"/>
                        <a:pt x="693" y="304"/>
                        <a:pt x="709" y="335"/>
                      </a:cubicBezTo>
                      <a:cubicBezTo>
                        <a:pt x="726" y="366"/>
                        <a:pt x="797" y="463"/>
                        <a:pt x="823" y="497"/>
                      </a:cubicBezTo>
                      <a:cubicBezTo>
                        <a:pt x="849" y="532"/>
                        <a:pt x="865" y="511"/>
                        <a:pt x="890" y="502"/>
                      </a:cubicBezTo>
                      <a:cubicBezTo>
                        <a:pt x="916" y="492"/>
                        <a:pt x="914" y="486"/>
                        <a:pt x="907" y="532"/>
                      </a:cubicBezTo>
                      <a:cubicBezTo>
                        <a:pt x="900" y="578"/>
                        <a:pt x="864" y="619"/>
                        <a:pt x="834" y="650"/>
                      </a:cubicBezTo>
                      <a:cubicBezTo>
                        <a:pt x="805" y="681"/>
                        <a:pt x="785" y="738"/>
                        <a:pt x="796" y="778"/>
                      </a:cubicBezTo>
                      <a:cubicBezTo>
                        <a:pt x="806" y="817"/>
                        <a:pt x="789" y="847"/>
                        <a:pt x="768" y="859"/>
                      </a:cubicBezTo>
                      <a:cubicBezTo>
                        <a:pt x="747" y="871"/>
                        <a:pt x="729" y="887"/>
                        <a:pt x="730" y="912"/>
                      </a:cubicBezTo>
                      <a:cubicBezTo>
                        <a:pt x="730" y="936"/>
                        <a:pt x="709" y="945"/>
                        <a:pt x="687" y="973"/>
                      </a:cubicBezTo>
                      <a:cubicBezTo>
                        <a:pt x="665" y="1001"/>
                        <a:pt x="641" y="1013"/>
                        <a:pt x="594" y="1021"/>
                      </a:cubicBezTo>
                      <a:cubicBezTo>
                        <a:pt x="547" y="1030"/>
                        <a:pt x="515" y="985"/>
                        <a:pt x="496" y="950"/>
                      </a:cubicBezTo>
                      <a:cubicBezTo>
                        <a:pt x="477" y="915"/>
                        <a:pt x="444" y="868"/>
                        <a:pt x="460" y="837"/>
                      </a:cubicBezTo>
                      <a:cubicBezTo>
                        <a:pt x="476" y="806"/>
                        <a:pt x="453" y="746"/>
                        <a:pt x="435" y="725"/>
                      </a:cubicBezTo>
                      <a:cubicBezTo>
                        <a:pt x="418" y="703"/>
                        <a:pt x="400" y="687"/>
                        <a:pt x="408" y="657"/>
                      </a:cubicBezTo>
                      <a:cubicBezTo>
                        <a:pt x="416" y="627"/>
                        <a:pt x="398" y="614"/>
                        <a:pt x="378" y="602"/>
                      </a:cubicBezTo>
                      <a:cubicBezTo>
                        <a:pt x="358" y="589"/>
                        <a:pt x="309" y="592"/>
                        <a:pt x="279" y="599"/>
                      </a:cubicBezTo>
                      <a:cubicBezTo>
                        <a:pt x="249" y="605"/>
                        <a:pt x="195" y="591"/>
                        <a:pt x="184" y="579"/>
                      </a:cubicBezTo>
                      <a:cubicBezTo>
                        <a:pt x="174" y="566"/>
                        <a:pt x="140" y="512"/>
                        <a:pt x="138" y="493"/>
                      </a:cubicBezTo>
                      <a:cubicBezTo>
                        <a:pt x="137" y="475"/>
                        <a:pt x="158" y="381"/>
                        <a:pt x="175" y="358"/>
                      </a:cubicBezTo>
                      <a:cubicBezTo>
                        <a:pt x="191" y="336"/>
                        <a:pt x="234" y="304"/>
                        <a:pt x="237" y="295"/>
                      </a:cubicBezTo>
                      <a:cubicBezTo>
                        <a:pt x="240" y="286"/>
                        <a:pt x="247" y="270"/>
                        <a:pt x="271" y="256"/>
                      </a:cubicBezTo>
                      <a:cubicBezTo>
                        <a:pt x="295" y="243"/>
                        <a:pt x="289" y="222"/>
                        <a:pt x="280" y="222"/>
                      </a:cubicBezTo>
                      <a:cubicBezTo>
                        <a:pt x="271" y="221"/>
                        <a:pt x="277" y="210"/>
                        <a:pt x="284" y="190"/>
                      </a:cubicBezTo>
                      <a:cubicBezTo>
                        <a:pt x="291" y="169"/>
                        <a:pt x="310" y="161"/>
                        <a:pt x="315" y="162"/>
                      </a:cubicBezTo>
                      <a:cubicBezTo>
                        <a:pt x="319" y="164"/>
                        <a:pt x="352" y="165"/>
                        <a:pt x="361" y="150"/>
                      </a:cubicBezTo>
                      <a:cubicBezTo>
                        <a:pt x="370" y="136"/>
                        <a:pt x="341" y="109"/>
                        <a:pt x="337" y="103"/>
                      </a:cubicBezTo>
                      <a:cubicBezTo>
                        <a:pt x="332" y="96"/>
                        <a:pt x="358" y="79"/>
                        <a:pt x="366" y="74"/>
                      </a:cubicBezTo>
                      <a:cubicBezTo>
                        <a:pt x="374" y="69"/>
                        <a:pt x="405" y="55"/>
                        <a:pt x="411" y="56"/>
                      </a:cubicBezTo>
                      <a:cubicBezTo>
                        <a:pt x="417" y="58"/>
                        <a:pt x="401" y="79"/>
                        <a:pt x="412" y="89"/>
                      </a:cubicBezTo>
                      <a:cubicBezTo>
                        <a:pt x="424" y="99"/>
                        <a:pt x="440" y="80"/>
                        <a:pt x="452" y="81"/>
                      </a:cubicBezTo>
                      <a:cubicBezTo>
                        <a:pt x="464" y="81"/>
                        <a:pt x="460" y="57"/>
                        <a:pt x="456" y="51"/>
                      </a:cubicBezTo>
                      <a:cubicBezTo>
                        <a:pt x="454" y="47"/>
                        <a:pt x="469" y="35"/>
                        <a:pt x="484" y="26"/>
                      </a:cubicBezTo>
                      <a:cubicBezTo>
                        <a:pt x="222" y="64"/>
                        <a:pt x="20" y="289"/>
                        <a:pt x="20" y="562"/>
                      </a:cubicBezTo>
                      <a:cubicBezTo>
                        <a:pt x="20" y="861"/>
                        <a:pt x="263" y="1104"/>
                        <a:pt x="562" y="1104"/>
                      </a:cubicBezTo>
                      <a:cubicBezTo>
                        <a:pt x="861" y="1104"/>
                        <a:pt x="1104" y="861"/>
                        <a:pt x="1104" y="562"/>
                      </a:cubicBezTo>
                      <a:cubicBezTo>
                        <a:pt x="1104" y="541"/>
                        <a:pt x="1103" y="521"/>
                        <a:pt x="1100" y="501"/>
                      </a:cubicBezTo>
                      <a:close/>
                      <a:moveTo>
                        <a:pt x="528" y="47"/>
                      </a:moveTo>
                      <a:cubicBezTo>
                        <a:pt x="516" y="59"/>
                        <a:pt x="510" y="65"/>
                        <a:pt x="502" y="67"/>
                      </a:cubicBezTo>
                      <a:cubicBezTo>
                        <a:pt x="494" y="70"/>
                        <a:pt x="490" y="79"/>
                        <a:pt x="515" y="77"/>
                      </a:cubicBezTo>
                      <a:cubicBezTo>
                        <a:pt x="539" y="74"/>
                        <a:pt x="540" y="70"/>
                        <a:pt x="551" y="60"/>
                      </a:cubicBezTo>
                      <a:cubicBezTo>
                        <a:pt x="563" y="51"/>
                        <a:pt x="557" y="43"/>
                        <a:pt x="550" y="38"/>
                      </a:cubicBezTo>
                      <a:cubicBezTo>
                        <a:pt x="543" y="33"/>
                        <a:pt x="539" y="29"/>
                        <a:pt x="531" y="34"/>
                      </a:cubicBezTo>
                      <a:cubicBezTo>
                        <a:pt x="523" y="39"/>
                        <a:pt x="535" y="40"/>
                        <a:pt x="528" y="47"/>
                      </a:cubicBezTo>
                      <a:close/>
                      <a:moveTo>
                        <a:pt x="768" y="128"/>
                      </a:moveTo>
                      <a:cubicBezTo>
                        <a:pt x="759" y="135"/>
                        <a:pt x="769" y="145"/>
                        <a:pt x="783" y="159"/>
                      </a:cubicBezTo>
                      <a:cubicBezTo>
                        <a:pt x="798" y="172"/>
                        <a:pt x="801" y="195"/>
                        <a:pt x="809" y="200"/>
                      </a:cubicBezTo>
                      <a:cubicBezTo>
                        <a:pt x="817" y="205"/>
                        <a:pt x="829" y="213"/>
                        <a:pt x="842" y="210"/>
                      </a:cubicBezTo>
                      <a:cubicBezTo>
                        <a:pt x="855" y="207"/>
                        <a:pt x="815" y="162"/>
                        <a:pt x="798" y="150"/>
                      </a:cubicBezTo>
                      <a:cubicBezTo>
                        <a:pt x="782" y="137"/>
                        <a:pt x="797" y="129"/>
                        <a:pt x="790" y="125"/>
                      </a:cubicBezTo>
                      <a:cubicBezTo>
                        <a:pt x="784" y="121"/>
                        <a:pt x="776" y="121"/>
                        <a:pt x="768" y="128"/>
                      </a:cubicBezTo>
                      <a:close/>
                      <a:moveTo>
                        <a:pt x="618" y="143"/>
                      </a:moveTo>
                      <a:cubicBezTo>
                        <a:pt x="596" y="167"/>
                        <a:pt x="633" y="174"/>
                        <a:pt x="645" y="169"/>
                      </a:cubicBezTo>
                      <a:cubicBezTo>
                        <a:pt x="656" y="164"/>
                        <a:pt x="674" y="164"/>
                        <a:pt x="690" y="168"/>
                      </a:cubicBezTo>
                      <a:cubicBezTo>
                        <a:pt x="706" y="171"/>
                        <a:pt x="725" y="178"/>
                        <a:pt x="730" y="166"/>
                      </a:cubicBezTo>
                      <a:cubicBezTo>
                        <a:pt x="736" y="154"/>
                        <a:pt x="692" y="139"/>
                        <a:pt x="677" y="134"/>
                      </a:cubicBezTo>
                      <a:cubicBezTo>
                        <a:pt x="660" y="128"/>
                        <a:pt x="640" y="119"/>
                        <a:pt x="618" y="143"/>
                      </a:cubicBezTo>
                      <a:close/>
                      <a:moveTo>
                        <a:pt x="305" y="233"/>
                      </a:moveTo>
                      <a:cubicBezTo>
                        <a:pt x="305" y="240"/>
                        <a:pt x="314" y="241"/>
                        <a:pt x="323" y="239"/>
                      </a:cubicBezTo>
                      <a:cubicBezTo>
                        <a:pt x="333" y="237"/>
                        <a:pt x="355" y="220"/>
                        <a:pt x="380" y="218"/>
                      </a:cubicBezTo>
                      <a:cubicBezTo>
                        <a:pt x="406" y="216"/>
                        <a:pt x="437" y="208"/>
                        <a:pt x="444" y="220"/>
                      </a:cubicBezTo>
                      <a:cubicBezTo>
                        <a:pt x="452" y="233"/>
                        <a:pt x="448" y="236"/>
                        <a:pt x="440" y="241"/>
                      </a:cubicBezTo>
                      <a:cubicBezTo>
                        <a:pt x="432" y="245"/>
                        <a:pt x="441" y="254"/>
                        <a:pt x="459" y="258"/>
                      </a:cubicBezTo>
                      <a:cubicBezTo>
                        <a:pt x="477" y="262"/>
                        <a:pt x="486" y="258"/>
                        <a:pt x="490" y="269"/>
                      </a:cubicBezTo>
                      <a:cubicBezTo>
                        <a:pt x="494" y="279"/>
                        <a:pt x="509" y="279"/>
                        <a:pt x="518" y="279"/>
                      </a:cubicBezTo>
                      <a:cubicBezTo>
                        <a:pt x="528" y="279"/>
                        <a:pt x="536" y="268"/>
                        <a:pt x="542" y="262"/>
                      </a:cubicBezTo>
                      <a:cubicBezTo>
                        <a:pt x="547" y="256"/>
                        <a:pt x="556" y="251"/>
                        <a:pt x="575" y="259"/>
                      </a:cubicBezTo>
                      <a:cubicBezTo>
                        <a:pt x="594" y="267"/>
                        <a:pt x="633" y="277"/>
                        <a:pt x="646" y="271"/>
                      </a:cubicBezTo>
                      <a:cubicBezTo>
                        <a:pt x="660" y="265"/>
                        <a:pt x="693" y="278"/>
                        <a:pt x="698" y="251"/>
                      </a:cubicBezTo>
                      <a:cubicBezTo>
                        <a:pt x="703" y="225"/>
                        <a:pt x="682" y="216"/>
                        <a:pt x="666" y="216"/>
                      </a:cubicBezTo>
                      <a:cubicBezTo>
                        <a:pt x="649" y="215"/>
                        <a:pt x="619" y="215"/>
                        <a:pt x="608" y="200"/>
                      </a:cubicBezTo>
                      <a:cubicBezTo>
                        <a:pt x="598" y="185"/>
                        <a:pt x="591" y="170"/>
                        <a:pt x="581" y="173"/>
                      </a:cubicBezTo>
                      <a:cubicBezTo>
                        <a:pt x="571" y="177"/>
                        <a:pt x="585" y="200"/>
                        <a:pt x="575" y="207"/>
                      </a:cubicBezTo>
                      <a:cubicBezTo>
                        <a:pt x="565" y="214"/>
                        <a:pt x="552" y="209"/>
                        <a:pt x="544" y="193"/>
                      </a:cubicBezTo>
                      <a:cubicBezTo>
                        <a:pt x="537" y="178"/>
                        <a:pt x="533" y="161"/>
                        <a:pt x="519" y="157"/>
                      </a:cubicBezTo>
                      <a:cubicBezTo>
                        <a:pt x="505" y="152"/>
                        <a:pt x="497" y="151"/>
                        <a:pt x="493" y="145"/>
                      </a:cubicBezTo>
                      <a:cubicBezTo>
                        <a:pt x="488" y="139"/>
                        <a:pt x="481" y="133"/>
                        <a:pt x="476" y="138"/>
                      </a:cubicBezTo>
                      <a:cubicBezTo>
                        <a:pt x="471" y="143"/>
                        <a:pt x="482" y="157"/>
                        <a:pt x="492" y="164"/>
                      </a:cubicBezTo>
                      <a:cubicBezTo>
                        <a:pt x="502" y="170"/>
                        <a:pt x="518" y="177"/>
                        <a:pt x="512" y="186"/>
                      </a:cubicBezTo>
                      <a:cubicBezTo>
                        <a:pt x="505" y="195"/>
                        <a:pt x="496" y="212"/>
                        <a:pt x="492" y="216"/>
                      </a:cubicBezTo>
                      <a:cubicBezTo>
                        <a:pt x="488" y="220"/>
                        <a:pt x="464" y="212"/>
                        <a:pt x="466" y="205"/>
                      </a:cubicBezTo>
                      <a:cubicBezTo>
                        <a:pt x="468" y="198"/>
                        <a:pt x="489" y="206"/>
                        <a:pt x="493" y="197"/>
                      </a:cubicBezTo>
                      <a:cubicBezTo>
                        <a:pt x="496" y="189"/>
                        <a:pt x="488" y="180"/>
                        <a:pt x="472" y="171"/>
                      </a:cubicBezTo>
                      <a:cubicBezTo>
                        <a:pt x="456" y="162"/>
                        <a:pt x="443" y="147"/>
                        <a:pt x="429" y="156"/>
                      </a:cubicBezTo>
                      <a:cubicBezTo>
                        <a:pt x="415" y="164"/>
                        <a:pt x="406" y="153"/>
                        <a:pt x="388" y="167"/>
                      </a:cubicBezTo>
                      <a:cubicBezTo>
                        <a:pt x="370" y="181"/>
                        <a:pt x="357" y="197"/>
                        <a:pt x="347" y="207"/>
                      </a:cubicBezTo>
                      <a:cubicBezTo>
                        <a:pt x="331" y="228"/>
                        <a:pt x="304" y="220"/>
                        <a:pt x="305" y="233"/>
                      </a:cubicBezTo>
                      <a:close/>
                    </a:path>
                  </a:pathLst>
                </a:custGeom>
                <a:solidFill>
                  <a:srgbClr val="ED7D31"/>
                </a:solidFill>
                <a:ln w="0">
                  <a:solidFill>
                    <a:srgbClr val="ED7D31"/>
                  </a:solid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grpSp>
        </p:grpSp>
      </p:grpSp>
      <p:sp>
        <p:nvSpPr>
          <p:cNvPr id="108" name="Textfeld 107">
            <a:extLst>
              <a:ext uri="{FF2B5EF4-FFF2-40B4-BE49-F238E27FC236}">
                <a16:creationId xmlns:a16="http://schemas.microsoft.com/office/drawing/2014/main" id="{8D85F61A-E287-3490-2351-960C1E0D6FA6}"/>
              </a:ext>
            </a:extLst>
          </p:cNvPr>
          <p:cNvSpPr txBox="1"/>
          <p:nvPr/>
        </p:nvSpPr>
        <p:spPr bwMode="auto">
          <a:xfrm>
            <a:off x="5498170" y="5024396"/>
            <a:ext cx="1502739" cy="400110"/>
          </a:xfrm>
          <a:prstGeom prst="rect">
            <a:avLst/>
          </a:prstGeom>
          <a:noFill/>
        </p:spPr>
        <p:txBody>
          <a:bodyPr wrap="square">
            <a:spAutoFit/>
          </a:bodyPr>
          <a:lstStyle/>
          <a:p>
            <a:pPr algn="r" defTabSz="914339">
              <a:defRPr/>
            </a:pPr>
            <a:r>
              <a:rPr lang="de-DE" sz="1000" noProof="1">
                <a:solidFill>
                  <a:srgbClr val="9954CC"/>
                </a:solidFill>
                <a:latin typeface="Bahnschrift" panose="020B0502040204020203" pitchFamily="34" charset="0"/>
              </a:rPr>
              <a:t>Kontextfaktor Bauliche Dichte und Sanierung</a:t>
            </a:r>
          </a:p>
        </p:txBody>
      </p:sp>
      <p:sp>
        <p:nvSpPr>
          <p:cNvPr id="109" name="Textfeld 108">
            <a:extLst>
              <a:ext uri="{FF2B5EF4-FFF2-40B4-BE49-F238E27FC236}">
                <a16:creationId xmlns:a16="http://schemas.microsoft.com/office/drawing/2014/main" id="{3B054B66-DFB0-3E5F-BE81-119FBDC19987}"/>
              </a:ext>
            </a:extLst>
          </p:cNvPr>
          <p:cNvSpPr txBox="1"/>
          <p:nvPr/>
        </p:nvSpPr>
        <p:spPr bwMode="auto">
          <a:xfrm>
            <a:off x="7431116" y="4909897"/>
            <a:ext cx="928791" cy="553998"/>
          </a:xfrm>
          <a:prstGeom prst="rect">
            <a:avLst/>
          </a:prstGeom>
          <a:noFill/>
        </p:spPr>
        <p:txBody>
          <a:bodyPr wrap="square">
            <a:spAutoFit/>
          </a:bodyPr>
          <a:lstStyle/>
          <a:p>
            <a:pPr algn="r" defTabSz="914339">
              <a:defRPr/>
            </a:pPr>
            <a:r>
              <a:rPr lang="de-DE" sz="1000" noProof="1">
                <a:solidFill>
                  <a:srgbClr val="5FB564"/>
                </a:solidFill>
                <a:latin typeface="Bahnschrift" panose="020B0502040204020203" pitchFamily="34" charset="0"/>
              </a:rPr>
              <a:t>THG-Budget und Kontext-Faktoren</a:t>
            </a:r>
          </a:p>
        </p:txBody>
      </p:sp>
      <p:grpSp>
        <p:nvGrpSpPr>
          <p:cNvPr id="110" name="Gruppieren 109">
            <a:extLst>
              <a:ext uri="{FF2B5EF4-FFF2-40B4-BE49-F238E27FC236}">
                <a16:creationId xmlns:a16="http://schemas.microsoft.com/office/drawing/2014/main" id="{B29357CF-542C-3BA7-674E-5C16EB86E071}"/>
              </a:ext>
            </a:extLst>
          </p:cNvPr>
          <p:cNvGrpSpPr/>
          <p:nvPr/>
        </p:nvGrpSpPr>
        <p:grpSpPr>
          <a:xfrm>
            <a:off x="6919190" y="5062113"/>
            <a:ext cx="289932" cy="380068"/>
            <a:chOff x="9018358" y="3729507"/>
            <a:chExt cx="512820" cy="672248"/>
          </a:xfrm>
        </p:grpSpPr>
        <p:grpSp>
          <p:nvGrpSpPr>
            <p:cNvPr id="111" name="Gruppieren 110">
              <a:extLst>
                <a:ext uri="{FF2B5EF4-FFF2-40B4-BE49-F238E27FC236}">
                  <a16:creationId xmlns:a16="http://schemas.microsoft.com/office/drawing/2014/main" id="{9DC77667-3AF7-F4C7-55B4-C4461B914739}"/>
                </a:ext>
              </a:extLst>
            </p:cNvPr>
            <p:cNvGrpSpPr/>
            <p:nvPr/>
          </p:nvGrpSpPr>
          <p:grpSpPr>
            <a:xfrm>
              <a:off x="9018358" y="3729507"/>
              <a:ext cx="512820" cy="672248"/>
              <a:chOff x="0" y="3078492"/>
              <a:chExt cx="545343" cy="621971"/>
            </a:xfrm>
          </p:grpSpPr>
          <p:grpSp>
            <p:nvGrpSpPr>
              <p:cNvPr id="115" name="Gruppieren 114">
                <a:extLst>
                  <a:ext uri="{FF2B5EF4-FFF2-40B4-BE49-F238E27FC236}">
                    <a16:creationId xmlns:a16="http://schemas.microsoft.com/office/drawing/2014/main" id="{D92399DA-C500-C139-2063-E8C118A3BF60}"/>
                  </a:ext>
                </a:extLst>
              </p:cNvPr>
              <p:cNvGrpSpPr/>
              <p:nvPr>
                <p:custDataLst>
                  <p:tags r:id="rId34"/>
                </p:custDataLst>
              </p:nvPr>
            </p:nvGrpSpPr>
            <p:grpSpPr>
              <a:xfrm>
                <a:off x="0" y="3157538"/>
                <a:ext cx="545343" cy="542925"/>
                <a:chOff x="0" y="3157538"/>
                <a:chExt cx="545343" cy="542925"/>
              </a:xfrm>
              <a:solidFill>
                <a:srgbClr val="9954CC"/>
              </a:solidFill>
            </p:grpSpPr>
            <p:sp>
              <p:nvSpPr>
                <p:cNvPr id="118" name="Freeform 203">
                  <a:extLst>
                    <a:ext uri="{FF2B5EF4-FFF2-40B4-BE49-F238E27FC236}">
                      <a16:creationId xmlns:a16="http://schemas.microsoft.com/office/drawing/2014/main" id="{17DD63E3-BECA-D119-3A8F-B62A6903B906}"/>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sp>
              <p:nvSpPr>
                <p:cNvPr id="119" name="Freeform 204">
                  <a:extLst>
                    <a:ext uri="{FF2B5EF4-FFF2-40B4-BE49-F238E27FC236}">
                      <a16:creationId xmlns:a16="http://schemas.microsoft.com/office/drawing/2014/main" id="{6A361C30-B8A7-CE85-3FFB-784C1FB2E495}"/>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sp>
              <p:nvSpPr>
                <p:cNvPr id="120" name="Freeform 206">
                  <a:extLst>
                    <a:ext uri="{FF2B5EF4-FFF2-40B4-BE49-F238E27FC236}">
                      <a16:creationId xmlns:a16="http://schemas.microsoft.com/office/drawing/2014/main" id="{293427B7-4B29-EC08-3252-427EE755ADDB}"/>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grpSp>
          <p:sp>
            <p:nvSpPr>
              <p:cNvPr id="116" name="Freihandform 240">
                <a:extLst>
                  <a:ext uri="{FF2B5EF4-FFF2-40B4-BE49-F238E27FC236}">
                    <a16:creationId xmlns:a16="http://schemas.microsoft.com/office/drawing/2014/main" id="{935F711B-9770-1842-7E3A-5706E87DC13A}"/>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solidFill>
                <a:sysClr val="window" lastClr="FFFFFF"/>
              </a:solid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Calibri" panose="020F0502020204030204"/>
                </a:endParaRPr>
              </a:p>
            </p:txBody>
          </p:sp>
          <p:sp>
            <p:nvSpPr>
              <p:cNvPr id="117" name="Bolt3" descr="{&quot;Key&quot;:&quot;POWER_USER_SHAPE_ICON&quot;,&quot;Value&quot;:&quot;POWER_USER_SHAPE_ICON_STYLE_1&quot;}">
                <a:extLst>
                  <a:ext uri="{FF2B5EF4-FFF2-40B4-BE49-F238E27FC236}">
                    <a16:creationId xmlns:a16="http://schemas.microsoft.com/office/drawing/2014/main" id="{D0234491-F1E6-3B86-453B-9B1DC5600F5C}"/>
                  </a:ext>
                </a:extLst>
              </p:cNvPr>
              <p:cNvSpPr>
                <a:spLocks noChangeAspect="1"/>
              </p:cNvSpPr>
              <p:nvPr>
                <p:custDataLst>
                  <p:tags r:id="rId35"/>
                </p:custDataLst>
              </p:nvPr>
            </p:nvSpPr>
            <p:spPr bwMode="auto">
              <a:xfrm>
                <a:off x="234737" y="3127907"/>
                <a:ext cx="197755" cy="316407"/>
              </a:xfrm>
              <a:custGeom>
                <a:avLst/>
                <a:gdLst>
                  <a:gd name="T0" fmla="*/ 132 w 511"/>
                  <a:gd name="T1" fmla="*/ 773 h 815"/>
                  <a:gd name="T2" fmla="*/ 212 w 511"/>
                  <a:gd name="T3" fmla="*/ 474 h 815"/>
                  <a:gd name="T4" fmla="*/ 32 w 511"/>
                  <a:gd name="T5" fmla="*/ 474 h 815"/>
                  <a:gd name="T6" fmla="*/ 13 w 511"/>
                  <a:gd name="T7" fmla="*/ 435 h 815"/>
                  <a:gd name="T8" fmla="*/ 336 w 511"/>
                  <a:gd name="T9" fmla="*/ 21 h 815"/>
                  <a:gd name="T10" fmla="*/ 379 w 511"/>
                  <a:gd name="T11" fmla="*/ 42 h 815"/>
                  <a:gd name="T12" fmla="*/ 299 w 511"/>
                  <a:gd name="T13" fmla="*/ 341 h 815"/>
                  <a:gd name="T14" fmla="*/ 479 w 511"/>
                  <a:gd name="T15" fmla="*/ 341 h 815"/>
                  <a:gd name="T16" fmla="*/ 499 w 511"/>
                  <a:gd name="T17" fmla="*/ 380 h 815"/>
                  <a:gd name="T18" fmla="*/ 176 w 511"/>
                  <a:gd name="T19" fmla="*/ 794 h 815"/>
                  <a:gd name="T20" fmla="*/ 132 w 511"/>
                  <a:gd name="T21" fmla="*/ 773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1" h="815">
                    <a:moveTo>
                      <a:pt x="132" y="773"/>
                    </a:moveTo>
                    <a:lnTo>
                      <a:pt x="212" y="474"/>
                    </a:lnTo>
                    <a:lnTo>
                      <a:pt x="32" y="474"/>
                    </a:lnTo>
                    <a:cubicBezTo>
                      <a:pt x="12" y="474"/>
                      <a:pt x="0" y="450"/>
                      <a:pt x="13" y="435"/>
                    </a:cubicBezTo>
                    <a:lnTo>
                      <a:pt x="336" y="21"/>
                    </a:lnTo>
                    <a:cubicBezTo>
                      <a:pt x="352" y="0"/>
                      <a:pt x="386" y="17"/>
                      <a:pt x="379" y="42"/>
                    </a:cubicBezTo>
                    <a:lnTo>
                      <a:pt x="299" y="341"/>
                    </a:lnTo>
                    <a:lnTo>
                      <a:pt x="479" y="341"/>
                    </a:lnTo>
                    <a:cubicBezTo>
                      <a:pt x="500" y="341"/>
                      <a:pt x="511" y="365"/>
                      <a:pt x="499" y="380"/>
                    </a:cubicBezTo>
                    <a:lnTo>
                      <a:pt x="176" y="794"/>
                    </a:lnTo>
                    <a:cubicBezTo>
                      <a:pt x="159" y="815"/>
                      <a:pt x="125" y="798"/>
                      <a:pt x="132" y="773"/>
                    </a:cubicBez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grpSp>
        <p:grpSp>
          <p:nvGrpSpPr>
            <p:cNvPr id="112" name="Gruppieren 111" descr="{&quot;Key&quot;:&quot;POWER_USER_SHAPE_ICON&quot;,&quot;Value&quot;:&quot;POWER_USER_SHAPE_ICON_STYLE_2&quot;}">
              <a:extLst>
                <a:ext uri="{FF2B5EF4-FFF2-40B4-BE49-F238E27FC236}">
                  <a16:creationId xmlns:a16="http://schemas.microsoft.com/office/drawing/2014/main" id="{E5BC706F-2498-FDBC-CABC-17092F0A4753}"/>
                </a:ext>
              </a:extLst>
            </p:cNvPr>
            <p:cNvGrpSpPr>
              <a:grpSpLocks noChangeAspect="1"/>
            </p:cNvGrpSpPr>
            <p:nvPr/>
          </p:nvGrpSpPr>
          <p:grpSpPr>
            <a:xfrm>
              <a:off x="9163525" y="3777549"/>
              <a:ext cx="328332" cy="328332"/>
              <a:chOff x="7786650" y="4317126"/>
              <a:chExt cx="762000" cy="762000"/>
            </a:xfrm>
            <a:noFill/>
          </p:grpSpPr>
          <p:sp>
            <p:nvSpPr>
              <p:cNvPr id="113" name="POWER_USER_SHAPE_ICON_STYLE_2">
                <a:extLst>
                  <a:ext uri="{FF2B5EF4-FFF2-40B4-BE49-F238E27FC236}">
                    <a16:creationId xmlns:a16="http://schemas.microsoft.com/office/drawing/2014/main" id="{8FAD1FEC-E4D9-EED3-CA1D-23B850B3FB73}"/>
                  </a:ext>
                </a:extLst>
              </p:cNvPr>
              <p:cNvSpPr/>
              <p:nvPr/>
            </p:nvSpPr>
            <p:spPr>
              <a:xfrm>
                <a:off x="7786650" y="4317126"/>
                <a:ext cx="762000" cy="762000"/>
              </a:xfrm>
              <a:prstGeom prst="ellipse">
                <a:avLst/>
              </a:prstGeom>
              <a:solidFill>
                <a:sysClr val="window" lastClr="FFFFFF"/>
              </a:solidFill>
              <a:ln w="28575" cap="flat" cmpd="sng" algn="ctr">
                <a:solidFill>
                  <a:srgbClr val="9954CC"/>
                </a:solidFill>
                <a:prstDash val="sysDot"/>
                <a:miter lim="800000"/>
              </a:ln>
              <a:effectLst/>
            </p:spPr>
            <p:txBody>
              <a:bodyPr rtlCol="0" anchor="ctr"/>
              <a:lstStyle/>
              <a:p>
                <a:pPr algn="ctr" defTabSz="685754">
                  <a:defRPr/>
                </a:pPr>
                <a:endParaRPr lang="de-DE" sz="1350" kern="0" noProof="1">
                  <a:solidFill>
                    <a:srgbClr val="9954CC"/>
                  </a:solidFill>
                  <a:latin typeface="Calibri" panose="020F0502020204030204"/>
                </a:endParaRPr>
              </a:p>
            </p:txBody>
          </p:sp>
          <p:sp>
            <p:nvSpPr>
              <p:cNvPr id="114" name="Building5" descr="{&quot;Key&quot;:&quot;POWER_USER_SHAPE_ICON&quot;,&quot;Value&quot;:&quot;POWER_USER_SHAPE_ICON_STYLE_1&quot;}">
                <a:extLst>
                  <a:ext uri="{FF2B5EF4-FFF2-40B4-BE49-F238E27FC236}">
                    <a16:creationId xmlns:a16="http://schemas.microsoft.com/office/drawing/2014/main" id="{F9ED1B84-237F-B33F-BE9C-82599FAA095C}"/>
                  </a:ext>
                </a:extLst>
              </p:cNvPr>
              <p:cNvSpPr>
                <a:spLocks noChangeAspect="1" noEditPoints="1"/>
              </p:cNvSpPr>
              <p:nvPr>
                <p:custDataLst>
                  <p:tags r:id="rId33"/>
                </p:custDataLst>
              </p:nvPr>
            </p:nvSpPr>
            <p:spPr bwMode="auto">
              <a:xfrm>
                <a:off x="7913650" y="4456556"/>
                <a:ext cx="508000" cy="483141"/>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Calibri" panose="020F0502020204030204"/>
                </a:endParaRPr>
              </a:p>
            </p:txBody>
          </p:sp>
        </p:grpSp>
      </p:grpSp>
      <p:sp>
        <p:nvSpPr>
          <p:cNvPr id="121" name="Rechteck 120">
            <a:extLst>
              <a:ext uri="{FF2B5EF4-FFF2-40B4-BE49-F238E27FC236}">
                <a16:creationId xmlns:a16="http://schemas.microsoft.com/office/drawing/2014/main" id="{2C5EC351-1580-6CF4-B818-752A3D6CFAF3}"/>
              </a:ext>
            </a:extLst>
          </p:cNvPr>
          <p:cNvSpPr/>
          <p:nvPr/>
        </p:nvSpPr>
        <p:spPr bwMode="auto">
          <a:xfrm>
            <a:off x="9330277" y="4671275"/>
            <a:ext cx="1759031" cy="776508"/>
          </a:xfrm>
          <a:prstGeom prst="rect">
            <a:avLst/>
          </a:prstGeom>
          <a:solidFill>
            <a:srgbClr val="D8D7B7"/>
          </a:solidFill>
          <a:ln w="28575" cap="flat" cmpd="sng" algn="ctr">
            <a:noFill/>
            <a:prstDash val="dash"/>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22" name="Building5" descr="{&quot;Key&quot;:&quot;POWER_USER_SHAPE_ICON&quot;,&quot;Value&quot;:&quot;POWER_USER_SHAPE_ICON_STYLE_1&quot;}">
            <a:extLst>
              <a:ext uri="{FF2B5EF4-FFF2-40B4-BE49-F238E27FC236}">
                <a16:creationId xmlns:a16="http://schemas.microsoft.com/office/drawing/2014/main" id="{722F2AA6-12B3-6571-EFD2-12BA3E687779}"/>
              </a:ext>
            </a:extLst>
          </p:cNvPr>
          <p:cNvSpPr>
            <a:spLocks noChangeAspect="1" noEditPoints="1"/>
          </p:cNvSpPr>
          <p:nvPr>
            <p:custDataLst>
              <p:tags r:id="rId3"/>
            </p:custDataLst>
          </p:nvPr>
        </p:nvSpPr>
        <p:spPr bwMode="auto">
          <a:xfrm>
            <a:off x="9427353" y="3470477"/>
            <a:ext cx="1233099" cy="120079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nvGrpSpPr>
          <p:cNvPr id="123" name="Gruppieren 122">
            <a:extLst>
              <a:ext uri="{FF2B5EF4-FFF2-40B4-BE49-F238E27FC236}">
                <a16:creationId xmlns:a16="http://schemas.microsoft.com/office/drawing/2014/main" id="{6F72E0A0-A0CF-975F-576E-F77ADB78CA19}"/>
              </a:ext>
            </a:extLst>
          </p:cNvPr>
          <p:cNvGrpSpPr/>
          <p:nvPr/>
        </p:nvGrpSpPr>
        <p:grpSpPr>
          <a:xfrm>
            <a:off x="10042651" y="3981395"/>
            <a:ext cx="298582" cy="276822"/>
            <a:chOff x="-19101" y="2381281"/>
            <a:chExt cx="699820" cy="699820"/>
          </a:xfrm>
        </p:grpSpPr>
        <p:sp>
          <p:nvSpPr>
            <p:cNvPr id="124" name="Ellipse 123">
              <a:extLst>
                <a:ext uri="{FF2B5EF4-FFF2-40B4-BE49-F238E27FC236}">
                  <a16:creationId xmlns:a16="http://schemas.microsoft.com/office/drawing/2014/main" id="{7C2BCF58-7C4C-3542-0F90-C9A6BDFC83FA}"/>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25" name="Plug" descr="{&quot;Key&quot;:&quot;POWER_USER_SHAPE_ICON&quot;,&quot;Value&quot;:&quot;POWER_USER_SHAPE_ICON_STYLE_1&quot;}">
              <a:extLst>
                <a:ext uri="{FF2B5EF4-FFF2-40B4-BE49-F238E27FC236}">
                  <a16:creationId xmlns:a16="http://schemas.microsoft.com/office/drawing/2014/main" id="{F28D782A-129A-4103-90AB-B2E0F7D08A9C}"/>
                </a:ext>
              </a:extLst>
            </p:cNvPr>
            <p:cNvSpPr>
              <a:spLocks noChangeAspect="1" noEditPoints="1"/>
            </p:cNvSpPr>
            <p:nvPr>
              <p:custDataLst>
                <p:tags r:id="rId32"/>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126" name="Gruppieren 125" descr="{&quot;Key&quot;:&quot;POWER_USER_SHAPE_ICON&quot;,&quot;Value&quot;:&quot;POWER_USER_SHAPE_ICON_STYLE_2&quot;}">
            <a:extLst>
              <a:ext uri="{FF2B5EF4-FFF2-40B4-BE49-F238E27FC236}">
                <a16:creationId xmlns:a16="http://schemas.microsoft.com/office/drawing/2014/main" id="{47BED68E-BCF7-5FA2-D69D-83BC67E385BE}"/>
              </a:ext>
            </a:extLst>
          </p:cNvPr>
          <p:cNvGrpSpPr>
            <a:grpSpLocks noChangeAspect="1"/>
          </p:cNvGrpSpPr>
          <p:nvPr/>
        </p:nvGrpSpPr>
        <p:grpSpPr>
          <a:xfrm>
            <a:off x="9914911" y="3746610"/>
            <a:ext cx="295815" cy="295814"/>
            <a:chOff x="-151229" y="3030538"/>
            <a:chExt cx="762000" cy="762000"/>
          </a:xfrm>
        </p:grpSpPr>
        <p:sp>
          <p:nvSpPr>
            <p:cNvPr id="127" name="POWER_USER_SHAPE_ICON_STYLE_2">
              <a:extLst>
                <a:ext uri="{FF2B5EF4-FFF2-40B4-BE49-F238E27FC236}">
                  <a16:creationId xmlns:a16="http://schemas.microsoft.com/office/drawing/2014/main" id="{7DEED265-566D-6FE0-6BE1-E2292CBB4A42}"/>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128" name="Gruppieren 127">
              <a:extLst>
                <a:ext uri="{FF2B5EF4-FFF2-40B4-BE49-F238E27FC236}">
                  <a16:creationId xmlns:a16="http://schemas.microsoft.com/office/drawing/2014/main" id="{FB56DCB8-D0BC-214E-7256-EC54035697ED}"/>
                </a:ext>
              </a:extLst>
            </p:cNvPr>
            <p:cNvGrpSpPr>
              <a:grpSpLocks noChangeAspect="1"/>
            </p:cNvGrpSpPr>
            <p:nvPr/>
          </p:nvGrpSpPr>
          <p:grpSpPr>
            <a:xfrm>
              <a:off x="1" y="3157538"/>
              <a:ext cx="459541" cy="508000"/>
              <a:chOff x="0" y="3157538"/>
              <a:chExt cx="491134" cy="542925"/>
            </a:xfrm>
          </p:grpSpPr>
          <p:sp>
            <p:nvSpPr>
              <p:cNvPr id="129" name="Crowdsourcing2">
                <a:extLst>
                  <a:ext uri="{FF2B5EF4-FFF2-40B4-BE49-F238E27FC236}">
                    <a16:creationId xmlns:a16="http://schemas.microsoft.com/office/drawing/2014/main" id="{DF711053-035C-1D46-B4DF-D98600C13549}"/>
                  </a:ext>
                </a:extLst>
              </p:cNvPr>
              <p:cNvSpPr>
                <a:spLocks/>
              </p:cNvSpPr>
              <p:nvPr>
                <p:custDataLst>
                  <p:tags r:id="rId24"/>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30" name="Crowdsourcing2">
                <a:extLst>
                  <a:ext uri="{FF2B5EF4-FFF2-40B4-BE49-F238E27FC236}">
                    <a16:creationId xmlns:a16="http://schemas.microsoft.com/office/drawing/2014/main" id="{0F7B2073-B1F1-D69C-C759-18CBAE4CCA09}"/>
                  </a:ext>
                </a:extLst>
              </p:cNvPr>
              <p:cNvSpPr>
                <a:spLocks/>
              </p:cNvSpPr>
              <p:nvPr>
                <p:custDataLst>
                  <p:tags r:id="rId25"/>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31" name="Crowdsourcing2">
                <a:extLst>
                  <a:ext uri="{FF2B5EF4-FFF2-40B4-BE49-F238E27FC236}">
                    <a16:creationId xmlns:a16="http://schemas.microsoft.com/office/drawing/2014/main" id="{9D3DBFCC-077C-942C-424B-F57973B5478C}"/>
                  </a:ext>
                </a:extLst>
              </p:cNvPr>
              <p:cNvSpPr>
                <a:spLocks/>
              </p:cNvSpPr>
              <p:nvPr>
                <p:custDataLst>
                  <p:tags r:id="rId26"/>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32" name="Crowdsourcing2">
                <a:extLst>
                  <a:ext uri="{FF2B5EF4-FFF2-40B4-BE49-F238E27FC236}">
                    <a16:creationId xmlns:a16="http://schemas.microsoft.com/office/drawing/2014/main" id="{7AAB3BF1-6A9B-FCEE-9678-6093A5F56889}"/>
                  </a:ext>
                </a:extLst>
              </p:cNvPr>
              <p:cNvSpPr>
                <a:spLocks/>
              </p:cNvSpPr>
              <p:nvPr>
                <p:custDataLst>
                  <p:tags r:id="rId27"/>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33" name="Crowdsourcing2">
                <a:extLst>
                  <a:ext uri="{FF2B5EF4-FFF2-40B4-BE49-F238E27FC236}">
                    <a16:creationId xmlns:a16="http://schemas.microsoft.com/office/drawing/2014/main" id="{F2AA1B8D-C072-2107-F418-4327C538518C}"/>
                  </a:ext>
                </a:extLst>
              </p:cNvPr>
              <p:cNvSpPr>
                <a:spLocks/>
              </p:cNvSpPr>
              <p:nvPr>
                <p:custDataLst>
                  <p:tags r:id="rId28"/>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34" name="Crowdsourcing2">
                <a:extLst>
                  <a:ext uri="{FF2B5EF4-FFF2-40B4-BE49-F238E27FC236}">
                    <a16:creationId xmlns:a16="http://schemas.microsoft.com/office/drawing/2014/main" id="{28C970CB-3243-25F8-1A2C-85A39BCCB713}"/>
                  </a:ext>
                </a:extLst>
              </p:cNvPr>
              <p:cNvSpPr>
                <a:spLocks/>
              </p:cNvSpPr>
              <p:nvPr>
                <p:custDataLst>
                  <p:tags r:id="rId29"/>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35" name="Crowdsourcing2">
                <a:extLst>
                  <a:ext uri="{FF2B5EF4-FFF2-40B4-BE49-F238E27FC236}">
                    <a16:creationId xmlns:a16="http://schemas.microsoft.com/office/drawing/2014/main" id="{DE6AD32D-0603-2990-A145-1769047C7C2F}"/>
                  </a:ext>
                </a:extLst>
              </p:cNvPr>
              <p:cNvSpPr>
                <a:spLocks/>
              </p:cNvSpPr>
              <p:nvPr>
                <p:custDataLst>
                  <p:tags r:id="rId30"/>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36" name="Crowdsourcing2">
                <a:extLst>
                  <a:ext uri="{FF2B5EF4-FFF2-40B4-BE49-F238E27FC236}">
                    <a16:creationId xmlns:a16="http://schemas.microsoft.com/office/drawing/2014/main" id="{317B3B61-4AE0-35DD-710C-5DAA3AC63E31}"/>
                  </a:ext>
                </a:extLst>
              </p:cNvPr>
              <p:cNvSpPr>
                <a:spLocks/>
              </p:cNvSpPr>
              <p:nvPr>
                <p:custDataLst>
                  <p:tags r:id="rId31"/>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nvGrpSpPr>
          <p:cNvPr id="137" name="Gruppieren 136">
            <a:extLst>
              <a:ext uri="{FF2B5EF4-FFF2-40B4-BE49-F238E27FC236}">
                <a16:creationId xmlns:a16="http://schemas.microsoft.com/office/drawing/2014/main" id="{CB9AE703-B6D6-CAF5-5826-4737D7BB48C7}"/>
              </a:ext>
            </a:extLst>
          </p:cNvPr>
          <p:cNvGrpSpPr/>
          <p:nvPr/>
        </p:nvGrpSpPr>
        <p:grpSpPr>
          <a:xfrm>
            <a:off x="9575987" y="4068757"/>
            <a:ext cx="480669" cy="448955"/>
            <a:chOff x="1369937" y="4620185"/>
            <a:chExt cx="512470" cy="478658"/>
          </a:xfrm>
        </p:grpSpPr>
        <p:grpSp>
          <p:nvGrpSpPr>
            <p:cNvPr id="138" name="Gruppieren 137" descr="{&quot;Key&quot;:&quot;POWER_USER_SHAPE_ICON&quot;,&quot;Value&quot;:&quot;POWER_USER_SHAPE_ICON_STYLE_2&quot;}">
              <a:extLst>
                <a:ext uri="{FF2B5EF4-FFF2-40B4-BE49-F238E27FC236}">
                  <a16:creationId xmlns:a16="http://schemas.microsoft.com/office/drawing/2014/main" id="{422B29C4-4787-5E19-23FC-5476F491F079}"/>
                </a:ext>
              </a:extLst>
            </p:cNvPr>
            <p:cNvGrpSpPr>
              <a:grpSpLocks noChangeAspect="1"/>
            </p:cNvGrpSpPr>
            <p:nvPr/>
          </p:nvGrpSpPr>
          <p:grpSpPr>
            <a:xfrm>
              <a:off x="1498726" y="4620185"/>
              <a:ext cx="286311" cy="286311"/>
              <a:chOff x="-147119" y="3030538"/>
              <a:chExt cx="762000" cy="762000"/>
            </a:xfrm>
            <a:solidFill>
              <a:srgbClr val="000066"/>
            </a:solidFill>
          </p:grpSpPr>
          <p:sp>
            <p:nvSpPr>
              <p:cNvPr id="148" name="POWER_USER_SHAPE_ICON_STYLE_2">
                <a:extLst>
                  <a:ext uri="{FF2B5EF4-FFF2-40B4-BE49-F238E27FC236}">
                    <a16:creationId xmlns:a16="http://schemas.microsoft.com/office/drawing/2014/main" id="{E03AEA0F-6956-2A9B-4DDF-D1500AC7BDC2}"/>
                  </a:ext>
                </a:extLst>
              </p:cNvPr>
              <p:cNvSpPr/>
              <p:nvPr/>
            </p:nvSpPr>
            <p:spPr>
              <a:xfrm>
                <a:off x="-147119" y="3030538"/>
                <a:ext cx="762000" cy="762000"/>
              </a:xfrm>
              <a:prstGeom prst="ellipse">
                <a:avLst/>
              </a:prstGeom>
              <a:gr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49" name="Snowflake2" descr="{&quot;Key&quot;:&quot;POWER_USER_SHAPE_ICON&quot;,&quot;Value&quot;:&quot;POWER_USER_SHAPE_ICON_STYLE_1&quot;}">
                <a:extLst>
                  <a:ext uri="{FF2B5EF4-FFF2-40B4-BE49-F238E27FC236}">
                    <a16:creationId xmlns:a16="http://schemas.microsoft.com/office/drawing/2014/main" id="{6E2B9195-0413-77CF-D352-A7A582BFDB6B}"/>
                  </a:ext>
                </a:extLst>
              </p:cNvPr>
              <p:cNvSpPr>
                <a:spLocks noChangeAspect="1"/>
              </p:cNvSpPr>
              <p:nvPr/>
            </p:nvSpPr>
            <p:spPr bwMode="auto">
              <a:xfrm>
                <a:off x="0" y="3157538"/>
                <a:ext cx="467762" cy="508000"/>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139" name="Gruppieren 138" descr="{&quot;Key&quot;:&quot;POWER_USER_SHAPE_ICON&quot;,&quot;Value&quot;:&quot;POWER_USER_SHAPE_ICON_STYLE_2&quot;}">
              <a:extLst>
                <a:ext uri="{FF2B5EF4-FFF2-40B4-BE49-F238E27FC236}">
                  <a16:creationId xmlns:a16="http://schemas.microsoft.com/office/drawing/2014/main" id="{624B0BF2-7933-5F7B-D33B-0A3C2CC52FE7}"/>
                </a:ext>
              </a:extLst>
            </p:cNvPr>
            <p:cNvGrpSpPr>
              <a:grpSpLocks noChangeAspect="1"/>
            </p:cNvGrpSpPr>
            <p:nvPr/>
          </p:nvGrpSpPr>
          <p:grpSpPr>
            <a:xfrm>
              <a:off x="1369937" y="4810589"/>
              <a:ext cx="288254" cy="288254"/>
              <a:chOff x="-158376" y="3030538"/>
              <a:chExt cx="762000" cy="762000"/>
            </a:xfrm>
          </p:grpSpPr>
          <p:sp>
            <p:nvSpPr>
              <p:cNvPr id="146" name="POWER_USER_SHAPE_ICON_STYLE_2">
                <a:extLst>
                  <a:ext uri="{FF2B5EF4-FFF2-40B4-BE49-F238E27FC236}">
                    <a16:creationId xmlns:a16="http://schemas.microsoft.com/office/drawing/2014/main" id="{B554CF6C-12A2-E017-A2D9-5B7E3A289450}"/>
                  </a:ext>
                </a:extLst>
              </p:cNvPr>
              <p:cNvSpPr/>
              <p:nvPr/>
            </p:nvSpPr>
            <p:spPr>
              <a:xfrm>
                <a:off x="-158376" y="3030538"/>
                <a:ext cx="762000" cy="7620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47" name="Flame3" descr="{&quot;Key&quot;:&quot;POWER_USER_SHAPE_ICON&quot;,&quot;Value&quot;:&quot;POWER_USER_SHAPE_ICON_STYLE_1&quot;}">
                <a:extLst>
                  <a:ext uri="{FF2B5EF4-FFF2-40B4-BE49-F238E27FC236}">
                    <a16:creationId xmlns:a16="http://schemas.microsoft.com/office/drawing/2014/main" id="{E4DE2D57-DC75-590C-AE3C-7A8CEBF48603}"/>
                  </a:ext>
                </a:extLst>
              </p:cNvPr>
              <p:cNvSpPr>
                <a:spLocks noChangeAspect="1"/>
              </p:cNvSpPr>
              <p:nvPr>
                <p:custDataLst>
                  <p:tags r:id="rId23"/>
                </p:custDataLst>
              </p:nvPr>
            </p:nvSpPr>
            <p:spPr bwMode="auto">
              <a:xfrm>
                <a:off x="1" y="3157538"/>
                <a:ext cx="445247" cy="508000"/>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140" name="Gruppieren 139" descr="{&quot;Key&quot;:&quot;POWER_USER_SHAPE_ICON&quot;,&quot;Value&quot;:&quot;POWER_USER_SHAPE_ICON_STYLE_2&quot;}">
              <a:extLst>
                <a:ext uri="{FF2B5EF4-FFF2-40B4-BE49-F238E27FC236}">
                  <a16:creationId xmlns:a16="http://schemas.microsoft.com/office/drawing/2014/main" id="{E644156A-5EC9-93ED-687D-AF6CE7F16411}"/>
                </a:ext>
              </a:extLst>
            </p:cNvPr>
            <p:cNvGrpSpPr>
              <a:grpSpLocks noChangeAspect="1"/>
            </p:cNvGrpSpPr>
            <p:nvPr/>
          </p:nvGrpSpPr>
          <p:grpSpPr>
            <a:xfrm>
              <a:off x="1612540" y="4824795"/>
              <a:ext cx="269867" cy="269867"/>
              <a:chOff x="-127000" y="2980451"/>
              <a:chExt cx="762000" cy="762000"/>
            </a:xfrm>
          </p:grpSpPr>
          <p:sp>
            <p:nvSpPr>
              <p:cNvPr id="141" name="POWER_USER_SHAPE_ICON_STYLE_2">
                <a:extLst>
                  <a:ext uri="{FF2B5EF4-FFF2-40B4-BE49-F238E27FC236}">
                    <a16:creationId xmlns:a16="http://schemas.microsoft.com/office/drawing/2014/main" id="{DE3A94E9-3830-6B35-8B03-D593508555FD}"/>
                  </a:ext>
                </a:extLst>
              </p:cNvPr>
              <p:cNvSpPr/>
              <p:nvPr/>
            </p:nvSpPr>
            <p:spPr>
              <a:xfrm>
                <a:off x="-127000" y="2980451"/>
                <a:ext cx="762000" cy="76200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142" name="Gruppieren 141">
                <a:extLst>
                  <a:ext uri="{FF2B5EF4-FFF2-40B4-BE49-F238E27FC236}">
                    <a16:creationId xmlns:a16="http://schemas.microsoft.com/office/drawing/2014/main" id="{50639644-BD62-AAB9-F9C0-BB34E0D7A8B2}"/>
                  </a:ext>
                </a:extLst>
              </p:cNvPr>
              <p:cNvGrpSpPr>
                <a:grpSpLocks noChangeAspect="1"/>
              </p:cNvGrpSpPr>
              <p:nvPr/>
            </p:nvGrpSpPr>
            <p:grpSpPr>
              <a:xfrm>
                <a:off x="0" y="3157538"/>
                <a:ext cx="508000" cy="407826"/>
                <a:chOff x="0" y="3157538"/>
                <a:chExt cx="676283" cy="542925"/>
              </a:xfrm>
            </p:grpSpPr>
            <p:sp>
              <p:nvSpPr>
                <p:cNvPr id="143" name="Freeform 284">
                  <a:extLst>
                    <a:ext uri="{FF2B5EF4-FFF2-40B4-BE49-F238E27FC236}">
                      <a16:creationId xmlns:a16="http://schemas.microsoft.com/office/drawing/2014/main" id="{3375477C-0C00-B67C-77B0-45701125FFD3}"/>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44" name="Freeform 285">
                  <a:extLst>
                    <a:ext uri="{FF2B5EF4-FFF2-40B4-BE49-F238E27FC236}">
                      <a16:creationId xmlns:a16="http://schemas.microsoft.com/office/drawing/2014/main" id="{0D956F61-7409-FFA0-BE5A-EEBA4CF645FE}"/>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145" name="Freeform 286">
                  <a:extLst>
                    <a:ext uri="{FF2B5EF4-FFF2-40B4-BE49-F238E27FC236}">
                      <a16:creationId xmlns:a16="http://schemas.microsoft.com/office/drawing/2014/main" id="{4487C1EF-C3AC-8FC1-3FB5-6AC3415C257D}"/>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grpSp>
        <p:nvGrpSpPr>
          <p:cNvPr id="150" name="Gruppieren 149" descr="{&quot;Key&quot;:&quot;POWER_USER_SHAPE_ICON&quot;,&quot;Value&quot;:&quot;POWER_USER_SHAPE_ICON_STYLE_2&quot;}">
            <a:extLst>
              <a:ext uri="{FF2B5EF4-FFF2-40B4-BE49-F238E27FC236}">
                <a16:creationId xmlns:a16="http://schemas.microsoft.com/office/drawing/2014/main" id="{72C251A2-129B-3290-7F45-3F40BF55CB89}"/>
              </a:ext>
            </a:extLst>
          </p:cNvPr>
          <p:cNvGrpSpPr>
            <a:grpSpLocks noChangeAspect="1"/>
          </p:cNvGrpSpPr>
          <p:nvPr/>
        </p:nvGrpSpPr>
        <p:grpSpPr>
          <a:xfrm>
            <a:off x="10121010" y="3387946"/>
            <a:ext cx="332846" cy="332846"/>
            <a:chOff x="6103281" y="1370067"/>
            <a:chExt cx="762000" cy="762000"/>
          </a:xfrm>
        </p:grpSpPr>
        <p:sp>
          <p:nvSpPr>
            <p:cNvPr id="151" name="POWER_USER_SHAPE_ICON_STYLE_2">
              <a:extLst>
                <a:ext uri="{FF2B5EF4-FFF2-40B4-BE49-F238E27FC236}">
                  <a16:creationId xmlns:a16="http://schemas.microsoft.com/office/drawing/2014/main" id="{5F346254-C885-BD1C-7BE6-935A3BFD7380}"/>
                </a:ext>
              </a:extLst>
            </p:cNvPr>
            <p:cNvSpPr/>
            <p:nvPr/>
          </p:nvSpPr>
          <p:spPr>
            <a:xfrm>
              <a:off x="6103281" y="1370067"/>
              <a:ext cx="762000" cy="762000"/>
            </a:xfrm>
            <a:prstGeom prst="ellipse">
              <a:avLst/>
            </a:prstGeom>
            <a:solidFill>
              <a:srgbClr val="00B05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52" name="Solar_panel2" descr="{&quot;Key&quot;:&quot;POWER_USER_SHAPE_ICON&quot;,&quot;Value&quot;:&quot;POWER_USER_SHAPE_ICON_STYLE_1&quot;}">
              <a:extLst>
                <a:ext uri="{FF2B5EF4-FFF2-40B4-BE49-F238E27FC236}">
                  <a16:creationId xmlns:a16="http://schemas.microsoft.com/office/drawing/2014/main" id="{2B0F8B1B-971B-2635-5F1B-F792B81EA773}"/>
                </a:ext>
              </a:extLst>
            </p:cNvPr>
            <p:cNvSpPr>
              <a:spLocks noChangeAspect="1" noEditPoints="1"/>
            </p:cNvSpPr>
            <p:nvPr>
              <p:custDataLst>
                <p:tags r:id="rId22"/>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sp>
        <p:nvSpPr>
          <p:cNvPr id="153" name="Rechteck 152">
            <a:extLst>
              <a:ext uri="{FF2B5EF4-FFF2-40B4-BE49-F238E27FC236}">
                <a16:creationId xmlns:a16="http://schemas.microsoft.com/office/drawing/2014/main" id="{727B5CC9-64C1-3DBA-F691-2772675AA273}"/>
              </a:ext>
            </a:extLst>
          </p:cNvPr>
          <p:cNvSpPr/>
          <p:nvPr/>
        </p:nvSpPr>
        <p:spPr bwMode="auto">
          <a:xfrm>
            <a:off x="9276927" y="4522346"/>
            <a:ext cx="943409" cy="415498"/>
          </a:xfrm>
          <a:prstGeom prst="rect">
            <a:avLst/>
          </a:prstGeom>
        </p:spPr>
        <p:txBody>
          <a:bodyPr wrap="square">
            <a:spAutoFit/>
          </a:bodyPr>
          <a:lstStyle/>
          <a:p>
            <a:pPr algn="r" defTabSz="685754">
              <a:defRPr/>
            </a:pPr>
            <a:r>
              <a:rPr lang="de-DE" sz="1050" noProof="1">
                <a:solidFill>
                  <a:srgbClr val="0070C0"/>
                </a:solidFill>
                <a:latin typeface="Bahnschrift" panose="020B0502040204020203" pitchFamily="34" charset="0"/>
              </a:rPr>
              <a:t>EMIM</a:t>
            </a:r>
          </a:p>
          <a:p>
            <a:pPr defTabSz="685754">
              <a:defRPr/>
            </a:pPr>
            <a:endParaRPr lang="de-DE" sz="1050" noProof="1">
              <a:solidFill>
                <a:srgbClr val="0070C0"/>
              </a:solidFill>
              <a:latin typeface="Bahnschrift" panose="020B0502040204020203" pitchFamily="34" charset="0"/>
            </a:endParaRPr>
          </a:p>
        </p:txBody>
      </p:sp>
      <p:sp>
        <p:nvSpPr>
          <p:cNvPr id="154" name="Rechteck 153">
            <a:extLst>
              <a:ext uri="{FF2B5EF4-FFF2-40B4-BE49-F238E27FC236}">
                <a16:creationId xmlns:a16="http://schemas.microsoft.com/office/drawing/2014/main" id="{91B080ED-B812-C75A-64CC-8F723ED34DFF}"/>
              </a:ext>
            </a:extLst>
          </p:cNvPr>
          <p:cNvSpPr/>
          <p:nvPr/>
        </p:nvSpPr>
        <p:spPr bwMode="auto">
          <a:xfrm>
            <a:off x="9326044" y="3360427"/>
            <a:ext cx="1764865" cy="2087356"/>
          </a:xfrm>
          <a:prstGeom prst="rect">
            <a:avLst/>
          </a:prstGeom>
          <a:noFill/>
          <a:ln w="28575" cap="flat" cmpd="sng" algn="ctr">
            <a:solidFill>
              <a:srgbClr val="F59C00"/>
            </a:solidFill>
            <a:prstDash val="sysDot"/>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155" name="Gruppieren 154" descr="{&quot;Key&quot;:&quot;POWER_USER_SHAPE_ICON&quot;,&quot;Value&quot;:&quot;POWER_USER_SHAPE_ICON_STYLE_2&quot;}">
            <a:extLst>
              <a:ext uri="{FF2B5EF4-FFF2-40B4-BE49-F238E27FC236}">
                <a16:creationId xmlns:a16="http://schemas.microsoft.com/office/drawing/2014/main" id="{BB58ED1C-CE09-1301-FE54-57F0805148C0}"/>
              </a:ext>
            </a:extLst>
          </p:cNvPr>
          <p:cNvGrpSpPr>
            <a:grpSpLocks noChangeAspect="1"/>
          </p:cNvGrpSpPr>
          <p:nvPr/>
        </p:nvGrpSpPr>
        <p:grpSpPr>
          <a:xfrm>
            <a:off x="10211099" y="4506482"/>
            <a:ext cx="283747" cy="283747"/>
            <a:chOff x="-127000" y="2976049"/>
            <a:chExt cx="762000" cy="762000"/>
          </a:xfrm>
        </p:grpSpPr>
        <p:sp>
          <p:nvSpPr>
            <p:cNvPr id="156" name="POWER_USER_SHAPE_ICON_STYLE_2">
              <a:extLst>
                <a:ext uri="{FF2B5EF4-FFF2-40B4-BE49-F238E27FC236}">
                  <a16:creationId xmlns:a16="http://schemas.microsoft.com/office/drawing/2014/main" id="{9F99BF32-DC2B-0B68-DB01-7994B0BD5069}"/>
                </a:ext>
              </a:extLst>
            </p:cNvPr>
            <p:cNvSpPr/>
            <p:nvPr/>
          </p:nvSpPr>
          <p:spPr>
            <a:xfrm>
              <a:off x="-127000" y="2976049"/>
              <a:ext cx="762000" cy="762000"/>
            </a:xfrm>
            <a:prstGeom prst="ellipse">
              <a:avLst/>
            </a:prstGeom>
            <a:solidFill>
              <a:srgbClr val="FFFFFF">
                <a:lumMod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57" name="Scooter" descr="{&quot;Key&quot;:&quot;POWER_USER_SHAPE_ICON&quot;,&quot;Value&quot;:&quot;POWER_USER_SHAPE_ICON_STYLE_1&quot;}">
              <a:extLst>
                <a:ext uri="{FF2B5EF4-FFF2-40B4-BE49-F238E27FC236}">
                  <a16:creationId xmlns:a16="http://schemas.microsoft.com/office/drawing/2014/main" id="{116D99FE-A3CF-34E9-9871-779558A1FB3F}"/>
                </a:ext>
              </a:extLst>
            </p:cNvPr>
            <p:cNvSpPr>
              <a:spLocks noChangeAspect="1" noEditPoints="1"/>
            </p:cNvSpPr>
            <p:nvPr>
              <p:custDataLst>
                <p:tags r:id="rId21"/>
              </p:custDataLst>
            </p:nvPr>
          </p:nvSpPr>
          <p:spPr bwMode="auto">
            <a:xfrm>
              <a:off x="0" y="3157538"/>
              <a:ext cx="508000" cy="399021"/>
            </a:xfrm>
            <a:custGeom>
              <a:avLst/>
              <a:gdLst>
                <a:gd name="T0" fmla="*/ 602 w 829"/>
                <a:gd name="T1" fmla="*/ 522 h 650"/>
                <a:gd name="T2" fmla="*/ 649 w 829"/>
                <a:gd name="T3" fmla="*/ 462 h 650"/>
                <a:gd name="T4" fmla="*/ 726 w 829"/>
                <a:gd name="T5" fmla="*/ 522 h 650"/>
                <a:gd name="T6" fmla="*/ 397 w 829"/>
                <a:gd name="T7" fmla="*/ 484 h 650"/>
                <a:gd name="T8" fmla="*/ 281 w 829"/>
                <a:gd name="T9" fmla="*/ 367 h 650"/>
                <a:gd name="T10" fmla="*/ 406 w 829"/>
                <a:gd name="T11" fmla="*/ 484 h 650"/>
                <a:gd name="T12" fmla="*/ 200 w 829"/>
                <a:gd name="T13" fmla="*/ 584 h 650"/>
                <a:gd name="T14" fmla="*/ 255 w 829"/>
                <a:gd name="T15" fmla="*/ 550 h 650"/>
                <a:gd name="T16" fmla="*/ 688 w 829"/>
                <a:gd name="T17" fmla="*/ 345 h 650"/>
                <a:gd name="T18" fmla="*/ 417 w 829"/>
                <a:gd name="T19" fmla="*/ 0 h 650"/>
                <a:gd name="T20" fmla="*/ 332 w 829"/>
                <a:gd name="T21" fmla="*/ 34 h 650"/>
                <a:gd name="T22" fmla="*/ 407 w 829"/>
                <a:gd name="T23" fmla="*/ 67 h 650"/>
                <a:gd name="T24" fmla="*/ 528 w 829"/>
                <a:gd name="T25" fmla="*/ 430 h 650"/>
                <a:gd name="T26" fmla="*/ 398 w 829"/>
                <a:gd name="T27" fmla="*/ 274 h 650"/>
                <a:gd name="T28" fmla="*/ 64 w 829"/>
                <a:gd name="T29" fmla="*/ 307 h 650"/>
                <a:gd name="T30" fmla="*/ 139 w 829"/>
                <a:gd name="T31" fmla="*/ 341 h 650"/>
                <a:gd name="T32" fmla="*/ 1 w 829"/>
                <a:gd name="T33" fmla="*/ 511 h 650"/>
                <a:gd name="T34" fmla="*/ 0 w 829"/>
                <a:gd name="T35" fmla="*/ 518 h 650"/>
                <a:gd name="T36" fmla="*/ 1 w 829"/>
                <a:gd name="T37" fmla="*/ 526 h 650"/>
                <a:gd name="T38" fmla="*/ 5 w 829"/>
                <a:gd name="T39" fmla="*/ 533 h 650"/>
                <a:gd name="T40" fmla="*/ 6 w 829"/>
                <a:gd name="T41" fmla="*/ 536 h 650"/>
                <a:gd name="T42" fmla="*/ 9 w 829"/>
                <a:gd name="T43" fmla="*/ 540 h 650"/>
                <a:gd name="T44" fmla="*/ 16 w 829"/>
                <a:gd name="T45" fmla="*/ 545 h 650"/>
                <a:gd name="T46" fmla="*/ 23 w 829"/>
                <a:gd name="T47" fmla="*/ 548 h 650"/>
                <a:gd name="T48" fmla="*/ 33 w 829"/>
                <a:gd name="T49" fmla="*/ 550 h 650"/>
                <a:gd name="T50" fmla="*/ 200 w 829"/>
                <a:gd name="T51" fmla="*/ 650 h 650"/>
                <a:gd name="T52" fmla="*/ 440 w 829"/>
                <a:gd name="T53" fmla="*/ 550 h 650"/>
                <a:gd name="T54" fmla="*/ 440 w 829"/>
                <a:gd name="T55" fmla="*/ 550 h 650"/>
                <a:gd name="T56" fmla="*/ 506 w 829"/>
                <a:gd name="T57" fmla="*/ 550 h 650"/>
                <a:gd name="T58" fmla="*/ 537 w 829"/>
                <a:gd name="T59" fmla="*/ 536 h 650"/>
                <a:gd name="T60" fmla="*/ 793 w 829"/>
                <a:gd name="T61" fmla="*/ 522 h 650"/>
                <a:gd name="T62" fmla="*/ 800 w 829"/>
                <a:gd name="T63" fmla="*/ 516 h 650"/>
                <a:gd name="T64" fmla="*/ 688 w 829"/>
                <a:gd name="T65" fmla="*/ 345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29" h="650">
                  <a:moveTo>
                    <a:pt x="664" y="584"/>
                  </a:moveTo>
                  <a:cubicBezTo>
                    <a:pt x="630" y="584"/>
                    <a:pt x="602" y="556"/>
                    <a:pt x="602" y="522"/>
                  </a:cubicBezTo>
                  <a:cubicBezTo>
                    <a:pt x="602" y="508"/>
                    <a:pt x="607" y="495"/>
                    <a:pt x="615" y="484"/>
                  </a:cubicBezTo>
                  <a:lnTo>
                    <a:pt x="649" y="462"/>
                  </a:lnTo>
                  <a:cubicBezTo>
                    <a:pt x="654" y="461"/>
                    <a:pt x="659" y="460"/>
                    <a:pt x="664" y="460"/>
                  </a:cubicBezTo>
                  <a:cubicBezTo>
                    <a:pt x="698" y="460"/>
                    <a:pt x="726" y="488"/>
                    <a:pt x="726" y="522"/>
                  </a:cubicBezTo>
                  <a:cubicBezTo>
                    <a:pt x="726" y="556"/>
                    <a:pt x="698" y="584"/>
                    <a:pt x="664" y="584"/>
                  </a:cubicBezTo>
                  <a:close/>
                  <a:moveTo>
                    <a:pt x="397" y="484"/>
                  </a:moveTo>
                  <a:lnTo>
                    <a:pt x="90" y="484"/>
                  </a:lnTo>
                  <a:cubicBezTo>
                    <a:pt x="122" y="436"/>
                    <a:pt x="185" y="367"/>
                    <a:pt x="281" y="367"/>
                  </a:cubicBezTo>
                  <a:cubicBezTo>
                    <a:pt x="320" y="367"/>
                    <a:pt x="350" y="378"/>
                    <a:pt x="371" y="400"/>
                  </a:cubicBezTo>
                  <a:cubicBezTo>
                    <a:pt x="394" y="425"/>
                    <a:pt x="402" y="459"/>
                    <a:pt x="406" y="484"/>
                  </a:cubicBezTo>
                  <a:lnTo>
                    <a:pt x="397" y="484"/>
                  </a:lnTo>
                  <a:close/>
                  <a:moveTo>
                    <a:pt x="200" y="584"/>
                  </a:moveTo>
                  <a:cubicBezTo>
                    <a:pt x="176" y="584"/>
                    <a:pt x="156" y="570"/>
                    <a:pt x="145" y="550"/>
                  </a:cubicBezTo>
                  <a:lnTo>
                    <a:pt x="255" y="550"/>
                  </a:lnTo>
                  <a:cubicBezTo>
                    <a:pt x="244" y="570"/>
                    <a:pt x="224" y="584"/>
                    <a:pt x="200" y="584"/>
                  </a:cubicBezTo>
                  <a:close/>
                  <a:moveTo>
                    <a:pt x="688" y="345"/>
                  </a:moveTo>
                  <a:cubicBezTo>
                    <a:pt x="692" y="276"/>
                    <a:pt x="664" y="143"/>
                    <a:pt x="434" y="5"/>
                  </a:cubicBezTo>
                  <a:cubicBezTo>
                    <a:pt x="429" y="2"/>
                    <a:pt x="423" y="0"/>
                    <a:pt x="417" y="0"/>
                  </a:cubicBezTo>
                  <a:lnTo>
                    <a:pt x="365" y="0"/>
                  </a:lnTo>
                  <a:cubicBezTo>
                    <a:pt x="346" y="0"/>
                    <a:pt x="332" y="15"/>
                    <a:pt x="332" y="34"/>
                  </a:cubicBezTo>
                  <a:cubicBezTo>
                    <a:pt x="332" y="52"/>
                    <a:pt x="346" y="67"/>
                    <a:pt x="365" y="67"/>
                  </a:cubicBezTo>
                  <a:lnTo>
                    <a:pt x="407" y="67"/>
                  </a:lnTo>
                  <a:cubicBezTo>
                    <a:pt x="591" y="179"/>
                    <a:pt x="637" y="293"/>
                    <a:pt x="618" y="362"/>
                  </a:cubicBezTo>
                  <a:cubicBezTo>
                    <a:pt x="606" y="403"/>
                    <a:pt x="571" y="430"/>
                    <a:pt x="528" y="430"/>
                  </a:cubicBezTo>
                  <a:cubicBezTo>
                    <a:pt x="441" y="430"/>
                    <a:pt x="431" y="310"/>
                    <a:pt x="431" y="305"/>
                  </a:cubicBezTo>
                  <a:cubicBezTo>
                    <a:pt x="430" y="288"/>
                    <a:pt x="415" y="274"/>
                    <a:pt x="398" y="274"/>
                  </a:cubicBezTo>
                  <a:lnTo>
                    <a:pt x="98" y="274"/>
                  </a:lnTo>
                  <a:cubicBezTo>
                    <a:pt x="79" y="274"/>
                    <a:pt x="64" y="289"/>
                    <a:pt x="64" y="307"/>
                  </a:cubicBezTo>
                  <a:cubicBezTo>
                    <a:pt x="64" y="326"/>
                    <a:pt x="79" y="341"/>
                    <a:pt x="98" y="341"/>
                  </a:cubicBezTo>
                  <a:lnTo>
                    <a:pt x="139" y="341"/>
                  </a:lnTo>
                  <a:cubicBezTo>
                    <a:pt x="56" y="380"/>
                    <a:pt x="14" y="460"/>
                    <a:pt x="1" y="509"/>
                  </a:cubicBezTo>
                  <a:cubicBezTo>
                    <a:pt x="1" y="509"/>
                    <a:pt x="1" y="510"/>
                    <a:pt x="1" y="511"/>
                  </a:cubicBezTo>
                  <a:cubicBezTo>
                    <a:pt x="1" y="512"/>
                    <a:pt x="0" y="513"/>
                    <a:pt x="0" y="514"/>
                  </a:cubicBezTo>
                  <a:cubicBezTo>
                    <a:pt x="0" y="516"/>
                    <a:pt x="0" y="517"/>
                    <a:pt x="0" y="518"/>
                  </a:cubicBezTo>
                  <a:cubicBezTo>
                    <a:pt x="0" y="520"/>
                    <a:pt x="0" y="521"/>
                    <a:pt x="1" y="522"/>
                  </a:cubicBezTo>
                  <a:cubicBezTo>
                    <a:pt x="1" y="523"/>
                    <a:pt x="1" y="525"/>
                    <a:pt x="1" y="526"/>
                  </a:cubicBezTo>
                  <a:cubicBezTo>
                    <a:pt x="2" y="527"/>
                    <a:pt x="2" y="528"/>
                    <a:pt x="3" y="529"/>
                  </a:cubicBezTo>
                  <a:cubicBezTo>
                    <a:pt x="3" y="531"/>
                    <a:pt x="4" y="532"/>
                    <a:pt x="5" y="533"/>
                  </a:cubicBezTo>
                  <a:cubicBezTo>
                    <a:pt x="5" y="534"/>
                    <a:pt x="5" y="535"/>
                    <a:pt x="6" y="536"/>
                  </a:cubicBezTo>
                  <a:cubicBezTo>
                    <a:pt x="6" y="536"/>
                    <a:pt x="6" y="536"/>
                    <a:pt x="6" y="536"/>
                  </a:cubicBezTo>
                  <a:cubicBezTo>
                    <a:pt x="7" y="537"/>
                    <a:pt x="7" y="537"/>
                    <a:pt x="7" y="537"/>
                  </a:cubicBezTo>
                  <a:cubicBezTo>
                    <a:pt x="8" y="538"/>
                    <a:pt x="9" y="539"/>
                    <a:pt x="9" y="540"/>
                  </a:cubicBezTo>
                  <a:cubicBezTo>
                    <a:pt x="10" y="541"/>
                    <a:pt x="11" y="541"/>
                    <a:pt x="12" y="542"/>
                  </a:cubicBezTo>
                  <a:cubicBezTo>
                    <a:pt x="13" y="543"/>
                    <a:pt x="14" y="544"/>
                    <a:pt x="16" y="545"/>
                  </a:cubicBezTo>
                  <a:cubicBezTo>
                    <a:pt x="16" y="545"/>
                    <a:pt x="17" y="546"/>
                    <a:pt x="18" y="547"/>
                  </a:cubicBezTo>
                  <a:cubicBezTo>
                    <a:pt x="20" y="547"/>
                    <a:pt x="21" y="548"/>
                    <a:pt x="23" y="548"/>
                  </a:cubicBezTo>
                  <a:cubicBezTo>
                    <a:pt x="24" y="549"/>
                    <a:pt x="25" y="549"/>
                    <a:pt x="25" y="549"/>
                  </a:cubicBezTo>
                  <a:cubicBezTo>
                    <a:pt x="28" y="550"/>
                    <a:pt x="31" y="550"/>
                    <a:pt x="33" y="550"/>
                  </a:cubicBezTo>
                  <a:lnTo>
                    <a:pt x="75" y="550"/>
                  </a:lnTo>
                  <a:cubicBezTo>
                    <a:pt x="88" y="608"/>
                    <a:pt x="139" y="650"/>
                    <a:pt x="200" y="650"/>
                  </a:cubicBezTo>
                  <a:cubicBezTo>
                    <a:pt x="261" y="650"/>
                    <a:pt x="312" y="608"/>
                    <a:pt x="325" y="550"/>
                  </a:cubicBezTo>
                  <a:lnTo>
                    <a:pt x="440" y="550"/>
                  </a:lnTo>
                  <a:lnTo>
                    <a:pt x="440" y="550"/>
                  </a:lnTo>
                  <a:lnTo>
                    <a:pt x="440" y="550"/>
                  </a:lnTo>
                  <a:lnTo>
                    <a:pt x="441" y="550"/>
                  </a:lnTo>
                  <a:lnTo>
                    <a:pt x="506" y="550"/>
                  </a:lnTo>
                  <a:cubicBezTo>
                    <a:pt x="512" y="550"/>
                    <a:pt x="519" y="548"/>
                    <a:pt x="524" y="545"/>
                  </a:cubicBezTo>
                  <a:lnTo>
                    <a:pt x="537" y="536"/>
                  </a:lnTo>
                  <a:cubicBezTo>
                    <a:pt x="544" y="601"/>
                    <a:pt x="598" y="650"/>
                    <a:pt x="664" y="650"/>
                  </a:cubicBezTo>
                  <a:cubicBezTo>
                    <a:pt x="735" y="650"/>
                    <a:pt x="793" y="593"/>
                    <a:pt x="793" y="522"/>
                  </a:cubicBezTo>
                  <a:cubicBezTo>
                    <a:pt x="793" y="520"/>
                    <a:pt x="793" y="519"/>
                    <a:pt x="793" y="517"/>
                  </a:cubicBezTo>
                  <a:cubicBezTo>
                    <a:pt x="795" y="517"/>
                    <a:pt x="798" y="517"/>
                    <a:pt x="800" y="516"/>
                  </a:cubicBezTo>
                  <a:cubicBezTo>
                    <a:pt x="818" y="511"/>
                    <a:pt x="829" y="493"/>
                    <a:pt x="824" y="475"/>
                  </a:cubicBezTo>
                  <a:cubicBezTo>
                    <a:pt x="801" y="388"/>
                    <a:pt x="728" y="356"/>
                    <a:pt x="688" y="345"/>
                  </a:cubicBez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158" name="Gruppieren 157" descr="{&quot;Key&quot;:&quot;POWER_USER_SHAPE_ICON&quot;,&quot;Value&quot;:&quot;POWER_USER_SHAPE_ICON_STYLE_2&quot;}">
            <a:extLst>
              <a:ext uri="{FF2B5EF4-FFF2-40B4-BE49-F238E27FC236}">
                <a16:creationId xmlns:a16="http://schemas.microsoft.com/office/drawing/2014/main" id="{93292FFE-9E8D-DE3C-0CC2-0245065B0B2B}"/>
              </a:ext>
            </a:extLst>
          </p:cNvPr>
          <p:cNvGrpSpPr>
            <a:grpSpLocks noChangeAspect="1"/>
          </p:cNvGrpSpPr>
          <p:nvPr/>
        </p:nvGrpSpPr>
        <p:grpSpPr>
          <a:xfrm>
            <a:off x="10685539" y="4505279"/>
            <a:ext cx="306630" cy="306630"/>
            <a:chOff x="-127000" y="2990387"/>
            <a:chExt cx="762000" cy="762000"/>
          </a:xfrm>
        </p:grpSpPr>
        <p:sp>
          <p:nvSpPr>
            <p:cNvPr id="159" name="POWER_USER_SHAPE_ICON_STYLE_2">
              <a:extLst>
                <a:ext uri="{FF2B5EF4-FFF2-40B4-BE49-F238E27FC236}">
                  <a16:creationId xmlns:a16="http://schemas.microsoft.com/office/drawing/2014/main" id="{E7027B2D-E386-A5B0-BB42-6A8E88B4BB59}"/>
                </a:ext>
              </a:extLst>
            </p:cNvPr>
            <p:cNvSpPr/>
            <p:nvPr/>
          </p:nvSpPr>
          <p:spPr>
            <a:xfrm>
              <a:off x="-127000" y="2990387"/>
              <a:ext cx="762000" cy="762000"/>
            </a:xfrm>
            <a:prstGeom prst="ellipse">
              <a:avLst/>
            </a:prstGeom>
            <a:solidFill>
              <a:sysClr val="windowText" lastClr="000000">
                <a:lumMod val="50000"/>
                <a:lumOff val="50000"/>
              </a:sys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60" name="Car7" descr="{&quot;Key&quot;:&quot;POWER_USER_SHAPE_ICON&quot;,&quot;Value&quot;:&quot;POWER_USER_SHAPE_ICON_STYLE_1&quot;}">
              <a:extLst>
                <a:ext uri="{FF2B5EF4-FFF2-40B4-BE49-F238E27FC236}">
                  <a16:creationId xmlns:a16="http://schemas.microsoft.com/office/drawing/2014/main" id="{D86C25AC-DED6-3043-3A35-22577C81E40A}"/>
                </a:ext>
              </a:extLst>
            </p:cNvPr>
            <p:cNvSpPr>
              <a:spLocks noChangeAspect="1" noEditPoints="1"/>
            </p:cNvSpPr>
            <p:nvPr>
              <p:custDataLst>
                <p:tags r:id="rId20"/>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161" name="Gruppieren 160" descr="{&quot;Key&quot;:&quot;POWER_USER_SHAPE_ICON&quot;,&quot;Value&quot;:&quot;POWER_USER_SHAPE_ICON_STYLE_2&quot;}">
            <a:extLst>
              <a:ext uri="{FF2B5EF4-FFF2-40B4-BE49-F238E27FC236}">
                <a16:creationId xmlns:a16="http://schemas.microsoft.com/office/drawing/2014/main" id="{5C571A2F-73D6-5E82-66C4-5F05D47E4AEC}"/>
              </a:ext>
            </a:extLst>
          </p:cNvPr>
          <p:cNvGrpSpPr>
            <a:grpSpLocks noChangeAspect="1"/>
          </p:cNvGrpSpPr>
          <p:nvPr/>
        </p:nvGrpSpPr>
        <p:grpSpPr>
          <a:xfrm>
            <a:off x="10413200" y="4364709"/>
            <a:ext cx="349283" cy="349282"/>
            <a:chOff x="288345" y="3340831"/>
            <a:chExt cx="762000" cy="762000"/>
          </a:xfrm>
        </p:grpSpPr>
        <p:sp>
          <p:nvSpPr>
            <p:cNvPr id="162" name="POWER_USER_SHAPE_ICON_STYLE_2">
              <a:extLst>
                <a:ext uri="{FF2B5EF4-FFF2-40B4-BE49-F238E27FC236}">
                  <a16:creationId xmlns:a16="http://schemas.microsoft.com/office/drawing/2014/main" id="{D8A16F89-8E29-6590-B935-23D941AA6249}"/>
                </a:ext>
              </a:extLst>
            </p:cNvPr>
            <p:cNvSpPr/>
            <p:nvPr/>
          </p:nvSpPr>
          <p:spPr>
            <a:xfrm>
              <a:off x="288345" y="3340831"/>
              <a:ext cx="762000" cy="762000"/>
            </a:xfrm>
            <a:prstGeom prst="ellipse">
              <a:avLst/>
            </a:prstGeom>
            <a:solidFill>
              <a:srgbClr val="007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163" name="Electric_Car" descr="{&quot;Key&quot;:&quot;POWER_USER_SHAPE_ICON&quot;,&quot;Value&quot;:&quot;POWER_USER_SHAPE_ICON_STYLE_1&quot;}">
              <a:extLst>
                <a:ext uri="{FF2B5EF4-FFF2-40B4-BE49-F238E27FC236}">
                  <a16:creationId xmlns:a16="http://schemas.microsoft.com/office/drawing/2014/main" id="{9EA773BD-DD9F-02B0-2F68-C0C7ABB66CC5}"/>
                </a:ext>
              </a:extLst>
            </p:cNvPr>
            <p:cNvSpPr>
              <a:spLocks noChangeAspect="1" noEditPoints="1"/>
            </p:cNvSpPr>
            <p:nvPr>
              <p:custDataLst>
                <p:tags r:id="rId19"/>
              </p:custDataLst>
            </p:nvPr>
          </p:nvSpPr>
          <p:spPr bwMode="auto">
            <a:xfrm>
              <a:off x="415345" y="3593005"/>
              <a:ext cx="508000" cy="257651"/>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164" name="Gruppieren 163">
            <a:extLst>
              <a:ext uri="{FF2B5EF4-FFF2-40B4-BE49-F238E27FC236}">
                <a16:creationId xmlns:a16="http://schemas.microsoft.com/office/drawing/2014/main" id="{E4B508B4-DFEC-8C54-ECCB-266917248228}"/>
              </a:ext>
            </a:extLst>
          </p:cNvPr>
          <p:cNvGrpSpPr/>
          <p:nvPr/>
        </p:nvGrpSpPr>
        <p:grpSpPr>
          <a:xfrm>
            <a:off x="10688730" y="4969984"/>
            <a:ext cx="305538" cy="400524"/>
            <a:chOff x="0" y="3078492"/>
            <a:chExt cx="545343" cy="621971"/>
          </a:xfrm>
          <a:solidFill>
            <a:srgbClr val="0070C0"/>
          </a:solidFill>
        </p:grpSpPr>
        <p:grpSp>
          <p:nvGrpSpPr>
            <p:cNvPr id="165" name="Gruppieren 164">
              <a:extLst>
                <a:ext uri="{FF2B5EF4-FFF2-40B4-BE49-F238E27FC236}">
                  <a16:creationId xmlns:a16="http://schemas.microsoft.com/office/drawing/2014/main" id="{50F50560-FBE8-BD0C-0A28-CBC07C159B5A}"/>
                </a:ext>
              </a:extLst>
            </p:cNvPr>
            <p:cNvGrpSpPr/>
            <p:nvPr>
              <p:custDataLst>
                <p:tags r:id="rId18"/>
              </p:custDataLst>
            </p:nvPr>
          </p:nvGrpSpPr>
          <p:grpSpPr>
            <a:xfrm>
              <a:off x="0" y="3157538"/>
              <a:ext cx="545343" cy="542925"/>
              <a:chOff x="0" y="3157538"/>
              <a:chExt cx="545343" cy="542925"/>
            </a:xfrm>
            <a:grpFill/>
          </p:grpSpPr>
          <p:sp>
            <p:nvSpPr>
              <p:cNvPr id="167" name="Freeform 203">
                <a:extLst>
                  <a:ext uri="{FF2B5EF4-FFF2-40B4-BE49-F238E27FC236}">
                    <a16:creationId xmlns:a16="http://schemas.microsoft.com/office/drawing/2014/main" id="{0E0AC0FE-F17F-936A-D8B0-E4E112775BCD}"/>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168" name="Freeform 204">
                <a:extLst>
                  <a:ext uri="{FF2B5EF4-FFF2-40B4-BE49-F238E27FC236}">
                    <a16:creationId xmlns:a16="http://schemas.microsoft.com/office/drawing/2014/main" id="{E9738624-3437-4EF4-2D4E-93364EAB3305}"/>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169" name="Freeform 206">
                <a:extLst>
                  <a:ext uri="{FF2B5EF4-FFF2-40B4-BE49-F238E27FC236}">
                    <a16:creationId xmlns:a16="http://schemas.microsoft.com/office/drawing/2014/main" id="{A540BB5C-CC45-434C-C50A-2B736465AC26}"/>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grpSp>
        <p:sp>
          <p:nvSpPr>
            <p:cNvPr id="166" name="Freihandform 268">
              <a:extLst>
                <a:ext uri="{FF2B5EF4-FFF2-40B4-BE49-F238E27FC236}">
                  <a16:creationId xmlns:a16="http://schemas.microsoft.com/office/drawing/2014/main" id="{4ABA3E2C-F55D-B26B-FD1C-567E98979097}"/>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grp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Bahnschrift" panose="020B0502040204020203" pitchFamily="34" charset="0"/>
              </a:endParaRPr>
            </a:p>
          </p:txBody>
        </p:sp>
      </p:grpSp>
      <p:grpSp>
        <p:nvGrpSpPr>
          <p:cNvPr id="170" name="Gruppieren 169" descr="{&quot;Key&quot;:&quot;POWER_USER_SHAPE_ICON&quot;,&quot;Value&quot;:&quot;POWER_USER_SHAPE_ICON_STYLE_2&quot;}">
            <a:extLst>
              <a:ext uri="{FF2B5EF4-FFF2-40B4-BE49-F238E27FC236}">
                <a16:creationId xmlns:a16="http://schemas.microsoft.com/office/drawing/2014/main" id="{901D09F3-79C9-D699-F812-1D7C0EBCDFDF}"/>
              </a:ext>
            </a:extLst>
          </p:cNvPr>
          <p:cNvGrpSpPr>
            <a:grpSpLocks noChangeAspect="1"/>
          </p:cNvGrpSpPr>
          <p:nvPr/>
        </p:nvGrpSpPr>
        <p:grpSpPr>
          <a:xfrm>
            <a:off x="10745102" y="4969105"/>
            <a:ext cx="221314" cy="221316"/>
            <a:chOff x="-99093" y="3018292"/>
            <a:chExt cx="706188" cy="706192"/>
          </a:xfrm>
        </p:grpSpPr>
        <p:sp>
          <p:nvSpPr>
            <p:cNvPr id="171" name="POWER_USER_SHAPE_ICON_STYLE_2">
              <a:extLst>
                <a:ext uri="{FF2B5EF4-FFF2-40B4-BE49-F238E27FC236}">
                  <a16:creationId xmlns:a16="http://schemas.microsoft.com/office/drawing/2014/main" id="{0B5D45A3-4617-AC5E-F739-36A873B796F5}"/>
                </a:ext>
              </a:extLst>
            </p:cNvPr>
            <p:cNvSpPr/>
            <p:nvPr/>
          </p:nvSpPr>
          <p:spPr>
            <a:xfrm>
              <a:off x="-99093" y="3018292"/>
              <a:ext cx="706188" cy="706192"/>
            </a:xfrm>
            <a:prstGeom prst="ellipse">
              <a:avLst/>
            </a:prstGeom>
            <a:solidFill>
              <a:sysClr val="window" lastClr="FFFFFF"/>
            </a:solidFill>
            <a:ln w="28575" cap="flat" cmpd="sng" algn="ctr">
              <a:solidFill>
                <a:srgbClr val="0070C0"/>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sp>
          <p:nvSpPr>
            <p:cNvPr id="172" name="Car7" descr="{&quot;Key&quot;:&quot;POWER_USER_SHAPE_ICON&quot;,&quot;Value&quot;:&quot;POWER_USER_SHAPE_ICON_STYLE_1&quot;}">
              <a:extLst>
                <a:ext uri="{FF2B5EF4-FFF2-40B4-BE49-F238E27FC236}">
                  <a16:creationId xmlns:a16="http://schemas.microsoft.com/office/drawing/2014/main" id="{A870B038-7C2D-8E65-3275-EB9FFF5B519D}"/>
                </a:ext>
              </a:extLst>
            </p:cNvPr>
            <p:cNvSpPr>
              <a:spLocks noChangeAspect="1" noEditPoints="1"/>
            </p:cNvSpPr>
            <p:nvPr>
              <p:custDataLst>
                <p:tags r:id="rId17"/>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grpSp>
      <p:sp>
        <p:nvSpPr>
          <p:cNvPr id="173" name="Textfeld 172">
            <a:extLst>
              <a:ext uri="{FF2B5EF4-FFF2-40B4-BE49-F238E27FC236}">
                <a16:creationId xmlns:a16="http://schemas.microsoft.com/office/drawing/2014/main" id="{87762242-35E3-61F6-A75B-8F895F0A95FC}"/>
              </a:ext>
            </a:extLst>
          </p:cNvPr>
          <p:cNvSpPr txBox="1"/>
          <p:nvPr/>
        </p:nvSpPr>
        <p:spPr bwMode="auto">
          <a:xfrm>
            <a:off x="9300821" y="4784295"/>
            <a:ext cx="1159019" cy="707886"/>
          </a:xfrm>
          <a:prstGeom prst="rect">
            <a:avLst/>
          </a:prstGeom>
          <a:noFill/>
        </p:spPr>
        <p:txBody>
          <a:bodyPr wrap="square">
            <a:spAutoFit/>
          </a:bodyPr>
          <a:lstStyle/>
          <a:p>
            <a:pPr algn="r" defTabSz="914339">
              <a:defRPr/>
            </a:pPr>
            <a:r>
              <a:rPr lang="de-DE" sz="1000" noProof="1">
                <a:solidFill>
                  <a:srgbClr val="9954CC"/>
                </a:solidFill>
                <a:latin typeface="Bahnschrift" panose="020B0502040204020203" pitchFamily="34" charset="0"/>
              </a:rPr>
              <a:t>Kontextfaktor Bauliche Dichte, Sanierung &amp; Mobilität</a:t>
            </a:r>
          </a:p>
        </p:txBody>
      </p:sp>
      <p:grpSp>
        <p:nvGrpSpPr>
          <p:cNvPr id="174" name="Gruppieren 173">
            <a:extLst>
              <a:ext uri="{FF2B5EF4-FFF2-40B4-BE49-F238E27FC236}">
                <a16:creationId xmlns:a16="http://schemas.microsoft.com/office/drawing/2014/main" id="{475AB757-6589-10D3-5B6E-D933CE1D5E10}"/>
              </a:ext>
            </a:extLst>
          </p:cNvPr>
          <p:cNvGrpSpPr/>
          <p:nvPr/>
        </p:nvGrpSpPr>
        <p:grpSpPr>
          <a:xfrm>
            <a:off x="10405838" y="4947861"/>
            <a:ext cx="320539" cy="420190"/>
            <a:chOff x="9018358" y="3729507"/>
            <a:chExt cx="512820" cy="672248"/>
          </a:xfrm>
        </p:grpSpPr>
        <p:grpSp>
          <p:nvGrpSpPr>
            <p:cNvPr id="175" name="Gruppieren 174">
              <a:extLst>
                <a:ext uri="{FF2B5EF4-FFF2-40B4-BE49-F238E27FC236}">
                  <a16:creationId xmlns:a16="http://schemas.microsoft.com/office/drawing/2014/main" id="{3417A42E-A94E-568E-DA1F-CCE911DC4137}"/>
                </a:ext>
              </a:extLst>
            </p:cNvPr>
            <p:cNvGrpSpPr/>
            <p:nvPr/>
          </p:nvGrpSpPr>
          <p:grpSpPr>
            <a:xfrm>
              <a:off x="9018358" y="3729507"/>
              <a:ext cx="512820" cy="672248"/>
              <a:chOff x="0" y="3078492"/>
              <a:chExt cx="545343" cy="621971"/>
            </a:xfrm>
          </p:grpSpPr>
          <p:grpSp>
            <p:nvGrpSpPr>
              <p:cNvPr id="179" name="Gruppieren 178">
                <a:extLst>
                  <a:ext uri="{FF2B5EF4-FFF2-40B4-BE49-F238E27FC236}">
                    <a16:creationId xmlns:a16="http://schemas.microsoft.com/office/drawing/2014/main" id="{BB2AC390-1EB5-5EEC-8E80-D48035F735EF}"/>
                  </a:ext>
                </a:extLst>
              </p:cNvPr>
              <p:cNvGrpSpPr/>
              <p:nvPr>
                <p:custDataLst>
                  <p:tags r:id="rId15"/>
                </p:custDataLst>
              </p:nvPr>
            </p:nvGrpSpPr>
            <p:grpSpPr>
              <a:xfrm>
                <a:off x="0" y="3157538"/>
                <a:ext cx="545343" cy="542925"/>
                <a:chOff x="0" y="3157538"/>
                <a:chExt cx="545343" cy="542925"/>
              </a:xfrm>
              <a:solidFill>
                <a:srgbClr val="9954CC"/>
              </a:solidFill>
            </p:grpSpPr>
            <p:sp>
              <p:nvSpPr>
                <p:cNvPr id="182" name="Freeform 203">
                  <a:extLst>
                    <a:ext uri="{FF2B5EF4-FFF2-40B4-BE49-F238E27FC236}">
                      <a16:creationId xmlns:a16="http://schemas.microsoft.com/office/drawing/2014/main" id="{E2A725E3-9035-400F-7839-68AC7F2199E3}"/>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183" name="Freeform 204">
                  <a:extLst>
                    <a:ext uri="{FF2B5EF4-FFF2-40B4-BE49-F238E27FC236}">
                      <a16:creationId xmlns:a16="http://schemas.microsoft.com/office/drawing/2014/main" id="{67D7D8EF-330D-2591-7A09-7E5705D5C1CC}"/>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184" name="Freeform 206">
                  <a:extLst>
                    <a:ext uri="{FF2B5EF4-FFF2-40B4-BE49-F238E27FC236}">
                      <a16:creationId xmlns:a16="http://schemas.microsoft.com/office/drawing/2014/main" id="{60AFB786-9834-F812-C967-C4A26034A235}"/>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grpSp>
          <p:sp>
            <p:nvSpPr>
              <p:cNvPr id="180" name="Freihandform 240">
                <a:extLst>
                  <a:ext uri="{FF2B5EF4-FFF2-40B4-BE49-F238E27FC236}">
                    <a16:creationId xmlns:a16="http://schemas.microsoft.com/office/drawing/2014/main" id="{150EB74B-D1EA-732B-8B7D-8AE82B7B3512}"/>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solidFill>
                <a:sysClr val="window" lastClr="FFFFFF"/>
              </a:solid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Bahnschrift" panose="020B0502040204020203" pitchFamily="34" charset="0"/>
                </a:endParaRPr>
              </a:p>
            </p:txBody>
          </p:sp>
          <p:sp>
            <p:nvSpPr>
              <p:cNvPr id="181" name="Bolt3" descr="{&quot;Key&quot;:&quot;POWER_USER_SHAPE_ICON&quot;,&quot;Value&quot;:&quot;POWER_USER_SHAPE_ICON_STYLE_1&quot;}">
                <a:extLst>
                  <a:ext uri="{FF2B5EF4-FFF2-40B4-BE49-F238E27FC236}">
                    <a16:creationId xmlns:a16="http://schemas.microsoft.com/office/drawing/2014/main" id="{910C3FBE-EAF6-15EB-F61A-2C76C0E79E88}"/>
                  </a:ext>
                </a:extLst>
              </p:cNvPr>
              <p:cNvSpPr>
                <a:spLocks noChangeAspect="1"/>
              </p:cNvSpPr>
              <p:nvPr>
                <p:custDataLst>
                  <p:tags r:id="rId16"/>
                </p:custDataLst>
              </p:nvPr>
            </p:nvSpPr>
            <p:spPr bwMode="auto">
              <a:xfrm>
                <a:off x="234737" y="3127907"/>
                <a:ext cx="197755" cy="316407"/>
              </a:xfrm>
              <a:custGeom>
                <a:avLst/>
                <a:gdLst>
                  <a:gd name="T0" fmla="*/ 132 w 511"/>
                  <a:gd name="T1" fmla="*/ 773 h 815"/>
                  <a:gd name="T2" fmla="*/ 212 w 511"/>
                  <a:gd name="T3" fmla="*/ 474 h 815"/>
                  <a:gd name="T4" fmla="*/ 32 w 511"/>
                  <a:gd name="T5" fmla="*/ 474 h 815"/>
                  <a:gd name="T6" fmla="*/ 13 w 511"/>
                  <a:gd name="T7" fmla="*/ 435 h 815"/>
                  <a:gd name="T8" fmla="*/ 336 w 511"/>
                  <a:gd name="T9" fmla="*/ 21 h 815"/>
                  <a:gd name="T10" fmla="*/ 379 w 511"/>
                  <a:gd name="T11" fmla="*/ 42 h 815"/>
                  <a:gd name="T12" fmla="*/ 299 w 511"/>
                  <a:gd name="T13" fmla="*/ 341 h 815"/>
                  <a:gd name="T14" fmla="*/ 479 w 511"/>
                  <a:gd name="T15" fmla="*/ 341 h 815"/>
                  <a:gd name="T16" fmla="*/ 499 w 511"/>
                  <a:gd name="T17" fmla="*/ 380 h 815"/>
                  <a:gd name="T18" fmla="*/ 176 w 511"/>
                  <a:gd name="T19" fmla="*/ 794 h 815"/>
                  <a:gd name="T20" fmla="*/ 132 w 511"/>
                  <a:gd name="T21" fmla="*/ 773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1" h="815">
                    <a:moveTo>
                      <a:pt x="132" y="773"/>
                    </a:moveTo>
                    <a:lnTo>
                      <a:pt x="212" y="474"/>
                    </a:lnTo>
                    <a:lnTo>
                      <a:pt x="32" y="474"/>
                    </a:lnTo>
                    <a:cubicBezTo>
                      <a:pt x="12" y="474"/>
                      <a:pt x="0" y="450"/>
                      <a:pt x="13" y="435"/>
                    </a:cubicBezTo>
                    <a:lnTo>
                      <a:pt x="336" y="21"/>
                    </a:lnTo>
                    <a:cubicBezTo>
                      <a:pt x="352" y="0"/>
                      <a:pt x="386" y="17"/>
                      <a:pt x="379" y="42"/>
                    </a:cubicBezTo>
                    <a:lnTo>
                      <a:pt x="299" y="341"/>
                    </a:lnTo>
                    <a:lnTo>
                      <a:pt x="479" y="341"/>
                    </a:lnTo>
                    <a:cubicBezTo>
                      <a:pt x="500" y="341"/>
                      <a:pt x="511" y="365"/>
                      <a:pt x="499" y="380"/>
                    </a:cubicBezTo>
                    <a:lnTo>
                      <a:pt x="176" y="794"/>
                    </a:lnTo>
                    <a:cubicBezTo>
                      <a:pt x="159" y="815"/>
                      <a:pt x="125" y="798"/>
                      <a:pt x="132" y="773"/>
                    </a:cubicBez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grpSp>
        <p:grpSp>
          <p:nvGrpSpPr>
            <p:cNvPr id="176" name="Gruppieren 175" descr="{&quot;Key&quot;:&quot;POWER_USER_SHAPE_ICON&quot;,&quot;Value&quot;:&quot;POWER_USER_SHAPE_ICON_STYLE_2&quot;}">
              <a:extLst>
                <a:ext uri="{FF2B5EF4-FFF2-40B4-BE49-F238E27FC236}">
                  <a16:creationId xmlns:a16="http://schemas.microsoft.com/office/drawing/2014/main" id="{C50A6D1E-AA1F-528D-B065-E7657C495C5F}"/>
                </a:ext>
              </a:extLst>
            </p:cNvPr>
            <p:cNvGrpSpPr>
              <a:grpSpLocks noChangeAspect="1"/>
            </p:cNvGrpSpPr>
            <p:nvPr/>
          </p:nvGrpSpPr>
          <p:grpSpPr>
            <a:xfrm>
              <a:off x="9163525" y="3777549"/>
              <a:ext cx="328332" cy="328332"/>
              <a:chOff x="7786650" y="4317126"/>
              <a:chExt cx="762000" cy="762000"/>
            </a:xfrm>
            <a:noFill/>
          </p:grpSpPr>
          <p:sp>
            <p:nvSpPr>
              <p:cNvPr id="177" name="POWER_USER_SHAPE_ICON_STYLE_2">
                <a:extLst>
                  <a:ext uri="{FF2B5EF4-FFF2-40B4-BE49-F238E27FC236}">
                    <a16:creationId xmlns:a16="http://schemas.microsoft.com/office/drawing/2014/main" id="{DF6A7310-420D-6709-B155-4FA15575082B}"/>
                  </a:ext>
                </a:extLst>
              </p:cNvPr>
              <p:cNvSpPr/>
              <p:nvPr/>
            </p:nvSpPr>
            <p:spPr>
              <a:xfrm>
                <a:off x="7786650" y="4317126"/>
                <a:ext cx="762000" cy="762000"/>
              </a:xfrm>
              <a:prstGeom prst="ellipse">
                <a:avLst/>
              </a:prstGeom>
              <a:solidFill>
                <a:sysClr val="window" lastClr="FFFFFF"/>
              </a:solidFill>
              <a:ln w="28575" cap="flat" cmpd="sng" algn="ctr">
                <a:solidFill>
                  <a:srgbClr val="9954CC"/>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sp>
            <p:nvSpPr>
              <p:cNvPr id="178" name="Building5" descr="{&quot;Key&quot;:&quot;POWER_USER_SHAPE_ICON&quot;,&quot;Value&quot;:&quot;POWER_USER_SHAPE_ICON_STYLE_1&quot;}">
                <a:extLst>
                  <a:ext uri="{FF2B5EF4-FFF2-40B4-BE49-F238E27FC236}">
                    <a16:creationId xmlns:a16="http://schemas.microsoft.com/office/drawing/2014/main" id="{07DC8956-103A-AAB9-DDD5-4A570FB39A93}"/>
                  </a:ext>
                </a:extLst>
              </p:cNvPr>
              <p:cNvSpPr>
                <a:spLocks noChangeAspect="1" noEditPoints="1"/>
              </p:cNvSpPr>
              <p:nvPr>
                <p:custDataLst>
                  <p:tags r:id="rId14"/>
                </p:custDataLst>
              </p:nvPr>
            </p:nvSpPr>
            <p:spPr bwMode="auto">
              <a:xfrm>
                <a:off x="7913650" y="4456556"/>
                <a:ext cx="508000" cy="483141"/>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grpSp>
      </p:grpSp>
      <p:sp>
        <p:nvSpPr>
          <p:cNvPr id="185" name="Rechteck 184">
            <a:extLst>
              <a:ext uri="{FF2B5EF4-FFF2-40B4-BE49-F238E27FC236}">
                <a16:creationId xmlns:a16="http://schemas.microsoft.com/office/drawing/2014/main" id="{C3D59014-8B16-D7D3-031A-8DEDB6A6108C}"/>
              </a:ext>
            </a:extLst>
          </p:cNvPr>
          <p:cNvSpPr/>
          <p:nvPr/>
        </p:nvSpPr>
        <p:spPr bwMode="auto">
          <a:xfrm>
            <a:off x="9314826" y="3433111"/>
            <a:ext cx="854452" cy="707886"/>
          </a:xfrm>
          <a:prstGeom prst="rect">
            <a:avLst/>
          </a:prstGeom>
        </p:spPr>
        <p:txBody>
          <a:bodyPr wrap="square">
            <a:spAutoFit/>
          </a:bodyPr>
          <a:lstStyle/>
          <a:p>
            <a:pPr defTabSz="685754">
              <a:defRPr/>
            </a:pPr>
            <a:r>
              <a:rPr lang="de-DE" sz="1000" noProof="1">
                <a:solidFill>
                  <a:srgbClr val="5FB564"/>
                </a:solidFill>
                <a:latin typeface="Bahnschrift" panose="020B0502040204020203" pitchFamily="34" charset="0"/>
              </a:rPr>
              <a:t>Gebäude-Betrieb </a:t>
            </a:r>
          </a:p>
          <a:p>
            <a:pPr defTabSz="685754">
              <a:defRPr/>
            </a:pPr>
            <a:r>
              <a:rPr lang="de-DE" sz="1000" noProof="1">
                <a:solidFill>
                  <a:srgbClr val="5FB564"/>
                </a:solidFill>
                <a:latin typeface="Bahnschrift" panose="020B0502040204020203" pitchFamily="34" charset="0"/>
              </a:rPr>
              <a:t>und -Nutzung</a:t>
            </a:r>
          </a:p>
        </p:txBody>
      </p:sp>
      <p:sp>
        <p:nvSpPr>
          <p:cNvPr id="186" name="Rechteck 185">
            <a:extLst>
              <a:ext uri="{FF2B5EF4-FFF2-40B4-BE49-F238E27FC236}">
                <a16:creationId xmlns:a16="http://schemas.microsoft.com/office/drawing/2014/main" id="{99013D77-470A-245F-942D-7AD875996A98}"/>
              </a:ext>
            </a:extLst>
          </p:cNvPr>
          <p:cNvSpPr/>
          <p:nvPr/>
        </p:nvSpPr>
        <p:spPr bwMode="auto">
          <a:xfrm>
            <a:off x="10436747" y="3459325"/>
            <a:ext cx="868590" cy="861774"/>
          </a:xfrm>
          <a:prstGeom prst="rect">
            <a:avLst/>
          </a:prstGeom>
        </p:spPr>
        <p:txBody>
          <a:bodyPr wrap="square">
            <a:spAutoFit/>
          </a:bodyPr>
          <a:lstStyle/>
          <a:p>
            <a:pPr defTabSz="685754">
              <a:defRPr/>
            </a:pPr>
            <a:r>
              <a:rPr lang="de-DE" sz="1000" noProof="1">
                <a:solidFill>
                  <a:srgbClr val="00B050"/>
                </a:solidFill>
                <a:latin typeface="Bahnschrift" panose="020B0502040204020203" pitchFamily="34" charset="0"/>
              </a:rPr>
              <a:t>Lokale </a:t>
            </a:r>
          </a:p>
          <a:p>
            <a:pPr defTabSz="685754">
              <a:defRPr/>
            </a:pPr>
            <a:r>
              <a:rPr lang="de-DE" sz="1000" noProof="1">
                <a:solidFill>
                  <a:srgbClr val="00B050"/>
                </a:solidFill>
                <a:latin typeface="Bahnschrift" panose="020B0502040204020203" pitchFamily="34" charset="0"/>
              </a:rPr>
              <a:t>Erneuer-bare</a:t>
            </a:r>
          </a:p>
          <a:p>
            <a:pPr defTabSz="685754">
              <a:defRPr/>
            </a:pPr>
            <a:r>
              <a:rPr lang="de-DE" sz="1000" noProof="1">
                <a:solidFill>
                  <a:srgbClr val="00B050"/>
                </a:solidFill>
                <a:latin typeface="Bahnschrift" panose="020B0502040204020203" pitchFamily="34" charset="0"/>
              </a:rPr>
              <a:t>Energie-Quelle</a:t>
            </a:r>
          </a:p>
        </p:txBody>
      </p:sp>
      <p:sp>
        <p:nvSpPr>
          <p:cNvPr id="187" name="Rechteck 186">
            <a:extLst>
              <a:ext uri="{FF2B5EF4-FFF2-40B4-BE49-F238E27FC236}">
                <a16:creationId xmlns:a16="http://schemas.microsoft.com/office/drawing/2014/main" id="{9D3E1C70-0F5E-2A97-4BD4-0D442FC81718}"/>
              </a:ext>
            </a:extLst>
          </p:cNvPr>
          <p:cNvSpPr/>
          <p:nvPr/>
        </p:nvSpPr>
        <p:spPr bwMode="auto">
          <a:xfrm>
            <a:off x="7374139" y="3264125"/>
            <a:ext cx="935231" cy="707886"/>
          </a:xfrm>
          <a:prstGeom prst="rect">
            <a:avLst/>
          </a:prstGeom>
        </p:spPr>
        <p:txBody>
          <a:bodyPr wrap="square">
            <a:spAutoFit/>
          </a:bodyPr>
          <a:lstStyle/>
          <a:p>
            <a:pPr defTabSz="685754">
              <a:defRPr/>
            </a:pPr>
            <a:r>
              <a:rPr lang="de-DE" sz="1000" noProof="1">
                <a:solidFill>
                  <a:srgbClr val="5FB564"/>
                </a:solidFill>
                <a:latin typeface="Bahnschrift" panose="020B0502040204020203" pitchFamily="34" charset="0"/>
              </a:rPr>
              <a:t>Gebäude-Betrieb </a:t>
            </a:r>
          </a:p>
          <a:p>
            <a:pPr defTabSz="685754">
              <a:defRPr/>
            </a:pPr>
            <a:r>
              <a:rPr lang="de-DE" sz="1000" noProof="1">
                <a:solidFill>
                  <a:srgbClr val="5FB564"/>
                </a:solidFill>
                <a:latin typeface="Bahnschrift" panose="020B0502040204020203" pitchFamily="34" charset="0"/>
              </a:rPr>
              <a:t>und -Nutzung</a:t>
            </a:r>
          </a:p>
        </p:txBody>
      </p:sp>
      <p:sp>
        <p:nvSpPr>
          <p:cNvPr id="188" name="Rechteck 187">
            <a:extLst>
              <a:ext uri="{FF2B5EF4-FFF2-40B4-BE49-F238E27FC236}">
                <a16:creationId xmlns:a16="http://schemas.microsoft.com/office/drawing/2014/main" id="{1FBAAEC1-D427-8DAF-C3F5-D2888014A679}"/>
              </a:ext>
            </a:extLst>
          </p:cNvPr>
          <p:cNvSpPr/>
          <p:nvPr/>
        </p:nvSpPr>
        <p:spPr bwMode="auto">
          <a:xfrm>
            <a:off x="8525475" y="3221346"/>
            <a:ext cx="931012" cy="861774"/>
          </a:xfrm>
          <a:prstGeom prst="rect">
            <a:avLst/>
          </a:prstGeom>
        </p:spPr>
        <p:txBody>
          <a:bodyPr wrap="square">
            <a:spAutoFit/>
          </a:bodyPr>
          <a:lstStyle/>
          <a:p>
            <a:pPr defTabSz="685754">
              <a:defRPr/>
            </a:pPr>
            <a:r>
              <a:rPr lang="de-DE" sz="1000" noProof="1">
                <a:solidFill>
                  <a:srgbClr val="00B050"/>
                </a:solidFill>
                <a:latin typeface="Bahnschrift" panose="020B0502040204020203" pitchFamily="34" charset="0"/>
              </a:rPr>
              <a:t>Lokale </a:t>
            </a:r>
          </a:p>
          <a:p>
            <a:pPr defTabSz="685754">
              <a:defRPr/>
            </a:pPr>
            <a:r>
              <a:rPr lang="de-DE" sz="1000" noProof="1">
                <a:solidFill>
                  <a:srgbClr val="00B050"/>
                </a:solidFill>
                <a:latin typeface="Bahnschrift" panose="020B0502040204020203" pitchFamily="34" charset="0"/>
              </a:rPr>
              <a:t>Erneuer-bare</a:t>
            </a:r>
          </a:p>
          <a:p>
            <a:pPr defTabSz="685754">
              <a:defRPr/>
            </a:pPr>
            <a:r>
              <a:rPr lang="de-DE" sz="1000" noProof="1">
                <a:solidFill>
                  <a:srgbClr val="00B050"/>
                </a:solidFill>
                <a:latin typeface="Bahnschrift" panose="020B0502040204020203" pitchFamily="34" charset="0"/>
              </a:rPr>
              <a:t>Energie-Quelle</a:t>
            </a:r>
          </a:p>
        </p:txBody>
      </p:sp>
      <p:sp>
        <p:nvSpPr>
          <p:cNvPr id="189" name="Rechteck 188">
            <a:extLst>
              <a:ext uri="{FF2B5EF4-FFF2-40B4-BE49-F238E27FC236}">
                <a16:creationId xmlns:a16="http://schemas.microsoft.com/office/drawing/2014/main" id="{3129F31C-BE12-E800-6F8A-1F5E50F8CED9}"/>
              </a:ext>
            </a:extLst>
          </p:cNvPr>
          <p:cNvSpPr/>
          <p:nvPr/>
        </p:nvSpPr>
        <p:spPr bwMode="auto">
          <a:xfrm>
            <a:off x="7416498" y="4248743"/>
            <a:ext cx="943409" cy="415498"/>
          </a:xfrm>
          <a:prstGeom prst="rect">
            <a:avLst/>
          </a:prstGeom>
        </p:spPr>
        <p:txBody>
          <a:bodyPr wrap="square">
            <a:spAutoFit/>
          </a:bodyPr>
          <a:lstStyle/>
          <a:p>
            <a:pPr algn="r" defTabSz="685754">
              <a:defRPr/>
            </a:pPr>
            <a:r>
              <a:rPr lang="de-DE" sz="1050" noProof="1">
                <a:solidFill>
                  <a:srgbClr val="0070C0"/>
                </a:solidFill>
                <a:latin typeface="Bahnschrift" panose="020B0502040204020203" pitchFamily="34" charset="0"/>
              </a:rPr>
              <a:t>MIV</a:t>
            </a:r>
          </a:p>
          <a:p>
            <a:pPr defTabSz="685754">
              <a:defRPr/>
            </a:pPr>
            <a:endParaRPr lang="de-DE" sz="1050" noProof="1">
              <a:solidFill>
                <a:srgbClr val="0070C0"/>
              </a:solidFill>
              <a:latin typeface="Bahnschrift" panose="020B0502040204020203" pitchFamily="34" charset="0"/>
            </a:endParaRPr>
          </a:p>
        </p:txBody>
      </p:sp>
      <p:sp>
        <p:nvSpPr>
          <p:cNvPr id="190" name="Band: nach unten gekippt 189">
            <a:extLst>
              <a:ext uri="{FF2B5EF4-FFF2-40B4-BE49-F238E27FC236}">
                <a16:creationId xmlns:a16="http://schemas.microsoft.com/office/drawing/2014/main" id="{1F2FBCE9-BDB5-A91E-A43E-39287887AB07}"/>
              </a:ext>
            </a:extLst>
          </p:cNvPr>
          <p:cNvSpPr/>
          <p:nvPr/>
        </p:nvSpPr>
        <p:spPr bwMode="auto">
          <a:xfrm>
            <a:off x="7425738" y="2676291"/>
            <a:ext cx="1728000" cy="540000"/>
          </a:xfrm>
          <a:prstGeom prst="ribbon">
            <a:avLst>
              <a:gd name="adj1" fmla="val 15670"/>
              <a:gd name="adj2" fmla="val 75000"/>
            </a:avLst>
          </a:prstGeom>
          <a:solidFill>
            <a:srgbClr val="3BACBE">
              <a:lumMod val="60000"/>
              <a:lumOff val="40000"/>
            </a:srgbClr>
          </a:solidFill>
          <a:ln w="6350" cap="flat" cmpd="sng" algn="ctr">
            <a:noFill/>
            <a:prstDash val="solid"/>
            <a:miter lim="800000"/>
          </a:ln>
          <a:effectLst/>
        </p:spPr>
        <p:txBody>
          <a:bodyPr rtlCol="0" anchor="ctr"/>
          <a:lstStyle/>
          <a:p>
            <a:pPr algn="ctr" defTabSz="1219089">
              <a:defRPr/>
            </a:pPr>
            <a:endParaRPr lang="de-DE" sz="2133" kern="0" noProof="1">
              <a:solidFill>
                <a:srgbClr val="E6EFF3"/>
              </a:solidFill>
              <a:latin typeface="Calibri" panose="020F0502020204030204"/>
            </a:endParaRPr>
          </a:p>
        </p:txBody>
      </p:sp>
      <p:sp>
        <p:nvSpPr>
          <p:cNvPr id="191" name="Band: nach unten gekippt 190">
            <a:extLst>
              <a:ext uri="{FF2B5EF4-FFF2-40B4-BE49-F238E27FC236}">
                <a16:creationId xmlns:a16="http://schemas.microsoft.com/office/drawing/2014/main" id="{14168C11-5025-DB73-0770-D3729C10B980}"/>
              </a:ext>
            </a:extLst>
          </p:cNvPr>
          <p:cNvSpPr/>
          <p:nvPr/>
        </p:nvSpPr>
        <p:spPr bwMode="auto">
          <a:xfrm>
            <a:off x="5544829" y="2985795"/>
            <a:ext cx="1728000" cy="540000"/>
          </a:xfrm>
          <a:prstGeom prst="ribbon">
            <a:avLst>
              <a:gd name="adj1" fmla="val 17116"/>
              <a:gd name="adj2" fmla="val 75000"/>
            </a:avLst>
          </a:prstGeom>
          <a:solidFill>
            <a:srgbClr val="950F53"/>
          </a:solidFill>
          <a:ln w="6350" cap="flat" cmpd="sng" algn="ctr">
            <a:noFill/>
            <a:prstDash val="solid"/>
            <a:miter lim="800000"/>
          </a:ln>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192" name="Rechteck 191">
            <a:extLst>
              <a:ext uri="{FF2B5EF4-FFF2-40B4-BE49-F238E27FC236}">
                <a16:creationId xmlns:a16="http://schemas.microsoft.com/office/drawing/2014/main" id="{92DEB3B8-EB1E-A95F-FFE1-7BA2BD7EEFB2}"/>
              </a:ext>
            </a:extLst>
          </p:cNvPr>
          <p:cNvSpPr/>
          <p:nvPr/>
        </p:nvSpPr>
        <p:spPr bwMode="auto">
          <a:xfrm>
            <a:off x="5758698" y="3096363"/>
            <a:ext cx="1333351" cy="415498"/>
          </a:xfrm>
          <a:prstGeom prst="rect">
            <a:avLst/>
          </a:prstGeom>
        </p:spPr>
        <p:txBody>
          <a:bodyPr wrap="square">
            <a:spAutoFit/>
          </a:bodyPr>
          <a:lstStyle/>
          <a:p>
            <a:pPr algn="ctr" defTabSz="914316">
              <a:defRPr/>
            </a:pPr>
            <a:r>
              <a:rPr lang="de-DE" sz="1050" b="1" noProof="1">
                <a:solidFill>
                  <a:srgbClr val="FFFFFF"/>
                </a:solidFill>
                <a:latin typeface="Bahnschrift" panose="020B0502040204020203" pitchFamily="34" charset="0"/>
              </a:rPr>
              <a:t>Plus-Energie-Quartier</a:t>
            </a:r>
          </a:p>
        </p:txBody>
      </p:sp>
      <p:grpSp>
        <p:nvGrpSpPr>
          <p:cNvPr id="193" name="Gruppieren 192">
            <a:extLst>
              <a:ext uri="{FF2B5EF4-FFF2-40B4-BE49-F238E27FC236}">
                <a16:creationId xmlns:a16="http://schemas.microsoft.com/office/drawing/2014/main" id="{725086DA-F52D-5F5A-0B20-10EEFC6454C8}"/>
              </a:ext>
            </a:extLst>
          </p:cNvPr>
          <p:cNvGrpSpPr/>
          <p:nvPr/>
        </p:nvGrpSpPr>
        <p:grpSpPr>
          <a:xfrm>
            <a:off x="6152530" y="2653599"/>
            <a:ext cx="483327" cy="460448"/>
            <a:chOff x="640424" y="760723"/>
            <a:chExt cx="730208" cy="730206"/>
          </a:xfrm>
          <a:solidFill>
            <a:srgbClr val="1F00CC"/>
          </a:solidFill>
          <a:effectLst>
            <a:outerShdw blurRad="50800" dist="38100" dir="2700000" algn="tl" rotWithShape="0">
              <a:prstClr val="black">
                <a:alpha val="40000"/>
              </a:prstClr>
            </a:outerShdw>
          </a:effectLst>
        </p:grpSpPr>
        <p:sp>
          <p:nvSpPr>
            <p:cNvPr id="194" name="Stern: 12 Zacken 193">
              <a:extLst>
                <a:ext uri="{FF2B5EF4-FFF2-40B4-BE49-F238E27FC236}">
                  <a16:creationId xmlns:a16="http://schemas.microsoft.com/office/drawing/2014/main" id="{7BB960E3-6A14-C3DE-1E06-A1205E09AAB2}"/>
                </a:ext>
              </a:extLst>
            </p:cNvPr>
            <p:cNvSpPr/>
            <p:nvPr/>
          </p:nvSpPr>
          <p:spPr>
            <a:xfrm>
              <a:off x="640424" y="760723"/>
              <a:ext cx="730208" cy="730206"/>
            </a:xfrm>
            <a:prstGeom prst="star12">
              <a:avLst>
                <a:gd name="adj" fmla="val 44170"/>
              </a:avLst>
            </a:prstGeom>
            <a:solidFill>
              <a:srgbClr val="950F53"/>
            </a:solidFill>
            <a:ln w="12700" cap="flat" cmpd="sng" algn="ctr">
              <a:solidFill>
                <a:srgbClr val="950F53"/>
              </a:solidFill>
              <a:prstDash val="solid"/>
              <a:miter lim="800000"/>
            </a:ln>
            <a:effectLst>
              <a:innerShdw blurRad="63500" dist="50800" dir="13500000">
                <a:srgbClr val="F59C00">
                  <a:lumMod val="20000"/>
                  <a:lumOff val="80000"/>
                  <a:alpha val="72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195" name="Building5" descr="{&quot;Key&quot;:&quot;POWER_USER_SHAPE_ICON&quot;,&quot;Value&quot;:&quot;POWER_USER_SHAPE_ICON_STYLE_1&quot;}">
              <a:extLst>
                <a:ext uri="{FF2B5EF4-FFF2-40B4-BE49-F238E27FC236}">
                  <a16:creationId xmlns:a16="http://schemas.microsoft.com/office/drawing/2014/main" id="{FA2A2FC0-2240-0EAF-A999-8318B7CF8960}"/>
                </a:ext>
              </a:extLst>
            </p:cNvPr>
            <p:cNvSpPr>
              <a:spLocks noChangeAspect="1" noEditPoints="1"/>
            </p:cNvSpPr>
            <p:nvPr>
              <p:custDataLst>
                <p:tags r:id="rId13"/>
              </p:custDataLst>
            </p:nvPr>
          </p:nvSpPr>
          <p:spPr bwMode="auto">
            <a:xfrm>
              <a:off x="757342" y="875488"/>
              <a:ext cx="490330" cy="43677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950F53"/>
            </a:solidFill>
            <a:ln>
              <a:noFill/>
            </a:ln>
            <a:effectLst>
              <a:glow rad="38100">
                <a:srgbClr val="F59C00">
                  <a:lumMod val="20000"/>
                  <a:lumOff val="80000"/>
                  <a:alpha val="68000"/>
                </a:srgbClr>
              </a:glow>
            </a:effectLst>
          </p:spPr>
          <p:txBody>
            <a:bodyPr vert="horz" wrap="square" lIns="91440" tIns="45720" rIns="91440" bIns="45720" numCol="1" anchor="t" anchorCtr="0" compatLnSpc="1">
              <a:prstTxWarp prst="textNoShape">
                <a:avLst/>
              </a:prstTxWarp>
            </a:bodyPr>
            <a:lstStyle/>
            <a:p>
              <a:pPr defTabSz="914316">
                <a:defRPr/>
              </a:pPr>
              <a:endParaRPr lang="de-DE" sz="1200" kern="0" noProof="1">
                <a:solidFill>
                  <a:prstClr val="black"/>
                </a:solidFill>
                <a:latin typeface="Calibri" panose="020F0502020204030204"/>
              </a:endParaRPr>
            </a:p>
          </p:txBody>
        </p:sp>
      </p:grpSp>
      <p:sp>
        <p:nvSpPr>
          <p:cNvPr id="196" name="Band: nach unten gekippt 195">
            <a:extLst>
              <a:ext uri="{FF2B5EF4-FFF2-40B4-BE49-F238E27FC236}">
                <a16:creationId xmlns:a16="http://schemas.microsoft.com/office/drawing/2014/main" id="{C80B2184-C05F-6DAB-A8F8-968D223BC1CA}"/>
              </a:ext>
            </a:extLst>
          </p:cNvPr>
          <p:cNvSpPr/>
          <p:nvPr/>
        </p:nvSpPr>
        <p:spPr bwMode="auto">
          <a:xfrm>
            <a:off x="9300904" y="2860960"/>
            <a:ext cx="1775199" cy="540000"/>
          </a:xfrm>
          <a:prstGeom prst="ribbon">
            <a:avLst>
              <a:gd name="adj1" fmla="val 19017"/>
              <a:gd name="adj2" fmla="val 75000"/>
            </a:avLst>
          </a:prstGeom>
          <a:solidFill>
            <a:srgbClr val="F59C00">
              <a:lumMod val="60000"/>
              <a:lumOff val="40000"/>
            </a:srgbClr>
          </a:solidFill>
          <a:ln w="6350" cap="flat" cmpd="sng" algn="ctr">
            <a:noFill/>
            <a:prstDash val="solid"/>
            <a:miter lim="800000"/>
          </a:ln>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197" name="Rechteck 196">
            <a:extLst>
              <a:ext uri="{FF2B5EF4-FFF2-40B4-BE49-F238E27FC236}">
                <a16:creationId xmlns:a16="http://schemas.microsoft.com/office/drawing/2014/main" id="{39A05F6A-791F-B04C-E8B9-522D9ADC20D5}"/>
              </a:ext>
            </a:extLst>
          </p:cNvPr>
          <p:cNvSpPr/>
          <p:nvPr/>
        </p:nvSpPr>
        <p:spPr bwMode="auto">
          <a:xfrm>
            <a:off x="9363854" y="3014446"/>
            <a:ext cx="1784392" cy="415498"/>
          </a:xfrm>
          <a:prstGeom prst="rect">
            <a:avLst/>
          </a:prstGeom>
        </p:spPr>
        <p:txBody>
          <a:bodyPr wrap="square">
            <a:spAutoFit/>
          </a:bodyPr>
          <a:lstStyle/>
          <a:p>
            <a:pPr algn="ctr" defTabSz="914316">
              <a:defRPr/>
            </a:pPr>
            <a:r>
              <a:rPr lang="de-DE" sz="1050" b="1" noProof="1">
                <a:solidFill>
                  <a:prstClr val="black"/>
                </a:solidFill>
                <a:latin typeface="Bahnschrift" panose="020B0502040204020203" pitchFamily="34" charset="0"/>
              </a:rPr>
              <a:t>Plus-Energie-Quartier</a:t>
            </a:r>
          </a:p>
          <a:p>
            <a:pPr algn="ctr" defTabSz="914316">
              <a:defRPr/>
            </a:pPr>
            <a:r>
              <a:rPr lang="de-DE" sz="1050" b="1" noProof="1">
                <a:solidFill>
                  <a:prstClr val="black"/>
                </a:solidFill>
                <a:latin typeface="Bahnschrift" panose="020B0502040204020203" pitchFamily="34" charset="0"/>
              </a:rPr>
              <a:t>Mit Mobilität</a:t>
            </a:r>
          </a:p>
        </p:txBody>
      </p:sp>
      <p:grpSp>
        <p:nvGrpSpPr>
          <p:cNvPr id="198" name="Gruppieren 197">
            <a:extLst>
              <a:ext uri="{FF2B5EF4-FFF2-40B4-BE49-F238E27FC236}">
                <a16:creationId xmlns:a16="http://schemas.microsoft.com/office/drawing/2014/main" id="{091783A1-D8B4-47CD-8796-DBA3804D71DF}"/>
              </a:ext>
            </a:extLst>
          </p:cNvPr>
          <p:cNvGrpSpPr/>
          <p:nvPr/>
        </p:nvGrpSpPr>
        <p:grpSpPr>
          <a:xfrm>
            <a:off x="9837711" y="2335726"/>
            <a:ext cx="700101" cy="694145"/>
            <a:chOff x="4399640" y="1143095"/>
            <a:chExt cx="785172" cy="778492"/>
          </a:xfrm>
          <a:solidFill>
            <a:srgbClr val="F59C00"/>
          </a:solidFill>
          <a:effectLst>
            <a:outerShdw blurRad="50800" dist="38100" dir="2700000" algn="tl" rotWithShape="0">
              <a:prstClr val="black">
                <a:alpha val="40000"/>
              </a:prstClr>
            </a:outerShdw>
          </a:effectLst>
        </p:grpSpPr>
        <p:sp>
          <p:nvSpPr>
            <p:cNvPr id="199" name="Stern: 10 Zacken 198">
              <a:extLst>
                <a:ext uri="{FF2B5EF4-FFF2-40B4-BE49-F238E27FC236}">
                  <a16:creationId xmlns:a16="http://schemas.microsoft.com/office/drawing/2014/main" id="{231ED8F6-0F45-5442-5D2D-64ECB69B0CB9}"/>
                </a:ext>
              </a:extLst>
            </p:cNvPr>
            <p:cNvSpPr/>
            <p:nvPr/>
          </p:nvSpPr>
          <p:spPr>
            <a:xfrm>
              <a:off x="4399640" y="1143095"/>
              <a:ext cx="785172" cy="778492"/>
            </a:xfrm>
            <a:prstGeom prst="star10">
              <a:avLst>
                <a:gd name="adj" fmla="val 44491"/>
                <a:gd name="hf" fmla="val 105146"/>
              </a:avLst>
            </a:prstGeom>
            <a:grpFill/>
            <a:ln w="19050" cap="flat" cmpd="sng" algn="ctr">
              <a:solidFill>
                <a:srgbClr val="F59C00"/>
              </a:solidFill>
              <a:prstDash val="solid"/>
              <a:miter lim="800000"/>
            </a:ln>
            <a:effectLst>
              <a:innerShdw blurRad="63500" dist="50800" dir="13500000">
                <a:srgbClr val="F59C00">
                  <a:alpha val="77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200" name="Zehneck 199">
              <a:extLst>
                <a:ext uri="{FF2B5EF4-FFF2-40B4-BE49-F238E27FC236}">
                  <a16:creationId xmlns:a16="http://schemas.microsoft.com/office/drawing/2014/main" id="{553FB900-CA36-CA52-41E9-66A0CD75B33B}"/>
                </a:ext>
              </a:extLst>
            </p:cNvPr>
            <p:cNvSpPr/>
            <p:nvPr/>
          </p:nvSpPr>
          <p:spPr>
            <a:xfrm>
              <a:off x="4476265" y="1217862"/>
              <a:ext cx="620528" cy="620529"/>
            </a:xfrm>
            <a:prstGeom prst="decagon">
              <a:avLst/>
            </a:prstGeom>
            <a:solidFill>
              <a:srgbClr val="950F53"/>
            </a:solidFill>
            <a:ln w="12700" cap="flat" cmpd="sng" algn="ctr">
              <a:solidFill>
                <a:srgbClr val="950F53"/>
              </a:solidFill>
              <a:prstDash val="solid"/>
              <a:miter lim="800000"/>
            </a:ln>
            <a:effectLst>
              <a:innerShdw blurRad="63500" dist="50800" dir="13500000">
                <a:srgbClr val="F59C00">
                  <a:lumMod val="20000"/>
                  <a:lumOff val="80000"/>
                  <a:alpha val="72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201" name="Building5" descr="{&quot;Key&quot;:&quot;POWER_USER_SHAPE_ICON&quot;,&quot;Value&quot;:&quot;POWER_USER_SHAPE_ICON_STYLE_1&quot;}">
              <a:extLst>
                <a:ext uri="{FF2B5EF4-FFF2-40B4-BE49-F238E27FC236}">
                  <a16:creationId xmlns:a16="http://schemas.microsoft.com/office/drawing/2014/main" id="{19A3CA9A-88F9-E025-5AAB-695B3DB75075}"/>
                </a:ext>
              </a:extLst>
            </p:cNvPr>
            <p:cNvSpPr>
              <a:spLocks noChangeAspect="1" noEditPoints="1"/>
            </p:cNvSpPr>
            <p:nvPr>
              <p:custDataLst>
                <p:tags r:id="rId12"/>
              </p:custDataLst>
            </p:nvPr>
          </p:nvSpPr>
          <p:spPr bwMode="auto">
            <a:xfrm>
              <a:off x="4550947" y="1301271"/>
              <a:ext cx="461320" cy="410937"/>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59C00"/>
            </a:solidFill>
            <a:ln>
              <a:noFill/>
            </a:ln>
            <a:effectLst>
              <a:glow rad="76200">
                <a:srgbClr val="F59C00">
                  <a:lumMod val="20000"/>
                  <a:lumOff val="80000"/>
                  <a:alpha val="88000"/>
                </a:srgbClr>
              </a:glow>
            </a:effectLst>
          </p:spPr>
          <p:txBody>
            <a:bodyPr vert="horz" wrap="square" lIns="91440" tIns="45720" rIns="91440" bIns="45720" numCol="1" anchor="t" anchorCtr="0" compatLnSpc="1">
              <a:prstTxWarp prst="textNoShape">
                <a:avLst/>
              </a:prstTxWarp>
            </a:bodyPr>
            <a:lstStyle/>
            <a:p>
              <a:pPr defTabSz="914316">
                <a:defRPr/>
              </a:pPr>
              <a:endParaRPr lang="de-DE" sz="1200" kern="0" noProof="1">
                <a:solidFill>
                  <a:prstClr val="black"/>
                </a:solidFill>
                <a:latin typeface="Calibri" panose="020F0502020204030204"/>
              </a:endParaRPr>
            </a:p>
          </p:txBody>
        </p:sp>
      </p:grpSp>
      <p:sp>
        <p:nvSpPr>
          <p:cNvPr id="202" name="Stern: 12 Zacken 201">
            <a:extLst>
              <a:ext uri="{FF2B5EF4-FFF2-40B4-BE49-F238E27FC236}">
                <a16:creationId xmlns:a16="http://schemas.microsoft.com/office/drawing/2014/main" id="{171139FE-1636-E6CF-77A3-01E67F9DF647}"/>
              </a:ext>
            </a:extLst>
          </p:cNvPr>
          <p:cNvSpPr/>
          <p:nvPr/>
        </p:nvSpPr>
        <p:spPr bwMode="auto">
          <a:xfrm>
            <a:off x="7880944" y="2000249"/>
            <a:ext cx="887815" cy="852252"/>
          </a:xfrm>
          <a:prstGeom prst="star12">
            <a:avLst>
              <a:gd name="adj" fmla="val 47681"/>
            </a:avLst>
          </a:prstGeom>
          <a:solidFill>
            <a:srgbClr val="3BACBE"/>
          </a:solidFill>
          <a:ln w="19050" cap="flat" cmpd="sng" algn="ctr">
            <a:solidFill>
              <a:srgbClr val="3BACBE"/>
            </a:solidFill>
            <a:prstDash val="solid"/>
            <a:miter lim="800000"/>
          </a:ln>
          <a:effectLst>
            <a:innerShdw blurRad="63500" dist="50800" dir="13500000">
              <a:srgbClr val="5FB564">
                <a:lumMod val="20000"/>
                <a:lumOff val="80000"/>
                <a:alpha val="86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203" name="Textfeld 202">
            <a:extLst>
              <a:ext uri="{FF2B5EF4-FFF2-40B4-BE49-F238E27FC236}">
                <a16:creationId xmlns:a16="http://schemas.microsoft.com/office/drawing/2014/main" id="{692CD5C7-2D72-5E2A-99FC-30800B1D181C}"/>
              </a:ext>
            </a:extLst>
          </p:cNvPr>
          <p:cNvSpPr txBox="1"/>
          <p:nvPr/>
        </p:nvSpPr>
        <p:spPr bwMode="auto">
          <a:xfrm>
            <a:off x="7256458" y="2791443"/>
            <a:ext cx="2085163" cy="415498"/>
          </a:xfrm>
          <a:prstGeom prst="rect">
            <a:avLst/>
          </a:prstGeom>
          <a:noFill/>
        </p:spPr>
        <p:txBody>
          <a:bodyPr wrap="square">
            <a:spAutoFit/>
          </a:bodyPr>
          <a:lstStyle/>
          <a:p>
            <a:pPr algn="ctr" defTabSz="914316">
              <a:defRPr/>
            </a:pPr>
            <a:r>
              <a:rPr lang="de-DE" sz="1050" b="1" noProof="1">
                <a:solidFill>
                  <a:prstClr val="black"/>
                </a:solidFill>
                <a:latin typeface="Bahnschrift" panose="020B0502040204020203" pitchFamily="34" charset="0"/>
              </a:rPr>
              <a:t>Klimaneutrales</a:t>
            </a:r>
          </a:p>
          <a:p>
            <a:pPr algn="ctr" defTabSz="914316">
              <a:defRPr/>
            </a:pPr>
            <a:r>
              <a:rPr lang="de-DE" sz="1050" b="1" noProof="1">
                <a:solidFill>
                  <a:prstClr val="black"/>
                </a:solidFill>
                <a:latin typeface="Bahnschrift" panose="020B0502040204020203" pitchFamily="34" charset="0"/>
              </a:rPr>
              <a:t>Plus-Energie-Quartier</a:t>
            </a:r>
          </a:p>
        </p:txBody>
      </p:sp>
      <p:sp>
        <p:nvSpPr>
          <p:cNvPr id="204" name="Stern: 10 Zacken 203">
            <a:extLst>
              <a:ext uri="{FF2B5EF4-FFF2-40B4-BE49-F238E27FC236}">
                <a16:creationId xmlns:a16="http://schemas.microsoft.com/office/drawing/2014/main" id="{B9EBE011-4846-CA6A-FEAE-6BDB07972A76}"/>
              </a:ext>
            </a:extLst>
          </p:cNvPr>
          <p:cNvSpPr/>
          <p:nvPr/>
        </p:nvSpPr>
        <p:spPr bwMode="auto">
          <a:xfrm>
            <a:off x="7931445" y="2039663"/>
            <a:ext cx="785429" cy="778749"/>
          </a:xfrm>
          <a:prstGeom prst="star10">
            <a:avLst>
              <a:gd name="adj" fmla="val 44491"/>
              <a:gd name="hf" fmla="val 105146"/>
            </a:avLst>
          </a:prstGeom>
          <a:solidFill>
            <a:srgbClr val="F59C00"/>
          </a:solidFill>
          <a:ln w="19050" cap="flat" cmpd="sng" algn="ctr">
            <a:solidFill>
              <a:srgbClr val="F59C00"/>
            </a:solidFill>
            <a:prstDash val="solid"/>
            <a:miter lim="800000"/>
          </a:ln>
          <a:effectLst>
            <a:innerShdw blurRad="63500" dist="50800" dir="13500000">
              <a:srgbClr val="F59C00">
                <a:alpha val="77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205" name="Zehneck 204">
            <a:extLst>
              <a:ext uri="{FF2B5EF4-FFF2-40B4-BE49-F238E27FC236}">
                <a16:creationId xmlns:a16="http://schemas.microsoft.com/office/drawing/2014/main" id="{7D7161D0-AD89-877B-E2D4-7AB15331D253}"/>
              </a:ext>
            </a:extLst>
          </p:cNvPr>
          <p:cNvSpPr/>
          <p:nvPr/>
        </p:nvSpPr>
        <p:spPr bwMode="auto">
          <a:xfrm>
            <a:off x="8009725" y="2116789"/>
            <a:ext cx="620731" cy="620735"/>
          </a:xfrm>
          <a:prstGeom prst="decagon">
            <a:avLst/>
          </a:prstGeom>
          <a:solidFill>
            <a:srgbClr val="950F53"/>
          </a:solidFill>
          <a:ln w="12700" cap="flat" cmpd="sng" algn="ctr">
            <a:solidFill>
              <a:srgbClr val="950F53"/>
            </a:solidFill>
            <a:prstDash val="solid"/>
            <a:miter lim="800000"/>
          </a:ln>
          <a:effectLst>
            <a:innerShdw blurRad="63500" dist="50800" dir="13500000">
              <a:srgbClr val="F59C00">
                <a:lumMod val="20000"/>
                <a:lumOff val="80000"/>
                <a:alpha val="72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206" name="Building5" descr="{&quot;Key&quot;:&quot;POWER_USER_SHAPE_ICON&quot;,&quot;Value&quot;:&quot;POWER_USER_SHAPE_ICON_STYLE_1&quot;}">
            <a:extLst>
              <a:ext uri="{FF2B5EF4-FFF2-40B4-BE49-F238E27FC236}">
                <a16:creationId xmlns:a16="http://schemas.microsoft.com/office/drawing/2014/main" id="{0978363F-0081-BC12-BF9F-7EEEA78C56C8}"/>
              </a:ext>
            </a:extLst>
          </p:cNvPr>
          <p:cNvSpPr>
            <a:spLocks noChangeAspect="1" noEditPoints="1"/>
          </p:cNvSpPr>
          <p:nvPr>
            <p:custDataLst>
              <p:tags r:id="rId4"/>
            </p:custDataLst>
          </p:nvPr>
        </p:nvSpPr>
        <p:spPr bwMode="auto">
          <a:xfrm>
            <a:off x="8111286" y="2229349"/>
            <a:ext cx="411337" cy="366413"/>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3BACBE"/>
          </a:solidFill>
          <a:ln>
            <a:noFill/>
          </a:ln>
          <a:effectLst>
            <a:glow rad="101600">
              <a:srgbClr val="F59C00">
                <a:lumMod val="20000"/>
                <a:lumOff val="80000"/>
                <a:alpha val="86000"/>
              </a:srgbClr>
            </a:glow>
            <a:innerShdw blurRad="63500" dist="50800" dir="13500000">
              <a:srgbClr val="61FFA8">
                <a:alpha val="38000"/>
              </a:srgbClr>
            </a:innerShdw>
          </a:effectLst>
        </p:spPr>
        <p:txBody>
          <a:bodyPr vert="horz" wrap="square" lIns="91440" tIns="45720" rIns="91440" bIns="45720" numCol="1" anchor="t" anchorCtr="0" compatLnSpc="1">
            <a:prstTxWarp prst="textNoShape">
              <a:avLst/>
            </a:prstTxWarp>
          </a:bodyPr>
          <a:lstStyle/>
          <a:p>
            <a:pPr defTabSz="914316">
              <a:defRPr/>
            </a:pPr>
            <a:endParaRPr lang="de-DE" sz="1200" kern="0" noProof="1">
              <a:solidFill>
                <a:prstClr val="black"/>
              </a:solidFill>
              <a:latin typeface="Calibri" panose="020F0502020204030204"/>
            </a:endParaRPr>
          </a:p>
        </p:txBody>
      </p:sp>
      <p:grpSp>
        <p:nvGrpSpPr>
          <p:cNvPr id="207" name="Gruppieren 206">
            <a:extLst>
              <a:ext uri="{FF2B5EF4-FFF2-40B4-BE49-F238E27FC236}">
                <a16:creationId xmlns:a16="http://schemas.microsoft.com/office/drawing/2014/main" id="{9D94DCAF-8589-E929-6395-1F6941757765}"/>
              </a:ext>
            </a:extLst>
          </p:cNvPr>
          <p:cNvGrpSpPr/>
          <p:nvPr/>
        </p:nvGrpSpPr>
        <p:grpSpPr>
          <a:xfrm>
            <a:off x="8682032" y="5020101"/>
            <a:ext cx="289932" cy="380068"/>
            <a:chOff x="9018358" y="3729507"/>
            <a:chExt cx="512820" cy="672248"/>
          </a:xfrm>
        </p:grpSpPr>
        <p:grpSp>
          <p:nvGrpSpPr>
            <p:cNvPr id="208" name="Gruppieren 207">
              <a:extLst>
                <a:ext uri="{FF2B5EF4-FFF2-40B4-BE49-F238E27FC236}">
                  <a16:creationId xmlns:a16="http://schemas.microsoft.com/office/drawing/2014/main" id="{0C4E1BBA-4B52-64E3-ED7F-162713561FCE}"/>
                </a:ext>
              </a:extLst>
            </p:cNvPr>
            <p:cNvGrpSpPr/>
            <p:nvPr/>
          </p:nvGrpSpPr>
          <p:grpSpPr>
            <a:xfrm>
              <a:off x="9018358" y="3729507"/>
              <a:ext cx="512820" cy="672248"/>
              <a:chOff x="0" y="3078492"/>
              <a:chExt cx="545343" cy="621971"/>
            </a:xfrm>
          </p:grpSpPr>
          <p:grpSp>
            <p:nvGrpSpPr>
              <p:cNvPr id="212" name="Gruppieren 211">
                <a:extLst>
                  <a:ext uri="{FF2B5EF4-FFF2-40B4-BE49-F238E27FC236}">
                    <a16:creationId xmlns:a16="http://schemas.microsoft.com/office/drawing/2014/main" id="{EC5DAD88-D724-B13A-5AED-96517484DCE3}"/>
                  </a:ext>
                </a:extLst>
              </p:cNvPr>
              <p:cNvGrpSpPr/>
              <p:nvPr>
                <p:custDataLst>
                  <p:tags r:id="rId10"/>
                </p:custDataLst>
              </p:nvPr>
            </p:nvGrpSpPr>
            <p:grpSpPr>
              <a:xfrm>
                <a:off x="0" y="3157538"/>
                <a:ext cx="545343" cy="542925"/>
                <a:chOff x="0" y="3157538"/>
                <a:chExt cx="545343" cy="542925"/>
              </a:xfrm>
              <a:solidFill>
                <a:srgbClr val="9954CC"/>
              </a:solidFill>
            </p:grpSpPr>
            <p:sp>
              <p:nvSpPr>
                <p:cNvPr id="215" name="Freeform 203">
                  <a:extLst>
                    <a:ext uri="{FF2B5EF4-FFF2-40B4-BE49-F238E27FC236}">
                      <a16:creationId xmlns:a16="http://schemas.microsoft.com/office/drawing/2014/main" id="{517C3B97-4359-2115-00F7-9F3F13F2DFFF}"/>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sp>
              <p:nvSpPr>
                <p:cNvPr id="216" name="Freeform 204">
                  <a:extLst>
                    <a:ext uri="{FF2B5EF4-FFF2-40B4-BE49-F238E27FC236}">
                      <a16:creationId xmlns:a16="http://schemas.microsoft.com/office/drawing/2014/main" id="{970776CE-CDBF-E392-AB29-E7C9E0A7A006}"/>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sp>
              <p:nvSpPr>
                <p:cNvPr id="217" name="Freeform 206">
                  <a:extLst>
                    <a:ext uri="{FF2B5EF4-FFF2-40B4-BE49-F238E27FC236}">
                      <a16:creationId xmlns:a16="http://schemas.microsoft.com/office/drawing/2014/main" id="{48C50E3C-790D-A994-018B-D62C80F730C1}"/>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grpSp>
          <p:sp>
            <p:nvSpPr>
              <p:cNvPr id="213" name="Freihandform 240">
                <a:extLst>
                  <a:ext uri="{FF2B5EF4-FFF2-40B4-BE49-F238E27FC236}">
                    <a16:creationId xmlns:a16="http://schemas.microsoft.com/office/drawing/2014/main" id="{E8B029F5-D036-75C0-96C6-C933F8AD366F}"/>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solidFill>
                <a:sysClr val="window" lastClr="FFFFFF"/>
              </a:solid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Calibri" panose="020F0502020204030204"/>
                </a:endParaRPr>
              </a:p>
            </p:txBody>
          </p:sp>
          <p:sp>
            <p:nvSpPr>
              <p:cNvPr id="214" name="Bolt3" descr="{&quot;Key&quot;:&quot;POWER_USER_SHAPE_ICON&quot;,&quot;Value&quot;:&quot;POWER_USER_SHAPE_ICON_STYLE_1&quot;}">
                <a:extLst>
                  <a:ext uri="{FF2B5EF4-FFF2-40B4-BE49-F238E27FC236}">
                    <a16:creationId xmlns:a16="http://schemas.microsoft.com/office/drawing/2014/main" id="{A5C7BA25-8273-A5CA-6367-C73464757626}"/>
                  </a:ext>
                </a:extLst>
              </p:cNvPr>
              <p:cNvSpPr>
                <a:spLocks noChangeAspect="1"/>
              </p:cNvSpPr>
              <p:nvPr>
                <p:custDataLst>
                  <p:tags r:id="rId11"/>
                </p:custDataLst>
              </p:nvPr>
            </p:nvSpPr>
            <p:spPr bwMode="auto">
              <a:xfrm>
                <a:off x="234737" y="3127907"/>
                <a:ext cx="197755" cy="316407"/>
              </a:xfrm>
              <a:custGeom>
                <a:avLst/>
                <a:gdLst>
                  <a:gd name="T0" fmla="*/ 132 w 511"/>
                  <a:gd name="T1" fmla="*/ 773 h 815"/>
                  <a:gd name="T2" fmla="*/ 212 w 511"/>
                  <a:gd name="T3" fmla="*/ 474 h 815"/>
                  <a:gd name="T4" fmla="*/ 32 w 511"/>
                  <a:gd name="T5" fmla="*/ 474 h 815"/>
                  <a:gd name="T6" fmla="*/ 13 w 511"/>
                  <a:gd name="T7" fmla="*/ 435 h 815"/>
                  <a:gd name="T8" fmla="*/ 336 w 511"/>
                  <a:gd name="T9" fmla="*/ 21 h 815"/>
                  <a:gd name="T10" fmla="*/ 379 w 511"/>
                  <a:gd name="T11" fmla="*/ 42 h 815"/>
                  <a:gd name="T12" fmla="*/ 299 w 511"/>
                  <a:gd name="T13" fmla="*/ 341 h 815"/>
                  <a:gd name="T14" fmla="*/ 479 w 511"/>
                  <a:gd name="T15" fmla="*/ 341 h 815"/>
                  <a:gd name="T16" fmla="*/ 499 w 511"/>
                  <a:gd name="T17" fmla="*/ 380 h 815"/>
                  <a:gd name="T18" fmla="*/ 176 w 511"/>
                  <a:gd name="T19" fmla="*/ 794 h 815"/>
                  <a:gd name="T20" fmla="*/ 132 w 511"/>
                  <a:gd name="T21" fmla="*/ 773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1" h="815">
                    <a:moveTo>
                      <a:pt x="132" y="773"/>
                    </a:moveTo>
                    <a:lnTo>
                      <a:pt x="212" y="474"/>
                    </a:lnTo>
                    <a:lnTo>
                      <a:pt x="32" y="474"/>
                    </a:lnTo>
                    <a:cubicBezTo>
                      <a:pt x="12" y="474"/>
                      <a:pt x="0" y="450"/>
                      <a:pt x="13" y="435"/>
                    </a:cubicBezTo>
                    <a:lnTo>
                      <a:pt x="336" y="21"/>
                    </a:lnTo>
                    <a:cubicBezTo>
                      <a:pt x="352" y="0"/>
                      <a:pt x="386" y="17"/>
                      <a:pt x="379" y="42"/>
                    </a:cubicBezTo>
                    <a:lnTo>
                      <a:pt x="299" y="341"/>
                    </a:lnTo>
                    <a:lnTo>
                      <a:pt x="479" y="341"/>
                    </a:lnTo>
                    <a:cubicBezTo>
                      <a:pt x="500" y="341"/>
                      <a:pt x="511" y="365"/>
                      <a:pt x="499" y="380"/>
                    </a:cubicBezTo>
                    <a:lnTo>
                      <a:pt x="176" y="794"/>
                    </a:lnTo>
                    <a:cubicBezTo>
                      <a:pt x="159" y="815"/>
                      <a:pt x="125" y="798"/>
                      <a:pt x="132" y="773"/>
                    </a:cubicBez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grpSp>
        <p:grpSp>
          <p:nvGrpSpPr>
            <p:cNvPr id="209" name="Gruppieren 208" descr="{&quot;Key&quot;:&quot;POWER_USER_SHAPE_ICON&quot;,&quot;Value&quot;:&quot;POWER_USER_SHAPE_ICON_STYLE_2&quot;}">
              <a:extLst>
                <a:ext uri="{FF2B5EF4-FFF2-40B4-BE49-F238E27FC236}">
                  <a16:creationId xmlns:a16="http://schemas.microsoft.com/office/drawing/2014/main" id="{B0A45973-6FFA-F408-65BA-059B7B2BBD2A}"/>
                </a:ext>
              </a:extLst>
            </p:cNvPr>
            <p:cNvGrpSpPr>
              <a:grpSpLocks noChangeAspect="1"/>
            </p:cNvGrpSpPr>
            <p:nvPr/>
          </p:nvGrpSpPr>
          <p:grpSpPr>
            <a:xfrm>
              <a:off x="9163525" y="3777549"/>
              <a:ext cx="328332" cy="328332"/>
              <a:chOff x="7786650" y="4317126"/>
              <a:chExt cx="762000" cy="762000"/>
            </a:xfrm>
            <a:noFill/>
          </p:grpSpPr>
          <p:sp>
            <p:nvSpPr>
              <p:cNvPr id="210" name="POWER_USER_SHAPE_ICON_STYLE_2">
                <a:extLst>
                  <a:ext uri="{FF2B5EF4-FFF2-40B4-BE49-F238E27FC236}">
                    <a16:creationId xmlns:a16="http://schemas.microsoft.com/office/drawing/2014/main" id="{5F10A321-81C9-BF9F-E06A-E581559E04CB}"/>
                  </a:ext>
                </a:extLst>
              </p:cNvPr>
              <p:cNvSpPr/>
              <p:nvPr/>
            </p:nvSpPr>
            <p:spPr>
              <a:xfrm>
                <a:off x="7786650" y="4317126"/>
                <a:ext cx="762000" cy="762000"/>
              </a:xfrm>
              <a:prstGeom prst="ellipse">
                <a:avLst/>
              </a:prstGeom>
              <a:solidFill>
                <a:sysClr val="window" lastClr="FFFFFF"/>
              </a:solidFill>
              <a:ln w="28575" cap="flat" cmpd="sng" algn="ctr">
                <a:solidFill>
                  <a:srgbClr val="9954CC"/>
                </a:solidFill>
                <a:prstDash val="sysDot"/>
                <a:miter lim="800000"/>
              </a:ln>
              <a:effectLst/>
            </p:spPr>
            <p:txBody>
              <a:bodyPr rtlCol="0" anchor="ctr"/>
              <a:lstStyle/>
              <a:p>
                <a:pPr algn="ctr" defTabSz="685754">
                  <a:defRPr/>
                </a:pPr>
                <a:endParaRPr lang="de-DE" sz="1350" kern="0" noProof="1">
                  <a:solidFill>
                    <a:srgbClr val="9954CC"/>
                  </a:solidFill>
                  <a:latin typeface="Calibri" panose="020F0502020204030204"/>
                </a:endParaRPr>
              </a:p>
            </p:txBody>
          </p:sp>
          <p:sp>
            <p:nvSpPr>
              <p:cNvPr id="211" name="Building5" descr="{&quot;Key&quot;:&quot;POWER_USER_SHAPE_ICON&quot;,&quot;Value&quot;:&quot;POWER_USER_SHAPE_ICON_STYLE_1&quot;}">
                <a:extLst>
                  <a:ext uri="{FF2B5EF4-FFF2-40B4-BE49-F238E27FC236}">
                    <a16:creationId xmlns:a16="http://schemas.microsoft.com/office/drawing/2014/main" id="{1D3D7D53-16DC-02C2-2052-00D1E43F4E26}"/>
                  </a:ext>
                </a:extLst>
              </p:cNvPr>
              <p:cNvSpPr>
                <a:spLocks noChangeAspect="1" noEditPoints="1"/>
              </p:cNvSpPr>
              <p:nvPr>
                <p:custDataLst>
                  <p:tags r:id="rId9"/>
                </p:custDataLst>
              </p:nvPr>
            </p:nvSpPr>
            <p:spPr bwMode="auto">
              <a:xfrm>
                <a:off x="7913650" y="4456556"/>
                <a:ext cx="508000" cy="483141"/>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Calibri" panose="020F0502020204030204"/>
                </a:endParaRPr>
              </a:p>
            </p:txBody>
          </p:sp>
        </p:grpSp>
      </p:grpSp>
      <p:grpSp>
        <p:nvGrpSpPr>
          <p:cNvPr id="218" name="Gruppieren 217">
            <a:extLst>
              <a:ext uri="{FF2B5EF4-FFF2-40B4-BE49-F238E27FC236}">
                <a16:creationId xmlns:a16="http://schemas.microsoft.com/office/drawing/2014/main" id="{0C310C66-4F83-AE05-0033-B3D6BB1A4BAC}"/>
              </a:ext>
            </a:extLst>
          </p:cNvPr>
          <p:cNvGrpSpPr/>
          <p:nvPr/>
        </p:nvGrpSpPr>
        <p:grpSpPr>
          <a:xfrm>
            <a:off x="8920043" y="5025444"/>
            <a:ext cx="297476" cy="389956"/>
            <a:chOff x="0" y="3078492"/>
            <a:chExt cx="545343" cy="621971"/>
          </a:xfrm>
          <a:solidFill>
            <a:srgbClr val="0070C0"/>
          </a:solidFill>
        </p:grpSpPr>
        <p:grpSp>
          <p:nvGrpSpPr>
            <p:cNvPr id="219" name="Gruppieren 218">
              <a:extLst>
                <a:ext uri="{FF2B5EF4-FFF2-40B4-BE49-F238E27FC236}">
                  <a16:creationId xmlns:a16="http://schemas.microsoft.com/office/drawing/2014/main" id="{6F1BC671-DAD5-EEE4-6B0B-626B3F77B543}"/>
                </a:ext>
              </a:extLst>
            </p:cNvPr>
            <p:cNvGrpSpPr/>
            <p:nvPr>
              <p:custDataLst>
                <p:tags r:id="rId8"/>
              </p:custDataLst>
            </p:nvPr>
          </p:nvGrpSpPr>
          <p:grpSpPr>
            <a:xfrm>
              <a:off x="0" y="3157538"/>
              <a:ext cx="545343" cy="542925"/>
              <a:chOff x="0" y="3157538"/>
              <a:chExt cx="545343" cy="542925"/>
            </a:xfrm>
            <a:grpFill/>
          </p:grpSpPr>
          <p:sp>
            <p:nvSpPr>
              <p:cNvPr id="221" name="Freeform 203">
                <a:extLst>
                  <a:ext uri="{FF2B5EF4-FFF2-40B4-BE49-F238E27FC236}">
                    <a16:creationId xmlns:a16="http://schemas.microsoft.com/office/drawing/2014/main" id="{0DC9E240-1127-9C73-47B0-420167B3B321}"/>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222" name="Freeform 204">
                <a:extLst>
                  <a:ext uri="{FF2B5EF4-FFF2-40B4-BE49-F238E27FC236}">
                    <a16:creationId xmlns:a16="http://schemas.microsoft.com/office/drawing/2014/main" id="{2DD51EF3-29F5-2323-896D-2C03054C71AE}"/>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223" name="Freeform 206">
                <a:extLst>
                  <a:ext uri="{FF2B5EF4-FFF2-40B4-BE49-F238E27FC236}">
                    <a16:creationId xmlns:a16="http://schemas.microsoft.com/office/drawing/2014/main" id="{F1132DF4-DA57-164B-B3E4-0286F0ED9EE2}"/>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grpSp>
        <p:sp>
          <p:nvSpPr>
            <p:cNvPr id="220" name="Freihandform 268">
              <a:extLst>
                <a:ext uri="{FF2B5EF4-FFF2-40B4-BE49-F238E27FC236}">
                  <a16:creationId xmlns:a16="http://schemas.microsoft.com/office/drawing/2014/main" id="{CF27CF50-1E3E-2F47-1D75-EE00FF7DC821}"/>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grp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Bahnschrift" panose="020B0502040204020203" pitchFamily="34" charset="0"/>
              </a:endParaRPr>
            </a:p>
          </p:txBody>
        </p:sp>
      </p:grpSp>
      <p:grpSp>
        <p:nvGrpSpPr>
          <p:cNvPr id="224" name="Gruppieren 223" descr="{&quot;Key&quot;:&quot;POWER_USER_SHAPE_ICON&quot;,&quot;Value&quot;:&quot;POWER_USER_SHAPE_ICON_STYLE_2&quot;}">
            <a:extLst>
              <a:ext uri="{FF2B5EF4-FFF2-40B4-BE49-F238E27FC236}">
                <a16:creationId xmlns:a16="http://schemas.microsoft.com/office/drawing/2014/main" id="{D6D0999A-27A0-DD06-FE27-AF41FB5B4C79}"/>
              </a:ext>
            </a:extLst>
          </p:cNvPr>
          <p:cNvGrpSpPr>
            <a:grpSpLocks noChangeAspect="1"/>
          </p:cNvGrpSpPr>
          <p:nvPr/>
        </p:nvGrpSpPr>
        <p:grpSpPr>
          <a:xfrm>
            <a:off x="8976415" y="5024565"/>
            <a:ext cx="215474" cy="215476"/>
            <a:chOff x="-99093" y="3018292"/>
            <a:chExt cx="706188" cy="706192"/>
          </a:xfrm>
        </p:grpSpPr>
        <p:sp>
          <p:nvSpPr>
            <p:cNvPr id="225" name="POWER_USER_SHAPE_ICON_STYLE_2">
              <a:extLst>
                <a:ext uri="{FF2B5EF4-FFF2-40B4-BE49-F238E27FC236}">
                  <a16:creationId xmlns:a16="http://schemas.microsoft.com/office/drawing/2014/main" id="{5E2D33DD-406A-C861-6507-61E83D204EEC}"/>
                </a:ext>
              </a:extLst>
            </p:cNvPr>
            <p:cNvSpPr/>
            <p:nvPr/>
          </p:nvSpPr>
          <p:spPr>
            <a:xfrm>
              <a:off x="-99093" y="3018292"/>
              <a:ext cx="706188" cy="706192"/>
            </a:xfrm>
            <a:prstGeom prst="ellipse">
              <a:avLst/>
            </a:prstGeom>
            <a:solidFill>
              <a:sysClr val="window" lastClr="FFFFFF"/>
            </a:solidFill>
            <a:ln w="28575" cap="flat" cmpd="sng" algn="ctr">
              <a:solidFill>
                <a:srgbClr val="0070C0"/>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sp>
          <p:nvSpPr>
            <p:cNvPr id="226" name="Car7" descr="{&quot;Key&quot;:&quot;POWER_USER_SHAPE_ICON&quot;,&quot;Value&quot;:&quot;POWER_USER_SHAPE_ICON_STYLE_1&quot;}">
              <a:extLst>
                <a:ext uri="{FF2B5EF4-FFF2-40B4-BE49-F238E27FC236}">
                  <a16:creationId xmlns:a16="http://schemas.microsoft.com/office/drawing/2014/main" id="{768E1987-D130-CF28-8CB0-04C305511006}"/>
                </a:ext>
              </a:extLst>
            </p:cNvPr>
            <p:cNvSpPr>
              <a:spLocks noChangeAspect="1" noEditPoints="1"/>
            </p:cNvSpPr>
            <p:nvPr>
              <p:custDataLst>
                <p:tags r:id="rId7"/>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grpSp>
      <p:sp>
        <p:nvSpPr>
          <p:cNvPr id="227" name="Flame3" descr="{&quot;Key&quot;:&quot;POWER_USER_SHAPE_ICON&quot;,&quot;Value&quot;:&quot;POWER_USER_SHAPE_ICON_STYLE_1&quot;}">
            <a:extLst>
              <a:ext uri="{FF2B5EF4-FFF2-40B4-BE49-F238E27FC236}">
                <a16:creationId xmlns:a16="http://schemas.microsoft.com/office/drawing/2014/main" id="{7ACCA59B-7641-1FB7-9C69-0A436FCBA552}"/>
              </a:ext>
            </a:extLst>
          </p:cNvPr>
          <p:cNvSpPr>
            <a:spLocks noChangeAspect="1"/>
          </p:cNvSpPr>
          <p:nvPr>
            <p:custDataLst>
              <p:tags r:id="rId5"/>
            </p:custDataLst>
          </p:nvPr>
        </p:nvSpPr>
        <p:spPr bwMode="auto">
          <a:xfrm>
            <a:off x="7616345" y="4171152"/>
            <a:ext cx="157979" cy="180244"/>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228" name="Building5" descr="{&quot;Key&quot;:&quot;POWER_USER_SHAPE_ICON&quot;,&quot;Value&quot;:&quot;POWER_USER_SHAPE_ICON_STYLE_1&quot;}">
            <a:extLst>
              <a:ext uri="{FF2B5EF4-FFF2-40B4-BE49-F238E27FC236}">
                <a16:creationId xmlns:a16="http://schemas.microsoft.com/office/drawing/2014/main" id="{51126FB2-D813-0231-03B9-EC7794F67959}"/>
              </a:ext>
            </a:extLst>
          </p:cNvPr>
          <p:cNvSpPr>
            <a:spLocks noChangeAspect="1" noEditPoints="1"/>
          </p:cNvSpPr>
          <p:nvPr>
            <p:custDataLst>
              <p:tags r:id="rId6"/>
            </p:custDataLst>
          </p:nvPr>
        </p:nvSpPr>
        <p:spPr bwMode="auto">
          <a:xfrm>
            <a:off x="8682032" y="4525469"/>
            <a:ext cx="206438" cy="19633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sp>
        <p:nvSpPr>
          <p:cNvPr id="229" name="Textfeld 228">
            <a:extLst>
              <a:ext uri="{FF2B5EF4-FFF2-40B4-BE49-F238E27FC236}">
                <a16:creationId xmlns:a16="http://schemas.microsoft.com/office/drawing/2014/main" id="{3AE896C0-217E-4D7A-248F-EF6885C9F42B}"/>
              </a:ext>
            </a:extLst>
          </p:cNvPr>
          <p:cNvSpPr txBox="1"/>
          <p:nvPr/>
        </p:nvSpPr>
        <p:spPr bwMode="auto">
          <a:xfrm>
            <a:off x="10097062" y="5495024"/>
            <a:ext cx="474560" cy="369332"/>
          </a:xfrm>
          <a:prstGeom prst="rect">
            <a:avLst/>
          </a:prstGeom>
          <a:noFill/>
        </p:spPr>
        <p:txBody>
          <a:bodyPr wrap="square">
            <a:spAutoFit/>
          </a:bodyPr>
          <a:lstStyle/>
          <a:p>
            <a:pPr algn="r" defTabSz="914339">
              <a:defRPr/>
            </a:pPr>
            <a:r>
              <a:rPr lang="de-DE" kern="0" spc="-1" noProof="1">
                <a:solidFill>
                  <a:srgbClr val="E1320F"/>
                </a:solidFill>
                <a:latin typeface="Calibri" panose="020F0502020204030204"/>
                <a:ea typeface="Arial"/>
              </a:rPr>
              <a:t>🎯</a:t>
            </a:r>
            <a:endParaRPr lang="de-DE" kern="0" spc="-1" noProof="1">
              <a:solidFill>
                <a:srgbClr val="000000"/>
              </a:solidFill>
              <a:latin typeface="Calibri" panose="020F0502020204030204"/>
            </a:endParaRPr>
          </a:p>
        </p:txBody>
      </p:sp>
      <p:sp>
        <p:nvSpPr>
          <p:cNvPr id="231" name="Fußzeilenplatzhalter 12">
            <a:extLst>
              <a:ext uri="{FF2B5EF4-FFF2-40B4-BE49-F238E27FC236}">
                <a16:creationId xmlns:a16="http://schemas.microsoft.com/office/drawing/2014/main" id="{F7138B9C-5C9E-CDCB-FBE3-49C300DE4A5A}"/>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351234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Diagramm 16">
            <a:extLst>
              <a:ext uri="{FF2B5EF4-FFF2-40B4-BE49-F238E27FC236}">
                <a16:creationId xmlns:a16="http://schemas.microsoft.com/office/drawing/2014/main" id="{6A4A4913-FCC7-FF3A-38A8-0DC30ABAD7F4}"/>
              </a:ext>
            </a:extLst>
          </p:cNvPr>
          <p:cNvGraphicFramePr/>
          <p:nvPr>
            <p:extLst>
              <p:ext uri="{D42A27DB-BD31-4B8C-83A1-F6EECF244321}">
                <p14:modId xmlns:p14="http://schemas.microsoft.com/office/powerpoint/2010/main" val="1513891936"/>
              </p:ext>
            </p:extLst>
          </p:nvPr>
        </p:nvGraphicFramePr>
        <p:xfrm>
          <a:off x="3622372" y="891986"/>
          <a:ext cx="8571411" cy="53586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34" name="Picture 10" descr="Fig. 2">
            <a:extLst>
              <a:ext uri="{FF2B5EF4-FFF2-40B4-BE49-F238E27FC236}">
                <a16:creationId xmlns:a16="http://schemas.microsoft.com/office/drawing/2014/main" id="{C4AE0C85-4E8A-25B3-678C-3C1605E4662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593155" y="4027937"/>
            <a:ext cx="1389814" cy="92882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D4C07C77-C287-6108-B493-28263DA36D6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349408" y="5024937"/>
            <a:ext cx="2842592" cy="116348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hpp">
            <a:extLst>
              <a:ext uri="{FF2B5EF4-FFF2-40B4-BE49-F238E27FC236}">
                <a16:creationId xmlns:a16="http://schemas.microsoft.com/office/drawing/2014/main" id="{0570B6A1-F760-82B0-350C-EEA08F611FA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200565" y="1351911"/>
            <a:ext cx="2066604" cy="189300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ighlights in IDA ICE 5.1">
            <a:extLst>
              <a:ext uri="{FF2B5EF4-FFF2-40B4-BE49-F238E27FC236}">
                <a16:creationId xmlns:a16="http://schemas.microsoft.com/office/drawing/2014/main" id="{BF6C2FFA-50BA-AFDE-7A05-34BE0D5657B4}"/>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365981" y="5409823"/>
            <a:ext cx="3075432" cy="131599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5B1CA42A-CE0D-1529-48BB-2D806AB63444}"/>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17993" t="7746" r="10620" b="17439"/>
          <a:stretch>
            <a:fillRect/>
          </a:stretch>
        </p:blipFill>
        <p:spPr bwMode="auto">
          <a:xfrm>
            <a:off x="4309379" y="2954159"/>
            <a:ext cx="2586596" cy="1500387"/>
          </a:xfrm>
          <a:prstGeom prst="rect">
            <a:avLst/>
          </a:prstGeom>
          <a:noFill/>
          <a:extLst>
            <a:ext uri="{909E8E84-426E-40DD-AFC4-6F175D3DCCD1}">
              <a14:hiddenFill xmlns:a14="http://schemas.microsoft.com/office/drawing/2010/main">
                <a:solidFill>
                  <a:srgbClr val="FFFFFF"/>
                </a:solidFill>
              </a14:hiddenFill>
            </a:ext>
          </a:extLst>
        </p:spPr>
      </p:pic>
      <p:sp>
        <p:nvSpPr>
          <p:cNvPr id="4" name="Titel 3">
            <a:extLst>
              <a:ext uri="{FF2B5EF4-FFF2-40B4-BE49-F238E27FC236}">
                <a16:creationId xmlns:a16="http://schemas.microsoft.com/office/drawing/2014/main" id="{02DB6AEE-9776-1272-7302-6C34BEBE6975}"/>
              </a:ext>
            </a:extLst>
          </p:cNvPr>
          <p:cNvSpPr>
            <a:spLocks noGrp="1"/>
          </p:cNvSpPr>
          <p:nvPr>
            <p:ph type="title"/>
          </p:nvPr>
        </p:nvSpPr>
        <p:spPr/>
        <p:txBody>
          <a:bodyPr>
            <a:normAutofit fontScale="90000"/>
          </a:bodyPr>
          <a:lstStyle/>
          <a:p>
            <a:r>
              <a:rPr lang="de-DE" dirty="0"/>
              <a:t>Energiemodelle von </a:t>
            </a:r>
            <a:br>
              <a:rPr lang="de-DE" dirty="0"/>
            </a:br>
            <a:r>
              <a:rPr lang="de-DE" dirty="0"/>
              <a:t>Gebäuden und Quartiere</a:t>
            </a:r>
          </a:p>
        </p:txBody>
      </p:sp>
      <p:sp>
        <p:nvSpPr>
          <p:cNvPr id="6" name="Textplatzhalter 5">
            <a:extLst>
              <a:ext uri="{FF2B5EF4-FFF2-40B4-BE49-F238E27FC236}">
                <a16:creationId xmlns:a16="http://schemas.microsoft.com/office/drawing/2014/main" id="{19AD684D-E337-9D4C-A5AC-22F8BACDAC80}"/>
              </a:ext>
            </a:extLst>
          </p:cNvPr>
          <p:cNvSpPr>
            <a:spLocks noGrp="1"/>
          </p:cNvSpPr>
          <p:nvPr>
            <p:ph type="body" sz="quarter" idx="13"/>
          </p:nvPr>
        </p:nvSpPr>
        <p:spPr>
          <a:xfrm>
            <a:off x="719670" y="2508274"/>
            <a:ext cx="3304634" cy="3634294"/>
          </a:xfrm>
        </p:spPr>
        <p:txBody>
          <a:bodyPr/>
          <a:lstStyle/>
          <a:p>
            <a:pPr marL="0" indent="0">
              <a:buNone/>
            </a:pPr>
            <a:r>
              <a:rPr lang="de-DE" dirty="0"/>
              <a:t>Spannungsfeld Genauigkeit – Umfang – Handhabbarkeit</a:t>
            </a:r>
          </a:p>
          <a:p>
            <a:endParaRPr lang="de-DE" dirty="0"/>
          </a:p>
        </p:txBody>
      </p:sp>
      <p:sp>
        <p:nvSpPr>
          <p:cNvPr id="3" name="Foliennummernplatzhalter 2">
            <a:extLst>
              <a:ext uri="{FF2B5EF4-FFF2-40B4-BE49-F238E27FC236}">
                <a16:creationId xmlns:a16="http://schemas.microsoft.com/office/drawing/2014/main" id="{5B92B792-F521-7D9E-3AB0-1DB4315569F7}"/>
              </a:ext>
            </a:extLst>
          </p:cNvPr>
          <p:cNvSpPr>
            <a:spLocks noGrp="1"/>
          </p:cNvSpPr>
          <p:nvPr>
            <p:ph type="sldNum" sz="quarter" idx="12"/>
          </p:nvPr>
        </p:nvSpPr>
        <p:spPr/>
        <p:txBody>
          <a:bodyPr/>
          <a:lstStyle/>
          <a:p>
            <a:pPr defTabSz="914339">
              <a:defRPr/>
            </a:pPr>
            <a:endParaRPr lang="de-AT" sz="1000" kern="0" dirty="0">
              <a:solidFill>
                <a:prstClr val="black"/>
              </a:solidFill>
              <a:latin typeface="Calibri Light"/>
              <a:cs typeface="Arial"/>
            </a:endParaRPr>
          </a:p>
          <a:p>
            <a:pPr defTabSz="914339">
              <a:defRPr/>
            </a:pPr>
            <a:fld id="{6DF1416F-3104-4888-B9E3-BED4C99BC5D9}" type="slidenum">
              <a:rPr lang="de-AT" sz="800" kern="0">
                <a:solidFill>
                  <a:srgbClr val="626B71"/>
                </a:solidFill>
                <a:latin typeface="Calibri Light"/>
                <a:cs typeface="Arial"/>
              </a:rPr>
              <a:pPr defTabSz="914339">
                <a:defRPr/>
              </a:pPr>
              <a:t>5</a:t>
            </a:fld>
            <a:endParaRPr lang="de-AT" sz="800" kern="0" dirty="0">
              <a:solidFill>
                <a:srgbClr val="626B71"/>
              </a:solidFill>
              <a:latin typeface="Calibri Light"/>
              <a:cs typeface="Arial"/>
            </a:endParaRPr>
          </a:p>
        </p:txBody>
      </p:sp>
      <p:sp>
        <p:nvSpPr>
          <p:cNvPr id="18" name="Rechteck: abgerundete Ecken 17">
            <a:extLst>
              <a:ext uri="{FF2B5EF4-FFF2-40B4-BE49-F238E27FC236}">
                <a16:creationId xmlns:a16="http://schemas.microsoft.com/office/drawing/2014/main" id="{CB6D51F8-7BD2-F2D2-F324-95D26A074C8A}"/>
              </a:ext>
            </a:extLst>
          </p:cNvPr>
          <p:cNvSpPr/>
          <p:nvPr/>
        </p:nvSpPr>
        <p:spPr>
          <a:xfrm>
            <a:off x="6827776" y="2207230"/>
            <a:ext cx="2299860" cy="604311"/>
          </a:xfrm>
          <a:prstGeom prst="roundRect">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defTabSz="914339">
              <a:defRPr/>
            </a:pPr>
            <a:r>
              <a:rPr lang="de-DE" sz="1600" kern="0" dirty="0">
                <a:solidFill>
                  <a:prstClr val="white"/>
                </a:solidFill>
                <a:latin typeface="Aptos" panose="02110004020202020204"/>
              </a:rPr>
              <a:t>Stationäre Methoden (Energieausweis)</a:t>
            </a:r>
            <a:endParaRPr lang="de-AT" sz="1600" kern="0" dirty="0">
              <a:solidFill>
                <a:prstClr val="white"/>
              </a:solidFill>
              <a:latin typeface="Aptos" panose="02110004020202020204"/>
            </a:endParaRPr>
          </a:p>
        </p:txBody>
      </p:sp>
      <p:sp>
        <p:nvSpPr>
          <p:cNvPr id="19" name="Rechteck: abgerundete Ecken 18">
            <a:extLst>
              <a:ext uri="{FF2B5EF4-FFF2-40B4-BE49-F238E27FC236}">
                <a16:creationId xmlns:a16="http://schemas.microsoft.com/office/drawing/2014/main" id="{1E77B550-14E4-3FD9-8F30-2D755216D219}"/>
              </a:ext>
            </a:extLst>
          </p:cNvPr>
          <p:cNvSpPr/>
          <p:nvPr/>
        </p:nvSpPr>
        <p:spPr>
          <a:xfrm>
            <a:off x="4580904" y="5137008"/>
            <a:ext cx="2539120" cy="592985"/>
          </a:xfrm>
          <a:prstGeom prst="roundRect">
            <a:avLst/>
          </a:prstGeom>
          <a:solidFill>
            <a:srgbClr val="156082"/>
          </a:solidFill>
          <a:ln w="19050" cap="flat" cmpd="sng" algn="ctr">
            <a:solidFill>
              <a:srgbClr val="156082">
                <a:shade val="15000"/>
              </a:srgbClr>
            </a:solidFill>
            <a:prstDash val="solid"/>
            <a:miter lim="800000"/>
          </a:ln>
          <a:effectLst/>
        </p:spPr>
        <p:txBody>
          <a:bodyPr rtlCol="0" anchor="b"/>
          <a:lstStyle/>
          <a:p>
            <a:pPr algn="ctr" defTabSz="914339">
              <a:defRPr/>
            </a:pPr>
            <a:r>
              <a:rPr lang="de-DE" kern="0" dirty="0">
                <a:solidFill>
                  <a:prstClr val="white"/>
                </a:solidFill>
                <a:latin typeface="Aptos" panose="02110004020202020204"/>
              </a:rPr>
              <a:t>BEMs</a:t>
            </a:r>
            <a:r>
              <a:rPr lang="de-DE" sz="2800" kern="0" dirty="0">
                <a:solidFill>
                  <a:prstClr val="white"/>
                </a:solidFill>
                <a:latin typeface="Aptos" panose="02110004020202020204"/>
              </a:rPr>
              <a:t> </a:t>
            </a:r>
          </a:p>
          <a:p>
            <a:pPr algn="ctr" defTabSz="914339">
              <a:defRPr/>
            </a:pPr>
            <a:r>
              <a:rPr lang="de-DE" sz="1400" kern="0" dirty="0">
                <a:solidFill>
                  <a:prstClr val="white"/>
                </a:solidFill>
                <a:latin typeface="Aptos" panose="02110004020202020204"/>
              </a:rPr>
              <a:t>(e.g.TRNSYS, IDA-ICE, E+)</a:t>
            </a:r>
            <a:endParaRPr lang="de-AT" sz="1400" kern="0" dirty="0">
              <a:solidFill>
                <a:prstClr val="white"/>
              </a:solidFill>
              <a:latin typeface="Aptos" panose="02110004020202020204"/>
            </a:endParaRPr>
          </a:p>
        </p:txBody>
      </p:sp>
      <p:sp>
        <p:nvSpPr>
          <p:cNvPr id="20" name="Textfeld 19">
            <a:extLst>
              <a:ext uri="{FF2B5EF4-FFF2-40B4-BE49-F238E27FC236}">
                <a16:creationId xmlns:a16="http://schemas.microsoft.com/office/drawing/2014/main" id="{E8C07809-1232-F9F1-9B1A-2814571AE444}"/>
              </a:ext>
            </a:extLst>
          </p:cNvPr>
          <p:cNvSpPr txBox="1"/>
          <p:nvPr/>
        </p:nvSpPr>
        <p:spPr>
          <a:xfrm>
            <a:off x="5674911" y="4358069"/>
            <a:ext cx="2120020" cy="830997"/>
          </a:xfrm>
          <a:prstGeom prst="rect">
            <a:avLst/>
          </a:prstGeom>
          <a:noFill/>
        </p:spPr>
        <p:txBody>
          <a:bodyPr wrap="square">
            <a:spAutoFit/>
          </a:bodyPr>
          <a:lstStyle/>
          <a:p>
            <a:pPr algn="r" defTabSz="914339">
              <a:defRPr/>
            </a:pPr>
            <a:r>
              <a:rPr lang="de-DE" sz="2400" dirty="0">
                <a:solidFill>
                  <a:prstClr val="black"/>
                </a:solidFill>
                <a:latin typeface="Aptos" panose="02110004020202020204"/>
              </a:rPr>
              <a:t>Genauigkeit und Detailgrad</a:t>
            </a:r>
            <a:endParaRPr lang="de-AT" sz="2400" dirty="0">
              <a:solidFill>
                <a:prstClr val="black"/>
              </a:solidFill>
              <a:latin typeface="Aptos" panose="02110004020202020204"/>
            </a:endParaRPr>
          </a:p>
        </p:txBody>
      </p:sp>
      <p:sp>
        <p:nvSpPr>
          <p:cNvPr id="21" name="Textfeld 20">
            <a:extLst>
              <a:ext uri="{FF2B5EF4-FFF2-40B4-BE49-F238E27FC236}">
                <a16:creationId xmlns:a16="http://schemas.microsoft.com/office/drawing/2014/main" id="{7D77E425-405F-5C0D-3E6F-F0BFA1CB8755}"/>
              </a:ext>
            </a:extLst>
          </p:cNvPr>
          <p:cNvSpPr txBox="1"/>
          <p:nvPr/>
        </p:nvSpPr>
        <p:spPr>
          <a:xfrm>
            <a:off x="5449947" y="1192732"/>
            <a:ext cx="4394922" cy="830997"/>
          </a:xfrm>
          <a:prstGeom prst="rect">
            <a:avLst/>
          </a:prstGeom>
          <a:noFill/>
        </p:spPr>
        <p:txBody>
          <a:bodyPr wrap="square">
            <a:spAutoFit/>
          </a:bodyPr>
          <a:lstStyle/>
          <a:p>
            <a:pPr algn="ctr" defTabSz="914339">
              <a:defRPr/>
            </a:pPr>
            <a:r>
              <a:rPr lang="de-AT" sz="2400" dirty="0">
                <a:solidFill>
                  <a:prstClr val="black"/>
                </a:solidFill>
                <a:latin typeface="Aptos" panose="02110004020202020204"/>
              </a:rPr>
              <a:t>Verwendbarkeit und Handhabung</a:t>
            </a:r>
          </a:p>
        </p:txBody>
      </p:sp>
      <p:sp>
        <p:nvSpPr>
          <p:cNvPr id="22" name="Textfeld 21">
            <a:extLst>
              <a:ext uri="{FF2B5EF4-FFF2-40B4-BE49-F238E27FC236}">
                <a16:creationId xmlns:a16="http://schemas.microsoft.com/office/drawing/2014/main" id="{0587C86D-336D-38C1-85CA-87F90AA5792D}"/>
              </a:ext>
            </a:extLst>
          </p:cNvPr>
          <p:cNvSpPr txBox="1"/>
          <p:nvPr/>
        </p:nvSpPr>
        <p:spPr>
          <a:xfrm>
            <a:off x="8661590" y="3555236"/>
            <a:ext cx="3247117" cy="830997"/>
          </a:xfrm>
          <a:prstGeom prst="rect">
            <a:avLst/>
          </a:prstGeom>
          <a:noFill/>
        </p:spPr>
        <p:txBody>
          <a:bodyPr wrap="square">
            <a:spAutoFit/>
          </a:bodyPr>
          <a:lstStyle/>
          <a:p>
            <a:pPr defTabSz="914339">
              <a:defRPr/>
            </a:pPr>
            <a:r>
              <a:rPr lang="de-DE" sz="2400" dirty="0">
                <a:solidFill>
                  <a:prstClr val="black"/>
                </a:solidFill>
                <a:latin typeface="Aptos" panose="02110004020202020204"/>
              </a:rPr>
              <a:t>Umfang </a:t>
            </a:r>
            <a:r>
              <a:rPr lang="de-DE" dirty="0">
                <a:solidFill>
                  <a:prstClr val="black"/>
                </a:solidFill>
                <a:latin typeface="Aptos" panose="02110004020202020204"/>
              </a:rPr>
              <a:t>(Betrieb, Mobilität, Ökobilanz, etc.)</a:t>
            </a:r>
            <a:r>
              <a:rPr lang="de-DE" sz="2400" dirty="0">
                <a:solidFill>
                  <a:prstClr val="black"/>
                </a:solidFill>
                <a:latin typeface="Aptos" panose="02110004020202020204"/>
              </a:rPr>
              <a:t> </a:t>
            </a:r>
            <a:endParaRPr lang="de-AT" sz="2400" dirty="0">
              <a:solidFill>
                <a:prstClr val="black"/>
              </a:solidFill>
              <a:latin typeface="Aptos" panose="02110004020202020204"/>
            </a:endParaRPr>
          </a:p>
        </p:txBody>
      </p:sp>
      <p:sp>
        <p:nvSpPr>
          <p:cNvPr id="23" name="Rechteck: abgerundete Ecken 22">
            <a:extLst>
              <a:ext uri="{FF2B5EF4-FFF2-40B4-BE49-F238E27FC236}">
                <a16:creationId xmlns:a16="http://schemas.microsoft.com/office/drawing/2014/main" id="{14BE6561-533D-F764-B8E7-B167635409B6}"/>
              </a:ext>
            </a:extLst>
          </p:cNvPr>
          <p:cNvSpPr/>
          <p:nvPr/>
        </p:nvSpPr>
        <p:spPr>
          <a:xfrm>
            <a:off x="5035990" y="3188317"/>
            <a:ext cx="2120021" cy="461665"/>
          </a:xfrm>
          <a:prstGeom prst="roundRect">
            <a:avLst/>
          </a:prstGeom>
          <a:solidFill>
            <a:srgbClr val="156082"/>
          </a:solidFill>
          <a:ln w="19050" cap="flat" cmpd="sng" algn="ctr">
            <a:solidFill>
              <a:srgbClr val="156082">
                <a:shade val="15000"/>
              </a:srgbClr>
            </a:solidFill>
            <a:prstDash val="solid"/>
            <a:miter lim="800000"/>
          </a:ln>
          <a:effectLst/>
        </p:spPr>
        <p:txBody>
          <a:bodyPr rtlCol="0" anchor="ctr"/>
          <a:lstStyle/>
          <a:p>
            <a:pPr algn="ctr" defTabSz="914339">
              <a:defRPr/>
            </a:pPr>
            <a:r>
              <a:rPr lang="de-DE" kern="0" dirty="0">
                <a:solidFill>
                  <a:prstClr val="white"/>
                </a:solidFill>
                <a:latin typeface="Aptos" panose="02110004020202020204"/>
              </a:rPr>
              <a:t>DEMs (e.g.CEA)</a:t>
            </a:r>
            <a:endParaRPr lang="de-AT" kern="0" dirty="0">
              <a:solidFill>
                <a:prstClr val="white"/>
              </a:solidFill>
              <a:latin typeface="Aptos" panose="02110004020202020204"/>
            </a:endParaRPr>
          </a:p>
        </p:txBody>
      </p:sp>
      <p:sp>
        <p:nvSpPr>
          <p:cNvPr id="24" name="Rechteck: abgerundete Ecken 23">
            <a:extLst>
              <a:ext uri="{FF2B5EF4-FFF2-40B4-BE49-F238E27FC236}">
                <a16:creationId xmlns:a16="http://schemas.microsoft.com/office/drawing/2014/main" id="{923C1FC4-0C26-F927-5CDC-1877B68544FD}"/>
              </a:ext>
            </a:extLst>
          </p:cNvPr>
          <p:cNvSpPr/>
          <p:nvPr/>
        </p:nvSpPr>
        <p:spPr>
          <a:xfrm>
            <a:off x="8070356" y="4451430"/>
            <a:ext cx="2393576" cy="627398"/>
          </a:xfrm>
          <a:prstGeom prst="roundRect">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defTabSz="914339">
              <a:defRPr/>
            </a:pPr>
            <a:r>
              <a:rPr lang="de-DE" sz="1600" kern="0" dirty="0">
                <a:solidFill>
                  <a:prstClr val="white"/>
                </a:solidFill>
                <a:latin typeface="Aptos" panose="02110004020202020204"/>
              </a:rPr>
              <a:t>Aggregated Frameworks</a:t>
            </a:r>
          </a:p>
          <a:p>
            <a:pPr algn="ctr" defTabSz="914339">
              <a:defRPr/>
            </a:pPr>
            <a:r>
              <a:rPr lang="de-DE" sz="1200" kern="0" dirty="0">
                <a:solidFill>
                  <a:prstClr val="white"/>
                </a:solidFill>
                <a:latin typeface="Aptos" panose="02110004020202020204"/>
              </a:rPr>
              <a:t>(e.g. INSEL, EnergyPlan)</a:t>
            </a:r>
            <a:endParaRPr lang="de-AT" sz="1200" kern="0" dirty="0">
              <a:solidFill>
                <a:prstClr val="white"/>
              </a:solidFill>
              <a:latin typeface="Aptos" panose="02110004020202020204"/>
            </a:endParaRPr>
          </a:p>
        </p:txBody>
      </p:sp>
      <p:sp>
        <p:nvSpPr>
          <p:cNvPr id="26" name="Ellipse 25">
            <a:extLst>
              <a:ext uri="{FF2B5EF4-FFF2-40B4-BE49-F238E27FC236}">
                <a16:creationId xmlns:a16="http://schemas.microsoft.com/office/drawing/2014/main" id="{AB91E05F-AE18-F657-C94A-927316ABA540}"/>
              </a:ext>
            </a:extLst>
          </p:cNvPr>
          <p:cNvSpPr/>
          <p:nvPr/>
        </p:nvSpPr>
        <p:spPr>
          <a:xfrm>
            <a:off x="7147124" y="2920227"/>
            <a:ext cx="1497884" cy="1555840"/>
          </a:xfrm>
          <a:prstGeom prst="ellipse">
            <a:avLst/>
          </a:prstGeom>
          <a:solidFill>
            <a:sysClr val="window" lastClr="FFFFFF"/>
          </a:solidFill>
          <a:ln w="19050" cap="flat" cmpd="sng" algn="ctr">
            <a:noFill/>
            <a:prstDash val="solid"/>
            <a:miter lim="800000"/>
          </a:ln>
          <a:effectLst/>
        </p:spPr>
        <p:txBody>
          <a:bodyPr rtlCol="0" anchor="ctr"/>
          <a:lstStyle/>
          <a:p>
            <a:pPr algn="ctr" defTabSz="914339">
              <a:defRPr/>
            </a:pPr>
            <a:endParaRPr lang="de-AT" sz="600" kern="0" dirty="0">
              <a:solidFill>
                <a:prstClr val="white"/>
              </a:solidFill>
              <a:latin typeface="Aptos" panose="02110004020202020204"/>
            </a:endParaRPr>
          </a:p>
        </p:txBody>
      </p:sp>
      <p:pic>
        <p:nvPicPr>
          <p:cNvPr id="27" name="Picture 2">
            <a:extLst>
              <a:ext uri="{FF2B5EF4-FFF2-40B4-BE49-F238E27FC236}">
                <a16:creationId xmlns:a16="http://schemas.microsoft.com/office/drawing/2014/main" id="{0DA4F497-C162-2E37-A552-8FBBA89F395B}"/>
              </a:ext>
            </a:extLst>
          </p:cNvPr>
          <p:cNvPicPr>
            <a:picLocks noChangeAspect="1" noChangeArrowheads="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147124" y="2954159"/>
            <a:ext cx="1521906" cy="1521908"/>
          </a:xfrm>
          <a:prstGeom prst="rect">
            <a:avLst/>
          </a:prstGeom>
          <a:noFill/>
          <a:extLst>
            <a:ext uri="{909E8E84-426E-40DD-AFC4-6F175D3DCCD1}">
              <a14:hiddenFill xmlns:a14="http://schemas.microsoft.com/office/drawing/2010/main">
                <a:solidFill>
                  <a:srgbClr val="FFFFFF"/>
                </a:solidFill>
              </a14:hiddenFill>
            </a:ext>
          </a:extLst>
        </p:spPr>
      </p:pic>
      <p:sp>
        <p:nvSpPr>
          <p:cNvPr id="7" name="Fußzeilenplatzhalter 12">
            <a:extLst>
              <a:ext uri="{FF2B5EF4-FFF2-40B4-BE49-F238E27FC236}">
                <a16:creationId xmlns:a16="http://schemas.microsoft.com/office/drawing/2014/main" id="{3EDD4FFF-B5A4-4388-DB4B-2FF479166FF6}"/>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3356881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BA24F3-BA8F-87F3-D862-BDD2F239921E}"/>
              </a:ext>
            </a:extLst>
          </p:cNvPr>
          <p:cNvSpPr>
            <a:spLocks noGrp="1"/>
          </p:cNvSpPr>
          <p:nvPr>
            <p:ph type="title"/>
          </p:nvPr>
        </p:nvSpPr>
        <p:spPr/>
        <p:txBody>
          <a:bodyPr>
            <a:normAutofit/>
          </a:bodyPr>
          <a:lstStyle/>
          <a:p>
            <a:r>
              <a:rPr lang="de-AT" dirty="0"/>
              <a:t>The journey so far:</a:t>
            </a:r>
          </a:p>
        </p:txBody>
      </p:sp>
      <p:sp>
        <p:nvSpPr>
          <p:cNvPr id="3" name="Textplatzhalter 2">
            <a:extLst>
              <a:ext uri="{FF2B5EF4-FFF2-40B4-BE49-F238E27FC236}">
                <a16:creationId xmlns:a16="http://schemas.microsoft.com/office/drawing/2014/main" id="{9FE6C2BA-6D06-C4AA-4483-8167E2F9F3B3}"/>
              </a:ext>
            </a:extLst>
          </p:cNvPr>
          <p:cNvSpPr>
            <a:spLocks noGrp="1"/>
          </p:cNvSpPr>
          <p:nvPr>
            <p:ph type="body" sz="quarter" idx="13"/>
          </p:nvPr>
        </p:nvSpPr>
        <p:spPr/>
        <p:txBody>
          <a:bodyPr/>
          <a:lstStyle/>
          <a:p>
            <a:endParaRPr lang="de-DE" dirty="0"/>
          </a:p>
        </p:txBody>
      </p:sp>
      <p:sp>
        <p:nvSpPr>
          <p:cNvPr id="4" name="Foliennummernplatzhalter 3">
            <a:extLst>
              <a:ext uri="{FF2B5EF4-FFF2-40B4-BE49-F238E27FC236}">
                <a16:creationId xmlns:a16="http://schemas.microsoft.com/office/drawing/2014/main" id="{27A68C57-D88C-7526-3A57-E0B0EB1FB7CF}"/>
              </a:ext>
            </a:extLst>
          </p:cNvPr>
          <p:cNvSpPr>
            <a:spLocks noGrp="1"/>
          </p:cNvSpPr>
          <p:nvPr>
            <p:ph type="sldNum" sz="quarter" idx="12"/>
          </p:nvPr>
        </p:nvSpPr>
        <p:spPr/>
        <p:txBody>
          <a:bodyPr/>
          <a:lstStyle/>
          <a:p>
            <a:pPr defTabSz="914339">
              <a:defRPr/>
            </a:pPr>
            <a:endParaRPr lang="de-AT" sz="1000" kern="0" dirty="0">
              <a:solidFill>
                <a:prstClr val="black"/>
              </a:solidFill>
              <a:latin typeface="Calibri Light"/>
              <a:cs typeface="Arial"/>
            </a:endParaRPr>
          </a:p>
          <a:p>
            <a:pPr defTabSz="914339">
              <a:defRPr/>
            </a:pPr>
            <a:fld id="{6DF1416F-3104-4888-B9E3-BED4C99BC5D9}" type="slidenum">
              <a:rPr lang="de-AT" sz="800" kern="0">
                <a:solidFill>
                  <a:srgbClr val="626B71"/>
                </a:solidFill>
                <a:latin typeface="Calibri Light"/>
                <a:cs typeface="Arial"/>
              </a:rPr>
              <a:pPr defTabSz="914339">
                <a:defRPr/>
              </a:pPr>
              <a:t>6</a:t>
            </a:fld>
            <a:endParaRPr lang="de-AT" sz="800" kern="0" dirty="0">
              <a:solidFill>
                <a:srgbClr val="626B71"/>
              </a:solidFill>
              <a:latin typeface="Calibri Light"/>
              <a:cs typeface="Arial"/>
            </a:endParaRPr>
          </a:p>
        </p:txBody>
      </p:sp>
      <p:graphicFrame>
        <p:nvGraphicFramePr>
          <p:cNvPr id="6" name="Inhaltsplatzhalter 5">
            <a:extLst>
              <a:ext uri="{FF2B5EF4-FFF2-40B4-BE49-F238E27FC236}">
                <a16:creationId xmlns:a16="http://schemas.microsoft.com/office/drawing/2014/main" id="{4F07CBA1-4225-9662-A35D-5FDED889F510}"/>
              </a:ext>
            </a:extLst>
          </p:cNvPr>
          <p:cNvGraphicFramePr>
            <a:graphicFrameLocks noGrp="1"/>
          </p:cNvGraphicFramePr>
          <p:nvPr>
            <p:ph idx="4294967295"/>
            <p:extLst>
              <p:ext uri="{D42A27DB-BD31-4B8C-83A1-F6EECF244321}">
                <p14:modId xmlns:p14="http://schemas.microsoft.com/office/powerpoint/2010/main" val="3873144040"/>
              </p:ext>
            </p:extLst>
          </p:nvPr>
        </p:nvGraphicFramePr>
        <p:xfrm>
          <a:off x="239714" y="1343026"/>
          <a:ext cx="11952287" cy="46767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ußzeilenplatzhalter 12">
            <a:extLst>
              <a:ext uri="{FF2B5EF4-FFF2-40B4-BE49-F238E27FC236}">
                <a16:creationId xmlns:a16="http://schemas.microsoft.com/office/drawing/2014/main" id="{397CC2B8-6062-19C9-78B0-0C76AE22EBE7}"/>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587149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489094-087F-83D0-59C1-ECEF5E6B77E8}"/>
              </a:ext>
            </a:extLst>
          </p:cNvPr>
          <p:cNvSpPr>
            <a:spLocks noGrp="1"/>
          </p:cNvSpPr>
          <p:nvPr>
            <p:ph type="title"/>
          </p:nvPr>
        </p:nvSpPr>
        <p:spPr/>
        <p:txBody>
          <a:bodyPr>
            <a:normAutofit/>
          </a:bodyPr>
          <a:lstStyle/>
          <a:p>
            <a:r>
              <a:rPr lang="de-AT" dirty="0"/>
              <a:t>Die Nachweis-Schleife</a:t>
            </a:r>
          </a:p>
        </p:txBody>
      </p:sp>
      <p:sp>
        <p:nvSpPr>
          <p:cNvPr id="3" name="Foliennummernplatzhalter 2">
            <a:extLst>
              <a:ext uri="{FF2B5EF4-FFF2-40B4-BE49-F238E27FC236}">
                <a16:creationId xmlns:a16="http://schemas.microsoft.com/office/drawing/2014/main" id="{9C05270F-87FB-D710-98A2-CE46F799D8FC}"/>
              </a:ext>
            </a:extLst>
          </p:cNvPr>
          <p:cNvSpPr>
            <a:spLocks noGrp="1"/>
          </p:cNvSpPr>
          <p:nvPr>
            <p:ph type="sldNum" sz="quarter" idx="12"/>
          </p:nvPr>
        </p:nvSpPr>
        <p:spPr/>
        <p:txBody>
          <a:bodyPr/>
          <a:lstStyle/>
          <a:p>
            <a:pPr defTabSz="914339">
              <a:defRPr/>
            </a:pPr>
            <a:endParaRPr lang="de-AT" sz="1000" kern="0" dirty="0">
              <a:solidFill>
                <a:prstClr val="black"/>
              </a:solidFill>
              <a:latin typeface="Calibri Light"/>
              <a:cs typeface="Arial"/>
            </a:endParaRPr>
          </a:p>
          <a:p>
            <a:pPr defTabSz="914339">
              <a:defRPr/>
            </a:pPr>
            <a:fld id="{6DF1416F-3104-4888-B9E3-BED4C99BC5D9}" type="slidenum">
              <a:rPr lang="de-AT" sz="800" kern="0">
                <a:solidFill>
                  <a:srgbClr val="626B71"/>
                </a:solidFill>
                <a:latin typeface="Calibri Light"/>
                <a:cs typeface="Arial"/>
              </a:rPr>
              <a:pPr defTabSz="914339">
                <a:defRPr/>
              </a:pPr>
              <a:t>7</a:t>
            </a:fld>
            <a:endParaRPr lang="de-AT" sz="800" kern="0" dirty="0">
              <a:solidFill>
                <a:srgbClr val="626B71"/>
              </a:solidFill>
              <a:latin typeface="Calibri Light"/>
              <a:cs typeface="Arial"/>
            </a:endParaRPr>
          </a:p>
        </p:txBody>
      </p:sp>
      <p:graphicFrame>
        <p:nvGraphicFramePr>
          <p:cNvPr id="10" name="Diagramm 9">
            <a:extLst>
              <a:ext uri="{FF2B5EF4-FFF2-40B4-BE49-F238E27FC236}">
                <a16:creationId xmlns:a16="http://schemas.microsoft.com/office/drawing/2014/main" id="{00CF0F4B-2B50-142E-2147-FC1E27D26474}"/>
              </a:ext>
            </a:extLst>
          </p:cNvPr>
          <p:cNvGraphicFramePr/>
          <p:nvPr>
            <p:extLst>
              <p:ext uri="{D42A27DB-BD31-4B8C-83A1-F6EECF244321}">
                <p14:modId xmlns:p14="http://schemas.microsoft.com/office/powerpoint/2010/main" val="3941670390"/>
              </p:ext>
            </p:extLst>
          </p:nvPr>
        </p:nvGraphicFramePr>
        <p:xfrm>
          <a:off x="2360898" y="1597547"/>
          <a:ext cx="7691720" cy="49228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Grafik 7">
            <a:extLst>
              <a:ext uri="{FF2B5EF4-FFF2-40B4-BE49-F238E27FC236}">
                <a16:creationId xmlns:a16="http://schemas.microsoft.com/office/drawing/2014/main" id="{CD4D6FE4-EA41-F448-2FF6-6ACBC3D57EA3}"/>
              </a:ext>
            </a:extLst>
          </p:cNvPr>
          <p:cNvPicPr>
            <a:picLocks noChangeAspect="1"/>
          </p:cNvPicPr>
          <p:nvPr/>
        </p:nvPicPr>
        <p:blipFill>
          <a:blip r:embed="rId8"/>
          <a:stretch>
            <a:fillRect/>
          </a:stretch>
        </p:blipFill>
        <p:spPr>
          <a:xfrm>
            <a:off x="863896" y="4109249"/>
            <a:ext cx="2994004" cy="506677"/>
          </a:xfrm>
          <a:prstGeom prst="rect">
            <a:avLst/>
          </a:prstGeom>
        </p:spPr>
      </p:pic>
      <p:sp>
        <p:nvSpPr>
          <p:cNvPr id="7" name="Textfeld 6">
            <a:extLst>
              <a:ext uri="{FF2B5EF4-FFF2-40B4-BE49-F238E27FC236}">
                <a16:creationId xmlns:a16="http://schemas.microsoft.com/office/drawing/2014/main" id="{98077B88-7969-45EA-4F31-458E43223396}"/>
              </a:ext>
            </a:extLst>
          </p:cNvPr>
          <p:cNvSpPr txBox="1"/>
          <p:nvPr/>
        </p:nvSpPr>
        <p:spPr>
          <a:xfrm>
            <a:off x="725629" y="2133129"/>
            <a:ext cx="3873369" cy="1496692"/>
          </a:xfrm>
          <a:prstGeom prst="rect">
            <a:avLst/>
          </a:prstGeom>
          <a:noFill/>
        </p:spPr>
        <p:txBody>
          <a:bodyPr wrap="square">
            <a:spAutoFit/>
          </a:bodyPr>
          <a:lstStyle/>
          <a:p>
            <a:pPr>
              <a:lnSpc>
                <a:spcPct val="107000"/>
              </a:lnSpc>
              <a:spcBef>
                <a:spcPts val="600"/>
              </a:spcBef>
            </a:pPr>
            <a:r>
              <a:rPr lang="de-DE" b="1" dirty="0">
                <a:solidFill>
                  <a:schemeClr val="accent3">
                    <a:lumMod val="75000"/>
                  </a:schemeClr>
                </a:solidFill>
                <a:latin typeface="+mj-lt"/>
              </a:rPr>
              <a:t>1. Modellierung</a:t>
            </a:r>
          </a:p>
          <a:p>
            <a:pPr marL="285731" indent="-285731">
              <a:buFont typeface="Arial" panose="020B0604020202020204" pitchFamily="34" charset="0"/>
              <a:buChar char="•"/>
            </a:pPr>
            <a:r>
              <a:rPr lang="de-DE" dirty="0">
                <a:solidFill>
                  <a:schemeClr val="accent3">
                    <a:lumMod val="75000"/>
                  </a:schemeClr>
                </a:solidFill>
                <a:latin typeface="+mj-lt"/>
              </a:rPr>
              <a:t>Bereitgestellte Default-Werte</a:t>
            </a:r>
          </a:p>
          <a:p>
            <a:pPr marL="285731" indent="-285731">
              <a:buFont typeface="Arial" panose="020B0604020202020204" pitchFamily="34" charset="0"/>
              <a:buChar char="•"/>
            </a:pPr>
            <a:r>
              <a:rPr lang="de-DE" dirty="0">
                <a:solidFill>
                  <a:schemeClr val="accent3">
                    <a:lumMod val="75000"/>
                  </a:schemeClr>
                </a:solidFill>
                <a:latin typeface="+mj-lt"/>
              </a:rPr>
              <a:t>Default-Varianten</a:t>
            </a:r>
          </a:p>
          <a:p>
            <a:pPr marL="285731" indent="-285731">
              <a:buFont typeface="Arial" panose="020B0604020202020204" pitchFamily="34" charset="0"/>
              <a:buChar char="•"/>
            </a:pPr>
            <a:r>
              <a:rPr lang="de-DE" dirty="0">
                <a:solidFill>
                  <a:schemeClr val="accent3">
                    <a:lumMod val="75000"/>
                  </a:schemeClr>
                </a:solidFill>
                <a:latin typeface="+mj-lt"/>
              </a:rPr>
              <a:t>Defaults typischer Energiesysteme</a:t>
            </a:r>
          </a:p>
          <a:p>
            <a:pPr marL="285731" indent="-285731">
              <a:buFont typeface="Arial" panose="020B0604020202020204" pitchFamily="34" charset="0"/>
              <a:buChar char="•"/>
            </a:pPr>
            <a:r>
              <a:rPr lang="de-DE" dirty="0">
                <a:solidFill>
                  <a:schemeClr val="accent3">
                    <a:lumMod val="75000"/>
                  </a:schemeClr>
                </a:solidFill>
                <a:latin typeface="+mj-lt"/>
              </a:rPr>
              <a:t>„Spezifisch statt generisch“</a:t>
            </a:r>
            <a:endParaRPr lang="de-AT" dirty="0">
              <a:solidFill>
                <a:schemeClr val="accent3">
                  <a:lumMod val="75000"/>
                </a:schemeClr>
              </a:solidFill>
              <a:latin typeface="+mj-lt"/>
              <a:ea typeface="Calibri" panose="020F0502020204030204" pitchFamily="34" charset="0"/>
            </a:endParaRPr>
          </a:p>
        </p:txBody>
      </p:sp>
      <p:sp>
        <p:nvSpPr>
          <p:cNvPr id="9" name="Sprechblase: rechteckig mit abgerundeten Ecken 8">
            <a:extLst>
              <a:ext uri="{FF2B5EF4-FFF2-40B4-BE49-F238E27FC236}">
                <a16:creationId xmlns:a16="http://schemas.microsoft.com/office/drawing/2014/main" id="{BB851C88-BF49-87AA-7716-5DC85295BC84}"/>
              </a:ext>
            </a:extLst>
          </p:cNvPr>
          <p:cNvSpPr/>
          <p:nvPr/>
        </p:nvSpPr>
        <p:spPr>
          <a:xfrm>
            <a:off x="863896" y="3697604"/>
            <a:ext cx="1736429" cy="434804"/>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t>Zellformatierung von Defaultwerten</a:t>
            </a:r>
          </a:p>
        </p:txBody>
      </p:sp>
      <p:sp>
        <p:nvSpPr>
          <p:cNvPr id="15" name="Textfeld 14">
            <a:extLst>
              <a:ext uri="{FF2B5EF4-FFF2-40B4-BE49-F238E27FC236}">
                <a16:creationId xmlns:a16="http://schemas.microsoft.com/office/drawing/2014/main" id="{A9B8FB74-C1BE-5CDA-D2AB-185080FFB99C}"/>
              </a:ext>
            </a:extLst>
          </p:cNvPr>
          <p:cNvSpPr txBox="1"/>
          <p:nvPr/>
        </p:nvSpPr>
        <p:spPr>
          <a:xfrm>
            <a:off x="8318631" y="1678657"/>
            <a:ext cx="3873369" cy="1773691"/>
          </a:xfrm>
          <a:prstGeom prst="rect">
            <a:avLst/>
          </a:prstGeom>
          <a:noFill/>
        </p:spPr>
        <p:txBody>
          <a:bodyPr wrap="square">
            <a:spAutoFit/>
          </a:bodyPr>
          <a:lstStyle/>
          <a:p>
            <a:pPr>
              <a:lnSpc>
                <a:spcPct val="107000"/>
              </a:lnSpc>
              <a:spcBef>
                <a:spcPts val="600"/>
              </a:spcBef>
            </a:pPr>
            <a:r>
              <a:rPr lang="de-DE" b="1" dirty="0">
                <a:solidFill>
                  <a:schemeClr val="accent2">
                    <a:lumMod val="75000"/>
                  </a:schemeClr>
                </a:solidFill>
                <a:latin typeface="+mj-lt"/>
              </a:rPr>
              <a:t>2. Simulation</a:t>
            </a:r>
          </a:p>
          <a:p>
            <a:pPr marL="285731" indent="-285731">
              <a:buFont typeface="Arial" panose="020B0604020202020204" pitchFamily="34" charset="0"/>
              <a:buChar char="•"/>
            </a:pPr>
            <a:r>
              <a:rPr lang="de-DE" dirty="0">
                <a:solidFill>
                  <a:schemeClr val="accent2">
                    <a:lumMod val="75000"/>
                  </a:schemeClr>
                </a:solidFill>
              </a:rPr>
              <a:t>Hohe zeitliche Auflösung (stündlich)</a:t>
            </a:r>
          </a:p>
          <a:p>
            <a:pPr marL="285731" indent="-285731">
              <a:buFont typeface="Arial" panose="020B0604020202020204" pitchFamily="34" charset="0"/>
              <a:buChar char="•"/>
            </a:pPr>
            <a:r>
              <a:rPr lang="de-DE" dirty="0">
                <a:solidFill>
                  <a:schemeClr val="accent2">
                    <a:lumMod val="75000"/>
                  </a:schemeClr>
                </a:solidFill>
              </a:rPr>
              <a:t>~10s für Jahressimulation auf Laptops</a:t>
            </a:r>
          </a:p>
          <a:p>
            <a:pPr marL="285731" indent="-285731">
              <a:buFont typeface="Arial" panose="020B0604020202020204" pitchFamily="34" charset="0"/>
              <a:buChar char="•"/>
            </a:pPr>
            <a:r>
              <a:rPr lang="de-DE" dirty="0">
                <a:solidFill>
                  <a:schemeClr val="accent2">
                    <a:lumMod val="75000"/>
                  </a:schemeClr>
                </a:solidFill>
              </a:rPr>
              <a:t>Räumliche Auflösung gering (2 thermische Zonen)</a:t>
            </a:r>
          </a:p>
        </p:txBody>
      </p:sp>
      <p:sp>
        <p:nvSpPr>
          <p:cNvPr id="16" name="Textfeld 15">
            <a:extLst>
              <a:ext uri="{FF2B5EF4-FFF2-40B4-BE49-F238E27FC236}">
                <a16:creationId xmlns:a16="http://schemas.microsoft.com/office/drawing/2014/main" id="{F5A41C54-74CE-B13B-B767-4B2BD5C76A5D}"/>
              </a:ext>
            </a:extLst>
          </p:cNvPr>
          <p:cNvSpPr txBox="1"/>
          <p:nvPr/>
        </p:nvSpPr>
        <p:spPr>
          <a:xfrm>
            <a:off x="8184548" y="5302503"/>
            <a:ext cx="3873369" cy="1219693"/>
          </a:xfrm>
          <a:prstGeom prst="rect">
            <a:avLst/>
          </a:prstGeom>
          <a:noFill/>
        </p:spPr>
        <p:txBody>
          <a:bodyPr wrap="square">
            <a:spAutoFit/>
          </a:bodyPr>
          <a:lstStyle/>
          <a:p>
            <a:pPr>
              <a:lnSpc>
                <a:spcPct val="107000"/>
              </a:lnSpc>
              <a:spcBef>
                <a:spcPts val="600"/>
              </a:spcBef>
            </a:pPr>
            <a:r>
              <a:rPr lang="de-DE" b="1" dirty="0">
                <a:solidFill>
                  <a:schemeClr val="accent6">
                    <a:lumMod val="75000"/>
                  </a:schemeClr>
                </a:solidFill>
                <a:latin typeface="+mj-lt"/>
              </a:rPr>
              <a:t>3. Analyse</a:t>
            </a:r>
          </a:p>
          <a:p>
            <a:pPr marL="285731" indent="-285731">
              <a:buFont typeface="Arial" panose="020B0604020202020204" pitchFamily="34" charset="0"/>
              <a:buChar char="•"/>
            </a:pPr>
            <a:r>
              <a:rPr lang="de-DE" dirty="0">
                <a:solidFill>
                  <a:schemeClr val="accent6">
                    <a:lumMod val="75000"/>
                  </a:schemeClr>
                </a:solidFill>
              </a:rPr>
              <a:t>Zugänglichkeit der Daten: WYSIWYG</a:t>
            </a:r>
          </a:p>
          <a:p>
            <a:pPr marL="285731" indent="-285731">
              <a:buFont typeface="Arial" panose="020B0604020202020204" pitchFamily="34" charset="0"/>
              <a:buChar char="•"/>
            </a:pPr>
            <a:r>
              <a:rPr lang="de-DE" dirty="0">
                <a:solidFill>
                  <a:schemeClr val="accent6">
                    <a:lumMod val="75000"/>
                  </a:schemeClr>
                </a:solidFill>
              </a:rPr>
              <a:t>Vorformatierte Visualisierungen, und Berichte</a:t>
            </a:r>
          </a:p>
        </p:txBody>
      </p:sp>
      <p:sp>
        <p:nvSpPr>
          <p:cNvPr id="17" name="Textfeld 16">
            <a:extLst>
              <a:ext uri="{FF2B5EF4-FFF2-40B4-BE49-F238E27FC236}">
                <a16:creationId xmlns:a16="http://schemas.microsoft.com/office/drawing/2014/main" id="{7332803F-87D0-5ECB-C1E9-B5D1C26F0DC2}"/>
              </a:ext>
            </a:extLst>
          </p:cNvPr>
          <p:cNvSpPr txBox="1"/>
          <p:nvPr/>
        </p:nvSpPr>
        <p:spPr>
          <a:xfrm>
            <a:off x="500927" y="5664806"/>
            <a:ext cx="3873369" cy="923330"/>
          </a:xfrm>
          <a:prstGeom prst="rect">
            <a:avLst/>
          </a:prstGeom>
          <a:noFill/>
        </p:spPr>
        <p:txBody>
          <a:bodyPr wrap="square">
            <a:spAutoFit/>
          </a:bodyPr>
          <a:lstStyle/>
          <a:p>
            <a:pPr marL="285731" indent="-285731">
              <a:buFont typeface="Arial" panose="020B0604020202020204" pitchFamily="34" charset="0"/>
              <a:buChar char="•"/>
            </a:pPr>
            <a:r>
              <a:rPr lang="de-DE" dirty="0">
                <a:solidFill>
                  <a:schemeClr val="accent6">
                    <a:lumMod val="75000"/>
                  </a:schemeClr>
                </a:solidFill>
              </a:rPr>
              <a:t>Reduzierte Post-Processing-Schritte</a:t>
            </a:r>
          </a:p>
          <a:p>
            <a:pPr marL="285731" indent="-285731">
              <a:buFont typeface="Arial" panose="020B0604020202020204" pitchFamily="34" charset="0"/>
              <a:buChar char="•"/>
            </a:pPr>
            <a:r>
              <a:rPr lang="de-DE" dirty="0">
                <a:solidFill>
                  <a:schemeClr val="accent6">
                    <a:lumMod val="75000"/>
                  </a:schemeClr>
                </a:solidFill>
              </a:rPr>
              <a:t>Bereitstellung vielfältiger Analyseoptionen</a:t>
            </a:r>
          </a:p>
        </p:txBody>
      </p:sp>
      <p:pic>
        <p:nvPicPr>
          <p:cNvPr id="4" name="Picture 2">
            <a:extLst>
              <a:ext uri="{FF2B5EF4-FFF2-40B4-BE49-F238E27FC236}">
                <a16:creationId xmlns:a16="http://schemas.microsoft.com/office/drawing/2014/main" id="{79F8F19A-2ADB-094D-C8DE-9501585A3946}"/>
              </a:ext>
            </a:extLst>
          </p:cNvPr>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789315" y="3505442"/>
            <a:ext cx="889904" cy="889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86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2DDCF8-A652-4DFC-3AB3-BBAFAB7E85A9}"/>
              </a:ext>
            </a:extLst>
          </p:cNvPr>
          <p:cNvSpPr>
            <a:spLocks noGrp="1"/>
          </p:cNvSpPr>
          <p:nvPr>
            <p:ph type="title"/>
          </p:nvPr>
        </p:nvSpPr>
        <p:spPr/>
        <p:txBody>
          <a:bodyPr/>
          <a:lstStyle/>
          <a:p>
            <a:r>
              <a:rPr lang="de-DE" dirty="0"/>
              <a:t>Schnellstart</a:t>
            </a:r>
          </a:p>
        </p:txBody>
      </p:sp>
      <p:sp>
        <p:nvSpPr>
          <p:cNvPr id="3" name="Textplatzhalter 2">
            <a:extLst>
              <a:ext uri="{FF2B5EF4-FFF2-40B4-BE49-F238E27FC236}">
                <a16:creationId xmlns:a16="http://schemas.microsoft.com/office/drawing/2014/main" id="{2BFDA6DC-3ABB-7875-2C4B-29E8D74DC11F}"/>
              </a:ext>
            </a:extLst>
          </p:cNvPr>
          <p:cNvSpPr>
            <a:spLocks noGrp="1"/>
          </p:cNvSpPr>
          <p:nvPr>
            <p:ph type="body" sz="quarter" idx="13"/>
          </p:nvPr>
        </p:nvSpPr>
        <p:spPr>
          <a:xfrm>
            <a:off x="719668" y="2164214"/>
            <a:ext cx="2671232" cy="3977767"/>
          </a:xfrm>
        </p:spPr>
        <p:txBody>
          <a:bodyPr/>
          <a:lstStyle/>
          <a:p>
            <a:r>
              <a:rPr lang="de-DE" dirty="0"/>
              <a:t>Schnellauswahlen festlegen</a:t>
            </a:r>
          </a:p>
          <a:p>
            <a:r>
              <a:rPr lang="de-DE" dirty="0"/>
              <a:t>(optional Detaileingaben prüfen/ändern)</a:t>
            </a:r>
          </a:p>
          <a:p>
            <a:r>
              <a:rPr lang="de-DE" dirty="0"/>
              <a:t>Ergebnisse</a:t>
            </a:r>
          </a:p>
        </p:txBody>
      </p:sp>
      <p:sp>
        <p:nvSpPr>
          <p:cNvPr id="4" name="Fußzeilenplatzhalter 3">
            <a:extLst>
              <a:ext uri="{FF2B5EF4-FFF2-40B4-BE49-F238E27FC236}">
                <a16:creationId xmlns:a16="http://schemas.microsoft.com/office/drawing/2014/main" id="{C7780940-B29E-A284-02AD-CFBC8EBD3EFF}"/>
              </a:ext>
            </a:extLst>
          </p:cNvPr>
          <p:cNvSpPr>
            <a:spLocks noGrp="1"/>
          </p:cNvSpPr>
          <p:nvPr>
            <p:ph type="ftr" sz="quarter" idx="11"/>
          </p:nvPr>
        </p:nvSpPr>
        <p:spPr/>
        <p:txBody>
          <a:bodyPr/>
          <a:lstStyle/>
          <a:p>
            <a:r>
              <a:rPr lang="de-AT"/>
              <a:t>Klimaaktiv Nachweistool Plus-Energie-Quartiere</a:t>
            </a:r>
            <a:endParaRPr lang="de-AT" dirty="0"/>
          </a:p>
        </p:txBody>
      </p:sp>
      <p:sp>
        <p:nvSpPr>
          <p:cNvPr id="5" name="Foliennummernplatzhalter 4">
            <a:extLst>
              <a:ext uri="{FF2B5EF4-FFF2-40B4-BE49-F238E27FC236}">
                <a16:creationId xmlns:a16="http://schemas.microsoft.com/office/drawing/2014/main" id="{5A263478-BA8A-9A73-AD84-F14F2E714C9E}"/>
              </a:ext>
            </a:extLst>
          </p:cNvPr>
          <p:cNvSpPr>
            <a:spLocks noGrp="1"/>
          </p:cNvSpPr>
          <p:nvPr>
            <p:ph type="sldNum" sz="quarter" idx="12"/>
          </p:nvPr>
        </p:nvSpPr>
        <p:spPr/>
        <p:txBody>
          <a:bodyPr/>
          <a:lstStyle/>
          <a:p>
            <a:fld id="{1206269C-C24E-4E80-9A4B-E7E19BB59A67}" type="slidenum">
              <a:rPr lang="de-AT" smtClean="0"/>
              <a:pPr/>
              <a:t>8</a:t>
            </a:fld>
            <a:endParaRPr lang="de-AT" dirty="0"/>
          </a:p>
        </p:txBody>
      </p:sp>
      <p:pic>
        <p:nvPicPr>
          <p:cNvPr id="9" name="Grafik 8">
            <a:extLst>
              <a:ext uri="{FF2B5EF4-FFF2-40B4-BE49-F238E27FC236}">
                <a16:creationId xmlns:a16="http://schemas.microsoft.com/office/drawing/2014/main" id="{9981B62E-8814-78DF-30EB-3C98B01A5205}"/>
              </a:ext>
            </a:extLst>
          </p:cNvPr>
          <p:cNvPicPr>
            <a:picLocks noChangeAspect="1"/>
          </p:cNvPicPr>
          <p:nvPr/>
        </p:nvPicPr>
        <p:blipFill>
          <a:blip r:embed="rId2"/>
          <a:stretch>
            <a:fillRect/>
          </a:stretch>
        </p:blipFill>
        <p:spPr>
          <a:xfrm>
            <a:off x="3961369" y="1081579"/>
            <a:ext cx="7727974" cy="5381625"/>
          </a:xfrm>
          <a:prstGeom prst="rect">
            <a:avLst/>
          </a:prstGeom>
        </p:spPr>
      </p:pic>
      <p:cxnSp>
        <p:nvCxnSpPr>
          <p:cNvPr id="11" name="Verbinder: gewinkelt 10">
            <a:extLst>
              <a:ext uri="{FF2B5EF4-FFF2-40B4-BE49-F238E27FC236}">
                <a16:creationId xmlns:a16="http://schemas.microsoft.com/office/drawing/2014/main" id="{18CE4EF4-EDBA-0211-E3DF-76016B8F9DFD}"/>
              </a:ext>
            </a:extLst>
          </p:cNvPr>
          <p:cNvCxnSpPr/>
          <p:nvPr/>
        </p:nvCxnSpPr>
        <p:spPr>
          <a:xfrm>
            <a:off x="3514725" y="2235982"/>
            <a:ext cx="4381500" cy="516743"/>
          </a:xfrm>
          <a:prstGeom prst="bentConnector3">
            <a:avLst>
              <a:gd name="adj1" fmla="val 4130"/>
            </a:avLst>
          </a:prstGeom>
          <a:ln w="57150">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Verbinder: gewinkelt 13">
            <a:extLst>
              <a:ext uri="{FF2B5EF4-FFF2-40B4-BE49-F238E27FC236}">
                <a16:creationId xmlns:a16="http://schemas.microsoft.com/office/drawing/2014/main" id="{B3D45CCF-0B66-BFFB-C72F-F778E81D2083}"/>
              </a:ext>
            </a:extLst>
          </p:cNvPr>
          <p:cNvCxnSpPr>
            <a:cxnSpLocks/>
            <a:endCxn id="22" idx="2"/>
          </p:cNvCxnSpPr>
          <p:nvPr/>
        </p:nvCxnSpPr>
        <p:spPr>
          <a:xfrm>
            <a:off x="2143125" y="3276600"/>
            <a:ext cx="8401005" cy="3230406"/>
          </a:xfrm>
          <a:prstGeom prst="bentConnector4">
            <a:avLst>
              <a:gd name="adj1" fmla="val 9694"/>
              <a:gd name="adj2" fmla="val 107077"/>
            </a:avLst>
          </a:prstGeom>
          <a:ln w="57150">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Rechteck: abgerundete Ecken 21">
            <a:extLst>
              <a:ext uri="{FF2B5EF4-FFF2-40B4-BE49-F238E27FC236}">
                <a16:creationId xmlns:a16="http://schemas.microsoft.com/office/drawing/2014/main" id="{F6C4F440-7605-2665-90C8-6DD8A875E15B}"/>
              </a:ext>
            </a:extLst>
          </p:cNvPr>
          <p:cNvSpPr/>
          <p:nvPr/>
        </p:nvSpPr>
        <p:spPr>
          <a:xfrm>
            <a:off x="9391651" y="6261983"/>
            <a:ext cx="2304958" cy="24502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27" name="Verbinder: gewinkelt 26">
            <a:extLst>
              <a:ext uri="{FF2B5EF4-FFF2-40B4-BE49-F238E27FC236}">
                <a16:creationId xmlns:a16="http://schemas.microsoft.com/office/drawing/2014/main" id="{4D80B4BE-E9BC-F538-AC28-7CFFBABB4937}"/>
              </a:ext>
            </a:extLst>
          </p:cNvPr>
          <p:cNvCxnSpPr>
            <a:cxnSpLocks/>
          </p:cNvCxnSpPr>
          <p:nvPr/>
        </p:nvCxnSpPr>
        <p:spPr>
          <a:xfrm rot="16200000" flipH="1">
            <a:off x="2687675" y="3095010"/>
            <a:ext cx="3662714" cy="2671232"/>
          </a:xfrm>
          <a:prstGeom prst="bentConnector3">
            <a:avLst>
              <a:gd name="adj1" fmla="val 50000"/>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0" name="Rechteck: abgerundete Ecken 29">
            <a:extLst>
              <a:ext uri="{FF2B5EF4-FFF2-40B4-BE49-F238E27FC236}">
                <a16:creationId xmlns:a16="http://schemas.microsoft.com/office/drawing/2014/main" id="{A7C7E82E-B237-F432-BAB7-80CB3D61A0EB}"/>
              </a:ext>
            </a:extLst>
          </p:cNvPr>
          <p:cNvSpPr/>
          <p:nvPr/>
        </p:nvSpPr>
        <p:spPr>
          <a:xfrm>
            <a:off x="5303945" y="6261983"/>
            <a:ext cx="4080440" cy="245023"/>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056461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0A7A2E-6D3B-56D7-C6E9-7D91F4C1DD70}"/>
              </a:ext>
            </a:extLst>
          </p:cNvPr>
          <p:cNvSpPr>
            <a:spLocks noGrp="1"/>
          </p:cNvSpPr>
          <p:nvPr>
            <p:ph type="title"/>
          </p:nvPr>
        </p:nvSpPr>
        <p:spPr/>
        <p:txBody>
          <a:bodyPr/>
          <a:lstStyle/>
          <a:p>
            <a:r>
              <a:rPr lang="de-DE" dirty="0"/>
              <a:t>Energiemodell </a:t>
            </a:r>
            <a:br>
              <a:rPr lang="de-DE" dirty="0"/>
            </a:br>
            <a:r>
              <a:rPr lang="de-DE" dirty="0"/>
              <a:t>Betrieb</a:t>
            </a:r>
          </a:p>
        </p:txBody>
      </p:sp>
      <p:sp>
        <p:nvSpPr>
          <p:cNvPr id="3" name="Textplatzhalter 2">
            <a:extLst>
              <a:ext uri="{FF2B5EF4-FFF2-40B4-BE49-F238E27FC236}">
                <a16:creationId xmlns:a16="http://schemas.microsoft.com/office/drawing/2014/main" id="{D8AAB251-F1C3-B220-359A-FE51317D426C}"/>
              </a:ext>
            </a:extLst>
          </p:cNvPr>
          <p:cNvSpPr>
            <a:spLocks noGrp="1"/>
          </p:cNvSpPr>
          <p:nvPr>
            <p:ph type="body" sz="quarter" idx="13"/>
          </p:nvPr>
        </p:nvSpPr>
        <p:spPr/>
        <p:txBody>
          <a:bodyPr/>
          <a:lstStyle/>
          <a:p>
            <a:pPr marL="0" indent="0">
              <a:buNone/>
            </a:pPr>
            <a:endParaRPr lang="de-DE" dirty="0"/>
          </a:p>
          <a:p>
            <a:pPr marL="0" indent="0">
              <a:buNone/>
            </a:pPr>
            <a:endParaRPr lang="de-DE" dirty="0"/>
          </a:p>
          <a:p>
            <a:endParaRPr lang="de-DE" dirty="0"/>
          </a:p>
        </p:txBody>
      </p:sp>
      <p:sp>
        <p:nvSpPr>
          <p:cNvPr id="5" name="Foliennummernplatzhalter 4">
            <a:extLst>
              <a:ext uri="{FF2B5EF4-FFF2-40B4-BE49-F238E27FC236}">
                <a16:creationId xmlns:a16="http://schemas.microsoft.com/office/drawing/2014/main" id="{EC822437-F9E0-20EB-9B70-F9C662D78A23}"/>
              </a:ext>
            </a:extLst>
          </p:cNvPr>
          <p:cNvSpPr>
            <a:spLocks noGrp="1"/>
          </p:cNvSpPr>
          <p:nvPr>
            <p:ph type="sldNum" sz="quarter" idx="12"/>
          </p:nvPr>
        </p:nvSpPr>
        <p:spPr/>
        <p:txBody>
          <a:bodyPr/>
          <a:lstStyle/>
          <a:p>
            <a:fld id="{1206269C-C24E-4E80-9A4B-E7E19BB59A67}" type="slidenum">
              <a:rPr lang="de-AT" smtClean="0"/>
              <a:pPr/>
              <a:t>9</a:t>
            </a:fld>
            <a:endParaRPr lang="de-AT" dirty="0"/>
          </a:p>
        </p:txBody>
      </p:sp>
      <p:grpSp>
        <p:nvGrpSpPr>
          <p:cNvPr id="430" name="Gruppieren 429">
            <a:extLst>
              <a:ext uri="{FF2B5EF4-FFF2-40B4-BE49-F238E27FC236}">
                <a16:creationId xmlns:a16="http://schemas.microsoft.com/office/drawing/2014/main" id="{E86EC446-7DD2-E9C4-3B2A-953231571230}"/>
              </a:ext>
            </a:extLst>
          </p:cNvPr>
          <p:cNvGrpSpPr/>
          <p:nvPr/>
        </p:nvGrpSpPr>
        <p:grpSpPr>
          <a:xfrm>
            <a:off x="2907303" y="977916"/>
            <a:ext cx="9193292" cy="5286870"/>
            <a:chOff x="1316629" y="414739"/>
            <a:chExt cx="9193291" cy="5286870"/>
          </a:xfrm>
        </p:grpSpPr>
        <p:cxnSp>
          <p:nvCxnSpPr>
            <p:cNvPr id="431" name="Gerade Verbindung mit Pfeil 430">
              <a:extLst>
                <a:ext uri="{FF2B5EF4-FFF2-40B4-BE49-F238E27FC236}">
                  <a16:creationId xmlns:a16="http://schemas.microsoft.com/office/drawing/2014/main" id="{DDEBF66B-AE59-E723-AEEF-60D3C4884658}"/>
                </a:ext>
              </a:extLst>
            </p:cNvPr>
            <p:cNvCxnSpPr>
              <a:cxnSpLocks/>
            </p:cNvCxnSpPr>
            <p:nvPr/>
          </p:nvCxnSpPr>
          <p:spPr>
            <a:xfrm>
              <a:off x="2844800" y="3019777"/>
              <a:ext cx="2417814" cy="0"/>
            </a:xfrm>
            <a:prstGeom prst="straightConnector1">
              <a:avLst/>
            </a:prstGeom>
            <a:noFill/>
            <a:ln w="28575" cap="flat" cmpd="sng" algn="ctr">
              <a:solidFill>
                <a:srgbClr val="BCCF00">
                  <a:lumMod val="60000"/>
                  <a:lumOff val="40000"/>
                </a:srgbClr>
              </a:solidFill>
              <a:prstDash val="solid"/>
              <a:miter lim="800000"/>
              <a:tailEnd type="triangle"/>
            </a:ln>
            <a:effectLst/>
          </p:spPr>
        </p:cxnSp>
        <p:cxnSp>
          <p:nvCxnSpPr>
            <p:cNvPr id="432" name="Verbinder: gewinkelt 431">
              <a:extLst>
                <a:ext uri="{FF2B5EF4-FFF2-40B4-BE49-F238E27FC236}">
                  <a16:creationId xmlns:a16="http://schemas.microsoft.com/office/drawing/2014/main" id="{51DF1024-6A3F-D75A-A147-9B254F325BD4}"/>
                </a:ext>
              </a:extLst>
            </p:cNvPr>
            <p:cNvCxnSpPr>
              <a:cxnSpLocks/>
              <a:stCxn id="461" idx="2"/>
            </p:cNvCxnSpPr>
            <p:nvPr/>
          </p:nvCxnSpPr>
          <p:spPr>
            <a:xfrm rot="10800000" flipH="1" flipV="1">
              <a:off x="3552879" y="1983382"/>
              <a:ext cx="3456850" cy="1808078"/>
            </a:xfrm>
            <a:prstGeom prst="bentConnector3">
              <a:avLst>
                <a:gd name="adj1" fmla="val -21230"/>
              </a:avLst>
            </a:prstGeom>
            <a:noFill/>
            <a:ln w="28575" cap="flat" cmpd="sng" algn="ctr">
              <a:solidFill>
                <a:srgbClr val="950F53"/>
              </a:solidFill>
              <a:prstDash val="solid"/>
              <a:miter lim="800000"/>
              <a:tailEnd type="triangle"/>
            </a:ln>
            <a:effectLst/>
          </p:spPr>
        </p:cxnSp>
        <p:grpSp>
          <p:nvGrpSpPr>
            <p:cNvPr id="433" name="Gruppieren 432">
              <a:extLst>
                <a:ext uri="{FF2B5EF4-FFF2-40B4-BE49-F238E27FC236}">
                  <a16:creationId xmlns:a16="http://schemas.microsoft.com/office/drawing/2014/main" id="{AD72F042-E859-0F0F-F311-68E7416E0BF0}"/>
                </a:ext>
              </a:extLst>
            </p:cNvPr>
            <p:cNvGrpSpPr/>
            <p:nvPr/>
          </p:nvGrpSpPr>
          <p:grpSpPr>
            <a:xfrm>
              <a:off x="5225250" y="2718046"/>
              <a:ext cx="1006735" cy="701763"/>
              <a:chOff x="3541810" y="4033373"/>
              <a:chExt cx="1006735" cy="701763"/>
            </a:xfrm>
          </p:grpSpPr>
          <p:sp>
            <p:nvSpPr>
              <p:cNvPr id="607" name="Flussdiagramm: Anzeige 9">
                <a:extLst>
                  <a:ext uri="{FF2B5EF4-FFF2-40B4-BE49-F238E27FC236}">
                    <a16:creationId xmlns:a16="http://schemas.microsoft.com/office/drawing/2014/main" id="{F13C07F4-458C-28C3-C536-D2C5FA35BFF0}"/>
                  </a:ext>
                </a:extLst>
              </p:cNvPr>
              <p:cNvSpPr/>
              <p:nvPr/>
            </p:nvSpPr>
            <p:spPr>
              <a:xfrm rot="5400000">
                <a:off x="3663778" y="4030373"/>
                <a:ext cx="696222" cy="702221"/>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F59C00"/>
              </a:solid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1100" kern="0" dirty="0">
                  <a:solidFill>
                    <a:prstClr val="white"/>
                  </a:solidFill>
                  <a:latin typeface="Aptos" panose="020B0004020202020204" pitchFamily="34" charset="0"/>
                </a:endParaRPr>
              </a:p>
            </p:txBody>
          </p:sp>
          <p:sp>
            <p:nvSpPr>
              <p:cNvPr id="608" name="Textfeld 607">
                <a:extLst>
                  <a:ext uri="{FF2B5EF4-FFF2-40B4-BE49-F238E27FC236}">
                    <a16:creationId xmlns:a16="http://schemas.microsoft.com/office/drawing/2014/main" id="{0D1F2F2E-393E-9F69-71CA-977FE7EF6CE0}"/>
                  </a:ext>
                </a:extLst>
              </p:cNvPr>
              <p:cNvSpPr txBox="1"/>
              <p:nvPr/>
            </p:nvSpPr>
            <p:spPr>
              <a:xfrm>
                <a:off x="3579174" y="4173521"/>
                <a:ext cx="969371" cy="246221"/>
              </a:xfrm>
              <a:prstGeom prst="rect">
                <a:avLst/>
              </a:prstGeom>
              <a:noFill/>
            </p:spPr>
            <p:txBody>
              <a:bodyPr wrap="square" rtlCol="0">
                <a:spAutoFit/>
              </a:bodyPr>
              <a:lstStyle/>
              <a:p>
                <a:pPr algn="ctr" defTabSz="914339">
                  <a:defRPr/>
                </a:pPr>
                <a:r>
                  <a:rPr lang="en-GB" sz="1000" kern="0" dirty="0">
                    <a:solidFill>
                      <a:prstClr val="black"/>
                    </a:solidFill>
                    <a:latin typeface="Aptos" panose="020B0004020202020204" pitchFamily="34" charset="0"/>
                  </a:rPr>
                  <a:t>E-Car Batterie</a:t>
                </a:r>
                <a:endParaRPr lang="de-AT" sz="1000" kern="0" dirty="0">
                  <a:solidFill>
                    <a:prstClr val="black"/>
                  </a:solidFill>
                  <a:latin typeface="Aptos" panose="020B0004020202020204" pitchFamily="34" charset="0"/>
                </a:endParaRPr>
              </a:p>
            </p:txBody>
          </p:sp>
          <p:sp>
            <p:nvSpPr>
              <p:cNvPr id="609" name="Textfeld 608">
                <a:extLst>
                  <a:ext uri="{FF2B5EF4-FFF2-40B4-BE49-F238E27FC236}">
                    <a16:creationId xmlns:a16="http://schemas.microsoft.com/office/drawing/2014/main" id="{EE0FEA92-51BB-8CDD-2A4C-84EFF9530E2E}"/>
                  </a:ext>
                </a:extLst>
              </p:cNvPr>
              <p:cNvSpPr txBox="1"/>
              <p:nvPr/>
            </p:nvSpPr>
            <p:spPr>
              <a:xfrm>
                <a:off x="3541810" y="4335026"/>
                <a:ext cx="894503" cy="400110"/>
              </a:xfrm>
              <a:prstGeom prst="rect">
                <a:avLst/>
              </a:prstGeom>
              <a:noFill/>
            </p:spPr>
            <p:txBody>
              <a:bodyPr wrap="square" rtlCol="0">
                <a:spAutoFit/>
              </a:bodyPr>
              <a:lstStyle/>
              <a:p>
                <a:pPr algn="ctr" defTabSz="914339">
                  <a:defRPr/>
                </a:pPr>
                <a:r>
                  <a:rPr lang="en-GB" sz="1000" i="1" kern="0" dirty="0">
                    <a:solidFill>
                      <a:prstClr val="black"/>
                    </a:solidFill>
                    <a:latin typeface="Aptos" panose="020B0004020202020204" pitchFamily="34" charset="0"/>
                  </a:rPr>
                  <a:t>EV </a:t>
                </a:r>
              </a:p>
              <a:p>
                <a:pPr algn="ctr" defTabSz="914339">
                  <a:defRPr/>
                </a:pPr>
                <a:r>
                  <a:rPr lang="en-GB" sz="1000" i="1" kern="0" dirty="0">
                    <a:solidFill>
                      <a:prstClr val="black"/>
                    </a:solidFill>
                    <a:latin typeface="Aptos" panose="020B0004020202020204" pitchFamily="34" charset="0"/>
                  </a:rPr>
                  <a:t>Batteries</a:t>
                </a:r>
                <a:endParaRPr lang="de-AT" sz="1000" i="1" kern="0" dirty="0">
                  <a:solidFill>
                    <a:prstClr val="black"/>
                  </a:solidFill>
                  <a:latin typeface="Aptos" panose="020B0004020202020204" pitchFamily="34" charset="0"/>
                </a:endParaRPr>
              </a:p>
            </p:txBody>
          </p:sp>
        </p:grpSp>
        <p:cxnSp>
          <p:nvCxnSpPr>
            <p:cNvPr id="434" name="Gekrümmter Verbinder 139">
              <a:extLst>
                <a:ext uri="{FF2B5EF4-FFF2-40B4-BE49-F238E27FC236}">
                  <a16:creationId xmlns:a16="http://schemas.microsoft.com/office/drawing/2014/main" id="{EA58618A-076D-DF94-4E37-04E852A52428}"/>
                </a:ext>
              </a:extLst>
            </p:cNvPr>
            <p:cNvCxnSpPr>
              <a:stCxn id="528" idx="3"/>
              <a:endCxn id="580" idx="0"/>
            </p:cNvCxnSpPr>
            <p:nvPr/>
          </p:nvCxnSpPr>
          <p:spPr>
            <a:xfrm rot="16200000" flipH="1">
              <a:off x="5860099" y="3977784"/>
              <a:ext cx="166188" cy="2247927"/>
            </a:xfrm>
            <a:prstGeom prst="curvedConnector3">
              <a:avLst>
                <a:gd name="adj1" fmla="val 50000"/>
              </a:avLst>
            </a:prstGeom>
            <a:noFill/>
            <a:ln w="9525" cap="flat" cmpd="sng" algn="ctr">
              <a:solidFill>
                <a:srgbClr val="FFCCCC"/>
              </a:solidFill>
              <a:prstDash val="solid"/>
              <a:miter lim="800000"/>
              <a:tailEnd type="triangle"/>
            </a:ln>
            <a:effectLst/>
          </p:spPr>
        </p:cxnSp>
        <p:cxnSp>
          <p:nvCxnSpPr>
            <p:cNvPr id="435" name="Gekrümmter Verbinder 152">
              <a:extLst>
                <a:ext uri="{FF2B5EF4-FFF2-40B4-BE49-F238E27FC236}">
                  <a16:creationId xmlns:a16="http://schemas.microsoft.com/office/drawing/2014/main" id="{BAF386AA-61F3-4AC7-E524-184AF0180930}"/>
                </a:ext>
              </a:extLst>
            </p:cNvPr>
            <p:cNvCxnSpPr>
              <a:stCxn id="543" idx="3"/>
              <a:endCxn id="580" idx="0"/>
            </p:cNvCxnSpPr>
            <p:nvPr/>
          </p:nvCxnSpPr>
          <p:spPr>
            <a:xfrm>
              <a:off x="3753512" y="4195023"/>
              <a:ext cx="3313645" cy="989819"/>
            </a:xfrm>
            <a:prstGeom prst="curvedConnector2">
              <a:avLst/>
            </a:prstGeom>
            <a:noFill/>
            <a:ln w="9525" cap="flat" cmpd="sng" algn="ctr">
              <a:solidFill>
                <a:srgbClr val="FFCCCC"/>
              </a:solidFill>
              <a:prstDash val="solid"/>
              <a:miter lim="800000"/>
              <a:tailEnd type="triangle"/>
            </a:ln>
            <a:effectLst/>
          </p:spPr>
        </p:cxnSp>
        <p:cxnSp>
          <p:nvCxnSpPr>
            <p:cNvPr id="436" name="Gekrümmter Verbinder 293">
              <a:extLst>
                <a:ext uri="{FF2B5EF4-FFF2-40B4-BE49-F238E27FC236}">
                  <a16:creationId xmlns:a16="http://schemas.microsoft.com/office/drawing/2014/main" id="{3D5B270F-A2D8-6386-30F3-A6585B1B78E5}"/>
                </a:ext>
              </a:extLst>
            </p:cNvPr>
            <p:cNvCxnSpPr>
              <a:stCxn id="558" idx="2"/>
              <a:endCxn id="580" idx="0"/>
            </p:cNvCxnSpPr>
            <p:nvPr/>
          </p:nvCxnSpPr>
          <p:spPr>
            <a:xfrm rot="5400000">
              <a:off x="7072278" y="4621454"/>
              <a:ext cx="558267" cy="568508"/>
            </a:xfrm>
            <a:prstGeom prst="curvedConnector3">
              <a:avLst>
                <a:gd name="adj1" fmla="val 50000"/>
              </a:avLst>
            </a:prstGeom>
            <a:noFill/>
            <a:ln w="9525" cap="flat" cmpd="sng" algn="ctr">
              <a:solidFill>
                <a:srgbClr val="FFCCCC"/>
              </a:solidFill>
              <a:prstDash val="solid"/>
              <a:miter lim="800000"/>
              <a:tailEnd type="triangle"/>
            </a:ln>
            <a:effectLst/>
          </p:spPr>
        </p:cxnSp>
        <p:cxnSp>
          <p:nvCxnSpPr>
            <p:cNvPr id="437" name="Gekrümmter Verbinder 297">
              <a:extLst>
                <a:ext uri="{FF2B5EF4-FFF2-40B4-BE49-F238E27FC236}">
                  <a16:creationId xmlns:a16="http://schemas.microsoft.com/office/drawing/2014/main" id="{BD2D59B9-6E6B-BE8B-A7AB-DF6F9EAD66E0}"/>
                </a:ext>
              </a:extLst>
            </p:cNvPr>
            <p:cNvCxnSpPr>
              <a:cxnSpLocks/>
              <a:stCxn id="605" idx="2"/>
              <a:endCxn id="580" idx="0"/>
            </p:cNvCxnSpPr>
            <p:nvPr/>
          </p:nvCxnSpPr>
          <p:spPr>
            <a:xfrm rot="16200000" flipH="1">
              <a:off x="4988148" y="3105832"/>
              <a:ext cx="1607318" cy="2550701"/>
            </a:xfrm>
            <a:prstGeom prst="curvedConnector3">
              <a:avLst>
                <a:gd name="adj1" fmla="val 50000"/>
              </a:avLst>
            </a:prstGeom>
            <a:noFill/>
            <a:ln w="9525" cap="flat" cmpd="sng" algn="ctr">
              <a:solidFill>
                <a:srgbClr val="FFCCCC"/>
              </a:solidFill>
              <a:prstDash val="solid"/>
              <a:miter lim="800000"/>
              <a:tailEnd type="triangle"/>
            </a:ln>
            <a:effectLst/>
          </p:spPr>
        </p:cxnSp>
        <p:cxnSp>
          <p:nvCxnSpPr>
            <p:cNvPr id="438" name="Gekrümmter Verbinder 368">
              <a:extLst>
                <a:ext uri="{FF2B5EF4-FFF2-40B4-BE49-F238E27FC236}">
                  <a16:creationId xmlns:a16="http://schemas.microsoft.com/office/drawing/2014/main" id="{61A6FAF0-2007-6B49-B40E-621B73279B68}"/>
                </a:ext>
              </a:extLst>
            </p:cNvPr>
            <p:cNvCxnSpPr>
              <a:stCxn id="533" idx="3"/>
              <a:endCxn id="580" idx="0"/>
            </p:cNvCxnSpPr>
            <p:nvPr/>
          </p:nvCxnSpPr>
          <p:spPr>
            <a:xfrm rot="16200000" flipH="1">
              <a:off x="6276407" y="4394091"/>
              <a:ext cx="426643" cy="1154857"/>
            </a:xfrm>
            <a:prstGeom prst="curvedConnector3">
              <a:avLst>
                <a:gd name="adj1" fmla="val 50000"/>
              </a:avLst>
            </a:prstGeom>
            <a:noFill/>
            <a:ln w="9525" cap="flat" cmpd="sng" algn="ctr">
              <a:solidFill>
                <a:srgbClr val="FFCCCC"/>
              </a:solidFill>
              <a:prstDash val="solid"/>
              <a:miter lim="800000"/>
              <a:tailEnd type="triangle"/>
            </a:ln>
            <a:effectLst/>
          </p:spPr>
        </p:cxnSp>
        <p:cxnSp>
          <p:nvCxnSpPr>
            <p:cNvPr id="439" name="Gekrümmter Verbinder 392">
              <a:extLst>
                <a:ext uri="{FF2B5EF4-FFF2-40B4-BE49-F238E27FC236}">
                  <a16:creationId xmlns:a16="http://schemas.microsoft.com/office/drawing/2014/main" id="{D5A92A1C-D572-CA48-1D16-BDF0EDF9B3A0}"/>
                </a:ext>
              </a:extLst>
            </p:cNvPr>
            <p:cNvCxnSpPr>
              <a:stCxn id="549" idx="1"/>
              <a:endCxn id="580" idx="0"/>
            </p:cNvCxnSpPr>
            <p:nvPr/>
          </p:nvCxnSpPr>
          <p:spPr>
            <a:xfrm rot="5400000">
              <a:off x="6663345" y="4775989"/>
              <a:ext cx="812666" cy="5041"/>
            </a:xfrm>
            <a:prstGeom prst="curvedConnector3">
              <a:avLst>
                <a:gd name="adj1" fmla="val 50000"/>
              </a:avLst>
            </a:prstGeom>
            <a:noFill/>
            <a:ln w="9525" cap="flat" cmpd="sng" algn="ctr">
              <a:solidFill>
                <a:srgbClr val="FFCCCC"/>
              </a:solidFill>
              <a:prstDash val="solid"/>
              <a:miter lim="800000"/>
              <a:tailEnd type="triangle"/>
            </a:ln>
            <a:effectLst/>
          </p:spPr>
        </p:cxnSp>
        <p:sp>
          <p:nvSpPr>
            <p:cNvPr id="440" name="Rechteck 439">
              <a:extLst>
                <a:ext uri="{FF2B5EF4-FFF2-40B4-BE49-F238E27FC236}">
                  <a16:creationId xmlns:a16="http://schemas.microsoft.com/office/drawing/2014/main" id="{32800B19-7A10-1229-299D-D9CE96E6B7FA}"/>
                </a:ext>
              </a:extLst>
            </p:cNvPr>
            <p:cNvSpPr/>
            <p:nvPr/>
          </p:nvSpPr>
          <p:spPr>
            <a:xfrm>
              <a:off x="1431099" y="1868913"/>
              <a:ext cx="7007694" cy="3359143"/>
            </a:xfrm>
            <a:prstGeom prst="rect">
              <a:avLst/>
            </a:prstGeom>
            <a:noFill/>
            <a:ln w="28575" cap="flat" cmpd="sng" algn="ctr">
              <a:solidFill>
                <a:srgbClr val="E6EFF3">
                  <a:lumMod val="90000"/>
                </a:srgbClr>
              </a:solidFill>
              <a:prstDash val="dash"/>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441" name="Gruppieren 440">
              <a:extLst>
                <a:ext uri="{FF2B5EF4-FFF2-40B4-BE49-F238E27FC236}">
                  <a16:creationId xmlns:a16="http://schemas.microsoft.com/office/drawing/2014/main" id="{A4258939-54FF-519E-BF3D-2A101FAB81FB}"/>
                </a:ext>
              </a:extLst>
            </p:cNvPr>
            <p:cNvGrpSpPr/>
            <p:nvPr/>
          </p:nvGrpSpPr>
          <p:grpSpPr>
            <a:xfrm>
              <a:off x="4078447" y="3007687"/>
              <a:ext cx="876020" cy="714228"/>
              <a:chOff x="3567751" y="4005697"/>
              <a:chExt cx="876020" cy="714228"/>
            </a:xfrm>
          </p:grpSpPr>
          <p:sp>
            <p:nvSpPr>
              <p:cNvPr id="604" name="Flussdiagramm: Anzeige 9">
                <a:extLst>
                  <a:ext uri="{FF2B5EF4-FFF2-40B4-BE49-F238E27FC236}">
                    <a16:creationId xmlns:a16="http://schemas.microsoft.com/office/drawing/2014/main" id="{59FA4D22-6018-C85C-A298-EF256D631F84}"/>
                  </a:ext>
                </a:extLst>
              </p:cNvPr>
              <p:cNvSpPr/>
              <p:nvPr/>
            </p:nvSpPr>
            <p:spPr>
              <a:xfrm rot="5400000">
                <a:off x="3634979" y="4002697"/>
                <a:ext cx="696222" cy="702221"/>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BCCF00"/>
              </a:solid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1100" kern="0" dirty="0">
                  <a:solidFill>
                    <a:prstClr val="white"/>
                  </a:solidFill>
                  <a:latin typeface="Aptos" panose="020B0004020202020204" pitchFamily="34" charset="0"/>
                </a:endParaRPr>
              </a:p>
            </p:txBody>
          </p:sp>
          <p:sp>
            <p:nvSpPr>
              <p:cNvPr id="605" name="Textfeld 604">
                <a:extLst>
                  <a:ext uri="{FF2B5EF4-FFF2-40B4-BE49-F238E27FC236}">
                    <a16:creationId xmlns:a16="http://schemas.microsoft.com/office/drawing/2014/main" id="{4D776497-3D3D-3DCB-34E1-AB1FF20ECA07}"/>
                  </a:ext>
                </a:extLst>
              </p:cNvPr>
              <p:cNvSpPr txBox="1"/>
              <p:nvPr/>
            </p:nvSpPr>
            <p:spPr>
              <a:xfrm>
                <a:off x="3567751" y="4175424"/>
                <a:ext cx="876020" cy="400110"/>
              </a:xfrm>
              <a:prstGeom prst="rect">
                <a:avLst/>
              </a:prstGeom>
              <a:noFill/>
            </p:spPr>
            <p:txBody>
              <a:bodyPr wrap="square" rtlCol="0">
                <a:spAutoFit/>
              </a:bodyPr>
              <a:lstStyle/>
              <a:p>
                <a:pPr algn="ctr" defTabSz="914339">
                  <a:defRPr/>
                </a:pPr>
                <a:r>
                  <a:rPr lang="en-GB" sz="1000" kern="0" dirty="0">
                    <a:solidFill>
                      <a:prstClr val="black"/>
                    </a:solidFill>
                    <a:latin typeface="Aptos" panose="020B0004020202020204" pitchFamily="34" charset="0"/>
                  </a:rPr>
                  <a:t>Elektrische </a:t>
                </a:r>
              </a:p>
              <a:p>
                <a:pPr algn="ctr" defTabSz="914339">
                  <a:defRPr/>
                </a:pPr>
                <a:r>
                  <a:rPr lang="en-GB" sz="1000" kern="0" dirty="0">
                    <a:solidFill>
                      <a:prstClr val="black"/>
                    </a:solidFill>
                    <a:latin typeface="Aptos" panose="020B0004020202020204" pitchFamily="34" charset="0"/>
                  </a:rPr>
                  <a:t>Batterie</a:t>
                </a:r>
                <a:endParaRPr lang="de-AT" sz="1000" kern="0" dirty="0">
                  <a:solidFill>
                    <a:prstClr val="black"/>
                  </a:solidFill>
                  <a:latin typeface="Aptos" panose="020B0004020202020204" pitchFamily="34" charset="0"/>
                </a:endParaRPr>
              </a:p>
            </p:txBody>
          </p:sp>
          <p:sp>
            <p:nvSpPr>
              <p:cNvPr id="606" name="Textfeld 605">
                <a:extLst>
                  <a:ext uri="{FF2B5EF4-FFF2-40B4-BE49-F238E27FC236}">
                    <a16:creationId xmlns:a16="http://schemas.microsoft.com/office/drawing/2014/main" id="{DF3D07D9-5845-5F81-AEF9-BF757160805A}"/>
                  </a:ext>
                </a:extLst>
              </p:cNvPr>
              <p:cNvSpPr txBox="1"/>
              <p:nvPr/>
            </p:nvSpPr>
            <p:spPr>
              <a:xfrm>
                <a:off x="3701136" y="4473704"/>
                <a:ext cx="580608"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Battery</a:t>
                </a:r>
                <a:endParaRPr lang="de-AT" sz="1000" i="1" kern="0" dirty="0">
                  <a:solidFill>
                    <a:prstClr val="black"/>
                  </a:solidFill>
                  <a:latin typeface="Aptos" panose="020B0004020202020204" pitchFamily="34" charset="0"/>
                </a:endParaRPr>
              </a:p>
            </p:txBody>
          </p:sp>
        </p:grpSp>
        <p:grpSp>
          <p:nvGrpSpPr>
            <p:cNvPr id="442" name="Gruppieren 441">
              <a:extLst>
                <a:ext uri="{FF2B5EF4-FFF2-40B4-BE49-F238E27FC236}">
                  <a16:creationId xmlns:a16="http://schemas.microsoft.com/office/drawing/2014/main" id="{BED740C3-8472-8948-9E3B-BB2F1EF62C2A}"/>
                </a:ext>
              </a:extLst>
            </p:cNvPr>
            <p:cNvGrpSpPr/>
            <p:nvPr/>
          </p:nvGrpSpPr>
          <p:grpSpPr>
            <a:xfrm>
              <a:off x="3100432" y="611461"/>
              <a:ext cx="1481845" cy="781704"/>
              <a:chOff x="5821954" y="3194347"/>
              <a:chExt cx="1481845" cy="781704"/>
            </a:xfrm>
          </p:grpSpPr>
          <p:sp>
            <p:nvSpPr>
              <p:cNvPr id="601" name="Ellipse 600">
                <a:extLst>
                  <a:ext uri="{FF2B5EF4-FFF2-40B4-BE49-F238E27FC236}">
                    <a16:creationId xmlns:a16="http://schemas.microsoft.com/office/drawing/2014/main" id="{94D1284A-58D4-2159-E188-A2E09146BDB8}"/>
                  </a:ext>
                </a:extLst>
              </p:cNvPr>
              <p:cNvSpPr/>
              <p:nvPr/>
            </p:nvSpPr>
            <p:spPr>
              <a:xfrm>
                <a:off x="5821954" y="3399987"/>
                <a:ext cx="576064" cy="576064"/>
              </a:xfrm>
              <a:prstGeom prst="ellipse">
                <a:avLst/>
              </a:prstGeom>
              <a:solidFill>
                <a:srgbClr val="950F53"/>
              </a:solidFill>
              <a:ln w="12700" cap="flat" cmpd="sng" algn="ctr">
                <a:solidFill>
                  <a:srgbClr val="950F53">
                    <a:lumMod val="75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602" name="Textfeld 601">
                <a:extLst>
                  <a:ext uri="{FF2B5EF4-FFF2-40B4-BE49-F238E27FC236}">
                    <a16:creationId xmlns:a16="http://schemas.microsoft.com/office/drawing/2014/main" id="{16263EFF-043A-7F75-8EE6-497D42B88CE1}"/>
                  </a:ext>
                </a:extLst>
              </p:cNvPr>
              <p:cNvSpPr txBox="1"/>
              <p:nvPr/>
            </p:nvSpPr>
            <p:spPr>
              <a:xfrm>
                <a:off x="6122883" y="3194347"/>
                <a:ext cx="814647" cy="261610"/>
              </a:xfrm>
              <a:prstGeom prst="rect">
                <a:avLst/>
              </a:prstGeom>
              <a:noFill/>
            </p:spPr>
            <p:txBody>
              <a:bodyPr wrap="none" rtlCol="0">
                <a:spAutoFit/>
              </a:bodyPr>
              <a:lstStyle/>
              <a:p>
                <a:pPr algn="ctr" defTabSz="914339">
                  <a:defRPr/>
                </a:pPr>
                <a:r>
                  <a:rPr lang="en-GB" sz="1100" kern="0" dirty="0">
                    <a:solidFill>
                      <a:prstClr val="black"/>
                    </a:solidFill>
                    <a:latin typeface="Aptos" panose="020B0004020202020204" pitchFamily="34" charset="0"/>
                  </a:rPr>
                  <a:t>Stromnetz</a:t>
                </a:r>
                <a:endParaRPr lang="de-AT" sz="1100" kern="0" dirty="0">
                  <a:solidFill>
                    <a:prstClr val="black"/>
                  </a:solidFill>
                  <a:latin typeface="Aptos" panose="020B0004020202020204" pitchFamily="34" charset="0"/>
                </a:endParaRPr>
              </a:p>
            </p:txBody>
          </p:sp>
          <p:sp>
            <p:nvSpPr>
              <p:cNvPr id="603" name="Textfeld 602">
                <a:extLst>
                  <a:ext uri="{FF2B5EF4-FFF2-40B4-BE49-F238E27FC236}">
                    <a16:creationId xmlns:a16="http://schemas.microsoft.com/office/drawing/2014/main" id="{6526B685-743C-3E8D-A861-B793D8DC9B36}"/>
                  </a:ext>
                </a:extLst>
              </p:cNvPr>
              <p:cNvSpPr txBox="1"/>
              <p:nvPr/>
            </p:nvSpPr>
            <p:spPr>
              <a:xfrm>
                <a:off x="6227862" y="3358196"/>
                <a:ext cx="1075937" cy="261610"/>
              </a:xfrm>
              <a:prstGeom prst="rect">
                <a:avLst/>
              </a:prstGeom>
              <a:noFill/>
            </p:spPr>
            <p:txBody>
              <a:bodyPr wrap="none" rtlCol="0">
                <a:spAutoFit/>
              </a:bodyPr>
              <a:lstStyle/>
              <a:p>
                <a:pPr algn="ctr" defTabSz="914339">
                  <a:defRPr/>
                </a:pPr>
                <a:r>
                  <a:rPr lang="en-GB" sz="1100" i="1" kern="0" dirty="0">
                    <a:solidFill>
                      <a:prstClr val="black"/>
                    </a:solidFill>
                    <a:latin typeface="Aptos" panose="020B0004020202020204" pitchFamily="34" charset="0"/>
                  </a:rPr>
                  <a:t>Electricity Grid</a:t>
                </a:r>
                <a:endParaRPr lang="de-AT" sz="1100" i="1" kern="0" dirty="0">
                  <a:solidFill>
                    <a:prstClr val="black"/>
                  </a:solidFill>
                  <a:latin typeface="Aptos" panose="020B0004020202020204" pitchFamily="34" charset="0"/>
                </a:endParaRPr>
              </a:p>
            </p:txBody>
          </p:sp>
        </p:grpSp>
        <p:grpSp>
          <p:nvGrpSpPr>
            <p:cNvPr id="443" name="Gruppieren 442">
              <a:extLst>
                <a:ext uri="{FF2B5EF4-FFF2-40B4-BE49-F238E27FC236}">
                  <a16:creationId xmlns:a16="http://schemas.microsoft.com/office/drawing/2014/main" id="{4EC93660-BF89-D51F-F749-746AF20E6AC8}"/>
                </a:ext>
              </a:extLst>
            </p:cNvPr>
            <p:cNvGrpSpPr/>
            <p:nvPr/>
          </p:nvGrpSpPr>
          <p:grpSpPr>
            <a:xfrm>
              <a:off x="5732070" y="753107"/>
              <a:ext cx="2746850" cy="783452"/>
              <a:chOff x="5985470" y="4862922"/>
              <a:chExt cx="2746850" cy="783452"/>
            </a:xfrm>
          </p:grpSpPr>
          <p:sp>
            <p:nvSpPr>
              <p:cNvPr id="598" name="Ellipse 597">
                <a:extLst>
                  <a:ext uri="{FF2B5EF4-FFF2-40B4-BE49-F238E27FC236}">
                    <a16:creationId xmlns:a16="http://schemas.microsoft.com/office/drawing/2014/main" id="{F98ABDDA-3A83-69D8-735C-0339540439BF}"/>
                  </a:ext>
                </a:extLst>
              </p:cNvPr>
              <p:cNvSpPr/>
              <p:nvPr/>
            </p:nvSpPr>
            <p:spPr>
              <a:xfrm>
                <a:off x="5985470" y="4969049"/>
                <a:ext cx="576064" cy="576064"/>
              </a:xfrm>
              <a:prstGeom prst="ellipse">
                <a:avLst/>
              </a:prstGeom>
              <a:solidFill>
                <a:srgbClr val="BCCF00">
                  <a:lumMod val="60000"/>
                  <a:lumOff val="40000"/>
                </a:srgbClr>
              </a:solidFill>
              <a:ln w="12700" cap="flat" cmpd="sng" algn="ctr">
                <a:solidFill>
                  <a:srgbClr val="BCCF00"/>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99" name="Textfeld 598">
                <a:extLst>
                  <a:ext uri="{FF2B5EF4-FFF2-40B4-BE49-F238E27FC236}">
                    <a16:creationId xmlns:a16="http://schemas.microsoft.com/office/drawing/2014/main" id="{D3CEE946-30FF-B1C7-FFB7-BA24F5A4E507}"/>
                  </a:ext>
                </a:extLst>
              </p:cNvPr>
              <p:cNvSpPr txBox="1"/>
              <p:nvPr/>
            </p:nvSpPr>
            <p:spPr>
              <a:xfrm>
                <a:off x="6502222" y="4862922"/>
                <a:ext cx="2230098" cy="430887"/>
              </a:xfrm>
              <a:prstGeom prst="rect">
                <a:avLst/>
              </a:prstGeom>
              <a:noFill/>
            </p:spPr>
            <p:txBody>
              <a:bodyPr wrap="none" rtlCol="0">
                <a:spAutoFit/>
              </a:bodyPr>
              <a:lstStyle/>
              <a:p>
                <a:pPr defTabSz="914339">
                  <a:defRPr/>
                </a:pPr>
                <a:r>
                  <a:rPr lang="en-GB" sz="1100" kern="0" dirty="0">
                    <a:solidFill>
                      <a:prstClr val="black"/>
                    </a:solidFill>
                    <a:latin typeface="Aptos" panose="020B0004020202020204" pitchFamily="34" charset="0"/>
                  </a:rPr>
                  <a:t>Externe Erneuerbarer Überschuss</a:t>
                </a:r>
              </a:p>
              <a:p>
                <a:pPr defTabSz="914339">
                  <a:defRPr/>
                </a:pPr>
                <a:r>
                  <a:rPr lang="en-GB" sz="1100" kern="0" dirty="0">
                    <a:solidFill>
                      <a:prstClr val="black"/>
                    </a:solidFill>
                    <a:latin typeface="Aptos" panose="020B0004020202020204" pitchFamily="34" charset="0"/>
                  </a:rPr>
                  <a:t>(DSM, Wind-Spitzen)</a:t>
                </a:r>
                <a:endParaRPr lang="de-AT" sz="1100" kern="0" dirty="0">
                  <a:solidFill>
                    <a:prstClr val="black"/>
                  </a:solidFill>
                  <a:latin typeface="Aptos" panose="020B0004020202020204" pitchFamily="34" charset="0"/>
                </a:endParaRPr>
              </a:p>
            </p:txBody>
          </p:sp>
          <p:sp>
            <p:nvSpPr>
              <p:cNvPr id="600" name="Textfeld 599">
                <a:extLst>
                  <a:ext uri="{FF2B5EF4-FFF2-40B4-BE49-F238E27FC236}">
                    <a16:creationId xmlns:a16="http://schemas.microsoft.com/office/drawing/2014/main" id="{1815CE5F-41F6-3CC6-3CC4-0C5D411C5AF9}"/>
                  </a:ext>
                </a:extLst>
              </p:cNvPr>
              <p:cNvSpPr txBox="1"/>
              <p:nvPr/>
            </p:nvSpPr>
            <p:spPr>
              <a:xfrm>
                <a:off x="6497661" y="5215487"/>
                <a:ext cx="1749197" cy="430887"/>
              </a:xfrm>
              <a:prstGeom prst="rect">
                <a:avLst/>
              </a:prstGeom>
              <a:noFill/>
            </p:spPr>
            <p:txBody>
              <a:bodyPr wrap="none" rtlCol="0">
                <a:spAutoFit/>
              </a:bodyPr>
              <a:lstStyle/>
              <a:p>
                <a:pPr defTabSz="914339">
                  <a:defRPr/>
                </a:pPr>
                <a:r>
                  <a:rPr lang="en-GB" sz="1100" i="1" kern="0" dirty="0">
                    <a:solidFill>
                      <a:prstClr val="black"/>
                    </a:solidFill>
                    <a:latin typeface="Aptos" panose="020B0004020202020204" pitchFamily="34" charset="0"/>
                  </a:rPr>
                  <a:t>Offsite Renewable Excess</a:t>
                </a:r>
              </a:p>
              <a:p>
                <a:pPr defTabSz="914339">
                  <a:defRPr/>
                </a:pPr>
                <a:r>
                  <a:rPr lang="en-GB" sz="1100" i="1" kern="0" dirty="0">
                    <a:solidFill>
                      <a:prstClr val="black"/>
                    </a:solidFill>
                    <a:latin typeface="Aptos" panose="020B0004020202020204" pitchFamily="34" charset="0"/>
                  </a:rPr>
                  <a:t>(DSM, Wind Peaks)</a:t>
                </a:r>
                <a:endParaRPr lang="de-AT" sz="1100" i="1" kern="0" dirty="0">
                  <a:solidFill>
                    <a:prstClr val="black"/>
                  </a:solidFill>
                  <a:latin typeface="Aptos" panose="020B0004020202020204" pitchFamily="34" charset="0"/>
                </a:endParaRPr>
              </a:p>
            </p:txBody>
          </p:sp>
        </p:grpSp>
        <p:grpSp>
          <p:nvGrpSpPr>
            <p:cNvPr id="444" name="Gruppieren 443">
              <a:extLst>
                <a:ext uri="{FF2B5EF4-FFF2-40B4-BE49-F238E27FC236}">
                  <a16:creationId xmlns:a16="http://schemas.microsoft.com/office/drawing/2014/main" id="{73CD7042-6D36-323A-13D3-CEABBC6C4908}"/>
                </a:ext>
              </a:extLst>
            </p:cNvPr>
            <p:cNvGrpSpPr/>
            <p:nvPr/>
          </p:nvGrpSpPr>
          <p:grpSpPr>
            <a:xfrm>
              <a:off x="1445937" y="2348492"/>
              <a:ext cx="968535" cy="1037437"/>
              <a:chOff x="5611734" y="1731254"/>
              <a:chExt cx="968535" cy="1037437"/>
            </a:xfrm>
          </p:grpSpPr>
          <p:sp>
            <p:nvSpPr>
              <p:cNvPr id="595" name="Ellipse 594">
                <a:extLst>
                  <a:ext uri="{FF2B5EF4-FFF2-40B4-BE49-F238E27FC236}">
                    <a16:creationId xmlns:a16="http://schemas.microsoft.com/office/drawing/2014/main" id="{9E7C3FEB-4B44-1F81-2F8A-311FC9FBFBDA}"/>
                  </a:ext>
                </a:extLst>
              </p:cNvPr>
              <p:cNvSpPr/>
              <p:nvPr/>
            </p:nvSpPr>
            <p:spPr>
              <a:xfrm>
                <a:off x="5807968" y="1731254"/>
                <a:ext cx="576064" cy="576064"/>
              </a:xfrm>
              <a:prstGeom prst="ellipse">
                <a:avLst/>
              </a:prstGeom>
              <a:solidFill>
                <a:srgbClr val="FFC000"/>
              </a:solidFill>
              <a:ln w="12700" cap="flat" cmpd="sng" algn="ctr">
                <a:solidFill>
                  <a:srgbClr val="FFC000">
                    <a:lumMod val="75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96" name="Textfeld 595">
                <a:extLst>
                  <a:ext uri="{FF2B5EF4-FFF2-40B4-BE49-F238E27FC236}">
                    <a16:creationId xmlns:a16="http://schemas.microsoft.com/office/drawing/2014/main" id="{906872FF-101A-B3C4-3FD5-5863E74720F0}"/>
                  </a:ext>
                </a:extLst>
              </p:cNvPr>
              <p:cNvSpPr txBox="1"/>
              <p:nvPr/>
            </p:nvSpPr>
            <p:spPr>
              <a:xfrm>
                <a:off x="5739173" y="2316095"/>
                <a:ext cx="713658" cy="246221"/>
              </a:xfrm>
              <a:prstGeom prst="rect">
                <a:avLst/>
              </a:prstGeom>
              <a:noFill/>
            </p:spPr>
            <p:txBody>
              <a:bodyPr wrap="none" rtlCol="0">
                <a:spAutoFit/>
              </a:bodyPr>
              <a:lstStyle/>
              <a:p>
                <a:pPr algn="ctr" defTabSz="914339">
                  <a:defRPr/>
                </a:pPr>
                <a:r>
                  <a:rPr lang="en-GB" sz="1000" kern="0" dirty="0">
                    <a:solidFill>
                      <a:prstClr val="black"/>
                    </a:solidFill>
                    <a:latin typeface="Aptos" panose="020B0004020202020204" pitchFamily="34" charset="0"/>
                  </a:rPr>
                  <a:t>PV-Strom</a:t>
                </a:r>
                <a:endParaRPr lang="de-AT" sz="1000" kern="0" dirty="0">
                  <a:solidFill>
                    <a:prstClr val="black"/>
                  </a:solidFill>
                  <a:latin typeface="Aptos" panose="020B0004020202020204" pitchFamily="34" charset="0"/>
                </a:endParaRPr>
              </a:p>
            </p:txBody>
          </p:sp>
          <p:sp>
            <p:nvSpPr>
              <p:cNvPr id="597" name="Textfeld 596">
                <a:extLst>
                  <a:ext uri="{FF2B5EF4-FFF2-40B4-BE49-F238E27FC236}">
                    <a16:creationId xmlns:a16="http://schemas.microsoft.com/office/drawing/2014/main" id="{4E6CC851-40CC-04F1-1B85-1E9740E74F1A}"/>
                  </a:ext>
                </a:extLst>
              </p:cNvPr>
              <p:cNvSpPr txBox="1"/>
              <p:nvPr/>
            </p:nvSpPr>
            <p:spPr>
              <a:xfrm>
                <a:off x="5611734" y="2522470"/>
                <a:ext cx="968535"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PV production</a:t>
                </a:r>
                <a:endParaRPr lang="de-AT" sz="1000" i="1" kern="0" dirty="0">
                  <a:solidFill>
                    <a:prstClr val="black"/>
                  </a:solidFill>
                  <a:latin typeface="Aptos" panose="020B0004020202020204" pitchFamily="34" charset="0"/>
                </a:endParaRPr>
              </a:p>
            </p:txBody>
          </p:sp>
        </p:grpSp>
        <p:grpSp>
          <p:nvGrpSpPr>
            <p:cNvPr id="445" name="Gruppieren 444">
              <a:extLst>
                <a:ext uri="{FF2B5EF4-FFF2-40B4-BE49-F238E27FC236}">
                  <a16:creationId xmlns:a16="http://schemas.microsoft.com/office/drawing/2014/main" id="{65173116-2895-74DE-7B3A-9C8AB8AE72AE}"/>
                </a:ext>
              </a:extLst>
            </p:cNvPr>
            <p:cNvGrpSpPr/>
            <p:nvPr/>
          </p:nvGrpSpPr>
          <p:grpSpPr>
            <a:xfrm>
              <a:off x="1433913" y="4543218"/>
              <a:ext cx="992580" cy="576064"/>
              <a:chOff x="5599710" y="1731254"/>
              <a:chExt cx="992580" cy="576064"/>
            </a:xfrm>
          </p:grpSpPr>
          <p:sp>
            <p:nvSpPr>
              <p:cNvPr id="592" name="Ellipse 591">
                <a:extLst>
                  <a:ext uri="{FF2B5EF4-FFF2-40B4-BE49-F238E27FC236}">
                    <a16:creationId xmlns:a16="http://schemas.microsoft.com/office/drawing/2014/main" id="{C8739AC2-D860-5480-6165-6ADF3F1B58CF}"/>
                  </a:ext>
                </a:extLst>
              </p:cNvPr>
              <p:cNvSpPr/>
              <p:nvPr/>
            </p:nvSpPr>
            <p:spPr>
              <a:xfrm>
                <a:off x="5807968" y="1731254"/>
                <a:ext cx="576064" cy="576064"/>
              </a:xfrm>
              <a:prstGeom prst="ellipse">
                <a:avLst/>
              </a:prstGeom>
              <a:solidFill>
                <a:srgbClr val="ED7D31">
                  <a:lumMod val="20000"/>
                  <a:lumOff val="80000"/>
                </a:srgbClr>
              </a:solidFill>
              <a:ln w="12700" cap="flat" cmpd="sng" algn="ctr">
                <a:solidFill>
                  <a:srgbClr val="ED7D31">
                    <a:lumMod val="60000"/>
                    <a:lumOff val="40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93" name="Textfeld 592">
                <a:extLst>
                  <a:ext uri="{FF2B5EF4-FFF2-40B4-BE49-F238E27FC236}">
                    <a16:creationId xmlns:a16="http://schemas.microsoft.com/office/drawing/2014/main" id="{5F238A7F-5518-529C-2107-D122346DC02C}"/>
                  </a:ext>
                </a:extLst>
              </p:cNvPr>
              <p:cNvSpPr txBox="1"/>
              <p:nvPr/>
            </p:nvSpPr>
            <p:spPr>
              <a:xfrm>
                <a:off x="5599710" y="1802948"/>
                <a:ext cx="992580" cy="246221"/>
              </a:xfrm>
              <a:prstGeom prst="rect">
                <a:avLst/>
              </a:prstGeom>
              <a:noFill/>
            </p:spPr>
            <p:txBody>
              <a:bodyPr wrap="none" rtlCol="0">
                <a:spAutoFit/>
              </a:bodyPr>
              <a:lstStyle/>
              <a:p>
                <a:pPr algn="ctr" defTabSz="914339">
                  <a:defRPr/>
                </a:pPr>
                <a:r>
                  <a:rPr lang="en-GB" sz="1000" kern="0" dirty="0">
                    <a:solidFill>
                      <a:prstClr val="black"/>
                    </a:solidFill>
                    <a:latin typeface="Aptos" panose="020B0004020202020204" pitchFamily="34" charset="0"/>
                  </a:rPr>
                  <a:t>Umweltwärme</a:t>
                </a:r>
                <a:endParaRPr lang="de-AT" sz="1000" kern="0" dirty="0">
                  <a:solidFill>
                    <a:prstClr val="black"/>
                  </a:solidFill>
                  <a:latin typeface="Aptos" panose="020B0004020202020204" pitchFamily="34" charset="0"/>
                </a:endParaRPr>
              </a:p>
            </p:txBody>
          </p:sp>
          <p:sp>
            <p:nvSpPr>
              <p:cNvPr id="594" name="Textfeld 593">
                <a:extLst>
                  <a:ext uri="{FF2B5EF4-FFF2-40B4-BE49-F238E27FC236}">
                    <a16:creationId xmlns:a16="http://schemas.microsoft.com/office/drawing/2014/main" id="{0F846D03-30F1-C31F-9197-EBD1A4BB5B51}"/>
                  </a:ext>
                </a:extLst>
              </p:cNvPr>
              <p:cNvSpPr txBox="1"/>
              <p:nvPr/>
            </p:nvSpPr>
            <p:spPr>
              <a:xfrm>
                <a:off x="5634974" y="2009323"/>
                <a:ext cx="922048"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Ambient heat</a:t>
                </a:r>
                <a:endParaRPr lang="de-AT" sz="1000" i="1" kern="0" dirty="0">
                  <a:solidFill>
                    <a:prstClr val="black"/>
                  </a:solidFill>
                  <a:latin typeface="Aptos" panose="020B0004020202020204" pitchFamily="34" charset="0"/>
                </a:endParaRPr>
              </a:p>
            </p:txBody>
          </p:sp>
        </p:grpSp>
        <p:sp>
          <p:nvSpPr>
            <p:cNvPr id="446" name="Abgerundetes Rechteck 423">
              <a:extLst>
                <a:ext uri="{FF2B5EF4-FFF2-40B4-BE49-F238E27FC236}">
                  <a16:creationId xmlns:a16="http://schemas.microsoft.com/office/drawing/2014/main" id="{26C2B539-1154-C06F-7D91-85A658586262}"/>
                </a:ext>
              </a:extLst>
            </p:cNvPr>
            <p:cNvSpPr/>
            <p:nvPr/>
          </p:nvSpPr>
          <p:spPr>
            <a:xfrm>
              <a:off x="8608836" y="477795"/>
              <a:ext cx="1901084" cy="5223814"/>
            </a:xfrm>
            <a:prstGeom prst="roundRect">
              <a:avLst/>
            </a:prstGeom>
            <a:solidFill>
              <a:srgbClr val="E6EFF3"/>
            </a:solidFill>
            <a:ln w="12700" cap="flat" cmpd="sng" algn="ctr">
              <a:solidFill>
                <a:srgbClr val="E6EFF3">
                  <a:lumMod val="90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447" name="Sechseck 446">
              <a:extLst>
                <a:ext uri="{FF2B5EF4-FFF2-40B4-BE49-F238E27FC236}">
                  <a16:creationId xmlns:a16="http://schemas.microsoft.com/office/drawing/2014/main" id="{19D7BD12-D3B4-EDD5-80F9-78B57C1FB43D}"/>
                </a:ext>
              </a:extLst>
            </p:cNvPr>
            <p:cNvSpPr/>
            <p:nvPr/>
          </p:nvSpPr>
          <p:spPr>
            <a:xfrm>
              <a:off x="8870328" y="4747927"/>
              <a:ext cx="378150" cy="325992"/>
            </a:xfrm>
            <a:prstGeom prst="hexagon">
              <a:avLst>
                <a:gd name="adj" fmla="val 30979"/>
                <a:gd name="vf" fmla="val 115470"/>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448" name="Flussdiagramm: Anzeige 9">
              <a:extLst>
                <a:ext uri="{FF2B5EF4-FFF2-40B4-BE49-F238E27FC236}">
                  <a16:creationId xmlns:a16="http://schemas.microsoft.com/office/drawing/2014/main" id="{6AE3CC95-B777-9025-1C9B-DD14EBD7E462}"/>
                </a:ext>
              </a:extLst>
            </p:cNvPr>
            <p:cNvSpPr/>
            <p:nvPr/>
          </p:nvSpPr>
          <p:spPr>
            <a:xfrm rot="5400000">
              <a:off x="8887278" y="3857773"/>
              <a:ext cx="344251" cy="347217"/>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449" name="Ellipse 448">
              <a:extLst>
                <a:ext uri="{FF2B5EF4-FFF2-40B4-BE49-F238E27FC236}">
                  <a16:creationId xmlns:a16="http://schemas.microsoft.com/office/drawing/2014/main" id="{C17FE2CD-6D87-6979-F0D8-8E32A91460E9}"/>
                </a:ext>
              </a:extLst>
            </p:cNvPr>
            <p:cNvSpPr/>
            <p:nvPr/>
          </p:nvSpPr>
          <p:spPr>
            <a:xfrm>
              <a:off x="8903338" y="3382724"/>
              <a:ext cx="312130" cy="314836"/>
            </a:xfrm>
            <a:prstGeom prst="ellipse">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grpSp>
          <p:nvGrpSpPr>
            <p:cNvPr id="450" name="Gruppieren 449">
              <a:extLst>
                <a:ext uri="{FF2B5EF4-FFF2-40B4-BE49-F238E27FC236}">
                  <a16:creationId xmlns:a16="http://schemas.microsoft.com/office/drawing/2014/main" id="{F4271B88-2CBD-BEC3-B21C-EA930947F71F}"/>
                </a:ext>
              </a:extLst>
            </p:cNvPr>
            <p:cNvGrpSpPr/>
            <p:nvPr/>
          </p:nvGrpSpPr>
          <p:grpSpPr>
            <a:xfrm>
              <a:off x="8893631" y="4365202"/>
              <a:ext cx="331544" cy="221029"/>
              <a:chOff x="5879976" y="1340768"/>
              <a:chExt cx="432048" cy="288032"/>
            </a:xfrm>
            <a:solidFill>
              <a:sysClr val="window" lastClr="FFFFFF">
                <a:lumMod val="95000"/>
              </a:sysClr>
            </a:solidFill>
          </p:grpSpPr>
          <p:sp>
            <p:nvSpPr>
              <p:cNvPr id="589" name="Rechteck 588">
                <a:extLst>
                  <a:ext uri="{FF2B5EF4-FFF2-40B4-BE49-F238E27FC236}">
                    <a16:creationId xmlns:a16="http://schemas.microsoft.com/office/drawing/2014/main" id="{E65F6596-9397-E29E-9312-E25A486F9547}"/>
                  </a:ext>
                </a:extLst>
              </p:cNvPr>
              <p:cNvSpPr/>
              <p:nvPr/>
            </p:nvSpPr>
            <p:spPr>
              <a:xfrm>
                <a:off x="5879976" y="1340768"/>
                <a:ext cx="432048" cy="72008"/>
              </a:xfrm>
              <a:prstGeom prst="rect">
                <a:avLst/>
              </a:prstGeom>
              <a:grp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590" name="Rechteck 589">
                <a:extLst>
                  <a:ext uri="{FF2B5EF4-FFF2-40B4-BE49-F238E27FC236}">
                    <a16:creationId xmlns:a16="http://schemas.microsoft.com/office/drawing/2014/main" id="{607BA55A-5FA7-2A92-5BF4-68F983E195EA}"/>
                  </a:ext>
                </a:extLst>
              </p:cNvPr>
              <p:cNvSpPr/>
              <p:nvPr/>
            </p:nvSpPr>
            <p:spPr>
              <a:xfrm>
                <a:off x="5951984" y="1453034"/>
                <a:ext cx="288032" cy="72008"/>
              </a:xfrm>
              <a:prstGeom prst="rect">
                <a:avLst/>
              </a:prstGeom>
              <a:grp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591" name="Rechteck 590">
                <a:extLst>
                  <a:ext uri="{FF2B5EF4-FFF2-40B4-BE49-F238E27FC236}">
                    <a16:creationId xmlns:a16="http://schemas.microsoft.com/office/drawing/2014/main" id="{2327A908-98E0-A84F-6128-F97963620CAB}"/>
                  </a:ext>
                </a:extLst>
              </p:cNvPr>
              <p:cNvSpPr/>
              <p:nvPr/>
            </p:nvSpPr>
            <p:spPr>
              <a:xfrm>
                <a:off x="6010945" y="1570534"/>
                <a:ext cx="170110" cy="58266"/>
              </a:xfrm>
              <a:prstGeom prst="rect">
                <a:avLst/>
              </a:prstGeom>
              <a:grp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grpSp>
        <p:sp>
          <p:nvSpPr>
            <p:cNvPr id="451" name="Flussdiagramm: Verzögerung 450">
              <a:extLst>
                <a:ext uri="{FF2B5EF4-FFF2-40B4-BE49-F238E27FC236}">
                  <a16:creationId xmlns:a16="http://schemas.microsoft.com/office/drawing/2014/main" id="{B02CB99B-C2B8-9282-6D36-EF9BCF65F96E}"/>
                </a:ext>
              </a:extLst>
            </p:cNvPr>
            <p:cNvSpPr/>
            <p:nvPr/>
          </p:nvSpPr>
          <p:spPr>
            <a:xfrm>
              <a:off x="8900837" y="5235614"/>
              <a:ext cx="317133" cy="272714"/>
            </a:xfrm>
            <a:prstGeom prst="flowChartDelay">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452" name="Textfeld 451">
              <a:extLst>
                <a:ext uri="{FF2B5EF4-FFF2-40B4-BE49-F238E27FC236}">
                  <a16:creationId xmlns:a16="http://schemas.microsoft.com/office/drawing/2014/main" id="{F60B6723-669D-F8F3-DD89-306038766D26}"/>
                </a:ext>
              </a:extLst>
            </p:cNvPr>
            <p:cNvSpPr txBox="1"/>
            <p:nvPr/>
          </p:nvSpPr>
          <p:spPr>
            <a:xfrm>
              <a:off x="9254230" y="3331088"/>
              <a:ext cx="575799" cy="400110"/>
            </a:xfrm>
            <a:prstGeom prst="rect">
              <a:avLst/>
            </a:prstGeom>
            <a:noFill/>
          </p:spPr>
          <p:txBody>
            <a:bodyPr wrap="none" rtlCol="0">
              <a:spAutoFit/>
            </a:bodyPr>
            <a:lstStyle/>
            <a:p>
              <a:pPr defTabSz="914339">
                <a:defRPr/>
              </a:pPr>
              <a:r>
                <a:rPr lang="en-GB" sz="1000" kern="0" dirty="0">
                  <a:solidFill>
                    <a:prstClr val="black"/>
                  </a:solidFill>
                  <a:latin typeface="Aptos" panose="020B0004020202020204" pitchFamily="34" charset="0"/>
                </a:rPr>
                <a:t>Quelle</a:t>
              </a:r>
            </a:p>
            <a:p>
              <a:pPr defTabSz="914339">
                <a:defRPr/>
              </a:pPr>
              <a:r>
                <a:rPr lang="en-GB" sz="1000" i="1" kern="0" dirty="0">
                  <a:solidFill>
                    <a:prstClr val="black"/>
                  </a:solidFill>
                  <a:latin typeface="Aptos" panose="020B0004020202020204" pitchFamily="34" charset="0"/>
                </a:rPr>
                <a:t>Source</a:t>
              </a:r>
              <a:endParaRPr lang="de-AT" sz="1000" i="1" kern="0" dirty="0">
                <a:solidFill>
                  <a:prstClr val="black"/>
                </a:solidFill>
                <a:latin typeface="Aptos" panose="020B0004020202020204" pitchFamily="34" charset="0"/>
              </a:endParaRPr>
            </a:p>
          </p:txBody>
        </p:sp>
        <p:sp>
          <p:nvSpPr>
            <p:cNvPr id="453" name="Textfeld 452">
              <a:extLst>
                <a:ext uri="{FF2B5EF4-FFF2-40B4-BE49-F238E27FC236}">
                  <a16:creationId xmlns:a16="http://schemas.microsoft.com/office/drawing/2014/main" id="{15329BBB-B326-B34D-EA71-189FD94013B5}"/>
                </a:ext>
              </a:extLst>
            </p:cNvPr>
            <p:cNvSpPr txBox="1"/>
            <p:nvPr/>
          </p:nvSpPr>
          <p:spPr>
            <a:xfrm>
              <a:off x="9254230" y="3791460"/>
              <a:ext cx="700833" cy="400110"/>
            </a:xfrm>
            <a:prstGeom prst="rect">
              <a:avLst/>
            </a:prstGeom>
            <a:noFill/>
          </p:spPr>
          <p:txBody>
            <a:bodyPr wrap="none" rtlCol="0">
              <a:spAutoFit/>
            </a:bodyPr>
            <a:lstStyle/>
            <a:p>
              <a:pPr defTabSz="914339">
                <a:defRPr/>
              </a:pPr>
              <a:r>
                <a:rPr lang="en-GB" sz="1000" kern="0" dirty="0">
                  <a:solidFill>
                    <a:prstClr val="black"/>
                  </a:solidFill>
                  <a:latin typeface="Aptos" panose="020B0004020202020204" pitchFamily="34" charset="0"/>
                </a:rPr>
                <a:t>Speicher</a:t>
              </a:r>
              <a:r>
                <a:rPr lang="en-GB" sz="1000" i="1" kern="0" dirty="0">
                  <a:solidFill>
                    <a:prstClr val="black"/>
                  </a:solidFill>
                  <a:latin typeface="Aptos" panose="020B0004020202020204" pitchFamily="34" charset="0"/>
                </a:rPr>
                <a:t> </a:t>
              </a:r>
            </a:p>
            <a:p>
              <a:pPr defTabSz="914339">
                <a:defRPr/>
              </a:pPr>
              <a:r>
                <a:rPr lang="en-GB" sz="1000" i="1" kern="0" dirty="0">
                  <a:solidFill>
                    <a:prstClr val="black"/>
                  </a:solidFill>
                  <a:latin typeface="Aptos" panose="020B0004020202020204" pitchFamily="34" charset="0"/>
                </a:rPr>
                <a:t>Storage</a:t>
              </a:r>
              <a:endParaRPr lang="de-AT" sz="1000" kern="0" dirty="0">
                <a:solidFill>
                  <a:prstClr val="black"/>
                </a:solidFill>
                <a:latin typeface="Aptos" panose="020B0004020202020204" pitchFamily="34" charset="0"/>
              </a:endParaRPr>
            </a:p>
          </p:txBody>
        </p:sp>
        <p:sp>
          <p:nvSpPr>
            <p:cNvPr id="454" name="Textfeld 453">
              <a:extLst>
                <a:ext uri="{FF2B5EF4-FFF2-40B4-BE49-F238E27FC236}">
                  <a16:creationId xmlns:a16="http://schemas.microsoft.com/office/drawing/2014/main" id="{C29EEA43-6DC8-51F4-27CB-AF0F65CC72F3}"/>
                </a:ext>
              </a:extLst>
            </p:cNvPr>
            <p:cNvSpPr txBox="1"/>
            <p:nvPr/>
          </p:nvSpPr>
          <p:spPr>
            <a:xfrm>
              <a:off x="9254230" y="4251832"/>
              <a:ext cx="524503" cy="400110"/>
            </a:xfrm>
            <a:prstGeom prst="rect">
              <a:avLst/>
            </a:prstGeom>
            <a:noFill/>
          </p:spPr>
          <p:txBody>
            <a:bodyPr wrap="none" rtlCol="0">
              <a:spAutoFit/>
            </a:bodyPr>
            <a:lstStyle/>
            <a:p>
              <a:pPr defTabSz="914339">
                <a:defRPr/>
              </a:pPr>
              <a:r>
                <a:rPr lang="en-GB" sz="1000" kern="0" dirty="0">
                  <a:solidFill>
                    <a:prstClr val="black"/>
                  </a:solidFill>
                  <a:latin typeface="Aptos" panose="020B0004020202020204" pitchFamily="34" charset="0"/>
                </a:rPr>
                <a:t>Senke</a:t>
              </a:r>
            </a:p>
            <a:p>
              <a:pPr defTabSz="914339">
                <a:defRPr/>
              </a:pPr>
              <a:r>
                <a:rPr lang="en-GB" sz="1000" i="1" kern="0" dirty="0">
                  <a:solidFill>
                    <a:prstClr val="black"/>
                  </a:solidFill>
                  <a:latin typeface="Aptos" panose="020B0004020202020204" pitchFamily="34" charset="0"/>
                </a:rPr>
                <a:t>Sink</a:t>
              </a:r>
              <a:endParaRPr lang="de-AT" sz="1000" kern="0" dirty="0">
                <a:solidFill>
                  <a:prstClr val="black"/>
                </a:solidFill>
                <a:latin typeface="Aptos" panose="020B0004020202020204" pitchFamily="34" charset="0"/>
              </a:endParaRPr>
            </a:p>
          </p:txBody>
        </p:sp>
        <p:sp>
          <p:nvSpPr>
            <p:cNvPr id="455" name="Textfeld 454">
              <a:extLst>
                <a:ext uri="{FF2B5EF4-FFF2-40B4-BE49-F238E27FC236}">
                  <a16:creationId xmlns:a16="http://schemas.microsoft.com/office/drawing/2014/main" id="{C137DD37-29F1-8DE8-12C0-E4BEAE91C4A0}"/>
                </a:ext>
              </a:extLst>
            </p:cNvPr>
            <p:cNvSpPr txBox="1"/>
            <p:nvPr/>
          </p:nvSpPr>
          <p:spPr>
            <a:xfrm>
              <a:off x="9254230" y="4712204"/>
              <a:ext cx="649537" cy="400110"/>
            </a:xfrm>
            <a:prstGeom prst="rect">
              <a:avLst/>
            </a:prstGeom>
            <a:noFill/>
          </p:spPr>
          <p:txBody>
            <a:bodyPr wrap="none" rtlCol="0">
              <a:spAutoFit/>
            </a:bodyPr>
            <a:lstStyle/>
            <a:p>
              <a:pPr defTabSz="914339">
                <a:defRPr/>
              </a:pPr>
              <a:r>
                <a:rPr lang="en-GB" sz="1000" kern="0" dirty="0">
                  <a:solidFill>
                    <a:prstClr val="black"/>
                  </a:solidFill>
                  <a:latin typeface="Aptos" panose="020B0004020202020204" pitchFamily="34" charset="0"/>
                </a:rPr>
                <a:t>Nutzung</a:t>
              </a:r>
            </a:p>
            <a:p>
              <a:pPr defTabSz="914339">
                <a:defRPr/>
              </a:pPr>
              <a:r>
                <a:rPr lang="en-GB" sz="1000" i="1" kern="0" dirty="0">
                  <a:solidFill>
                    <a:prstClr val="black"/>
                  </a:solidFill>
                  <a:latin typeface="Aptos" panose="020B0004020202020204" pitchFamily="34" charset="0"/>
                </a:rPr>
                <a:t>Usage</a:t>
              </a:r>
              <a:endParaRPr lang="de-AT" sz="1000" kern="0" dirty="0">
                <a:solidFill>
                  <a:prstClr val="black"/>
                </a:solidFill>
                <a:latin typeface="Aptos" panose="020B0004020202020204" pitchFamily="34" charset="0"/>
              </a:endParaRPr>
            </a:p>
          </p:txBody>
        </p:sp>
        <p:sp>
          <p:nvSpPr>
            <p:cNvPr id="456" name="Textfeld 455">
              <a:extLst>
                <a:ext uri="{FF2B5EF4-FFF2-40B4-BE49-F238E27FC236}">
                  <a16:creationId xmlns:a16="http://schemas.microsoft.com/office/drawing/2014/main" id="{68103C27-E741-BF4F-B34D-9461FEF2192E}"/>
                </a:ext>
              </a:extLst>
            </p:cNvPr>
            <p:cNvSpPr txBox="1"/>
            <p:nvPr/>
          </p:nvSpPr>
          <p:spPr>
            <a:xfrm>
              <a:off x="9254230" y="5172575"/>
              <a:ext cx="1031051" cy="400110"/>
            </a:xfrm>
            <a:prstGeom prst="rect">
              <a:avLst/>
            </a:prstGeom>
            <a:noFill/>
          </p:spPr>
          <p:txBody>
            <a:bodyPr wrap="none" rtlCol="0">
              <a:spAutoFit/>
            </a:bodyPr>
            <a:lstStyle/>
            <a:p>
              <a:pPr defTabSz="914339">
                <a:defRPr/>
              </a:pPr>
              <a:r>
                <a:rPr lang="en-GB" sz="1000" kern="0" dirty="0">
                  <a:solidFill>
                    <a:prstClr val="black"/>
                  </a:solidFill>
                  <a:latin typeface="Aptos" panose="020B0004020202020204" pitchFamily="34" charset="0"/>
                </a:rPr>
                <a:t>Umwandlung</a:t>
              </a:r>
            </a:p>
            <a:p>
              <a:pPr defTabSz="914339">
                <a:defRPr/>
              </a:pPr>
              <a:r>
                <a:rPr lang="en-GB" sz="1000" i="1" kern="0" dirty="0">
                  <a:solidFill>
                    <a:prstClr val="black"/>
                  </a:solidFill>
                  <a:latin typeface="Aptos" panose="020B0004020202020204" pitchFamily="34" charset="0"/>
                </a:rPr>
                <a:t>Transformation</a:t>
              </a:r>
              <a:endParaRPr lang="de-AT" sz="1000" i="1" kern="0" dirty="0">
                <a:solidFill>
                  <a:prstClr val="black"/>
                </a:solidFill>
                <a:latin typeface="Aptos" panose="020B0004020202020204" pitchFamily="34" charset="0"/>
              </a:endParaRPr>
            </a:p>
          </p:txBody>
        </p:sp>
        <p:grpSp>
          <p:nvGrpSpPr>
            <p:cNvPr id="457" name="Gruppieren 456">
              <a:extLst>
                <a:ext uri="{FF2B5EF4-FFF2-40B4-BE49-F238E27FC236}">
                  <a16:creationId xmlns:a16="http://schemas.microsoft.com/office/drawing/2014/main" id="{60C5C7FA-EDDB-FDCA-1AFE-22559F5D6B80}"/>
                </a:ext>
              </a:extLst>
            </p:cNvPr>
            <p:cNvGrpSpPr/>
            <p:nvPr/>
          </p:nvGrpSpPr>
          <p:grpSpPr>
            <a:xfrm>
              <a:off x="8817179" y="806271"/>
              <a:ext cx="1276686" cy="380387"/>
              <a:chOff x="804359" y="759914"/>
              <a:chExt cx="1276686" cy="380387"/>
            </a:xfrm>
          </p:grpSpPr>
          <p:cxnSp>
            <p:nvCxnSpPr>
              <p:cNvPr id="586" name="Gerade Verbindung mit Pfeil 585">
                <a:extLst>
                  <a:ext uri="{FF2B5EF4-FFF2-40B4-BE49-F238E27FC236}">
                    <a16:creationId xmlns:a16="http://schemas.microsoft.com/office/drawing/2014/main" id="{24E0B9E1-33AD-0B8D-2A68-242F73BFA446}"/>
                  </a:ext>
                </a:extLst>
              </p:cNvPr>
              <p:cNvCxnSpPr/>
              <p:nvPr/>
            </p:nvCxnSpPr>
            <p:spPr>
              <a:xfrm>
                <a:off x="837020" y="783908"/>
                <a:ext cx="1244025" cy="0"/>
              </a:xfrm>
              <a:prstGeom prst="straightConnector1">
                <a:avLst/>
              </a:prstGeom>
              <a:noFill/>
              <a:ln w="28575" cap="flat" cmpd="sng" algn="ctr">
                <a:solidFill>
                  <a:srgbClr val="950F53"/>
                </a:solidFill>
                <a:prstDash val="solid"/>
                <a:miter lim="800000"/>
                <a:tailEnd type="triangle"/>
              </a:ln>
              <a:effectLst/>
            </p:spPr>
          </p:cxnSp>
          <p:sp>
            <p:nvSpPr>
              <p:cNvPr id="587" name="Textfeld 586">
                <a:extLst>
                  <a:ext uri="{FF2B5EF4-FFF2-40B4-BE49-F238E27FC236}">
                    <a16:creationId xmlns:a16="http://schemas.microsoft.com/office/drawing/2014/main" id="{4AE71279-61EC-4697-6DBF-D394DAC26EB1}"/>
                  </a:ext>
                </a:extLst>
              </p:cNvPr>
              <p:cNvSpPr txBox="1"/>
              <p:nvPr/>
            </p:nvSpPr>
            <p:spPr>
              <a:xfrm>
                <a:off x="822751" y="759914"/>
                <a:ext cx="766557" cy="246221"/>
              </a:xfrm>
              <a:prstGeom prst="rect">
                <a:avLst/>
              </a:prstGeom>
              <a:noFill/>
            </p:spPr>
            <p:txBody>
              <a:bodyPr wrap="none" rtlCol="0">
                <a:spAutoFit/>
              </a:bodyPr>
              <a:lstStyle/>
              <a:p>
                <a:pPr algn="ctr" defTabSz="914339">
                  <a:defRPr/>
                </a:pPr>
                <a:r>
                  <a:rPr lang="en-GB" sz="1000" kern="0" dirty="0">
                    <a:solidFill>
                      <a:prstClr val="black"/>
                    </a:solidFill>
                    <a:latin typeface="Aptos" panose="020B0004020202020204" pitchFamily="34" charset="0"/>
                  </a:rPr>
                  <a:t>Netzstrom</a:t>
                </a:r>
                <a:endParaRPr lang="de-AT" sz="1000" kern="0" dirty="0">
                  <a:solidFill>
                    <a:prstClr val="black"/>
                  </a:solidFill>
                  <a:latin typeface="Aptos" panose="020B0004020202020204" pitchFamily="34" charset="0"/>
                </a:endParaRPr>
              </a:p>
            </p:txBody>
          </p:sp>
          <p:sp>
            <p:nvSpPr>
              <p:cNvPr id="588" name="Textfeld 587">
                <a:extLst>
                  <a:ext uri="{FF2B5EF4-FFF2-40B4-BE49-F238E27FC236}">
                    <a16:creationId xmlns:a16="http://schemas.microsoft.com/office/drawing/2014/main" id="{E0EE80DA-8929-D93A-01E5-AC7F6F62453B}"/>
                  </a:ext>
                </a:extLst>
              </p:cNvPr>
              <p:cNvSpPr txBox="1"/>
              <p:nvPr/>
            </p:nvSpPr>
            <p:spPr>
              <a:xfrm>
                <a:off x="804359" y="894080"/>
                <a:ext cx="447559"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 Grid</a:t>
                </a:r>
                <a:endParaRPr lang="de-AT" sz="1000" i="1" kern="0" dirty="0">
                  <a:solidFill>
                    <a:prstClr val="black"/>
                  </a:solidFill>
                  <a:latin typeface="Aptos" panose="020B0004020202020204" pitchFamily="34" charset="0"/>
                </a:endParaRPr>
              </a:p>
            </p:txBody>
          </p:sp>
        </p:grpSp>
        <p:grpSp>
          <p:nvGrpSpPr>
            <p:cNvPr id="458" name="Gruppieren 457">
              <a:extLst>
                <a:ext uri="{FF2B5EF4-FFF2-40B4-BE49-F238E27FC236}">
                  <a16:creationId xmlns:a16="http://schemas.microsoft.com/office/drawing/2014/main" id="{3124FC6E-07ED-B7A4-773C-76B231582994}"/>
                </a:ext>
              </a:extLst>
            </p:cNvPr>
            <p:cNvGrpSpPr/>
            <p:nvPr/>
          </p:nvGrpSpPr>
          <p:grpSpPr>
            <a:xfrm>
              <a:off x="8868968" y="2676343"/>
              <a:ext cx="1244025" cy="246221"/>
              <a:chOff x="783683" y="903567"/>
              <a:chExt cx="1244025" cy="246221"/>
            </a:xfrm>
          </p:grpSpPr>
          <p:cxnSp>
            <p:nvCxnSpPr>
              <p:cNvPr id="583" name="Gerade Verbindung mit Pfeil 582">
                <a:extLst>
                  <a:ext uri="{FF2B5EF4-FFF2-40B4-BE49-F238E27FC236}">
                    <a16:creationId xmlns:a16="http://schemas.microsoft.com/office/drawing/2014/main" id="{FAF9D959-2026-E008-CB1A-548059872831}"/>
                  </a:ext>
                </a:extLst>
              </p:cNvPr>
              <p:cNvCxnSpPr/>
              <p:nvPr/>
            </p:nvCxnSpPr>
            <p:spPr>
              <a:xfrm>
                <a:off x="783683" y="1118083"/>
                <a:ext cx="1244025" cy="0"/>
              </a:xfrm>
              <a:prstGeom prst="straightConnector1">
                <a:avLst/>
              </a:prstGeom>
              <a:noFill/>
              <a:ln w="28575" cap="flat" cmpd="sng" algn="ctr">
                <a:solidFill>
                  <a:srgbClr val="FF0000"/>
                </a:solidFill>
                <a:prstDash val="solid"/>
                <a:miter lim="800000"/>
                <a:tailEnd type="triangle"/>
              </a:ln>
              <a:effectLst/>
            </p:spPr>
          </p:cxnSp>
          <p:sp>
            <p:nvSpPr>
              <p:cNvPr id="584" name="Textfeld 583">
                <a:extLst>
                  <a:ext uri="{FF2B5EF4-FFF2-40B4-BE49-F238E27FC236}">
                    <a16:creationId xmlns:a16="http://schemas.microsoft.com/office/drawing/2014/main" id="{BF9CB96E-3B9E-CC99-526A-800B548238FE}"/>
                  </a:ext>
                </a:extLst>
              </p:cNvPr>
              <p:cNvSpPr txBox="1"/>
              <p:nvPr/>
            </p:nvSpPr>
            <p:spPr>
              <a:xfrm>
                <a:off x="804614" y="903567"/>
                <a:ext cx="607859" cy="246221"/>
              </a:xfrm>
              <a:prstGeom prst="rect">
                <a:avLst/>
              </a:prstGeom>
              <a:noFill/>
            </p:spPr>
            <p:txBody>
              <a:bodyPr wrap="none" rtlCol="0">
                <a:spAutoFit/>
              </a:bodyPr>
              <a:lstStyle/>
              <a:p>
                <a:pPr algn="ctr" defTabSz="914339">
                  <a:defRPr/>
                </a:pPr>
                <a:r>
                  <a:rPr lang="en-GB" sz="1000" b="1" kern="0" dirty="0">
                    <a:solidFill>
                      <a:prstClr val="black"/>
                    </a:solidFill>
                    <a:latin typeface="Aptos" panose="020B0004020202020204" pitchFamily="34" charset="0"/>
                  </a:rPr>
                  <a:t>Wärme</a:t>
                </a:r>
                <a:endParaRPr lang="de-AT" sz="1000" b="1" kern="0" dirty="0">
                  <a:solidFill>
                    <a:prstClr val="black"/>
                  </a:solidFill>
                  <a:latin typeface="Aptos" panose="020B0004020202020204" pitchFamily="34" charset="0"/>
                </a:endParaRPr>
              </a:p>
            </p:txBody>
          </p:sp>
          <p:sp>
            <p:nvSpPr>
              <p:cNvPr id="585" name="Textfeld 584">
                <a:extLst>
                  <a:ext uri="{FF2B5EF4-FFF2-40B4-BE49-F238E27FC236}">
                    <a16:creationId xmlns:a16="http://schemas.microsoft.com/office/drawing/2014/main" id="{61B04CE5-3D7C-AC27-24CD-52B6BA1B9AB3}"/>
                  </a:ext>
                </a:extLst>
              </p:cNvPr>
              <p:cNvSpPr txBox="1"/>
              <p:nvPr/>
            </p:nvSpPr>
            <p:spPr>
              <a:xfrm>
                <a:off x="1378007" y="903567"/>
                <a:ext cx="466795" cy="246221"/>
              </a:xfrm>
              <a:prstGeom prst="rect">
                <a:avLst/>
              </a:prstGeom>
              <a:noFill/>
            </p:spPr>
            <p:txBody>
              <a:bodyPr wrap="none" rtlCol="0">
                <a:spAutoFit/>
              </a:bodyPr>
              <a:lstStyle/>
              <a:p>
                <a:pPr algn="ctr" defTabSz="914339">
                  <a:defRPr/>
                </a:pPr>
                <a:r>
                  <a:rPr lang="en-GB" sz="1000" b="1" i="1" kern="0" dirty="0">
                    <a:solidFill>
                      <a:prstClr val="black"/>
                    </a:solidFill>
                    <a:latin typeface="Aptos" panose="020B0004020202020204" pitchFamily="34" charset="0"/>
                  </a:rPr>
                  <a:t>Heat</a:t>
                </a:r>
                <a:endParaRPr lang="de-AT" sz="1000" b="1" i="1" kern="0" dirty="0">
                  <a:solidFill>
                    <a:prstClr val="black"/>
                  </a:solidFill>
                  <a:latin typeface="Aptos" panose="020B0004020202020204" pitchFamily="34" charset="0"/>
                </a:endParaRPr>
              </a:p>
            </p:txBody>
          </p:sp>
        </p:grpSp>
        <p:grpSp>
          <p:nvGrpSpPr>
            <p:cNvPr id="459" name="Gruppieren 458">
              <a:extLst>
                <a:ext uri="{FF2B5EF4-FFF2-40B4-BE49-F238E27FC236}">
                  <a16:creationId xmlns:a16="http://schemas.microsoft.com/office/drawing/2014/main" id="{44C723CD-ABAB-591E-5803-1375105D5590}"/>
                </a:ext>
              </a:extLst>
            </p:cNvPr>
            <p:cNvGrpSpPr/>
            <p:nvPr/>
          </p:nvGrpSpPr>
          <p:grpSpPr>
            <a:xfrm>
              <a:off x="6851133" y="5184842"/>
              <a:ext cx="432048" cy="288032"/>
              <a:chOff x="8953757" y="392365"/>
              <a:chExt cx="432048" cy="288032"/>
            </a:xfrm>
          </p:grpSpPr>
          <p:sp>
            <p:nvSpPr>
              <p:cNvPr id="580" name="Rechteck 579">
                <a:extLst>
                  <a:ext uri="{FF2B5EF4-FFF2-40B4-BE49-F238E27FC236}">
                    <a16:creationId xmlns:a16="http://schemas.microsoft.com/office/drawing/2014/main" id="{985AE75A-0384-C204-EF50-AC5ED89BDBFF}"/>
                  </a:ext>
                </a:extLst>
              </p:cNvPr>
              <p:cNvSpPr/>
              <p:nvPr/>
            </p:nvSpPr>
            <p:spPr>
              <a:xfrm>
                <a:off x="8953757" y="392365"/>
                <a:ext cx="432048" cy="72008"/>
              </a:xfrm>
              <a:prstGeom prst="rect">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81" name="Rechteck 580">
                <a:extLst>
                  <a:ext uri="{FF2B5EF4-FFF2-40B4-BE49-F238E27FC236}">
                    <a16:creationId xmlns:a16="http://schemas.microsoft.com/office/drawing/2014/main" id="{B0B15C99-3E7F-FD07-115F-D2C6A933A703}"/>
                  </a:ext>
                </a:extLst>
              </p:cNvPr>
              <p:cNvSpPr/>
              <p:nvPr/>
            </p:nvSpPr>
            <p:spPr>
              <a:xfrm>
                <a:off x="9025765" y="504631"/>
                <a:ext cx="288032" cy="72008"/>
              </a:xfrm>
              <a:prstGeom prst="rect">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82" name="Rechteck 581">
                <a:extLst>
                  <a:ext uri="{FF2B5EF4-FFF2-40B4-BE49-F238E27FC236}">
                    <a16:creationId xmlns:a16="http://schemas.microsoft.com/office/drawing/2014/main" id="{7790B9EE-5DA1-F4B2-BDA9-CDB6D5AEB4F6}"/>
                  </a:ext>
                </a:extLst>
              </p:cNvPr>
              <p:cNvSpPr/>
              <p:nvPr/>
            </p:nvSpPr>
            <p:spPr>
              <a:xfrm>
                <a:off x="9084726" y="622131"/>
                <a:ext cx="170110" cy="58266"/>
              </a:xfrm>
              <a:prstGeom prst="rect">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cxnSp>
          <p:nvCxnSpPr>
            <p:cNvPr id="460" name="Gekrümmter Verbinder 156">
              <a:extLst>
                <a:ext uri="{FF2B5EF4-FFF2-40B4-BE49-F238E27FC236}">
                  <a16:creationId xmlns:a16="http://schemas.microsoft.com/office/drawing/2014/main" id="{B662D754-12D3-AD6A-3550-B17DF76F4241}"/>
                </a:ext>
              </a:extLst>
            </p:cNvPr>
            <p:cNvCxnSpPr>
              <a:stCxn id="598" idx="2"/>
              <a:endCxn id="461" idx="1"/>
            </p:cNvCxnSpPr>
            <p:nvPr/>
          </p:nvCxnSpPr>
          <p:spPr>
            <a:xfrm rot="10800000" flipV="1">
              <a:off x="4768878" y="1147265"/>
              <a:ext cx="963192" cy="538815"/>
            </a:xfrm>
            <a:prstGeom prst="curvedConnector4">
              <a:avLst>
                <a:gd name="adj1" fmla="val 34567"/>
                <a:gd name="adj2" fmla="val 57574"/>
              </a:avLst>
            </a:prstGeom>
            <a:noFill/>
            <a:ln w="28575" cap="flat" cmpd="sng" algn="ctr">
              <a:solidFill>
                <a:srgbClr val="BCCF00">
                  <a:lumMod val="60000"/>
                  <a:lumOff val="40000"/>
                </a:srgbClr>
              </a:solidFill>
              <a:prstDash val="solid"/>
              <a:miter lim="800000"/>
              <a:tailEnd type="triangle"/>
            </a:ln>
            <a:effectLst/>
          </p:spPr>
        </p:cxnSp>
        <p:sp>
          <p:nvSpPr>
            <p:cNvPr id="461" name="Abgerundetes Rechteck 162">
              <a:extLst>
                <a:ext uri="{FF2B5EF4-FFF2-40B4-BE49-F238E27FC236}">
                  <a16:creationId xmlns:a16="http://schemas.microsoft.com/office/drawing/2014/main" id="{BE6107B6-E01A-24A7-27A5-C2A86C5DAF22}"/>
                </a:ext>
              </a:extLst>
            </p:cNvPr>
            <p:cNvSpPr/>
            <p:nvPr/>
          </p:nvSpPr>
          <p:spPr>
            <a:xfrm rot="5400000">
              <a:off x="4471578" y="767382"/>
              <a:ext cx="594601" cy="2431999"/>
            </a:xfrm>
            <a:prstGeom prst="roundRect">
              <a:avLst/>
            </a:prstGeom>
            <a:solidFill>
              <a:srgbClr val="E6EFF3"/>
            </a:solidFill>
            <a:ln w="28575" cap="flat" cmpd="sng" algn="ctr">
              <a:solidFill>
                <a:srgbClr val="E6EFF3">
                  <a:lumMod val="75000"/>
                </a:srgbClr>
              </a:solidFill>
              <a:prstDash val="dash"/>
              <a:miter lim="800000"/>
            </a:ln>
            <a:effectLst/>
          </p:spPr>
          <p:txBody>
            <a:bodyPr vert="vert270" rtlCol="0" anchor="ctr"/>
            <a:lstStyle/>
            <a:p>
              <a:pPr algn="ctr" defTabSz="914339">
                <a:defRPr/>
              </a:pPr>
              <a:r>
                <a:rPr lang="en-GB" sz="1400" b="1" kern="0" dirty="0">
                  <a:solidFill>
                    <a:srgbClr val="E6EFF3">
                      <a:lumMod val="50000"/>
                    </a:srgbClr>
                  </a:solidFill>
                  <a:latin typeface="Aptos" panose="020B0004020202020204" pitchFamily="34" charset="0"/>
                </a:rPr>
                <a:t>Bilanzierung</a:t>
              </a:r>
            </a:p>
            <a:p>
              <a:pPr algn="ctr" defTabSz="914339">
                <a:defRPr/>
              </a:pPr>
              <a:r>
                <a:rPr lang="en-GB" sz="1400" i="1" kern="0" dirty="0">
                  <a:solidFill>
                    <a:srgbClr val="E6EFF3">
                      <a:lumMod val="50000"/>
                    </a:srgbClr>
                  </a:solidFill>
                  <a:latin typeface="Aptos" panose="020B0004020202020204" pitchFamily="34" charset="0"/>
                </a:rPr>
                <a:t>Balancing</a:t>
              </a:r>
              <a:endParaRPr lang="de-AT" sz="1400" i="1" kern="0" dirty="0">
                <a:solidFill>
                  <a:srgbClr val="E6EFF3">
                    <a:lumMod val="50000"/>
                  </a:srgbClr>
                </a:solidFill>
                <a:latin typeface="Aptos" panose="020B0004020202020204" pitchFamily="34" charset="0"/>
              </a:endParaRPr>
            </a:p>
          </p:txBody>
        </p:sp>
        <p:cxnSp>
          <p:nvCxnSpPr>
            <p:cNvPr id="462" name="Gekrümmter Verbinder 164">
              <a:extLst>
                <a:ext uri="{FF2B5EF4-FFF2-40B4-BE49-F238E27FC236}">
                  <a16:creationId xmlns:a16="http://schemas.microsoft.com/office/drawing/2014/main" id="{31C202CA-3CF0-445C-514F-C9557E880A27}"/>
                </a:ext>
              </a:extLst>
            </p:cNvPr>
            <p:cNvCxnSpPr>
              <a:stCxn id="601" idx="5"/>
              <a:endCxn id="461" idx="1"/>
            </p:cNvCxnSpPr>
            <p:nvPr/>
          </p:nvCxnSpPr>
          <p:spPr>
            <a:xfrm rot="16200000" flipH="1">
              <a:off x="3991866" y="909068"/>
              <a:ext cx="377279" cy="1176745"/>
            </a:xfrm>
            <a:prstGeom prst="curvedConnector5">
              <a:avLst>
                <a:gd name="adj1" fmla="val 60592"/>
                <a:gd name="adj2" fmla="val 40952"/>
                <a:gd name="adj3" fmla="val 39408"/>
              </a:avLst>
            </a:prstGeom>
            <a:noFill/>
            <a:ln w="28575" cap="flat" cmpd="sng" algn="ctr">
              <a:solidFill>
                <a:srgbClr val="950F53"/>
              </a:solidFill>
              <a:prstDash val="solid"/>
              <a:miter lim="800000"/>
              <a:tailEnd type="triangle"/>
            </a:ln>
            <a:effectLst/>
          </p:spPr>
        </p:cxnSp>
        <p:cxnSp>
          <p:nvCxnSpPr>
            <p:cNvPr id="463" name="Gekrümmter Verbinder 167">
              <a:extLst>
                <a:ext uri="{FF2B5EF4-FFF2-40B4-BE49-F238E27FC236}">
                  <a16:creationId xmlns:a16="http://schemas.microsoft.com/office/drawing/2014/main" id="{4E2D7FE4-E0D4-B421-1E95-DFB0E56DF212}"/>
                </a:ext>
              </a:extLst>
            </p:cNvPr>
            <p:cNvCxnSpPr>
              <a:stCxn id="461" idx="1"/>
              <a:endCxn id="601" idx="6"/>
            </p:cNvCxnSpPr>
            <p:nvPr/>
          </p:nvCxnSpPr>
          <p:spPr>
            <a:xfrm rot="16200000" flipV="1">
              <a:off x="3932213" y="849416"/>
              <a:ext cx="580948" cy="1092382"/>
            </a:xfrm>
            <a:prstGeom prst="curvedConnector4">
              <a:avLst>
                <a:gd name="adj1" fmla="val 39349"/>
                <a:gd name="adj2" fmla="val 63608"/>
              </a:avLst>
            </a:prstGeom>
            <a:noFill/>
            <a:ln w="28575" cap="flat" cmpd="sng" algn="ctr">
              <a:solidFill>
                <a:srgbClr val="5FB564">
                  <a:lumMod val="60000"/>
                  <a:lumOff val="40000"/>
                </a:srgbClr>
              </a:solidFill>
              <a:prstDash val="solid"/>
              <a:miter lim="800000"/>
              <a:tailEnd type="triangle"/>
            </a:ln>
            <a:effectLst/>
          </p:spPr>
        </p:cxnSp>
        <p:grpSp>
          <p:nvGrpSpPr>
            <p:cNvPr id="464" name="Gruppieren 463">
              <a:extLst>
                <a:ext uri="{FF2B5EF4-FFF2-40B4-BE49-F238E27FC236}">
                  <a16:creationId xmlns:a16="http://schemas.microsoft.com/office/drawing/2014/main" id="{26369311-B21A-FEC2-AAB5-4571497FCDFF}"/>
                </a:ext>
              </a:extLst>
            </p:cNvPr>
            <p:cNvGrpSpPr/>
            <p:nvPr/>
          </p:nvGrpSpPr>
          <p:grpSpPr>
            <a:xfrm>
              <a:off x="7043594" y="3382298"/>
              <a:ext cx="1065663" cy="1244277"/>
              <a:chOff x="3742312" y="2104168"/>
              <a:chExt cx="1065663" cy="1244277"/>
            </a:xfrm>
          </p:grpSpPr>
          <p:grpSp>
            <p:nvGrpSpPr>
              <p:cNvPr id="556" name="Gruppieren 555">
                <a:extLst>
                  <a:ext uri="{FF2B5EF4-FFF2-40B4-BE49-F238E27FC236}">
                    <a16:creationId xmlns:a16="http://schemas.microsoft.com/office/drawing/2014/main" id="{C138A61D-D193-A3D1-2B26-9E22286A75B7}"/>
                  </a:ext>
                </a:extLst>
              </p:cNvPr>
              <p:cNvGrpSpPr/>
              <p:nvPr/>
            </p:nvGrpSpPr>
            <p:grpSpPr>
              <a:xfrm>
                <a:off x="3742312" y="2104168"/>
                <a:ext cx="1025314" cy="883891"/>
                <a:chOff x="2451143" y="538602"/>
                <a:chExt cx="1297164" cy="1118244"/>
              </a:xfrm>
            </p:grpSpPr>
            <p:sp>
              <p:nvSpPr>
                <p:cNvPr id="559" name="Sechseck 558">
                  <a:extLst>
                    <a:ext uri="{FF2B5EF4-FFF2-40B4-BE49-F238E27FC236}">
                      <a16:creationId xmlns:a16="http://schemas.microsoft.com/office/drawing/2014/main" id="{45C4DB87-C740-53FF-422C-C4D4FA093CB7}"/>
                    </a:ext>
                  </a:extLst>
                </p:cNvPr>
                <p:cNvSpPr/>
                <p:nvPr/>
              </p:nvSpPr>
              <p:spPr>
                <a:xfrm>
                  <a:off x="2451143" y="538602"/>
                  <a:ext cx="1297164" cy="1118244"/>
                </a:xfrm>
                <a:prstGeom prst="hexagon">
                  <a:avLst>
                    <a:gd name="adj" fmla="val 30979"/>
                    <a:gd name="vf" fmla="val 115470"/>
                  </a:avLst>
                </a:prstGeom>
                <a:solidFill>
                  <a:srgbClr val="950F53">
                    <a:lumMod val="20000"/>
                    <a:lumOff val="80000"/>
                  </a:srgbClr>
                </a:solidFill>
                <a:ln w="12700" cap="flat" cmpd="sng" algn="ctr">
                  <a:solidFill>
                    <a:srgbClr val="950F53">
                      <a:lumMod val="60000"/>
                      <a:lumOff val="40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60" name="Gruppieren 559" descr="{&quot;Key&quot;:&quot;POWER_USER_SHAPE_ICON&quot;,&quot;Value&quot;:&quot;POWER_USER_SHAPE_ICON_STYLE_2&quot;}">
                  <a:extLst>
                    <a:ext uri="{FF2B5EF4-FFF2-40B4-BE49-F238E27FC236}">
                      <a16:creationId xmlns:a16="http://schemas.microsoft.com/office/drawing/2014/main" id="{3882350C-D866-74CC-FB88-2ACA52CD425F}"/>
                    </a:ext>
                  </a:extLst>
                </p:cNvPr>
                <p:cNvGrpSpPr>
                  <a:grpSpLocks noChangeAspect="1"/>
                </p:cNvGrpSpPr>
                <p:nvPr/>
              </p:nvGrpSpPr>
              <p:grpSpPr>
                <a:xfrm>
                  <a:off x="2579006" y="745618"/>
                  <a:ext cx="472397" cy="472397"/>
                  <a:chOff x="-151229" y="3030538"/>
                  <a:chExt cx="762000" cy="762000"/>
                </a:xfrm>
              </p:grpSpPr>
              <p:sp>
                <p:nvSpPr>
                  <p:cNvPr id="570" name="POWER_USER_SHAPE_ICON_STYLE_2">
                    <a:extLst>
                      <a:ext uri="{FF2B5EF4-FFF2-40B4-BE49-F238E27FC236}">
                        <a16:creationId xmlns:a16="http://schemas.microsoft.com/office/drawing/2014/main" id="{AE02300C-5E6F-5922-D8FF-063C8D8ABB88}"/>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71" name="Gruppieren 570">
                    <a:extLst>
                      <a:ext uri="{FF2B5EF4-FFF2-40B4-BE49-F238E27FC236}">
                        <a16:creationId xmlns:a16="http://schemas.microsoft.com/office/drawing/2014/main" id="{226FF19F-0154-E347-CC30-07274DCE8DEF}"/>
                      </a:ext>
                    </a:extLst>
                  </p:cNvPr>
                  <p:cNvGrpSpPr>
                    <a:grpSpLocks noChangeAspect="1"/>
                  </p:cNvGrpSpPr>
                  <p:nvPr/>
                </p:nvGrpSpPr>
                <p:grpSpPr>
                  <a:xfrm>
                    <a:off x="1" y="3157538"/>
                    <a:ext cx="459541" cy="508000"/>
                    <a:chOff x="0" y="3157538"/>
                    <a:chExt cx="491134" cy="542925"/>
                  </a:xfrm>
                </p:grpSpPr>
                <p:sp>
                  <p:nvSpPr>
                    <p:cNvPr id="572" name="Crowdsourcing2">
                      <a:extLst>
                        <a:ext uri="{FF2B5EF4-FFF2-40B4-BE49-F238E27FC236}">
                          <a16:creationId xmlns:a16="http://schemas.microsoft.com/office/drawing/2014/main" id="{55CEFA16-2C29-C78E-606D-6061163C4994}"/>
                        </a:ext>
                      </a:extLst>
                    </p:cNvPr>
                    <p:cNvSpPr>
                      <a:spLocks/>
                    </p:cNvSpPr>
                    <p:nvPr>
                      <p:custDataLst>
                        <p:tags r:id="rId13"/>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3" name="Crowdsourcing2">
                      <a:extLst>
                        <a:ext uri="{FF2B5EF4-FFF2-40B4-BE49-F238E27FC236}">
                          <a16:creationId xmlns:a16="http://schemas.microsoft.com/office/drawing/2014/main" id="{C752AC49-F6A7-AAD8-3304-92E3C735B22A}"/>
                        </a:ext>
                      </a:extLst>
                    </p:cNvPr>
                    <p:cNvSpPr>
                      <a:spLocks/>
                    </p:cNvSpPr>
                    <p:nvPr>
                      <p:custDataLst>
                        <p:tags r:id="rId14"/>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4" name="Crowdsourcing2">
                      <a:extLst>
                        <a:ext uri="{FF2B5EF4-FFF2-40B4-BE49-F238E27FC236}">
                          <a16:creationId xmlns:a16="http://schemas.microsoft.com/office/drawing/2014/main" id="{D5AB2140-D29D-45C3-4B19-B709409F7A6A}"/>
                        </a:ext>
                      </a:extLst>
                    </p:cNvPr>
                    <p:cNvSpPr>
                      <a:spLocks/>
                    </p:cNvSpPr>
                    <p:nvPr>
                      <p:custDataLst>
                        <p:tags r:id="rId15"/>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5" name="Crowdsourcing2">
                      <a:extLst>
                        <a:ext uri="{FF2B5EF4-FFF2-40B4-BE49-F238E27FC236}">
                          <a16:creationId xmlns:a16="http://schemas.microsoft.com/office/drawing/2014/main" id="{AB9EE7A1-2291-00D5-E45E-D2B17E3D056F}"/>
                        </a:ext>
                      </a:extLst>
                    </p:cNvPr>
                    <p:cNvSpPr>
                      <a:spLocks/>
                    </p:cNvSpPr>
                    <p:nvPr>
                      <p:custDataLst>
                        <p:tags r:id="rId16"/>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6" name="Crowdsourcing2">
                      <a:extLst>
                        <a:ext uri="{FF2B5EF4-FFF2-40B4-BE49-F238E27FC236}">
                          <a16:creationId xmlns:a16="http://schemas.microsoft.com/office/drawing/2014/main" id="{4C39ABEA-D5EE-D664-4368-6DC7F0817AF4}"/>
                        </a:ext>
                      </a:extLst>
                    </p:cNvPr>
                    <p:cNvSpPr>
                      <a:spLocks/>
                    </p:cNvSpPr>
                    <p:nvPr>
                      <p:custDataLst>
                        <p:tags r:id="rId17"/>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7" name="Crowdsourcing2">
                      <a:extLst>
                        <a:ext uri="{FF2B5EF4-FFF2-40B4-BE49-F238E27FC236}">
                          <a16:creationId xmlns:a16="http://schemas.microsoft.com/office/drawing/2014/main" id="{9AA98FD6-813E-E5C2-9BC6-3912BF3BAEE7}"/>
                        </a:ext>
                      </a:extLst>
                    </p:cNvPr>
                    <p:cNvSpPr>
                      <a:spLocks/>
                    </p:cNvSpPr>
                    <p:nvPr>
                      <p:custDataLst>
                        <p:tags r:id="rId18"/>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8" name="Crowdsourcing2">
                      <a:extLst>
                        <a:ext uri="{FF2B5EF4-FFF2-40B4-BE49-F238E27FC236}">
                          <a16:creationId xmlns:a16="http://schemas.microsoft.com/office/drawing/2014/main" id="{D4999BE9-62ED-1E6F-D6C2-FEB516BD9B30}"/>
                        </a:ext>
                      </a:extLst>
                    </p:cNvPr>
                    <p:cNvSpPr>
                      <a:spLocks/>
                    </p:cNvSpPr>
                    <p:nvPr>
                      <p:custDataLst>
                        <p:tags r:id="rId19"/>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9" name="Crowdsourcing2">
                      <a:extLst>
                        <a:ext uri="{FF2B5EF4-FFF2-40B4-BE49-F238E27FC236}">
                          <a16:creationId xmlns:a16="http://schemas.microsoft.com/office/drawing/2014/main" id="{9FBB5C20-42BB-0A2C-79E0-B10969B9F528}"/>
                        </a:ext>
                      </a:extLst>
                    </p:cNvPr>
                    <p:cNvSpPr>
                      <a:spLocks/>
                    </p:cNvSpPr>
                    <p:nvPr>
                      <p:custDataLst>
                        <p:tags r:id="rId20"/>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grpSp>
            <p:grpSp>
              <p:nvGrpSpPr>
                <p:cNvPr id="561" name="Gruppieren 560" descr="{&quot;Key&quot;:&quot;POWER_USER_SHAPE_ICON&quot;,&quot;Value&quot;:&quot;POWER_USER_SHAPE_ICON_STYLE_2&quot;}">
                  <a:extLst>
                    <a:ext uri="{FF2B5EF4-FFF2-40B4-BE49-F238E27FC236}">
                      <a16:creationId xmlns:a16="http://schemas.microsoft.com/office/drawing/2014/main" id="{F8C488BD-7BF7-976A-72CF-603E309BAD94}"/>
                    </a:ext>
                  </a:extLst>
                </p:cNvPr>
                <p:cNvGrpSpPr>
                  <a:grpSpLocks noChangeAspect="1"/>
                </p:cNvGrpSpPr>
                <p:nvPr/>
              </p:nvGrpSpPr>
              <p:grpSpPr>
                <a:xfrm>
                  <a:off x="2876978" y="1126671"/>
                  <a:ext cx="530175" cy="530175"/>
                  <a:chOff x="-218067" y="3030540"/>
                  <a:chExt cx="762000" cy="762000"/>
                </a:xfrm>
              </p:grpSpPr>
              <p:sp>
                <p:nvSpPr>
                  <p:cNvPr id="565" name="POWER_USER_SHAPE_ICON_STYLE_2">
                    <a:extLst>
                      <a:ext uri="{FF2B5EF4-FFF2-40B4-BE49-F238E27FC236}">
                        <a16:creationId xmlns:a16="http://schemas.microsoft.com/office/drawing/2014/main" id="{2E80231B-37FB-5091-0FE3-34F060228195}"/>
                      </a:ext>
                    </a:extLst>
                  </p:cNvPr>
                  <p:cNvSpPr/>
                  <p:nvPr/>
                </p:nvSpPr>
                <p:spPr>
                  <a:xfrm>
                    <a:off x="-218067" y="3030540"/>
                    <a:ext cx="762000" cy="762000"/>
                  </a:xfrm>
                  <a:prstGeom prst="ellipse">
                    <a:avLst/>
                  </a:prstGeom>
                  <a:solidFill>
                    <a:srgbClr val="5B9BD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66" name="Gruppieren 565">
                    <a:extLst>
                      <a:ext uri="{FF2B5EF4-FFF2-40B4-BE49-F238E27FC236}">
                        <a16:creationId xmlns:a16="http://schemas.microsoft.com/office/drawing/2014/main" id="{87CAF757-1835-6D00-237F-F704EC8002F2}"/>
                      </a:ext>
                    </a:extLst>
                  </p:cNvPr>
                  <p:cNvGrpSpPr>
                    <a:grpSpLocks noChangeAspect="1"/>
                  </p:cNvGrpSpPr>
                  <p:nvPr/>
                </p:nvGrpSpPr>
                <p:grpSpPr>
                  <a:xfrm>
                    <a:off x="1" y="3157538"/>
                    <a:ext cx="325860" cy="508000"/>
                    <a:chOff x="0" y="3157538"/>
                    <a:chExt cx="348263" cy="542925"/>
                  </a:xfrm>
                </p:grpSpPr>
                <p:sp>
                  <p:nvSpPr>
                    <p:cNvPr id="567" name="Freeform 10">
                      <a:extLst>
                        <a:ext uri="{FF2B5EF4-FFF2-40B4-BE49-F238E27FC236}">
                          <a16:creationId xmlns:a16="http://schemas.microsoft.com/office/drawing/2014/main" id="{A43CE360-07EC-15F2-6970-7B9D08D25B49}"/>
                        </a:ext>
                      </a:extLst>
                    </p:cNvPr>
                    <p:cNvSpPr>
                      <a:spLocks noEditPoints="1"/>
                    </p:cNvSpPr>
                    <p:nvPr/>
                  </p:nvSpPr>
                  <p:spPr bwMode="auto">
                    <a:xfrm>
                      <a:off x="80651" y="3560424"/>
                      <a:ext cx="187696" cy="92015"/>
                    </a:xfrm>
                    <a:custGeom>
                      <a:avLst/>
                      <a:gdLst>
                        <a:gd name="T0" fmla="*/ 440 w 440"/>
                        <a:gd name="T1" fmla="*/ 0 h 215"/>
                        <a:gd name="T2" fmla="*/ 392 w 440"/>
                        <a:gd name="T3" fmla="*/ 0 h 215"/>
                        <a:gd name="T4" fmla="*/ 392 w 440"/>
                        <a:gd name="T5" fmla="*/ 182 h 215"/>
                        <a:gd name="T6" fmla="*/ 440 w 440"/>
                        <a:gd name="T7" fmla="*/ 182 h 215"/>
                        <a:gd name="T8" fmla="*/ 440 w 440"/>
                        <a:gd name="T9" fmla="*/ 0 h 215"/>
                        <a:gd name="T10" fmla="*/ 386 w 440"/>
                        <a:gd name="T11" fmla="*/ 0 h 215"/>
                        <a:gd name="T12" fmla="*/ 338 w 440"/>
                        <a:gd name="T13" fmla="*/ 0 h 215"/>
                        <a:gd name="T14" fmla="*/ 338 w 440"/>
                        <a:gd name="T15" fmla="*/ 182 h 215"/>
                        <a:gd name="T16" fmla="*/ 386 w 440"/>
                        <a:gd name="T17" fmla="*/ 182 h 215"/>
                        <a:gd name="T18" fmla="*/ 386 w 440"/>
                        <a:gd name="T19" fmla="*/ 0 h 215"/>
                        <a:gd name="T20" fmla="*/ 271 w 440"/>
                        <a:gd name="T21" fmla="*/ 0 h 215"/>
                        <a:gd name="T22" fmla="*/ 223 w 440"/>
                        <a:gd name="T23" fmla="*/ 0 h 215"/>
                        <a:gd name="T24" fmla="*/ 223 w 440"/>
                        <a:gd name="T25" fmla="*/ 182 h 215"/>
                        <a:gd name="T26" fmla="*/ 271 w 440"/>
                        <a:gd name="T27" fmla="*/ 182 h 215"/>
                        <a:gd name="T28" fmla="*/ 271 w 440"/>
                        <a:gd name="T29" fmla="*/ 0 h 215"/>
                        <a:gd name="T30" fmla="*/ 216 w 440"/>
                        <a:gd name="T31" fmla="*/ 0 h 215"/>
                        <a:gd name="T32" fmla="*/ 169 w 440"/>
                        <a:gd name="T33" fmla="*/ 0 h 215"/>
                        <a:gd name="T34" fmla="*/ 169 w 440"/>
                        <a:gd name="T35" fmla="*/ 182 h 215"/>
                        <a:gd name="T36" fmla="*/ 216 w 440"/>
                        <a:gd name="T37" fmla="*/ 182 h 215"/>
                        <a:gd name="T38" fmla="*/ 216 w 440"/>
                        <a:gd name="T39" fmla="*/ 0 h 215"/>
                        <a:gd name="T40" fmla="*/ 101 w 440"/>
                        <a:gd name="T41" fmla="*/ 0 h 215"/>
                        <a:gd name="T42" fmla="*/ 54 w 440"/>
                        <a:gd name="T43" fmla="*/ 0 h 215"/>
                        <a:gd name="T44" fmla="*/ 54 w 440"/>
                        <a:gd name="T45" fmla="*/ 182 h 215"/>
                        <a:gd name="T46" fmla="*/ 101 w 440"/>
                        <a:gd name="T47" fmla="*/ 182 h 215"/>
                        <a:gd name="T48" fmla="*/ 101 w 440"/>
                        <a:gd name="T49" fmla="*/ 0 h 215"/>
                        <a:gd name="T50" fmla="*/ 47 w 440"/>
                        <a:gd name="T51" fmla="*/ 0 h 215"/>
                        <a:gd name="T52" fmla="*/ 0 w 440"/>
                        <a:gd name="T53" fmla="*/ 0 h 215"/>
                        <a:gd name="T54" fmla="*/ 0 w 440"/>
                        <a:gd name="T55" fmla="*/ 182 h 215"/>
                        <a:gd name="T56" fmla="*/ 47 w 440"/>
                        <a:gd name="T57" fmla="*/ 182 h 215"/>
                        <a:gd name="T58" fmla="*/ 47 w 440"/>
                        <a:gd name="T5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40" h="215">
                          <a:moveTo>
                            <a:pt x="440" y="0"/>
                          </a:moveTo>
                          <a:lnTo>
                            <a:pt x="392" y="0"/>
                          </a:lnTo>
                          <a:lnTo>
                            <a:pt x="392" y="182"/>
                          </a:lnTo>
                          <a:cubicBezTo>
                            <a:pt x="393" y="215"/>
                            <a:pt x="440" y="215"/>
                            <a:pt x="440" y="182"/>
                          </a:cubicBezTo>
                          <a:lnTo>
                            <a:pt x="440" y="0"/>
                          </a:lnTo>
                          <a:close/>
                          <a:moveTo>
                            <a:pt x="386" y="0"/>
                          </a:moveTo>
                          <a:lnTo>
                            <a:pt x="338" y="0"/>
                          </a:lnTo>
                          <a:lnTo>
                            <a:pt x="338" y="182"/>
                          </a:lnTo>
                          <a:cubicBezTo>
                            <a:pt x="338" y="214"/>
                            <a:pt x="386" y="214"/>
                            <a:pt x="386" y="182"/>
                          </a:cubicBezTo>
                          <a:lnTo>
                            <a:pt x="386" y="0"/>
                          </a:lnTo>
                          <a:close/>
                          <a:moveTo>
                            <a:pt x="271" y="0"/>
                          </a:moveTo>
                          <a:lnTo>
                            <a:pt x="223" y="0"/>
                          </a:lnTo>
                          <a:lnTo>
                            <a:pt x="223" y="182"/>
                          </a:lnTo>
                          <a:cubicBezTo>
                            <a:pt x="223" y="215"/>
                            <a:pt x="271" y="215"/>
                            <a:pt x="271" y="182"/>
                          </a:cubicBezTo>
                          <a:lnTo>
                            <a:pt x="271" y="0"/>
                          </a:lnTo>
                          <a:close/>
                          <a:moveTo>
                            <a:pt x="216" y="0"/>
                          </a:moveTo>
                          <a:lnTo>
                            <a:pt x="169" y="0"/>
                          </a:lnTo>
                          <a:lnTo>
                            <a:pt x="169" y="182"/>
                          </a:lnTo>
                          <a:cubicBezTo>
                            <a:pt x="169" y="214"/>
                            <a:pt x="216" y="214"/>
                            <a:pt x="216" y="182"/>
                          </a:cubicBezTo>
                          <a:lnTo>
                            <a:pt x="216" y="0"/>
                          </a:lnTo>
                          <a:close/>
                          <a:moveTo>
                            <a:pt x="101" y="0"/>
                          </a:moveTo>
                          <a:lnTo>
                            <a:pt x="54" y="0"/>
                          </a:lnTo>
                          <a:lnTo>
                            <a:pt x="54" y="182"/>
                          </a:lnTo>
                          <a:cubicBezTo>
                            <a:pt x="54" y="215"/>
                            <a:pt x="101" y="215"/>
                            <a:pt x="101" y="182"/>
                          </a:cubicBezTo>
                          <a:lnTo>
                            <a:pt x="101" y="0"/>
                          </a:lnTo>
                          <a:close/>
                          <a:moveTo>
                            <a:pt x="47" y="0"/>
                          </a:moveTo>
                          <a:lnTo>
                            <a:pt x="0" y="0"/>
                          </a:lnTo>
                          <a:lnTo>
                            <a:pt x="0" y="182"/>
                          </a:lnTo>
                          <a:cubicBezTo>
                            <a:pt x="0" y="214"/>
                            <a:pt x="47" y="214"/>
                            <a:pt x="47" y="182"/>
                          </a:cubicBezTo>
                          <a:lnTo>
                            <a:pt x="47"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68" name="Freeform 933">
                      <a:extLst>
                        <a:ext uri="{FF2B5EF4-FFF2-40B4-BE49-F238E27FC236}">
                          <a16:creationId xmlns:a16="http://schemas.microsoft.com/office/drawing/2014/main" id="{EF81D00C-648D-1BAC-C0E7-5422F761B752}"/>
                        </a:ext>
                      </a:extLst>
                    </p:cNvPr>
                    <p:cNvSpPr>
                      <a:spLocks noEditPoints="1"/>
                    </p:cNvSpPr>
                    <p:nvPr/>
                  </p:nvSpPr>
                  <p:spPr bwMode="auto">
                    <a:xfrm>
                      <a:off x="0" y="3157538"/>
                      <a:ext cx="348263" cy="542925"/>
                    </a:xfrm>
                    <a:custGeom>
                      <a:avLst/>
                      <a:gdLst>
                        <a:gd name="T0" fmla="*/ 689 w 816"/>
                        <a:gd name="T1" fmla="*/ 507 h 1269"/>
                        <a:gd name="T2" fmla="*/ 129 w 816"/>
                        <a:gd name="T3" fmla="*/ 507 h 1269"/>
                        <a:gd name="T4" fmla="*/ 27 w 816"/>
                        <a:gd name="T5" fmla="*/ 609 h 1269"/>
                        <a:gd name="T6" fmla="*/ 27 w 816"/>
                        <a:gd name="T7" fmla="*/ 1168 h 1269"/>
                        <a:gd name="T8" fmla="*/ 129 w 816"/>
                        <a:gd name="T9" fmla="*/ 1269 h 1269"/>
                        <a:gd name="T10" fmla="*/ 690 w 816"/>
                        <a:gd name="T11" fmla="*/ 1269 h 1269"/>
                        <a:gd name="T12" fmla="*/ 791 w 816"/>
                        <a:gd name="T13" fmla="*/ 1168 h 1269"/>
                        <a:gd name="T14" fmla="*/ 791 w 816"/>
                        <a:gd name="T15" fmla="*/ 609 h 1269"/>
                        <a:gd name="T16" fmla="*/ 689 w 816"/>
                        <a:gd name="T17" fmla="*/ 507 h 1269"/>
                        <a:gd name="T18" fmla="*/ 685 w 816"/>
                        <a:gd name="T19" fmla="*/ 1163 h 1269"/>
                        <a:gd name="T20" fmla="*/ 132 w 816"/>
                        <a:gd name="T21" fmla="*/ 1163 h 1269"/>
                        <a:gd name="T22" fmla="*/ 132 w 816"/>
                        <a:gd name="T23" fmla="*/ 614 h 1269"/>
                        <a:gd name="T24" fmla="*/ 685 w 816"/>
                        <a:gd name="T25" fmla="*/ 614 h 1269"/>
                        <a:gd name="T26" fmla="*/ 685 w 816"/>
                        <a:gd name="T27" fmla="*/ 1163 h 1269"/>
                        <a:gd name="T28" fmla="*/ 547 w 816"/>
                        <a:gd name="T29" fmla="*/ 74 h 1269"/>
                        <a:gd name="T30" fmla="*/ 653 w 816"/>
                        <a:gd name="T31" fmla="*/ 74 h 1269"/>
                        <a:gd name="T32" fmla="*/ 651 w 816"/>
                        <a:gd name="T33" fmla="*/ 296 h 1269"/>
                        <a:gd name="T34" fmla="*/ 708 w 816"/>
                        <a:gd name="T35" fmla="*/ 227 h 1269"/>
                        <a:gd name="T36" fmla="*/ 774 w 816"/>
                        <a:gd name="T37" fmla="*/ 292 h 1269"/>
                        <a:gd name="T38" fmla="*/ 636 w 816"/>
                        <a:gd name="T39" fmla="*/ 456 h 1269"/>
                        <a:gd name="T40" fmla="*/ 564 w 816"/>
                        <a:gd name="T41" fmla="*/ 456 h 1269"/>
                        <a:gd name="T42" fmla="*/ 427 w 816"/>
                        <a:gd name="T43" fmla="*/ 291 h 1269"/>
                        <a:gd name="T44" fmla="*/ 492 w 816"/>
                        <a:gd name="T45" fmla="*/ 226 h 1269"/>
                        <a:gd name="T46" fmla="*/ 549 w 816"/>
                        <a:gd name="T47" fmla="*/ 296 h 1269"/>
                        <a:gd name="T48" fmla="*/ 547 w 816"/>
                        <a:gd name="T49" fmla="*/ 74 h 1269"/>
                        <a:gd name="T50" fmla="*/ 163 w 816"/>
                        <a:gd name="T51" fmla="*/ 418 h 1269"/>
                        <a:gd name="T52" fmla="*/ 269 w 816"/>
                        <a:gd name="T53" fmla="*/ 418 h 1269"/>
                        <a:gd name="T54" fmla="*/ 268 w 816"/>
                        <a:gd name="T55" fmla="*/ 196 h 1269"/>
                        <a:gd name="T56" fmla="*/ 324 w 816"/>
                        <a:gd name="T57" fmla="*/ 266 h 1269"/>
                        <a:gd name="T58" fmla="*/ 390 w 816"/>
                        <a:gd name="T59" fmla="*/ 200 h 1269"/>
                        <a:gd name="T60" fmla="*/ 252 w 816"/>
                        <a:gd name="T61" fmla="*/ 36 h 1269"/>
                        <a:gd name="T62" fmla="*/ 180 w 816"/>
                        <a:gd name="T63" fmla="*/ 36 h 1269"/>
                        <a:gd name="T64" fmla="*/ 43 w 816"/>
                        <a:gd name="T65" fmla="*/ 201 h 1269"/>
                        <a:gd name="T66" fmla="*/ 108 w 816"/>
                        <a:gd name="T67" fmla="*/ 267 h 1269"/>
                        <a:gd name="T68" fmla="*/ 165 w 816"/>
                        <a:gd name="T69" fmla="*/ 196 h 1269"/>
                        <a:gd name="T70" fmla="*/ 163 w 816"/>
                        <a:gd name="T71" fmla="*/ 418 h 1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6" h="1269">
                          <a:moveTo>
                            <a:pt x="689" y="507"/>
                          </a:moveTo>
                          <a:lnTo>
                            <a:pt x="129" y="507"/>
                          </a:lnTo>
                          <a:cubicBezTo>
                            <a:pt x="70" y="507"/>
                            <a:pt x="27" y="553"/>
                            <a:pt x="27" y="609"/>
                          </a:cubicBezTo>
                          <a:lnTo>
                            <a:pt x="27" y="1168"/>
                          </a:lnTo>
                          <a:cubicBezTo>
                            <a:pt x="27" y="1225"/>
                            <a:pt x="73" y="1269"/>
                            <a:pt x="129" y="1269"/>
                          </a:cubicBezTo>
                          <a:lnTo>
                            <a:pt x="690" y="1269"/>
                          </a:lnTo>
                          <a:cubicBezTo>
                            <a:pt x="745" y="1269"/>
                            <a:pt x="791" y="1227"/>
                            <a:pt x="791" y="1168"/>
                          </a:cubicBezTo>
                          <a:lnTo>
                            <a:pt x="791" y="609"/>
                          </a:lnTo>
                          <a:cubicBezTo>
                            <a:pt x="791" y="552"/>
                            <a:pt x="745" y="506"/>
                            <a:pt x="689" y="507"/>
                          </a:cubicBezTo>
                          <a:close/>
                          <a:moveTo>
                            <a:pt x="685" y="1163"/>
                          </a:moveTo>
                          <a:lnTo>
                            <a:pt x="132" y="1163"/>
                          </a:lnTo>
                          <a:lnTo>
                            <a:pt x="132" y="614"/>
                          </a:lnTo>
                          <a:lnTo>
                            <a:pt x="685" y="614"/>
                          </a:lnTo>
                          <a:lnTo>
                            <a:pt x="685" y="1163"/>
                          </a:lnTo>
                          <a:close/>
                          <a:moveTo>
                            <a:pt x="547" y="74"/>
                          </a:moveTo>
                          <a:cubicBezTo>
                            <a:pt x="546" y="1"/>
                            <a:pt x="652" y="0"/>
                            <a:pt x="653" y="74"/>
                          </a:cubicBezTo>
                          <a:lnTo>
                            <a:pt x="651" y="296"/>
                          </a:lnTo>
                          <a:lnTo>
                            <a:pt x="708" y="227"/>
                          </a:lnTo>
                          <a:cubicBezTo>
                            <a:pt x="747" y="183"/>
                            <a:pt x="816" y="243"/>
                            <a:pt x="774" y="292"/>
                          </a:cubicBezTo>
                          <a:lnTo>
                            <a:pt x="636" y="456"/>
                          </a:lnTo>
                          <a:cubicBezTo>
                            <a:pt x="614" y="478"/>
                            <a:pt x="586" y="478"/>
                            <a:pt x="564" y="456"/>
                          </a:cubicBezTo>
                          <a:lnTo>
                            <a:pt x="427" y="291"/>
                          </a:lnTo>
                          <a:cubicBezTo>
                            <a:pt x="384" y="243"/>
                            <a:pt x="454" y="182"/>
                            <a:pt x="492" y="226"/>
                          </a:cubicBezTo>
                          <a:lnTo>
                            <a:pt x="549" y="296"/>
                          </a:lnTo>
                          <a:lnTo>
                            <a:pt x="547" y="74"/>
                          </a:lnTo>
                          <a:close/>
                          <a:moveTo>
                            <a:pt x="163" y="418"/>
                          </a:moveTo>
                          <a:cubicBezTo>
                            <a:pt x="163" y="491"/>
                            <a:pt x="268" y="492"/>
                            <a:pt x="269" y="418"/>
                          </a:cubicBezTo>
                          <a:lnTo>
                            <a:pt x="268" y="196"/>
                          </a:lnTo>
                          <a:lnTo>
                            <a:pt x="324" y="266"/>
                          </a:lnTo>
                          <a:cubicBezTo>
                            <a:pt x="363" y="309"/>
                            <a:pt x="433" y="249"/>
                            <a:pt x="390" y="200"/>
                          </a:cubicBezTo>
                          <a:lnTo>
                            <a:pt x="252" y="36"/>
                          </a:lnTo>
                          <a:cubicBezTo>
                            <a:pt x="230" y="14"/>
                            <a:pt x="202" y="14"/>
                            <a:pt x="180" y="36"/>
                          </a:cubicBezTo>
                          <a:lnTo>
                            <a:pt x="43" y="201"/>
                          </a:lnTo>
                          <a:cubicBezTo>
                            <a:pt x="0" y="249"/>
                            <a:pt x="70" y="310"/>
                            <a:pt x="108" y="267"/>
                          </a:cubicBezTo>
                          <a:lnTo>
                            <a:pt x="165" y="196"/>
                          </a:lnTo>
                          <a:lnTo>
                            <a:pt x="163" y="418"/>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69" name="Freeform 934">
                      <a:extLst>
                        <a:ext uri="{FF2B5EF4-FFF2-40B4-BE49-F238E27FC236}">
                          <a16:creationId xmlns:a16="http://schemas.microsoft.com/office/drawing/2014/main" id="{4CC50B9A-9F6B-238F-FE2A-65CDEE270E2B}"/>
                        </a:ext>
                      </a:extLst>
                    </p:cNvPr>
                    <p:cNvSpPr>
                      <a:spLocks noEditPoints="1"/>
                    </p:cNvSpPr>
                    <p:nvPr/>
                  </p:nvSpPr>
                  <p:spPr bwMode="auto">
                    <a:xfrm>
                      <a:off x="67820" y="3450813"/>
                      <a:ext cx="213358" cy="111811"/>
                    </a:xfrm>
                    <a:custGeom>
                      <a:avLst/>
                      <a:gdLst>
                        <a:gd name="T0" fmla="*/ 500 w 500"/>
                        <a:gd name="T1" fmla="*/ 243 h 261"/>
                        <a:gd name="T2" fmla="*/ 481 w 500"/>
                        <a:gd name="T3" fmla="*/ 261 h 261"/>
                        <a:gd name="T4" fmla="*/ 357 w 500"/>
                        <a:gd name="T5" fmla="*/ 261 h 261"/>
                        <a:gd name="T6" fmla="*/ 339 w 500"/>
                        <a:gd name="T7" fmla="*/ 243 h 261"/>
                        <a:gd name="T8" fmla="*/ 339 w 500"/>
                        <a:gd name="T9" fmla="*/ 108 h 261"/>
                        <a:gd name="T10" fmla="*/ 364 w 500"/>
                        <a:gd name="T11" fmla="*/ 82 h 261"/>
                        <a:gd name="T12" fmla="*/ 474 w 500"/>
                        <a:gd name="T13" fmla="*/ 82 h 261"/>
                        <a:gd name="T14" fmla="*/ 500 w 500"/>
                        <a:gd name="T15" fmla="*/ 108 h 261"/>
                        <a:gd name="T16" fmla="*/ 500 w 500"/>
                        <a:gd name="T17" fmla="*/ 243 h 261"/>
                        <a:gd name="T18" fmla="*/ 420 w 500"/>
                        <a:gd name="T19" fmla="*/ 71 h 261"/>
                        <a:gd name="T20" fmla="*/ 455 w 500"/>
                        <a:gd name="T21" fmla="*/ 36 h 261"/>
                        <a:gd name="T22" fmla="*/ 420 w 500"/>
                        <a:gd name="T23" fmla="*/ 0 h 261"/>
                        <a:gd name="T24" fmla="*/ 384 w 500"/>
                        <a:gd name="T25" fmla="*/ 36 h 261"/>
                        <a:gd name="T26" fmla="*/ 420 w 500"/>
                        <a:gd name="T27" fmla="*/ 71 h 261"/>
                        <a:gd name="T28" fmla="*/ 331 w 500"/>
                        <a:gd name="T29" fmla="*/ 243 h 261"/>
                        <a:gd name="T30" fmla="*/ 312 w 500"/>
                        <a:gd name="T31" fmla="*/ 261 h 261"/>
                        <a:gd name="T32" fmla="*/ 188 w 500"/>
                        <a:gd name="T33" fmla="*/ 261 h 261"/>
                        <a:gd name="T34" fmla="*/ 170 w 500"/>
                        <a:gd name="T35" fmla="*/ 243 h 261"/>
                        <a:gd name="T36" fmla="*/ 170 w 500"/>
                        <a:gd name="T37" fmla="*/ 108 h 261"/>
                        <a:gd name="T38" fmla="*/ 195 w 500"/>
                        <a:gd name="T39" fmla="*/ 82 h 261"/>
                        <a:gd name="T40" fmla="*/ 305 w 500"/>
                        <a:gd name="T41" fmla="*/ 82 h 261"/>
                        <a:gd name="T42" fmla="*/ 331 w 500"/>
                        <a:gd name="T43" fmla="*/ 108 h 261"/>
                        <a:gd name="T44" fmla="*/ 331 w 500"/>
                        <a:gd name="T45" fmla="*/ 243 h 261"/>
                        <a:gd name="T46" fmla="*/ 251 w 500"/>
                        <a:gd name="T47" fmla="*/ 71 h 261"/>
                        <a:gd name="T48" fmla="*/ 286 w 500"/>
                        <a:gd name="T49" fmla="*/ 36 h 261"/>
                        <a:gd name="T50" fmla="*/ 251 w 500"/>
                        <a:gd name="T51" fmla="*/ 0 h 261"/>
                        <a:gd name="T52" fmla="*/ 215 w 500"/>
                        <a:gd name="T53" fmla="*/ 36 h 261"/>
                        <a:gd name="T54" fmla="*/ 251 w 500"/>
                        <a:gd name="T55" fmla="*/ 71 h 261"/>
                        <a:gd name="T56" fmla="*/ 162 w 500"/>
                        <a:gd name="T57" fmla="*/ 243 h 261"/>
                        <a:gd name="T58" fmla="*/ 143 w 500"/>
                        <a:gd name="T59" fmla="*/ 261 h 261"/>
                        <a:gd name="T60" fmla="*/ 19 w 500"/>
                        <a:gd name="T61" fmla="*/ 261 h 261"/>
                        <a:gd name="T62" fmla="*/ 0 w 500"/>
                        <a:gd name="T63" fmla="*/ 243 h 261"/>
                        <a:gd name="T64" fmla="*/ 0 w 500"/>
                        <a:gd name="T65" fmla="*/ 108 h 261"/>
                        <a:gd name="T66" fmla="*/ 26 w 500"/>
                        <a:gd name="T67" fmla="*/ 82 h 261"/>
                        <a:gd name="T68" fmla="*/ 136 w 500"/>
                        <a:gd name="T69" fmla="*/ 82 h 261"/>
                        <a:gd name="T70" fmla="*/ 162 w 500"/>
                        <a:gd name="T71" fmla="*/ 108 h 261"/>
                        <a:gd name="T72" fmla="*/ 162 w 500"/>
                        <a:gd name="T73" fmla="*/ 243 h 261"/>
                        <a:gd name="T74" fmla="*/ 81 w 500"/>
                        <a:gd name="T75" fmla="*/ 71 h 261"/>
                        <a:gd name="T76" fmla="*/ 117 w 500"/>
                        <a:gd name="T77" fmla="*/ 36 h 261"/>
                        <a:gd name="T78" fmla="*/ 82 w 500"/>
                        <a:gd name="T79" fmla="*/ 0 h 261"/>
                        <a:gd name="T80" fmla="*/ 46 w 500"/>
                        <a:gd name="T81" fmla="*/ 36 h 261"/>
                        <a:gd name="T82" fmla="*/ 82 w 500"/>
                        <a:gd name="T83" fmla="*/ 71 h 261"/>
                        <a:gd name="T84" fmla="*/ 81 w 500"/>
                        <a:gd name="T85" fmla="*/ 71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0" h="261">
                          <a:moveTo>
                            <a:pt x="500" y="243"/>
                          </a:moveTo>
                          <a:cubicBezTo>
                            <a:pt x="500" y="253"/>
                            <a:pt x="492" y="261"/>
                            <a:pt x="481" y="261"/>
                          </a:cubicBezTo>
                          <a:cubicBezTo>
                            <a:pt x="481" y="261"/>
                            <a:pt x="358" y="261"/>
                            <a:pt x="357" y="261"/>
                          </a:cubicBezTo>
                          <a:cubicBezTo>
                            <a:pt x="347" y="261"/>
                            <a:pt x="339" y="253"/>
                            <a:pt x="339" y="243"/>
                          </a:cubicBezTo>
                          <a:lnTo>
                            <a:pt x="339" y="108"/>
                          </a:lnTo>
                          <a:cubicBezTo>
                            <a:pt x="338" y="94"/>
                            <a:pt x="350" y="82"/>
                            <a:pt x="364" y="82"/>
                          </a:cubicBezTo>
                          <a:cubicBezTo>
                            <a:pt x="364" y="82"/>
                            <a:pt x="474" y="82"/>
                            <a:pt x="474" y="82"/>
                          </a:cubicBezTo>
                          <a:cubicBezTo>
                            <a:pt x="488" y="82"/>
                            <a:pt x="500" y="94"/>
                            <a:pt x="500" y="108"/>
                          </a:cubicBezTo>
                          <a:lnTo>
                            <a:pt x="500" y="243"/>
                          </a:lnTo>
                          <a:close/>
                          <a:moveTo>
                            <a:pt x="420" y="71"/>
                          </a:moveTo>
                          <a:cubicBezTo>
                            <a:pt x="439" y="71"/>
                            <a:pt x="455" y="55"/>
                            <a:pt x="455" y="36"/>
                          </a:cubicBezTo>
                          <a:cubicBezTo>
                            <a:pt x="455" y="16"/>
                            <a:pt x="440" y="0"/>
                            <a:pt x="420" y="0"/>
                          </a:cubicBezTo>
                          <a:cubicBezTo>
                            <a:pt x="400" y="0"/>
                            <a:pt x="384" y="16"/>
                            <a:pt x="384" y="36"/>
                          </a:cubicBezTo>
                          <a:cubicBezTo>
                            <a:pt x="385" y="56"/>
                            <a:pt x="400" y="71"/>
                            <a:pt x="420" y="71"/>
                          </a:cubicBezTo>
                          <a:close/>
                          <a:moveTo>
                            <a:pt x="331" y="243"/>
                          </a:moveTo>
                          <a:cubicBezTo>
                            <a:pt x="331" y="253"/>
                            <a:pt x="323" y="261"/>
                            <a:pt x="312" y="261"/>
                          </a:cubicBezTo>
                          <a:cubicBezTo>
                            <a:pt x="312" y="261"/>
                            <a:pt x="188" y="261"/>
                            <a:pt x="188" y="261"/>
                          </a:cubicBezTo>
                          <a:cubicBezTo>
                            <a:pt x="178" y="261"/>
                            <a:pt x="169" y="253"/>
                            <a:pt x="170" y="243"/>
                          </a:cubicBezTo>
                          <a:lnTo>
                            <a:pt x="170" y="108"/>
                          </a:lnTo>
                          <a:cubicBezTo>
                            <a:pt x="169" y="94"/>
                            <a:pt x="181" y="82"/>
                            <a:pt x="195" y="82"/>
                          </a:cubicBezTo>
                          <a:cubicBezTo>
                            <a:pt x="195" y="82"/>
                            <a:pt x="305" y="82"/>
                            <a:pt x="305" y="82"/>
                          </a:cubicBezTo>
                          <a:cubicBezTo>
                            <a:pt x="319" y="82"/>
                            <a:pt x="331" y="94"/>
                            <a:pt x="331" y="108"/>
                          </a:cubicBezTo>
                          <a:lnTo>
                            <a:pt x="331" y="243"/>
                          </a:lnTo>
                          <a:close/>
                          <a:moveTo>
                            <a:pt x="251" y="71"/>
                          </a:moveTo>
                          <a:cubicBezTo>
                            <a:pt x="270" y="71"/>
                            <a:pt x="286" y="55"/>
                            <a:pt x="286" y="36"/>
                          </a:cubicBezTo>
                          <a:cubicBezTo>
                            <a:pt x="286" y="16"/>
                            <a:pt x="270" y="0"/>
                            <a:pt x="251" y="0"/>
                          </a:cubicBezTo>
                          <a:cubicBezTo>
                            <a:pt x="231" y="0"/>
                            <a:pt x="215" y="16"/>
                            <a:pt x="215" y="36"/>
                          </a:cubicBezTo>
                          <a:cubicBezTo>
                            <a:pt x="215" y="55"/>
                            <a:pt x="231" y="71"/>
                            <a:pt x="251" y="71"/>
                          </a:cubicBezTo>
                          <a:close/>
                          <a:moveTo>
                            <a:pt x="162" y="243"/>
                          </a:moveTo>
                          <a:cubicBezTo>
                            <a:pt x="162" y="253"/>
                            <a:pt x="153" y="261"/>
                            <a:pt x="143" y="261"/>
                          </a:cubicBezTo>
                          <a:cubicBezTo>
                            <a:pt x="143" y="261"/>
                            <a:pt x="19" y="261"/>
                            <a:pt x="19" y="261"/>
                          </a:cubicBezTo>
                          <a:cubicBezTo>
                            <a:pt x="9" y="261"/>
                            <a:pt x="0" y="253"/>
                            <a:pt x="0" y="243"/>
                          </a:cubicBezTo>
                          <a:lnTo>
                            <a:pt x="0" y="108"/>
                          </a:lnTo>
                          <a:cubicBezTo>
                            <a:pt x="0" y="94"/>
                            <a:pt x="12" y="82"/>
                            <a:pt x="26" y="82"/>
                          </a:cubicBezTo>
                          <a:cubicBezTo>
                            <a:pt x="26" y="82"/>
                            <a:pt x="136" y="82"/>
                            <a:pt x="136" y="82"/>
                          </a:cubicBezTo>
                          <a:cubicBezTo>
                            <a:pt x="150" y="82"/>
                            <a:pt x="162" y="94"/>
                            <a:pt x="162" y="108"/>
                          </a:cubicBezTo>
                          <a:lnTo>
                            <a:pt x="162" y="243"/>
                          </a:lnTo>
                          <a:close/>
                          <a:moveTo>
                            <a:pt x="81" y="71"/>
                          </a:moveTo>
                          <a:cubicBezTo>
                            <a:pt x="101" y="71"/>
                            <a:pt x="117" y="55"/>
                            <a:pt x="117" y="36"/>
                          </a:cubicBezTo>
                          <a:cubicBezTo>
                            <a:pt x="117" y="16"/>
                            <a:pt x="101" y="0"/>
                            <a:pt x="82" y="0"/>
                          </a:cubicBezTo>
                          <a:cubicBezTo>
                            <a:pt x="62" y="0"/>
                            <a:pt x="46" y="16"/>
                            <a:pt x="46" y="36"/>
                          </a:cubicBezTo>
                          <a:cubicBezTo>
                            <a:pt x="46" y="56"/>
                            <a:pt x="62" y="71"/>
                            <a:pt x="82" y="71"/>
                          </a:cubicBezTo>
                          <a:lnTo>
                            <a:pt x="81" y="7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grpSp>
            <p:grpSp>
              <p:nvGrpSpPr>
                <p:cNvPr id="562" name="Gruppieren 561">
                  <a:extLst>
                    <a:ext uri="{FF2B5EF4-FFF2-40B4-BE49-F238E27FC236}">
                      <a16:creationId xmlns:a16="http://schemas.microsoft.com/office/drawing/2014/main" id="{90D4D1C2-079F-DEF6-0FC6-0FC79C11ADDF}"/>
                    </a:ext>
                  </a:extLst>
                </p:cNvPr>
                <p:cNvGrpSpPr/>
                <p:nvPr/>
              </p:nvGrpSpPr>
              <p:grpSpPr>
                <a:xfrm>
                  <a:off x="3045869" y="622757"/>
                  <a:ext cx="522635" cy="522635"/>
                  <a:chOff x="-19101" y="2381281"/>
                  <a:chExt cx="699820" cy="699820"/>
                </a:xfrm>
              </p:grpSpPr>
              <p:sp>
                <p:nvSpPr>
                  <p:cNvPr id="563" name="Ellipse 562">
                    <a:extLst>
                      <a:ext uri="{FF2B5EF4-FFF2-40B4-BE49-F238E27FC236}">
                        <a16:creationId xmlns:a16="http://schemas.microsoft.com/office/drawing/2014/main" id="{EE12C8C9-C848-83E9-C614-6D279F2CEC83}"/>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64" name="Plug" descr="{&quot;Key&quot;:&quot;POWER_USER_SHAPE_ICON&quot;,&quot;Value&quot;:&quot;POWER_USER_SHAPE_ICON_STYLE_1&quot;}">
                    <a:extLst>
                      <a:ext uri="{FF2B5EF4-FFF2-40B4-BE49-F238E27FC236}">
                        <a16:creationId xmlns:a16="http://schemas.microsoft.com/office/drawing/2014/main" id="{16E282C1-6EFC-D381-87D6-D81CC0DFFAD0}"/>
                      </a:ext>
                    </a:extLst>
                  </p:cNvPr>
                  <p:cNvSpPr>
                    <a:spLocks noChangeAspect="1" noEditPoints="1"/>
                  </p:cNvSpPr>
                  <p:nvPr>
                    <p:custDataLst>
                      <p:tags r:id="rId12"/>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grpSp>
          <p:sp>
            <p:nvSpPr>
              <p:cNvPr id="557" name="Textfeld 556">
                <a:extLst>
                  <a:ext uri="{FF2B5EF4-FFF2-40B4-BE49-F238E27FC236}">
                    <a16:creationId xmlns:a16="http://schemas.microsoft.com/office/drawing/2014/main" id="{0E9B48B2-80B1-5C41-6967-3398FADB6434}"/>
                  </a:ext>
                </a:extLst>
              </p:cNvPr>
              <p:cNvSpPr txBox="1"/>
              <p:nvPr/>
            </p:nvSpPr>
            <p:spPr>
              <a:xfrm>
                <a:off x="3892340" y="2942731"/>
                <a:ext cx="915635" cy="253916"/>
              </a:xfrm>
              <a:prstGeom prst="rect">
                <a:avLst/>
              </a:prstGeom>
              <a:noFill/>
            </p:spPr>
            <p:txBody>
              <a:bodyPr wrap="none" rtlCol="0">
                <a:spAutoFit/>
              </a:bodyPr>
              <a:lstStyle/>
              <a:p>
                <a:pPr algn="ctr" defTabSz="914339">
                  <a:defRPr/>
                </a:pPr>
                <a:r>
                  <a:rPr lang="en-GB" sz="1050" kern="0" dirty="0">
                    <a:solidFill>
                      <a:prstClr val="black"/>
                    </a:solidFill>
                    <a:latin typeface="Aptos" panose="020B0004020202020204" pitchFamily="34" charset="0"/>
                  </a:rPr>
                  <a:t>Nutzerstrom</a:t>
                </a:r>
                <a:endParaRPr lang="de-AT" sz="1050" kern="0" dirty="0">
                  <a:solidFill>
                    <a:prstClr val="black"/>
                  </a:solidFill>
                  <a:latin typeface="Aptos" panose="020B0004020202020204" pitchFamily="34" charset="0"/>
                </a:endParaRPr>
              </a:p>
            </p:txBody>
          </p:sp>
          <p:sp>
            <p:nvSpPr>
              <p:cNvPr id="558" name="Textfeld 557">
                <a:extLst>
                  <a:ext uri="{FF2B5EF4-FFF2-40B4-BE49-F238E27FC236}">
                    <a16:creationId xmlns:a16="http://schemas.microsoft.com/office/drawing/2014/main" id="{825584C3-78F5-A08F-ECFB-8F3E5AB849FB}"/>
                  </a:ext>
                </a:extLst>
              </p:cNvPr>
              <p:cNvSpPr txBox="1"/>
              <p:nvPr/>
            </p:nvSpPr>
            <p:spPr>
              <a:xfrm>
                <a:off x="3930265" y="3094529"/>
                <a:ext cx="808235" cy="253916"/>
              </a:xfrm>
              <a:prstGeom prst="rect">
                <a:avLst/>
              </a:prstGeom>
              <a:noFill/>
            </p:spPr>
            <p:txBody>
              <a:bodyPr wrap="none" rtlCol="0">
                <a:spAutoFit/>
              </a:bodyPr>
              <a:lstStyle/>
              <a:p>
                <a:pPr algn="ctr" defTabSz="914339">
                  <a:defRPr/>
                </a:pPr>
                <a:r>
                  <a:rPr lang="en-GB" sz="1050" i="1" kern="0" dirty="0">
                    <a:solidFill>
                      <a:prstClr val="black"/>
                    </a:solidFill>
                    <a:latin typeface="Aptos" panose="020B0004020202020204" pitchFamily="34" charset="0"/>
                  </a:rPr>
                  <a:t>Plug-loads</a:t>
                </a:r>
                <a:endParaRPr lang="de-AT" sz="1050" i="1" kern="0" dirty="0">
                  <a:solidFill>
                    <a:prstClr val="black"/>
                  </a:solidFill>
                  <a:latin typeface="Aptos" panose="020B0004020202020204" pitchFamily="34" charset="0"/>
                </a:endParaRPr>
              </a:p>
            </p:txBody>
          </p:sp>
        </p:grpSp>
        <p:grpSp>
          <p:nvGrpSpPr>
            <p:cNvPr id="465" name="Gruppieren 464">
              <a:extLst>
                <a:ext uri="{FF2B5EF4-FFF2-40B4-BE49-F238E27FC236}">
                  <a16:creationId xmlns:a16="http://schemas.microsoft.com/office/drawing/2014/main" id="{B668CAB4-3455-182D-4571-07FF676D136E}"/>
                </a:ext>
              </a:extLst>
            </p:cNvPr>
            <p:cNvGrpSpPr/>
            <p:nvPr/>
          </p:nvGrpSpPr>
          <p:grpSpPr>
            <a:xfrm>
              <a:off x="6781332" y="4030066"/>
              <a:ext cx="396848" cy="342110"/>
              <a:chOff x="6665604" y="3012019"/>
              <a:chExt cx="396848" cy="342110"/>
            </a:xfrm>
          </p:grpSpPr>
          <p:sp>
            <p:nvSpPr>
              <p:cNvPr id="549" name="Sechseck 548">
                <a:extLst>
                  <a:ext uri="{FF2B5EF4-FFF2-40B4-BE49-F238E27FC236}">
                    <a16:creationId xmlns:a16="http://schemas.microsoft.com/office/drawing/2014/main" id="{F7E7B980-719E-9AE0-C721-54B763C68BC5}"/>
                  </a:ext>
                </a:extLst>
              </p:cNvPr>
              <p:cNvSpPr/>
              <p:nvPr/>
            </p:nvSpPr>
            <p:spPr>
              <a:xfrm>
                <a:off x="6665604" y="3012019"/>
                <a:ext cx="396848" cy="342110"/>
              </a:xfrm>
              <a:prstGeom prst="hexagon">
                <a:avLst>
                  <a:gd name="adj" fmla="val 30979"/>
                  <a:gd name="vf" fmla="val 115470"/>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50" name="Gruppieren 549">
                <a:extLst>
                  <a:ext uri="{FF2B5EF4-FFF2-40B4-BE49-F238E27FC236}">
                    <a16:creationId xmlns:a16="http://schemas.microsoft.com/office/drawing/2014/main" id="{3815B40F-969A-34C3-7E6F-5EC52F3ABFAA}"/>
                  </a:ext>
                </a:extLst>
              </p:cNvPr>
              <p:cNvGrpSpPr/>
              <p:nvPr/>
            </p:nvGrpSpPr>
            <p:grpSpPr>
              <a:xfrm>
                <a:off x="6729341" y="3046664"/>
                <a:ext cx="269373" cy="269373"/>
                <a:chOff x="5636464" y="2732514"/>
                <a:chExt cx="398920" cy="398920"/>
              </a:xfrm>
            </p:grpSpPr>
            <p:sp>
              <p:nvSpPr>
                <p:cNvPr id="551" name="POWER_USER_SHAPE_ICON_STYLE_2">
                  <a:extLst>
                    <a:ext uri="{FF2B5EF4-FFF2-40B4-BE49-F238E27FC236}">
                      <a16:creationId xmlns:a16="http://schemas.microsoft.com/office/drawing/2014/main" id="{E65305D5-A20B-8B02-B73B-BFFB5E878C08}"/>
                    </a:ext>
                  </a:extLst>
                </p:cNvPr>
                <p:cNvSpPr/>
                <p:nvPr/>
              </p:nvSpPr>
              <p:spPr>
                <a:xfrm>
                  <a:off x="5636464" y="2732514"/>
                  <a:ext cx="398920" cy="39892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52" name="Gruppieren 551">
                  <a:extLst>
                    <a:ext uri="{FF2B5EF4-FFF2-40B4-BE49-F238E27FC236}">
                      <a16:creationId xmlns:a16="http://schemas.microsoft.com/office/drawing/2014/main" id="{0E4F645C-D167-5502-C6D1-EF0625586737}"/>
                    </a:ext>
                  </a:extLst>
                </p:cNvPr>
                <p:cNvGrpSpPr>
                  <a:grpSpLocks noChangeAspect="1"/>
                </p:cNvGrpSpPr>
                <p:nvPr/>
              </p:nvGrpSpPr>
              <p:grpSpPr>
                <a:xfrm>
                  <a:off x="5702951" y="2825222"/>
                  <a:ext cx="265947" cy="213504"/>
                  <a:chOff x="0" y="3157538"/>
                  <a:chExt cx="676283" cy="542925"/>
                </a:xfrm>
              </p:grpSpPr>
              <p:sp>
                <p:nvSpPr>
                  <p:cNvPr id="553" name="Freeform 284">
                    <a:extLst>
                      <a:ext uri="{FF2B5EF4-FFF2-40B4-BE49-F238E27FC236}">
                        <a16:creationId xmlns:a16="http://schemas.microsoft.com/office/drawing/2014/main" id="{3BA672BA-10CD-DF58-31D4-DB0CA653C0C9}"/>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54" name="Freeform 285">
                    <a:extLst>
                      <a:ext uri="{FF2B5EF4-FFF2-40B4-BE49-F238E27FC236}">
                        <a16:creationId xmlns:a16="http://schemas.microsoft.com/office/drawing/2014/main" id="{1C6D87FA-5528-95B2-C279-CDBA89DD1C9C}"/>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55" name="Freeform 286">
                    <a:extLst>
                      <a:ext uri="{FF2B5EF4-FFF2-40B4-BE49-F238E27FC236}">
                        <a16:creationId xmlns:a16="http://schemas.microsoft.com/office/drawing/2014/main" id="{7FEFB5A6-802A-1ACC-9446-FD2151373C1D}"/>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grpSp>
        </p:grpSp>
        <p:grpSp>
          <p:nvGrpSpPr>
            <p:cNvPr id="466" name="Gruppieren 465">
              <a:extLst>
                <a:ext uri="{FF2B5EF4-FFF2-40B4-BE49-F238E27FC236}">
                  <a16:creationId xmlns:a16="http://schemas.microsoft.com/office/drawing/2014/main" id="{984E73A1-6311-1D63-F7D0-5A41BB2977B9}"/>
                </a:ext>
              </a:extLst>
            </p:cNvPr>
            <p:cNvGrpSpPr/>
            <p:nvPr/>
          </p:nvGrpSpPr>
          <p:grpSpPr>
            <a:xfrm>
              <a:off x="1467939" y="3624667"/>
              <a:ext cx="906018" cy="576064"/>
              <a:chOff x="5642993" y="1731254"/>
              <a:chExt cx="906018" cy="576064"/>
            </a:xfrm>
          </p:grpSpPr>
          <p:sp>
            <p:nvSpPr>
              <p:cNvPr id="546" name="Ellipse 545">
                <a:extLst>
                  <a:ext uri="{FF2B5EF4-FFF2-40B4-BE49-F238E27FC236}">
                    <a16:creationId xmlns:a16="http://schemas.microsoft.com/office/drawing/2014/main" id="{0B82815F-4291-B8AC-84E3-9C610DD56DEF}"/>
                  </a:ext>
                </a:extLst>
              </p:cNvPr>
              <p:cNvSpPr/>
              <p:nvPr/>
            </p:nvSpPr>
            <p:spPr>
              <a:xfrm>
                <a:off x="5807968" y="1731254"/>
                <a:ext cx="576064" cy="576064"/>
              </a:xfrm>
              <a:prstGeom prst="ellipse">
                <a:avLst/>
              </a:prstGeom>
              <a:solidFill>
                <a:srgbClr val="ED7D31">
                  <a:lumMod val="20000"/>
                  <a:lumOff val="80000"/>
                </a:srgbClr>
              </a:solidFill>
              <a:ln w="12700" cap="flat" cmpd="sng" algn="ctr">
                <a:solidFill>
                  <a:srgbClr val="ED7D31">
                    <a:lumMod val="60000"/>
                    <a:lumOff val="40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47" name="Textfeld 546">
                <a:extLst>
                  <a:ext uri="{FF2B5EF4-FFF2-40B4-BE49-F238E27FC236}">
                    <a16:creationId xmlns:a16="http://schemas.microsoft.com/office/drawing/2014/main" id="{C716A8CD-E345-2A7F-7D95-0A576D93236D}"/>
                  </a:ext>
                </a:extLst>
              </p:cNvPr>
              <p:cNvSpPr txBox="1"/>
              <p:nvPr/>
            </p:nvSpPr>
            <p:spPr>
              <a:xfrm>
                <a:off x="5740776" y="1802948"/>
                <a:ext cx="710452" cy="246221"/>
              </a:xfrm>
              <a:prstGeom prst="rect">
                <a:avLst/>
              </a:prstGeom>
              <a:noFill/>
            </p:spPr>
            <p:txBody>
              <a:bodyPr wrap="none" rtlCol="0">
                <a:spAutoFit/>
              </a:bodyPr>
              <a:lstStyle/>
              <a:p>
                <a:pPr algn="ctr" defTabSz="914339">
                  <a:defRPr/>
                </a:pPr>
                <a:r>
                  <a:rPr lang="en-GB" sz="1000" kern="0" dirty="0">
                    <a:solidFill>
                      <a:prstClr val="black"/>
                    </a:solidFill>
                    <a:latin typeface="Aptos" panose="020B0004020202020204" pitchFamily="34" charset="0"/>
                  </a:rPr>
                  <a:t>Abwärme</a:t>
                </a:r>
                <a:endParaRPr lang="de-AT" sz="1000" kern="0" dirty="0">
                  <a:solidFill>
                    <a:prstClr val="black"/>
                  </a:solidFill>
                  <a:latin typeface="Aptos" panose="020B0004020202020204" pitchFamily="34" charset="0"/>
                </a:endParaRPr>
              </a:p>
            </p:txBody>
          </p:sp>
          <p:sp>
            <p:nvSpPr>
              <p:cNvPr id="548" name="Textfeld 547">
                <a:extLst>
                  <a:ext uri="{FF2B5EF4-FFF2-40B4-BE49-F238E27FC236}">
                    <a16:creationId xmlns:a16="http://schemas.microsoft.com/office/drawing/2014/main" id="{9734E5C4-0C16-0E34-BFE6-3031D6C86B67}"/>
                  </a:ext>
                </a:extLst>
              </p:cNvPr>
              <p:cNvSpPr txBox="1"/>
              <p:nvPr/>
            </p:nvSpPr>
            <p:spPr>
              <a:xfrm>
                <a:off x="5642993" y="2009323"/>
                <a:ext cx="906018"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Process heat</a:t>
                </a:r>
                <a:endParaRPr lang="de-AT" sz="1000" i="1" kern="0" dirty="0">
                  <a:solidFill>
                    <a:prstClr val="black"/>
                  </a:solidFill>
                  <a:latin typeface="Aptos" panose="020B0004020202020204" pitchFamily="34" charset="0"/>
                </a:endParaRPr>
              </a:p>
            </p:txBody>
          </p:sp>
        </p:grpSp>
        <p:grpSp>
          <p:nvGrpSpPr>
            <p:cNvPr id="467" name="Gruppieren 466">
              <a:extLst>
                <a:ext uri="{FF2B5EF4-FFF2-40B4-BE49-F238E27FC236}">
                  <a16:creationId xmlns:a16="http://schemas.microsoft.com/office/drawing/2014/main" id="{5A864F72-7B8A-F448-0D79-07C240E07505}"/>
                </a:ext>
              </a:extLst>
            </p:cNvPr>
            <p:cNvGrpSpPr/>
            <p:nvPr/>
          </p:nvGrpSpPr>
          <p:grpSpPr>
            <a:xfrm>
              <a:off x="3127132" y="3959915"/>
              <a:ext cx="1000341" cy="477380"/>
              <a:chOff x="4241868" y="3989602"/>
              <a:chExt cx="1000341" cy="477380"/>
            </a:xfrm>
          </p:grpSpPr>
          <p:sp>
            <p:nvSpPr>
              <p:cNvPr id="541" name="Flussdiagramm: Verzögerung 540">
                <a:extLst>
                  <a:ext uri="{FF2B5EF4-FFF2-40B4-BE49-F238E27FC236}">
                    <a16:creationId xmlns:a16="http://schemas.microsoft.com/office/drawing/2014/main" id="{B15333EB-A890-9B3B-C9F1-6A7C9D7F9F39}"/>
                  </a:ext>
                </a:extLst>
              </p:cNvPr>
              <p:cNvSpPr/>
              <p:nvPr/>
            </p:nvSpPr>
            <p:spPr>
              <a:xfrm>
                <a:off x="4638939" y="3989603"/>
                <a:ext cx="453377" cy="470216"/>
              </a:xfrm>
              <a:prstGeom prst="flowChartDelay">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42" name="Gruppieren 541">
                <a:extLst>
                  <a:ext uri="{FF2B5EF4-FFF2-40B4-BE49-F238E27FC236}">
                    <a16:creationId xmlns:a16="http://schemas.microsoft.com/office/drawing/2014/main" id="{B4D3B0C0-1191-B53C-329D-33A5F5096E62}"/>
                  </a:ext>
                </a:extLst>
              </p:cNvPr>
              <p:cNvGrpSpPr/>
              <p:nvPr/>
            </p:nvGrpSpPr>
            <p:grpSpPr>
              <a:xfrm>
                <a:off x="4241868" y="3989602"/>
                <a:ext cx="1000341" cy="477380"/>
                <a:chOff x="3007437" y="3804045"/>
                <a:chExt cx="1000341" cy="477380"/>
              </a:xfrm>
            </p:grpSpPr>
            <p:sp>
              <p:nvSpPr>
                <p:cNvPr id="543" name="Rechteck 542">
                  <a:extLst>
                    <a:ext uri="{FF2B5EF4-FFF2-40B4-BE49-F238E27FC236}">
                      <a16:creationId xmlns:a16="http://schemas.microsoft.com/office/drawing/2014/main" id="{7FE29BF1-3FDE-3F44-853A-FE3B7CE46708}"/>
                    </a:ext>
                  </a:extLst>
                </p:cNvPr>
                <p:cNvSpPr/>
                <p:nvPr/>
              </p:nvSpPr>
              <p:spPr>
                <a:xfrm>
                  <a:off x="3008483" y="3804045"/>
                  <a:ext cx="625334" cy="470216"/>
                </a:xfrm>
                <a:prstGeom prst="rect">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44" name="Textfeld 543">
                  <a:extLst>
                    <a:ext uri="{FF2B5EF4-FFF2-40B4-BE49-F238E27FC236}">
                      <a16:creationId xmlns:a16="http://schemas.microsoft.com/office/drawing/2014/main" id="{F896501B-FBF5-1DC7-0756-8B93602EF1B4}"/>
                    </a:ext>
                  </a:extLst>
                </p:cNvPr>
                <p:cNvSpPr txBox="1"/>
                <p:nvPr/>
              </p:nvSpPr>
              <p:spPr>
                <a:xfrm>
                  <a:off x="3058520" y="3822548"/>
                  <a:ext cx="790602" cy="246221"/>
                </a:xfrm>
                <a:prstGeom prst="rect">
                  <a:avLst/>
                </a:prstGeom>
                <a:noFill/>
              </p:spPr>
              <p:txBody>
                <a:bodyPr wrap="none" rtlCol="0">
                  <a:spAutoFit/>
                </a:bodyPr>
                <a:lstStyle/>
                <a:p>
                  <a:pPr algn="ctr" defTabSz="914339">
                    <a:defRPr/>
                  </a:pPr>
                  <a:r>
                    <a:rPr lang="en-GB" sz="1000" kern="0" dirty="0">
                      <a:solidFill>
                        <a:prstClr val="black"/>
                      </a:solidFill>
                      <a:latin typeface="Aptos" panose="020B0004020202020204" pitchFamily="34" charset="0"/>
                    </a:rPr>
                    <a:t>HT-System</a:t>
                  </a:r>
                  <a:endParaRPr lang="de-AT" sz="1000" kern="0" dirty="0">
                    <a:solidFill>
                      <a:prstClr val="black"/>
                    </a:solidFill>
                    <a:latin typeface="Aptos" panose="020B0004020202020204" pitchFamily="34" charset="0"/>
                  </a:endParaRPr>
                </a:p>
              </p:txBody>
            </p:sp>
            <p:sp>
              <p:nvSpPr>
                <p:cNvPr id="545" name="Textfeld 544">
                  <a:extLst>
                    <a:ext uri="{FF2B5EF4-FFF2-40B4-BE49-F238E27FC236}">
                      <a16:creationId xmlns:a16="http://schemas.microsoft.com/office/drawing/2014/main" id="{7ADA5F46-A6CE-F653-607C-56E9CFEE9FE1}"/>
                    </a:ext>
                  </a:extLst>
                </p:cNvPr>
                <p:cNvSpPr txBox="1"/>
                <p:nvPr/>
              </p:nvSpPr>
              <p:spPr>
                <a:xfrm>
                  <a:off x="3007437" y="4035204"/>
                  <a:ext cx="1000341" cy="246221"/>
                </a:xfrm>
                <a:prstGeom prst="rect">
                  <a:avLst/>
                </a:prstGeom>
                <a:noFill/>
              </p:spPr>
              <p:txBody>
                <a:bodyPr wrap="square" rtlCol="0">
                  <a:spAutoFit/>
                </a:bodyPr>
                <a:lstStyle/>
                <a:p>
                  <a:pPr algn="ctr" defTabSz="914339">
                    <a:defRPr/>
                  </a:pPr>
                  <a:r>
                    <a:rPr lang="en-GB" sz="1000" i="1" kern="0" dirty="0">
                      <a:solidFill>
                        <a:prstClr val="black"/>
                      </a:solidFill>
                      <a:latin typeface="Aptos" panose="020B0004020202020204" pitchFamily="34" charset="0"/>
                    </a:rPr>
                    <a:t>HVAC System</a:t>
                  </a:r>
                  <a:endParaRPr lang="de-AT" sz="1000" i="1" kern="0" dirty="0">
                    <a:solidFill>
                      <a:prstClr val="black"/>
                    </a:solidFill>
                    <a:latin typeface="Aptos" panose="020B0004020202020204" pitchFamily="34" charset="0"/>
                  </a:endParaRPr>
                </a:p>
              </p:txBody>
            </p:sp>
          </p:grpSp>
        </p:grpSp>
        <p:sp>
          <p:nvSpPr>
            <p:cNvPr id="468" name="Rechteck 467">
              <a:extLst>
                <a:ext uri="{FF2B5EF4-FFF2-40B4-BE49-F238E27FC236}">
                  <a16:creationId xmlns:a16="http://schemas.microsoft.com/office/drawing/2014/main" id="{3839329A-762C-4384-8C7B-5460494666DF}"/>
                </a:ext>
              </a:extLst>
            </p:cNvPr>
            <p:cNvSpPr/>
            <p:nvPr/>
          </p:nvSpPr>
          <p:spPr>
            <a:xfrm>
              <a:off x="1316629" y="1116190"/>
              <a:ext cx="2821687" cy="646331"/>
            </a:xfrm>
            <a:prstGeom prst="rect">
              <a:avLst/>
            </a:prstGeom>
          </p:spPr>
          <p:txBody>
            <a:bodyPr wrap="square">
              <a:spAutoFit/>
            </a:bodyPr>
            <a:lstStyle/>
            <a:p>
              <a:pPr defTabSz="914339">
                <a:defRPr/>
              </a:pPr>
              <a:endParaRPr lang="en-GB" sz="3600" b="1" kern="0" dirty="0">
                <a:solidFill>
                  <a:srgbClr val="E6EFF3">
                    <a:lumMod val="50000"/>
                  </a:srgbClr>
                </a:solidFill>
                <a:latin typeface="Aptos" panose="020B0004020202020204" pitchFamily="34" charset="0"/>
              </a:endParaRPr>
            </a:p>
          </p:txBody>
        </p:sp>
        <p:sp>
          <p:nvSpPr>
            <p:cNvPr id="469" name="Sechseck 468">
              <a:extLst>
                <a:ext uri="{FF2B5EF4-FFF2-40B4-BE49-F238E27FC236}">
                  <a16:creationId xmlns:a16="http://schemas.microsoft.com/office/drawing/2014/main" id="{69E2DB31-F6BA-75F4-47CA-6EEE45751906}"/>
                </a:ext>
              </a:extLst>
            </p:cNvPr>
            <p:cNvSpPr/>
            <p:nvPr/>
          </p:nvSpPr>
          <p:spPr>
            <a:xfrm>
              <a:off x="7084757" y="3266415"/>
              <a:ext cx="396848" cy="342110"/>
            </a:xfrm>
            <a:prstGeom prst="hexagon">
              <a:avLst>
                <a:gd name="adj" fmla="val 30979"/>
                <a:gd name="vf" fmla="val 115470"/>
              </a:avLst>
            </a:prstGeom>
            <a:solidFill>
              <a:srgbClr val="F59C00"/>
            </a:solidFill>
            <a:ln w="12700" cap="flat" cmpd="sng" algn="ctr">
              <a:solidFill>
                <a:srgbClr val="F59C00">
                  <a:lumMod val="75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470" name="Car7" descr="{&quot;Key&quot;:&quot;POWER_USER_SHAPE_ICON&quot;,&quot;Value&quot;:&quot;POWER_USER_SHAPE_ICON_STYLE_1&quot;}">
              <a:extLst>
                <a:ext uri="{FF2B5EF4-FFF2-40B4-BE49-F238E27FC236}">
                  <a16:creationId xmlns:a16="http://schemas.microsoft.com/office/drawing/2014/main" id="{01AB4B05-7E04-A5AE-0518-182FE56BCF9D}"/>
                </a:ext>
              </a:extLst>
            </p:cNvPr>
            <p:cNvSpPr>
              <a:spLocks noChangeAspect="1" noEditPoints="1"/>
            </p:cNvSpPr>
            <p:nvPr>
              <p:custDataLst>
                <p:tags r:id="rId1"/>
              </p:custDataLst>
            </p:nvPr>
          </p:nvSpPr>
          <p:spPr bwMode="auto">
            <a:xfrm>
              <a:off x="7156124" y="3324801"/>
              <a:ext cx="255772" cy="215341"/>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471" name="Scale4" descr="{&quot;Key&quot;:&quot;POWER_USER_SHAPE_ICON&quot;,&quot;Value&quot;:&quot;POWER_USER_SHAPE_ICON_STYLE_1&quot;}">
              <a:extLst>
                <a:ext uri="{FF2B5EF4-FFF2-40B4-BE49-F238E27FC236}">
                  <a16:creationId xmlns:a16="http://schemas.microsoft.com/office/drawing/2014/main" id="{B6BFC48E-D7AB-D885-A793-C45AC75D2BAE}"/>
                </a:ext>
              </a:extLst>
            </p:cNvPr>
            <p:cNvSpPr>
              <a:spLocks noChangeAspect="1" noEditPoints="1"/>
            </p:cNvSpPr>
            <p:nvPr>
              <p:custDataLst>
                <p:tags r:id="rId2"/>
              </p:custDataLst>
            </p:nvPr>
          </p:nvSpPr>
          <p:spPr bwMode="auto">
            <a:xfrm>
              <a:off x="3724844" y="1763322"/>
              <a:ext cx="472729" cy="416661"/>
            </a:xfrm>
            <a:custGeom>
              <a:avLst/>
              <a:gdLst>
                <a:gd name="T0" fmla="*/ 3278 w 3993"/>
                <a:gd name="T1" fmla="*/ 0 h 3507"/>
                <a:gd name="T2" fmla="*/ 2285 w 3993"/>
                <a:gd name="T3" fmla="*/ 240 h 3507"/>
                <a:gd name="T4" fmla="*/ 1971 w 3993"/>
                <a:gd name="T5" fmla="*/ 69 h 3507"/>
                <a:gd name="T6" fmla="*/ 1598 w 3993"/>
                <a:gd name="T7" fmla="*/ 405 h 3507"/>
                <a:gd name="T8" fmla="*/ 605 w 3993"/>
                <a:gd name="T9" fmla="*/ 645 h 3507"/>
                <a:gd name="T10" fmla="*/ 664 w 3993"/>
                <a:gd name="T11" fmla="*/ 888 h 3507"/>
                <a:gd name="T12" fmla="*/ 783 w 3993"/>
                <a:gd name="T13" fmla="*/ 859 h 3507"/>
                <a:gd name="T14" fmla="*/ 207 w 3993"/>
                <a:gd name="T15" fmla="*/ 2147 h 3507"/>
                <a:gd name="T16" fmla="*/ 0 w 3993"/>
                <a:gd name="T17" fmla="*/ 2147 h 3507"/>
                <a:gd name="T18" fmla="*/ 437 w 3993"/>
                <a:gd name="T19" fmla="*/ 2562 h 3507"/>
                <a:gd name="T20" fmla="*/ 1312 w 3993"/>
                <a:gd name="T21" fmla="*/ 2562 h 3507"/>
                <a:gd name="T22" fmla="*/ 1750 w 3993"/>
                <a:gd name="T23" fmla="*/ 2147 h 3507"/>
                <a:gd name="T24" fmla="*/ 1543 w 3993"/>
                <a:gd name="T25" fmla="*/ 2147 h 3507"/>
                <a:gd name="T26" fmla="*/ 948 w 3993"/>
                <a:gd name="T27" fmla="*/ 819 h 3507"/>
                <a:gd name="T28" fmla="*/ 1657 w 3993"/>
                <a:gd name="T29" fmla="*/ 648 h 3507"/>
                <a:gd name="T30" fmla="*/ 1846 w 3993"/>
                <a:gd name="T31" fmla="*/ 797 h 3507"/>
                <a:gd name="T32" fmla="*/ 1846 w 3993"/>
                <a:gd name="T33" fmla="*/ 3007 h 3507"/>
                <a:gd name="T34" fmla="*/ 221 w 3993"/>
                <a:gd name="T35" fmla="*/ 3007 h 3507"/>
                <a:gd name="T36" fmla="*/ 221 w 3993"/>
                <a:gd name="T37" fmla="*/ 3507 h 3507"/>
                <a:gd name="T38" fmla="*/ 3721 w 3993"/>
                <a:gd name="T39" fmla="*/ 3507 h 3507"/>
                <a:gd name="T40" fmla="*/ 3721 w 3993"/>
                <a:gd name="T41" fmla="*/ 3007 h 3507"/>
                <a:gd name="T42" fmla="*/ 2096 w 3993"/>
                <a:gd name="T43" fmla="*/ 3007 h 3507"/>
                <a:gd name="T44" fmla="*/ 2096 w 3993"/>
                <a:gd name="T45" fmla="*/ 797 h 3507"/>
                <a:gd name="T46" fmla="*/ 2344 w 3993"/>
                <a:gd name="T47" fmla="*/ 483 h 3507"/>
                <a:gd name="T48" fmla="*/ 3035 w 3993"/>
                <a:gd name="T49" fmla="*/ 316 h 3507"/>
                <a:gd name="T50" fmla="*/ 2455 w 3993"/>
                <a:gd name="T51" fmla="*/ 1611 h 3507"/>
                <a:gd name="T52" fmla="*/ 2243 w 3993"/>
                <a:gd name="T53" fmla="*/ 1611 h 3507"/>
                <a:gd name="T54" fmla="*/ 2681 w 3993"/>
                <a:gd name="T55" fmla="*/ 2025 h 3507"/>
                <a:gd name="T56" fmla="*/ 3556 w 3993"/>
                <a:gd name="T57" fmla="*/ 2025 h 3507"/>
                <a:gd name="T58" fmla="*/ 3993 w 3993"/>
                <a:gd name="T59" fmla="*/ 1611 h 3507"/>
                <a:gd name="T60" fmla="*/ 3764 w 3993"/>
                <a:gd name="T61" fmla="*/ 1611 h 3507"/>
                <a:gd name="T62" fmla="*/ 3170 w 3993"/>
                <a:gd name="T63" fmla="*/ 284 h 3507"/>
                <a:gd name="T64" fmla="*/ 3337 w 3993"/>
                <a:gd name="T65" fmla="*/ 243 h 3507"/>
                <a:gd name="T66" fmla="*/ 3278 w 3993"/>
                <a:gd name="T67" fmla="*/ 0 h 3507"/>
                <a:gd name="T68" fmla="*/ 3110 w 3993"/>
                <a:gd name="T69" fmla="*/ 455 h 3507"/>
                <a:gd name="T70" fmla="*/ 3628 w 3993"/>
                <a:gd name="T71" fmla="*/ 1611 h 3507"/>
                <a:gd name="T72" fmla="*/ 3118 w 3993"/>
                <a:gd name="T73" fmla="*/ 1611 h 3507"/>
                <a:gd name="T74" fmla="*/ 2592 w 3993"/>
                <a:gd name="T75" fmla="*/ 1611 h 3507"/>
                <a:gd name="T76" fmla="*/ 3110 w 3993"/>
                <a:gd name="T77" fmla="*/ 455 h 3507"/>
                <a:gd name="T78" fmla="*/ 875 w 3993"/>
                <a:gd name="T79" fmla="*/ 961 h 3507"/>
                <a:gd name="T80" fmla="*/ 1406 w 3993"/>
                <a:gd name="T81" fmla="*/ 2147 h 3507"/>
                <a:gd name="T82" fmla="*/ 875 w 3993"/>
                <a:gd name="T83" fmla="*/ 2147 h 3507"/>
                <a:gd name="T84" fmla="*/ 344 w 3993"/>
                <a:gd name="T85" fmla="*/ 2147 h 3507"/>
                <a:gd name="T86" fmla="*/ 875 w 3993"/>
                <a:gd name="T87" fmla="*/ 961 h 3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93" h="3507">
                  <a:moveTo>
                    <a:pt x="3278" y="0"/>
                  </a:moveTo>
                  <a:lnTo>
                    <a:pt x="2285" y="240"/>
                  </a:lnTo>
                  <a:cubicBezTo>
                    <a:pt x="2216" y="133"/>
                    <a:pt x="2098" y="69"/>
                    <a:pt x="1971" y="69"/>
                  </a:cubicBezTo>
                  <a:cubicBezTo>
                    <a:pt x="1779" y="69"/>
                    <a:pt x="1618" y="214"/>
                    <a:pt x="1598" y="405"/>
                  </a:cubicBezTo>
                  <a:lnTo>
                    <a:pt x="605" y="645"/>
                  </a:lnTo>
                  <a:lnTo>
                    <a:pt x="664" y="888"/>
                  </a:lnTo>
                  <a:lnTo>
                    <a:pt x="783" y="859"/>
                  </a:lnTo>
                  <a:lnTo>
                    <a:pt x="207" y="2147"/>
                  </a:lnTo>
                  <a:lnTo>
                    <a:pt x="0" y="2147"/>
                  </a:lnTo>
                  <a:cubicBezTo>
                    <a:pt x="0" y="2318"/>
                    <a:pt x="167" y="2476"/>
                    <a:pt x="437" y="2562"/>
                  </a:cubicBezTo>
                  <a:cubicBezTo>
                    <a:pt x="708" y="2647"/>
                    <a:pt x="1042" y="2647"/>
                    <a:pt x="1312" y="2562"/>
                  </a:cubicBezTo>
                  <a:cubicBezTo>
                    <a:pt x="1583" y="2476"/>
                    <a:pt x="1750" y="2318"/>
                    <a:pt x="1750" y="2147"/>
                  </a:cubicBezTo>
                  <a:lnTo>
                    <a:pt x="1543" y="2147"/>
                  </a:lnTo>
                  <a:lnTo>
                    <a:pt x="948" y="819"/>
                  </a:lnTo>
                  <a:lnTo>
                    <a:pt x="1657" y="648"/>
                  </a:lnTo>
                  <a:cubicBezTo>
                    <a:pt x="1702" y="718"/>
                    <a:pt x="1768" y="770"/>
                    <a:pt x="1846" y="797"/>
                  </a:cubicBezTo>
                  <a:lnTo>
                    <a:pt x="1846" y="3007"/>
                  </a:lnTo>
                  <a:lnTo>
                    <a:pt x="221" y="3007"/>
                  </a:lnTo>
                  <a:lnTo>
                    <a:pt x="221" y="3507"/>
                  </a:lnTo>
                  <a:lnTo>
                    <a:pt x="3721" y="3507"/>
                  </a:lnTo>
                  <a:lnTo>
                    <a:pt x="3721" y="3007"/>
                  </a:lnTo>
                  <a:lnTo>
                    <a:pt x="2096" y="3007"/>
                  </a:lnTo>
                  <a:lnTo>
                    <a:pt x="2096" y="797"/>
                  </a:lnTo>
                  <a:cubicBezTo>
                    <a:pt x="2232" y="749"/>
                    <a:pt x="2329" y="627"/>
                    <a:pt x="2344" y="483"/>
                  </a:cubicBezTo>
                  <a:lnTo>
                    <a:pt x="3035" y="316"/>
                  </a:lnTo>
                  <a:lnTo>
                    <a:pt x="2455" y="1611"/>
                  </a:lnTo>
                  <a:lnTo>
                    <a:pt x="2243" y="1611"/>
                  </a:lnTo>
                  <a:cubicBezTo>
                    <a:pt x="2243" y="1782"/>
                    <a:pt x="2410" y="1940"/>
                    <a:pt x="2681" y="2025"/>
                  </a:cubicBezTo>
                  <a:cubicBezTo>
                    <a:pt x="2952" y="2111"/>
                    <a:pt x="3285" y="2111"/>
                    <a:pt x="3556" y="2025"/>
                  </a:cubicBezTo>
                  <a:cubicBezTo>
                    <a:pt x="3827" y="1940"/>
                    <a:pt x="3993" y="1782"/>
                    <a:pt x="3993" y="1611"/>
                  </a:cubicBezTo>
                  <a:lnTo>
                    <a:pt x="3764" y="1611"/>
                  </a:lnTo>
                  <a:lnTo>
                    <a:pt x="3170" y="284"/>
                  </a:lnTo>
                  <a:lnTo>
                    <a:pt x="3337" y="243"/>
                  </a:lnTo>
                  <a:lnTo>
                    <a:pt x="3278" y="0"/>
                  </a:lnTo>
                  <a:close/>
                  <a:moveTo>
                    <a:pt x="3110" y="455"/>
                  </a:moveTo>
                  <a:lnTo>
                    <a:pt x="3628" y="1611"/>
                  </a:lnTo>
                  <a:lnTo>
                    <a:pt x="3118" y="1611"/>
                  </a:lnTo>
                  <a:lnTo>
                    <a:pt x="2592" y="1611"/>
                  </a:lnTo>
                  <a:lnTo>
                    <a:pt x="3110" y="455"/>
                  </a:lnTo>
                  <a:close/>
                  <a:moveTo>
                    <a:pt x="875" y="961"/>
                  </a:moveTo>
                  <a:lnTo>
                    <a:pt x="1406" y="2147"/>
                  </a:lnTo>
                  <a:lnTo>
                    <a:pt x="875" y="2147"/>
                  </a:lnTo>
                  <a:lnTo>
                    <a:pt x="344" y="2147"/>
                  </a:lnTo>
                  <a:lnTo>
                    <a:pt x="875" y="961"/>
                  </a:lnTo>
                  <a:close/>
                </a:path>
              </a:pathLst>
            </a:custGeom>
            <a:solidFill>
              <a:srgbClr val="E6EFF3">
                <a:lumMod val="50000"/>
              </a:srgbClr>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nvGrpSpPr>
            <p:cNvPr id="472" name="Gruppieren 471" descr="{&quot;Key&quot;:&quot;POWER_USER_SHAPE_ICON&quot;,&quot;Value&quot;:&quot;POWER_USER_SHAPE_ICON_STYLE_2&quot;}">
              <a:extLst>
                <a:ext uri="{FF2B5EF4-FFF2-40B4-BE49-F238E27FC236}">
                  <a16:creationId xmlns:a16="http://schemas.microsoft.com/office/drawing/2014/main" id="{0B5A9213-717F-96DB-0893-0D1E17AA2557}"/>
                </a:ext>
              </a:extLst>
            </p:cNvPr>
            <p:cNvGrpSpPr>
              <a:grpSpLocks noChangeAspect="1"/>
            </p:cNvGrpSpPr>
            <p:nvPr/>
          </p:nvGrpSpPr>
          <p:grpSpPr>
            <a:xfrm>
              <a:off x="1635553" y="2339838"/>
              <a:ext cx="606062" cy="606062"/>
              <a:chOff x="6103281" y="1370067"/>
              <a:chExt cx="762000" cy="762000"/>
            </a:xfrm>
          </p:grpSpPr>
          <p:sp>
            <p:nvSpPr>
              <p:cNvPr id="539" name="POWER_USER_SHAPE_ICON_STYLE_2">
                <a:extLst>
                  <a:ext uri="{FF2B5EF4-FFF2-40B4-BE49-F238E27FC236}">
                    <a16:creationId xmlns:a16="http://schemas.microsoft.com/office/drawing/2014/main" id="{65F1478D-1871-C7E5-21CC-BB0A6B43B7C3}"/>
                  </a:ext>
                </a:extLst>
              </p:cNvPr>
              <p:cNvSpPr/>
              <p:nvPr/>
            </p:nvSpPr>
            <p:spPr>
              <a:xfrm>
                <a:off x="6103281" y="1370067"/>
                <a:ext cx="762000" cy="762000"/>
              </a:xfrm>
              <a:prstGeom prst="ellipse">
                <a:avLst/>
              </a:prstGeom>
              <a:solidFill>
                <a:srgbClr val="5FB564"/>
              </a:solidFill>
              <a:ln w="12700" cap="flat" cmpd="sng" algn="ctr">
                <a:solidFill>
                  <a:srgbClr val="5FB564">
                    <a:lumMod val="75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40" name="Solar_panel2" descr="{&quot;Key&quot;:&quot;POWER_USER_SHAPE_ICON&quot;,&quot;Value&quot;:&quot;POWER_USER_SHAPE_ICON_STYLE_1&quot;}">
                <a:extLst>
                  <a:ext uri="{FF2B5EF4-FFF2-40B4-BE49-F238E27FC236}">
                    <a16:creationId xmlns:a16="http://schemas.microsoft.com/office/drawing/2014/main" id="{9B0527EE-BD59-8319-79B8-5E01A752890A}"/>
                  </a:ext>
                </a:extLst>
              </p:cNvPr>
              <p:cNvSpPr>
                <a:spLocks noChangeAspect="1" noEditPoints="1"/>
              </p:cNvSpPr>
              <p:nvPr>
                <p:custDataLst>
                  <p:tags r:id="rId11"/>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5FB564">
                  <a:lumMod val="20000"/>
                  <a:lumOff val="80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sp>
          <p:nvSpPr>
            <p:cNvPr id="473" name="Battery4" descr="{&quot;Key&quot;:&quot;POWER_USER_SHAPE_ICON&quot;,&quot;Value&quot;:&quot;POWER_USER_SHAPE_ICON_STYLE_1&quot;}">
              <a:extLst>
                <a:ext uri="{FF2B5EF4-FFF2-40B4-BE49-F238E27FC236}">
                  <a16:creationId xmlns:a16="http://schemas.microsoft.com/office/drawing/2014/main" id="{9BCBC50C-9112-0989-69D3-98536E238C4F}"/>
                </a:ext>
              </a:extLst>
            </p:cNvPr>
            <p:cNvSpPr>
              <a:spLocks noChangeAspect="1" noEditPoints="1"/>
            </p:cNvSpPr>
            <p:nvPr>
              <p:custDataLst>
                <p:tags r:id="rId3"/>
              </p:custDataLst>
            </p:nvPr>
          </p:nvSpPr>
          <p:spPr bwMode="auto">
            <a:xfrm>
              <a:off x="3876838" y="3170098"/>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sp>
          <p:nvSpPr>
            <p:cNvPr id="474" name="Electric_Car" descr="{&quot;Key&quot;:&quot;POWER_USER_SHAPE_ICON&quot;,&quot;Value&quot;:&quot;POWER_USER_SHAPE_ICON_STYLE_1&quot;}">
              <a:extLst>
                <a:ext uri="{FF2B5EF4-FFF2-40B4-BE49-F238E27FC236}">
                  <a16:creationId xmlns:a16="http://schemas.microsoft.com/office/drawing/2014/main" id="{61ECB491-4DB2-4209-8420-ED5283836DAD}"/>
                </a:ext>
              </a:extLst>
            </p:cNvPr>
            <p:cNvSpPr>
              <a:spLocks noChangeAspect="1" noEditPoints="1"/>
            </p:cNvSpPr>
            <p:nvPr>
              <p:custDataLst>
                <p:tags r:id="rId4"/>
              </p:custDataLst>
            </p:nvPr>
          </p:nvSpPr>
          <p:spPr bwMode="auto">
            <a:xfrm>
              <a:off x="7122867" y="2227928"/>
              <a:ext cx="371944" cy="188645"/>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nvGrpSpPr>
            <p:cNvPr id="475" name="Gruppieren 474">
              <a:extLst>
                <a:ext uri="{FF2B5EF4-FFF2-40B4-BE49-F238E27FC236}">
                  <a16:creationId xmlns:a16="http://schemas.microsoft.com/office/drawing/2014/main" id="{C41BEEC7-1B65-E0A4-C104-45607BF41E80}"/>
                </a:ext>
              </a:extLst>
            </p:cNvPr>
            <p:cNvGrpSpPr/>
            <p:nvPr/>
          </p:nvGrpSpPr>
          <p:grpSpPr>
            <a:xfrm>
              <a:off x="8812294" y="3032641"/>
              <a:ext cx="1298628" cy="246221"/>
              <a:chOff x="9167680" y="2565950"/>
              <a:chExt cx="1298628" cy="246221"/>
            </a:xfrm>
          </p:grpSpPr>
          <p:cxnSp>
            <p:nvCxnSpPr>
              <p:cNvPr id="536" name="Gerade Verbindung mit Pfeil 535">
                <a:extLst>
                  <a:ext uri="{FF2B5EF4-FFF2-40B4-BE49-F238E27FC236}">
                    <a16:creationId xmlns:a16="http://schemas.microsoft.com/office/drawing/2014/main" id="{A03423A1-5303-8A85-37AE-63D67656871A}"/>
                  </a:ext>
                </a:extLst>
              </p:cNvPr>
              <p:cNvCxnSpPr/>
              <p:nvPr/>
            </p:nvCxnSpPr>
            <p:spPr>
              <a:xfrm>
                <a:off x="9222283" y="2771816"/>
                <a:ext cx="1244025" cy="0"/>
              </a:xfrm>
              <a:prstGeom prst="straightConnector1">
                <a:avLst/>
              </a:prstGeom>
              <a:noFill/>
              <a:ln w="28575" cap="flat" cmpd="sng" algn="ctr">
                <a:solidFill>
                  <a:srgbClr val="89814E"/>
                </a:solidFill>
                <a:prstDash val="solid"/>
                <a:miter lim="800000"/>
                <a:tailEnd type="triangle"/>
              </a:ln>
              <a:effectLst/>
            </p:spPr>
          </p:cxnSp>
          <p:sp>
            <p:nvSpPr>
              <p:cNvPr id="537" name="Textfeld 536">
                <a:extLst>
                  <a:ext uri="{FF2B5EF4-FFF2-40B4-BE49-F238E27FC236}">
                    <a16:creationId xmlns:a16="http://schemas.microsoft.com/office/drawing/2014/main" id="{4709CE7D-51CF-13F9-9A3E-CECDFE3B1092}"/>
                  </a:ext>
                </a:extLst>
              </p:cNvPr>
              <p:cNvSpPr txBox="1"/>
              <p:nvPr/>
            </p:nvSpPr>
            <p:spPr>
              <a:xfrm>
                <a:off x="9167680" y="2565950"/>
                <a:ext cx="601447" cy="246221"/>
              </a:xfrm>
              <a:prstGeom prst="rect">
                <a:avLst/>
              </a:prstGeom>
              <a:noFill/>
            </p:spPr>
            <p:txBody>
              <a:bodyPr wrap="none" rtlCol="0">
                <a:spAutoFit/>
              </a:bodyPr>
              <a:lstStyle/>
              <a:p>
                <a:pPr algn="ctr" defTabSz="914339">
                  <a:defRPr/>
                </a:pPr>
                <a:r>
                  <a:rPr lang="en-GB" sz="1000" b="1" kern="0" dirty="0">
                    <a:solidFill>
                      <a:prstClr val="black"/>
                    </a:solidFill>
                    <a:latin typeface="Aptos" panose="020B0004020202020204" pitchFamily="34" charset="0"/>
                  </a:rPr>
                  <a:t>Fossile</a:t>
                </a:r>
                <a:endParaRPr lang="de-AT" sz="1000" b="1" kern="0" dirty="0">
                  <a:solidFill>
                    <a:prstClr val="black"/>
                  </a:solidFill>
                  <a:latin typeface="Aptos" panose="020B0004020202020204" pitchFamily="34" charset="0"/>
                </a:endParaRPr>
              </a:p>
            </p:txBody>
          </p:sp>
          <p:sp>
            <p:nvSpPr>
              <p:cNvPr id="538" name="Textfeld 537">
                <a:extLst>
                  <a:ext uri="{FF2B5EF4-FFF2-40B4-BE49-F238E27FC236}">
                    <a16:creationId xmlns:a16="http://schemas.microsoft.com/office/drawing/2014/main" id="{52AFB397-3C05-D59A-C625-488B2931EB70}"/>
                  </a:ext>
                </a:extLst>
              </p:cNvPr>
              <p:cNvSpPr txBox="1"/>
              <p:nvPr/>
            </p:nvSpPr>
            <p:spPr>
              <a:xfrm>
                <a:off x="9608634" y="2565950"/>
                <a:ext cx="849913" cy="246221"/>
              </a:xfrm>
              <a:prstGeom prst="rect">
                <a:avLst/>
              </a:prstGeom>
              <a:noFill/>
            </p:spPr>
            <p:txBody>
              <a:bodyPr wrap="none" rtlCol="0">
                <a:spAutoFit/>
              </a:bodyPr>
              <a:lstStyle/>
              <a:p>
                <a:pPr algn="ctr" defTabSz="914339">
                  <a:defRPr/>
                </a:pPr>
                <a:r>
                  <a:rPr lang="en-GB" sz="1000" b="1" i="1" kern="0" dirty="0">
                    <a:solidFill>
                      <a:prstClr val="black"/>
                    </a:solidFill>
                    <a:latin typeface="Aptos" panose="020B0004020202020204" pitchFamily="34" charset="0"/>
                  </a:rPr>
                  <a:t>Fossil fuels</a:t>
                </a:r>
                <a:endParaRPr lang="de-AT" sz="1000" b="1" i="1" kern="0" dirty="0">
                  <a:solidFill>
                    <a:prstClr val="black"/>
                  </a:solidFill>
                  <a:latin typeface="Aptos" panose="020B0004020202020204" pitchFamily="34" charset="0"/>
                </a:endParaRPr>
              </a:p>
            </p:txBody>
          </p:sp>
        </p:grpSp>
        <p:sp>
          <p:nvSpPr>
            <p:cNvPr id="476" name="Windmill3" descr="{&quot;Key&quot;:&quot;POWER_USER_SHAPE_ICON&quot;,&quot;Value&quot;:&quot;POWER_USER_SHAPE_ICON_STYLE_1&quot;}">
              <a:extLst>
                <a:ext uri="{FF2B5EF4-FFF2-40B4-BE49-F238E27FC236}">
                  <a16:creationId xmlns:a16="http://schemas.microsoft.com/office/drawing/2014/main" id="{4700C1DF-8358-4974-8251-E34A9D39F2D8}"/>
                </a:ext>
              </a:extLst>
            </p:cNvPr>
            <p:cNvSpPr>
              <a:spLocks noChangeAspect="1" noEditPoints="1"/>
            </p:cNvSpPr>
            <p:nvPr>
              <p:custDataLst>
                <p:tags r:id="rId5"/>
              </p:custDataLst>
            </p:nvPr>
          </p:nvSpPr>
          <p:spPr bwMode="auto">
            <a:xfrm>
              <a:off x="5787057" y="890590"/>
              <a:ext cx="444928" cy="504771"/>
            </a:xfrm>
            <a:custGeom>
              <a:avLst/>
              <a:gdLst>
                <a:gd name="T0" fmla="*/ 360 w 713"/>
                <a:gd name="T1" fmla="*/ 374 h 808"/>
                <a:gd name="T2" fmla="*/ 360 w 713"/>
                <a:gd name="T3" fmla="*/ 323 h 808"/>
                <a:gd name="T4" fmla="*/ 149 w 713"/>
                <a:gd name="T5" fmla="*/ 405 h 808"/>
                <a:gd name="T6" fmla="*/ 115 w 713"/>
                <a:gd name="T7" fmla="*/ 414 h 808"/>
                <a:gd name="T8" fmla="*/ 164 w 713"/>
                <a:gd name="T9" fmla="*/ 215 h 808"/>
                <a:gd name="T10" fmla="*/ 149 w 713"/>
                <a:gd name="T11" fmla="*/ 405 h 808"/>
                <a:gd name="T12" fmla="*/ 82 w 713"/>
                <a:gd name="T13" fmla="*/ 529 h 808"/>
                <a:gd name="T14" fmla="*/ 23 w 713"/>
                <a:gd name="T15" fmla="*/ 258 h 808"/>
                <a:gd name="T16" fmla="*/ 58 w 713"/>
                <a:gd name="T17" fmla="*/ 267 h 808"/>
                <a:gd name="T18" fmla="*/ 417 w 713"/>
                <a:gd name="T19" fmla="*/ 137 h 808"/>
                <a:gd name="T20" fmla="*/ 426 w 713"/>
                <a:gd name="T21" fmla="*/ 103 h 808"/>
                <a:gd name="T22" fmla="*/ 573 w 713"/>
                <a:gd name="T23" fmla="*/ 246 h 808"/>
                <a:gd name="T24" fmla="*/ 417 w 713"/>
                <a:gd name="T25" fmla="*/ 137 h 808"/>
                <a:gd name="T26" fmla="*/ 342 w 713"/>
                <a:gd name="T27" fmla="*/ 18 h 808"/>
                <a:gd name="T28" fmla="*/ 606 w 713"/>
                <a:gd name="T29" fmla="*/ 102 h 808"/>
                <a:gd name="T30" fmla="*/ 581 w 713"/>
                <a:gd name="T31" fmla="*/ 127 h 808"/>
                <a:gd name="T32" fmla="*/ 631 w 713"/>
                <a:gd name="T33" fmla="*/ 505 h 808"/>
                <a:gd name="T34" fmla="*/ 662 w 713"/>
                <a:gd name="T35" fmla="*/ 523 h 808"/>
                <a:gd name="T36" fmla="*/ 428 w 713"/>
                <a:gd name="T37" fmla="*/ 672 h 808"/>
                <a:gd name="T38" fmla="*/ 631 w 713"/>
                <a:gd name="T39" fmla="*/ 505 h 808"/>
                <a:gd name="T40" fmla="*/ 193 w 713"/>
                <a:gd name="T41" fmla="*/ 638 h 808"/>
                <a:gd name="T42" fmla="*/ 330 w 713"/>
                <a:gd name="T43" fmla="*/ 761 h 808"/>
                <a:gd name="T44" fmla="*/ 172 w 713"/>
                <a:gd name="T45" fmla="*/ 784 h 808"/>
                <a:gd name="T46" fmla="*/ 524 w 713"/>
                <a:gd name="T47" fmla="*/ 808 h 808"/>
                <a:gd name="T48" fmla="*/ 524 w 713"/>
                <a:gd name="T49" fmla="*/ 761 h 808"/>
                <a:gd name="T50" fmla="*/ 389 w 713"/>
                <a:gd name="T51" fmla="*/ 601 h 808"/>
                <a:gd name="T52" fmla="*/ 539 w 713"/>
                <a:gd name="T53" fmla="*/ 503 h 808"/>
                <a:gd name="T54" fmla="*/ 389 w 713"/>
                <a:gd name="T55" fmla="*/ 565 h 808"/>
                <a:gd name="T56" fmla="*/ 440 w 713"/>
                <a:gd name="T57" fmla="*/ 486 h 808"/>
                <a:gd name="T58" fmla="*/ 422 w 713"/>
                <a:gd name="T59" fmla="*/ 456 h 808"/>
                <a:gd name="T60" fmla="*/ 389 w 713"/>
                <a:gd name="T61" fmla="*/ 402 h 808"/>
                <a:gd name="T62" fmla="*/ 695 w 713"/>
                <a:gd name="T63" fmla="*/ 372 h 808"/>
                <a:gd name="T64" fmla="*/ 512 w 713"/>
                <a:gd name="T65" fmla="*/ 299 h 808"/>
                <a:gd name="T66" fmla="*/ 416 w 713"/>
                <a:gd name="T67" fmla="*/ 217 h 808"/>
                <a:gd name="T68" fmla="*/ 476 w 713"/>
                <a:gd name="T69" fmla="*/ 305 h 808"/>
                <a:gd name="T70" fmla="*/ 352 w 713"/>
                <a:gd name="T71" fmla="*/ 288 h 808"/>
                <a:gd name="T72" fmla="*/ 193 w 713"/>
                <a:gd name="T73" fmla="*/ 58 h 808"/>
                <a:gd name="T74" fmla="*/ 200 w 713"/>
                <a:gd name="T75" fmla="*/ 348 h 808"/>
                <a:gd name="T76" fmla="*/ 236 w 713"/>
                <a:gd name="T77" fmla="*/ 348 h 808"/>
                <a:gd name="T78" fmla="*/ 311 w 713"/>
                <a:gd name="T79" fmla="*/ 312 h 808"/>
                <a:gd name="T80" fmla="*/ 172 w 713"/>
                <a:gd name="T81" fmla="*/ 627 h 8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13" h="808">
                  <a:moveTo>
                    <a:pt x="386" y="348"/>
                  </a:moveTo>
                  <a:cubicBezTo>
                    <a:pt x="386" y="362"/>
                    <a:pt x="374" y="374"/>
                    <a:pt x="360" y="374"/>
                  </a:cubicBezTo>
                  <a:cubicBezTo>
                    <a:pt x="346" y="374"/>
                    <a:pt x="334" y="362"/>
                    <a:pt x="334" y="348"/>
                  </a:cubicBezTo>
                  <a:cubicBezTo>
                    <a:pt x="334" y="334"/>
                    <a:pt x="346" y="323"/>
                    <a:pt x="360" y="323"/>
                  </a:cubicBezTo>
                  <a:cubicBezTo>
                    <a:pt x="374" y="323"/>
                    <a:pt x="386" y="334"/>
                    <a:pt x="386" y="348"/>
                  </a:cubicBezTo>
                  <a:close/>
                  <a:moveTo>
                    <a:pt x="149" y="405"/>
                  </a:moveTo>
                  <a:cubicBezTo>
                    <a:pt x="151" y="414"/>
                    <a:pt x="146" y="424"/>
                    <a:pt x="136" y="427"/>
                  </a:cubicBezTo>
                  <a:cubicBezTo>
                    <a:pt x="127" y="429"/>
                    <a:pt x="117" y="424"/>
                    <a:pt x="115" y="414"/>
                  </a:cubicBezTo>
                  <a:cubicBezTo>
                    <a:pt x="97" y="349"/>
                    <a:pt x="106" y="280"/>
                    <a:pt x="140" y="221"/>
                  </a:cubicBezTo>
                  <a:cubicBezTo>
                    <a:pt x="145" y="213"/>
                    <a:pt x="156" y="210"/>
                    <a:pt x="164" y="215"/>
                  </a:cubicBezTo>
                  <a:cubicBezTo>
                    <a:pt x="173" y="220"/>
                    <a:pt x="176" y="231"/>
                    <a:pt x="171" y="239"/>
                  </a:cubicBezTo>
                  <a:cubicBezTo>
                    <a:pt x="142" y="289"/>
                    <a:pt x="134" y="349"/>
                    <a:pt x="149" y="405"/>
                  </a:cubicBezTo>
                  <a:close/>
                  <a:moveTo>
                    <a:pt x="89" y="505"/>
                  </a:moveTo>
                  <a:cubicBezTo>
                    <a:pt x="94" y="513"/>
                    <a:pt x="91" y="524"/>
                    <a:pt x="82" y="529"/>
                  </a:cubicBezTo>
                  <a:cubicBezTo>
                    <a:pt x="74" y="534"/>
                    <a:pt x="63" y="531"/>
                    <a:pt x="58" y="523"/>
                  </a:cubicBezTo>
                  <a:cubicBezTo>
                    <a:pt x="12" y="443"/>
                    <a:pt x="0" y="347"/>
                    <a:pt x="23" y="258"/>
                  </a:cubicBezTo>
                  <a:cubicBezTo>
                    <a:pt x="26" y="249"/>
                    <a:pt x="36" y="243"/>
                    <a:pt x="45" y="246"/>
                  </a:cubicBezTo>
                  <a:cubicBezTo>
                    <a:pt x="55" y="248"/>
                    <a:pt x="60" y="258"/>
                    <a:pt x="58" y="267"/>
                  </a:cubicBezTo>
                  <a:cubicBezTo>
                    <a:pt x="36" y="348"/>
                    <a:pt x="47" y="433"/>
                    <a:pt x="89" y="505"/>
                  </a:cubicBezTo>
                  <a:close/>
                  <a:moveTo>
                    <a:pt x="417" y="137"/>
                  </a:moveTo>
                  <a:cubicBezTo>
                    <a:pt x="407" y="135"/>
                    <a:pt x="401" y="125"/>
                    <a:pt x="404" y="116"/>
                  </a:cubicBezTo>
                  <a:cubicBezTo>
                    <a:pt x="407" y="106"/>
                    <a:pt x="416" y="101"/>
                    <a:pt x="426" y="103"/>
                  </a:cubicBezTo>
                  <a:cubicBezTo>
                    <a:pt x="491" y="121"/>
                    <a:pt x="546" y="163"/>
                    <a:pt x="580" y="222"/>
                  </a:cubicBezTo>
                  <a:cubicBezTo>
                    <a:pt x="585" y="230"/>
                    <a:pt x="582" y="241"/>
                    <a:pt x="573" y="246"/>
                  </a:cubicBezTo>
                  <a:cubicBezTo>
                    <a:pt x="565" y="250"/>
                    <a:pt x="554" y="248"/>
                    <a:pt x="549" y="239"/>
                  </a:cubicBezTo>
                  <a:cubicBezTo>
                    <a:pt x="520" y="189"/>
                    <a:pt x="472" y="152"/>
                    <a:pt x="417" y="137"/>
                  </a:cubicBezTo>
                  <a:close/>
                  <a:moveTo>
                    <a:pt x="360" y="35"/>
                  </a:moveTo>
                  <a:cubicBezTo>
                    <a:pt x="350" y="35"/>
                    <a:pt x="342" y="27"/>
                    <a:pt x="342" y="18"/>
                  </a:cubicBezTo>
                  <a:cubicBezTo>
                    <a:pt x="342" y="8"/>
                    <a:pt x="350" y="0"/>
                    <a:pt x="360" y="0"/>
                  </a:cubicBezTo>
                  <a:cubicBezTo>
                    <a:pt x="452" y="0"/>
                    <a:pt x="541" y="37"/>
                    <a:pt x="606" y="102"/>
                  </a:cubicBezTo>
                  <a:cubicBezTo>
                    <a:pt x="613" y="109"/>
                    <a:pt x="613" y="120"/>
                    <a:pt x="606" y="127"/>
                  </a:cubicBezTo>
                  <a:cubicBezTo>
                    <a:pt x="599" y="134"/>
                    <a:pt x="588" y="134"/>
                    <a:pt x="581" y="127"/>
                  </a:cubicBezTo>
                  <a:cubicBezTo>
                    <a:pt x="522" y="68"/>
                    <a:pt x="443" y="35"/>
                    <a:pt x="360" y="35"/>
                  </a:cubicBezTo>
                  <a:close/>
                  <a:moveTo>
                    <a:pt x="631" y="505"/>
                  </a:moveTo>
                  <a:cubicBezTo>
                    <a:pt x="636" y="497"/>
                    <a:pt x="647" y="494"/>
                    <a:pt x="655" y="498"/>
                  </a:cubicBezTo>
                  <a:cubicBezTo>
                    <a:pt x="664" y="503"/>
                    <a:pt x="667" y="514"/>
                    <a:pt x="662" y="523"/>
                  </a:cubicBezTo>
                  <a:cubicBezTo>
                    <a:pt x="615" y="603"/>
                    <a:pt x="539" y="661"/>
                    <a:pt x="450" y="685"/>
                  </a:cubicBezTo>
                  <a:cubicBezTo>
                    <a:pt x="441" y="687"/>
                    <a:pt x="431" y="682"/>
                    <a:pt x="428" y="672"/>
                  </a:cubicBezTo>
                  <a:cubicBezTo>
                    <a:pt x="426" y="663"/>
                    <a:pt x="432" y="653"/>
                    <a:pt x="441" y="651"/>
                  </a:cubicBezTo>
                  <a:cubicBezTo>
                    <a:pt x="521" y="629"/>
                    <a:pt x="590" y="577"/>
                    <a:pt x="631" y="505"/>
                  </a:cubicBezTo>
                  <a:close/>
                  <a:moveTo>
                    <a:pt x="172" y="627"/>
                  </a:moveTo>
                  <a:cubicBezTo>
                    <a:pt x="164" y="641"/>
                    <a:pt x="179" y="652"/>
                    <a:pt x="193" y="638"/>
                  </a:cubicBezTo>
                  <a:lnTo>
                    <a:pt x="330" y="501"/>
                  </a:lnTo>
                  <a:lnTo>
                    <a:pt x="330" y="761"/>
                  </a:lnTo>
                  <a:lnTo>
                    <a:pt x="196" y="761"/>
                  </a:lnTo>
                  <a:cubicBezTo>
                    <a:pt x="183" y="761"/>
                    <a:pt x="172" y="771"/>
                    <a:pt x="172" y="784"/>
                  </a:cubicBezTo>
                  <a:cubicBezTo>
                    <a:pt x="172" y="797"/>
                    <a:pt x="183" y="808"/>
                    <a:pt x="196" y="808"/>
                  </a:cubicBezTo>
                  <a:lnTo>
                    <a:pt x="524" y="808"/>
                  </a:lnTo>
                  <a:cubicBezTo>
                    <a:pt x="537" y="808"/>
                    <a:pt x="548" y="797"/>
                    <a:pt x="548" y="784"/>
                  </a:cubicBezTo>
                  <a:cubicBezTo>
                    <a:pt x="548" y="771"/>
                    <a:pt x="537" y="761"/>
                    <a:pt x="524" y="761"/>
                  </a:cubicBezTo>
                  <a:lnTo>
                    <a:pt x="389" y="761"/>
                  </a:lnTo>
                  <a:lnTo>
                    <a:pt x="389" y="601"/>
                  </a:lnTo>
                  <a:cubicBezTo>
                    <a:pt x="446" y="594"/>
                    <a:pt x="499" y="568"/>
                    <a:pt x="539" y="528"/>
                  </a:cubicBezTo>
                  <a:cubicBezTo>
                    <a:pt x="546" y="521"/>
                    <a:pt x="546" y="510"/>
                    <a:pt x="539" y="503"/>
                  </a:cubicBezTo>
                  <a:cubicBezTo>
                    <a:pt x="533" y="496"/>
                    <a:pt x="521" y="496"/>
                    <a:pt x="514" y="503"/>
                  </a:cubicBezTo>
                  <a:cubicBezTo>
                    <a:pt x="481" y="537"/>
                    <a:pt x="437" y="559"/>
                    <a:pt x="389" y="565"/>
                  </a:cubicBezTo>
                  <a:lnTo>
                    <a:pt x="389" y="505"/>
                  </a:lnTo>
                  <a:cubicBezTo>
                    <a:pt x="407" y="502"/>
                    <a:pt x="424" y="496"/>
                    <a:pt x="440" y="486"/>
                  </a:cubicBezTo>
                  <a:cubicBezTo>
                    <a:pt x="448" y="482"/>
                    <a:pt x="451" y="471"/>
                    <a:pt x="446" y="462"/>
                  </a:cubicBezTo>
                  <a:cubicBezTo>
                    <a:pt x="441" y="454"/>
                    <a:pt x="430" y="451"/>
                    <a:pt x="422" y="456"/>
                  </a:cubicBezTo>
                  <a:cubicBezTo>
                    <a:pt x="412" y="462"/>
                    <a:pt x="401" y="466"/>
                    <a:pt x="389" y="469"/>
                  </a:cubicBezTo>
                  <a:lnTo>
                    <a:pt x="389" y="402"/>
                  </a:lnTo>
                  <a:cubicBezTo>
                    <a:pt x="401" y="395"/>
                    <a:pt x="411" y="385"/>
                    <a:pt x="416" y="372"/>
                  </a:cubicBezTo>
                  <a:lnTo>
                    <a:pt x="695" y="372"/>
                  </a:lnTo>
                  <a:cubicBezTo>
                    <a:pt x="711" y="372"/>
                    <a:pt x="713" y="353"/>
                    <a:pt x="695" y="348"/>
                  </a:cubicBezTo>
                  <a:lnTo>
                    <a:pt x="512" y="299"/>
                  </a:lnTo>
                  <a:cubicBezTo>
                    <a:pt x="499" y="262"/>
                    <a:pt x="474" y="230"/>
                    <a:pt x="440" y="210"/>
                  </a:cubicBezTo>
                  <a:cubicBezTo>
                    <a:pt x="431" y="206"/>
                    <a:pt x="420" y="208"/>
                    <a:pt x="416" y="217"/>
                  </a:cubicBezTo>
                  <a:cubicBezTo>
                    <a:pt x="411" y="225"/>
                    <a:pt x="414" y="236"/>
                    <a:pt x="422" y="241"/>
                  </a:cubicBezTo>
                  <a:cubicBezTo>
                    <a:pt x="447" y="255"/>
                    <a:pt x="466" y="278"/>
                    <a:pt x="476" y="305"/>
                  </a:cubicBezTo>
                  <a:cubicBezTo>
                    <a:pt x="459" y="317"/>
                    <a:pt x="437" y="323"/>
                    <a:pt x="416" y="324"/>
                  </a:cubicBezTo>
                  <a:cubicBezTo>
                    <a:pt x="405" y="299"/>
                    <a:pt x="379" y="285"/>
                    <a:pt x="352" y="288"/>
                  </a:cubicBezTo>
                  <a:lnTo>
                    <a:pt x="213" y="47"/>
                  </a:lnTo>
                  <a:cubicBezTo>
                    <a:pt x="205" y="32"/>
                    <a:pt x="188" y="40"/>
                    <a:pt x="193" y="58"/>
                  </a:cubicBezTo>
                  <a:lnTo>
                    <a:pt x="242" y="242"/>
                  </a:lnTo>
                  <a:cubicBezTo>
                    <a:pt x="215" y="271"/>
                    <a:pt x="200" y="309"/>
                    <a:pt x="200" y="348"/>
                  </a:cubicBezTo>
                  <a:cubicBezTo>
                    <a:pt x="200" y="358"/>
                    <a:pt x="208" y="366"/>
                    <a:pt x="218" y="366"/>
                  </a:cubicBezTo>
                  <a:cubicBezTo>
                    <a:pt x="228" y="366"/>
                    <a:pt x="236" y="358"/>
                    <a:pt x="236" y="348"/>
                  </a:cubicBezTo>
                  <a:cubicBezTo>
                    <a:pt x="236" y="319"/>
                    <a:pt x="246" y="291"/>
                    <a:pt x="264" y="269"/>
                  </a:cubicBezTo>
                  <a:cubicBezTo>
                    <a:pt x="283" y="279"/>
                    <a:pt x="299" y="295"/>
                    <a:pt x="311" y="312"/>
                  </a:cubicBezTo>
                  <a:cubicBezTo>
                    <a:pt x="295" y="334"/>
                    <a:pt x="295" y="364"/>
                    <a:pt x="311" y="385"/>
                  </a:cubicBezTo>
                  <a:lnTo>
                    <a:pt x="172" y="627"/>
                  </a:lnTo>
                  <a:lnTo>
                    <a:pt x="172" y="627"/>
                  </a:lnTo>
                </a:path>
              </a:pathLst>
            </a:custGeom>
            <a:solidFill>
              <a:srgbClr val="BCCF00"/>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sp>
          <p:nvSpPr>
            <p:cNvPr id="477" name="High_voltage3" descr="{&quot;Key&quot;:&quot;POWER_USER_SHAPE_ICON&quot;,&quot;Value&quot;:&quot;POWER_USER_SHAPE_ICON_STYLE_1&quot;}">
              <a:extLst>
                <a:ext uri="{FF2B5EF4-FFF2-40B4-BE49-F238E27FC236}">
                  <a16:creationId xmlns:a16="http://schemas.microsoft.com/office/drawing/2014/main" id="{BBC7449B-6775-5A9E-64B0-6B01E3D14267}"/>
                </a:ext>
              </a:extLst>
            </p:cNvPr>
            <p:cNvSpPr>
              <a:spLocks noChangeAspect="1" noEditPoints="1"/>
            </p:cNvSpPr>
            <p:nvPr>
              <p:custDataLst>
                <p:tags r:id="rId6"/>
              </p:custDataLst>
            </p:nvPr>
          </p:nvSpPr>
          <p:spPr bwMode="auto">
            <a:xfrm>
              <a:off x="3204456" y="863585"/>
              <a:ext cx="340805" cy="474505"/>
            </a:xfrm>
            <a:custGeom>
              <a:avLst/>
              <a:gdLst>
                <a:gd name="T0" fmla="*/ 244 w 542"/>
                <a:gd name="T1" fmla="*/ 590 h 753"/>
                <a:gd name="T2" fmla="*/ 181 w 542"/>
                <a:gd name="T3" fmla="*/ 645 h 753"/>
                <a:gd name="T4" fmla="*/ 361 w 542"/>
                <a:gd name="T5" fmla="*/ 645 h 753"/>
                <a:gd name="T6" fmla="*/ 298 w 542"/>
                <a:gd name="T7" fmla="*/ 590 h 753"/>
                <a:gd name="T8" fmla="*/ 376 w 542"/>
                <a:gd name="T9" fmla="*/ 706 h 753"/>
                <a:gd name="T10" fmla="*/ 166 w 542"/>
                <a:gd name="T11" fmla="*/ 706 h 753"/>
                <a:gd name="T12" fmla="*/ 122 w 542"/>
                <a:gd name="T13" fmla="*/ 395 h 753"/>
                <a:gd name="T14" fmla="*/ 204 w 542"/>
                <a:gd name="T15" fmla="*/ 347 h 753"/>
                <a:gd name="T16" fmla="*/ 338 w 542"/>
                <a:gd name="T17" fmla="*/ 347 h 753"/>
                <a:gd name="T18" fmla="*/ 420 w 542"/>
                <a:gd name="T19" fmla="*/ 395 h 753"/>
                <a:gd name="T20" fmla="*/ 219 w 542"/>
                <a:gd name="T21" fmla="*/ 521 h 753"/>
                <a:gd name="T22" fmla="*/ 323 w 542"/>
                <a:gd name="T23" fmla="*/ 521 h 753"/>
                <a:gd name="T24" fmla="*/ 247 w 542"/>
                <a:gd name="T25" fmla="*/ 430 h 753"/>
                <a:gd name="T26" fmla="*/ 251 w 542"/>
                <a:gd name="T27" fmla="*/ 395 h 753"/>
                <a:gd name="T28" fmla="*/ 291 w 542"/>
                <a:gd name="T29" fmla="*/ 331 h 753"/>
                <a:gd name="T30" fmla="*/ 38 w 542"/>
                <a:gd name="T31" fmla="*/ 412 h 753"/>
                <a:gd name="T32" fmla="*/ 204 w 542"/>
                <a:gd name="T33" fmla="*/ 306 h 753"/>
                <a:gd name="T34" fmla="*/ 95 w 542"/>
                <a:gd name="T35" fmla="*/ 231 h 753"/>
                <a:gd name="T36" fmla="*/ 77 w 542"/>
                <a:gd name="T37" fmla="*/ 303 h 753"/>
                <a:gd name="T38" fmla="*/ 60 w 542"/>
                <a:gd name="T39" fmla="*/ 213 h 753"/>
                <a:gd name="T40" fmla="*/ 212 w 542"/>
                <a:gd name="T41" fmla="*/ 115 h 753"/>
                <a:gd name="T42" fmla="*/ 257 w 542"/>
                <a:gd name="T43" fmla="*/ 0 h 753"/>
                <a:gd name="T44" fmla="*/ 303 w 542"/>
                <a:gd name="T45" fmla="*/ 14 h 753"/>
                <a:gd name="T46" fmla="*/ 472 w 542"/>
                <a:gd name="T47" fmla="*/ 197 h 753"/>
                <a:gd name="T48" fmla="*/ 482 w 542"/>
                <a:gd name="T49" fmla="*/ 285 h 753"/>
                <a:gd name="T50" fmla="*/ 447 w 542"/>
                <a:gd name="T51" fmla="*/ 285 h 753"/>
                <a:gd name="T52" fmla="*/ 338 w 542"/>
                <a:gd name="T53" fmla="*/ 231 h 753"/>
                <a:gd name="T54" fmla="*/ 494 w 542"/>
                <a:gd name="T55" fmla="*/ 397 h 753"/>
                <a:gd name="T56" fmla="*/ 504 w 542"/>
                <a:gd name="T57" fmla="*/ 484 h 753"/>
                <a:gd name="T58" fmla="*/ 469 w 542"/>
                <a:gd name="T59" fmla="*/ 484 h 753"/>
                <a:gd name="T60" fmla="*/ 344 w 542"/>
                <a:gd name="T61" fmla="*/ 430 h 753"/>
                <a:gd name="T62" fmla="*/ 519 w 542"/>
                <a:gd name="T63" fmla="*/ 706 h 753"/>
                <a:gd name="T64" fmla="*/ 519 w 542"/>
                <a:gd name="T65" fmla="*/ 753 h 753"/>
                <a:gd name="T66" fmla="*/ 0 w 542"/>
                <a:gd name="T67" fmla="*/ 730 h 753"/>
                <a:gd name="T68" fmla="*/ 114 w 542"/>
                <a:gd name="T69" fmla="*/ 706 h 753"/>
                <a:gd name="T70" fmla="*/ 73 w 542"/>
                <a:gd name="T71" fmla="*/ 430 h 753"/>
                <a:gd name="T72" fmla="*/ 56 w 542"/>
                <a:gd name="T73" fmla="*/ 502 h 753"/>
                <a:gd name="T74" fmla="*/ 38 w 542"/>
                <a:gd name="T75" fmla="*/ 412 h 753"/>
                <a:gd name="T76" fmla="*/ 144 w 542"/>
                <a:gd name="T77" fmla="*/ 195 h 753"/>
                <a:gd name="T78" fmla="*/ 204 w 542"/>
                <a:gd name="T79" fmla="*/ 160 h 753"/>
                <a:gd name="T80" fmla="*/ 338 w 542"/>
                <a:gd name="T81" fmla="*/ 160 h 753"/>
                <a:gd name="T82" fmla="*/ 399 w 542"/>
                <a:gd name="T83" fmla="*/ 195 h 753"/>
                <a:gd name="T84" fmla="*/ 271 w 542"/>
                <a:gd name="T85" fmla="*/ 35 h 753"/>
                <a:gd name="T86" fmla="*/ 291 w 542"/>
                <a:gd name="T87" fmla="*/ 109 h 753"/>
                <a:gd name="T88" fmla="*/ 251 w 542"/>
                <a:gd name="T89" fmla="*/ 296 h 753"/>
                <a:gd name="T90" fmla="*/ 291 w 542"/>
                <a:gd name="T91" fmla="*/ 231 h 753"/>
                <a:gd name="T92" fmla="*/ 251 w 542"/>
                <a:gd name="T93" fmla="*/ 144 h 753"/>
                <a:gd name="T94" fmla="*/ 291 w 542"/>
                <a:gd name="T95" fmla="*/ 195 h 753"/>
                <a:gd name="T96" fmla="*/ 251 w 542"/>
                <a:gd name="T97" fmla="*/ 144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2" h="753">
                  <a:moveTo>
                    <a:pt x="181" y="645"/>
                  </a:moveTo>
                  <a:lnTo>
                    <a:pt x="244" y="590"/>
                  </a:lnTo>
                  <a:lnTo>
                    <a:pt x="208" y="558"/>
                  </a:lnTo>
                  <a:lnTo>
                    <a:pt x="181" y="645"/>
                  </a:lnTo>
                  <a:close/>
                  <a:moveTo>
                    <a:pt x="298" y="590"/>
                  </a:moveTo>
                  <a:lnTo>
                    <a:pt x="361" y="645"/>
                  </a:lnTo>
                  <a:lnTo>
                    <a:pt x="334" y="558"/>
                  </a:lnTo>
                  <a:lnTo>
                    <a:pt x="298" y="590"/>
                  </a:lnTo>
                  <a:close/>
                  <a:moveTo>
                    <a:pt x="166" y="706"/>
                  </a:moveTo>
                  <a:lnTo>
                    <a:pt x="376" y="706"/>
                  </a:lnTo>
                  <a:lnTo>
                    <a:pt x="271" y="614"/>
                  </a:lnTo>
                  <a:lnTo>
                    <a:pt x="166" y="706"/>
                  </a:lnTo>
                  <a:close/>
                  <a:moveTo>
                    <a:pt x="204" y="347"/>
                  </a:moveTo>
                  <a:lnTo>
                    <a:pt x="122" y="395"/>
                  </a:lnTo>
                  <a:lnTo>
                    <a:pt x="204" y="395"/>
                  </a:lnTo>
                  <a:lnTo>
                    <a:pt x="204" y="347"/>
                  </a:lnTo>
                  <a:close/>
                  <a:moveTo>
                    <a:pt x="420" y="395"/>
                  </a:moveTo>
                  <a:lnTo>
                    <a:pt x="338" y="347"/>
                  </a:lnTo>
                  <a:lnTo>
                    <a:pt x="338" y="395"/>
                  </a:lnTo>
                  <a:lnTo>
                    <a:pt x="420" y="395"/>
                  </a:lnTo>
                  <a:close/>
                  <a:moveTo>
                    <a:pt x="247" y="430"/>
                  </a:moveTo>
                  <a:lnTo>
                    <a:pt x="219" y="521"/>
                  </a:lnTo>
                  <a:lnTo>
                    <a:pt x="271" y="566"/>
                  </a:lnTo>
                  <a:lnTo>
                    <a:pt x="323" y="521"/>
                  </a:lnTo>
                  <a:lnTo>
                    <a:pt x="295" y="430"/>
                  </a:lnTo>
                  <a:lnTo>
                    <a:pt x="247" y="430"/>
                  </a:lnTo>
                  <a:close/>
                  <a:moveTo>
                    <a:pt x="251" y="331"/>
                  </a:moveTo>
                  <a:lnTo>
                    <a:pt x="251" y="395"/>
                  </a:lnTo>
                  <a:lnTo>
                    <a:pt x="291" y="395"/>
                  </a:lnTo>
                  <a:lnTo>
                    <a:pt x="291" y="331"/>
                  </a:lnTo>
                  <a:lnTo>
                    <a:pt x="251" y="331"/>
                  </a:lnTo>
                  <a:close/>
                  <a:moveTo>
                    <a:pt x="38" y="412"/>
                  </a:moveTo>
                  <a:cubicBezTo>
                    <a:pt x="38" y="406"/>
                    <a:pt x="41" y="400"/>
                    <a:pt x="47" y="397"/>
                  </a:cubicBezTo>
                  <a:lnTo>
                    <a:pt x="204" y="306"/>
                  </a:lnTo>
                  <a:lnTo>
                    <a:pt x="204" y="231"/>
                  </a:lnTo>
                  <a:lnTo>
                    <a:pt x="95" y="231"/>
                  </a:lnTo>
                  <a:lnTo>
                    <a:pt x="95" y="285"/>
                  </a:lnTo>
                  <a:cubicBezTo>
                    <a:pt x="95" y="295"/>
                    <a:pt x="87" y="303"/>
                    <a:pt x="77" y="303"/>
                  </a:cubicBezTo>
                  <a:cubicBezTo>
                    <a:pt x="68" y="303"/>
                    <a:pt x="60" y="295"/>
                    <a:pt x="60" y="285"/>
                  </a:cubicBezTo>
                  <a:lnTo>
                    <a:pt x="60" y="213"/>
                  </a:lnTo>
                  <a:cubicBezTo>
                    <a:pt x="60" y="207"/>
                    <a:pt x="63" y="201"/>
                    <a:pt x="69" y="198"/>
                  </a:cubicBezTo>
                  <a:lnTo>
                    <a:pt x="212" y="115"/>
                  </a:lnTo>
                  <a:lnTo>
                    <a:pt x="240" y="13"/>
                  </a:lnTo>
                  <a:cubicBezTo>
                    <a:pt x="242" y="5"/>
                    <a:pt x="249" y="0"/>
                    <a:pt x="257" y="0"/>
                  </a:cubicBezTo>
                  <a:lnTo>
                    <a:pt x="285" y="0"/>
                  </a:lnTo>
                  <a:cubicBezTo>
                    <a:pt x="294" y="0"/>
                    <a:pt x="300" y="6"/>
                    <a:pt x="303" y="14"/>
                  </a:cubicBezTo>
                  <a:lnTo>
                    <a:pt x="330" y="115"/>
                  </a:lnTo>
                  <a:lnTo>
                    <a:pt x="472" y="197"/>
                  </a:lnTo>
                  <a:cubicBezTo>
                    <a:pt x="478" y="200"/>
                    <a:pt x="482" y="206"/>
                    <a:pt x="482" y="213"/>
                  </a:cubicBezTo>
                  <a:lnTo>
                    <a:pt x="482" y="285"/>
                  </a:lnTo>
                  <a:cubicBezTo>
                    <a:pt x="482" y="295"/>
                    <a:pt x="474" y="303"/>
                    <a:pt x="465" y="303"/>
                  </a:cubicBezTo>
                  <a:cubicBezTo>
                    <a:pt x="455" y="303"/>
                    <a:pt x="447" y="295"/>
                    <a:pt x="447" y="285"/>
                  </a:cubicBezTo>
                  <a:lnTo>
                    <a:pt x="447" y="231"/>
                  </a:lnTo>
                  <a:lnTo>
                    <a:pt x="338" y="231"/>
                  </a:lnTo>
                  <a:lnTo>
                    <a:pt x="338" y="306"/>
                  </a:lnTo>
                  <a:lnTo>
                    <a:pt x="494" y="397"/>
                  </a:lnTo>
                  <a:cubicBezTo>
                    <a:pt x="500" y="400"/>
                    <a:pt x="504" y="405"/>
                    <a:pt x="504" y="412"/>
                  </a:cubicBezTo>
                  <a:lnTo>
                    <a:pt x="504" y="484"/>
                  </a:lnTo>
                  <a:cubicBezTo>
                    <a:pt x="504" y="494"/>
                    <a:pt x="496" y="502"/>
                    <a:pt x="486" y="502"/>
                  </a:cubicBezTo>
                  <a:cubicBezTo>
                    <a:pt x="477" y="502"/>
                    <a:pt x="469" y="494"/>
                    <a:pt x="469" y="484"/>
                  </a:cubicBezTo>
                  <a:lnTo>
                    <a:pt x="469" y="430"/>
                  </a:lnTo>
                  <a:lnTo>
                    <a:pt x="344" y="430"/>
                  </a:lnTo>
                  <a:lnTo>
                    <a:pt x="428" y="706"/>
                  </a:lnTo>
                  <a:lnTo>
                    <a:pt x="519" y="706"/>
                  </a:lnTo>
                  <a:cubicBezTo>
                    <a:pt x="532" y="706"/>
                    <a:pt x="542" y="717"/>
                    <a:pt x="542" y="730"/>
                  </a:cubicBezTo>
                  <a:cubicBezTo>
                    <a:pt x="542" y="743"/>
                    <a:pt x="532" y="753"/>
                    <a:pt x="519" y="753"/>
                  </a:cubicBezTo>
                  <a:lnTo>
                    <a:pt x="23" y="753"/>
                  </a:lnTo>
                  <a:cubicBezTo>
                    <a:pt x="10" y="753"/>
                    <a:pt x="0" y="743"/>
                    <a:pt x="0" y="730"/>
                  </a:cubicBezTo>
                  <a:cubicBezTo>
                    <a:pt x="0" y="717"/>
                    <a:pt x="10" y="706"/>
                    <a:pt x="23" y="706"/>
                  </a:cubicBezTo>
                  <a:lnTo>
                    <a:pt x="114" y="706"/>
                  </a:lnTo>
                  <a:lnTo>
                    <a:pt x="198" y="430"/>
                  </a:lnTo>
                  <a:lnTo>
                    <a:pt x="73" y="430"/>
                  </a:lnTo>
                  <a:lnTo>
                    <a:pt x="73" y="484"/>
                  </a:lnTo>
                  <a:cubicBezTo>
                    <a:pt x="73" y="494"/>
                    <a:pt x="65" y="502"/>
                    <a:pt x="56" y="502"/>
                  </a:cubicBezTo>
                  <a:cubicBezTo>
                    <a:pt x="46" y="502"/>
                    <a:pt x="38" y="494"/>
                    <a:pt x="38" y="484"/>
                  </a:cubicBezTo>
                  <a:lnTo>
                    <a:pt x="38" y="412"/>
                  </a:lnTo>
                  <a:close/>
                  <a:moveTo>
                    <a:pt x="204" y="160"/>
                  </a:moveTo>
                  <a:lnTo>
                    <a:pt x="144" y="195"/>
                  </a:lnTo>
                  <a:lnTo>
                    <a:pt x="204" y="195"/>
                  </a:lnTo>
                  <a:lnTo>
                    <a:pt x="204" y="160"/>
                  </a:lnTo>
                  <a:close/>
                  <a:moveTo>
                    <a:pt x="399" y="195"/>
                  </a:moveTo>
                  <a:lnTo>
                    <a:pt x="338" y="160"/>
                  </a:lnTo>
                  <a:lnTo>
                    <a:pt x="338" y="195"/>
                  </a:lnTo>
                  <a:lnTo>
                    <a:pt x="399" y="195"/>
                  </a:lnTo>
                  <a:close/>
                  <a:moveTo>
                    <a:pt x="291" y="109"/>
                  </a:moveTo>
                  <a:lnTo>
                    <a:pt x="271" y="35"/>
                  </a:lnTo>
                  <a:lnTo>
                    <a:pt x="251" y="109"/>
                  </a:lnTo>
                  <a:lnTo>
                    <a:pt x="291" y="109"/>
                  </a:lnTo>
                  <a:close/>
                  <a:moveTo>
                    <a:pt x="251" y="231"/>
                  </a:moveTo>
                  <a:lnTo>
                    <a:pt x="251" y="296"/>
                  </a:lnTo>
                  <a:lnTo>
                    <a:pt x="291" y="296"/>
                  </a:lnTo>
                  <a:lnTo>
                    <a:pt x="291" y="231"/>
                  </a:lnTo>
                  <a:lnTo>
                    <a:pt x="251" y="231"/>
                  </a:lnTo>
                  <a:close/>
                  <a:moveTo>
                    <a:pt x="251" y="144"/>
                  </a:moveTo>
                  <a:lnTo>
                    <a:pt x="251" y="195"/>
                  </a:lnTo>
                  <a:lnTo>
                    <a:pt x="291" y="195"/>
                  </a:lnTo>
                  <a:lnTo>
                    <a:pt x="291" y="144"/>
                  </a:lnTo>
                  <a:lnTo>
                    <a:pt x="251" y="144"/>
                  </a:lnTo>
                  <a:lnTo>
                    <a:pt x="251" y="144"/>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nvGrpSpPr>
            <p:cNvPr id="478" name="Gruppieren 477">
              <a:extLst>
                <a:ext uri="{FF2B5EF4-FFF2-40B4-BE49-F238E27FC236}">
                  <a16:creationId xmlns:a16="http://schemas.microsoft.com/office/drawing/2014/main" id="{69C18D13-5301-D83F-EE1E-B09BC323BAF7}"/>
                </a:ext>
              </a:extLst>
            </p:cNvPr>
            <p:cNvGrpSpPr/>
            <p:nvPr/>
          </p:nvGrpSpPr>
          <p:grpSpPr>
            <a:xfrm>
              <a:off x="5481589" y="4061977"/>
              <a:ext cx="899572" cy="696222"/>
              <a:chOff x="4471418" y="3913593"/>
              <a:chExt cx="899572" cy="696222"/>
            </a:xfrm>
          </p:grpSpPr>
          <p:grpSp>
            <p:nvGrpSpPr>
              <p:cNvPr id="531" name="Gruppieren 530">
                <a:extLst>
                  <a:ext uri="{FF2B5EF4-FFF2-40B4-BE49-F238E27FC236}">
                    <a16:creationId xmlns:a16="http://schemas.microsoft.com/office/drawing/2014/main" id="{2FB2F681-BF2E-A3F0-AB4E-691E9EE0F91B}"/>
                  </a:ext>
                </a:extLst>
              </p:cNvPr>
              <p:cNvGrpSpPr/>
              <p:nvPr/>
            </p:nvGrpSpPr>
            <p:grpSpPr>
              <a:xfrm>
                <a:off x="4471418" y="3913593"/>
                <a:ext cx="899572" cy="696222"/>
                <a:chOff x="5395196" y="4033373"/>
                <a:chExt cx="899572" cy="696222"/>
              </a:xfrm>
            </p:grpSpPr>
            <p:sp>
              <p:nvSpPr>
                <p:cNvPr id="533" name="Flussdiagramm: Anzeige 9">
                  <a:extLst>
                    <a:ext uri="{FF2B5EF4-FFF2-40B4-BE49-F238E27FC236}">
                      <a16:creationId xmlns:a16="http://schemas.microsoft.com/office/drawing/2014/main" id="{F4C829FE-2244-CBB0-8BC7-8B7BDD8C1E39}"/>
                    </a:ext>
                  </a:extLst>
                </p:cNvPr>
                <p:cNvSpPr/>
                <p:nvPr/>
              </p:nvSpPr>
              <p:spPr>
                <a:xfrm rot="5400000">
                  <a:off x="5477796" y="4030373"/>
                  <a:ext cx="696222" cy="702221"/>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950F53">
                    <a:lumMod val="60000"/>
                    <a:lumOff val="40000"/>
                  </a:srgbClr>
                </a:solidFill>
                <a:ln w="12700" cap="flat" cmpd="sng" algn="ctr">
                  <a:solidFill>
                    <a:srgbClr val="950F53"/>
                  </a:solidFill>
                  <a:prstDash val="solid"/>
                  <a:miter lim="800000"/>
                </a:ln>
                <a:effectLst/>
              </p:spPr>
              <p:txBody>
                <a:bodyPr vert="vert270" rtlCol="0" anchor="ctr"/>
                <a:lstStyle/>
                <a:p>
                  <a:pPr algn="ctr" defTabSz="914339">
                    <a:defRPr/>
                  </a:pPr>
                  <a:endParaRPr lang="de-AT" sz="1100" kern="0" dirty="0">
                    <a:solidFill>
                      <a:prstClr val="white"/>
                    </a:solidFill>
                    <a:latin typeface="Aptos" panose="020B0004020202020204" pitchFamily="34" charset="0"/>
                  </a:endParaRPr>
                </a:p>
              </p:txBody>
            </p:sp>
            <p:sp>
              <p:nvSpPr>
                <p:cNvPr id="534" name="Textfeld 533">
                  <a:extLst>
                    <a:ext uri="{FF2B5EF4-FFF2-40B4-BE49-F238E27FC236}">
                      <a16:creationId xmlns:a16="http://schemas.microsoft.com/office/drawing/2014/main" id="{13E8E9C1-BEC6-1CB3-9509-DAF75469F2C0}"/>
                    </a:ext>
                  </a:extLst>
                </p:cNvPr>
                <p:cNvSpPr txBox="1"/>
                <p:nvPr/>
              </p:nvSpPr>
              <p:spPr>
                <a:xfrm>
                  <a:off x="5414399" y="4185900"/>
                  <a:ext cx="880369" cy="369332"/>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Warmwasser-</a:t>
                  </a:r>
                </a:p>
                <a:p>
                  <a:pPr algn="ctr" defTabSz="914339">
                    <a:defRPr/>
                  </a:pPr>
                  <a:r>
                    <a:rPr lang="en-GB" sz="900" kern="0" dirty="0">
                      <a:solidFill>
                        <a:prstClr val="black"/>
                      </a:solidFill>
                      <a:latin typeface="Aptos" panose="020B0004020202020204" pitchFamily="34" charset="0"/>
                    </a:rPr>
                    <a:t>Speicher</a:t>
                  </a:r>
                  <a:endParaRPr lang="de-AT" sz="900" kern="0" dirty="0">
                    <a:solidFill>
                      <a:prstClr val="black"/>
                    </a:solidFill>
                    <a:latin typeface="Aptos" panose="020B0004020202020204" pitchFamily="34" charset="0"/>
                  </a:endParaRPr>
                </a:p>
              </p:txBody>
            </p:sp>
            <p:sp>
              <p:nvSpPr>
                <p:cNvPr id="535" name="Textfeld 534">
                  <a:extLst>
                    <a:ext uri="{FF2B5EF4-FFF2-40B4-BE49-F238E27FC236}">
                      <a16:creationId xmlns:a16="http://schemas.microsoft.com/office/drawing/2014/main" id="{1C203BFF-FED3-CA5C-5143-7A5014565CB3}"/>
                    </a:ext>
                  </a:extLst>
                </p:cNvPr>
                <p:cNvSpPr txBox="1"/>
                <p:nvPr/>
              </p:nvSpPr>
              <p:spPr>
                <a:xfrm>
                  <a:off x="5395196" y="4439817"/>
                  <a:ext cx="838691" cy="230832"/>
                </a:xfrm>
                <a:prstGeom prst="rect">
                  <a:avLst/>
                </a:prstGeom>
                <a:noFill/>
              </p:spPr>
              <p:txBody>
                <a:bodyPr wrap="none" rtlCol="0">
                  <a:spAutoFit/>
                </a:bodyPr>
                <a:lstStyle/>
                <a:p>
                  <a:pPr algn="ctr" defTabSz="914339">
                    <a:defRPr/>
                  </a:pPr>
                  <a:r>
                    <a:rPr lang="en-GB" sz="900" i="1" kern="0" dirty="0">
                      <a:solidFill>
                        <a:prstClr val="black"/>
                      </a:solidFill>
                      <a:latin typeface="Aptos" panose="020B0004020202020204" pitchFamily="34" charset="0"/>
                    </a:rPr>
                    <a:t>DHW storage</a:t>
                  </a:r>
                  <a:endParaRPr lang="de-AT" sz="900" i="1" kern="0" dirty="0">
                    <a:solidFill>
                      <a:prstClr val="black"/>
                    </a:solidFill>
                    <a:latin typeface="Aptos" panose="020B0004020202020204" pitchFamily="34" charset="0"/>
                  </a:endParaRPr>
                </a:p>
              </p:txBody>
            </p:sp>
          </p:grpSp>
          <p:sp>
            <p:nvSpPr>
              <p:cNvPr id="532" name="Battery4" descr="{&quot;Key&quot;:&quot;POWER_USER_SHAPE_ICON&quot;,&quot;Value&quot;:&quot;POWER_USER_SHAPE_ICON_STYLE_1&quot;}">
                <a:extLst>
                  <a:ext uri="{FF2B5EF4-FFF2-40B4-BE49-F238E27FC236}">
                    <a16:creationId xmlns:a16="http://schemas.microsoft.com/office/drawing/2014/main" id="{F272BF61-8D6F-3581-E9B3-2667F4777C9A}"/>
                  </a:ext>
                </a:extLst>
              </p:cNvPr>
              <p:cNvSpPr>
                <a:spLocks noChangeAspect="1" noEditPoints="1"/>
              </p:cNvSpPr>
              <p:nvPr>
                <p:custDataLst>
                  <p:tags r:id="rId10"/>
                </p:custDataLst>
              </p:nvPr>
            </p:nvSpPr>
            <p:spPr bwMode="auto">
              <a:xfrm>
                <a:off x="4849208" y="3941022"/>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950F53"/>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grpSp>
          <p:nvGrpSpPr>
            <p:cNvPr id="479" name="Gruppieren 478">
              <a:extLst>
                <a:ext uri="{FF2B5EF4-FFF2-40B4-BE49-F238E27FC236}">
                  <a16:creationId xmlns:a16="http://schemas.microsoft.com/office/drawing/2014/main" id="{65C1327A-11DE-941F-A94A-419C26929E42}"/>
                </a:ext>
              </a:extLst>
            </p:cNvPr>
            <p:cNvGrpSpPr/>
            <p:nvPr/>
          </p:nvGrpSpPr>
          <p:grpSpPr>
            <a:xfrm>
              <a:off x="4332235" y="4322432"/>
              <a:ext cx="1066318" cy="696222"/>
              <a:chOff x="5303350" y="4812795"/>
              <a:chExt cx="1066318" cy="696222"/>
            </a:xfrm>
          </p:grpSpPr>
          <p:grpSp>
            <p:nvGrpSpPr>
              <p:cNvPr id="526" name="Gruppieren 525">
                <a:extLst>
                  <a:ext uri="{FF2B5EF4-FFF2-40B4-BE49-F238E27FC236}">
                    <a16:creationId xmlns:a16="http://schemas.microsoft.com/office/drawing/2014/main" id="{79BE81F8-144A-6296-B1D0-8D481D6AD7D1}"/>
                  </a:ext>
                </a:extLst>
              </p:cNvPr>
              <p:cNvGrpSpPr/>
              <p:nvPr/>
            </p:nvGrpSpPr>
            <p:grpSpPr>
              <a:xfrm>
                <a:off x="5303350" y="4812795"/>
                <a:ext cx="1066318" cy="696222"/>
                <a:chOff x="4664361" y="4033373"/>
                <a:chExt cx="1066318" cy="696222"/>
              </a:xfrm>
            </p:grpSpPr>
            <p:sp>
              <p:nvSpPr>
                <p:cNvPr id="528" name="Flussdiagramm: Anzeige 9">
                  <a:extLst>
                    <a:ext uri="{FF2B5EF4-FFF2-40B4-BE49-F238E27FC236}">
                      <a16:creationId xmlns:a16="http://schemas.microsoft.com/office/drawing/2014/main" id="{77EB20E8-C910-157C-7CDB-BA9C5732A688}"/>
                    </a:ext>
                  </a:extLst>
                </p:cNvPr>
                <p:cNvSpPr/>
                <p:nvPr/>
              </p:nvSpPr>
              <p:spPr>
                <a:xfrm rot="5400000">
                  <a:off x="4803245" y="4030373"/>
                  <a:ext cx="696222" cy="702221"/>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E1320F">
                    <a:lumMod val="20000"/>
                    <a:lumOff val="80000"/>
                  </a:srgbClr>
                </a:solidFill>
                <a:ln w="12700" cap="flat" cmpd="sng" algn="ctr">
                  <a:solidFill>
                    <a:srgbClr val="E1320F">
                      <a:lumMod val="60000"/>
                      <a:lumOff val="40000"/>
                    </a:srgbClr>
                  </a:solidFill>
                  <a:prstDash val="solid"/>
                  <a:miter lim="800000"/>
                </a:ln>
                <a:effectLst/>
              </p:spPr>
              <p:txBody>
                <a:bodyPr vert="vert270" rtlCol="0" anchor="ctr"/>
                <a:lstStyle/>
                <a:p>
                  <a:pPr algn="ctr" defTabSz="914339">
                    <a:defRPr/>
                  </a:pPr>
                  <a:endParaRPr lang="de-AT" sz="1100" kern="0" dirty="0">
                    <a:solidFill>
                      <a:prstClr val="white"/>
                    </a:solidFill>
                    <a:latin typeface="Aptos" panose="020B0004020202020204" pitchFamily="34" charset="0"/>
                  </a:endParaRPr>
                </a:p>
              </p:txBody>
            </p:sp>
            <p:sp>
              <p:nvSpPr>
                <p:cNvPr id="529" name="Textfeld 528">
                  <a:extLst>
                    <a:ext uri="{FF2B5EF4-FFF2-40B4-BE49-F238E27FC236}">
                      <a16:creationId xmlns:a16="http://schemas.microsoft.com/office/drawing/2014/main" id="{013818A5-0492-CA76-325F-40047055106B}"/>
                    </a:ext>
                  </a:extLst>
                </p:cNvPr>
                <p:cNvSpPr txBox="1"/>
                <p:nvPr/>
              </p:nvSpPr>
              <p:spPr>
                <a:xfrm>
                  <a:off x="4664361" y="4200876"/>
                  <a:ext cx="1066318" cy="246221"/>
                </a:xfrm>
                <a:prstGeom prst="rect">
                  <a:avLst/>
                </a:prstGeom>
                <a:noFill/>
              </p:spPr>
              <p:txBody>
                <a:bodyPr wrap="none" rtlCol="0">
                  <a:spAutoFit/>
                </a:bodyPr>
                <a:lstStyle/>
                <a:p>
                  <a:pPr algn="ctr" defTabSz="914339">
                    <a:defRPr/>
                  </a:pPr>
                  <a:r>
                    <a:rPr lang="en-GB" sz="1000" kern="0" dirty="0">
                      <a:solidFill>
                        <a:prstClr val="black"/>
                      </a:solidFill>
                      <a:latin typeface="Aptos" panose="020B0004020202020204" pitchFamily="34" charset="0"/>
                    </a:rPr>
                    <a:t>Gebäudemasse</a:t>
                  </a:r>
                  <a:endParaRPr lang="de-AT" sz="1000" kern="0" dirty="0">
                    <a:solidFill>
                      <a:prstClr val="black"/>
                    </a:solidFill>
                    <a:latin typeface="Aptos" panose="020B0004020202020204" pitchFamily="34" charset="0"/>
                  </a:endParaRPr>
                </a:p>
              </p:txBody>
            </p:sp>
            <p:sp>
              <p:nvSpPr>
                <p:cNvPr id="530" name="Textfeld 529">
                  <a:extLst>
                    <a:ext uri="{FF2B5EF4-FFF2-40B4-BE49-F238E27FC236}">
                      <a16:creationId xmlns:a16="http://schemas.microsoft.com/office/drawing/2014/main" id="{9D03FB3F-8B4F-C862-9873-5FD5BBFB3488}"/>
                    </a:ext>
                  </a:extLst>
                </p:cNvPr>
                <p:cNvSpPr txBox="1"/>
                <p:nvPr/>
              </p:nvSpPr>
              <p:spPr>
                <a:xfrm>
                  <a:off x="4716458" y="4407251"/>
                  <a:ext cx="962123"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Building mass</a:t>
                  </a:r>
                  <a:endParaRPr lang="de-AT" sz="1000" i="1" kern="0" dirty="0">
                    <a:solidFill>
                      <a:prstClr val="black"/>
                    </a:solidFill>
                    <a:latin typeface="Aptos" panose="020B0004020202020204" pitchFamily="34" charset="0"/>
                  </a:endParaRPr>
                </a:p>
              </p:txBody>
            </p:sp>
          </p:grpSp>
          <p:sp>
            <p:nvSpPr>
              <p:cNvPr id="527" name="Battery4" descr="{&quot;Key&quot;:&quot;POWER_USER_SHAPE_ICON&quot;,&quot;Value&quot;:&quot;POWER_USER_SHAPE_ICON_STYLE_1&quot;}">
                <a:extLst>
                  <a:ext uri="{FF2B5EF4-FFF2-40B4-BE49-F238E27FC236}">
                    <a16:creationId xmlns:a16="http://schemas.microsoft.com/office/drawing/2014/main" id="{75999EEA-B141-691C-BDA8-3FCC00F21E4D}"/>
                  </a:ext>
                </a:extLst>
              </p:cNvPr>
              <p:cNvSpPr>
                <a:spLocks noChangeAspect="1" noEditPoints="1"/>
              </p:cNvSpPr>
              <p:nvPr>
                <p:custDataLst>
                  <p:tags r:id="rId9"/>
                </p:custDataLst>
              </p:nvPr>
            </p:nvSpPr>
            <p:spPr bwMode="auto">
              <a:xfrm>
                <a:off x="5732070" y="4846487"/>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E1320F">
                  <a:lumMod val="60000"/>
                  <a:lumOff val="40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grpSp>
          <p:nvGrpSpPr>
            <p:cNvPr id="480" name="Gruppieren 479">
              <a:extLst>
                <a:ext uri="{FF2B5EF4-FFF2-40B4-BE49-F238E27FC236}">
                  <a16:creationId xmlns:a16="http://schemas.microsoft.com/office/drawing/2014/main" id="{119A99D5-BEBD-5D9A-496F-AE6CC0D29004}"/>
                </a:ext>
              </a:extLst>
            </p:cNvPr>
            <p:cNvGrpSpPr/>
            <p:nvPr/>
          </p:nvGrpSpPr>
          <p:grpSpPr>
            <a:xfrm>
              <a:off x="4571773" y="414739"/>
              <a:ext cx="1444627" cy="781704"/>
              <a:chOff x="5807897" y="3194347"/>
              <a:chExt cx="1444627" cy="781704"/>
            </a:xfrm>
          </p:grpSpPr>
          <p:sp>
            <p:nvSpPr>
              <p:cNvPr id="523" name="Ellipse 522">
                <a:extLst>
                  <a:ext uri="{FF2B5EF4-FFF2-40B4-BE49-F238E27FC236}">
                    <a16:creationId xmlns:a16="http://schemas.microsoft.com/office/drawing/2014/main" id="{483234A3-F775-6242-3BA6-39649233DF63}"/>
                  </a:ext>
                </a:extLst>
              </p:cNvPr>
              <p:cNvSpPr/>
              <p:nvPr/>
            </p:nvSpPr>
            <p:spPr>
              <a:xfrm>
                <a:off x="5821954" y="3399987"/>
                <a:ext cx="576064" cy="576064"/>
              </a:xfrm>
              <a:prstGeom prst="ellipse">
                <a:avLst/>
              </a:prstGeom>
              <a:solidFill>
                <a:srgbClr val="C4BE98"/>
              </a:solidFill>
              <a:ln w="12700" cap="flat" cmpd="sng" algn="ctr">
                <a:solidFill>
                  <a:srgbClr val="89814E"/>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24" name="Textfeld 523">
                <a:extLst>
                  <a:ext uri="{FF2B5EF4-FFF2-40B4-BE49-F238E27FC236}">
                    <a16:creationId xmlns:a16="http://schemas.microsoft.com/office/drawing/2014/main" id="{173767DC-FA95-966B-AC0C-5EFCF92EBC4A}"/>
                  </a:ext>
                </a:extLst>
              </p:cNvPr>
              <p:cNvSpPr txBox="1"/>
              <p:nvPr/>
            </p:nvSpPr>
            <p:spPr>
              <a:xfrm>
                <a:off x="5807897" y="3194347"/>
                <a:ext cx="1444627" cy="261610"/>
              </a:xfrm>
              <a:prstGeom prst="rect">
                <a:avLst/>
              </a:prstGeom>
              <a:noFill/>
            </p:spPr>
            <p:txBody>
              <a:bodyPr wrap="none" rtlCol="0">
                <a:spAutoFit/>
              </a:bodyPr>
              <a:lstStyle/>
              <a:p>
                <a:pPr algn="ctr" defTabSz="914339">
                  <a:defRPr/>
                </a:pPr>
                <a:r>
                  <a:rPr lang="en-GB" sz="1100" kern="0" dirty="0">
                    <a:solidFill>
                      <a:prstClr val="black"/>
                    </a:solidFill>
                    <a:latin typeface="Aptos" panose="020B0004020202020204" pitchFamily="34" charset="0"/>
                  </a:rPr>
                  <a:t>Fossile Energieträger</a:t>
                </a:r>
                <a:endParaRPr lang="de-AT" sz="1100" kern="0" dirty="0">
                  <a:solidFill>
                    <a:prstClr val="black"/>
                  </a:solidFill>
                  <a:latin typeface="Aptos" panose="020B0004020202020204" pitchFamily="34" charset="0"/>
                </a:endParaRPr>
              </a:p>
            </p:txBody>
          </p:sp>
          <p:sp>
            <p:nvSpPr>
              <p:cNvPr id="525" name="Textfeld 524">
                <a:extLst>
                  <a:ext uri="{FF2B5EF4-FFF2-40B4-BE49-F238E27FC236}">
                    <a16:creationId xmlns:a16="http://schemas.microsoft.com/office/drawing/2014/main" id="{DE814652-5B29-9ADC-C8F1-416A804452FC}"/>
                  </a:ext>
                </a:extLst>
              </p:cNvPr>
              <p:cNvSpPr txBox="1"/>
              <p:nvPr/>
            </p:nvSpPr>
            <p:spPr>
              <a:xfrm>
                <a:off x="6328052" y="3358196"/>
                <a:ext cx="875561" cy="261610"/>
              </a:xfrm>
              <a:prstGeom prst="rect">
                <a:avLst/>
              </a:prstGeom>
              <a:noFill/>
            </p:spPr>
            <p:txBody>
              <a:bodyPr wrap="none" rtlCol="0">
                <a:spAutoFit/>
              </a:bodyPr>
              <a:lstStyle/>
              <a:p>
                <a:pPr algn="ctr" defTabSz="914339">
                  <a:defRPr/>
                </a:pPr>
                <a:r>
                  <a:rPr lang="en-GB" sz="1100" i="1" kern="0" dirty="0">
                    <a:solidFill>
                      <a:prstClr val="black"/>
                    </a:solidFill>
                    <a:latin typeface="Aptos" panose="020B0004020202020204" pitchFamily="34" charset="0"/>
                  </a:rPr>
                  <a:t>Fossil fuels</a:t>
                </a:r>
                <a:endParaRPr lang="de-AT" sz="1100" i="1" kern="0" dirty="0">
                  <a:solidFill>
                    <a:prstClr val="black"/>
                  </a:solidFill>
                  <a:latin typeface="Aptos" panose="020B0004020202020204" pitchFamily="34" charset="0"/>
                </a:endParaRPr>
              </a:p>
            </p:txBody>
          </p:sp>
        </p:grpSp>
        <p:cxnSp>
          <p:nvCxnSpPr>
            <p:cNvPr id="481" name="Gekrümmter Verbinder 349">
              <a:extLst>
                <a:ext uri="{FF2B5EF4-FFF2-40B4-BE49-F238E27FC236}">
                  <a16:creationId xmlns:a16="http://schemas.microsoft.com/office/drawing/2014/main" id="{1F438272-87AD-5C32-1A27-E4AE67B864FD}"/>
                </a:ext>
              </a:extLst>
            </p:cNvPr>
            <p:cNvCxnSpPr>
              <a:cxnSpLocks/>
              <a:stCxn id="523" idx="4"/>
              <a:endCxn id="461" idx="1"/>
            </p:cNvCxnSpPr>
            <p:nvPr/>
          </p:nvCxnSpPr>
          <p:spPr>
            <a:xfrm rot="5400000">
              <a:off x="4576551" y="1388770"/>
              <a:ext cx="489638" cy="104984"/>
            </a:xfrm>
            <a:prstGeom prst="curvedConnector5">
              <a:avLst>
                <a:gd name="adj1" fmla="val 46688"/>
                <a:gd name="adj2" fmla="val 32371"/>
                <a:gd name="adj3" fmla="val 53312"/>
              </a:avLst>
            </a:prstGeom>
            <a:noFill/>
            <a:ln w="28575" cap="flat" cmpd="sng" algn="ctr">
              <a:solidFill>
                <a:srgbClr val="89814E"/>
              </a:solidFill>
              <a:prstDash val="solid"/>
              <a:miter lim="800000"/>
              <a:tailEnd type="triangle"/>
            </a:ln>
            <a:effectLst/>
          </p:spPr>
        </p:cxnSp>
        <p:pic>
          <p:nvPicPr>
            <p:cNvPr id="482" name="Grafik 481" descr="Ölfass mit einfarbiger Füllung">
              <a:extLst>
                <a:ext uri="{FF2B5EF4-FFF2-40B4-BE49-F238E27FC236}">
                  <a16:creationId xmlns:a16="http://schemas.microsoft.com/office/drawing/2014/main" id="{25EADCA1-7CD0-AB43-7451-B4AA9F24C21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4616211" y="638691"/>
              <a:ext cx="465994" cy="465994"/>
            </a:xfrm>
            <a:prstGeom prst="rect">
              <a:avLst/>
            </a:prstGeom>
          </p:spPr>
        </p:pic>
        <p:cxnSp>
          <p:nvCxnSpPr>
            <p:cNvPr id="483" name="Verbinder: gewinkelt 482">
              <a:extLst>
                <a:ext uri="{FF2B5EF4-FFF2-40B4-BE49-F238E27FC236}">
                  <a16:creationId xmlns:a16="http://schemas.microsoft.com/office/drawing/2014/main" id="{61BE07B6-4D99-752E-7779-063EF4EB8959}"/>
                </a:ext>
              </a:extLst>
            </p:cNvPr>
            <p:cNvCxnSpPr>
              <a:cxnSpLocks/>
              <a:stCxn id="539" idx="6"/>
              <a:endCxn id="608" idx="1"/>
            </p:cNvCxnSpPr>
            <p:nvPr/>
          </p:nvCxnSpPr>
          <p:spPr>
            <a:xfrm>
              <a:off x="2241615" y="2642869"/>
              <a:ext cx="3020999" cy="338436"/>
            </a:xfrm>
            <a:prstGeom prst="bentConnector3">
              <a:avLst>
                <a:gd name="adj1" fmla="val 50000"/>
              </a:avLst>
            </a:prstGeom>
            <a:noFill/>
            <a:ln w="28575" cap="flat" cmpd="sng" algn="ctr">
              <a:solidFill>
                <a:srgbClr val="5FB564"/>
              </a:solidFill>
              <a:prstDash val="solid"/>
              <a:miter lim="800000"/>
              <a:tailEnd type="triangle"/>
            </a:ln>
            <a:effectLst/>
          </p:spPr>
        </p:cxnSp>
        <p:cxnSp>
          <p:nvCxnSpPr>
            <p:cNvPr id="484" name="Verbinder: gewinkelt 483">
              <a:extLst>
                <a:ext uri="{FF2B5EF4-FFF2-40B4-BE49-F238E27FC236}">
                  <a16:creationId xmlns:a16="http://schemas.microsoft.com/office/drawing/2014/main" id="{98937F22-0AA6-0F36-7228-A9007DDAAC66}"/>
                </a:ext>
              </a:extLst>
            </p:cNvPr>
            <p:cNvCxnSpPr>
              <a:cxnSpLocks/>
              <a:stCxn id="539" idx="6"/>
              <a:endCxn id="461" idx="0"/>
            </p:cNvCxnSpPr>
            <p:nvPr/>
          </p:nvCxnSpPr>
          <p:spPr>
            <a:xfrm flipV="1">
              <a:off x="2241615" y="1983382"/>
              <a:ext cx="3743263" cy="659487"/>
            </a:xfrm>
            <a:prstGeom prst="bentConnector5">
              <a:avLst>
                <a:gd name="adj1" fmla="val 106344"/>
                <a:gd name="adj2" fmla="val 30610"/>
                <a:gd name="adj3" fmla="val 106327"/>
              </a:avLst>
            </a:prstGeom>
            <a:noFill/>
            <a:ln w="28575" cap="flat" cmpd="sng" algn="ctr">
              <a:solidFill>
                <a:srgbClr val="5FB564">
                  <a:lumMod val="60000"/>
                  <a:lumOff val="40000"/>
                </a:srgbClr>
              </a:solidFill>
              <a:prstDash val="solid"/>
              <a:miter lim="800000"/>
              <a:tailEnd type="triangle"/>
            </a:ln>
            <a:effectLst/>
          </p:spPr>
        </p:cxnSp>
        <p:cxnSp>
          <p:nvCxnSpPr>
            <p:cNvPr id="485" name="Verbinder: gewinkelt 484">
              <a:extLst>
                <a:ext uri="{FF2B5EF4-FFF2-40B4-BE49-F238E27FC236}">
                  <a16:creationId xmlns:a16="http://schemas.microsoft.com/office/drawing/2014/main" id="{47EE8A76-D416-C590-BAF8-FE6C052BB897}"/>
                </a:ext>
              </a:extLst>
            </p:cNvPr>
            <p:cNvCxnSpPr>
              <a:cxnSpLocks/>
              <a:stCxn id="539" idx="6"/>
              <a:endCxn id="605" idx="1"/>
            </p:cNvCxnSpPr>
            <p:nvPr/>
          </p:nvCxnSpPr>
          <p:spPr>
            <a:xfrm>
              <a:off x="2241615" y="2642869"/>
              <a:ext cx="1836832" cy="734600"/>
            </a:xfrm>
            <a:prstGeom prst="bentConnector3">
              <a:avLst>
                <a:gd name="adj1" fmla="val 50000"/>
              </a:avLst>
            </a:prstGeom>
            <a:noFill/>
            <a:ln w="28575" cap="flat" cmpd="sng" algn="ctr">
              <a:solidFill>
                <a:srgbClr val="5FB564"/>
              </a:solidFill>
              <a:prstDash val="solid"/>
              <a:miter lim="800000"/>
              <a:tailEnd type="triangle"/>
            </a:ln>
            <a:effectLst/>
          </p:spPr>
        </p:cxnSp>
        <p:cxnSp>
          <p:nvCxnSpPr>
            <p:cNvPr id="486" name="Verbinder: gewinkelt 485">
              <a:extLst>
                <a:ext uri="{FF2B5EF4-FFF2-40B4-BE49-F238E27FC236}">
                  <a16:creationId xmlns:a16="http://schemas.microsoft.com/office/drawing/2014/main" id="{06053A9B-8E57-3A64-9BD0-1A0A00A12E95}"/>
                </a:ext>
              </a:extLst>
            </p:cNvPr>
            <p:cNvCxnSpPr>
              <a:cxnSpLocks/>
              <a:stCxn id="539" idx="6"/>
              <a:endCxn id="544" idx="1"/>
            </p:cNvCxnSpPr>
            <p:nvPr/>
          </p:nvCxnSpPr>
          <p:spPr>
            <a:xfrm>
              <a:off x="2241615" y="2642869"/>
              <a:ext cx="936600" cy="1458660"/>
            </a:xfrm>
            <a:prstGeom prst="bentConnector3">
              <a:avLst>
                <a:gd name="adj1" fmla="val 50000"/>
              </a:avLst>
            </a:prstGeom>
            <a:noFill/>
            <a:ln w="28575" cap="flat" cmpd="sng" algn="ctr">
              <a:solidFill>
                <a:srgbClr val="5FB564"/>
              </a:solidFill>
              <a:prstDash val="solid"/>
              <a:miter lim="800000"/>
              <a:tailEnd type="triangle"/>
            </a:ln>
            <a:effectLst/>
          </p:spPr>
        </p:cxnSp>
        <p:cxnSp>
          <p:nvCxnSpPr>
            <p:cNvPr id="487" name="Verbinder: gewinkelt 486">
              <a:extLst>
                <a:ext uri="{FF2B5EF4-FFF2-40B4-BE49-F238E27FC236}">
                  <a16:creationId xmlns:a16="http://schemas.microsoft.com/office/drawing/2014/main" id="{DCC051D7-3E30-B85D-6DA1-8A34A0305693}"/>
                </a:ext>
              </a:extLst>
            </p:cNvPr>
            <p:cNvCxnSpPr>
              <a:cxnSpLocks/>
              <a:stCxn id="539" idx="6"/>
              <a:endCxn id="559" idx="3"/>
            </p:cNvCxnSpPr>
            <p:nvPr/>
          </p:nvCxnSpPr>
          <p:spPr>
            <a:xfrm>
              <a:off x="2241615" y="2642869"/>
              <a:ext cx="4801979" cy="1181375"/>
            </a:xfrm>
            <a:prstGeom prst="bentConnector3">
              <a:avLst>
                <a:gd name="adj1" fmla="val 10934"/>
              </a:avLst>
            </a:prstGeom>
            <a:noFill/>
            <a:ln w="28575" cap="flat" cmpd="sng" algn="ctr">
              <a:solidFill>
                <a:srgbClr val="5FB564"/>
              </a:solidFill>
              <a:prstDash val="solid"/>
              <a:miter lim="800000"/>
              <a:tailEnd type="triangle"/>
            </a:ln>
            <a:effectLst/>
          </p:spPr>
        </p:cxnSp>
        <p:cxnSp>
          <p:nvCxnSpPr>
            <p:cNvPr id="488" name="Verbinder: gewinkelt 487">
              <a:extLst>
                <a:ext uri="{FF2B5EF4-FFF2-40B4-BE49-F238E27FC236}">
                  <a16:creationId xmlns:a16="http://schemas.microsoft.com/office/drawing/2014/main" id="{A395A62D-2A97-2208-86E6-A3F9B07FAFE2}"/>
                </a:ext>
              </a:extLst>
            </p:cNvPr>
            <p:cNvCxnSpPr>
              <a:cxnSpLocks/>
              <a:stCxn id="461" idx="2"/>
              <a:endCxn id="544" idx="1"/>
            </p:cNvCxnSpPr>
            <p:nvPr/>
          </p:nvCxnSpPr>
          <p:spPr>
            <a:xfrm rot="10800000" flipV="1">
              <a:off x="3178215" y="1983381"/>
              <a:ext cx="374664" cy="2118147"/>
            </a:xfrm>
            <a:prstGeom prst="bentConnector3">
              <a:avLst>
                <a:gd name="adj1" fmla="val 161015"/>
              </a:avLst>
            </a:prstGeom>
            <a:noFill/>
            <a:ln w="28575" cap="flat" cmpd="sng" algn="ctr">
              <a:solidFill>
                <a:srgbClr val="BCCF00">
                  <a:lumMod val="60000"/>
                  <a:lumOff val="40000"/>
                </a:srgbClr>
              </a:solidFill>
              <a:prstDash val="solid"/>
              <a:miter lim="800000"/>
              <a:tailEnd type="triangle"/>
            </a:ln>
            <a:effectLst/>
          </p:spPr>
        </p:cxnSp>
        <p:cxnSp>
          <p:nvCxnSpPr>
            <p:cNvPr id="489" name="Verbinder: gewinkelt 488">
              <a:extLst>
                <a:ext uri="{FF2B5EF4-FFF2-40B4-BE49-F238E27FC236}">
                  <a16:creationId xmlns:a16="http://schemas.microsoft.com/office/drawing/2014/main" id="{DA73F04C-4D99-DB0C-009D-3D835A40CEAF}"/>
                </a:ext>
              </a:extLst>
            </p:cNvPr>
            <p:cNvCxnSpPr>
              <a:cxnSpLocks/>
              <a:stCxn id="541" idx="3"/>
              <a:endCxn id="534" idx="1"/>
            </p:cNvCxnSpPr>
            <p:nvPr/>
          </p:nvCxnSpPr>
          <p:spPr>
            <a:xfrm>
              <a:off x="3977580" y="4195024"/>
              <a:ext cx="1523212" cy="204146"/>
            </a:xfrm>
            <a:prstGeom prst="bentConnector3">
              <a:avLst>
                <a:gd name="adj1" fmla="val 50000"/>
              </a:avLst>
            </a:prstGeom>
            <a:noFill/>
            <a:ln w="28575" cap="flat" cmpd="sng" algn="ctr">
              <a:solidFill>
                <a:srgbClr val="FF0000"/>
              </a:solidFill>
              <a:prstDash val="solid"/>
              <a:miter lim="800000"/>
              <a:tailEnd type="triangle"/>
            </a:ln>
            <a:effectLst/>
          </p:spPr>
        </p:cxnSp>
        <p:cxnSp>
          <p:nvCxnSpPr>
            <p:cNvPr id="490" name="Verbinder: gewinkelt 489">
              <a:extLst>
                <a:ext uri="{FF2B5EF4-FFF2-40B4-BE49-F238E27FC236}">
                  <a16:creationId xmlns:a16="http://schemas.microsoft.com/office/drawing/2014/main" id="{9BE7597E-D9A6-4B9B-7922-B4E142FCFF05}"/>
                </a:ext>
              </a:extLst>
            </p:cNvPr>
            <p:cNvCxnSpPr>
              <a:cxnSpLocks/>
              <a:stCxn id="541" idx="3"/>
              <a:endCxn id="529" idx="1"/>
            </p:cNvCxnSpPr>
            <p:nvPr/>
          </p:nvCxnSpPr>
          <p:spPr>
            <a:xfrm>
              <a:off x="3977580" y="4195024"/>
              <a:ext cx="354655" cy="418022"/>
            </a:xfrm>
            <a:prstGeom prst="bentConnector3">
              <a:avLst>
                <a:gd name="adj1" fmla="val 50000"/>
              </a:avLst>
            </a:prstGeom>
            <a:noFill/>
            <a:ln w="28575" cap="flat" cmpd="sng" algn="ctr">
              <a:solidFill>
                <a:srgbClr val="FF0000"/>
              </a:solidFill>
              <a:prstDash val="solid"/>
              <a:miter lim="800000"/>
              <a:tailEnd type="triangle"/>
            </a:ln>
            <a:effectLst/>
          </p:spPr>
        </p:cxnSp>
        <p:cxnSp>
          <p:nvCxnSpPr>
            <p:cNvPr id="491" name="Verbinder: gewinkelt 490">
              <a:extLst>
                <a:ext uri="{FF2B5EF4-FFF2-40B4-BE49-F238E27FC236}">
                  <a16:creationId xmlns:a16="http://schemas.microsoft.com/office/drawing/2014/main" id="{E02FC890-6F02-5F5B-FCE4-49E6B3562258}"/>
                </a:ext>
              </a:extLst>
            </p:cNvPr>
            <p:cNvCxnSpPr>
              <a:cxnSpLocks/>
              <a:stCxn id="548" idx="3"/>
              <a:endCxn id="543" idx="1"/>
            </p:cNvCxnSpPr>
            <p:nvPr/>
          </p:nvCxnSpPr>
          <p:spPr>
            <a:xfrm>
              <a:off x="2373957" y="4025847"/>
              <a:ext cx="754221" cy="169176"/>
            </a:xfrm>
            <a:prstGeom prst="bentConnector3">
              <a:avLst>
                <a:gd name="adj1" fmla="val 50000"/>
              </a:avLst>
            </a:prstGeom>
            <a:noFill/>
            <a:ln w="28575" cap="flat" cmpd="sng" algn="ctr">
              <a:solidFill>
                <a:srgbClr val="FF0000"/>
              </a:solidFill>
              <a:prstDash val="solid"/>
              <a:miter lim="800000"/>
              <a:tailEnd type="triangle"/>
            </a:ln>
            <a:effectLst/>
          </p:spPr>
        </p:cxnSp>
        <p:cxnSp>
          <p:nvCxnSpPr>
            <p:cNvPr id="492" name="Verbinder: gewinkelt 491">
              <a:extLst>
                <a:ext uri="{FF2B5EF4-FFF2-40B4-BE49-F238E27FC236}">
                  <a16:creationId xmlns:a16="http://schemas.microsoft.com/office/drawing/2014/main" id="{0D10AB79-B0A0-6B3B-462E-93BAF7B3B6DA}"/>
                </a:ext>
              </a:extLst>
            </p:cNvPr>
            <p:cNvCxnSpPr>
              <a:cxnSpLocks/>
              <a:stCxn id="594" idx="3"/>
              <a:endCxn id="543" idx="1"/>
            </p:cNvCxnSpPr>
            <p:nvPr/>
          </p:nvCxnSpPr>
          <p:spPr>
            <a:xfrm flipV="1">
              <a:off x="2391225" y="4195023"/>
              <a:ext cx="736953" cy="749375"/>
            </a:xfrm>
            <a:prstGeom prst="bentConnector3">
              <a:avLst>
                <a:gd name="adj1" fmla="val 50000"/>
              </a:avLst>
            </a:prstGeom>
            <a:noFill/>
            <a:ln w="28575" cap="flat" cmpd="sng" algn="ctr">
              <a:solidFill>
                <a:srgbClr val="FF0000"/>
              </a:solidFill>
              <a:prstDash val="solid"/>
              <a:miter lim="800000"/>
              <a:tailEnd type="triangle"/>
            </a:ln>
            <a:effectLst/>
          </p:spPr>
        </p:cxnSp>
        <p:cxnSp>
          <p:nvCxnSpPr>
            <p:cNvPr id="493" name="Verbinder: gewinkelt 492">
              <a:extLst>
                <a:ext uri="{FF2B5EF4-FFF2-40B4-BE49-F238E27FC236}">
                  <a16:creationId xmlns:a16="http://schemas.microsoft.com/office/drawing/2014/main" id="{E2D691C2-4DCB-31E9-4331-AFEE107332D0}"/>
                </a:ext>
              </a:extLst>
            </p:cNvPr>
            <p:cNvCxnSpPr>
              <a:cxnSpLocks/>
              <a:stCxn id="608" idx="3"/>
              <a:endCxn id="559" idx="3"/>
            </p:cNvCxnSpPr>
            <p:nvPr/>
          </p:nvCxnSpPr>
          <p:spPr>
            <a:xfrm>
              <a:off x="6231984" y="2981305"/>
              <a:ext cx="811610" cy="842939"/>
            </a:xfrm>
            <a:prstGeom prst="bentConnector3">
              <a:avLst>
                <a:gd name="adj1" fmla="val 50000"/>
              </a:avLst>
            </a:prstGeom>
            <a:noFill/>
            <a:ln w="28575" cap="flat" cmpd="sng" algn="ctr">
              <a:solidFill>
                <a:srgbClr val="F59C00"/>
              </a:solidFill>
              <a:prstDash val="solid"/>
              <a:miter lim="800000"/>
              <a:tailEnd type="triangle"/>
            </a:ln>
            <a:effectLst/>
          </p:spPr>
        </p:cxnSp>
        <p:cxnSp>
          <p:nvCxnSpPr>
            <p:cNvPr id="494" name="Verbinder: gewinkelt 493">
              <a:extLst>
                <a:ext uri="{FF2B5EF4-FFF2-40B4-BE49-F238E27FC236}">
                  <a16:creationId xmlns:a16="http://schemas.microsoft.com/office/drawing/2014/main" id="{2FDE6E55-C01C-6E9F-0474-D85A41B650FF}"/>
                </a:ext>
              </a:extLst>
            </p:cNvPr>
            <p:cNvCxnSpPr>
              <a:cxnSpLocks/>
              <a:stCxn id="605" idx="3"/>
            </p:cNvCxnSpPr>
            <p:nvPr/>
          </p:nvCxnSpPr>
          <p:spPr>
            <a:xfrm>
              <a:off x="4954467" y="3377469"/>
              <a:ext cx="2026463" cy="454111"/>
            </a:xfrm>
            <a:prstGeom prst="bentConnector3">
              <a:avLst>
                <a:gd name="adj1" fmla="val 50000"/>
              </a:avLst>
            </a:prstGeom>
            <a:noFill/>
            <a:ln w="28575" cap="flat" cmpd="sng" algn="ctr">
              <a:solidFill>
                <a:srgbClr val="BCCF00"/>
              </a:solidFill>
              <a:prstDash val="solid"/>
              <a:miter lim="800000"/>
              <a:tailEnd type="triangle"/>
            </a:ln>
            <a:effectLst/>
          </p:spPr>
        </p:cxnSp>
        <p:cxnSp>
          <p:nvCxnSpPr>
            <p:cNvPr id="495" name="Verbinder: gewinkelt 494">
              <a:extLst>
                <a:ext uri="{FF2B5EF4-FFF2-40B4-BE49-F238E27FC236}">
                  <a16:creationId xmlns:a16="http://schemas.microsoft.com/office/drawing/2014/main" id="{CD4249F8-D2FB-4EEA-CFC5-43FF69B0980D}"/>
                </a:ext>
              </a:extLst>
            </p:cNvPr>
            <p:cNvCxnSpPr>
              <a:cxnSpLocks/>
              <a:stCxn id="534" idx="3"/>
              <a:endCxn id="549" idx="3"/>
            </p:cNvCxnSpPr>
            <p:nvPr/>
          </p:nvCxnSpPr>
          <p:spPr>
            <a:xfrm flipV="1">
              <a:off x="6381160" y="4201121"/>
              <a:ext cx="400172" cy="198049"/>
            </a:xfrm>
            <a:prstGeom prst="bentConnector3">
              <a:avLst>
                <a:gd name="adj1" fmla="val 50000"/>
              </a:avLst>
            </a:prstGeom>
            <a:noFill/>
            <a:ln w="28575" cap="flat" cmpd="sng" algn="ctr">
              <a:solidFill>
                <a:srgbClr val="FF0000"/>
              </a:solidFill>
              <a:prstDash val="solid"/>
              <a:miter lim="800000"/>
              <a:tailEnd type="triangle"/>
            </a:ln>
            <a:effectLst/>
          </p:spPr>
        </p:cxnSp>
        <p:cxnSp>
          <p:nvCxnSpPr>
            <p:cNvPr id="496" name="Verbinder: gewinkelt 495">
              <a:extLst>
                <a:ext uri="{FF2B5EF4-FFF2-40B4-BE49-F238E27FC236}">
                  <a16:creationId xmlns:a16="http://schemas.microsoft.com/office/drawing/2014/main" id="{17C500AF-C3AA-BC7D-31F4-FA073A893857}"/>
                </a:ext>
              </a:extLst>
            </p:cNvPr>
            <p:cNvCxnSpPr>
              <a:cxnSpLocks/>
              <a:stCxn id="461" idx="2"/>
              <a:endCxn id="544" idx="1"/>
            </p:cNvCxnSpPr>
            <p:nvPr/>
          </p:nvCxnSpPr>
          <p:spPr>
            <a:xfrm rot="10800000" flipV="1">
              <a:off x="3178215" y="1983381"/>
              <a:ext cx="374664" cy="2118147"/>
            </a:xfrm>
            <a:prstGeom prst="bentConnector3">
              <a:avLst>
                <a:gd name="adj1" fmla="val 161015"/>
              </a:avLst>
            </a:prstGeom>
            <a:noFill/>
            <a:ln w="28575" cap="flat" cmpd="sng" algn="ctr">
              <a:solidFill>
                <a:srgbClr val="950F53"/>
              </a:solidFill>
              <a:prstDash val="solid"/>
              <a:miter lim="800000"/>
              <a:tailEnd type="triangle"/>
            </a:ln>
            <a:effectLst/>
          </p:spPr>
        </p:cxnSp>
        <p:sp>
          <p:nvSpPr>
            <p:cNvPr id="497" name="Textfeld 496">
              <a:extLst>
                <a:ext uri="{FF2B5EF4-FFF2-40B4-BE49-F238E27FC236}">
                  <a16:creationId xmlns:a16="http://schemas.microsoft.com/office/drawing/2014/main" id="{C95B31FC-E0F4-1044-BD1D-6729D9EB4970}"/>
                </a:ext>
              </a:extLst>
            </p:cNvPr>
            <p:cNvSpPr txBox="1"/>
            <p:nvPr/>
          </p:nvSpPr>
          <p:spPr>
            <a:xfrm>
              <a:off x="1386715" y="5270721"/>
              <a:ext cx="3255889" cy="430887"/>
            </a:xfrm>
            <a:prstGeom prst="rect">
              <a:avLst/>
            </a:prstGeom>
            <a:noFill/>
          </p:spPr>
          <p:txBody>
            <a:bodyPr wrap="square">
              <a:spAutoFit/>
            </a:bodyPr>
            <a:lstStyle/>
            <a:p>
              <a:pPr defTabSz="914339">
                <a:defRPr/>
              </a:pPr>
              <a:r>
                <a:rPr lang="en-GB" sz="1100" b="1" kern="0" dirty="0">
                  <a:solidFill>
                    <a:srgbClr val="E6EFF3">
                      <a:lumMod val="75000"/>
                    </a:srgbClr>
                  </a:solidFill>
                  <a:latin typeface="Aptos" panose="020B0004020202020204" pitchFamily="34" charset="0"/>
                </a:rPr>
                <a:t>Systemgrenze </a:t>
              </a:r>
            </a:p>
            <a:p>
              <a:pPr defTabSz="914339">
                <a:defRPr/>
              </a:pPr>
              <a:r>
                <a:rPr lang="en-GB" sz="1100" i="1" kern="0" dirty="0">
                  <a:solidFill>
                    <a:srgbClr val="E6EFF3">
                      <a:lumMod val="75000"/>
                    </a:srgbClr>
                  </a:solidFill>
                  <a:latin typeface="Aptos" panose="020B0004020202020204" pitchFamily="34" charset="0"/>
                </a:rPr>
                <a:t>System Boundary</a:t>
              </a:r>
            </a:p>
          </p:txBody>
        </p:sp>
        <p:sp>
          <p:nvSpPr>
            <p:cNvPr id="498" name="Battery4" descr="{&quot;Key&quot;:&quot;POWER_USER_SHAPE_ICON&quot;,&quot;Value&quot;:&quot;POWER_USER_SHAPE_ICON_STYLE_1&quot;}">
              <a:extLst>
                <a:ext uri="{FF2B5EF4-FFF2-40B4-BE49-F238E27FC236}">
                  <a16:creationId xmlns:a16="http://schemas.microsoft.com/office/drawing/2014/main" id="{0FC14980-1D82-64DB-CF02-5CAE7EAC648C}"/>
                </a:ext>
              </a:extLst>
            </p:cNvPr>
            <p:cNvSpPr>
              <a:spLocks noChangeAspect="1" noEditPoints="1"/>
            </p:cNvSpPr>
            <p:nvPr>
              <p:custDataLst>
                <p:tags r:id="rId7"/>
              </p:custDataLst>
            </p:nvPr>
          </p:nvSpPr>
          <p:spPr bwMode="auto">
            <a:xfrm>
              <a:off x="4484070" y="3072067"/>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BCCF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sp>
          <p:nvSpPr>
            <p:cNvPr id="499" name="Battery4" descr="{&quot;Key&quot;:&quot;POWER_USER_SHAPE_ICON&quot;,&quot;Value&quot;:&quot;POWER_USER_SHAPE_ICON_STYLE_1&quot;}">
              <a:extLst>
                <a:ext uri="{FF2B5EF4-FFF2-40B4-BE49-F238E27FC236}">
                  <a16:creationId xmlns:a16="http://schemas.microsoft.com/office/drawing/2014/main" id="{5D005567-E2C2-E342-6689-DE716EDCBDE5}"/>
                </a:ext>
              </a:extLst>
            </p:cNvPr>
            <p:cNvSpPr>
              <a:spLocks noChangeAspect="1" noEditPoints="1"/>
            </p:cNvSpPr>
            <p:nvPr>
              <p:custDataLst>
                <p:tags r:id="rId8"/>
              </p:custDataLst>
            </p:nvPr>
          </p:nvSpPr>
          <p:spPr bwMode="auto">
            <a:xfrm>
              <a:off x="5632263" y="2736363"/>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sp>
          <p:nvSpPr>
            <p:cNvPr id="500" name="Textfeld 499">
              <a:extLst>
                <a:ext uri="{FF2B5EF4-FFF2-40B4-BE49-F238E27FC236}">
                  <a16:creationId xmlns:a16="http://schemas.microsoft.com/office/drawing/2014/main" id="{6BB9289A-BB03-D955-FE2F-21A70AE10CC4}"/>
                </a:ext>
              </a:extLst>
            </p:cNvPr>
            <p:cNvSpPr txBox="1"/>
            <p:nvPr/>
          </p:nvSpPr>
          <p:spPr>
            <a:xfrm>
              <a:off x="8753157" y="577266"/>
              <a:ext cx="542136" cy="246221"/>
            </a:xfrm>
            <a:prstGeom prst="rect">
              <a:avLst/>
            </a:prstGeom>
            <a:noFill/>
          </p:spPr>
          <p:txBody>
            <a:bodyPr wrap="none" rtlCol="0">
              <a:spAutoFit/>
            </a:bodyPr>
            <a:lstStyle/>
            <a:p>
              <a:pPr algn="ctr" defTabSz="914339">
                <a:defRPr/>
              </a:pPr>
              <a:r>
                <a:rPr lang="en-GB" sz="1000" b="1" kern="0" dirty="0">
                  <a:solidFill>
                    <a:prstClr val="black"/>
                  </a:solidFill>
                  <a:latin typeface="Aptos" panose="020B0004020202020204" pitchFamily="34" charset="0"/>
                </a:rPr>
                <a:t>Strom</a:t>
              </a:r>
              <a:endParaRPr lang="de-AT" sz="1000" b="1" kern="0" dirty="0">
                <a:solidFill>
                  <a:prstClr val="black"/>
                </a:solidFill>
                <a:latin typeface="Aptos" panose="020B0004020202020204" pitchFamily="34" charset="0"/>
              </a:endParaRPr>
            </a:p>
          </p:txBody>
        </p:sp>
        <p:sp>
          <p:nvSpPr>
            <p:cNvPr id="501" name="Textfeld 500">
              <a:extLst>
                <a:ext uri="{FF2B5EF4-FFF2-40B4-BE49-F238E27FC236}">
                  <a16:creationId xmlns:a16="http://schemas.microsoft.com/office/drawing/2014/main" id="{0B2FB906-610E-7CDE-84AE-E5DE478E657A}"/>
                </a:ext>
              </a:extLst>
            </p:cNvPr>
            <p:cNvSpPr txBox="1"/>
            <p:nvPr/>
          </p:nvSpPr>
          <p:spPr>
            <a:xfrm>
              <a:off x="9201323" y="577266"/>
              <a:ext cx="776175" cy="246221"/>
            </a:xfrm>
            <a:prstGeom prst="rect">
              <a:avLst/>
            </a:prstGeom>
            <a:noFill/>
          </p:spPr>
          <p:txBody>
            <a:bodyPr wrap="none" rtlCol="0">
              <a:spAutoFit/>
            </a:bodyPr>
            <a:lstStyle/>
            <a:p>
              <a:pPr algn="ctr" defTabSz="914339">
                <a:defRPr/>
              </a:pPr>
              <a:r>
                <a:rPr lang="en-GB" sz="1000" b="1" i="1" kern="0" dirty="0">
                  <a:solidFill>
                    <a:prstClr val="black"/>
                  </a:solidFill>
                  <a:latin typeface="Aptos" panose="020B0004020202020204" pitchFamily="34" charset="0"/>
                </a:rPr>
                <a:t>Electricity</a:t>
              </a:r>
              <a:endParaRPr lang="de-AT" sz="1000" b="1" i="1" kern="0" dirty="0">
                <a:solidFill>
                  <a:prstClr val="black"/>
                </a:solidFill>
                <a:latin typeface="Aptos" panose="020B0004020202020204" pitchFamily="34" charset="0"/>
              </a:endParaRPr>
            </a:p>
          </p:txBody>
        </p:sp>
        <p:grpSp>
          <p:nvGrpSpPr>
            <p:cNvPr id="502" name="Gruppieren 501">
              <a:extLst>
                <a:ext uri="{FF2B5EF4-FFF2-40B4-BE49-F238E27FC236}">
                  <a16:creationId xmlns:a16="http://schemas.microsoft.com/office/drawing/2014/main" id="{0305FCBF-B7FE-DAAE-C6DC-0016C8BBA71C}"/>
                </a:ext>
              </a:extLst>
            </p:cNvPr>
            <p:cNvGrpSpPr/>
            <p:nvPr/>
          </p:nvGrpSpPr>
          <p:grpSpPr>
            <a:xfrm>
              <a:off x="8817512" y="1122585"/>
              <a:ext cx="1276686" cy="380387"/>
              <a:chOff x="804359" y="759914"/>
              <a:chExt cx="1276686" cy="380387"/>
            </a:xfrm>
          </p:grpSpPr>
          <p:cxnSp>
            <p:nvCxnSpPr>
              <p:cNvPr id="520" name="Gerade Verbindung mit Pfeil 519">
                <a:extLst>
                  <a:ext uri="{FF2B5EF4-FFF2-40B4-BE49-F238E27FC236}">
                    <a16:creationId xmlns:a16="http://schemas.microsoft.com/office/drawing/2014/main" id="{A6FE9266-DF55-F510-613A-7C342AE989F4}"/>
                  </a:ext>
                </a:extLst>
              </p:cNvPr>
              <p:cNvCxnSpPr/>
              <p:nvPr/>
            </p:nvCxnSpPr>
            <p:spPr>
              <a:xfrm>
                <a:off x="837020" y="783908"/>
                <a:ext cx="1244025" cy="0"/>
              </a:xfrm>
              <a:prstGeom prst="straightConnector1">
                <a:avLst/>
              </a:prstGeom>
              <a:noFill/>
              <a:ln w="28575" cap="flat" cmpd="sng" algn="ctr">
                <a:solidFill>
                  <a:srgbClr val="5FB564"/>
                </a:solidFill>
                <a:prstDash val="solid"/>
                <a:miter lim="800000"/>
                <a:tailEnd type="triangle"/>
              </a:ln>
              <a:effectLst/>
            </p:spPr>
          </p:cxnSp>
          <p:sp>
            <p:nvSpPr>
              <p:cNvPr id="521" name="Textfeld 520">
                <a:extLst>
                  <a:ext uri="{FF2B5EF4-FFF2-40B4-BE49-F238E27FC236}">
                    <a16:creationId xmlns:a16="http://schemas.microsoft.com/office/drawing/2014/main" id="{B1526586-7FE9-09B6-B9CF-1F1130458984}"/>
                  </a:ext>
                </a:extLst>
              </p:cNvPr>
              <p:cNvSpPr txBox="1"/>
              <p:nvPr/>
            </p:nvSpPr>
            <p:spPr>
              <a:xfrm>
                <a:off x="804359" y="759914"/>
                <a:ext cx="1213794" cy="246221"/>
              </a:xfrm>
              <a:prstGeom prst="rect">
                <a:avLst/>
              </a:prstGeom>
              <a:noFill/>
            </p:spPr>
            <p:txBody>
              <a:bodyPr wrap="none" rtlCol="0">
                <a:spAutoFit/>
              </a:bodyPr>
              <a:lstStyle/>
              <a:p>
                <a:pPr defTabSz="914339">
                  <a:defRPr/>
                </a:pPr>
                <a:r>
                  <a:rPr lang="en-GB" sz="1000" kern="0" dirty="0">
                    <a:solidFill>
                      <a:prstClr val="black"/>
                    </a:solidFill>
                    <a:latin typeface="Aptos" panose="020B0004020202020204" pitchFamily="34" charset="0"/>
                  </a:rPr>
                  <a:t>PV Eigenverbrauch</a:t>
                </a:r>
                <a:endParaRPr lang="de-AT" sz="1000" kern="0" dirty="0">
                  <a:solidFill>
                    <a:prstClr val="black"/>
                  </a:solidFill>
                  <a:latin typeface="Aptos" panose="020B0004020202020204" pitchFamily="34" charset="0"/>
                </a:endParaRPr>
              </a:p>
            </p:txBody>
          </p:sp>
          <p:sp>
            <p:nvSpPr>
              <p:cNvPr id="522" name="Textfeld 521">
                <a:extLst>
                  <a:ext uri="{FF2B5EF4-FFF2-40B4-BE49-F238E27FC236}">
                    <a16:creationId xmlns:a16="http://schemas.microsoft.com/office/drawing/2014/main" id="{91671700-C945-72FA-4482-EA20F92AE17A}"/>
                  </a:ext>
                </a:extLst>
              </p:cNvPr>
              <p:cNvSpPr txBox="1"/>
              <p:nvPr/>
            </p:nvSpPr>
            <p:spPr>
              <a:xfrm>
                <a:off x="804359" y="894080"/>
                <a:ext cx="907621" cy="246221"/>
              </a:xfrm>
              <a:prstGeom prst="rect">
                <a:avLst/>
              </a:prstGeom>
              <a:noFill/>
            </p:spPr>
            <p:txBody>
              <a:bodyPr wrap="none" rtlCol="0">
                <a:spAutoFit/>
              </a:bodyPr>
              <a:lstStyle/>
              <a:p>
                <a:pPr defTabSz="914339">
                  <a:defRPr/>
                </a:pPr>
                <a:r>
                  <a:rPr lang="en-GB" sz="1000" i="1" kern="0" dirty="0">
                    <a:solidFill>
                      <a:prstClr val="black"/>
                    </a:solidFill>
                    <a:latin typeface="Aptos" panose="020B0004020202020204" pitchFamily="34" charset="0"/>
                  </a:rPr>
                  <a:t>PV direct use</a:t>
                </a:r>
                <a:endParaRPr lang="de-AT" sz="1000" i="1" kern="0" dirty="0">
                  <a:solidFill>
                    <a:prstClr val="black"/>
                  </a:solidFill>
                  <a:latin typeface="Aptos" panose="020B0004020202020204" pitchFamily="34" charset="0"/>
                </a:endParaRPr>
              </a:p>
            </p:txBody>
          </p:sp>
        </p:grpSp>
        <p:grpSp>
          <p:nvGrpSpPr>
            <p:cNvPr id="503" name="Gruppieren 502">
              <a:extLst>
                <a:ext uri="{FF2B5EF4-FFF2-40B4-BE49-F238E27FC236}">
                  <a16:creationId xmlns:a16="http://schemas.microsoft.com/office/drawing/2014/main" id="{DC33280F-0C00-21B6-10F1-9DC99F6C1E1C}"/>
                </a:ext>
              </a:extLst>
            </p:cNvPr>
            <p:cNvGrpSpPr/>
            <p:nvPr/>
          </p:nvGrpSpPr>
          <p:grpSpPr>
            <a:xfrm>
              <a:off x="8835571" y="1469637"/>
              <a:ext cx="1370530" cy="380387"/>
              <a:chOff x="804359" y="759914"/>
              <a:chExt cx="1370530" cy="380387"/>
            </a:xfrm>
          </p:grpSpPr>
          <p:cxnSp>
            <p:nvCxnSpPr>
              <p:cNvPr id="517" name="Gerade Verbindung mit Pfeil 516">
                <a:extLst>
                  <a:ext uri="{FF2B5EF4-FFF2-40B4-BE49-F238E27FC236}">
                    <a16:creationId xmlns:a16="http://schemas.microsoft.com/office/drawing/2014/main" id="{A550A935-75F9-23E1-1CC1-1BF61A77179A}"/>
                  </a:ext>
                </a:extLst>
              </p:cNvPr>
              <p:cNvCxnSpPr/>
              <p:nvPr/>
            </p:nvCxnSpPr>
            <p:spPr>
              <a:xfrm>
                <a:off x="837020" y="783908"/>
                <a:ext cx="1244025" cy="0"/>
              </a:xfrm>
              <a:prstGeom prst="straightConnector1">
                <a:avLst/>
              </a:prstGeom>
              <a:noFill/>
              <a:ln w="28575" cap="flat" cmpd="sng" algn="ctr">
                <a:solidFill>
                  <a:srgbClr val="5FB564">
                    <a:lumMod val="60000"/>
                    <a:lumOff val="40000"/>
                  </a:srgbClr>
                </a:solidFill>
                <a:prstDash val="solid"/>
                <a:miter lim="800000"/>
                <a:tailEnd type="triangle"/>
              </a:ln>
              <a:effectLst/>
            </p:spPr>
          </p:cxnSp>
          <p:sp>
            <p:nvSpPr>
              <p:cNvPr id="518" name="Textfeld 517">
                <a:extLst>
                  <a:ext uri="{FF2B5EF4-FFF2-40B4-BE49-F238E27FC236}">
                    <a16:creationId xmlns:a16="http://schemas.microsoft.com/office/drawing/2014/main" id="{D8E0E75E-7B4C-1294-D426-5E3311E346DA}"/>
                  </a:ext>
                </a:extLst>
              </p:cNvPr>
              <p:cNvSpPr txBox="1"/>
              <p:nvPr/>
            </p:nvSpPr>
            <p:spPr>
              <a:xfrm>
                <a:off x="804359" y="759914"/>
                <a:ext cx="1370530" cy="246221"/>
              </a:xfrm>
              <a:prstGeom prst="rect">
                <a:avLst/>
              </a:prstGeom>
              <a:noFill/>
            </p:spPr>
            <p:txBody>
              <a:bodyPr wrap="square" rtlCol="0">
                <a:spAutoFit/>
              </a:bodyPr>
              <a:lstStyle/>
              <a:p>
                <a:pPr defTabSz="914339">
                  <a:defRPr/>
                </a:pPr>
                <a:r>
                  <a:rPr lang="en-GB" sz="1000" kern="0" dirty="0">
                    <a:solidFill>
                      <a:prstClr val="black"/>
                    </a:solidFill>
                    <a:latin typeface="Aptos" panose="020B0004020202020204" pitchFamily="34" charset="0"/>
                  </a:rPr>
                  <a:t>PV Netzeinspeisung</a:t>
                </a:r>
                <a:endParaRPr lang="de-AT" sz="1000" kern="0" dirty="0">
                  <a:solidFill>
                    <a:prstClr val="black"/>
                  </a:solidFill>
                  <a:latin typeface="Aptos" panose="020B0004020202020204" pitchFamily="34" charset="0"/>
                </a:endParaRPr>
              </a:p>
            </p:txBody>
          </p:sp>
          <p:sp>
            <p:nvSpPr>
              <p:cNvPr id="519" name="Textfeld 518">
                <a:extLst>
                  <a:ext uri="{FF2B5EF4-FFF2-40B4-BE49-F238E27FC236}">
                    <a16:creationId xmlns:a16="http://schemas.microsoft.com/office/drawing/2014/main" id="{3A4BD92D-FC4D-FDC0-9999-267673256022}"/>
                  </a:ext>
                </a:extLst>
              </p:cNvPr>
              <p:cNvSpPr txBox="1"/>
              <p:nvPr/>
            </p:nvSpPr>
            <p:spPr>
              <a:xfrm>
                <a:off x="804359" y="894080"/>
                <a:ext cx="1184940" cy="246221"/>
              </a:xfrm>
              <a:prstGeom prst="rect">
                <a:avLst/>
              </a:prstGeom>
              <a:noFill/>
            </p:spPr>
            <p:txBody>
              <a:bodyPr wrap="none" rtlCol="0">
                <a:spAutoFit/>
              </a:bodyPr>
              <a:lstStyle/>
              <a:p>
                <a:pPr defTabSz="914339">
                  <a:defRPr/>
                </a:pPr>
                <a:r>
                  <a:rPr lang="en-GB" sz="1000" i="1" kern="0" dirty="0">
                    <a:solidFill>
                      <a:prstClr val="black"/>
                    </a:solidFill>
                    <a:latin typeface="Aptos" panose="020B0004020202020204" pitchFamily="34" charset="0"/>
                  </a:rPr>
                  <a:t>PV feed-in surplus</a:t>
                </a:r>
                <a:endParaRPr lang="de-AT" sz="1000" i="1" kern="0" dirty="0">
                  <a:solidFill>
                    <a:prstClr val="black"/>
                  </a:solidFill>
                  <a:latin typeface="Aptos" panose="020B0004020202020204" pitchFamily="34" charset="0"/>
                </a:endParaRPr>
              </a:p>
            </p:txBody>
          </p:sp>
        </p:grpSp>
        <p:grpSp>
          <p:nvGrpSpPr>
            <p:cNvPr id="504" name="Gruppieren 503">
              <a:extLst>
                <a:ext uri="{FF2B5EF4-FFF2-40B4-BE49-F238E27FC236}">
                  <a16:creationId xmlns:a16="http://schemas.microsoft.com/office/drawing/2014/main" id="{6C0BB4C9-365E-0AAA-8D05-30B158E309C6}"/>
                </a:ext>
              </a:extLst>
            </p:cNvPr>
            <p:cNvGrpSpPr/>
            <p:nvPr/>
          </p:nvGrpSpPr>
          <p:grpSpPr>
            <a:xfrm>
              <a:off x="8828876" y="1816464"/>
              <a:ext cx="1377225" cy="380387"/>
              <a:chOff x="804358" y="759914"/>
              <a:chExt cx="1377225" cy="380387"/>
            </a:xfrm>
          </p:grpSpPr>
          <p:cxnSp>
            <p:nvCxnSpPr>
              <p:cNvPr id="514" name="Gerade Verbindung mit Pfeil 513">
                <a:extLst>
                  <a:ext uri="{FF2B5EF4-FFF2-40B4-BE49-F238E27FC236}">
                    <a16:creationId xmlns:a16="http://schemas.microsoft.com/office/drawing/2014/main" id="{A6131EE2-D008-3CA3-1B10-4711B560AFE4}"/>
                  </a:ext>
                </a:extLst>
              </p:cNvPr>
              <p:cNvCxnSpPr/>
              <p:nvPr/>
            </p:nvCxnSpPr>
            <p:spPr>
              <a:xfrm>
                <a:off x="837020" y="783908"/>
                <a:ext cx="1244025" cy="0"/>
              </a:xfrm>
              <a:prstGeom prst="straightConnector1">
                <a:avLst/>
              </a:prstGeom>
              <a:noFill/>
              <a:ln w="28575" cap="flat" cmpd="sng" algn="ctr">
                <a:solidFill>
                  <a:srgbClr val="BCCF00">
                    <a:lumMod val="60000"/>
                    <a:lumOff val="40000"/>
                  </a:srgbClr>
                </a:solidFill>
                <a:prstDash val="solid"/>
                <a:miter lim="800000"/>
                <a:tailEnd type="triangle"/>
              </a:ln>
              <a:effectLst/>
            </p:spPr>
          </p:cxnSp>
          <p:sp>
            <p:nvSpPr>
              <p:cNvPr id="515" name="Textfeld 514">
                <a:extLst>
                  <a:ext uri="{FF2B5EF4-FFF2-40B4-BE49-F238E27FC236}">
                    <a16:creationId xmlns:a16="http://schemas.microsoft.com/office/drawing/2014/main" id="{4AE794DF-24A7-53A0-70D1-E79F16F110D7}"/>
                  </a:ext>
                </a:extLst>
              </p:cNvPr>
              <p:cNvSpPr txBox="1"/>
              <p:nvPr/>
            </p:nvSpPr>
            <p:spPr>
              <a:xfrm>
                <a:off x="804358" y="759914"/>
                <a:ext cx="1377225" cy="246221"/>
              </a:xfrm>
              <a:prstGeom prst="rect">
                <a:avLst/>
              </a:prstGeom>
              <a:noFill/>
            </p:spPr>
            <p:txBody>
              <a:bodyPr wrap="square" rtlCol="0">
                <a:spAutoFit/>
              </a:bodyPr>
              <a:lstStyle/>
              <a:p>
                <a:pPr defTabSz="914339">
                  <a:defRPr/>
                </a:pPr>
                <a:r>
                  <a:rPr lang="en-GB" sz="1000" kern="0" dirty="0">
                    <a:solidFill>
                      <a:prstClr val="black"/>
                    </a:solidFill>
                    <a:latin typeface="Aptos" panose="020B0004020202020204" pitchFamily="34" charset="0"/>
                  </a:rPr>
                  <a:t>Flexibler Netzbezug</a:t>
                </a:r>
                <a:endParaRPr lang="de-AT" sz="1000" kern="0" dirty="0">
                  <a:solidFill>
                    <a:prstClr val="black"/>
                  </a:solidFill>
                  <a:latin typeface="Aptos" panose="020B0004020202020204" pitchFamily="34" charset="0"/>
                </a:endParaRPr>
              </a:p>
            </p:txBody>
          </p:sp>
          <p:sp>
            <p:nvSpPr>
              <p:cNvPr id="516" name="Textfeld 515">
                <a:extLst>
                  <a:ext uri="{FF2B5EF4-FFF2-40B4-BE49-F238E27FC236}">
                    <a16:creationId xmlns:a16="http://schemas.microsoft.com/office/drawing/2014/main" id="{19DBDB7B-6C72-A5C6-A83C-F3021A4C7CE9}"/>
                  </a:ext>
                </a:extLst>
              </p:cNvPr>
              <p:cNvSpPr txBox="1"/>
              <p:nvPr/>
            </p:nvSpPr>
            <p:spPr>
              <a:xfrm>
                <a:off x="804359" y="894080"/>
                <a:ext cx="1074333" cy="246221"/>
              </a:xfrm>
              <a:prstGeom prst="rect">
                <a:avLst/>
              </a:prstGeom>
              <a:noFill/>
            </p:spPr>
            <p:txBody>
              <a:bodyPr wrap="none" rtlCol="0">
                <a:spAutoFit/>
              </a:bodyPr>
              <a:lstStyle/>
              <a:p>
                <a:pPr defTabSz="914339">
                  <a:defRPr/>
                </a:pPr>
                <a:r>
                  <a:rPr lang="de-DE" sz="1000" i="1" kern="0" dirty="0">
                    <a:solidFill>
                      <a:prstClr val="black"/>
                    </a:solidFill>
                    <a:latin typeface="Aptos" panose="020B0004020202020204" pitchFamily="34" charset="0"/>
                  </a:rPr>
                  <a:t>Flexible grid use</a:t>
                </a:r>
                <a:endParaRPr lang="de-AT" sz="1000" i="1" kern="0" dirty="0">
                  <a:solidFill>
                    <a:prstClr val="black"/>
                  </a:solidFill>
                  <a:latin typeface="Aptos" panose="020B0004020202020204" pitchFamily="34" charset="0"/>
                </a:endParaRPr>
              </a:p>
            </p:txBody>
          </p:sp>
        </p:grpSp>
        <p:grpSp>
          <p:nvGrpSpPr>
            <p:cNvPr id="505" name="Gruppieren 504">
              <a:extLst>
                <a:ext uri="{FF2B5EF4-FFF2-40B4-BE49-F238E27FC236}">
                  <a16:creationId xmlns:a16="http://schemas.microsoft.com/office/drawing/2014/main" id="{1520E170-9FB0-FEBE-B5A2-9275C34DE80E}"/>
                </a:ext>
              </a:extLst>
            </p:cNvPr>
            <p:cNvGrpSpPr/>
            <p:nvPr/>
          </p:nvGrpSpPr>
          <p:grpSpPr>
            <a:xfrm>
              <a:off x="8835571" y="2267059"/>
              <a:ext cx="1276686" cy="380387"/>
              <a:chOff x="804359" y="759914"/>
              <a:chExt cx="1276686" cy="380387"/>
            </a:xfrm>
          </p:grpSpPr>
          <p:cxnSp>
            <p:nvCxnSpPr>
              <p:cNvPr id="511" name="Gerade Verbindung mit Pfeil 510">
                <a:extLst>
                  <a:ext uri="{FF2B5EF4-FFF2-40B4-BE49-F238E27FC236}">
                    <a16:creationId xmlns:a16="http://schemas.microsoft.com/office/drawing/2014/main" id="{06E6B52E-AB8B-6442-D4A2-61961104902E}"/>
                  </a:ext>
                </a:extLst>
              </p:cNvPr>
              <p:cNvCxnSpPr/>
              <p:nvPr/>
            </p:nvCxnSpPr>
            <p:spPr>
              <a:xfrm>
                <a:off x="837020" y="783908"/>
                <a:ext cx="1244025" cy="0"/>
              </a:xfrm>
              <a:prstGeom prst="straightConnector1">
                <a:avLst/>
              </a:prstGeom>
              <a:noFill/>
              <a:ln w="28575" cap="flat" cmpd="sng" algn="ctr">
                <a:solidFill>
                  <a:srgbClr val="BCCF00"/>
                </a:solidFill>
                <a:prstDash val="solid"/>
                <a:miter lim="800000"/>
                <a:tailEnd type="triangle"/>
              </a:ln>
              <a:effectLst/>
            </p:spPr>
          </p:cxnSp>
          <p:sp>
            <p:nvSpPr>
              <p:cNvPr id="512" name="Textfeld 511">
                <a:extLst>
                  <a:ext uri="{FF2B5EF4-FFF2-40B4-BE49-F238E27FC236}">
                    <a16:creationId xmlns:a16="http://schemas.microsoft.com/office/drawing/2014/main" id="{B0E15911-2C5D-E03E-AF47-328738E67DE0}"/>
                  </a:ext>
                </a:extLst>
              </p:cNvPr>
              <p:cNvSpPr txBox="1"/>
              <p:nvPr/>
            </p:nvSpPr>
            <p:spPr>
              <a:xfrm>
                <a:off x="804359" y="759914"/>
                <a:ext cx="1100828" cy="246221"/>
              </a:xfrm>
              <a:prstGeom prst="rect">
                <a:avLst/>
              </a:prstGeom>
              <a:noFill/>
            </p:spPr>
            <p:txBody>
              <a:bodyPr wrap="square" rtlCol="0">
                <a:spAutoFit/>
              </a:bodyPr>
              <a:lstStyle/>
              <a:p>
                <a:pPr defTabSz="914339">
                  <a:defRPr/>
                </a:pPr>
                <a:r>
                  <a:rPr lang="en-GB" sz="1000" kern="0" dirty="0">
                    <a:solidFill>
                      <a:prstClr val="black"/>
                    </a:solidFill>
                    <a:latin typeface="Aptos" panose="020B0004020202020204" pitchFamily="34" charset="0"/>
                  </a:rPr>
                  <a:t>Batterienutzung</a:t>
                </a:r>
                <a:endParaRPr lang="de-AT" sz="1000" kern="0" dirty="0">
                  <a:solidFill>
                    <a:prstClr val="black"/>
                  </a:solidFill>
                  <a:latin typeface="Aptos" panose="020B0004020202020204" pitchFamily="34" charset="0"/>
                </a:endParaRPr>
              </a:p>
            </p:txBody>
          </p:sp>
          <p:sp>
            <p:nvSpPr>
              <p:cNvPr id="513" name="Textfeld 512">
                <a:extLst>
                  <a:ext uri="{FF2B5EF4-FFF2-40B4-BE49-F238E27FC236}">
                    <a16:creationId xmlns:a16="http://schemas.microsoft.com/office/drawing/2014/main" id="{AB589F2B-6A23-C58E-3594-2D6CB22C9281}"/>
                  </a:ext>
                </a:extLst>
              </p:cNvPr>
              <p:cNvSpPr txBox="1"/>
              <p:nvPr/>
            </p:nvSpPr>
            <p:spPr>
              <a:xfrm>
                <a:off x="804359" y="894080"/>
                <a:ext cx="806631" cy="246221"/>
              </a:xfrm>
              <a:prstGeom prst="rect">
                <a:avLst/>
              </a:prstGeom>
              <a:noFill/>
            </p:spPr>
            <p:txBody>
              <a:bodyPr wrap="none" rtlCol="0">
                <a:spAutoFit/>
              </a:bodyPr>
              <a:lstStyle/>
              <a:p>
                <a:pPr defTabSz="914339">
                  <a:defRPr/>
                </a:pPr>
                <a:r>
                  <a:rPr lang="de-DE" sz="1000" i="1" kern="0" dirty="0">
                    <a:solidFill>
                      <a:prstClr val="black"/>
                    </a:solidFill>
                    <a:latin typeface="Aptos" panose="020B0004020202020204" pitchFamily="34" charset="0"/>
                  </a:rPr>
                  <a:t>Battery use</a:t>
                </a:r>
                <a:endParaRPr lang="de-AT" sz="1000" i="1" kern="0" dirty="0">
                  <a:solidFill>
                    <a:prstClr val="black"/>
                  </a:solidFill>
                  <a:latin typeface="Aptos" panose="020B0004020202020204" pitchFamily="34" charset="0"/>
                </a:endParaRPr>
              </a:p>
            </p:txBody>
          </p:sp>
        </p:grpSp>
        <p:cxnSp>
          <p:nvCxnSpPr>
            <p:cNvPr id="506" name="Gerade Verbindung mit Pfeil 505">
              <a:extLst>
                <a:ext uri="{FF2B5EF4-FFF2-40B4-BE49-F238E27FC236}">
                  <a16:creationId xmlns:a16="http://schemas.microsoft.com/office/drawing/2014/main" id="{71246A9D-FC27-F3F2-F875-52D68A778157}"/>
                </a:ext>
              </a:extLst>
            </p:cNvPr>
            <p:cNvCxnSpPr>
              <a:cxnSpLocks/>
            </p:cNvCxnSpPr>
            <p:nvPr/>
          </p:nvCxnSpPr>
          <p:spPr>
            <a:xfrm>
              <a:off x="8864577" y="2193454"/>
              <a:ext cx="1244025" cy="0"/>
            </a:xfrm>
            <a:prstGeom prst="straightConnector1">
              <a:avLst/>
            </a:prstGeom>
            <a:noFill/>
            <a:ln w="28575" cap="flat" cmpd="sng" algn="ctr">
              <a:solidFill>
                <a:srgbClr val="F59C00"/>
              </a:solidFill>
              <a:prstDash val="solid"/>
              <a:miter lim="800000"/>
              <a:tailEnd type="triangle"/>
            </a:ln>
            <a:effectLst/>
          </p:spPr>
        </p:cxnSp>
        <p:cxnSp>
          <p:nvCxnSpPr>
            <p:cNvPr id="507" name="Verbinder: gewinkelt 506">
              <a:extLst>
                <a:ext uri="{FF2B5EF4-FFF2-40B4-BE49-F238E27FC236}">
                  <a16:creationId xmlns:a16="http://schemas.microsoft.com/office/drawing/2014/main" id="{BBE0B2AD-0CEF-19C9-9A52-C19AFD8BDD50}"/>
                </a:ext>
              </a:extLst>
            </p:cNvPr>
            <p:cNvCxnSpPr>
              <a:cxnSpLocks/>
              <a:stCxn id="605" idx="3"/>
              <a:endCxn id="544" idx="1"/>
            </p:cNvCxnSpPr>
            <p:nvPr/>
          </p:nvCxnSpPr>
          <p:spPr>
            <a:xfrm flipH="1">
              <a:off x="3178215" y="3377469"/>
              <a:ext cx="1776252" cy="724060"/>
            </a:xfrm>
            <a:prstGeom prst="bentConnector5">
              <a:avLst>
                <a:gd name="adj1" fmla="val -12870"/>
                <a:gd name="adj2" fmla="val 55313"/>
                <a:gd name="adj3" fmla="val 112870"/>
              </a:avLst>
            </a:prstGeom>
            <a:noFill/>
            <a:ln w="28575" cap="flat" cmpd="sng" algn="ctr">
              <a:solidFill>
                <a:srgbClr val="BCCF00"/>
              </a:solidFill>
              <a:prstDash val="solid"/>
              <a:miter lim="800000"/>
              <a:tailEnd type="triangle"/>
            </a:ln>
            <a:effectLst/>
          </p:spPr>
        </p:cxnSp>
        <p:cxnSp>
          <p:nvCxnSpPr>
            <p:cNvPr id="508" name="Verbinder: gewinkelt 507">
              <a:extLst>
                <a:ext uri="{FF2B5EF4-FFF2-40B4-BE49-F238E27FC236}">
                  <a16:creationId xmlns:a16="http://schemas.microsoft.com/office/drawing/2014/main" id="{D0A85B75-3F00-1668-7CBA-1EACBF896474}"/>
                </a:ext>
              </a:extLst>
            </p:cNvPr>
            <p:cNvCxnSpPr>
              <a:cxnSpLocks/>
              <a:stCxn id="605" idx="3"/>
              <a:endCxn id="608" idx="1"/>
            </p:cNvCxnSpPr>
            <p:nvPr/>
          </p:nvCxnSpPr>
          <p:spPr>
            <a:xfrm flipV="1">
              <a:off x="4954467" y="2981305"/>
              <a:ext cx="308147" cy="396164"/>
            </a:xfrm>
            <a:prstGeom prst="bentConnector3">
              <a:avLst>
                <a:gd name="adj1" fmla="val 50000"/>
              </a:avLst>
            </a:prstGeom>
            <a:noFill/>
            <a:ln w="28575" cap="flat" cmpd="sng" algn="ctr">
              <a:solidFill>
                <a:srgbClr val="BCCF00"/>
              </a:solidFill>
              <a:prstDash val="solid"/>
              <a:miter lim="800000"/>
              <a:tailEnd type="triangle"/>
            </a:ln>
            <a:effectLst/>
          </p:spPr>
        </p:cxnSp>
        <p:cxnSp>
          <p:nvCxnSpPr>
            <p:cNvPr id="509" name="Gerade Verbindung mit Pfeil 508">
              <a:extLst>
                <a:ext uri="{FF2B5EF4-FFF2-40B4-BE49-F238E27FC236}">
                  <a16:creationId xmlns:a16="http://schemas.microsoft.com/office/drawing/2014/main" id="{AC2C40A2-001A-4F53-A5DB-9E0699BCC564}"/>
                </a:ext>
              </a:extLst>
            </p:cNvPr>
            <p:cNvCxnSpPr>
              <a:cxnSpLocks/>
            </p:cNvCxnSpPr>
            <p:nvPr/>
          </p:nvCxnSpPr>
          <p:spPr>
            <a:xfrm>
              <a:off x="2844800" y="3437470"/>
              <a:ext cx="1235940" cy="0"/>
            </a:xfrm>
            <a:prstGeom prst="straightConnector1">
              <a:avLst/>
            </a:prstGeom>
            <a:noFill/>
            <a:ln w="28575" cap="flat" cmpd="sng" algn="ctr">
              <a:solidFill>
                <a:srgbClr val="BCCF00">
                  <a:lumMod val="60000"/>
                  <a:lumOff val="40000"/>
                </a:srgbClr>
              </a:solidFill>
              <a:prstDash val="solid"/>
              <a:miter lim="800000"/>
              <a:tailEnd type="triangle"/>
            </a:ln>
            <a:effectLst/>
          </p:spPr>
        </p:cxnSp>
        <p:cxnSp>
          <p:nvCxnSpPr>
            <p:cNvPr id="510" name="Gerader Verbinder 509">
              <a:extLst>
                <a:ext uri="{FF2B5EF4-FFF2-40B4-BE49-F238E27FC236}">
                  <a16:creationId xmlns:a16="http://schemas.microsoft.com/office/drawing/2014/main" id="{5F9A1D2E-07B4-4F8F-DE80-10AB60835B8D}"/>
                </a:ext>
              </a:extLst>
            </p:cNvPr>
            <p:cNvCxnSpPr>
              <a:cxnSpLocks/>
            </p:cNvCxnSpPr>
            <p:nvPr/>
          </p:nvCxnSpPr>
          <p:spPr>
            <a:xfrm flipH="1">
              <a:off x="2844800" y="2012950"/>
              <a:ext cx="700461" cy="0"/>
            </a:xfrm>
            <a:prstGeom prst="line">
              <a:avLst/>
            </a:prstGeom>
            <a:noFill/>
            <a:ln w="28575" cap="flat" cmpd="sng" algn="ctr">
              <a:solidFill>
                <a:srgbClr val="BCCF00">
                  <a:lumMod val="60000"/>
                  <a:lumOff val="40000"/>
                </a:srgbClr>
              </a:solidFill>
              <a:prstDash val="solid"/>
              <a:miter lim="800000"/>
              <a:headEnd type="none" w="med" len="med"/>
              <a:tailEnd type="none" w="med" len="med"/>
            </a:ln>
            <a:effectLst/>
          </p:spPr>
        </p:cxnSp>
      </p:grpSp>
      <p:sp>
        <p:nvSpPr>
          <p:cNvPr id="610" name="Fußzeilenplatzhalter 12">
            <a:extLst>
              <a:ext uri="{FF2B5EF4-FFF2-40B4-BE49-F238E27FC236}">
                <a16:creationId xmlns:a16="http://schemas.microsoft.com/office/drawing/2014/main" id="{3752E621-E22D-8474-F286-891F1CB9544E}"/>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cxnSp>
        <p:nvCxnSpPr>
          <p:cNvPr id="4" name="Verbinder: gewinkelt 3">
            <a:extLst>
              <a:ext uri="{FF2B5EF4-FFF2-40B4-BE49-F238E27FC236}">
                <a16:creationId xmlns:a16="http://schemas.microsoft.com/office/drawing/2014/main" id="{C57BCAC3-5D5B-004F-5786-F6DB15BD3003}"/>
              </a:ext>
            </a:extLst>
          </p:cNvPr>
          <p:cNvCxnSpPr>
            <a:cxnSpLocks/>
            <a:stCxn id="608" idx="3"/>
            <a:endCxn id="543" idx="1"/>
          </p:cNvCxnSpPr>
          <p:nvPr/>
        </p:nvCxnSpPr>
        <p:spPr>
          <a:xfrm flipH="1">
            <a:off x="4718852" y="3544482"/>
            <a:ext cx="3103807" cy="1213718"/>
          </a:xfrm>
          <a:prstGeom prst="bentConnector5">
            <a:avLst>
              <a:gd name="adj1" fmla="val -7365"/>
              <a:gd name="adj2" fmla="val 45386"/>
              <a:gd name="adj3" fmla="val 107365"/>
            </a:avLst>
          </a:prstGeom>
          <a:noFill/>
          <a:ln w="28575" cap="flat" cmpd="sng" algn="ctr">
            <a:solidFill>
              <a:srgbClr val="F59C00"/>
            </a:solidFill>
            <a:prstDash val="solid"/>
            <a:miter lim="800000"/>
            <a:tailEnd type="triangle"/>
          </a:ln>
          <a:effectLst/>
        </p:spPr>
      </p:cxnSp>
    </p:spTree>
    <p:extLst>
      <p:ext uri="{BB962C8B-B14F-4D97-AF65-F5344CB8AC3E}">
        <p14:creationId xmlns:p14="http://schemas.microsoft.com/office/powerpoint/2010/main" val="2326970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DDF30-D370-BDA3-07B4-2328AB8F4DEE}"/>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36619101-247D-16F0-62F4-2E30F8D5F32D}"/>
              </a:ext>
            </a:extLst>
          </p:cNvPr>
          <p:cNvSpPr>
            <a:spLocks noGrp="1"/>
          </p:cNvSpPr>
          <p:nvPr>
            <p:ph type="body" sz="quarter" idx="13"/>
          </p:nvPr>
        </p:nvSpPr>
        <p:spPr/>
        <p:txBody>
          <a:bodyPr/>
          <a:lstStyle/>
          <a:p>
            <a:pPr marL="0" indent="0">
              <a:buNone/>
            </a:pPr>
            <a:endParaRPr lang="de-DE" dirty="0"/>
          </a:p>
          <a:p>
            <a:pPr marL="0" indent="0">
              <a:buNone/>
            </a:pPr>
            <a:endParaRPr lang="de-DE" dirty="0"/>
          </a:p>
          <a:p>
            <a:endParaRPr lang="de-DE" dirty="0"/>
          </a:p>
        </p:txBody>
      </p:sp>
      <p:cxnSp>
        <p:nvCxnSpPr>
          <p:cNvPr id="431" name="Gerade Verbindung mit Pfeil 430">
            <a:extLst>
              <a:ext uri="{FF2B5EF4-FFF2-40B4-BE49-F238E27FC236}">
                <a16:creationId xmlns:a16="http://schemas.microsoft.com/office/drawing/2014/main" id="{F4834F28-DFCB-9552-170E-3F50A9FB90EC}"/>
              </a:ext>
            </a:extLst>
          </p:cNvPr>
          <p:cNvCxnSpPr>
            <a:cxnSpLocks/>
          </p:cNvCxnSpPr>
          <p:nvPr/>
        </p:nvCxnSpPr>
        <p:spPr>
          <a:xfrm>
            <a:off x="4435474" y="3582954"/>
            <a:ext cx="2417814" cy="0"/>
          </a:xfrm>
          <a:prstGeom prst="straightConnector1">
            <a:avLst/>
          </a:prstGeom>
          <a:noFill/>
          <a:ln w="28575" cap="flat" cmpd="sng" algn="ctr">
            <a:solidFill>
              <a:srgbClr val="BCCF00">
                <a:lumMod val="60000"/>
                <a:lumOff val="40000"/>
              </a:srgbClr>
            </a:solidFill>
            <a:prstDash val="solid"/>
            <a:miter lim="800000"/>
            <a:tailEnd type="triangle"/>
          </a:ln>
          <a:effectLst/>
        </p:spPr>
      </p:cxnSp>
      <p:cxnSp>
        <p:nvCxnSpPr>
          <p:cNvPr id="432" name="Verbinder: gewinkelt 431">
            <a:extLst>
              <a:ext uri="{FF2B5EF4-FFF2-40B4-BE49-F238E27FC236}">
                <a16:creationId xmlns:a16="http://schemas.microsoft.com/office/drawing/2014/main" id="{67EF926D-5506-F6FC-6202-8CC536569A1A}"/>
              </a:ext>
            </a:extLst>
          </p:cNvPr>
          <p:cNvCxnSpPr>
            <a:cxnSpLocks/>
            <a:stCxn id="461" idx="2"/>
          </p:cNvCxnSpPr>
          <p:nvPr/>
        </p:nvCxnSpPr>
        <p:spPr>
          <a:xfrm rot="10800000" flipH="1" flipV="1">
            <a:off x="5143553" y="2546559"/>
            <a:ext cx="3456850" cy="1808078"/>
          </a:xfrm>
          <a:prstGeom prst="bentConnector3">
            <a:avLst>
              <a:gd name="adj1" fmla="val -21230"/>
            </a:avLst>
          </a:prstGeom>
          <a:noFill/>
          <a:ln w="28575" cap="flat" cmpd="sng" algn="ctr">
            <a:solidFill>
              <a:srgbClr val="950F53"/>
            </a:solidFill>
            <a:prstDash val="solid"/>
            <a:miter lim="800000"/>
            <a:tailEnd type="triangle"/>
          </a:ln>
          <a:effectLst/>
        </p:spPr>
      </p:cxnSp>
      <p:grpSp>
        <p:nvGrpSpPr>
          <p:cNvPr id="433" name="Gruppieren 432">
            <a:extLst>
              <a:ext uri="{FF2B5EF4-FFF2-40B4-BE49-F238E27FC236}">
                <a16:creationId xmlns:a16="http://schemas.microsoft.com/office/drawing/2014/main" id="{6D89B349-5C4A-1DE1-50B0-E5A69BCDBA22}"/>
              </a:ext>
            </a:extLst>
          </p:cNvPr>
          <p:cNvGrpSpPr/>
          <p:nvPr/>
        </p:nvGrpSpPr>
        <p:grpSpPr>
          <a:xfrm>
            <a:off x="6843134" y="3281223"/>
            <a:ext cx="894503" cy="696222"/>
            <a:chOff x="3569020" y="4033373"/>
            <a:chExt cx="894503" cy="696222"/>
          </a:xfrm>
        </p:grpSpPr>
        <p:sp>
          <p:nvSpPr>
            <p:cNvPr id="607" name="Flussdiagramm: Anzeige 9">
              <a:extLst>
                <a:ext uri="{FF2B5EF4-FFF2-40B4-BE49-F238E27FC236}">
                  <a16:creationId xmlns:a16="http://schemas.microsoft.com/office/drawing/2014/main" id="{CA5E10D8-4E9B-6CEF-7ED9-E1D50D02F588}"/>
                </a:ext>
              </a:extLst>
            </p:cNvPr>
            <p:cNvSpPr/>
            <p:nvPr/>
          </p:nvSpPr>
          <p:spPr>
            <a:xfrm rot="5400000">
              <a:off x="3663778" y="4030373"/>
              <a:ext cx="696222" cy="702221"/>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F59C00"/>
            </a:solid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1100" kern="0" dirty="0">
                <a:solidFill>
                  <a:prstClr val="white"/>
                </a:solidFill>
                <a:latin typeface="Aptos" panose="020B0004020202020204" pitchFamily="34" charset="0"/>
              </a:endParaRPr>
            </a:p>
          </p:txBody>
        </p:sp>
        <p:sp>
          <p:nvSpPr>
            <p:cNvPr id="609" name="Textfeld 608">
              <a:extLst>
                <a:ext uri="{FF2B5EF4-FFF2-40B4-BE49-F238E27FC236}">
                  <a16:creationId xmlns:a16="http://schemas.microsoft.com/office/drawing/2014/main" id="{78D9D759-0208-25D9-1F4A-7569812A7542}"/>
                </a:ext>
              </a:extLst>
            </p:cNvPr>
            <p:cNvSpPr txBox="1"/>
            <p:nvPr/>
          </p:nvSpPr>
          <p:spPr>
            <a:xfrm>
              <a:off x="3569020" y="4246842"/>
              <a:ext cx="894503" cy="400110"/>
            </a:xfrm>
            <a:prstGeom prst="rect">
              <a:avLst/>
            </a:prstGeom>
            <a:noFill/>
          </p:spPr>
          <p:txBody>
            <a:bodyPr wrap="square" rtlCol="0">
              <a:spAutoFit/>
            </a:bodyPr>
            <a:lstStyle/>
            <a:p>
              <a:pPr algn="ctr" defTabSz="914339">
                <a:defRPr/>
              </a:pPr>
              <a:r>
                <a:rPr lang="en-GB" sz="1000" i="1" kern="0" dirty="0">
                  <a:solidFill>
                    <a:prstClr val="black"/>
                  </a:solidFill>
                  <a:latin typeface="Aptos" panose="020B0004020202020204" pitchFamily="34" charset="0"/>
                </a:rPr>
                <a:t>EV </a:t>
              </a:r>
            </a:p>
            <a:p>
              <a:pPr algn="ctr" defTabSz="914339">
                <a:defRPr/>
              </a:pPr>
              <a:r>
                <a:rPr lang="en-GB" sz="1000" i="1" kern="0" dirty="0">
                  <a:solidFill>
                    <a:prstClr val="black"/>
                  </a:solidFill>
                  <a:latin typeface="Aptos" panose="020B0004020202020204" pitchFamily="34" charset="0"/>
                </a:rPr>
                <a:t>Batteries</a:t>
              </a:r>
              <a:endParaRPr lang="de-AT" sz="1000" i="1" kern="0" dirty="0">
                <a:solidFill>
                  <a:prstClr val="black"/>
                </a:solidFill>
                <a:latin typeface="Aptos" panose="020B0004020202020204" pitchFamily="34" charset="0"/>
              </a:endParaRPr>
            </a:p>
          </p:txBody>
        </p:sp>
      </p:grpSp>
      <p:cxnSp>
        <p:nvCxnSpPr>
          <p:cNvPr id="434" name="Gekrümmter Verbinder 139">
            <a:extLst>
              <a:ext uri="{FF2B5EF4-FFF2-40B4-BE49-F238E27FC236}">
                <a16:creationId xmlns:a16="http://schemas.microsoft.com/office/drawing/2014/main" id="{3C985130-8E01-0B61-2A54-FCC1BAC7BCFA}"/>
              </a:ext>
            </a:extLst>
          </p:cNvPr>
          <p:cNvCxnSpPr>
            <a:stCxn id="528" idx="3"/>
            <a:endCxn id="580" idx="0"/>
          </p:cNvCxnSpPr>
          <p:nvPr/>
        </p:nvCxnSpPr>
        <p:spPr>
          <a:xfrm rot="16200000" flipH="1">
            <a:off x="7450774" y="4540961"/>
            <a:ext cx="166188" cy="2247927"/>
          </a:xfrm>
          <a:prstGeom prst="curvedConnector3">
            <a:avLst>
              <a:gd name="adj1" fmla="val 50000"/>
            </a:avLst>
          </a:prstGeom>
          <a:noFill/>
          <a:ln w="9525" cap="flat" cmpd="sng" algn="ctr">
            <a:solidFill>
              <a:srgbClr val="FFCCCC"/>
            </a:solidFill>
            <a:prstDash val="solid"/>
            <a:miter lim="800000"/>
            <a:tailEnd type="triangle"/>
          </a:ln>
          <a:effectLst/>
        </p:spPr>
      </p:cxnSp>
      <p:cxnSp>
        <p:nvCxnSpPr>
          <p:cNvPr id="435" name="Gekrümmter Verbinder 152">
            <a:extLst>
              <a:ext uri="{FF2B5EF4-FFF2-40B4-BE49-F238E27FC236}">
                <a16:creationId xmlns:a16="http://schemas.microsoft.com/office/drawing/2014/main" id="{857E375C-FF46-4CEF-9A5B-2EA27DCF63DB}"/>
              </a:ext>
            </a:extLst>
          </p:cNvPr>
          <p:cNvCxnSpPr>
            <a:stCxn id="543" idx="3"/>
            <a:endCxn id="580" idx="0"/>
          </p:cNvCxnSpPr>
          <p:nvPr/>
        </p:nvCxnSpPr>
        <p:spPr>
          <a:xfrm>
            <a:off x="5344186" y="4758200"/>
            <a:ext cx="3313645" cy="989819"/>
          </a:xfrm>
          <a:prstGeom prst="curvedConnector2">
            <a:avLst/>
          </a:prstGeom>
          <a:noFill/>
          <a:ln w="9525" cap="flat" cmpd="sng" algn="ctr">
            <a:solidFill>
              <a:srgbClr val="FFCCCC"/>
            </a:solidFill>
            <a:prstDash val="solid"/>
            <a:miter lim="800000"/>
            <a:tailEnd type="triangle"/>
          </a:ln>
          <a:effectLst/>
        </p:spPr>
      </p:cxnSp>
      <p:cxnSp>
        <p:nvCxnSpPr>
          <p:cNvPr id="436" name="Gekrümmter Verbinder 293">
            <a:extLst>
              <a:ext uri="{FF2B5EF4-FFF2-40B4-BE49-F238E27FC236}">
                <a16:creationId xmlns:a16="http://schemas.microsoft.com/office/drawing/2014/main" id="{0054B905-822D-467D-DA6B-F70ADD6FBD9D}"/>
              </a:ext>
            </a:extLst>
          </p:cNvPr>
          <p:cNvCxnSpPr>
            <a:stCxn id="558" idx="2"/>
            <a:endCxn id="580" idx="0"/>
          </p:cNvCxnSpPr>
          <p:nvPr/>
        </p:nvCxnSpPr>
        <p:spPr>
          <a:xfrm rot="5400000">
            <a:off x="8626723" y="5157448"/>
            <a:ext cx="621681" cy="559461"/>
          </a:xfrm>
          <a:prstGeom prst="curvedConnector3">
            <a:avLst>
              <a:gd name="adj1" fmla="val 50000"/>
            </a:avLst>
          </a:prstGeom>
          <a:noFill/>
          <a:ln w="9525" cap="flat" cmpd="sng" algn="ctr">
            <a:solidFill>
              <a:srgbClr val="FFCCCC"/>
            </a:solidFill>
            <a:prstDash val="solid"/>
            <a:miter lim="800000"/>
            <a:tailEnd type="triangle"/>
          </a:ln>
          <a:effectLst/>
        </p:spPr>
      </p:cxnSp>
      <p:cxnSp>
        <p:nvCxnSpPr>
          <p:cNvPr id="437" name="Gekrümmter Verbinder 297">
            <a:extLst>
              <a:ext uri="{FF2B5EF4-FFF2-40B4-BE49-F238E27FC236}">
                <a16:creationId xmlns:a16="http://schemas.microsoft.com/office/drawing/2014/main" id="{0173199E-2E47-A5E0-73A3-457C8C58BEDC}"/>
              </a:ext>
            </a:extLst>
          </p:cNvPr>
          <p:cNvCxnSpPr>
            <a:cxnSpLocks/>
            <a:endCxn id="580" idx="0"/>
          </p:cNvCxnSpPr>
          <p:nvPr/>
        </p:nvCxnSpPr>
        <p:spPr>
          <a:xfrm rot="16200000" flipH="1">
            <a:off x="6578822" y="3669009"/>
            <a:ext cx="1607318" cy="2550701"/>
          </a:xfrm>
          <a:prstGeom prst="curvedConnector3">
            <a:avLst>
              <a:gd name="adj1" fmla="val 50000"/>
            </a:avLst>
          </a:prstGeom>
          <a:noFill/>
          <a:ln w="9525" cap="flat" cmpd="sng" algn="ctr">
            <a:solidFill>
              <a:srgbClr val="FFCCCC"/>
            </a:solidFill>
            <a:prstDash val="solid"/>
            <a:miter lim="800000"/>
            <a:tailEnd type="triangle"/>
          </a:ln>
          <a:effectLst/>
        </p:spPr>
      </p:cxnSp>
      <p:cxnSp>
        <p:nvCxnSpPr>
          <p:cNvPr id="438" name="Gekrümmter Verbinder 368">
            <a:extLst>
              <a:ext uri="{FF2B5EF4-FFF2-40B4-BE49-F238E27FC236}">
                <a16:creationId xmlns:a16="http://schemas.microsoft.com/office/drawing/2014/main" id="{1D3508BD-8832-FC2E-42EA-B9254F915556}"/>
              </a:ext>
            </a:extLst>
          </p:cNvPr>
          <p:cNvCxnSpPr>
            <a:stCxn id="533" idx="3"/>
            <a:endCxn id="580" idx="0"/>
          </p:cNvCxnSpPr>
          <p:nvPr/>
        </p:nvCxnSpPr>
        <p:spPr>
          <a:xfrm rot="16200000" flipH="1">
            <a:off x="7867082" y="4957268"/>
            <a:ext cx="426643" cy="1154857"/>
          </a:xfrm>
          <a:prstGeom prst="curvedConnector3">
            <a:avLst>
              <a:gd name="adj1" fmla="val 50000"/>
            </a:avLst>
          </a:prstGeom>
          <a:noFill/>
          <a:ln w="9525" cap="flat" cmpd="sng" algn="ctr">
            <a:solidFill>
              <a:srgbClr val="FFCCCC"/>
            </a:solidFill>
            <a:prstDash val="solid"/>
            <a:miter lim="800000"/>
            <a:tailEnd type="triangle"/>
          </a:ln>
          <a:effectLst/>
        </p:spPr>
      </p:cxnSp>
      <p:cxnSp>
        <p:nvCxnSpPr>
          <p:cNvPr id="439" name="Gekrümmter Verbinder 392">
            <a:extLst>
              <a:ext uri="{FF2B5EF4-FFF2-40B4-BE49-F238E27FC236}">
                <a16:creationId xmlns:a16="http://schemas.microsoft.com/office/drawing/2014/main" id="{046FCB35-E2A8-FA13-4143-1A484D222554}"/>
              </a:ext>
            </a:extLst>
          </p:cNvPr>
          <p:cNvCxnSpPr>
            <a:stCxn id="549" idx="1"/>
            <a:endCxn id="580" idx="0"/>
          </p:cNvCxnSpPr>
          <p:nvPr/>
        </p:nvCxnSpPr>
        <p:spPr>
          <a:xfrm rot="5400000">
            <a:off x="8254020" y="5339166"/>
            <a:ext cx="812666" cy="5041"/>
          </a:xfrm>
          <a:prstGeom prst="curvedConnector3">
            <a:avLst>
              <a:gd name="adj1" fmla="val 50000"/>
            </a:avLst>
          </a:prstGeom>
          <a:noFill/>
          <a:ln w="9525" cap="flat" cmpd="sng" algn="ctr">
            <a:solidFill>
              <a:srgbClr val="FFCCCC"/>
            </a:solidFill>
            <a:prstDash val="solid"/>
            <a:miter lim="800000"/>
            <a:tailEnd type="triangle"/>
          </a:ln>
          <a:effectLst/>
        </p:spPr>
      </p:cxnSp>
      <p:sp>
        <p:nvSpPr>
          <p:cNvPr id="440" name="Rechteck 439">
            <a:extLst>
              <a:ext uri="{FF2B5EF4-FFF2-40B4-BE49-F238E27FC236}">
                <a16:creationId xmlns:a16="http://schemas.microsoft.com/office/drawing/2014/main" id="{ACC14597-C1EE-C66A-8326-766E1A829213}"/>
              </a:ext>
            </a:extLst>
          </p:cNvPr>
          <p:cNvSpPr/>
          <p:nvPr/>
        </p:nvSpPr>
        <p:spPr>
          <a:xfrm>
            <a:off x="3021773" y="2432090"/>
            <a:ext cx="7007695" cy="3359143"/>
          </a:xfrm>
          <a:prstGeom prst="rect">
            <a:avLst/>
          </a:prstGeom>
          <a:noFill/>
          <a:ln w="28575" cap="flat" cmpd="sng" algn="ctr">
            <a:solidFill>
              <a:srgbClr val="E6EFF3">
                <a:lumMod val="90000"/>
              </a:srgbClr>
            </a:solidFill>
            <a:prstDash val="dash"/>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442" name="Gruppieren 441">
            <a:extLst>
              <a:ext uri="{FF2B5EF4-FFF2-40B4-BE49-F238E27FC236}">
                <a16:creationId xmlns:a16="http://schemas.microsoft.com/office/drawing/2014/main" id="{EC13C010-F85D-FF6E-756D-CA76E0A99FD4}"/>
              </a:ext>
            </a:extLst>
          </p:cNvPr>
          <p:cNvGrpSpPr/>
          <p:nvPr/>
        </p:nvGrpSpPr>
        <p:grpSpPr>
          <a:xfrm>
            <a:off x="4691106" y="1338487"/>
            <a:ext cx="1481845" cy="617855"/>
            <a:chOff x="5821954" y="3358196"/>
            <a:chExt cx="1481845" cy="617855"/>
          </a:xfrm>
        </p:grpSpPr>
        <p:sp>
          <p:nvSpPr>
            <p:cNvPr id="601" name="Ellipse 600">
              <a:extLst>
                <a:ext uri="{FF2B5EF4-FFF2-40B4-BE49-F238E27FC236}">
                  <a16:creationId xmlns:a16="http://schemas.microsoft.com/office/drawing/2014/main" id="{5E31D524-A50D-BA17-0C7C-360070D48F0E}"/>
                </a:ext>
              </a:extLst>
            </p:cNvPr>
            <p:cNvSpPr/>
            <p:nvPr/>
          </p:nvSpPr>
          <p:spPr>
            <a:xfrm>
              <a:off x="5821954" y="3399987"/>
              <a:ext cx="576064" cy="576064"/>
            </a:xfrm>
            <a:prstGeom prst="ellipse">
              <a:avLst/>
            </a:prstGeom>
            <a:solidFill>
              <a:srgbClr val="950F53"/>
            </a:solidFill>
            <a:ln w="12700" cap="flat" cmpd="sng" algn="ctr">
              <a:solidFill>
                <a:srgbClr val="950F53">
                  <a:lumMod val="75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603" name="Textfeld 602">
              <a:extLst>
                <a:ext uri="{FF2B5EF4-FFF2-40B4-BE49-F238E27FC236}">
                  <a16:creationId xmlns:a16="http://schemas.microsoft.com/office/drawing/2014/main" id="{D69E6B4F-7F6D-9A45-9DC2-DDB141CC8271}"/>
                </a:ext>
              </a:extLst>
            </p:cNvPr>
            <p:cNvSpPr txBox="1"/>
            <p:nvPr/>
          </p:nvSpPr>
          <p:spPr>
            <a:xfrm>
              <a:off x="6227862" y="3358196"/>
              <a:ext cx="1075937" cy="261610"/>
            </a:xfrm>
            <a:prstGeom prst="rect">
              <a:avLst/>
            </a:prstGeom>
            <a:noFill/>
          </p:spPr>
          <p:txBody>
            <a:bodyPr wrap="none" rtlCol="0">
              <a:spAutoFit/>
            </a:bodyPr>
            <a:lstStyle/>
            <a:p>
              <a:pPr algn="ctr" defTabSz="914339">
                <a:defRPr/>
              </a:pPr>
              <a:r>
                <a:rPr lang="en-GB" sz="1100" i="1" kern="0" dirty="0">
                  <a:solidFill>
                    <a:prstClr val="black"/>
                  </a:solidFill>
                  <a:latin typeface="Aptos" panose="020B0004020202020204" pitchFamily="34" charset="0"/>
                </a:rPr>
                <a:t>Electricity Grid</a:t>
              </a:r>
              <a:endParaRPr lang="de-AT" sz="1100" i="1" kern="0" dirty="0">
                <a:solidFill>
                  <a:prstClr val="black"/>
                </a:solidFill>
                <a:latin typeface="Aptos" panose="020B0004020202020204" pitchFamily="34" charset="0"/>
              </a:endParaRPr>
            </a:p>
          </p:txBody>
        </p:sp>
      </p:grpSp>
      <p:grpSp>
        <p:nvGrpSpPr>
          <p:cNvPr id="443" name="Gruppieren 442">
            <a:extLst>
              <a:ext uri="{FF2B5EF4-FFF2-40B4-BE49-F238E27FC236}">
                <a16:creationId xmlns:a16="http://schemas.microsoft.com/office/drawing/2014/main" id="{040710C5-93CE-BB5F-9938-081E08CFFEC4}"/>
              </a:ext>
            </a:extLst>
          </p:cNvPr>
          <p:cNvGrpSpPr/>
          <p:nvPr/>
        </p:nvGrpSpPr>
        <p:grpSpPr>
          <a:xfrm>
            <a:off x="7322744" y="1422411"/>
            <a:ext cx="2397239" cy="576064"/>
            <a:chOff x="5985470" y="4969049"/>
            <a:chExt cx="2397239" cy="576064"/>
          </a:xfrm>
        </p:grpSpPr>
        <p:sp>
          <p:nvSpPr>
            <p:cNvPr id="598" name="Ellipse 597">
              <a:extLst>
                <a:ext uri="{FF2B5EF4-FFF2-40B4-BE49-F238E27FC236}">
                  <a16:creationId xmlns:a16="http://schemas.microsoft.com/office/drawing/2014/main" id="{6A51A813-DCE3-70E5-B688-DF1079905238}"/>
                </a:ext>
              </a:extLst>
            </p:cNvPr>
            <p:cNvSpPr/>
            <p:nvPr/>
          </p:nvSpPr>
          <p:spPr>
            <a:xfrm>
              <a:off x="5985470" y="4969049"/>
              <a:ext cx="576064" cy="576064"/>
            </a:xfrm>
            <a:prstGeom prst="ellipse">
              <a:avLst/>
            </a:prstGeom>
            <a:solidFill>
              <a:srgbClr val="BCCF00">
                <a:lumMod val="60000"/>
                <a:lumOff val="40000"/>
              </a:srgbClr>
            </a:solidFill>
            <a:ln w="12700" cap="flat" cmpd="sng" algn="ctr">
              <a:solidFill>
                <a:srgbClr val="BCCF00"/>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600" name="Textfeld 599">
              <a:extLst>
                <a:ext uri="{FF2B5EF4-FFF2-40B4-BE49-F238E27FC236}">
                  <a16:creationId xmlns:a16="http://schemas.microsoft.com/office/drawing/2014/main" id="{47C9AACC-72EC-01CD-1912-D09E6BB6BF41}"/>
                </a:ext>
              </a:extLst>
            </p:cNvPr>
            <p:cNvSpPr txBox="1"/>
            <p:nvPr/>
          </p:nvSpPr>
          <p:spPr>
            <a:xfrm>
              <a:off x="6633512" y="5111335"/>
              <a:ext cx="1749197" cy="430887"/>
            </a:xfrm>
            <a:prstGeom prst="rect">
              <a:avLst/>
            </a:prstGeom>
            <a:noFill/>
          </p:spPr>
          <p:txBody>
            <a:bodyPr wrap="none" rtlCol="0">
              <a:spAutoFit/>
            </a:bodyPr>
            <a:lstStyle/>
            <a:p>
              <a:pPr defTabSz="914339">
                <a:defRPr/>
              </a:pPr>
              <a:r>
                <a:rPr lang="en-GB" sz="1100" i="1" kern="0" dirty="0">
                  <a:solidFill>
                    <a:prstClr val="black"/>
                  </a:solidFill>
                  <a:latin typeface="Aptos" panose="020B0004020202020204" pitchFamily="34" charset="0"/>
                </a:rPr>
                <a:t>Offsite Renewable Excess</a:t>
              </a:r>
            </a:p>
            <a:p>
              <a:pPr defTabSz="914339">
                <a:defRPr/>
              </a:pPr>
              <a:r>
                <a:rPr lang="en-GB" sz="1100" i="1" kern="0" dirty="0">
                  <a:solidFill>
                    <a:prstClr val="black"/>
                  </a:solidFill>
                  <a:latin typeface="Aptos" panose="020B0004020202020204" pitchFamily="34" charset="0"/>
                </a:rPr>
                <a:t>(DSM, Wind Peaks)</a:t>
              </a:r>
              <a:endParaRPr lang="de-AT" sz="1100" i="1" kern="0" dirty="0">
                <a:solidFill>
                  <a:prstClr val="black"/>
                </a:solidFill>
                <a:latin typeface="Aptos" panose="020B0004020202020204" pitchFamily="34" charset="0"/>
              </a:endParaRPr>
            </a:p>
          </p:txBody>
        </p:sp>
      </p:grpSp>
      <p:grpSp>
        <p:nvGrpSpPr>
          <p:cNvPr id="444" name="Gruppieren 443">
            <a:extLst>
              <a:ext uri="{FF2B5EF4-FFF2-40B4-BE49-F238E27FC236}">
                <a16:creationId xmlns:a16="http://schemas.microsoft.com/office/drawing/2014/main" id="{C299E7D3-5360-5E0B-77AC-D123BC53891C}"/>
              </a:ext>
            </a:extLst>
          </p:cNvPr>
          <p:cNvGrpSpPr/>
          <p:nvPr/>
        </p:nvGrpSpPr>
        <p:grpSpPr>
          <a:xfrm>
            <a:off x="2941235" y="2911669"/>
            <a:ext cx="1159292" cy="1191326"/>
            <a:chOff x="5516358" y="1731254"/>
            <a:chExt cx="1159292" cy="1191326"/>
          </a:xfrm>
        </p:grpSpPr>
        <p:sp>
          <p:nvSpPr>
            <p:cNvPr id="595" name="Ellipse 594">
              <a:extLst>
                <a:ext uri="{FF2B5EF4-FFF2-40B4-BE49-F238E27FC236}">
                  <a16:creationId xmlns:a16="http://schemas.microsoft.com/office/drawing/2014/main" id="{E44F77FB-546B-EE2C-B8D7-61F2AAAC7CD8}"/>
                </a:ext>
              </a:extLst>
            </p:cNvPr>
            <p:cNvSpPr/>
            <p:nvPr/>
          </p:nvSpPr>
          <p:spPr>
            <a:xfrm>
              <a:off x="5807968" y="1731254"/>
              <a:ext cx="576064" cy="576064"/>
            </a:xfrm>
            <a:prstGeom prst="ellipse">
              <a:avLst/>
            </a:prstGeom>
            <a:solidFill>
              <a:srgbClr val="FFC000"/>
            </a:solidFill>
            <a:ln w="12700" cap="flat" cmpd="sng" algn="ctr">
              <a:solidFill>
                <a:srgbClr val="FFC000">
                  <a:lumMod val="75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97" name="Textfeld 596">
              <a:extLst>
                <a:ext uri="{FF2B5EF4-FFF2-40B4-BE49-F238E27FC236}">
                  <a16:creationId xmlns:a16="http://schemas.microsoft.com/office/drawing/2014/main" id="{B41AEAE8-C0AB-FB70-20E8-5D3D5060238A}"/>
                </a:ext>
              </a:extLst>
            </p:cNvPr>
            <p:cNvSpPr txBox="1"/>
            <p:nvPr/>
          </p:nvSpPr>
          <p:spPr>
            <a:xfrm>
              <a:off x="5516358" y="2522470"/>
              <a:ext cx="1159292" cy="400110"/>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Onsite renewable</a:t>
              </a:r>
            </a:p>
            <a:p>
              <a:pPr algn="ctr" defTabSz="914339">
                <a:defRPr/>
              </a:pPr>
              <a:r>
                <a:rPr lang="en-GB" sz="1000" i="1" kern="0" dirty="0">
                  <a:solidFill>
                    <a:prstClr val="black"/>
                  </a:solidFill>
                  <a:latin typeface="Aptos" panose="020B0004020202020204" pitchFamily="34" charset="0"/>
                </a:rPr>
                <a:t>production</a:t>
              </a:r>
              <a:endParaRPr lang="de-AT" sz="1000" i="1" kern="0" dirty="0">
                <a:solidFill>
                  <a:prstClr val="black"/>
                </a:solidFill>
                <a:latin typeface="Aptos" panose="020B0004020202020204" pitchFamily="34" charset="0"/>
              </a:endParaRPr>
            </a:p>
          </p:txBody>
        </p:sp>
      </p:grpSp>
      <p:grpSp>
        <p:nvGrpSpPr>
          <p:cNvPr id="445" name="Gruppieren 444">
            <a:extLst>
              <a:ext uri="{FF2B5EF4-FFF2-40B4-BE49-F238E27FC236}">
                <a16:creationId xmlns:a16="http://schemas.microsoft.com/office/drawing/2014/main" id="{F6F9207D-B56E-5A46-3BB6-1F05302568E8}"/>
              </a:ext>
            </a:extLst>
          </p:cNvPr>
          <p:cNvGrpSpPr/>
          <p:nvPr/>
        </p:nvGrpSpPr>
        <p:grpSpPr>
          <a:xfrm>
            <a:off x="3059851" y="5106395"/>
            <a:ext cx="922048" cy="576064"/>
            <a:chOff x="5634974" y="1731254"/>
            <a:chExt cx="922048" cy="576064"/>
          </a:xfrm>
        </p:grpSpPr>
        <p:sp>
          <p:nvSpPr>
            <p:cNvPr id="592" name="Ellipse 591">
              <a:extLst>
                <a:ext uri="{FF2B5EF4-FFF2-40B4-BE49-F238E27FC236}">
                  <a16:creationId xmlns:a16="http://schemas.microsoft.com/office/drawing/2014/main" id="{80482560-FC26-65C3-25AA-ACCB70085612}"/>
                </a:ext>
              </a:extLst>
            </p:cNvPr>
            <p:cNvSpPr/>
            <p:nvPr/>
          </p:nvSpPr>
          <p:spPr>
            <a:xfrm>
              <a:off x="5807968" y="1731254"/>
              <a:ext cx="576064" cy="576064"/>
            </a:xfrm>
            <a:prstGeom prst="ellipse">
              <a:avLst/>
            </a:prstGeom>
            <a:solidFill>
              <a:srgbClr val="ED7D31">
                <a:lumMod val="20000"/>
                <a:lumOff val="80000"/>
              </a:srgbClr>
            </a:solidFill>
            <a:ln w="12700" cap="flat" cmpd="sng" algn="ctr">
              <a:solidFill>
                <a:srgbClr val="ED7D31">
                  <a:lumMod val="60000"/>
                  <a:lumOff val="40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94" name="Textfeld 593">
              <a:extLst>
                <a:ext uri="{FF2B5EF4-FFF2-40B4-BE49-F238E27FC236}">
                  <a16:creationId xmlns:a16="http://schemas.microsoft.com/office/drawing/2014/main" id="{7DF8771F-CC05-9915-6127-97BDDA864C67}"/>
                </a:ext>
              </a:extLst>
            </p:cNvPr>
            <p:cNvSpPr txBox="1"/>
            <p:nvPr/>
          </p:nvSpPr>
          <p:spPr>
            <a:xfrm>
              <a:off x="5634974" y="2009323"/>
              <a:ext cx="922048"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Ambient heat</a:t>
              </a:r>
              <a:endParaRPr lang="de-AT" sz="1000" i="1" kern="0" dirty="0">
                <a:solidFill>
                  <a:prstClr val="black"/>
                </a:solidFill>
                <a:latin typeface="Aptos" panose="020B0004020202020204" pitchFamily="34" charset="0"/>
              </a:endParaRPr>
            </a:p>
          </p:txBody>
        </p:sp>
      </p:grpSp>
      <p:sp>
        <p:nvSpPr>
          <p:cNvPr id="446" name="Abgerundetes Rechteck 423">
            <a:extLst>
              <a:ext uri="{FF2B5EF4-FFF2-40B4-BE49-F238E27FC236}">
                <a16:creationId xmlns:a16="http://schemas.microsoft.com/office/drawing/2014/main" id="{589B5771-E00D-FA6F-243A-F5E37588CD1F}"/>
              </a:ext>
            </a:extLst>
          </p:cNvPr>
          <p:cNvSpPr/>
          <p:nvPr/>
        </p:nvSpPr>
        <p:spPr>
          <a:xfrm>
            <a:off x="10199511" y="1040972"/>
            <a:ext cx="1901084" cy="5223814"/>
          </a:xfrm>
          <a:prstGeom prst="roundRect">
            <a:avLst/>
          </a:prstGeom>
          <a:solidFill>
            <a:srgbClr val="E6EFF3"/>
          </a:solidFill>
          <a:ln w="12700" cap="flat" cmpd="sng" algn="ctr">
            <a:solidFill>
              <a:srgbClr val="E6EFF3">
                <a:lumMod val="90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447" name="Sechseck 446">
            <a:extLst>
              <a:ext uri="{FF2B5EF4-FFF2-40B4-BE49-F238E27FC236}">
                <a16:creationId xmlns:a16="http://schemas.microsoft.com/office/drawing/2014/main" id="{BF417C5C-66F6-7502-FAC2-633499C411BE}"/>
              </a:ext>
            </a:extLst>
          </p:cNvPr>
          <p:cNvSpPr/>
          <p:nvPr/>
        </p:nvSpPr>
        <p:spPr>
          <a:xfrm>
            <a:off x="10461003" y="5311104"/>
            <a:ext cx="378150" cy="325992"/>
          </a:xfrm>
          <a:prstGeom prst="hexagon">
            <a:avLst>
              <a:gd name="adj" fmla="val 30979"/>
              <a:gd name="vf" fmla="val 115470"/>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448" name="Flussdiagramm: Anzeige 9">
            <a:extLst>
              <a:ext uri="{FF2B5EF4-FFF2-40B4-BE49-F238E27FC236}">
                <a16:creationId xmlns:a16="http://schemas.microsoft.com/office/drawing/2014/main" id="{702CD8DA-F28D-62DF-4739-58622749B478}"/>
              </a:ext>
            </a:extLst>
          </p:cNvPr>
          <p:cNvSpPr/>
          <p:nvPr/>
        </p:nvSpPr>
        <p:spPr>
          <a:xfrm rot="5400000">
            <a:off x="10477953" y="4420950"/>
            <a:ext cx="344251" cy="347217"/>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449" name="Ellipse 448">
            <a:extLst>
              <a:ext uri="{FF2B5EF4-FFF2-40B4-BE49-F238E27FC236}">
                <a16:creationId xmlns:a16="http://schemas.microsoft.com/office/drawing/2014/main" id="{06F9E029-0924-85BB-091F-1702B1A01E9E}"/>
              </a:ext>
            </a:extLst>
          </p:cNvPr>
          <p:cNvSpPr/>
          <p:nvPr/>
        </p:nvSpPr>
        <p:spPr>
          <a:xfrm>
            <a:off x="10494013" y="3945901"/>
            <a:ext cx="312130" cy="314836"/>
          </a:xfrm>
          <a:prstGeom prst="ellipse">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grpSp>
        <p:nvGrpSpPr>
          <p:cNvPr id="450" name="Gruppieren 449">
            <a:extLst>
              <a:ext uri="{FF2B5EF4-FFF2-40B4-BE49-F238E27FC236}">
                <a16:creationId xmlns:a16="http://schemas.microsoft.com/office/drawing/2014/main" id="{FD042105-802B-169E-48E7-58795915D36A}"/>
              </a:ext>
            </a:extLst>
          </p:cNvPr>
          <p:cNvGrpSpPr/>
          <p:nvPr/>
        </p:nvGrpSpPr>
        <p:grpSpPr>
          <a:xfrm>
            <a:off x="10484306" y="4928379"/>
            <a:ext cx="331544" cy="221029"/>
            <a:chOff x="5879976" y="1340768"/>
            <a:chExt cx="432048" cy="288032"/>
          </a:xfrm>
          <a:solidFill>
            <a:sysClr val="window" lastClr="FFFFFF">
              <a:lumMod val="95000"/>
            </a:sysClr>
          </a:solidFill>
        </p:grpSpPr>
        <p:sp>
          <p:nvSpPr>
            <p:cNvPr id="589" name="Rechteck 588">
              <a:extLst>
                <a:ext uri="{FF2B5EF4-FFF2-40B4-BE49-F238E27FC236}">
                  <a16:creationId xmlns:a16="http://schemas.microsoft.com/office/drawing/2014/main" id="{C9430EE0-3466-F47A-EF8F-5489598DA60E}"/>
                </a:ext>
              </a:extLst>
            </p:cNvPr>
            <p:cNvSpPr/>
            <p:nvPr/>
          </p:nvSpPr>
          <p:spPr>
            <a:xfrm>
              <a:off x="5879976" y="1340768"/>
              <a:ext cx="432048" cy="72008"/>
            </a:xfrm>
            <a:prstGeom prst="rect">
              <a:avLst/>
            </a:prstGeom>
            <a:grp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590" name="Rechteck 589">
              <a:extLst>
                <a:ext uri="{FF2B5EF4-FFF2-40B4-BE49-F238E27FC236}">
                  <a16:creationId xmlns:a16="http://schemas.microsoft.com/office/drawing/2014/main" id="{87C12559-8281-53E2-EC96-F35B1C4E88A6}"/>
                </a:ext>
              </a:extLst>
            </p:cNvPr>
            <p:cNvSpPr/>
            <p:nvPr/>
          </p:nvSpPr>
          <p:spPr>
            <a:xfrm>
              <a:off x="5951984" y="1453034"/>
              <a:ext cx="288032" cy="72008"/>
            </a:xfrm>
            <a:prstGeom prst="rect">
              <a:avLst/>
            </a:prstGeom>
            <a:grp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591" name="Rechteck 590">
              <a:extLst>
                <a:ext uri="{FF2B5EF4-FFF2-40B4-BE49-F238E27FC236}">
                  <a16:creationId xmlns:a16="http://schemas.microsoft.com/office/drawing/2014/main" id="{6F5A41F1-B9B0-1AE0-7A64-16E6A2B5606B}"/>
                </a:ext>
              </a:extLst>
            </p:cNvPr>
            <p:cNvSpPr/>
            <p:nvPr/>
          </p:nvSpPr>
          <p:spPr>
            <a:xfrm>
              <a:off x="6010945" y="1570534"/>
              <a:ext cx="170110" cy="58266"/>
            </a:xfrm>
            <a:prstGeom prst="rect">
              <a:avLst/>
            </a:prstGeom>
            <a:grp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grpSp>
      <p:sp>
        <p:nvSpPr>
          <p:cNvPr id="451" name="Flussdiagramm: Verzögerung 450">
            <a:extLst>
              <a:ext uri="{FF2B5EF4-FFF2-40B4-BE49-F238E27FC236}">
                <a16:creationId xmlns:a16="http://schemas.microsoft.com/office/drawing/2014/main" id="{7E9E945B-F821-649E-CC31-502DF6027FA1}"/>
              </a:ext>
            </a:extLst>
          </p:cNvPr>
          <p:cNvSpPr/>
          <p:nvPr/>
        </p:nvSpPr>
        <p:spPr>
          <a:xfrm>
            <a:off x="10491512" y="5798791"/>
            <a:ext cx="317133" cy="272714"/>
          </a:xfrm>
          <a:prstGeom prst="flowChartDelay">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sz="1400" kern="0" dirty="0">
              <a:solidFill>
                <a:prstClr val="white"/>
              </a:solidFill>
              <a:latin typeface="Aptos" panose="020B0004020202020204" pitchFamily="34" charset="0"/>
            </a:endParaRPr>
          </a:p>
        </p:txBody>
      </p:sp>
      <p:sp>
        <p:nvSpPr>
          <p:cNvPr id="452" name="Textfeld 451">
            <a:extLst>
              <a:ext uri="{FF2B5EF4-FFF2-40B4-BE49-F238E27FC236}">
                <a16:creationId xmlns:a16="http://schemas.microsoft.com/office/drawing/2014/main" id="{512B9FD1-AF29-EC8F-0EE9-E751C8747AEE}"/>
              </a:ext>
            </a:extLst>
          </p:cNvPr>
          <p:cNvSpPr txBox="1"/>
          <p:nvPr/>
        </p:nvSpPr>
        <p:spPr>
          <a:xfrm>
            <a:off x="10844905" y="3894265"/>
            <a:ext cx="575799" cy="400110"/>
          </a:xfrm>
          <a:prstGeom prst="rect">
            <a:avLst/>
          </a:prstGeom>
          <a:noFill/>
        </p:spPr>
        <p:txBody>
          <a:bodyPr wrap="none" rtlCol="0">
            <a:spAutoFit/>
          </a:bodyPr>
          <a:lstStyle/>
          <a:p>
            <a:pPr defTabSz="914339">
              <a:defRPr/>
            </a:pPr>
            <a:endParaRPr lang="en-GB" sz="1000" kern="0" dirty="0">
              <a:solidFill>
                <a:prstClr val="black"/>
              </a:solidFill>
              <a:latin typeface="Aptos" panose="020B0004020202020204" pitchFamily="34" charset="0"/>
            </a:endParaRPr>
          </a:p>
          <a:p>
            <a:pPr defTabSz="914339">
              <a:defRPr/>
            </a:pPr>
            <a:r>
              <a:rPr lang="en-GB" sz="1000" i="1" kern="0" dirty="0">
                <a:solidFill>
                  <a:prstClr val="black"/>
                </a:solidFill>
                <a:latin typeface="Aptos" panose="020B0004020202020204" pitchFamily="34" charset="0"/>
              </a:rPr>
              <a:t>Source</a:t>
            </a:r>
            <a:endParaRPr lang="de-AT" sz="1000" i="1" kern="0" dirty="0">
              <a:solidFill>
                <a:prstClr val="black"/>
              </a:solidFill>
              <a:latin typeface="Aptos" panose="020B0004020202020204" pitchFamily="34" charset="0"/>
            </a:endParaRPr>
          </a:p>
        </p:txBody>
      </p:sp>
      <p:sp>
        <p:nvSpPr>
          <p:cNvPr id="453" name="Textfeld 452">
            <a:extLst>
              <a:ext uri="{FF2B5EF4-FFF2-40B4-BE49-F238E27FC236}">
                <a16:creationId xmlns:a16="http://schemas.microsoft.com/office/drawing/2014/main" id="{7E04085E-70C0-D598-77B1-74E89F5C1C05}"/>
              </a:ext>
            </a:extLst>
          </p:cNvPr>
          <p:cNvSpPr txBox="1"/>
          <p:nvPr/>
        </p:nvSpPr>
        <p:spPr>
          <a:xfrm>
            <a:off x="10844905" y="4354637"/>
            <a:ext cx="609462" cy="400110"/>
          </a:xfrm>
          <a:prstGeom prst="rect">
            <a:avLst/>
          </a:prstGeom>
          <a:noFill/>
        </p:spPr>
        <p:txBody>
          <a:bodyPr wrap="none" rtlCol="0">
            <a:spAutoFit/>
          </a:bodyPr>
          <a:lstStyle/>
          <a:p>
            <a:pPr defTabSz="914339">
              <a:defRPr/>
            </a:pPr>
            <a:r>
              <a:rPr lang="en-GB" sz="1000" i="1" kern="0" dirty="0">
                <a:solidFill>
                  <a:prstClr val="black"/>
                </a:solidFill>
                <a:latin typeface="Aptos" panose="020B0004020202020204" pitchFamily="34" charset="0"/>
              </a:rPr>
              <a:t> </a:t>
            </a:r>
          </a:p>
          <a:p>
            <a:pPr defTabSz="914339">
              <a:defRPr/>
            </a:pPr>
            <a:r>
              <a:rPr lang="en-GB" sz="1000" i="1" kern="0" dirty="0">
                <a:solidFill>
                  <a:prstClr val="black"/>
                </a:solidFill>
                <a:latin typeface="Aptos" panose="020B0004020202020204" pitchFamily="34" charset="0"/>
              </a:rPr>
              <a:t>Storage</a:t>
            </a:r>
            <a:endParaRPr lang="de-AT" sz="1000" kern="0" dirty="0">
              <a:solidFill>
                <a:prstClr val="black"/>
              </a:solidFill>
              <a:latin typeface="Aptos" panose="020B0004020202020204" pitchFamily="34" charset="0"/>
            </a:endParaRPr>
          </a:p>
        </p:txBody>
      </p:sp>
      <p:sp>
        <p:nvSpPr>
          <p:cNvPr id="454" name="Textfeld 453">
            <a:extLst>
              <a:ext uri="{FF2B5EF4-FFF2-40B4-BE49-F238E27FC236}">
                <a16:creationId xmlns:a16="http://schemas.microsoft.com/office/drawing/2014/main" id="{0FA39113-CA34-2500-F540-08C5A14D1AA3}"/>
              </a:ext>
            </a:extLst>
          </p:cNvPr>
          <p:cNvSpPr txBox="1"/>
          <p:nvPr/>
        </p:nvSpPr>
        <p:spPr>
          <a:xfrm>
            <a:off x="10844905" y="4815009"/>
            <a:ext cx="420308" cy="400110"/>
          </a:xfrm>
          <a:prstGeom prst="rect">
            <a:avLst/>
          </a:prstGeom>
          <a:noFill/>
        </p:spPr>
        <p:txBody>
          <a:bodyPr wrap="none" rtlCol="0">
            <a:spAutoFit/>
          </a:bodyPr>
          <a:lstStyle/>
          <a:p>
            <a:pPr defTabSz="914339">
              <a:defRPr/>
            </a:pPr>
            <a:endParaRPr lang="en-GB" sz="1000" kern="0" dirty="0">
              <a:solidFill>
                <a:prstClr val="black"/>
              </a:solidFill>
              <a:latin typeface="Aptos" panose="020B0004020202020204" pitchFamily="34" charset="0"/>
            </a:endParaRPr>
          </a:p>
          <a:p>
            <a:pPr defTabSz="914339">
              <a:defRPr/>
            </a:pPr>
            <a:r>
              <a:rPr lang="en-GB" sz="1000" i="1" kern="0" dirty="0">
                <a:solidFill>
                  <a:prstClr val="black"/>
                </a:solidFill>
                <a:latin typeface="Aptos" panose="020B0004020202020204" pitchFamily="34" charset="0"/>
              </a:rPr>
              <a:t>Sink</a:t>
            </a:r>
            <a:endParaRPr lang="de-AT" sz="1000" kern="0" dirty="0">
              <a:solidFill>
                <a:prstClr val="black"/>
              </a:solidFill>
              <a:latin typeface="Aptos" panose="020B0004020202020204" pitchFamily="34" charset="0"/>
            </a:endParaRPr>
          </a:p>
        </p:txBody>
      </p:sp>
      <p:sp>
        <p:nvSpPr>
          <p:cNvPr id="455" name="Textfeld 454">
            <a:extLst>
              <a:ext uri="{FF2B5EF4-FFF2-40B4-BE49-F238E27FC236}">
                <a16:creationId xmlns:a16="http://schemas.microsoft.com/office/drawing/2014/main" id="{B40C533C-A09C-F3ED-335D-3051164F3089}"/>
              </a:ext>
            </a:extLst>
          </p:cNvPr>
          <p:cNvSpPr txBox="1"/>
          <p:nvPr/>
        </p:nvSpPr>
        <p:spPr>
          <a:xfrm>
            <a:off x="10844905" y="5275381"/>
            <a:ext cx="532518" cy="400110"/>
          </a:xfrm>
          <a:prstGeom prst="rect">
            <a:avLst/>
          </a:prstGeom>
          <a:noFill/>
        </p:spPr>
        <p:txBody>
          <a:bodyPr wrap="none" rtlCol="0">
            <a:spAutoFit/>
          </a:bodyPr>
          <a:lstStyle/>
          <a:p>
            <a:pPr defTabSz="914339">
              <a:defRPr/>
            </a:pPr>
            <a:endParaRPr lang="en-GB" sz="1000" kern="0" dirty="0">
              <a:solidFill>
                <a:prstClr val="black"/>
              </a:solidFill>
              <a:latin typeface="Aptos" panose="020B0004020202020204" pitchFamily="34" charset="0"/>
            </a:endParaRPr>
          </a:p>
          <a:p>
            <a:pPr defTabSz="914339">
              <a:defRPr/>
            </a:pPr>
            <a:r>
              <a:rPr lang="en-GB" sz="1000" i="1" kern="0" dirty="0">
                <a:solidFill>
                  <a:prstClr val="black"/>
                </a:solidFill>
                <a:latin typeface="Aptos" panose="020B0004020202020204" pitchFamily="34" charset="0"/>
              </a:rPr>
              <a:t>Usage</a:t>
            </a:r>
            <a:endParaRPr lang="de-AT" sz="1000" kern="0" dirty="0">
              <a:solidFill>
                <a:prstClr val="black"/>
              </a:solidFill>
              <a:latin typeface="Aptos" panose="020B0004020202020204" pitchFamily="34" charset="0"/>
            </a:endParaRPr>
          </a:p>
        </p:txBody>
      </p:sp>
      <p:sp>
        <p:nvSpPr>
          <p:cNvPr id="456" name="Textfeld 455">
            <a:extLst>
              <a:ext uri="{FF2B5EF4-FFF2-40B4-BE49-F238E27FC236}">
                <a16:creationId xmlns:a16="http://schemas.microsoft.com/office/drawing/2014/main" id="{E3211CBE-DB45-9EAA-0827-CAA709712DFD}"/>
              </a:ext>
            </a:extLst>
          </p:cNvPr>
          <p:cNvSpPr txBox="1"/>
          <p:nvPr/>
        </p:nvSpPr>
        <p:spPr>
          <a:xfrm>
            <a:off x="10844905" y="5735752"/>
            <a:ext cx="1031051" cy="400110"/>
          </a:xfrm>
          <a:prstGeom prst="rect">
            <a:avLst/>
          </a:prstGeom>
          <a:noFill/>
        </p:spPr>
        <p:txBody>
          <a:bodyPr wrap="none" rtlCol="0">
            <a:spAutoFit/>
          </a:bodyPr>
          <a:lstStyle/>
          <a:p>
            <a:pPr defTabSz="914339">
              <a:defRPr/>
            </a:pPr>
            <a:endParaRPr lang="en-GB" sz="1000" kern="0" dirty="0">
              <a:solidFill>
                <a:prstClr val="black"/>
              </a:solidFill>
              <a:latin typeface="Aptos" panose="020B0004020202020204" pitchFamily="34" charset="0"/>
            </a:endParaRPr>
          </a:p>
          <a:p>
            <a:pPr defTabSz="914339">
              <a:defRPr/>
            </a:pPr>
            <a:r>
              <a:rPr lang="en-GB" sz="1000" i="1" kern="0" dirty="0">
                <a:solidFill>
                  <a:prstClr val="black"/>
                </a:solidFill>
                <a:latin typeface="Aptos" panose="020B0004020202020204" pitchFamily="34" charset="0"/>
              </a:rPr>
              <a:t>Transformation</a:t>
            </a:r>
            <a:endParaRPr lang="de-AT" sz="1000" i="1" kern="0" dirty="0">
              <a:solidFill>
                <a:prstClr val="black"/>
              </a:solidFill>
              <a:latin typeface="Aptos" panose="020B0004020202020204" pitchFamily="34" charset="0"/>
            </a:endParaRPr>
          </a:p>
        </p:txBody>
      </p:sp>
      <p:grpSp>
        <p:nvGrpSpPr>
          <p:cNvPr id="457" name="Gruppieren 456">
            <a:extLst>
              <a:ext uri="{FF2B5EF4-FFF2-40B4-BE49-F238E27FC236}">
                <a16:creationId xmlns:a16="http://schemas.microsoft.com/office/drawing/2014/main" id="{3A1FB0B2-CBA2-48BC-FAB6-2CF2EA71E220}"/>
              </a:ext>
            </a:extLst>
          </p:cNvPr>
          <p:cNvGrpSpPr/>
          <p:nvPr/>
        </p:nvGrpSpPr>
        <p:grpSpPr>
          <a:xfrm>
            <a:off x="10343832" y="1393442"/>
            <a:ext cx="1340708" cy="256696"/>
            <a:chOff x="740337" y="783908"/>
            <a:chExt cx="1340708" cy="256696"/>
          </a:xfrm>
        </p:grpSpPr>
        <p:cxnSp>
          <p:nvCxnSpPr>
            <p:cNvPr id="586" name="Gerade Verbindung mit Pfeil 585">
              <a:extLst>
                <a:ext uri="{FF2B5EF4-FFF2-40B4-BE49-F238E27FC236}">
                  <a16:creationId xmlns:a16="http://schemas.microsoft.com/office/drawing/2014/main" id="{0C9AF2A3-7BA8-F5E4-811D-6FEE3716CBE2}"/>
                </a:ext>
              </a:extLst>
            </p:cNvPr>
            <p:cNvCxnSpPr/>
            <p:nvPr/>
          </p:nvCxnSpPr>
          <p:spPr>
            <a:xfrm>
              <a:off x="837020" y="783908"/>
              <a:ext cx="1244025" cy="0"/>
            </a:xfrm>
            <a:prstGeom prst="straightConnector1">
              <a:avLst/>
            </a:prstGeom>
            <a:noFill/>
            <a:ln w="28575" cap="flat" cmpd="sng" algn="ctr">
              <a:solidFill>
                <a:srgbClr val="950F53"/>
              </a:solidFill>
              <a:prstDash val="solid"/>
              <a:miter lim="800000"/>
              <a:tailEnd type="triangle"/>
            </a:ln>
            <a:effectLst/>
          </p:spPr>
        </p:cxnSp>
        <p:sp>
          <p:nvSpPr>
            <p:cNvPr id="588" name="Textfeld 587">
              <a:extLst>
                <a:ext uri="{FF2B5EF4-FFF2-40B4-BE49-F238E27FC236}">
                  <a16:creationId xmlns:a16="http://schemas.microsoft.com/office/drawing/2014/main" id="{FBE0F222-CEC7-675F-227D-38083B167F66}"/>
                </a:ext>
              </a:extLst>
            </p:cNvPr>
            <p:cNvSpPr txBox="1"/>
            <p:nvPr/>
          </p:nvSpPr>
          <p:spPr>
            <a:xfrm>
              <a:off x="740337" y="794383"/>
              <a:ext cx="447559"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 Grid</a:t>
              </a:r>
              <a:endParaRPr lang="de-AT" sz="1000" i="1" kern="0" dirty="0">
                <a:solidFill>
                  <a:prstClr val="black"/>
                </a:solidFill>
                <a:latin typeface="Aptos" panose="020B0004020202020204" pitchFamily="34" charset="0"/>
              </a:endParaRPr>
            </a:p>
          </p:txBody>
        </p:sp>
      </p:grpSp>
      <p:grpSp>
        <p:nvGrpSpPr>
          <p:cNvPr id="458" name="Gruppieren 457">
            <a:extLst>
              <a:ext uri="{FF2B5EF4-FFF2-40B4-BE49-F238E27FC236}">
                <a16:creationId xmlns:a16="http://schemas.microsoft.com/office/drawing/2014/main" id="{4C7A5C2D-FFDA-4AB7-E999-A6FC05EF58EA}"/>
              </a:ext>
            </a:extLst>
          </p:cNvPr>
          <p:cNvGrpSpPr/>
          <p:nvPr/>
        </p:nvGrpSpPr>
        <p:grpSpPr>
          <a:xfrm>
            <a:off x="10459643" y="3239520"/>
            <a:ext cx="1244025" cy="246221"/>
            <a:chOff x="783683" y="903567"/>
            <a:chExt cx="1244025" cy="246221"/>
          </a:xfrm>
        </p:grpSpPr>
        <p:cxnSp>
          <p:nvCxnSpPr>
            <p:cNvPr id="583" name="Gerade Verbindung mit Pfeil 582">
              <a:extLst>
                <a:ext uri="{FF2B5EF4-FFF2-40B4-BE49-F238E27FC236}">
                  <a16:creationId xmlns:a16="http://schemas.microsoft.com/office/drawing/2014/main" id="{3CD568DC-BFA6-8F18-56CA-091A3DFEFB39}"/>
                </a:ext>
              </a:extLst>
            </p:cNvPr>
            <p:cNvCxnSpPr/>
            <p:nvPr/>
          </p:nvCxnSpPr>
          <p:spPr>
            <a:xfrm>
              <a:off x="783683" y="1118083"/>
              <a:ext cx="1244025" cy="0"/>
            </a:xfrm>
            <a:prstGeom prst="straightConnector1">
              <a:avLst/>
            </a:prstGeom>
            <a:noFill/>
            <a:ln w="28575" cap="flat" cmpd="sng" algn="ctr">
              <a:solidFill>
                <a:srgbClr val="FF0000"/>
              </a:solidFill>
              <a:prstDash val="solid"/>
              <a:miter lim="800000"/>
              <a:tailEnd type="triangle"/>
            </a:ln>
            <a:effectLst/>
          </p:spPr>
        </p:cxnSp>
        <p:sp>
          <p:nvSpPr>
            <p:cNvPr id="585" name="Textfeld 584">
              <a:extLst>
                <a:ext uri="{FF2B5EF4-FFF2-40B4-BE49-F238E27FC236}">
                  <a16:creationId xmlns:a16="http://schemas.microsoft.com/office/drawing/2014/main" id="{2003CEF1-8138-851F-4801-D603F80F2E59}"/>
                </a:ext>
              </a:extLst>
            </p:cNvPr>
            <p:cNvSpPr txBox="1"/>
            <p:nvPr/>
          </p:nvSpPr>
          <p:spPr>
            <a:xfrm>
              <a:off x="1378007" y="903567"/>
              <a:ext cx="466795" cy="246221"/>
            </a:xfrm>
            <a:prstGeom prst="rect">
              <a:avLst/>
            </a:prstGeom>
            <a:noFill/>
          </p:spPr>
          <p:txBody>
            <a:bodyPr wrap="none" rtlCol="0">
              <a:spAutoFit/>
            </a:bodyPr>
            <a:lstStyle/>
            <a:p>
              <a:pPr algn="ctr" defTabSz="914339">
                <a:defRPr/>
              </a:pPr>
              <a:r>
                <a:rPr lang="en-GB" sz="1000" b="1" i="1" kern="0" dirty="0">
                  <a:solidFill>
                    <a:prstClr val="black"/>
                  </a:solidFill>
                  <a:latin typeface="Aptos" panose="020B0004020202020204" pitchFamily="34" charset="0"/>
                </a:rPr>
                <a:t>Heat</a:t>
              </a:r>
              <a:endParaRPr lang="de-AT" sz="1000" b="1" i="1" kern="0" dirty="0">
                <a:solidFill>
                  <a:prstClr val="black"/>
                </a:solidFill>
                <a:latin typeface="Aptos" panose="020B0004020202020204" pitchFamily="34" charset="0"/>
              </a:endParaRPr>
            </a:p>
          </p:txBody>
        </p:sp>
      </p:grpSp>
      <p:grpSp>
        <p:nvGrpSpPr>
          <p:cNvPr id="459" name="Gruppieren 458">
            <a:extLst>
              <a:ext uri="{FF2B5EF4-FFF2-40B4-BE49-F238E27FC236}">
                <a16:creationId xmlns:a16="http://schemas.microsoft.com/office/drawing/2014/main" id="{96E3B12E-E314-2B8B-347F-CB425AC0C70B}"/>
              </a:ext>
            </a:extLst>
          </p:cNvPr>
          <p:cNvGrpSpPr/>
          <p:nvPr/>
        </p:nvGrpSpPr>
        <p:grpSpPr>
          <a:xfrm>
            <a:off x="8441808" y="5748019"/>
            <a:ext cx="432048" cy="288032"/>
            <a:chOff x="8953757" y="392365"/>
            <a:chExt cx="432048" cy="288032"/>
          </a:xfrm>
        </p:grpSpPr>
        <p:sp>
          <p:nvSpPr>
            <p:cNvPr id="580" name="Rechteck 579">
              <a:extLst>
                <a:ext uri="{FF2B5EF4-FFF2-40B4-BE49-F238E27FC236}">
                  <a16:creationId xmlns:a16="http://schemas.microsoft.com/office/drawing/2014/main" id="{41AB7092-27D6-CEC9-444B-527B7EC28488}"/>
                </a:ext>
              </a:extLst>
            </p:cNvPr>
            <p:cNvSpPr/>
            <p:nvPr/>
          </p:nvSpPr>
          <p:spPr>
            <a:xfrm>
              <a:off x="8953757" y="392365"/>
              <a:ext cx="432048" cy="72008"/>
            </a:xfrm>
            <a:prstGeom prst="rect">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81" name="Rechteck 580">
              <a:extLst>
                <a:ext uri="{FF2B5EF4-FFF2-40B4-BE49-F238E27FC236}">
                  <a16:creationId xmlns:a16="http://schemas.microsoft.com/office/drawing/2014/main" id="{2FD2A009-0224-8EEE-48EF-24C8BCC566A4}"/>
                </a:ext>
              </a:extLst>
            </p:cNvPr>
            <p:cNvSpPr/>
            <p:nvPr/>
          </p:nvSpPr>
          <p:spPr>
            <a:xfrm>
              <a:off x="9025765" y="504631"/>
              <a:ext cx="288032" cy="72008"/>
            </a:xfrm>
            <a:prstGeom prst="rect">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82" name="Rechteck 581">
              <a:extLst>
                <a:ext uri="{FF2B5EF4-FFF2-40B4-BE49-F238E27FC236}">
                  <a16:creationId xmlns:a16="http://schemas.microsoft.com/office/drawing/2014/main" id="{F70A597F-6AAF-1E4E-16B5-0AD90FC1CD8D}"/>
                </a:ext>
              </a:extLst>
            </p:cNvPr>
            <p:cNvSpPr/>
            <p:nvPr/>
          </p:nvSpPr>
          <p:spPr>
            <a:xfrm>
              <a:off x="9084726" y="622131"/>
              <a:ext cx="170110" cy="58266"/>
            </a:xfrm>
            <a:prstGeom prst="rect">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cxnSp>
        <p:nvCxnSpPr>
          <p:cNvPr id="460" name="Gekrümmter Verbinder 156">
            <a:extLst>
              <a:ext uri="{FF2B5EF4-FFF2-40B4-BE49-F238E27FC236}">
                <a16:creationId xmlns:a16="http://schemas.microsoft.com/office/drawing/2014/main" id="{F818A6E2-13A0-1236-9464-35A19F5F3D2B}"/>
              </a:ext>
            </a:extLst>
          </p:cNvPr>
          <p:cNvCxnSpPr>
            <a:stCxn id="598" idx="2"/>
            <a:endCxn id="461" idx="1"/>
          </p:cNvCxnSpPr>
          <p:nvPr/>
        </p:nvCxnSpPr>
        <p:spPr>
          <a:xfrm rot="10800000" flipV="1">
            <a:off x="6359552" y="1710442"/>
            <a:ext cx="963192" cy="538815"/>
          </a:xfrm>
          <a:prstGeom prst="curvedConnector4">
            <a:avLst>
              <a:gd name="adj1" fmla="val 34567"/>
              <a:gd name="adj2" fmla="val 57574"/>
            </a:avLst>
          </a:prstGeom>
          <a:noFill/>
          <a:ln w="28575" cap="flat" cmpd="sng" algn="ctr">
            <a:solidFill>
              <a:srgbClr val="BCCF00">
                <a:lumMod val="60000"/>
                <a:lumOff val="40000"/>
              </a:srgbClr>
            </a:solidFill>
            <a:prstDash val="solid"/>
            <a:miter lim="800000"/>
            <a:tailEnd type="triangle"/>
          </a:ln>
          <a:effectLst/>
        </p:spPr>
      </p:cxnSp>
      <p:sp>
        <p:nvSpPr>
          <p:cNvPr id="461" name="Abgerundetes Rechteck 162">
            <a:extLst>
              <a:ext uri="{FF2B5EF4-FFF2-40B4-BE49-F238E27FC236}">
                <a16:creationId xmlns:a16="http://schemas.microsoft.com/office/drawing/2014/main" id="{2BBE9FDF-0805-5C42-5078-434FD3B96F68}"/>
              </a:ext>
            </a:extLst>
          </p:cNvPr>
          <p:cNvSpPr/>
          <p:nvPr/>
        </p:nvSpPr>
        <p:spPr>
          <a:xfrm rot="5400000">
            <a:off x="6062252" y="1330559"/>
            <a:ext cx="594601" cy="2431999"/>
          </a:xfrm>
          <a:prstGeom prst="roundRect">
            <a:avLst/>
          </a:prstGeom>
          <a:solidFill>
            <a:srgbClr val="E6EFF3"/>
          </a:solidFill>
          <a:ln w="28575" cap="flat" cmpd="sng" algn="ctr">
            <a:solidFill>
              <a:srgbClr val="E6EFF3">
                <a:lumMod val="75000"/>
              </a:srgbClr>
            </a:solidFill>
            <a:prstDash val="dash"/>
            <a:miter lim="800000"/>
          </a:ln>
          <a:effectLst/>
        </p:spPr>
        <p:txBody>
          <a:bodyPr vert="vert270" rtlCol="0" anchor="ctr"/>
          <a:lstStyle/>
          <a:p>
            <a:pPr algn="ctr" defTabSz="914339">
              <a:defRPr/>
            </a:pPr>
            <a:r>
              <a:rPr lang="en-GB" sz="1400" b="1" kern="0" dirty="0">
                <a:solidFill>
                  <a:srgbClr val="E6EFF3">
                    <a:lumMod val="50000"/>
                  </a:srgbClr>
                </a:solidFill>
                <a:latin typeface="Aptos" panose="020B0004020202020204" pitchFamily="34" charset="0"/>
              </a:rPr>
              <a:t>           Primary and GHG</a:t>
            </a:r>
          </a:p>
          <a:p>
            <a:pPr algn="ctr" defTabSz="914339">
              <a:defRPr/>
            </a:pPr>
            <a:r>
              <a:rPr lang="en-GB" sz="1400" i="1" kern="0" dirty="0">
                <a:solidFill>
                  <a:srgbClr val="E6EFF3">
                    <a:lumMod val="50000"/>
                  </a:srgbClr>
                </a:solidFill>
                <a:latin typeface="Aptos" panose="020B0004020202020204" pitchFamily="34" charset="0"/>
              </a:rPr>
              <a:t>Conversion</a:t>
            </a:r>
            <a:endParaRPr lang="de-AT" sz="1400" i="1" kern="0" dirty="0">
              <a:solidFill>
                <a:srgbClr val="E6EFF3">
                  <a:lumMod val="50000"/>
                </a:srgbClr>
              </a:solidFill>
              <a:latin typeface="Aptos" panose="020B0004020202020204" pitchFamily="34" charset="0"/>
            </a:endParaRPr>
          </a:p>
        </p:txBody>
      </p:sp>
      <p:cxnSp>
        <p:nvCxnSpPr>
          <p:cNvPr id="462" name="Gekrümmter Verbinder 164">
            <a:extLst>
              <a:ext uri="{FF2B5EF4-FFF2-40B4-BE49-F238E27FC236}">
                <a16:creationId xmlns:a16="http://schemas.microsoft.com/office/drawing/2014/main" id="{519FBCA1-F6DB-13FF-ED17-CCB219B8141F}"/>
              </a:ext>
            </a:extLst>
          </p:cNvPr>
          <p:cNvCxnSpPr>
            <a:stCxn id="601" idx="5"/>
            <a:endCxn id="461" idx="1"/>
          </p:cNvCxnSpPr>
          <p:nvPr/>
        </p:nvCxnSpPr>
        <p:spPr>
          <a:xfrm rot="16200000" flipH="1">
            <a:off x="5582540" y="1472245"/>
            <a:ext cx="377279" cy="1176745"/>
          </a:xfrm>
          <a:prstGeom prst="curvedConnector5">
            <a:avLst>
              <a:gd name="adj1" fmla="val 60592"/>
              <a:gd name="adj2" fmla="val 40952"/>
              <a:gd name="adj3" fmla="val 39408"/>
            </a:avLst>
          </a:prstGeom>
          <a:noFill/>
          <a:ln w="28575" cap="flat" cmpd="sng" algn="ctr">
            <a:solidFill>
              <a:srgbClr val="950F53"/>
            </a:solidFill>
            <a:prstDash val="solid"/>
            <a:miter lim="800000"/>
            <a:tailEnd type="triangle"/>
          </a:ln>
          <a:effectLst/>
        </p:spPr>
      </p:cxnSp>
      <p:cxnSp>
        <p:nvCxnSpPr>
          <p:cNvPr id="463" name="Gekrümmter Verbinder 167">
            <a:extLst>
              <a:ext uri="{FF2B5EF4-FFF2-40B4-BE49-F238E27FC236}">
                <a16:creationId xmlns:a16="http://schemas.microsoft.com/office/drawing/2014/main" id="{F2540C8A-FE2E-3533-6B00-6E8658F45398}"/>
              </a:ext>
            </a:extLst>
          </p:cNvPr>
          <p:cNvCxnSpPr>
            <a:stCxn id="461" idx="1"/>
            <a:endCxn id="601" idx="6"/>
          </p:cNvCxnSpPr>
          <p:nvPr/>
        </p:nvCxnSpPr>
        <p:spPr>
          <a:xfrm rot="16200000" flipV="1">
            <a:off x="5522887" y="1412593"/>
            <a:ext cx="580948" cy="1092382"/>
          </a:xfrm>
          <a:prstGeom prst="curvedConnector4">
            <a:avLst>
              <a:gd name="adj1" fmla="val 39349"/>
              <a:gd name="adj2" fmla="val 63608"/>
            </a:avLst>
          </a:prstGeom>
          <a:noFill/>
          <a:ln w="28575" cap="flat" cmpd="sng" algn="ctr">
            <a:solidFill>
              <a:srgbClr val="5FB564">
                <a:lumMod val="60000"/>
                <a:lumOff val="40000"/>
              </a:srgbClr>
            </a:solidFill>
            <a:prstDash val="solid"/>
            <a:miter lim="800000"/>
            <a:tailEnd type="triangle"/>
          </a:ln>
          <a:effectLst/>
        </p:spPr>
      </p:cxnSp>
      <p:grpSp>
        <p:nvGrpSpPr>
          <p:cNvPr id="464" name="Gruppieren 463">
            <a:extLst>
              <a:ext uri="{FF2B5EF4-FFF2-40B4-BE49-F238E27FC236}">
                <a16:creationId xmlns:a16="http://schemas.microsoft.com/office/drawing/2014/main" id="{6C4FEFA0-2488-6E75-CFCA-3C3A435251F6}"/>
              </a:ext>
            </a:extLst>
          </p:cNvPr>
          <p:cNvGrpSpPr/>
          <p:nvPr/>
        </p:nvGrpSpPr>
        <p:grpSpPr>
          <a:xfrm>
            <a:off x="8634269" y="3945475"/>
            <a:ext cx="1100954" cy="1180863"/>
            <a:chOff x="3742312" y="2104168"/>
            <a:chExt cx="1100954" cy="1180863"/>
          </a:xfrm>
        </p:grpSpPr>
        <p:grpSp>
          <p:nvGrpSpPr>
            <p:cNvPr id="556" name="Gruppieren 555">
              <a:extLst>
                <a:ext uri="{FF2B5EF4-FFF2-40B4-BE49-F238E27FC236}">
                  <a16:creationId xmlns:a16="http://schemas.microsoft.com/office/drawing/2014/main" id="{4703714B-E1B6-C952-08BF-F788E33C4FA7}"/>
                </a:ext>
              </a:extLst>
            </p:cNvPr>
            <p:cNvGrpSpPr/>
            <p:nvPr/>
          </p:nvGrpSpPr>
          <p:grpSpPr>
            <a:xfrm>
              <a:off x="3742312" y="2104168"/>
              <a:ext cx="1025314" cy="883891"/>
              <a:chOff x="2451143" y="538602"/>
              <a:chExt cx="1297164" cy="1118244"/>
            </a:xfrm>
          </p:grpSpPr>
          <p:sp>
            <p:nvSpPr>
              <p:cNvPr id="559" name="Sechseck 558">
                <a:extLst>
                  <a:ext uri="{FF2B5EF4-FFF2-40B4-BE49-F238E27FC236}">
                    <a16:creationId xmlns:a16="http://schemas.microsoft.com/office/drawing/2014/main" id="{88C82D40-F9FA-31FC-6A82-469EC97F558D}"/>
                  </a:ext>
                </a:extLst>
              </p:cNvPr>
              <p:cNvSpPr/>
              <p:nvPr/>
            </p:nvSpPr>
            <p:spPr>
              <a:xfrm>
                <a:off x="2451143" y="538602"/>
                <a:ext cx="1297164" cy="1118244"/>
              </a:xfrm>
              <a:prstGeom prst="hexagon">
                <a:avLst>
                  <a:gd name="adj" fmla="val 30979"/>
                  <a:gd name="vf" fmla="val 115470"/>
                </a:avLst>
              </a:prstGeom>
              <a:solidFill>
                <a:srgbClr val="950F53">
                  <a:lumMod val="20000"/>
                  <a:lumOff val="80000"/>
                </a:srgbClr>
              </a:solidFill>
              <a:ln w="12700" cap="flat" cmpd="sng" algn="ctr">
                <a:solidFill>
                  <a:srgbClr val="950F53">
                    <a:lumMod val="60000"/>
                    <a:lumOff val="40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60" name="Gruppieren 559" descr="{&quot;Key&quot;:&quot;POWER_USER_SHAPE_ICON&quot;,&quot;Value&quot;:&quot;POWER_USER_SHAPE_ICON_STYLE_2&quot;}">
                <a:extLst>
                  <a:ext uri="{FF2B5EF4-FFF2-40B4-BE49-F238E27FC236}">
                    <a16:creationId xmlns:a16="http://schemas.microsoft.com/office/drawing/2014/main" id="{0A5273C7-19BD-B32A-2E8F-F9D78C610E4C}"/>
                  </a:ext>
                </a:extLst>
              </p:cNvPr>
              <p:cNvGrpSpPr>
                <a:grpSpLocks noChangeAspect="1"/>
              </p:cNvGrpSpPr>
              <p:nvPr/>
            </p:nvGrpSpPr>
            <p:grpSpPr>
              <a:xfrm>
                <a:off x="2579006" y="745618"/>
                <a:ext cx="472397" cy="472397"/>
                <a:chOff x="-151229" y="3030538"/>
                <a:chExt cx="762000" cy="762000"/>
              </a:xfrm>
            </p:grpSpPr>
            <p:sp>
              <p:nvSpPr>
                <p:cNvPr id="570" name="POWER_USER_SHAPE_ICON_STYLE_2">
                  <a:extLst>
                    <a:ext uri="{FF2B5EF4-FFF2-40B4-BE49-F238E27FC236}">
                      <a16:creationId xmlns:a16="http://schemas.microsoft.com/office/drawing/2014/main" id="{5188265A-0386-ED4C-2E48-B73D29F6317C}"/>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71" name="Gruppieren 570">
                  <a:extLst>
                    <a:ext uri="{FF2B5EF4-FFF2-40B4-BE49-F238E27FC236}">
                      <a16:creationId xmlns:a16="http://schemas.microsoft.com/office/drawing/2014/main" id="{7BC6C88D-71BA-4743-81DE-13F8F77B48EB}"/>
                    </a:ext>
                  </a:extLst>
                </p:cNvPr>
                <p:cNvGrpSpPr>
                  <a:grpSpLocks noChangeAspect="1"/>
                </p:cNvGrpSpPr>
                <p:nvPr/>
              </p:nvGrpSpPr>
              <p:grpSpPr>
                <a:xfrm>
                  <a:off x="1" y="3157538"/>
                  <a:ext cx="459541" cy="508000"/>
                  <a:chOff x="0" y="3157538"/>
                  <a:chExt cx="491134" cy="542925"/>
                </a:xfrm>
              </p:grpSpPr>
              <p:sp>
                <p:nvSpPr>
                  <p:cNvPr id="572" name="Crowdsourcing2">
                    <a:extLst>
                      <a:ext uri="{FF2B5EF4-FFF2-40B4-BE49-F238E27FC236}">
                        <a16:creationId xmlns:a16="http://schemas.microsoft.com/office/drawing/2014/main" id="{2620118A-A218-8B11-AF0C-CAD5E0CA0422}"/>
                      </a:ext>
                    </a:extLst>
                  </p:cNvPr>
                  <p:cNvSpPr>
                    <a:spLocks/>
                  </p:cNvSpPr>
                  <p:nvPr>
                    <p:custDataLst>
                      <p:tags r:id="rId13"/>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3" name="Crowdsourcing2">
                    <a:extLst>
                      <a:ext uri="{FF2B5EF4-FFF2-40B4-BE49-F238E27FC236}">
                        <a16:creationId xmlns:a16="http://schemas.microsoft.com/office/drawing/2014/main" id="{95A0585B-4E40-124F-9FDB-DE1B5ABFE7C5}"/>
                      </a:ext>
                    </a:extLst>
                  </p:cNvPr>
                  <p:cNvSpPr>
                    <a:spLocks/>
                  </p:cNvSpPr>
                  <p:nvPr>
                    <p:custDataLst>
                      <p:tags r:id="rId14"/>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4" name="Crowdsourcing2">
                    <a:extLst>
                      <a:ext uri="{FF2B5EF4-FFF2-40B4-BE49-F238E27FC236}">
                        <a16:creationId xmlns:a16="http://schemas.microsoft.com/office/drawing/2014/main" id="{FD2239AB-FC02-5231-36E1-4021C2E38189}"/>
                      </a:ext>
                    </a:extLst>
                  </p:cNvPr>
                  <p:cNvSpPr>
                    <a:spLocks/>
                  </p:cNvSpPr>
                  <p:nvPr>
                    <p:custDataLst>
                      <p:tags r:id="rId15"/>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5" name="Crowdsourcing2">
                    <a:extLst>
                      <a:ext uri="{FF2B5EF4-FFF2-40B4-BE49-F238E27FC236}">
                        <a16:creationId xmlns:a16="http://schemas.microsoft.com/office/drawing/2014/main" id="{E7832CE0-A606-DA99-A7ED-CB2D043819B4}"/>
                      </a:ext>
                    </a:extLst>
                  </p:cNvPr>
                  <p:cNvSpPr>
                    <a:spLocks/>
                  </p:cNvSpPr>
                  <p:nvPr>
                    <p:custDataLst>
                      <p:tags r:id="rId16"/>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6" name="Crowdsourcing2">
                    <a:extLst>
                      <a:ext uri="{FF2B5EF4-FFF2-40B4-BE49-F238E27FC236}">
                        <a16:creationId xmlns:a16="http://schemas.microsoft.com/office/drawing/2014/main" id="{8A27DABC-224F-43D2-D86A-08A5BFDF38C5}"/>
                      </a:ext>
                    </a:extLst>
                  </p:cNvPr>
                  <p:cNvSpPr>
                    <a:spLocks/>
                  </p:cNvSpPr>
                  <p:nvPr>
                    <p:custDataLst>
                      <p:tags r:id="rId17"/>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7" name="Crowdsourcing2">
                    <a:extLst>
                      <a:ext uri="{FF2B5EF4-FFF2-40B4-BE49-F238E27FC236}">
                        <a16:creationId xmlns:a16="http://schemas.microsoft.com/office/drawing/2014/main" id="{BA92912D-6F0F-21DC-FD55-B0BEFBC7CA40}"/>
                      </a:ext>
                    </a:extLst>
                  </p:cNvPr>
                  <p:cNvSpPr>
                    <a:spLocks/>
                  </p:cNvSpPr>
                  <p:nvPr>
                    <p:custDataLst>
                      <p:tags r:id="rId18"/>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8" name="Crowdsourcing2">
                    <a:extLst>
                      <a:ext uri="{FF2B5EF4-FFF2-40B4-BE49-F238E27FC236}">
                        <a16:creationId xmlns:a16="http://schemas.microsoft.com/office/drawing/2014/main" id="{979B3AC8-0E3D-F337-A148-02D0DDC82831}"/>
                      </a:ext>
                    </a:extLst>
                  </p:cNvPr>
                  <p:cNvSpPr>
                    <a:spLocks/>
                  </p:cNvSpPr>
                  <p:nvPr>
                    <p:custDataLst>
                      <p:tags r:id="rId19"/>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79" name="Crowdsourcing2">
                    <a:extLst>
                      <a:ext uri="{FF2B5EF4-FFF2-40B4-BE49-F238E27FC236}">
                        <a16:creationId xmlns:a16="http://schemas.microsoft.com/office/drawing/2014/main" id="{12B1BFBD-023D-A542-4189-72A1722135A5}"/>
                      </a:ext>
                    </a:extLst>
                  </p:cNvPr>
                  <p:cNvSpPr>
                    <a:spLocks/>
                  </p:cNvSpPr>
                  <p:nvPr>
                    <p:custDataLst>
                      <p:tags r:id="rId20"/>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grpSp>
          <p:grpSp>
            <p:nvGrpSpPr>
              <p:cNvPr id="561" name="Gruppieren 560" descr="{&quot;Key&quot;:&quot;POWER_USER_SHAPE_ICON&quot;,&quot;Value&quot;:&quot;POWER_USER_SHAPE_ICON_STYLE_2&quot;}">
                <a:extLst>
                  <a:ext uri="{FF2B5EF4-FFF2-40B4-BE49-F238E27FC236}">
                    <a16:creationId xmlns:a16="http://schemas.microsoft.com/office/drawing/2014/main" id="{2CA9B200-C002-715F-84D3-256BC3887489}"/>
                  </a:ext>
                </a:extLst>
              </p:cNvPr>
              <p:cNvGrpSpPr>
                <a:grpSpLocks noChangeAspect="1"/>
              </p:cNvGrpSpPr>
              <p:nvPr/>
            </p:nvGrpSpPr>
            <p:grpSpPr>
              <a:xfrm>
                <a:off x="2876978" y="1126671"/>
                <a:ext cx="530175" cy="530175"/>
                <a:chOff x="-218067" y="3030540"/>
                <a:chExt cx="762000" cy="762000"/>
              </a:xfrm>
            </p:grpSpPr>
            <p:sp>
              <p:nvSpPr>
                <p:cNvPr id="565" name="POWER_USER_SHAPE_ICON_STYLE_2">
                  <a:extLst>
                    <a:ext uri="{FF2B5EF4-FFF2-40B4-BE49-F238E27FC236}">
                      <a16:creationId xmlns:a16="http://schemas.microsoft.com/office/drawing/2014/main" id="{D3915FBB-65E3-6BF0-29D3-E11AC67811B0}"/>
                    </a:ext>
                  </a:extLst>
                </p:cNvPr>
                <p:cNvSpPr/>
                <p:nvPr/>
              </p:nvSpPr>
              <p:spPr>
                <a:xfrm>
                  <a:off x="-218067" y="3030540"/>
                  <a:ext cx="762000" cy="762000"/>
                </a:xfrm>
                <a:prstGeom prst="ellipse">
                  <a:avLst/>
                </a:prstGeom>
                <a:solidFill>
                  <a:srgbClr val="5B9BD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66" name="Gruppieren 565">
                  <a:extLst>
                    <a:ext uri="{FF2B5EF4-FFF2-40B4-BE49-F238E27FC236}">
                      <a16:creationId xmlns:a16="http://schemas.microsoft.com/office/drawing/2014/main" id="{99B35C0F-6B0D-B1E1-D095-9BAFB852E570}"/>
                    </a:ext>
                  </a:extLst>
                </p:cNvPr>
                <p:cNvGrpSpPr>
                  <a:grpSpLocks noChangeAspect="1"/>
                </p:cNvGrpSpPr>
                <p:nvPr/>
              </p:nvGrpSpPr>
              <p:grpSpPr>
                <a:xfrm>
                  <a:off x="1" y="3157538"/>
                  <a:ext cx="325860" cy="508000"/>
                  <a:chOff x="0" y="3157538"/>
                  <a:chExt cx="348263" cy="542925"/>
                </a:xfrm>
              </p:grpSpPr>
              <p:sp>
                <p:nvSpPr>
                  <p:cNvPr id="567" name="Freeform 10">
                    <a:extLst>
                      <a:ext uri="{FF2B5EF4-FFF2-40B4-BE49-F238E27FC236}">
                        <a16:creationId xmlns:a16="http://schemas.microsoft.com/office/drawing/2014/main" id="{D7A98D09-F538-31AB-8D89-BA1237848C75}"/>
                      </a:ext>
                    </a:extLst>
                  </p:cNvPr>
                  <p:cNvSpPr>
                    <a:spLocks noEditPoints="1"/>
                  </p:cNvSpPr>
                  <p:nvPr/>
                </p:nvSpPr>
                <p:spPr bwMode="auto">
                  <a:xfrm>
                    <a:off x="80651" y="3560424"/>
                    <a:ext cx="187696" cy="92015"/>
                  </a:xfrm>
                  <a:custGeom>
                    <a:avLst/>
                    <a:gdLst>
                      <a:gd name="T0" fmla="*/ 440 w 440"/>
                      <a:gd name="T1" fmla="*/ 0 h 215"/>
                      <a:gd name="T2" fmla="*/ 392 w 440"/>
                      <a:gd name="T3" fmla="*/ 0 h 215"/>
                      <a:gd name="T4" fmla="*/ 392 w 440"/>
                      <a:gd name="T5" fmla="*/ 182 h 215"/>
                      <a:gd name="T6" fmla="*/ 440 w 440"/>
                      <a:gd name="T7" fmla="*/ 182 h 215"/>
                      <a:gd name="T8" fmla="*/ 440 w 440"/>
                      <a:gd name="T9" fmla="*/ 0 h 215"/>
                      <a:gd name="T10" fmla="*/ 386 w 440"/>
                      <a:gd name="T11" fmla="*/ 0 h 215"/>
                      <a:gd name="T12" fmla="*/ 338 w 440"/>
                      <a:gd name="T13" fmla="*/ 0 h 215"/>
                      <a:gd name="T14" fmla="*/ 338 w 440"/>
                      <a:gd name="T15" fmla="*/ 182 h 215"/>
                      <a:gd name="T16" fmla="*/ 386 w 440"/>
                      <a:gd name="T17" fmla="*/ 182 h 215"/>
                      <a:gd name="T18" fmla="*/ 386 w 440"/>
                      <a:gd name="T19" fmla="*/ 0 h 215"/>
                      <a:gd name="T20" fmla="*/ 271 w 440"/>
                      <a:gd name="T21" fmla="*/ 0 h 215"/>
                      <a:gd name="T22" fmla="*/ 223 w 440"/>
                      <a:gd name="T23" fmla="*/ 0 h 215"/>
                      <a:gd name="T24" fmla="*/ 223 w 440"/>
                      <a:gd name="T25" fmla="*/ 182 h 215"/>
                      <a:gd name="T26" fmla="*/ 271 w 440"/>
                      <a:gd name="T27" fmla="*/ 182 h 215"/>
                      <a:gd name="T28" fmla="*/ 271 w 440"/>
                      <a:gd name="T29" fmla="*/ 0 h 215"/>
                      <a:gd name="T30" fmla="*/ 216 w 440"/>
                      <a:gd name="T31" fmla="*/ 0 h 215"/>
                      <a:gd name="T32" fmla="*/ 169 w 440"/>
                      <a:gd name="T33" fmla="*/ 0 h 215"/>
                      <a:gd name="T34" fmla="*/ 169 w 440"/>
                      <a:gd name="T35" fmla="*/ 182 h 215"/>
                      <a:gd name="T36" fmla="*/ 216 w 440"/>
                      <a:gd name="T37" fmla="*/ 182 h 215"/>
                      <a:gd name="T38" fmla="*/ 216 w 440"/>
                      <a:gd name="T39" fmla="*/ 0 h 215"/>
                      <a:gd name="T40" fmla="*/ 101 w 440"/>
                      <a:gd name="T41" fmla="*/ 0 h 215"/>
                      <a:gd name="T42" fmla="*/ 54 w 440"/>
                      <a:gd name="T43" fmla="*/ 0 h 215"/>
                      <a:gd name="T44" fmla="*/ 54 w 440"/>
                      <a:gd name="T45" fmla="*/ 182 h 215"/>
                      <a:gd name="T46" fmla="*/ 101 w 440"/>
                      <a:gd name="T47" fmla="*/ 182 h 215"/>
                      <a:gd name="T48" fmla="*/ 101 w 440"/>
                      <a:gd name="T49" fmla="*/ 0 h 215"/>
                      <a:gd name="T50" fmla="*/ 47 w 440"/>
                      <a:gd name="T51" fmla="*/ 0 h 215"/>
                      <a:gd name="T52" fmla="*/ 0 w 440"/>
                      <a:gd name="T53" fmla="*/ 0 h 215"/>
                      <a:gd name="T54" fmla="*/ 0 w 440"/>
                      <a:gd name="T55" fmla="*/ 182 h 215"/>
                      <a:gd name="T56" fmla="*/ 47 w 440"/>
                      <a:gd name="T57" fmla="*/ 182 h 215"/>
                      <a:gd name="T58" fmla="*/ 47 w 440"/>
                      <a:gd name="T5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40" h="215">
                        <a:moveTo>
                          <a:pt x="440" y="0"/>
                        </a:moveTo>
                        <a:lnTo>
                          <a:pt x="392" y="0"/>
                        </a:lnTo>
                        <a:lnTo>
                          <a:pt x="392" y="182"/>
                        </a:lnTo>
                        <a:cubicBezTo>
                          <a:pt x="393" y="215"/>
                          <a:pt x="440" y="215"/>
                          <a:pt x="440" y="182"/>
                        </a:cubicBezTo>
                        <a:lnTo>
                          <a:pt x="440" y="0"/>
                        </a:lnTo>
                        <a:close/>
                        <a:moveTo>
                          <a:pt x="386" y="0"/>
                        </a:moveTo>
                        <a:lnTo>
                          <a:pt x="338" y="0"/>
                        </a:lnTo>
                        <a:lnTo>
                          <a:pt x="338" y="182"/>
                        </a:lnTo>
                        <a:cubicBezTo>
                          <a:pt x="338" y="214"/>
                          <a:pt x="386" y="214"/>
                          <a:pt x="386" y="182"/>
                        </a:cubicBezTo>
                        <a:lnTo>
                          <a:pt x="386" y="0"/>
                        </a:lnTo>
                        <a:close/>
                        <a:moveTo>
                          <a:pt x="271" y="0"/>
                        </a:moveTo>
                        <a:lnTo>
                          <a:pt x="223" y="0"/>
                        </a:lnTo>
                        <a:lnTo>
                          <a:pt x="223" y="182"/>
                        </a:lnTo>
                        <a:cubicBezTo>
                          <a:pt x="223" y="215"/>
                          <a:pt x="271" y="215"/>
                          <a:pt x="271" y="182"/>
                        </a:cubicBezTo>
                        <a:lnTo>
                          <a:pt x="271" y="0"/>
                        </a:lnTo>
                        <a:close/>
                        <a:moveTo>
                          <a:pt x="216" y="0"/>
                        </a:moveTo>
                        <a:lnTo>
                          <a:pt x="169" y="0"/>
                        </a:lnTo>
                        <a:lnTo>
                          <a:pt x="169" y="182"/>
                        </a:lnTo>
                        <a:cubicBezTo>
                          <a:pt x="169" y="214"/>
                          <a:pt x="216" y="214"/>
                          <a:pt x="216" y="182"/>
                        </a:cubicBezTo>
                        <a:lnTo>
                          <a:pt x="216" y="0"/>
                        </a:lnTo>
                        <a:close/>
                        <a:moveTo>
                          <a:pt x="101" y="0"/>
                        </a:moveTo>
                        <a:lnTo>
                          <a:pt x="54" y="0"/>
                        </a:lnTo>
                        <a:lnTo>
                          <a:pt x="54" y="182"/>
                        </a:lnTo>
                        <a:cubicBezTo>
                          <a:pt x="54" y="215"/>
                          <a:pt x="101" y="215"/>
                          <a:pt x="101" y="182"/>
                        </a:cubicBezTo>
                        <a:lnTo>
                          <a:pt x="101" y="0"/>
                        </a:lnTo>
                        <a:close/>
                        <a:moveTo>
                          <a:pt x="47" y="0"/>
                        </a:moveTo>
                        <a:lnTo>
                          <a:pt x="0" y="0"/>
                        </a:lnTo>
                        <a:lnTo>
                          <a:pt x="0" y="182"/>
                        </a:lnTo>
                        <a:cubicBezTo>
                          <a:pt x="0" y="214"/>
                          <a:pt x="47" y="214"/>
                          <a:pt x="47" y="182"/>
                        </a:cubicBezTo>
                        <a:lnTo>
                          <a:pt x="47"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68" name="Freeform 933">
                    <a:extLst>
                      <a:ext uri="{FF2B5EF4-FFF2-40B4-BE49-F238E27FC236}">
                        <a16:creationId xmlns:a16="http://schemas.microsoft.com/office/drawing/2014/main" id="{09D9ECD5-EF1E-E198-83B5-7678BBF8BA7F}"/>
                      </a:ext>
                    </a:extLst>
                  </p:cNvPr>
                  <p:cNvSpPr>
                    <a:spLocks noEditPoints="1"/>
                  </p:cNvSpPr>
                  <p:nvPr/>
                </p:nvSpPr>
                <p:spPr bwMode="auto">
                  <a:xfrm>
                    <a:off x="0" y="3157538"/>
                    <a:ext cx="348263" cy="542925"/>
                  </a:xfrm>
                  <a:custGeom>
                    <a:avLst/>
                    <a:gdLst>
                      <a:gd name="T0" fmla="*/ 689 w 816"/>
                      <a:gd name="T1" fmla="*/ 507 h 1269"/>
                      <a:gd name="T2" fmla="*/ 129 w 816"/>
                      <a:gd name="T3" fmla="*/ 507 h 1269"/>
                      <a:gd name="T4" fmla="*/ 27 w 816"/>
                      <a:gd name="T5" fmla="*/ 609 h 1269"/>
                      <a:gd name="T6" fmla="*/ 27 w 816"/>
                      <a:gd name="T7" fmla="*/ 1168 h 1269"/>
                      <a:gd name="T8" fmla="*/ 129 w 816"/>
                      <a:gd name="T9" fmla="*/ 1269 h 1269"/>
                      <a:gd name="T10" fmla="*/ 690 w 816"/>
                      <a:gd name="T11" fmla="*/ 1269 h 1269"/>
                      <a:gd name="T12" fmla="*/ 791 w 816"/>
                      <a:gd name="T13" fmla="*/ 1168 h 1269"/>
                      <a:gd name="T14" fmla="*/ 791 w 816"/>
                      <a:gd name="T15" fmla="*/ 609 h 1269"/>
                      <a:gd name="T16" fmla="*/ 689 w 816"/>
                      <a:gd name="T17" fmla="*/ 507 h 1269"/>
                      <a:gd name="T18" fmla="*/ 685 w 816"/>
                      <a:gd name="T19" fmla="*/ 1163 h 1269"/>
                      <a:gd name="T20" fmla="*/ 132 w 816"/>
                      <a:gd name="T21" fmla="*/ 1163 h 1269"/>
                      <a:gd name="T22" fmla="*/ 132 w 816"/>
                      <a:gd name="T23" fmla="*/ 614 h 1269"/>
                      <a:gd name="T24" fmla="*/ 685 w 816"/>
                      <a:gd name="T25" fmla="*/ 614 h 1269"/>
                      <a:gd name="T26" fmla="*/ 685 w 816"/>
                      <a:gd name="T27" fmla="*/ 1163 h 1269"/>
                      <a:gd name="T28" fmla="*/ 547 w 816"/>
                      <a:gd name="T29" fmla="*/ 74 h 1269"/>
                      <a:gd name="T30" fmla="*/ 653 w 816"/>
                      <a:gd name="T31" fmla="*/ 74 h 1269"/>
                      <a:gd name="T32" fmla="*/ 651 w 816"/>
                      <a:gd name="T33" fmla="*/ 296 h 1269"/>
                      <a:gd name="T34" fmla="*/ 708 w 816"/>
                      <a:gd name="T35" fmla="*/ 227 h 1269"/>
                      <a:gd name="T36" fmla="*/ 774 w 816"/>
                      <a:gd name="T37" fmla="*/ 292 h 1269"/>
                      <a:gd name="T38" fmla="*/ 636 w 816"/>
                      <a:gd name="T39" fmla="*/ 456 h 1269"/>
                      <a:gd name="T40" fmla="*/ 564 w 816"/>
                      <a:gd name="T41" fmla="*/ 456 h 1269"/>
                      <a:gd name="T42" fmla="*/ 427 w 816"/>
                      <a:gd name="T43" fmla="*/ 291 h 1269"/>
                      <a:gd name="T44" fmla="*/ 492 w 816"/>
                      <a:gd name="T45" fmla="*/ 226 h 1269"/>
                      <a:gd name="T46" fmla="*/ 549 w 816"/>
                      <a:gd name="T47" fmla="*/ 296 h 1269"/>
                      <a:gd name="T48" fmla="*/ 547 w 816"/>
                      <a:gd name="T49" fmla="*/ 74 h 1269"/>
                      <a:gd name="T50" fmla="*/ 163 w 816"/>
                      <a:gd name="T51" fmla="*/ 418 h 1269"/>
                      <a:gd name="T52" fmla="*/ 269 w 816"/>
                      <a:gd name="T53" fmla="*/ 418 h 1269"/>
                      <a:gd name="T54" fmla="*/ 268 w 816"/>
                      <a:gd name="T55" fmla="*/ 196 h 1269"/>
                      <a:gd name="T56" fmla="*/ 324 w 816"/>
                      <a:gd name="T57" fmla="*/ 266 h 1269"/>
                      <a:gd name="T58" fmla="*/ 390 w 816"/>
                      <a:gd name="T59" fmla="*/ 200 h 1269"/>
                      <a:gd name="T60" fmla="*/ 252 w 816"/>
                      <a:gd name="T61" fmla="*/ 36 h 1269"/>
                      <a:gd name="T62" fmla="*/ 180 w 816"/>
                      <a:gd name="T63" fmla="*/ 36 h 1269"/>
                      <a:gd name="T64" fmla="*/ 43 w 816"/>
                      <a:gd name="T65" fmla="*/ 201 h 1269"/>
                      <a:gd name="T66" fmla="*/ 108 w 816"/>
                      <a:gd name="T67" fmla="*/ 267 h 1269"/>
                      <a:gd name="T68" fmla="*/ 165 w 816"/>
                      <a:gd name="T69" fmla="*/ 196 h 1269"/>
                      <a:gd name="T70" fmla="*/ 163 w 816"/>
                      <a:gd name="T71" fmla="*/ 418 h 1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6" h="1269">
                        <a:moveTo>
                          <a:pt x="689" y="507"/>
                        </a:moveTo>
                        <a:lnTo>
                          <a:pt x="129" y="507"/>
                        </a:lnTo>
                        <a:cubicBezTo>
                          <a:pt x="70" y="507"/>
                          <a:pt x="27" y="553"/>
                          <a:pt x="27" y="609"/>
                        </a:cubicBezTo>
                        <a:lnTo>
                          <a:pt x="27" y="1168"/>
                        </a:lnTo>
                        <a:cubicBezTo>
                          <a:pt x="27" y="1225"/>
                          <a:pt x="73" y="1269"/>
                          <a:pt x="129" y="1269"/>
                        </a:cubicBezTo>
                        <a:lnTo>
                          <a:pt x="690" y="1269"/>
                        </a:lnTo>
                        <a:cubicBezTo>
                          <a:pt x="745" y="1269"/>
                          <a:pt x="791" y="1227"/>
                          <a:pt x="791" y="1168"/>
                        </a:cubicBezTo>
                        <a:lnTo>
                          <a:pt x="791" y="609"/>
                        </a:lnTo>
                        <a:cubicBezTo>
                          <a:pt x="791" y="552"/>
                          <a:pt x="745" y="506"/>
                          <a:pt x="689" y="507"/>
                        </a:cubicBezTo>
                        <a:close/>
                        <a:moveTo>
                          <a:pt x="685" y="1163"/>
                        </a:moveTo>
                        <a:lnTo>
                          <a:pt x="132" y="1163"/>
                        </a:lnTo>
                        <a:lnTo>
                          <a:pt x="132" y="614"/>
                        </a:lnTo>
                        <a:lnTo>
                          <a:pt x="685" y="614"/>
                        </a:lnTo>
                        <a:lnTo>
                          <a:pt x="685" y="1163"/>
                        </a:lnTo>
                        <a:close/>
                        <a:moveTo>
                          <a:pt x="547" y="74"/>
                        </a:moveTo>
                        <a:cubicBezTo>
                          <a:pt x="546" y="1"/>
                          <a:pt x="652" y="0"/>
                          <a:pt x="653" y="74"/>
                        </a:cubicBezTo>
                        <a:lnTo>
                          <a:pt x="651" y="296"/>
                        </a:lnTo>
                        <a:lnTo>
                          <a:pt x="708" y="227"/>
                        </a:lnTo>
                        <a:cubicBezTo>
                          <a:pt x="747" y="183"/>
                          <a:pt x="816" y="243"/>
                          <a:pt x="774" y="292"/>
                        </a:cubicBezTo>
                        <a:lnTo>
                          <a:pt x="636" y="456"/>
                        </a:lnTo>
                        <a:cubicBezTo>
                          <a:pt x="614" y="478"/>
                          <a:pt x="586" y="478"/>
                          <a:pt x="564" y="456"/>
                        </a:cubicBezTo>
                        <a:lnTo>
                          <a:pt x="427" y="291"/>
                        </a:lnTo>
                        <a:cubicBezTo>
                          <a:pt x="384" y="243"/>
                          <a:pt x="454" y="182"/>
                          <a:pt x="492" y="226"/>
                        </a:cubicBezTo>
                        <a:lnTo>
                          <a:pt x="549" y="296"/>
                        </a:lnTo>
                        <a:lnTo>
                          <a:pt x="547" y="74"/>
                        </a:lnTo>
                        <a:close/>
                        <a:moveTo>
                          <a:pt x="163" y="418"/>
                        </a:moveTo>
                        <a:cubicBezTo>
                          <a:pt x="163" y="491"/>
                          <a:pt x="268" y="492"/>
                          <a:pt x="269" y="418"/>
                        </a:cubicBezTo>
                        <a:lnTo>
                          <a:pt x="268" y="196"/>
                        </a:lnTo>
                        <a:lnTo>
                          <a:pt x="324" y="266"/>
                        </a:lnTo>
                        <a:cubicBezTo>
                          <a:pt x="363" y="309"/>
                          <a:pt x="433" y="249"/>
                          <a:pt x="390" y="200"/>
                        </a:cubicBezTo>
                        <a:lnTo>
                          <a:pt x="252" y="36"/>
                        </a:lnTo>
                        <a:cubicBezTo>
                          <a:pt x="230" y="14"/>
                          <a:pt x="202" y="14"/>
                          <a:pt x="180" y="36"/>
                        </a:cubicBezTo>
                        <a:lnTo>
                          <a:pt x="43" y="201"/>
                        </a:lnTo>
                        <a:cubicBezTo>
                          <a:pt x="0" y="249"/>
                          <a:pt x="70" y="310"/>
                          <a:pt x="108" y="267"/>
                        </a:cubicBezTo>
                        <a:lnTo>
                          <a:pt x="165" y="196"/>
                        </a:lnTo>
                        <a:lnTo>
                          <a:pt x="163" y="418"/>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69" name="Freeform 934">
                    <a:extLst>
                      <a:ext uri="{FF2B5EF4-FFF2-40B4-BE49-F238E27FC236}">
                        <a16:creationId xmlns:a16="http://schemas.microsoft.com/office/drawing/2014/main" id="{7A42CB32-3D50-9F61-9FFD-018E91EA5308}"/>
                      </a:ext>
                    </a:extLst>
                  </p:cNvPr>
                  <p:cNvSpPr>
                    <a:spLocks noEditPoints="1"/>
                  </p:cNvSpPr>
                  <p:nvPr/>
                </p:nvSpPr>
                <p:spPr bwMode="auto">
                  <a:xfrm>
                    <a:off x="67820" y="3450813"/>
                    <a:ext cx="213358" cy="111811"/>
                  </a:xfrm>
                  <a:custGeom>
                    <a:avLst/>
                    <a:gdLst>
                      <a:gd name="T0" fmla="*/ 500 w 500"/>
                      <a:gd name="T1" fmla="*/ 243 h 261"/>
                      <a:gd name="T2" fmla="*/ 481 w 500"/>
                      <a:gd name="T3" fmla="*/ 261 h 261"/>
                      <a:gd name="T4" fmla="*/ 357 w 500"/>
                      <a:gd name="T5" fmla="*/ 261 h 261"/>
                      <a:gd name="T6" fmla="*/ 339 w 500"/>
                      <a:gd name="T7" fmla="*/ 243 h 261"/>
                      <a:gd name="T8" fmla="*/ 339 w 500"/>
                      <a:gd name="T9" fmla="*/ 108 h 261"/>
                      <a:gd name="T10" fmla="*/ 364 w 500"/>
                      <a:gd name="T11" fmla="*/ 82 h 261"/>
                      <a:gd name="T12" fmla="*/ 474 w 500"/>
                      <a:gd name="T13" fmla="*/ 82 h 261"/>
                      <a:gd name="T14" fmla="*/ 500 w 500"/>
                      <a:gd name="T15" fmla="*/ 108 h 261"/>
                      <a:gd name="T16" fmla="*/ 500 w 500"/>
                      <a:gd name="T17" fmla="*/ 243 h 261"/>
                      <a:gd name="T18" fmla="*/ 420 w 500"/>
                      <a:gd name="T19" fmla="*/ 71 h 261"/>
                      <a:gd name="T20" fmla="*/ 455 w 500"/>
                      <a:gd name="T21" fmla="*/ 36 h 261"/>
                      <a:gd name="T22" fmla="*/ 420 w 500"/>
                      <a:gd name="T23" fmla="*/ 0 h 261"/>
                      <a:gd name="T24" fmla="*/ 384 w 500"/>
                      <a:gd name="T25" fmla="*/ 36 h 261"/>
                      <a:gd name="T26" fmla="*/ 420 w 500"/>
                      <a:gd name="T27" fmla="*/ 71 h 261"/>
                      <a:gd name="T28" fmla="*/ 331 w 500"/>
                      <a:gd name="T29" fmla="*/ 243 h 261"/>
                      <a:gd name="T30" fmla="*/ 312 w 500"/>
                      <a:gd name="T31" fmla="*/ 261 h 261"/>
                      <a:gd name="T32" fmla="*/ 188 w 500"/>
                      <a:gd name="T33" fmla="*/ 261 h 261"/>
                      <a:gd name="T34" fmla="*/ 170 w 500"/>
                      <a:gd name="T35" fmla="*/ 243 h 261"/>
                      <a:gd name="T36" fmla="*/ 170 w 500"/>
                      <a:gd name="T37" fmla="*/ 108 h 261"/>
                      <a:gd name="T38" fmla="*/ 195 w 500"/>
                      <a:gd name="T39" fmla="*/ 82 h 261"/>
                      <a:gd name="T40" fmla="*/ 305 w 500"/>
                      <a:gd name="T41" fmla="*/ 82 h 261"/>
                      <a:gd name="T42" fmla="*/ 331 w 500"/>
                      <a:gd name="T43" fmla="*/ 108 h 261"/>
                      <a:gd name="T44" fmla="*/ 331 w 500"/>
                      <a:gd name="T45" fmla="*/ 243 h 261"/>
                      <a:gd name="T46" fmla="*/ 251 w 500"/>
                      <a:gd name="T47" fmla="*/ 71 h 261"/>
                      <a:gd name="T48" fmla="*/ 286 w 500"/>
                      <a:gd name="T49" fmla="*/ 36 h 261"/>
                      <a:gd name="T50" fmla="*/ 251 w 500"/>
                      <a:gd name="T51" fmla="*/ 0 h 261"/>
                      <a:gd name="T52" fmla="*/ 215 w 500"/>
                      <a:gd name="T53" fmla="*/ 36 h 261"/>
                      <a:gd name="T54" fmla="*/ 251 w 500"/>
                      <a:gd name="T55" fmla="*/ 71 h 261"/>
                      <a:gd name="T56" fmla="*/ 162 w 500"/>
                      <a:gd name="T57" fmla="*/ 243 h 261"/>
                      <a:gd name="T58" fmla="*/ 143 w 500"/>
                      <a:gd name="T59" fmla="*/ 261 h 261"/>
                      <a:gd name="T60" fmla="*/ 19 w 500"/>
                      <a:gd name="T61" fmla="*/ 261 h 261"/>
                      <a:gd name="T62" fmla="*/ 0 w 500"/>
                      <a:gd name="T63" fmla="*/ 243 h 261"/>
                      <a:gd name="T64" fmla="*/ 0 w 500"/>
                      <a:gd name="T65" fmla="*/ 108 h 261"/>
                      <a:gd name="T66" fmla="*/ 26 w 500"/>
                      <a:gd name="T67" fmla="*/ 82 h 261"/>
                      <a:gd name="T68" fmla="*/ 136 w 500"/>
                      <a:gd name="T69" fmla="*/ 82 h 261"/>
                      <a:gd name="T70" fmla="*/ 162 w 500"/>
                      <a:gd name="T71" fmla="*/ 108 h 261"/>
                      <a:gd name="T72" fmla="*/ 162 w 500"/>
                      <a:gd name="T73" fmla="*/ 243 h 261"/>
                      <a:gd name="T74" fmla="*/ 81 w 500"/>
                      <a:gd name="T75" fmla="*/ 71 h 261"/>
                      <a:gd name="T76" fmla="*/ 117 w 500"/>
                      <a:gd name="T77" fmla="*/ 36 h 261"/>
                      <a:gd name="T78" fmla="*/ 82 w 500"/>
                      <a:gd name="T79" fmla="*/ 0 h 261"/>
                      <a:gd name="T80" fmla="*/ 46 w 500"/>
                      <a:gd name="T81" fmla="*/ 36 h 261"/>
                      <a:gd name="T82" fmla="*/ 82 w 500"/>
                      <a:gd name="T83" fmla="*/ 71 h 261"/>
                      <a:gd name="T84" fmla="*/ 81 w 500"/>
                      <a:gd name="T85" fmla="*/ 71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0" h="261">
                        <a:moveTo>
                          <a:pt x="500" y="243"/>
                        </a:moveTo>
                        <a:cubicBezTo>
                          <a:pt x="500" y="253"/>
                          <a:pt x="492" y="261"/>
                          <a:pt x="481" y="261"/>
                        </a:cubicBezTo>
                        <a:cubicBezTo>
                          <a:pt x="481" y="261"/>
                          <a:pt x="358" y="261"/>
                          <a:pt x="357" y="261"/>
                        </a:cubicBezTo>
                        <a:cubicBezTo>
                          <a:pt x="347" y="261"/>
                          <a:pt x="339" y="253"/>
                          <a:pt x="339" y="243"/>
                        </a:cubicBezTo>
                        <a:lnTo>
                          <a:pt x="339" y="108"/>
                        </a:lnTo>
                        <a:cubicBezTo>
                          <a:pt x="338" y="94"/>
                          <a:pt x="350" y="82"/>
                          <a:pt x="364" y="82"/>
                        </a:cubicBezTo>
                        <a:cubicBezTo>
                          <a:pt x="364" y="82"/>
                          <a:pt x="474" y="82"/>
                          <a:pt x="474" y="82"/>
                        </a:cubicBezTo>
                        <a:cubicBezTo>
                          <a:pt x="488" y="82"/>
                          <a:pt x="500" y="94"/>
                          <a:pt x="500" y="108"/>
                        </a:cubicBezTo>
                        <a:lnTo>
                          <a:pt x="500" y="243"/>
                        </a:lnTo>
                        <a:close/>
                        <a:moveTo>
                          <a:pt x="420" y="71"/>
                        </a:moveTo>
                        <a:cubicBezTo>
                          <a:pt x="439" y="71"/>
                          <a:pt x="455" y="55"/>
                          <a:pt x="455" y="36"/>
                        </a:cubicBezTo>
                        <a:cubicBezTo>
                          <a:pt x="455" y="16"/>
                          <a:pt x="440" y="0"/>
                          <a:pt x="420" y="0"/>
                        </a:cubicBezTo>
                        <a:cubicBezTo>
                          <a:pt x="400" y="0"/>
                          <a:pt x="384" y="16"/>
                          <a:pt x="384" y="36"/>
                        </a:cubicBezTo>
                        <a:cubicBezTo>
                          <a:pt x="385" y="56"/>
                          <a:pt x="400" y="71"/>
                          <a:pt x="420" y="71"/>
                        </a:cubicBezTo>
                        <a:close/>
                        <a:moveTo>
                          <a:pt x="331" y="243"/>
                        </a:moveTo>
                        <a:cubicBezTo>
                          <a:pt x="331" y="253"/>
                          <a:pt x="323" y="261"/>
                          <a:pt x="312" y="261"/>
                        </a:cubicBezTo>
                        <a:cubicBezTo>
                          <a:pt x="312" y="261"/>
                          <a:pt x="188" y="261"/>
                          <a:pt x="188" y="261"/>
                        </a:cubicBezTo>
                        <a:cubicBezTo>
                          <a:pt x="178" y="261"/>
                          <a:pt x="169" y="253"/>
                          <a:pt x="170" y="243"/>
                        </a:cubicBezTo>
                        <a:lnTo>
                          <a:pt x="170" y="108"/>
                        </a:lnTo>
                        <a:cubicBezTo>
                          <a:pt x="169" y="94"/>
                          <a:pt x="181" y="82"/>
                          <a:pt x="195" y="82"/>
                        </a:cubicBezTo>
                        <a:cubicBezTo>
                          <a:pt x="195" y="82"/>
                          <a:pt x="305" y="82"/>
                          <a:pt x="305" y="82"/>
                        </a:cubicBezTo>
                        <a:cubicBezTo>
                          <a:pt x="319" y="82"/>
                          <a:pt x="331" y="94"/>
                          <a:pt x="331" y="108"/>
                        </a:cubicBezTo>
                        <a:lnTo>
                          <a:pt x="331" y="243"/>
                        </a:lnTo>
                        <a:close/>
                        <a:moveTo>
                          <a:pt x="251" y="71"/>
                        </a:moveTo>
                        <a:cubicBezTo>
                          <a:pt x="270" y="71"/>
                          <a:pt x="286" y="55"/>
                          <a:pt x="286" y="36"/>
                        </a:cubicBezTo>
                        <a:cubicBezTo>
                          <a:pt x="286" y="16"/>
                          <a:pt x="270" y="0"/>
                          <a:pt x="251" y="0"/>
                        </a:cubicBezTo>
                        <a:cubicBezTo>
                          <a:pt x="231" y="0"/>
                          <a:pt x="215" y="16"/>
                          <a:pt x="215" y="36"/>
                        </a:cubicBezTo>
                        <a:cubicBezTo>
                          <a:pt x="215" y="55"/>
                          <a:pt x="231" y="71"/>
                          <a:pt x="251" y="71"/>
                        </a:cubicBezTo>
                        <a:close/>
                        <a:moveTo>
                          <a:pt x="162" y="243"/>
                        </a:moveTo>
                        <a:cubicBezTo>
                          <a:pt x="162" y="253"/>
                          <a:pt x="153" y="261"/>
                          <a:pt x="143" y="261"/>
                        </a:cubicBezTo>
                        <a:cubicBezTo>
                          <a:pt x="143" y="261"/>
                          <a:pt x="19" y="261"/>
                          <a:pt x="19" y="261"/>
                        </a:cubicBezTo>
                        <a:cubicBezTo>
                          <a:pt x="9" y="261"/>
                          <a:pt x="0" y="253"/>
                          <a:pt x="0" y="243"/>
                        </a:cubicBezTo>
                        <a:lnTo>
                          <a:pt x="0" y="108"/>
                        </a:lnTo>
                        <a:cubicBezTo>
                          <a:pt x="0" y="94"/>
                          <a:pt x="12" y="82"/>
                          <a:pt x="26" y="82"/>
                        </a:cubicBezTo>
                        <a:cubicBezTo>
                          <a:pt x="26" y="82"/>
                          <a:pt x="136" y="82"/>
                          <a:pt x="136" y="82"/>
                        </a:cubicBezTo>
                        <a:cubicBezTo>
                          <a:pt x="150" y="82"/>
                          <a:pt x="162" y="94"/>
                          <a:pt x="162" y="108"/>
                        </a:cubicBezTo>
                        <a:lnTo>
                          <a:pt x="162" y="243"/>
                        </a:lnTo>
                        <a:close/>
                        <a:moveTo>
                          <a:pt x="81" y="71"/>
                        </a:moveTo>
                        <a:cubicBezTo>
                          <a:pt x="101" y="71"/>
                          <a:pt x="117" y="55"/>
                          <a:pt x="117" y="36"/>
                        </a:cubicBezTo>
                        <a:cubicBezTo>
                          <a:pt x="117" y="16"/>
                          <a:pt x="101" y="0"/>
                          <a:pt x="82" y="0"/>
                        </a:cubicBezTo>
                        <a:cubicBezTo>
                          <a:pt x="62" y="0"/>
                          <a:pt x="46" y="16"/>
                          <a:pt x="46" y="36"/>
                        </a:cubicBezTo>
                        <a:cubicBezTo>
                          <a:pt x="46" y="56"/>
                          <a:pt x="62" y="71"/>
                          <a:pt x="82" y="71"/>
                        </a:cubicBezTo>
                        <a:lnTo>
                          <a:pt x="81" y="7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grpSp>
          <p:grpSp>
            <p:nvGrpSpPr>
              <p:cNvPr id="562" name="Gruppieren 561">
                <a:extLst>
                  <a:ext uri="{FF2B5EF4-FFF2-40B4-BE49-F238E27FC236}">
                    <a16:creationId xmlns:a16="http://schemas.microsoft.com/office/drawing/2014/main" id="{AC109EE8-681E-C569-4F22-AB6CF3CB1712}"/>
                  </a:ext>
                </a:extLst>
              </p:cNvPr>
              <p:cNvGrpSpPr/>
              <p:nvPr/>
            </p:nvGrpSpPr>
            <p:grpSpPr>
              <a:xfrm>
                <a:off x="3045869" y="622757"/>
                <a:ext cx="522635" cy="522635"/>
                <a:chOff x="-19101" y="2381281"/>
                <a:chExt cx="699820" cy="699820"/>
              </a:xfrm>
            </p:grpSpPr>
            <p:sp>
              <p:nvSpPr>
                <p:cNvPr id="563" name="Ellipse 562">
                  <a:extLst>
                    <a:ext uri="{FF2B5EF4-FFF2-40B4-BE49-F238E27FC236}">
                      <a16:creationId xmlns:a16="http://schemas.microsoft.com/office/drawing/2014/main" id="{669EDFB5-6B96-4886-65AF-C298F5285330}"/>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64" name="Plug" descr="{&quot;Key&quot;:&quot;POWER_USER_SHAPE_ICON&quot;,&quot;Value&quot;:&quot;POWER_USER_SHAPE_ICON_STYLE_1&quot;}">
                  <a:extLst>
                    <a:ext uri="{FF2B5EF4-FFF2-40B4-BE49-F238E27FC236}">
                      <a16:creationId xmlns:a16="http://schemas.microsoft.com/office/drawing/2014/main" id="{D1624374-6390-B8A8-C9FF-F80DFEB4525D}"/>
                    </a:ext>
                  </a:extLst>
                </p:cNvPr>
                <p:cNvSpPr>
                  <a:spLocks noChangeAspect="1" noEditPoints="1"/>
                </p:cNvSpPr>
                <p:nvPr>
                  <p:custDataLst>
                    <p:tags r:id="rId12"/>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grpSp>
        <p:sp>
          <p:nvSpPr>
            <p:cNvPr id="558" name="Textfeld 557">
              <a:extLst>
                <a:ext uri="{FF2B5EF4-FFF2-40B4-BE49-F238E27FC236}">
                  <a16:creationId xmlns:a16="http://schemas.microsoft.com/office/drawing/2014/main" id="{8D9D0563-98D4-433C-0469-F7D3EF149619}"/>
                </a:ext>
              </a:extLst>
            </p:cNvPr>
            <p:cNvSpPr txBox="1"/>
            <p:nvPr/>
          </p:nvSpPr>
          <p:spPr>
            <a:xfrm>
              <a:off x="3807405" y="3031115"/>
              <a:ext cx="1035861" cy="253916"/>
            </a:xfrm>
            <a:prstGeom prst="rect">
              <a:avLst/>
            </a:prstGeom>
            <a:noFill/>
          </p:spPr>
          <p:txBody>
            <a:bodyPr wrap="none" rtlCol="0">
              <a:spAutoFit/>
            </a:bodyPr>
            <a:lstStyle/>
            <a:p>
              <a:pPr algn="ctr" defTabSz="914339">
                <a:defRPr/>
              </a:pPr>
              <a:r>
                <a:rPr lang="en-GB" sz="1050" i="1" kern="0" dirty="0">
                  <a:solidFill>
                    <a:prstClr val="black"/>
                  </a:solidFill>
                  <a:latin typeface="Aptos" panose="020B0004020202020204" pitchFamily="34" charset="0"/>
                </a:rPr>
                <a:t>User demands</a:t>
              </a:r>
              <a:endParaRPr lang="de-AT" sz="1050" i="1" kern="0" dirty="0">
                <a:solidFill>
                  <a:prstClr val="black"/>
                </a:solidFill>
                <a:latin typeface="Aptos" panose="020B0004020202020204" pitchFamily="34" charset="0"/>
              </a:endParaRPr>
            </a:p>
          </p:txBody>
        </p:sp>
      </p:grpSp>
      <p:grpSp>
        <p:nvGrpSpPr>
          <p:cNvPr id="465" name="Gruppieren 464">
            <a:extLst>
              <a:ext uri="{FF2B5EF4-FFF2-40B4-BE49-F238E27FC236}">
                <a16:creationId xmlns:a16="http://schemas.microsoft.com/office/drawing/2014/main" id="{E47858F6-02EA-CE5E-EF2D-5779D99B9D8B}"/>
              </a:ext>
            </a:extLst>
          </p:cNvPr>
          <p:cNvGrpSpPr/>
          <p:nvPr/>
        </p:nvGrpSpPr>
        <p:grpSpPr>
          <a:xfrm>
            <a:off x="8372007" y="4593243"/>
            <a:ext cx="396848" cy="342110"/>
            <a:chOff x="6665604" y="3012019"/>
            <a:chExt cx="396848" cy="342110"/>
          </a:xfrm>
        </p:grpSpPr>
        <p:sp>
          <p:nvSpPr>
            <p:cNvPr id="549" name="Sechseck 548">
              <a:extLst>
                <a:ext uri="{FF2B5EF4-FFF2-40B4-BE49-F238E27FC236}">
                  <a16:creationId xmlns:a16="http://schemas.microsoft.com/office/drawing/2014/main" id="{17DB8785-B889-9825-E9B1-D2AFE35248D2}"/>
                </a:ext>
              </a:extLst>
            </p:cNvPr>
            <p:cNvSpPr/>
            <p:nvPr/>
          </p:nvSpPr>
          <p:spPr>
            <a:xfrm>
              <a:off x="6665604" y="3012019"/>
              <a:ext cx="396848" cy="342110"/>
            </a:xfrm>
            <a:prstGeom prst="hexagon">
              <a:avLst>
                <a:gd name="adj" fmla="val 30979"/>
                <a:gd name="vf" fmla="val 115470"/>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50" name="Gruppieren 549">
              <a:extLst>
                <a:ext uri="{FF2B5EF4-FFF2-40B4-BE49-F238E27FC236}">
                  <a16:creationId xmlns:a16="http://schemas.microsoft.com/office/drawing/2014/main" id="{071BF022-CB64-6A08-390C-26A37191C989}"/>
                </a:ext>
              </a:extLst>
            </p:cNvPr>
            <p:cNvGrpSpPr/>
            <p:nvPr/>
          </p:nvGrpSpPr>
          <p:grpSpPr>
            <a:xfrm>
              <a:off x="6729341" y="3046664"/>
              <a:ext cx="269373" cy="269373"/>
              <a:chOff x="5636464" y="2732514"/>
              <a:chExt cx="398920" cy="398920"/>
            </a:xfrm>
          </p:grpSpPr>
          <p:sp>
            <p:nvSpPr>
              <p:cNvPr id="551" name="POWER_USER_SHAPE_ICON_STYLE_2">
                <a:extLst>
                  <a:ext uri="{FF2B5EF4-FFF2-40B4-BE49-F238E27FC236}">
                    <a16:creationId xmlns:a16="http://schemas.microsoft.com/office/drawing/2014/main" id="{60FFFEF6-B8E1-0912-CF5F-F91070B70048}"/>
                  </a:ext>
                </a:extLst>
              </p:cNvPr>
              <p:cNvSpPr/>
              <p:nvPr/>
            </p:nvSpPr>
            <p:spPr>
              <a:xfrm>
                <a:off x="5636464" y="2732514"/>
                <a:ext cx="398920" cy="39892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52" name="Gruppieren 551">
                <a:extLst>
                  <a:ext uri="{FF2B5EF4-FFF2-40B4-BE49-F238E27FC236}">
                    <a16:creationId xmlns:a16="http://schemas.microsoft.com/office/drawing/2014/main" id="{FD43E0EF-074F-6D4E-1675-DC2A32E546DC}"/>
                  </a:ext>
                </a:extLst>
              </p:cNvPr>
              <p:cNvGrpSpPr>
                <a:grpSpLocks noChangeAspect="1"/>
              </p:cNvGrpSpPr>
              <p:nvPr/>
            </p:nvGrpSpPr>
            <p:grpSpPr>
              <a:xfrm>
                <a:off x="5702951" y="2825222"/>
                <a:ext cx="265947" cy="213504"/>
                <a:chOff x="0" y="3157538"/>
                <a:chExt cx="676283" cy="542925"/>
              </a:xfrm>
            </p:grpSpPr>
            <p:sp>
              <p:nvSpPr>
                <p:cNvPr id="553" name="Freeform 284">
                  <a:extLst>
                    <a:ext uri="{FF2B5EF4-FFF2-40B4-BE49-F238E27FC236}">
                      <a16:creationId xmlns:a16="http://schemas.microsoft.com/office/drawing/2014/main" id="{96D9306E-4812-0152-058A-DBBAD43B5141}"/>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54" name="Freeform 285">
                  <a:extLst>
                    <a:ext uri="{FF2B5EF4-FFF2-40B4-BE49-F238E27FC236}">
                      <a16:creationId xmlns:a16="http://schemas.microsoft.com/office/drawing/2014/main" id="{EA44D855-9E95-5C40-1F4D-A4884B3433F5}"/>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555" name="Freeform 286">
                  <a:extLst>
                    <a:ext uri="{FF2B5EF4-FFF2-40B4-BE49-F238E27FC236}">
                      <a16:creationId xmlns:a16="http://schemas.microsoft.com/office/drawing/2014/main" id="{0DF0C96E-195C-B4D0-5E32-9BAA5AF04E12}"/>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grpSp>
      </p:grpSp>
      <p:grpSp>
        <p:nvGrpSpPr>
          <p:cNvPr id="467" name="Gruppieren 466">
            <a:extLst>
              <a:ext uri="{FF2B5EF4-FFF2-40B4-BE49-F238E27FC236}">
                <a16:creationId xmlns:a16="http://schemas.microsoft.com/office/drawing/2014/main" id="{332D8446-2F61-169F-8B26-879DF2510743}"/>
              </a:ext>
            </a:extLst>
          </p:cNvPr>
          <p:cNvGrpSpPr/>
          <p:nvPr/>
        </p:nvGrpSpPr>
        <p:grpSpPr>
          <a:xfrm>
            <a:off x="4718852" y="4523092"/>
            <a:ext cx="849402" cy="470217"/>
            <a:chOff x="4242914" y="3989602"/>
            <a:chExt cx="849402" cy="470217"/>
          </a:xfrm>
        </p:grpSpPr>
        <p:sp>
          <p:nvSpPr>
            <p:cNvPr id="541" name="Flussdiagramm: Verzögerung 540">
              <a:extLst>
                <a:ext uri="{FF2B5EF4-FFF2-40B4-BE49-F238E27FC236}">
                  <a16:creationId xmlns:a16="http://schemas.microsoft.com/office/drawing/2014/main" id="{FDA0F8D9-9282-FE00-CE8C-34AFF725CA7C}"/>
                </a:ext>
              </a:extLst>
            </p:cNvPr>
            <p:cNvSpPr/>
            <p:nvPr/>
          </p:nvSpPr>
          <p:spPr>
            <a:xfrm>
              <a:off x="4638939" y="3989603"/>
              <a:ext cx="453377" cy="470216"/>
            </a:xfrm>
            <a:prstGeom prst="flowChartDelay">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grpSp>
          <p:nvGrpSpPr>
            <p:cNvPr id="542" name="Gruppieren 541">
              <a:extLst>
                <a:ext uri="{FF2B5EF4-FFF2-40B4-BE49-F238E27FC236}">
                  <a16:creationId xmlns:a16="http://schemas.microsoft.com/office/drawing/2014/main" id="{B2B14C23-F238-AC5D-2383-3BE5A256E7BE}"/>
                </a:ext>
              </a:extLst>
            </p:cNvPr>
            <p:cNvGrpSpPr/>
            <p:nvPr/>
          </p:nvGrpSpPr>
          <p:grpSpPr>
            <a:xfrm>
              <a:off x="4242914" y="3989602"/>
              <a:ext cx="665182" cy="470216"/>
              <a:chOff x="3008483" y="3804045"/>
              <a:chExt cx="665182" cy="470216"/>
            </a:xfrm>
          </p:grpSpPr>
          <p:sp>
            <p:nvSpPr>
              <p:cNvPr id="543" name="Rechteck 542">
                <a:extLst>
                  <a:ext uri="{FF2B5EF4-FFF2-40B4-BE49-F238E27FC236}">
                    <a16:creationId xmlns:a16="http://schemas.microsoft.com/office/drawing/2014/main" id="{59A7212A-2885-4A55-0F19-2B397DC7DD28}"/>
                  </a:ext>
                </a:extLst>
              </p:cNvPr>
              <p:cNvSpPr/>
              <p:nvPr/>
            </p:nvSpPr>
            <p:spPr>
              <a:xfrm>
                <a:off x="3008483" y="3804045"/>
                <a:ext cx="625334" cy="470216"/>
              </a:xfrm>
              <a:prstGeom prst="rect">
                <a:avLst/>
              </a:prstGeom>
              <a:solidFill>
                <a:sysClr val="window" lastClr="FFFFFF">
                  <a:lumMod val="95000"/>
                </a:sysClr>
              </a:solidFill>
              <a:ln w="12700" cap="flat" cmpd="sng" algn="ctr">
                <a:solidFill>
                  <a:sysClr val="window" lastClr="FFFFFF">
                    <a:lumMod val="50000"/>
                  </a:sys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45" name="Textfeld 544">
                <a:extLst>
                  <a:ext uri="{FF2B5EF4-FFF2-40B4-BE49-F238E27FC236}">
                    <a16:creationId xmlns:a16="http://schemas.microsoft.com/office/drawing/2014/main" id="{EACBEDA7-F80C-DEC3-15D8-A2C101C54B2F}"/>
                  </a:ext>
                </a:extLst>
              </p:cNvPr>
              <p:cNvSpPr txBox="1"/>
              <p:nvPr/>
            </p:nvSpPr>
            <p:spPr>
              <a:xfrm>
                <a:off x="3062327" y="3819076"/>
                <a:ext cx="611338" cy="400110"/>
              </a:xfrm>
              <a:prstGeom prst="rect">
                <a:avLst/>
              </a:prstGeom>
              <a:noFill/>
            </p:spPr>
            <p:txBody>
              <a:bodyPr wrap="square" rtlCol="0">
                <a:spAutoFit/>
              </a:bodyPr>
              <a:lstStyle/>
              <a:p>
                <a:pPr algn="ctr" defTabSz="914339">
                  <a:defRPr/>
                </a:pPr>
                <a:r>
                  <a:rPr lang="en-GB" sz="1000" i="1" kern="0" dirty="0">
                    <a:solidFill>
                      <a:prstClr val="black"/>
                    </a:solidFill>
                    <a:latin typeface="Aptos" panose="020B0004020202020204" pitchFamily="34" charset="0"/>
                  </a:rPr>
                  <a:t>HVAC System</a:t>
                </a:r>
                <a:endParaRPr lang="de-AT" sz="1000" i="1" kern="0" dirty="0">
                  <a:solidFill>
                    <a:prstClr val="black"/>
                  </a:solidFill>
                  <a:latin typeface="Aptos" panose="020B0004020202020204" pitchFamily="34" charset="0"/>
                </a:endParaRPr>
              </a:p>
            </p:txBody>
          </p:sp>
        </p:grpSp>
      </p:grpSp>
      <p:sp>
        <p:nvSpPr>
          <p:cNvPr id="468" name="Rechteck 467">
            <a:extLst>
              <a:ext uri="{FF2B5EF4-FFF2-40B4-BE49-F238E27FC236}">
                <a16:creationId xmlns:a16="http://schemas.microsoft.com/office/drawing/2014/main" id="{56B4F0D7-5C87-1FBD-4CD6-02E9A23CEA6D}"/>
              </a:ext>
            </a:extLst>
          </p:cNvPr>
          <p:cNvSpPr/>
          <p:nvPr/>
        </p:nvSpPr>
        <p:spPr>
          <a:xfrm>
            <a:off x="2907303" y="1679367"/>
            <a:ext cx="2821687" cy="646331"/>
          </a:xfrm>
          <a:prstGeom prst="rect">
            <a:avLst/>
          </a:prstGeom>
        </p:spPr>
        <p:txBody>
          <a:bodyPr wrap="square">
            <a:spAutoFit/>
          </a:bodyPr>
          <a:lstStyle/>
          <a:p>
            <a:pPr defTabSz="914339">
              <a:defRPr/>
            </a:pPr>
            <a:endParaRPr lang="en-GB" sz="3600" b="1" kern="0" dirty="0">
              <a:solidFill>
                <a:srgbClr val="E6EFF3">
                  <a:lumMod val="50000"/>
                </a:srgbClr>
              </a:solidFill>
              <a:latin typeface="Aptos" panose="020B0004020202020204" pitchFamily="34" charset="0"/>
            </a:endParaRPr>
          </a:p>
        </p:txBody>
      </p:sp>
      <p:sp>
        <p:nvSpPr>
          <p:cNvPr id="469" name="Sechseck 468">
            <a:extLst>
              <a:ext uri="{FF2B5EF4-FFF2-40B4-BE49-F238E27FC236}">
                <a16:creationId xmlns:a16="http://schemas.microsoft.com/office/drawing/2014/main" id="{62171115-AE04-8449-DBEB-018F2C8BC9F6}"/>
              </a:ext>
            </a:extLst>
          </p:cNvPr>
          <p:cNvSpPr/>
          <p:nvPr/>
        </p:nvSpPr>
        <p:spPr>
          <a:xfrm>
            <a:off x="8675432" y="3829592"/>
            <a:ext cx="396848" cy="342110"/>
          </a:xfrm>
          <a:prstGeom prst="hexagon">
            <a:avLst>
              <a:gd name="adj" fmla="val 30979"/>
              <a:gd name="vf" fmla="val 115470"/>
            </a:avLst>
          </a:prstGeom>
          <a:solidFill>
            <a:srgbClr val="F59C00"/>
          </a:solidFill>
          <a:ln w="12700" cap="flat" cmpd="sng" algn="ctr">
            <a:solidFill>
              <a:srgbClr val="F59C00">
                <a:lumMod val="75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470" name="Car7" descr="{&quot;Key&quot;:&quot;POWER_USER_SHAPE_ICON&quot;,&quot;Value&quot;:&quot;POWER_USER_SHAPE_ICON_STYLE_1&quot;}">
            <a:extLst>
              <a:ext uri="{FF2B5EF4-FFF2-40B4-BE49-F238E27FC236}">
                <a16:creationId xmlns:a16="http://schemas.microsoft.com/office/drawing/2014/main" id="{092A8F9D-6FE0-57B4-E18D-1B38B56B49F0}"/>
              </a:ext>
            </a:extLst>
          </p:cNvPr>
          <p:cNvSpPr>
            <a:spLocks noChangeAspect="1" noEditPoints="1"/>
          </p:cNvSpPr>
          <p:nvPr>
            <p:custDataLst>
              <p:tags r:id="rId1"/>
            </p:custDataLst>
          </p:nvPr>
        </p:nvSpPr>
        <p:spPr bwMode="auto">
          <a:xfrm>
            <a:off x="8746799" y="3887978"/>
            <a:ext cx="255772" cy="215341"/>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sp>
        <p:nvSpPr>
          <p:cNvPr id="471" name="Scale4" descr="{&quot;Key&quot;:&quot;POWER_USER_SHAPE_ICON&quot;,&quot;Value&quot;:&quot;POWER_USER_SHAPE_ICON_STYLE_1&quot;}">
            <a:extLst>
              <a:ext uri="{FF2B5EF4-FFF2-40B4-BE49-F238E27FC236}">
                <a16:creationId xmlns:a16="http://schemas.microsoft.com/office/drawing/2014/main" id="{E4E1F993-5011-0006-AE28-DC8E6B5BD22C}"/>
              </a:ext>
            </a:extLst>
          </p:cNvPr>
          <p:cNvSpPr>
            <a:spLocks noChangeAspect="1" noEditPoints="1"/>
          </p:cNvSpPr>
          <p:nvPr>
            <p:custDataLst>
              <p:tags r:id="rId2"/>
            </p:custDataLst>
          </p:nvPr>
        </p:nvSpPr>
        <p:spPr bwMode="auto">
          <a:xfrm>
            <a:off x="5315518" y="2326499"/>
            <a:ext cx="472729" cy="416661"/>
          </a:xfrm>
          <a:custGeom>
            <a:avLst/>
            <a:gdLst>
              <a:gd name="T0" fmla="*/ 3278 w 3993"/>
              <a:gd name="T1" fmla="*/ 0 h 3507"/>
              <a:gd name="T2" fmla="*/ 2285 w 3993"/>
              <a:gd name="T3" fmla="*/ 240 h 3507"/>
              <a:gd name="T4" fmla="*/ 1971 w 3993"/>
              <a:gd name="T5" fmla="*/ 69 h 3507"/>
              <a:gd name="T6" fmla="*/ 1598 w 3993"/>
              <a:gd name="T7" fmla="*/ 405 h 3507"/>
              <a:gd name="T8" fmla="*/ 605 w 3993"/>
              <a:gd name="T9" fmla="*/ 645 h 3507"/>
              <a:gd name="T10" fmla="*/ 664 w 3993"/>
              <a:gd name="T11" fmla="*/ 888 h 3507"/>
              <a:gd name="T12" fmla="*/ 783 w 3993"/>
              <a:gd name="T13" fmla="*/ 859 h 3507"/>
              <a:gd name="T14" fmla="*/ 207 w 3993"/>
              <a:gd name="T15" fmla="*/ 2147 h 3507"/>
              <a:gd name="T16" fmla="*/ 0 w 3993"/>
              <a:gd name="T17" fmla="*/ 2147 h 3507"/>
              <a:gd name="T18" fmla="*/ 437 w 3993"/>
              <a:gd name="T19" fmla="*/ 2562 h 3507"/>
              <a:gd name="T20" fmla="*/ 1312 w 3993"/>
              <a:gd name="T21" fmla="*/ 2562 h 3507"/>
              <a:gd name="T22" fmla="*/ 1750 w 3993"/>
              <a:gd name="T23" fmla="*/ 2147 h 3507"/>
              <a:gd name="T24" fmla="*/ 1543 w 3993"/>
              <a:gd name="T25" fmla="*/ 2147 h 3507"/>
              <a:gd name="T26" fmla="*/ 948 w 3993"/>
              <a:gd name="T27" fmla="*/ 819 h 3507"/>
              <a:gd name="T28" fmla="*/ 1657 w 3993"/>
              <a:gd name="T29" fmla="*/ 648 h 3507"/>
              <a:gd name="T30" fmla="*/ 1846 w 3993"/>
              <a:gd name="T31" fmla="*/ 797 h 3507"/>
              <a:gd name="T32" fmla="*/ 1846 w 3993"/>
              <a:gd name="T33" fmla="*/ 3007 h 3507"/>
              <a:gd name="T34" fmla="*/ 221 w 3993"/>
              <a:gd name="T35" fmla="*/ 3007 h 3507"/>
              <a:gd name="T36" fmla="*/ 221 w 3993"/>
              <a:gd name="T37" fmla="*/ 3507 h 3507"/>
              <a:gd name="T38" fmla="*/ 3721 w 3993"/>
              <a:gd name="T39" fmla="*/ 3507 h 3507"/>
              <a:gd name="T40" fmla="*/ 3721 w 3993"/>
              <a:gd name="T41" fmla="*/ 3007 h 3507"/>
              <a:gd name="T42" fmla="*/ 2096 w 3993"/>
              <a:gd name="T43" fmla="*/ 3007 h 3507"/>
              <a:gd name="T44" fmla="*/ 2096 w 3993"/>
              <a:gd name="T45" fmla="*/ 797 h 3507"/>
              <a:gd name="T46" fmla="*/ 2344 w 3993"/>
              <a:gd name="T47" fmla="*/ 483 h 3507"/>
              <a:gd name="T48" fmla="*/ 3035 w 3993"/>
              <a:gd name="T49" fmla="*/ 316 h 3507"/>
              <a:gd name="T50" fmla="*/ 2455 w 3993"/>
              <a:gd name="T51" fmla="*/ 1611 h 3507"/>
              <a:gd name="T52" fmla="*/ 2243 w 3993"/>
              <a:gd name="T53" fmla="*/ 1611 h 3507"/>
              <a:gd name="T54" fmla="*/ 2681 w 3993"/>
              <a:gd name="T55" fmla="*/ 2025 h 3507"/>
              <a:gd name="T56" fmla="*/ 3556 w 3993"/>
              <a:gd name="T57" fmla="*/ 2025 h 3507"/>
              <a:gd name="T58" fmla="*/ 3993 w 3993"/>
              <a:gd name="T59" fmla="*/ 1611 h 3507"/>
              <a:gd name="T60" fmla="*/ 3764 w 3993"/>
              <a:gd name="T61" fmla="*/ 1611 h 3507"/>
              <a:gd name="T62" fmla="*/ 3170 w 3993"/>
              <a:gd name="T63" fmla="*/ 284 h 3507"/>
              <a:gd name="T64" fmla="*/ 3337 w 3993"/>
              <a:gd name="T65" fmla="*/ 243 h 3507"/>
              <a:gd name="T66" fmla="*/ 3278 w 3993"/>
              <a:gd name="T67" fmla="*/ 0 h 3507"/>
              <a:gd name="T68" fmla="*/ 3110 w 3993"/>
              <a:gd name="T69" fmla="*/ 455 h 3507"/>
              <a:gd name="T70" fmla="*/ 3628 w 3993"/>
              <a:gd name="T71" fmla="*/ 1611 h 3507"/>
              <a:gd name="T72" fmla="*/ 3118 w 3993"/>
              <a:gd name="T73" fmla="*/ 1611 h 3507"/>
              <a:gd name="T74" fmla="*/ 2592 w 3993"/>
              <a:gd name="T75" fmla="*/ 1611 h 3507"/>
              <a:gd name="T76" fmla="*/ 3110 w 3993"/>
              <a:gd name="T77" fmla="*/ 455 h 3507"/>
              <a:gd name="T78" fmla="*/ 875 w 3993"/>
              <a:gd name="T79" fmla="*/ 961 h 3507"/>
              <a:gd name="T80" fmla="*/ 1406 w 3993"/>
              <a:gd name="T81" fmla="*/ 2147 h 3507"/>
              <a:gd name="T82" fmla="*/ 875 w 3993"/>
              <a:gd name="T83" fmla="*/ 2147 h 3507"/>
              <a:gd name="T84" fmla="*/ 344 w 3993"/>
              <a:gd name="T85" fmla="*/ 2147 h 3507"/>
              <a:gd name="T86" fmla="*/ 875 w 3993"/>
              <a:gd name="T87" fmla="*/ 961 h 3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93" h="3507">
                <a:moveTo>
                  <a:pt x="3278" y="0"/>
                </a:moveTo>
                <a:lnTo>
                  <a:pt x="2285" y="240"/>
                </a:lnTo>
                <a:cubicBezTo>
                  <a:pt x="2216" y="133"/>
                  <a:pt x="2098" y="69"/>
                  <a:pt x="1971" y="69"/>
                </a:cubicBezTo>
                <a:cubicBezTo>
                  <a:pt x="1779" y="69"/>
                  <a:pt x="1618" y="214"/>
                  <a:pt x="1598" y="405"/>
                </a:cubicBezTo>
                <a:lnTo>
                  <a:pt x="605" y="645"/>
                </a:lnTo>
                <a:lnTo>
                  <a:pt x="664" y="888"/>
                </a:lnTo>
                <a:lnTo>
                  <a:pt x="783" y="859"/>
                </a:lnTo>
                <a:lnTo>
                  <a:pt x="207" y="2147"/>
                </a:lnTo>
                <a:lnTo>
                  <a:pt x="0" y="2147"/>
                </a:lnTo>
                <a:cubicBezTo>
                  <a:pt x="0" y="2318"/>
                  <a:pt x="167" y="2476"/>
                  <a:pt x="437" y="2562"/>
                </a:cubicBezTo>
                <a:cubicBezTo>
                  <a:pt x="708" y="2647"/>
                  <a:pt x="1042" y="2647"/>
                  <a:pt x="1312" y="2562"/>
                </a:cubicBezTo>
                <a:cubicBezTo>
                  <a:pt x="1583" y="2476"/>
                  <a:pt x="1750" y="2318"/>
                  <a:pt x="1750" y="2147"/>
                </a:cubicBezTo>
                <a:lnTo>
                  <a:pt x="1543" y="2147"/>
                </a:lnTo>
                <a:lnTo>
                  <a:pt x="948" y="819"/>
                </a:lnTo>
                <a:lnTo>
                  <a:pt x="1657" y="648"/>
                </a:lnTo>
                <a:cubicBezTo>
                  <a:pt x="1702" y="718"/>
                  <a:pt x="1768" y="770"/>
                  <a:pt x="1846" y="797"/>
                </a:cubicBezTo>
                <a:lnTo>
                  <a:pt x="1846" y="3007"/>
                </a:lnTo>
                <a:lnTo>
                  <a:pt x="221" y="3007"/>
                </a:lnTo>
                <a:lnTo>
                  <a:pt x="221" y="3507"/>
                </a:lnTo>
                <a:lnTo>
                  <a:pt x="3721" y="3507"/>
                </a:lnTo>
                <a:lnTo>
                  <a:pt x="3721" y="3007"/>
                </a:lnTo>
                <a:lnTo>
                  <a:pt x="2096" y="3007"/>
                </a:lnTo>
                <a:lnTo>
                  <a:pt x="2096" y="797"/>
                </a:lnTo>
                <a:cubicBezTo>
                  <a:pt x="2232" y="749"/>
                  <a:pt x="2329" y="627"/>
                  <a:pt x="2344" y="483"/>
                </a:cubicBezTo>
                <a:lnTo>
                  <a:pt x="3035" y="316"/>
                </a:lnTo>
                <a:lnTo>
                  <a:pt x="2455" y="1611"/>
                </a:lnTo>
                <a:lnTo>
                  <a:pt x="2243" y="1611"/>
                </a:lnTo>
                <a:cubicBezTo>
                  <a:pt x="2243" y="1782"/>
                  <a:pt x="2410" y="1940"/>
                  <a:pt x="2681" y="2025"/>
                </a:cubicBezTo>
                <a:cubicBezTo>
                  <a:pt x="2952" y="2111"/>
                  <a:pt x="3285" y="2111"/>
                  <a:pt x="3556" y="2025"/>
                </a:cubicBezTo>
                <a:cubicBezTo>
                  <a:pt x="3827" y="1940"/>
                  <a:pt x="3993" y="1782"/>
                  <a:pt x="3993" y="1611"/>
                </a:cubicBezTo>
                <a:lnTo>
                  <a:pt x="3764" y="1611"/>
                </a:lnTo>
                <a:lnTo>
                  <a:pt x="3170" y="284"/>
                </a:lnTo>
                <a:lnTo>
                  <a:pt x="3337" y="243"/>
                </a:lnTo>
                <a:lnTo>
                  <a:pt x="3278" y="0"/>
                </a:lnTo>
                <a:close/>
                <a:moveTo>
                  <a:pt x="3110" y="455"/>
                </a:moveTo>
                <a:lnTo>
                  <a:pt x="3628" y="1611"/>
                </a:lnTo>
                <a:lnTo>
                  <a:pt x="3118" y="1611"/>
                </a:lnTo>
                <a:lnTo>
                  <a:pt x="2592" y="1611"/>
                </a:lnTo>
                <a:lnTo>
                  <a:pt x="3110" y="455"/>
                </a:lnTo>
                <a:close/>
                <a:moveTo>
                  <a:pt x="875" y="961"/>
                </a:moveTo>
                <a:lnTo>
                  <a:pt x="1406" y="2147"/>
                </a:lnTo>
                <a:lnTo>
                  <a:pt x="875" y="2147"/>
                </a:lnTo>
                <a:lnTo>
                  <a:pt x="344" y="2147"/>
                </a:lnTo>
                <a:lnTo>
                  <a:pt x="875" y="961"/>
                </a:lnTo>
                <a:close/>
              </a:path>
            </a:pathLst>
          </a:custGeom>
          <a:solidFill>
            <a:srgbClr val="E6EFF3">
              <a:lumMod val="50000"/>
            </a:srgbClr>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nvGrpSpPr>
          <p:cNvPr id="472" name="Gruppieren 471" descr="{&quot;Key&quot;:&quot;POWER_USER_SHAPE_ICON&quot;,&quot;Value&quot;:&quot;POWER_USER_SHAPE_ICON_STYLE_2&quot;}">
            <a:extLst>
              <a:ext uri="{FF2B5EF4-FFF2-40B4-BE49-F238E27FC236}">
                <a16:creationId xmlns:a16="http://schemas.microsoft.com/office/drawing/2014/main" id="{26F85912-C2B7-E354-76DB-9DE338B5085B}"/>
              </a:ext>
            </a:extLst>
          </p:cNvPr>
          <p:cNvGrpSpPr>
            <a:grpSpLocks noChangeAspect="1"/>
          </p:cNvGrpSpPr>
          <p:nvPr/>
        </p:nvGrpSpPr>
        <p:grpSpPr>
          <a:xfrm>
            <a:off x="3226227" y="2903015"/>
            <a:ext cx="606062" cy="606062"/>
            <a:chOff x="6103281" y="1370067"/>
            <a:chExt cx="762000" cy="762000"/>
          </a:xfrm>
        </p:grpSpPr>
        <p:sp>
          <p:nvSpPr>
            <p:cNvPr id="539" name="POWER_USER_SHAPE_ICON_STYLE_2">
              <a:extLst>
                <a:ext uri="{FF2B5EF4-FFF2-40B4-BE49-F238E27FC236}">
                  <a16:creationId xmlns:a16="http://schemas.microsoft.com/office/drawing/2014/main" id="{8A7621EB-6F6F-C72F-BF9E-0462598213D1}"/>
                </a:ext>
              </a:extLst>
            </p:cNvPr>
            <p:cNvSpPr/>
            <p:nvPr/>
          </p:nvSpPr>
          <p:spPr>
            <a:xfrm>
              <a:off x="6103281" y="1370067"/>
              <a:ext cx="762000" cy="762000"/>
            </a:xfrm>
            <a:prstGeom prst="ellipse">
              <a:avLst/>
            </a:prstGeom>
            <a:solidFill>
              <a:srgbClr val="5FB564"/>
            </a:solidFill>
            <a:ln w="12700" cap="flat" cmpd="sng" algn="ctr">
              <a:solidFill>
                <a:srgbClr val="5FB564">
                  <a:lumMod val="75000"/>
                </a:srgbClr>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40" name="Solar_panel2" descr="{&quot;Key&quot;:&quot;POWER_USER_SHAPE_ICON&quot;,&quot;Value&quot;:&quot;POWER_USER_SHAPE_ICON_STYLE_1&quot;}">
              <a:extLst>
                <a:ext uri="{FF2B5EF4-FFF2-40B4-BE49-F238E27FC236}">
                  <a16:creationId xmlns:a16="http://schemas.microsoft.com/office/drawing/2014/main" id="{DD83B3D0-3446-5E3B-0EC6-48E89BF81068}"/>
                </a:ext>
              </a:extLst>
            </p:cNvPr>
            <p:cNvSpPr>
              <a:spLocks noChangeAspect="1" noEditPoints="1"/>
            </p:cNvSpPr>
            <p:nvPr>
              <p:custDataLst>
                <p:tags r:id="rId11"/>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5FB564">
                <a:lumMod val="20000"/>
                <a:lumOff val="80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sp>
        <p:nvSpPr>
          <p:cNvPr id="473" name="Battery4" descr="{&quot;Key&quot;:&quot;POWER_USER_SHAPE_ICON&quot;,&quot;Value&quot;:&quot;POWER_USER_SHAPE_ICON_STYLE_1&quot;}">
            <a:extLst>
              <a:ext uri="{FF2B5EF4-FFF2-40B4-BE49-F238E27FC236}">
                <a16:creationId xmlns:a16="http://schemas.microsoft.com/office/drawing/2014/main" id="{85E5391A-82D8-6948-C45E-9FA3C8C29BE4}"/>
              </a:ext>
            </a:extLst>
          </p:cNvPr>
          <p:cNvSpPr>
            <a:spLocks noChangeAspect="1" noEditPoints="1"/>
          </p:cNvSpPr>
          <p:nvPr>
            <p:custDataLst>
              <p:tags r:id="rId3"/>
            </p:custDataLst>
          </p:nvPr>
        </p:nvSpPr>
        <p:spPr bwMode="auto">
          <a:xfrm>
            <a:off x="5467512" y="3733275"/>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sp>
        <p:nvSpPr>
          <p:cNvPr id="474" name="Electric_Car" descr="{&quot;Key&quot;:&quot;POWER_USER_SHAPE_ICON&quot;,&quot;Value&quot;:&quot;POWER_USER_SHAPE_ICON_STYLE_1&quot;}">
            <a:extLst>
              <a:ext uri="{FF2B5EF4-FFF2-40B4-BE49-F238E27FC236}">
                <a16:creationId xmlns:a16="http://schemas.microsoft.com/office/drawing/2014/main" id="{4A124B31-78E3-885C-BEE2-0E9A10BFBEBB}"/>
              </a:ext>
            </a:extLst>
          </p:cNvPr>
          <p:cNvSpPr>
            <a:spLocks noChangeAspect="1" noEditPoints="1"/>
          </p:cNvSpPr>
          <p:nvPr>
            <p:custDataLst>
              <p:tags r:id="rId4"/>
            </p:custDataLst>
          </p:nvPr>
        </p:nvSpPr>
        <p:spPr bwMode="auto">
          <a:xfrm>
            <a:off x="8713542" y="2791105"/>
            <a:ext cx="371944" cy="188645"/>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kern="0" dirty="0">
              <a:solidFill>
                <a:prstClr val="black"/>
              </a:solidFill>
              <a:latin typeface="Aptos" panose="020B0004020202020204" pitchFamily="34" charset="0"/>
            </a:endParaRPr>
          </a:p>
        </p:txBody>
      </p:sp>
      <p:grpSp>
        <p:nvGrpSpPr>
          <p:cNvPr id="475" name="Gruppieren 474">
            <a:extLst>
              <a:ext uri="{FF2B5EF4-FFF2-40B4-BE49-F238E27FC236}">
                <a16:creationId xmlns:a16="http://schemas.microsoft.com/office/drawing/2014/main" id="{996D71C0-0FF0-32FB-6789-69C1B2F2DA9C}"/>
              </a:ext>
            </a:extLst>
          </p:cNvPr>
          <p:cNvGrpSpPr/>
          <p:nvPr/>
        </p:nvGrpSpPr>
        <p:grpSpPr>
          <a:xfrm>
            <a:off x="10457572" y="3595818"/>
            <a:ext cx="1244025" cy="246221"/>
            <a:chOff x="9222283" y="2565950"/>
            <a:chExt cx="1244025" cy="246221"/>
          </a:xfrm>
        </p:grpSpPr>
        <p:cxnSp>
          <p:nvCxnSpPr>
            <p:cNvPr id="536" name="Gerade Verbindung mit Pfeil 535">
              <a:extLst>
                <a:ext uri="{FF2B5EF4-FFF2-40B4-BE49-F238E27FC236}">
                  <a16:creationId xmlns:a16="http://schemas.microsoft.com/office/drawing/2014/main" id="{3196AC1B-B7B2-E80C-F97D-350DEC13F498}"/>
                </a:ext>
              </a:extLst>
            </p:cNvPr>
            <p:cNvCxnSpPr/>
            <p:nvPr/>
          </p:nvCxnSpPr>
          <p:spPr>
            <a:xfrm>
              <a:off x="9222283" y="2771816"/>
              <a:ext cx="1244025" cy="0"/>
            </a:xfrm>
            <a:prstGeom prst="straightConnector1">
              <a:avLst/>
            </a:prstGeom>
            <a:noFill/>
            <a:ln w="28575" cap="flat" cmpd="sng" algn="ctr">
              <a:solidFill>
                <a:srgbClr val="89814E"/>
              </a:solidFill>
              <a:prstDash val="solid"/>
              <a:miter lim="800000"/>
              <a:tailEnd type="triangle"/>
            </a:ln>
            <a:effectLst/>
          </p:spPr>
        </p:cxnSp>
        <p:sp>
          <p:nvSpPr>
            <p:cNvPr id="538" name="Textfeld 537">
              <a:extLst>
                <a:ext uri="{FF2B5EF4-FFF2-40B4-BE49-F238E27FC236}">
                  <a16:creationId xmlns:a16="http://schemas.microsoft.com/office/drawing/2014/main" id="{91CD95C8-393F-1D9A-590A-E8B29D6C9C7E}"/>
                </a:ext>
              </a:extLst>
            </p:cNvPr>
            <p:cNvSpPr txBox="1"/>
            <p:nvPr/>
          </p:nvSpPr>
          <p:spPr>
            <a:xfrm>
              <a:off x="9608634" y="2565950"/>
              <a:ext cx="849913" cy="246221"/>
            </a:xfrm>
            <a:prstGeom prst="rect">
              <a:avLst/>
            </a:prstGeom>
            <a:noFill/>
          </p:spPr>
          <p:txBody>
            <a:bodyPr wrap="none" rtlCol="0">
              <a:spAutoFit/>
            </a:bodyPr>
            <a:lstStyle/>
            <a:p>
              <a:pPr algn="ctr" defTabSz="914339">
                <a:defRPr/>
              </a:pPr>
              <a:r>
                <a:rPr lang="en-GB" sz="1000" b="1" i="1" kern="0" dirty="0">
                  <a:solidFill>
                    <a:prstClr val="black"/>
                  </a:solidFill>
                  <a:latin typeface="Aptos" panose="020B0004020202020204" pitchFamily="34" charset="0"/>
                </a:rPr>
                <a:t>Fossil fuels</a:t>
              </a:r>
              <a:endParaRPr lang="de-AT" sz="1000" b="1" i="1" kern="0" dirty="0">
                <a:solidFill>
                  <a:prstClr val="black"/>
                </a:solidFill>
                <a:latin typeface="Aptos" panose="020B0004020202020204" pitchFamily="34" charset="0"/>
              </a:endParaRPr>
            </a:p>
          </p:txBody>
        </p:sp>
      </p:grpSp>
      <p:sp>
        <p:nvSpPr>
          <p:cNvPr id="476" name="Windmill3" descr="{&quot;Key&quot;:&quot;POWER_USER_SHAPE_ICON&quot;,&quot;Value&quot;:&quot;POWER_USER_SHAPE_ICON_STYLE_1&quot;}">
            <a:extLst>
              <a:ext uri="{FF2B5EF4-FFF2-40B4-BE49-F238E27FC236}">
                <a16:creationId xmlns:a16="http://schemas.microsoft.com/office/drawing/2014/main" id="{10A04A13-F9A9-41CF-8FB5-EF1878CA8EA6}"/>
              </a:ext>
            </a:extLst>
          </p:cNvPr>
          <p:cNvSpPr>
            <a:spLocks noChangeAspect="1" noEditPoints="1"/>
          </p:cNvSpPr>
          <p:nvPr>
            <p:custDataLst>
              <p:tags r:id="rId5"/>
            </p:custDataLst>
          </p:nvPr>
        </p:nvSpPr>
        <p:spPr bwMode="auto">
          <a:xfrm>
            <a:off x="7377731" y="1453767"/>
            <a:ext cx="444928" cy="504771"/>
          </a:xfrm>
          <a:custGeom>
            <a:avLst/>
            <a:gdLst>
              <a:gd name="T0" fmla="*/ 360 w 713"/>
              <a:gd name="T1" fmla="*/ 374 h 808"/>
              <a:gd name="T2" fmla="*/ 360 w 713"/>
              <a:gd name="T3" fmla="*/ 323 h 808"/>
              <a:gd name="T4" fmla="*/ 149 w 713"/>
              <a:gd name="T5" fmla="*/ 405 h 808"/>
              <a:gd name="T6" fmla="*/ 115 w 713"/>
              <a:gd name="T7" fmla="*/ 414 h 808"/>
              <a:gd name="T8" fmla="*/ 164 w 713"/>
              <a:gd name="T9" fmla="*/ 215 h 808"/>
              <a:gd name="T10" fmla="*/ 149 w 713"/>
              <a:gd name="T11" fmla="*/ 405 h 808"/>
              <a:gd name="T12" fmla="*/ 82 w 713"/>
              <a:gd name="T13" fmla="*/ 529 h 808"/>
              <a:gd name="T14" fmla="*/ 23 w 713"/>
              <a:gd name="T15" fmla="*/ 258 h 808"/>
              <a:gd name="T16" fmla="*/ 58 w 713"/>
              <a:gd name="T17" fmla="*/ 267 h 808"/>
              <a:gd name="T18" fmla="*/ 417 w 713"/>
              <a:gd name="T19" fmla="*/ 137 h 808"/>
              <a:gd name="T20" fmla="*/ 426 w 713"/>
              <a:gd name="T21" fmla="*/ 103 h 808"/>
              <a:gd name="T22" fmla="*/ 573 w 713"/>
              <a:gd name="T23" fmla="*/ 246 h 808"/>
              <a:gd name="T24" fmla="*/ 417 w 713"/>
              <a:gd name="T25" fmla="*/ 137 h 808"/>
              <a:gd name="T26" fmla="*/ 342 w 713"/>
              <a:gd name="T27" fmla="*/ 18 h 808"/>
              <a:gd name="T28" fmla="*/ 606 w 713"/>
              <a:gd name="T29" fmla="*/ 102 h 808"/>
              <a:gd name="T30" fmla="*/ 581 w 713"/>
              <a:gd name="T31" fmla="*/ 127 h 808"/>
              <a:gd name="T32" fmla="*/ 631 w 713"/>
              <a:gd name="T33" fmla="*/ 505 h 808"/>
              <a:gd name="T34" fmla="*/ 662 w 713"/>
              <a:gd name="T35" fmla="*/ 523 h 808"/>
              <a:gd name="T36" fmla="*/ 428 w 713"/>
              <a:gd name="T37" fmla="*/ 672 h 808"/>
              <a:gd name="T38" fmla="*/ 631 w 713"/>
              <a:gd name="T39" fmla="*/ 505 h 808"/>
              <a:gd name="T40" fmla="*/ 193 w 713"/>
              <a:gd name="T41" fmla="*/ 638 h 808"/>
              <a:gd name="T42" fmla="*/ 330 w 713"/>
              <a:gd name="T43" fmla="*/ 761 h 808"/>
              <a:gd name="T44" fmla="*/ 172 w 713"/>
              <a:gd name="T45" fmla="*/ 784 h 808"/>
              <a:gd name="T46" fmla="*/ 524 w 713"/>
              <a:gd name="T47" fmla="*/ 808 h 808"/>
              <a:gd name="T48" fmla="*/ 524 w 713"/>
              <a:gd name="T49" fmla="*/ 761 h 808"/>
              <a:gd name="T50" fmla="*/ 389 w 713"/>
              <a:gd name="T51" fmla="*/ 601 h 808"/>
              <a:gd name="T52" fmla="*/ 539 w 713"/>
              <a:gd name="T53" fmla="*/ 503 h 808"/>
              <a:gd name="T54" fmla="*/ 389 w 713"/>
              <a:gd name="T55" fmla="*/ 565 h 808"/>
              <a:gd name="T56" fmla="*/ 440 w 713"/>
              <a:gd name="T57" fmla="*/ 486 h 808"/>
              <a:gd name="T58" fmla="*/ 422 w 713"/>
              <a:gd name="T59" fmla="*/ 456 h 808"/>
              <a:gd name="T60" fmla="*/ 389 w 713"/>
              <a:gd name="T61" fmla="*/ 402 h 808"/>
              <a:gd name="T62" fmla="*/ 695 w 713"/>
              <a:gd name="T63" fmla="*/ 372 h 808"/>
              <a:gd name="T64" fmla="*/ 512 w 713"/>
              <a:gd name="T65" fmla="*/ 299 h 808"/>
              <a:gd name="T66" fmla="*/ 416 w 713"/>
              <a:gd name="T67" fmla="*/ 217 h 808"/>
              <a:gd name="T68" fmla="*/ 476 w 713"/>
              <a:gd name="T69" fmla="*/ 305 h 808"/>
              <a:gd name="T70" fmla="*/ 352 w 713"/>
              <a:gd name="T71" fmla="*/ 288 h 808"/>
              <a:gd name="T72" fmla="*/ 193 w 713"/>
              <a:gd name="T73" fmla="*/ 58 h 808"/>
              <a:gd name="T74" fmla="*/ 200 w 713"/>
              <a:gd name="T75" fmla="*/ 348 h 808"/>
              <a:gd name="T76" fmla="*/ 236 w 713"/>
              <a:gd name="T77" fmla="*/ 348 h 808"/>
              <a:gd name="T78" fmla="*/ 311 w 713"/>
              <a:gd name="T79" fmla="*/ 312 h 808"/>
              <a:gd name="T80" fmla="*/ 172 w 713"/>
              <a:gd name="T81" fmla="*/ 627 h 8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13" h="808">
                <a:moveTo>
                  <a:pt x="386" y="348"/>
                </a:moveTo>
                <a:cubicBezTo>
                  <a:pt x="386" y="362"/>
                  <a:pt x="374" y="374"/>
                  <a:pt x="360" y="374"/>
                </a:cubicBezTo>
                <a:cubicBezTo>
                  <a:pt x="346" y="374"/>
                  <a:pt x="334" y="362"/>
                  <a:pt x="334" y="348"/>
                </a:cubicBezTo>
                <a:cubicBezTo>
                  <a:pt x="334" y="334"/>
                  <a:pt x="346" y="323"/>
                  <a:pt x="360" y="323"/>
                </a:cubicBezTo>
                <a:cubicBezTo>
                  <a:pt x="374" y="323"/>
                  <a:pt x="386" y="334"/>
                  <a:pt x="386" y="348"/>
                </a:cubicBezTo>
                <a:close/>
                <a:moveTo>
                  <a:pt x="149" y="405"/>
                </a:moveTo>
                <a:cubicBezTo>
                  <a:pt x="151" y="414"/>
                  <a:pt x="146" y="424"/>
                  <a:pt x="136" y="427"/>
                </a:cubicBezTo>
                <a:cubicBezTo>
                  <a:pt x="127" y="429"/>
                  <a:pt x="117" y="424"/>
                  <a:pt x="115" y="414"/>
                </a:cubicBezTo>
                <a:cubicBezTo>
                  <a:pt x="97" y="349"/>
                  <a:pt x="106" y="280"/>
                  <a:pt x="140" y="221"/>
                </a:cubicBezTo>
                <a:cubicBezTo>
                  <a:pt x="145" y="213"/>
                  <a:pt x="156" y="210"/>
                  <a:pt x="164" y="215"/>
                </a:cubicBezTo>
                <a:cubicBezTo>
                  <a:pt x="173" y="220"/>
                  <a:pt x="176" y="231"/>
                  <a:pt x="171" y="239"/>
                </a:cubicBezTo>
                <a:cubicBezTo>
                  <a:pt x="142" y="289"/>
                  <a:pt x="134" y="349"/>
                  <a:pt x="149" y="405"/>
                </a:cubicBezTo>
                <a:close/>
                <a:moveTo>
                  <a:pt x="89" y="505"/>
                </a:moveTo>
                <a:cubicBezTo>
                  <a:pt x="94" y="513"/>
                  <a:pt x="91" y="524"/>
                  <a:pt x="82" y="529"/>
                </a:cubicBezTo>
                <a:cubicBezTo>
                  <a:pt x="74" y="534"/>
                  <a:pt x="63" y="531"/>
                  <a:pt x="58" y="523"/>
                </a:cubicBezTo>
                <a:cubicBezTo>
                  <a:pt x="12" y="443"/>
                  <a:pt x="0" y="347"/>
                  <a:pt x="23" y="258"/>
                </a:cubicBezTo>
                <a:cubicBezTo>
                  <a:pt x="26" y="249"/>
                  <a:pt x="36" y="243"/>
                  <a:pt x="45" y="246"/>
                </a:cubicBezTo>
                <a:cubicBezTo>
                  <a:pt x="55" y="248"/>
                  <a:pt x="60" y="258"/>
                  <a:pt x="58" y="267"/>
                </a:cubicBezTo>
                <a:cubicBezTo>
                  <a:pt x="36" y="348"/>
                  <a:pt x="47" y="433"/>
                  <a:pt x="89" y="505"/>
                </a:cubicBezTo>
                <a:close/>
                <a:moveTo>
                  <a:pt x="417" y="137"/>
                </a:moveTo>
                <a:cubicBezTo>
                  <a:pt x="407" y="135"/>
                  <a:pt x="401" y="125"/>
                  <a:pt x="404" y="116"/>
                </a:cubicBezTo>
                <a:cubicBezTo>
                  <a:pt x="407" y="106"/>
                  <a:pt x="416" y="101"/>
                  <a:pt x="426" y="103"/>
                </a:cubicBezTo>
                <a:cubicBezTo>
                  <a:pt x="491" y="121"/>
                  <a:pt x="546" y="163"/>
                  <a:pt x="580" y="222"/>
                </a:cubicBezTo>
                <a:cubicBezTo>
                  <a:pt x="585" y="230"/>
                  <a:pt x="582" y="241"/>
                  <a:pt x="573" y="246"/>
                </a:cubicBezTo>
                <a:cubicBezTo>
                  <a:pt x="565" y="250"/>
                  <a:pt x="554" y="248"/>
                  <a:pt x="549" y="239"/>
                </a:cubicBezTo>
                <a:cubicBezTo>
                  <a:pt x="520" y="189"/>
                  <a:pt x="472" y="152"/>
                  <a:pt x="417" y="137"/>
                </a:cubicBezTo>
                <a:close/>
                <a:moveTo>
                  <a:pt x="360" y="35"/>
                </a:moveTo>
                <a:cubicBezTo>
                  <a:pt x="350" y="35"/>
                  <a:pt x="342" y="27"/>
                  <a:pt x="342" y="18"/>
                </a:cubicBezTo>
                <a:cubicBezTo>
                  <a:pt x="342" y="8"/>
                  <a:pt x="350" y="0"/>
                  <a:pt x="360" y="0"/>
                </a:cubicBezTo>
                <a:cubicBezTo>
                  <a:pt x="452" y="0"/>
                  <a:pt x="541" y="37"/>
                  <a:pt x="606" y="102"/>
                </a:cubicBezTo>
                <a:cubicBezTo>
                  <a:pt x="613" y="109"/>
                  <a:pt x="613" y="120"/>
                  <a:pt x="606" y="127"/>
                </a:cubicBezTo>
                <a:cubicBezTo>
                  <a:pt x="599" y="134"/>
                  <a:pt x="588" y="134"/>
                  <a:pt x="581" y="127"/>
                </a:cubicBezTo>
                <a:cubicBezTo>
                  <a:pt x="522" y="68"/>
                  <a:pt x="443" y="35"/>
                  <a:pt x="360" y="35"/>
                </a:cubicBezTo>
                <a:close/>
                <a:moveTo>
                  <a:pt x="631" y="505"/>
                </a:moveTo>
                <a:cubicBezTo>
                  <a:pt x="636" y="497"/>
                  <a:pt x="647" y="494"/>
                  <a:pt x="655" y="498"/>
                </a:cubicBezTo>
                <a:cubicBezTo>
                  <a:pt x="664" y="503"/>
                  <a:pt x="667" y="514"/>
                  <a:pt x="662" y="523"/>
                </a:cubicBezTo>
                <a:cubicBezTo>
                  <a:pt x="615" y="603"/>
                  <a:pt x="539" y="661"/>
                  <a:pt x="450" y="685"/>
                </a:cubicBezTo>
                <a:cubicBezTo>
                  <a:pt x="441" y="687"/>
                  <a:pt x="431" y="682"/>
                  <a:pt x="428" y="672"/>
                </a:cubicBezTo>
                <a:cubicBezTo>
                  <a:pt x="426" y="663"/>
                  <a:pt x="432" y="653"/>
                  <a:pt x="441" y="651"/>
                </a:cubicBezTo>
                <a:cubicBezTo>
                  <a:pt x="521" y="629"/>
                  <a:pt x="590" y="577"/>
                  <a:pt x="631" y="505"/>
                </a:cubicBezTo>
                <a:close/>
                <a:moveTo>
                  <a:pt x="172" y="627"/>
                </a:moveTo>
                <a:cubicBezTo>
                  <a:pt x="164" y="641"/>
                  <a:pt x="179" y="652"/>
                  <a:pt x="193" y="638"/>
                </a:cubicBezTo>
                <a:lnTo>
                  <a:pt x="330" y="501"/>
                </a:lnTo>
                <a:lnTo>
                  <a:pt x="330" y="761"/>
                </a:lnTo>
                <a:lnTo>
                  <a:pt x="196" y="761"/>
                </a:lnTo>
                <a:cubicBezTo>
                  <a:pt x="183" y="761"/>
                  <a:pt x="172" y="771"/>
                  <a:pt x="172" y="784"/>
                </a:cubicBezTo>
                <a:cubicBezTo>
                  <a:pt x="172" y="797"/>
                  <a:pt x="183" y="808"/>
                  <a:pt x="196" y="808"/>
                </a:cubicBezTo>
                <a:lnTo>
                  <a:pt x="524" y="808"/>
                </a:lnTo>
                <a:cubicBezTo>
                  <a:pt x="537" y="808"/>
                  <a:pt x="548" y="797"/>
                  <a:pt x="548" y="784"/>
                </a:cubicBezTo>
                <a:cubicBezTo>
                  <a:pt x="548" y="771"/>
                  <a:pt x="537" y="761"/>
                  <a:pt x="524" y="761"/>
                </a:cubicBezTo>
                <a:lnTo>
                  <a:pt x="389" y="761"/>
                </a:lnTo>
                <a:lnTo>
                  <a:pt x="389" y="601"/>
                </a:lnTo>
                <a:cubicBezTo>
                  <a:pt x="446" y="594"/>
                  <a:pt x="499" y="568"/>
                  <a:pt x="539" y="528"/>
                </a:cubicBezTo>
                <a:cubicBezTo>
                  <a:pt x="546" y="521"/>
                  <a:pt x="546" y="510"/>
                  <a:pt x="539" y="503"/>
                </a:cubicBezTo>
                <a:cubicBezTo>
                  <a:pt x="533" y="496"/>
                  <a:pt x="521" y="496"/>
                  <a:pt x="514" y="503"/>
                </a:cubicBezTo>
                <a:cubicBezTo>
                  <a:pt x="481" y="537"/>
                  <a:pt x="437" y="559"/>
                  <a:pt x="389" y="565"/>
                </a:cubicBezTo>
                <a:lnTo>
                  <a:pt x="389" y="505"/>
                </a:lnTo>
                <a:cubicBezTo>
                  <a:pt x="407" y="502"/>
                  <a:pt x="424" y="496"/>
                  <a:pt x="440" y="486"/>
                </a:cubicBezTo>
                <a:cubicBezTo>
                  <a:pt x="448" y="482"/>
                  <a:pt x="451" y="471"/>
                  <a:pt x="446" y="462"/>
                </a:cubicBezTo>
                <a:cubicBezTo>
                  <a:pt x="441" y="454"/>
                  <a:pt x="430" y="451"/>
                  <a:pt x="422" y="456"/>
                </a:cubicBezTo>
                <a:cubicBezTo>
                  <a:pt x="412" y="462"/>
                  <a:pt x="401" y="466"/>
                  <a:pt x="389" y="469"/>
                </a:cubicBezTo>
                <a:lnTo>
                  <a:pt x="389" y="402"/>
                </a:lnTo>
                <a:cubicBezTo>
                  <a:pt x="401" y="395"/>
                  <a:pt x="411" y="385"/>
                  <a:pt x="416" y="372"/>
                </a:cubicBezTo>
                <a:lnTo>
                  <a:pt x="695" y="372"/>
                </a:lnTo>
                <a:cubicBezTo>
                  <a:pt x="711" y="372"/>
                  <a:pt x="713" y="353"/>
                  <a:pt x="695" y="348"/>
                </a:cubicBezTo>
                <a:lnTo>
                  <a:pt x="512" y="299"/>
                </a:lnTo>
                <a:cubicBezTo>
                  <a:pt x="499" y="262"/>
                  <a:pt x="474" y="230"/>
                  <a:pt x="440" y="210"/>
                </a:cubicBezTo>
                <a:cubicBezTo>
                  <a:pt x="431" y="206"/>
                  <a:pt x="420" y="208"/>
                  <a:pt x="416" y="217"/>
                </a:cubicBezTo>
                <a:cubicBezTo>
                  <a:pt x="411" y="225"/>
                  <a:pt x="414" y="236"/>
                  <a:pt x="422" y="241"/>
                </a:cubicBezTo>
                <a:cubicBezTo>
                  <a:pt x="447" y="255"/>
                  <a:pt x="466" y="278"/>
                  <a:pt x="476" y="305"/>
                </a:cubicBezTo>
                <a:cubicBezTo>
                  <a:pt x="459" y="317"/>
                  <a:pt x="437" y="323"/>
                  <a:pt x="416" y="324"/>
                </a:cubicBezTo>
                <a:cubicBezTo>
                  <a:pt x="405" y="299"/>
                  <a:pt x="379" y="285"/>
                  <a:pt x="352" y="288"/>
                </a:cubicBezTo>
                <a:lnTo>
                  <a:pt x="213" y="47"/>
                </a:lnTo>
                <a:cubicBezTo>
                  <a:pt x="205" y="32"/>
                  <a:pt x="188" y="40"/>
                  <a:pt x="193" y="58"/>
                </a:cubicBezTo>
                <a:lnTo>
                  <a:pt x="242" y="242"/>
                </a:lnTo>
                <a:cubicBezTo>
                  <a:pt x="215" y="271"/>
                  <a:pt x="200" y="309"/>
                  <a:pt x="200" y="348"/>
                </a:cubicBezTo>
                <a:cubicBezTo>
                  <a:pt x="200" y="358"/>
                  <a:pt x="208" y="366"/>
                  <a:pt x="218" y="366"/>
                </a:cubicBezTo>
                <a:cubicBezTo>
                  <a:pt x="228" y="366"/>
                  <a:pt x="236" y="358"/>
                  <a:pt x="236" y="348"/>
                </a:cubicBezTo>
                <a:cubicBezTo>
                  <a:pt x="236" y="319"/>
                  <a:pt x="246" y="291"/>
                  <a:pt x="264" y="269"/>
                </a:cubicBezTo>
                <a:cubicBezTo>
                  <a:pt x="283" y="279"/>
                  <a:pt x="299" y="295"/>
                  <a:pt x="311" y="312"/>
                </a:cubicBezTo>
                <a:cubicBezTo>
                  <a:pt x="295" y="334"/>
                  <a:pt x="295" y="364"/>
                  <a:pt x="311" y="385"/>
                </a:cubicBezTo>
                <a:lnTo>
                  <a:pt x="172" y="627"/>
                </a:lnTo>
                <a:lnTo>
                  <a:pt x="172" y="627"/>
                </a:lnTo>
              </a:path>
            </a:pathLst>
          </a:custGeom>
          <a:solidFill>
            <a:srgbClr val="BCCF00"/>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sp>
        <p:nvSpPr>
          <p:cNvPr id="477" name="High_voltage3" descr="{&quot;Key&quot;:&quot;POWER_USER_SHAPE_ICON&quot;,&quot;Value&quot;:&quot;POWER_USER_SHAPE_ICON_STYLE_1&quot;}">
            <a:extLst>
              <a:ext uri="{FF2B5EF4-FFF2-40B4-BE49-F238E27FC236}">
                <a16:creationId xmlns:a16="http://schemas.microsoft.com/office/drawing/2014/main" id="{D1FB11D5-61DC-7942-D1D8-0D3D440E6DEE}"/>
              </a:ext>
            </a:extLst>
          </p:cNvPr>
          <p:cNvSpPr>
            <a:spLocks noChangeAspect="1" noEditPoints="1"/>
          </p:cNvSpPr>
          <p:nvPr>
            <p:custDataLst>
              <p:tags r:id="rId6"/>
            </p:custDataLst>
          </p:nvPr>
        </p:nvSpPr>
        <p:spPr bwMode="auto">
          <a:xfrm>
            <a:off x="4795130" y="1426762"/>
            <a:ext cx="340805" cy="474505"/>
          </a:xfrm>
          <a:custGeom>
            <a:avLst/>
            <a:gdLst>
              <a:gd name="T0" fmla="*/ 244 w 542"/>
              <a:gd name="T1" fmla="*/ 590 h 753"/>
              <a:gd name="T2" fmla="*/ 181 w 542"/>
              <a:gd name="T3" fmla="*/ 645 h 753"/>
              <a:gd name="T4" fmla="*/ 361 w 542"/>
              <a:gd name="T5" fmla="*/ 645 h 753"/>
              <a:gd name="T6" fmla="*/ 298 w 542"/>
              <a:gd name="T7" fmla="*/ 590 h 753"/>
              <a:gd name="T8" fmla="*/ 376 w 542"/>
              <a:gd name="T9" fmla="*/ 706 h 753"/>
              <a:gd name="T10" fmla="*/ 166 w 542"/>
              <a:gd name="T11" fmla="*/ 706 h 753"/>
              <a:gd name="T12" fmla="*/ 122 w 542"/>
              <a:gd name="T13" fmla="*/ 395 h 753"/>
              <a:gd name="T14" fmla="*/ 204 w 542"/>
              <a:gd name="T15" fmla="*/ 347 h 753"/>
              <a:gd name="T16" fmla="*/ 338 w 542"/>
              <a:gd name="T17" fmla="*/ 347 h 753"/>
              <a:gd name="T18" fmla="*/ 420 w 542"/>
              <a:gd name="T19" fmla="*/ 395 h 753"/>
              <a:gd name="T20" fmla="*/ 219 w 542"/>
              <a:gd name="T21" fmla="*/ 521 h 753"/>
              <a:gd name="T22" fmla="*/ 323 w 542"/>
              <a:gd name="T23" fmla="*/ 521 h 753"/>
              <a:gd name="T24" fmla="*/ 247 w 542"/>
              <a:gd name="T25" fmla="*/ 430 h 753"/>
              <a:gd name="T26" fmla="*/ 251 w 542"/>
              <a:gd name="T27" fmla="*/ 395 h 753"/>
              <a:gd name="T28" fmla="*/ 291 w 542"/>
              <a:gd name="T29" fmla="*/ 331 h 753"/>
              <a:gd name="T30" fmla="*/ 38 w 542"/>
              <a:gd name="T31" fmla="*/ 412 h 753"/>
              <a:gd name="T32" fmla="*/ 204 w 542"/>
              <a:gd name="T33" fmla="*/ 306 h 753"/>
              <a:gd name="T34" fmla="*/ 95 w 542"/>
              <a:gd name="T35" fmla="*/ 231 h 753"/>
              <a:gd name="T36" fmla="*/ 77 w 542"/>
              <a:gd name="T37" fmla="*/ 303 h 753"/>
              <a:gd name="T38" fmla="*/ 60 w 542"/>
              <a:gd name="T39" fmla="*/ 213 h 753"/>
              <a:gd name="T40" fmla="*/ 212 w 542"/>
              <a:gd name="T41" fmla="*/ 115 h 753"/>
              <a:gd name="T42" fmla="*/ 257 w 542"/>
              <a:gd name="T43" fmla="*/ 0 h 753"/>
              <a:gd name="T44" fmla="*/ 303 w 542"/>
              <a:gd name="T45" fmla="*/ 14 h 753"/>
              <a:gd name="T46" fmla="*/ 472 w 542"/>
              <a:gd name="T47" fmla="*/ 197 h 753"/>
              <a:gd name="T48" fmla="*/ 482 w 542"/>
              <a:gd name="T49" fmla="*/ 285 h 753"/>
              <a:gd name="T50" fmla="*/ 447 w 542"/>
              <a:gd name="T51" fmla="*/ 285 h 753"/>
              <a:gd name="T52" fmla="*/ 338 w 542"/>
              <a:gd name="T53" fmla="*/ 231 h 753"/>
              <a:gd name="T54" fmla="*/ 494 w 542"/>
              <a:gd name="T55" fmla="*/ 397 h 753"/>
              <a:gd name="T56" fmla="*/ 504 w 542"/>
              <a:gd name="T57" fmla="*/ 484 h 753"/>
              <a:gd name="T58" fmla="*/ 469 w 542"/>
              <a:gd name="T59" fmla="*/ 484 h 753"/>
              <a:gd name="T60" fmla="*/ 344 w 542"/>
              <a:gd name="T61" fmla="*/ 430 h 753"/>
              <a:gd name="T62" fmla="*/ 519 w 542"/>
              <a:gd name="T63" fmla="*/ 706 h 753"/>
              <a:gd name="T64" fmla="*/ 519 w 542"/>
              <a:gd name="T65" fmla="*/ 753 h 753"/>
              <a:gd name="T66" fmla="*/ 0 w 542"/>
              <a:gd name="T67" fmla="*/ 730 h 753"/>
              <a:gd name="T68" fmla="*/ 114 w 542"/>
              <a:gd name="T69" fmla="*/ 706 h 753"/>
              <a:gd name="T70" fmla="*/ 73 w 542"/>
              <a:gd name="T71" fmla="*/ 430 h 753"/>
              <a:gd name="T72" fmla="*/ 56 w 542"/>
              <a:gd name="T73" fmla="*/ 502 h 753"/>
              <a:gd name="T74" fmla="*/ 38 w 542"/>
              <a:gd name="T75" fmla="*/ 412 h 753"/>
              <a:gd name="T76" fmla="*/ 144 w 542"/>
              <a:gd name="T77" fmla="*/ 195 h 753"/>
              <a:gd name="T78" fmla="*/ 204 w 542"/>
              <a:gd name="T79" fmla="*/ 160 h 753"/>
              <a:gd name="T80" fmla="*/ 338 w 542"/>
              <a:gd name="T81" fmla="*/ 160 h 753"/>
              <a:gd name="T82" fmla="*/ 399 w 542"/>
              <a:gd name="T83" fmla="*/ 195 h 753"/>
              <a:gd name="T84" fmla="*/ 271 w 542"/>
              <a:gd name="T85" fmla="*/ 35 h 753"/>
              <a:gd name="T86" fmla="*/ 291 w 542"/>
              <a:gd name="T87" fmla="*/ 109 h 753"/>
              <a:gd name="T88" fmla="*/ 251 w 542"/>
              <a:gd name="T89" fmla="*/ 296 h 753"/>
              <a:gd name="T90" fmla="*/ 291 w 542"/>
              <a:gd name="T91" fmla="*/ 231 h 753"/>
              <a:gd name="T92" fmla="*/ 251 w 542"/>
              <a:gd name="T93" fmla="*/ 144 h 753"/>
              <a:gd name="T94" fmla="*/ 291 w 542"/>
              <a:gd name="T95" fmla="*/ 195 h 753"/>
              <a:gd name="T96" fmla="*/ 251 w 542"/>
              <a:gd name="T97" fmla="*/ 144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2" h="753">
                <a:moveTo>
                  <a:pt x="181" y="645"/>
                </a:moveTo>
                <a:lnTo>
                  <a:pt x="244" y="590"/>
                </a:lnTo>
                <a:lnTo>
                  <a:pt x="208" y="558"/>
                </a:lnTo>
                <a:lnTo>
                  <a:pt x="181" y="645"/>
                </a:lnTo>
                <a:close/>
                <a:moveTo>
                  <a:pt x="298" y="590"/>
                </a:moveTo>
                <a:lnTo>
                  <a:pt x="361" y="645"/>
                </a:lnTo>
                <a:lnTo>
                  <a:pt x="334" y="558"/>
                </a:lnTo>
                <a:lnTo>
                  <a:pt x="298" y="590"/>
                </a:lnTo>
                <a:close/>
                <a:moveTo>
                  <a:pt x="166" y="706"/>
                </a:moveTo>
                <a:lnTo>
                  <a:pt x="376" y="706"/>
                </a:lnTo>
                <a:lnTo>
                  <a:pt x="271" y="614"/>
                </a:lnTo>
                <a:lnTo>
                  <a:pt x="166" y="706"/>
                </a:lnTo>
                <a:close/>
                <a:moveTo>
                  <a:pt x="204" y="347"/>
                </a:moveTo>
                <a:lnTo>
                  <a:pt x="122" y="395"/>
                </a:lnTo>
                <a:lnTo>
                  <a:pt x="204" y="395"/>
                </a:lnTo>
                <a:lnTo>
                  <a:pt x="204" y="347"/>
                </a:lnTo>
                <a:close/>
                <a:moveTo>
                  <a:pt x="420" y="395"/>
                </a:moveTo>
                <a:lnTo>
                  <a:pt x="338" y="347"/>
                </a:lnTo>
                <a:lnTo>
                  <a:pt x="338" y="395"/>
                </a:lnTo>
                <a:lnTo>
                  <a:pt x="420" y="395"/>
                </a:lnTo>
                <a:close/>
                <a:moveTo>
                  <a:pt x="247" y="430"/>
                </a:moveTo>
                <a:lnTo>
                  <a:pt x="219" y="521"/>
                </a:lnTo>
                <a:lnTo>
                  <a:pt x="271" y="566"/>
                </a:lnTo>
                <a:lnTo>
                  <a:pt x="323" y="521"/>
                </a:lnTo>
                <a:lnTo>
                  <a:pt x="295" y="430"/>
                </a:lnTo>
                <a:lnTo>
                  <a:pt x="247" y="430"/>
                </a:lnTo>
                <a:close/>
                <a:moveTo>
                  <a:pt x="251" y="331"/>
                </a:moveTo>
                <a:lnTo>
                  <a:pt x="251" y="395"/>
                </a:lnTo>
                <a:lnTo>
                  <a:pt x="291" y="395"/>
                </a:lnTo>
                <a:lnTo>
                  <a:pt x="291" y="331"/>
                </a:lnTo>
                <a:lnTo>
                  <a:pt x="251" y="331"/>
                </a:lnTo>
                <a:close/>
                <a:moveTo>
                  <a:pt x="38" y="412"/>
                </a:moveTo>
                <a:cubicBezTo>
                  <a:pt x="38" y="406"/>
                  <a:pt x="41" y="400"/>
                  <a:pt x="47" y="397"/>
                </a:cubicBezTo>
                <a:lnTo>
                  <a:pt x="204" y="306"/>
                </a:lnTo>
                <a:lnTo>
                  <a:pt x="204" y="231"/>
                </a:lnTo>
                <a:lnTo>
                  <a:pt x="95" y="231"/>
                </a:lnTo>
                <a:lnTo>
                  <a:pt x="95" y="285"/>
                </a:lnTo>
                <a:cubicBezTo>
                  <a:pt x="95" y="295"/>
                  <a:pt x="87" y="303"/>
                  <a:pt x="77" y="303"/>
                </a:cubicBezTo>
                <a:cubicBezTo>
                  <a:pt x="68" y="303"/>
                  <a:pt x="60" y="295"/>
                  <a:pt x="60" y="285"/>
                </a:cubicBezTo>
                <a:lnTo>
                  <a:pt x="60" y="213"/>
                </a:lnTo>
                <a:cubicBezTo>
                  <a:pt x="60" y="207"/>
                  <a:pt x="63" y="201"/>
                  <a:pt x="69" y="198"/>
                </a:cubicBezTo>
                <a:lnTo>
                  <a:pt x="212" y="115"/>
                </a:lnTo>
                <a:lnTo>
                  <a:pt x="240" y="13"/>
                </a:lnTo>
                <a:cubicBezTo>
                  <a:pt x="242" y="5"/>
                  <a:pt x="249" y="0"/>
                  <a:pt x="257" y="0"/>
                </a:cubicBezTo>
                <a:lnTo>
                  <a:pt x="285" y="0"/>
                </a:lnTo>
                <a:cubicBezTo>
                  <a:pt x="294" y="0"/>
                  <a:pt x="300" y="6"/>
                  <a:pt x="303" y="14"/>
                </a:cubicBezTo>
                <a:lnTo>
                  <a:pt x="330" y="115"/>
                </a:lnTo>
                <a:lnTo>
                  <a:pt x="472" y="197"/>
                </a:lnTo>
                <a:cubicBezTo>
                  <a:pt x="478" y="200"/>
                  <a:pt x="482" y="206"/>
                  <a:pt x="482" y="213"/>
                </a:cubicBezTo>
                <a:lnTo>
                  <a:pt x="482" y="285"/>
                </a:lnTo>
                <a:cubicBezTo>
                  <a:pt x="482" y="295"/>
                  <a:pt x="474" y="303"/>
                  <a:pt x="465" y="303"/>
                </a:cubicBezTo>
                <a:cubicBezTo>
                  <a:pt x="455" y="303"/>
                  <a:pt x="447" y="295"/>
                  <a:pt x="447" y="285"/>
                </a:cubicBezTo>
                <a:lnTo>
                  <a:pt x="447" y="231"/>
                </a:lnTo>
                <a:lnTo>
                  <a:pt x="338" y="231"/>
                </a:lnTo>
                <a:lnTo>
                  <a:pt x="338" y="306"/>
                </a:lnTo>
                <a:lnTo>
                  <a:pt x="494" y="397"/>
                </a:lnTo>
                <a:cubicBezTo>
                  <a:pt x="500" y="400"/>
                  <a:pt x="504" y="405"/>
                  <a:pt x="504" y="412"/>
                </a:cubicBezTo>
                <a:lnTo>
                  <a:pt x="504" y="484"/>
                </a:lnTo>
                <a:cubicBezTo>
                  <a:pt x="504" y="494"/>
                  <a:pt x="496" y="502"/>
                  <a:pt x="486" y="502"/>
                </a:cubicBezTo>
                <a:cubicBezTo>
                  <a:pt x="477" y="502"/>
                  <a:pt x="469" y="494"/>
                  <a:pt x="469" y="484"/>
                </a:cubicBezTo>
                <a:lnTo>
                  <a:pt x="469" y="430"/>
                </a:lnTo>
                <a:lnTo>
                  <a:pt x="344" y="430"/>
                </a:lnTo>
                <a:lnTo>
                  <a:pt x="428" y="706"/>
                </a:lnTo>
                <a:lnTo>
                  <a:pt x="519" y="706"/>
                </a:lnTo>
                <a:cubicBezTo>
                  <a:pt x="532" y="706"/>
                  <a:pt x="542" y="717"/>
                  <a:pt x="542" y="730"/>
                </a:cubicBezTo>
                <a:cubicBezTo>
                  <a:pt x="542" y="743"/>
                  <a:pt x="532" y="753"/>
                  <a:pt x="519" y="753"/>
                </a:cubicBezTo>
                <a:lnTo>
                  <a:pt x="23" y="753"/>
                </a:lnTo>
                <a:cubicBezTo>
                  <a:pt x="10" y="753"/>
                  <a:pt x="0" y="743"/>
                  <a:pt x="0" y="730"/>
                </a:cubicBezTo>
                <a:cubicBezTo>
                  <a:pt x="0" y="717"/>
                  <a:pt x="10" y="706"/>
                  <a:pt x="23" y="706"/>
                </a:cubicBezTo>
                <a:lnTo>
                  <a:pt x="114" y="706"/>
                </a:lnTo>
                <a:lnTo>
                  <a:pt x="198" y="430"/>
                </a:lnTo>
                <a:lnTo>
                  <a:pt x="73" y="430"/>
                </a:lnTo>
                <a:lnTo>
                  <a:pt x="73" y="484"/>
                </a:lnTo>
                <a:cubicBezTo>
                  <a:pt x="73" y="494"/>
                  <a:pt x="65" y="502"/>
                  <a:pt x="56" y="502"/>
                </a:cubicBezTo>
                <a:cubicBezTo>
                  <a:pt x="46" y="502"/>
                  <a:pt x="38" y="494"/>
                  <a:pt x="38" y="484"/>
                </a:cubicBezTo>
                <a:lnTo>
                  <a:pt x="38" y="412"/>
                </a:lnTo>
                <a:close/>
                <a:moveTo>
                  <a:pt x="204" y="160"/>
                </a:moveTo>
                <a:lnTo>
                  <a:pt x="144" y="195"/>
                </a:lnTo>
                <a:lnTo>
                  <a:pt x="204" y="195"/>
                </a:lnTo>
                <a:lnTo>
                  <a:pt x="204" y="160"/>
                </a:lnTo>
                <a:close/>
                <a:moveTo>
                  <a:pt x="399" y="195"/>
                </a:moveTo>
                <a:lnTo>
                  <a:pt x="338" y="160"/>
                </a:lnTo>
                <a:lnTo>
                  <a:pt x="338" y="195"/>
                </a:lnTo>
                <a:lnTo>
                  <a:pt x="399" y="195"/>
                </a:lnTo>
                <a:close/>
                <a:moveTo>
                  <a:pt x="291" y="109"/>
                </a:moveTo>
                <a:lnTo>
                  <a:pt x="271" y="35"/>
                </a:lnTo>
                <a:lnTo>
                  <a:pt x="251" y="109"/>
                </a:lnTo>
                <a:lnTo>
                  <a:pt x="291" y="109"/>
                </a:lnTo>
                <a:close/>
                <a:moveTo>
                  <a:pt x="251" y="231"/>
                </a:moveTo>
                <a:lnTo>
                  <a:pt x="251" y="296"/>
                </a:lnTo>
                <a:lnTo>
                  <a:pt x="291" y="296"/>
                </a:lnTo>
                <a:lnTo>
                  <a:pt x="291" y="231"/>
                </a:lnTo>
                <a:lnTo>
                  <a:pt x="251" y="231"/>
                </a:lnTo>
                <a:close/>
                <a:moveTo>
                  <a:pt x="251" y="144"/>
                </a:moveTo>
                <a:lnTo>
                  <a:pt x="251" y="195"/>
                </a:lnTo>
                <a:lnTo>
                  <a:pt x="291" y="195"/>
                </a:lnTo>
                <a:lnTo>
                  <a:pt x="291" y="144"/>
                </a:lnTo>
                <a:lnTo>
                  <a:pt x="251" y="144"/>
                </a:lnTo>
                <a:lnTo>
                  <a:pt x="251" y="144"/>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nvGrpSpPr>
          <p:cNvPr id="478" name="Gruppieren 477">
            <a:extLst>
              <a:ext uri="{FF2B5EF4-FFF2-40B4-BE49-F238E27FC236}">
                <a16:creationId xmlns:a16="http://schemas.microsoft.com/office/drawing/2014/main" id="{7D055760-D82F-E46A-C54F-30F5060746A1}"/>
              </a:ext>
            </a:extLst>
          </p:cNvPr>
          <p:cNvGrpSpPr/>
          <p:nvPr/>
        </p:nvGrpSpPr>
        <p:grpSpPr>
          <a:xfrm>
            <a:off x="7072263" y="4625154"/>
            <a:ext cx="838691" cy="696222"/>
            <a:chOff x="4471418" y="3913593"/>
            <a:chExt cx="838691" cy="696222"/>
          </a:xfrm>
        </p:grpSpPr>
        <p:grpSp>
          <p:nvGrpSpPr>
            <p:cNvPr id="531" name="Gruppieren 530">
              <a:extLst>
                <a:ext uri="{FF2B5EF4-FFF2-40B4-BE49-F238E27FC236}">
                  <a16:creationId xmlns:a16="http://schemas.microsoft.com/office/drawing/2014/main" id="{16C31997-7E5B-9393-B26D-588E146EF143}"/>
                </a:ext>
              </a:extLst>
            </p:cNvPr>
            <p:cNvGrpSpPr/>
            <p:nvPr/>
          </p:nvGrpSpPr>
          <p:grpSpPr>
            <a:xfrm>
              <a:off x="4471418" y="3913593"/>
              <a:ext cx="838691" cy="696222"/>
              <a:chOff x="5395196" y="4033373"/>
              <a:chExt cx="838691" cy="696222"/>
            </a:xfrm>
          </p:grpSpPr>
          <p:sp>
            <p:nvSpPr>
              <p:cNvPr id="533" name="Flussdiagramm: Anzeige 9">
                <a:extLst>
                  <a:ext uri="{FF2B5EF4-FFF2-40B4-BE49-F238E27FC236}">
                    <a16:creationId xmlns:a16="http://schemas.microsoft.com/office/drawing/2014/main" id="{DE42A011-0901-EE16-7CED-6A394E346500}"/>
                  </a:ext>
                </a:extLst>
              </p:cNvPr>
              <p:cNvSpPr/>
              <p:nvPr/>
            </p:nvSpPr>
            <p:spPr>
              <a:xfrm rot="5400000">
                <a:off x="5477796" y="4030373"/>
                <a:ext cx="696222" cy="702221"/>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950F53">
                  <a:lumMod val="60000"/>
                  <a:lumOff val="40000"/>
                </a:srgbClr>
              </a:solidFill>
              <a:ln w="12700" cap="flat" cmpd="sng" algn="ctr">
                <a:solidFill>
                  <a:srgbClr val="950F53"/>
                </a:solidFill>
                <a:prstDash val="solid"/>
                <a:miter lim="800000"/>
              </a:ln>
              <a:effectLst/>
            </p:spPr>
            <p:txBody>
              <a:bodyPr vert="vert270" rtlCol="0" anchor="ctr"/>
              <a:lstStyle/>
              <a:p>
                <a:pPr algn="ctr" defTabSz="914339">
                  <a:defRPr/>
                </a:pPr>
                <a:endParaRPr lang="de-AT" sz="1100" kern="0" dirty="0">
                  <a:solidFill>
                    <a:prstClr val="white"/>
                  </a:solidFill>
                  <a:latin typeface="Aptos" panose="020B0004020202020204" pitchFamily="34" charset="0"/>
                </a:endParaRPr>
              </a:p>
            </p:txBody>
          </p:sp>
          <p:sp>
            <p:nvSpPr>
              <p:cNvPr id="535" name="Textfeld 534">
                <a:extLst>
                  <a:ext uri="{FF2B5EF4-FFF2-40B4-BE49-F238E27FC236}">
                    <a16:creationId xmlns:a16="http://schemas.microsoft.com/office/drawing/2014/main" id="{4B439262-213D-3A53-5221-02DE8990F6CE}"/>
                  </a:ext>
                </a:extLst>
              </p:cNvPr>
              <p:cNvSpPr txBox="1"/>
              <p:nvPr/>
            </p:nvSpPr>
            <p:spPr>
              <a:xfrm>
                <a:off x="5395196" y="4439817"/>
                <a:ext cx="838691" cy="230832"/>
              </a:xfrm>
              <a:prstGeom prst="rect">
                <a:avLst/>
              </a:prstGeom>
              <a:noFill/>
            </p:spPr>
            <p:txBody>
              <a:bodyPr wrap="none" rtlCol="0">
                <a:spAutoFit/>
              </a:bodyPr>
              <a:lstStyle/>
              <a:p>
                <a:pPr algn="ctr" defTabSz="914339">
                  <a:defRPr/>
                </a:pPr>
                <a:r>
                  <a:rPr lang="en-GB" sz="900" i="1" kern="0" dirty="0">
                    <a:solidFill>
                      <a:prstClr val="black"/>
                    </a:solidFill>
                    <a:latin typeface="Aptos" panose="020B0004020202020204" pitchFamily="34" charset="0"/>
                  </a:rPr>
                  <a:t>DHW storage</a:t>
                </a:r>
                <a:endParaRPr lang="de-AT" sz="900" i="1" kern="0" dirty="0">
                  <a:solidFill>
                    <a:prstClr val="black"/>
                  </a:solidFill>
                  <a:latin typeface="Aptos" panose="020B0004020202020204" pitchFamily="34" charset="0"/>
                </a:endParaRPr>
              </a:p>
            </p:txBody>
          </p:sp>
        </p:grpSp>
        <p:sp>
          <p:nvSpPr>
            <p:cNvPr id="532" name="Battery4" descr="{&quot;Key&quot;:&quot;POWER_USER_SHAPE_ICON&quot;,&quot;Value&quot;:&quot;POWER_USER_SHAPE_ICON_STYLE_1&quot;}">
              <a:extLst>
                <a:ext uri="{FF2B5EF4-FFF2-40B4-BE49-F238E27FC236}">
                  <a16:creationId xmlns:a16="http://schemas.microsoft.com/office/drawing/2014/main" id="{6BE22ACC-9F75-CB54-E2FF-EFCB37CB1F65}"/>
                </a:ext>
              </a:extLst>
            </p:cNvPr>
            <p:cNvSpPr>
              <a:spLocks noChangeAspect="1" noEditPoints="1"/>
            </p:cNvSpPr>
            <p:nvPr>
              <p:custDataLst>
                <p:tags r:id="rId10"/>
              </p:custDataLst>
            </p:nvPr>
          </p:nvSpPr>
          <p:spPr bwMode="auto">
            <a:xfrm>
              <a:off x="4849208" y="3941022"/>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950F53"/>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grpSp>
        <p:nvGrpSpPr>
          <p:cNvPr id="480" name="Gruppieren 479">
            <a:extLst>
              <a:ext uri="{FF2B5EF4-FFF2-40B4-BE49-F238E27FC236}">
                <a16:creationId xmlns:a16="http://schemas.microsoft.com/office/drawing/2014/main" id="{4B399D6F-03F0-F00B-571D-CDB93E057E1F}"/>
              </a:ext>
            </a:extLst>
          </p:cNvPr>
          <p:cNvGrpSpPr/>
          <p:nvPr/>
        </p:nvGrpSpPr>
        <p:grpSpPr>
          <a:xfrm>
            <a:off x="6176504" y="1141765"/>
            <a:ext cx="1381659" cy="617855"/>
            <a:chOff x="5821954" y="3358196"/>
            <a:chExt cx="1381659" cy="617855"/>
          </a:xfrm>
        </p:grpSpPr>
        <p:sp>
          <p:nvSpPr>
            <p:cNvPr id="523" name="Ellipse 522">
              <a:extLst>
                <a:ext uri="{FF2B5EF4-FFF2-40B4-BE49-F238E27FC236}">
                  <a16:creationId xmlns:a16="http://schemas.microsoft.com/office/drawing/2014/main" id="{2B83D790-8730-5FFA-1F68-2A3351E09C99}"/>
                </a:ext>
              </a:extLst>
            </p:cNvPr>
            <p:cNvSpPr/>
            <p:nvPr/>
          </p:nvSpPr>
          <p:spPr>
            <a:xfrm>
              <a:off x="5821954" y="3399987"/>
              <a:ext cx="576064" cy="576064"/>
            </a:xfrm>
            <a:prstGeom prst="ellipse">
              <a:avLst/>
            </a:prstGeom>
            <a:solidFill>
              <a:srgbClr val="C4BE98"/>
            </a:solidFill>
            <a:ln w="12700" cap="flat" cmpd="sng" algn="ctr">
              <a:solidFill>
                <a:srgbClr val="89814E"/>
              </a:solidFill>
              <a:prstDash val="solid"/>
              <a:miter lim="800000"/>
            </a:ln>
            <a:effectLst/>
          </p:spPr>
          <p:txBody>
            <a:bodyPr rtlCol="0" anchor="ctr"/>
            <a:lstStyle/>
            <a:p>
              <a:pPr algn="ctr" defTabSz="914339">
                <a:defRPr/>
              </a:pPr>
              <a:endParaRPr lang="de-AT" kern="0" dirty="0">
                <a:solidFill>
                  <a:prstClr val="white"/>
                </a:solidFill>
                <a:latin typeface="Aptos" panose="020B0004020202020204" pitchFamily="34" charset="0"/>
              </a:endParaRPr>
            </a:p>
          </p:txBody>
        </p:sp>
        <p:sp>
          <p:nvSpPr>
            <p:cNvPr id="525" name="Textfeld 524">
              <a:extLst>
                <a:ext uri="{FF2B5EF4-FFF2-40B4-BE49-F238E27FC236}">
                  <a16:creationId xmlns:a16="http://schemas.microsoft.com/office/drawing/2014/main" id="{EBB5ADBC-1CD1-ED81-2945-1F87F16AAEBE}"/>
                </a:ext>
              </a:extLst>
            </p:cNvPr>
            <p:cNvSpPr txBox="1"/>
            <p:nvPr/>
          </p:nvSpPr>
          <p:spPr>
            <a:xfrm>
              <a:off x="6328052" y="3358196"/>
              <a:ext cx="875561" cy="261610"/>
            </a:xfrm>
            <a:prstGeom prst="rect">
              <a:avLst/>
            </a:prstGeom>
            <a:noFill/>
          </p:spPr>
          <p:txBody>
            <a:bodyPr wrap="none" rtlCol="0">
              <a:spAutoFit/>
            </a:bodyPr>
            <a:lstStyle/>
            <a:p>
              <a:pPr algn="ctr" defTabSz="914339">
                <a:defRPr/>
              </a:pPr>
              <a:r>
                <a:rPr lang="en-GB" sz="1100" i="1" kern="0" dirty="0">
                  <a:solidFill>
                    <a:prstClr val="black"/>
                  </a:solidFill>
                  <a:latin typeface="Aptos" panose="020B0004020202020204" pitchFamily="34" charset="0"/>
                </a:rPr>
                <a:t>Fossil fuels</a:t>
              </a:r>
              <a:endParaRPr lang="de-AT" sz="1100" i="1" kern="0" dirty="0">
                <a:solidFill>
                  <a:prstClr val="black"/>
                </a:solidFill>
                <a:latin typeface="Aptos" panose="020B0004020202020204" pitchFamily="34" charset="0"/>
              </a:endParaRPr>
            </a:p>
          </p:txBody>
        </p:sp>
      </p:grpSp>
      <p:cxnSp>
        <p:nvCxnSpPr>
          <p:cNvPr id="481" name="Gekrümmter Verbinder 349">
            <a:extLst>
              <a:ext uri="{FF2B5EF4-FFF2-40B4-BE49-F238E27FC236}">
                <a16:creationId xmlns:a16="http://schemas.microsoft.com/office/drawing/2014/main" id="{3E2E223C-B7EA-926C-1B03-7E9CC04C7D36}"/>
              </a:ext>
            </a:extLst>
          </p:cNvPr>
          <p:cNvCxnSpPr>
            <a:cxnSpLocks/>
            <a:stCxn id="523" idx="4"/>
            <a:endCxn id="461" idx="1"/>
          </p:cNvCxnSpPr>
          <p:nvPr/>
        </p:nvCxnSpPr>
        <p:spPr>
          <a:xfrm rot="5400000">
            <a:off x="6167225" y="1951947"/>
            <a:ext cx="489638" cy="104984"/>
          </a:xfrm>
          <a:prstGeom prst="curvedConnector5">
            <a:avLst>
              <a:gd name="adj1" fmla="val 46688"/>
              <a:gd name="adj2" fmla="val 32371"/>
              <a:gd name="adj3" fmla="val 53312"/>
            </a:avLst>
          </a:prstGeom>
          <a:noFill/>
          <a:ln w="28575" cap="flat" cmpd="sng" algn="ctr">
            <a:solidFill>
              <a:srgbClr val="89814E"/>
            </a:solidFill>
            <a:prstDash val="solid"/>
            <a:miter lim="800000"/>
            <a:tailEnd type="triangle"/>
          </a:ln>
          <a:effectLst/>
        </p:spPr>
      </p:cxnSp>
      <p:pic>
        <p:nvPicPr>
          <p:cNvPr id="482" name="Grafik 481" descr="Ölfass mit einfarbiger Füllung">
            <a:extLst>
              <a:ext uri="{FF2B5EF4-FFF2-40B4-BE49-F238E27FC236}">
                <a16:creationId xmlns:a16="http://schemas.microsoft.com/office/drawing/2014/main" id="{D0561546-A86B-12B5-9253-EA200D9C6A6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206885" y="1201868"/>
            <a:ext cx="465994" cy="465994"/>
          </a:xfrm>
          <a:prstGeom prst="rect">
            <a:avLst/>
          </a:prstGeom>
        </p:spPr>
      </p:pic>
      <p:cxnSp>
        <p:nvCxnSpPr>
          <p:cNvPr id="483" name="Verbinder: gewinkelt 482">
            <a:extLst>
              <a:ext uri="{FF2B5EF4-FFF2-40B4-BE49-F238E27FC236}">
                <a16:creationId xmlns:a16="http://schemas.microsoft.com/office/drawing/2014/main" id="{6FEABE77-4455-C588-DE6A-13EAC2B60D46}"/>
              </a:ext>
            </a:extLst>
          </p:cNvPr>
          <p:cNvCxnSpPr>
            <a:cxnSpLocks/>
            <a:stCxn id="539" idx="6"/>
          </p:cNvCxnSpPr>
          <p:nvPr/>
        </p:nvCxnSpPr>
        <p:spPr>
          <a:xfrm>
            <a:off x="3832289" y="3206046"/>
            <a:ext cx="3020999" cy="338436"/>
          </a:xfrm>
          <a:prstGeom prst="bentConnector3">
            <a:avLst>
              <a:gd name="adj1" fmla="val 50000"/>
            </a:avLst>
          </a:prstGeom>
          <a:noFill/>
          <a:ln w="28575" cap="flat" cmpd="sng" algn="ctr">
            <a:solidFill>
              <a:srgbClr val="5FB564"/>
            </a:solidFill>
            <a:prstDash val="solid"/>
            <a:miter lim="800000"/>
            <a:tailEnd type="triangle"/>
          </a:ln>
          <a:effectLst/>
        </p:spPr>
      </p:cxnSp>
      <p:cxnSp>
        <p:nvCxnSpPr>
          <p:cNvPr id="484" name="Verbinder: gewinkelt 483">
            <a:extLst>
              <a:ext uri="{FF2B5EF4-FFF2-40B4-BE49-F238E27FC236}">
                <a16:creationId xmlns:a16="http://schemas.microsoft.com/office/drawing/2014/main" id="{647A1ED3-C7FF-6709-C3F1-C274E162B2F2}"/>
              </a:ext>
            </a:extLst>
          </p:cNvPr>
          <p:cNvCxnSpPr>
            <a:cxnSpLocks/>
            <a:stCxn id="539" idx="6"/>
            <a:endCxn id="461" idx="0"/>
          </p:cNvCxnSpPr>
          <p:nvPr/>
        </p:nvCxnSpPr>
        <p:spPr>
          <a:xfrm flipV="1">
            <a:off x="3832289" y="2546559"/>
            <a:ext cx="3743263" cy="659487"/>
          </a:xfrm>
          <a:prstGeom prst="bentConnector5">
            <a:avLst>
              <a:gd name="adj1" fmla="val 106344"/>
              <a:gd name="adj2" fmla="val 30610"/>
              <a:gd name="adj3" fmla="val 106327"/>
            </a:avLst>
          </a:prstGeom>
          <a:noFill/>
          <a:ln w="28575" cap="flat" cmpd="sng" algn="ctr">
            <a:solidFill>
              <a:srgbClr val="5FB564">
                <a:lumMod val="60000"/>
                <a:lumOff val="40000"/>
              </a:srgbClr>
            </a:solidFill>
            <a:prstDash val="solid"/>
            <a:miter lim="800000"/>
            <a:tailEnd type="triangle"/>
          </a:ln>
          <a:effectLst/>
        </p:spPr>
      </p:cxnSp>
      <p:cxnSp>
        <p:nvCxnSpPr>
          <p:cNvPr id="485" name="Verbinder: gewinkelt 484">
            <a:extLst>
              <a:ext uri="{FF2B5EF4-FFF2-40B4-BE49-F238E27FC236}">
                <a16:creationId xmlns:a16="http://schemas.microsoft.com/office/drawing/2014/main" id="{9BBEE1E4-07C6-441B-351B-D1A9DF04DDA7}"/>
              </a:ext>
            </a:extLst>
          </p:cNvPr>
          <p:cNvCxnSpPr>
            <a:cxnSpLocks/>
            <a:stCxn id="539" idx="6"/>
          </p:cNvCxnSpPr>
          <p:nvPr/>
        </p:nvCxnSpPr>
        <p:spPr>
          <a:xfrm>
            <a:off x="3832289" y="3206046"/>
            <a:ext cx="1836832" cy="734600"/>
          </a:xfrm>
          <a:prstGeom prst="bentConnector3">
            <a:avLst>
              <a:gd name="adj1" fmla="val 50000"/>
            </a:avLst>
          </a:prstGeom>
          <a:noFill/>
          <a:ln w="28575" cap="flat" cmpd="sng" algn="ctr">
            <a:solidFill>
              <a:srgbClr val="5FB564"/>
            </a:solidFill>
            <a:prstDash val="solid"/>
            <a:miter lim="800000"/>
            <a:tailEnd type="triangle"/>
          </a:ln>
          <a:effectLst/>
        </p:spPr>
      </p:cxnSp>
      <p:cxnSp>
        <p:nvCxnSpPr>
          <p:cNvPr id="486" name="Verbinder: gewinkelt 485">
            <a:extLst>
              <a:ext uri="{FF2B5EF4-FFF2-40B4-BE49-F238E27FC236}">
                <a16:creationId xmlns:a16="http://schemas.microsoft.com/office/drawing/2014/main" id="{FD085EA5-D090-4BD6-C541-186C980CB7F1}"/>
              </a:ext>
            </a:extLst>
          </p:cNvPr>
          <p:cNvCxnSpPr>
            <a:cxnSpLocks/>
            <a:stCxn id="539" idx="6"/>
          </p:cNvCxnSpPr>
          <p:nvPr/>
        </p:nvCxnSpPr>
        <p:spPr>
          <a:xfrm>
            <a:off x="3832289" y="3206046"/>
            <a:ext cx="936600" cy="1458660"/>
          </a:xfrm>
          <a:prstGeom prst="bentConnector3">
            <a:avLst>
              <a:gd name="adj1" fmla="val 50000"/>
            </a:avLst>
          </a:prstGeom>
          <a:noFill/>
          <a:ln w="28575" cap="flat" cmpd="sng" algn="ctr">
            <a:solidFill>
              <a:srgbClr val="5FB564"/>
            </a:solidFill>
            <a:prstDash val="solid"/>
            <a:miter lim="800000"/>
            <a:tailEnd type="triangle"/>
          </a:ln>
          <a:effectLst/>
        </p:spPr>
      </p:cxnSp>
      <p:cxnSp>
        <p:nvCxnSpPr>
          <p:cNvPr id="487" name="Verbinder: gewinkelt 486">
            <a:extLst>
              <a:ext uri="{FF2B5EF4-FFF2-40B4-BE49-F238E27FC236}">
                <a16:creationId xmlns:a16="http://schemas.microsoft.com/office/drawing/2014/main" id="{4F4D5EFA-24BF-0F87-8346-6152023B7C1A}"/>
              </a:ext>
            </a:extLst>
          </p:cNvPr>
          <p:cNvCxnSpPr>
            <a:cxnSpLocks/>
            <a:stCxn id="539" idx="6"/>
            <a:endCxn id="559" idx="3"/>
          </p:cNvCxnSpPr>
          <p:nvPr/>
        </p:nvCxnSpPr>
        <p:spPr>
          <a:xfrm>
            <a:off x="3832289" y="3206046"/>
            <a:ext cx="4801980" cy="1181375"/>
          </a:xfrm>
          <a:prstGeom prst="bentConnector3">
            <a:avLst>
              <a:gd name="adj1" fmla="val 10934"/>
            </a:avLst>
          </a:prstGeom>
          <a:noFill/>
          <a:ln w="28575" cap="flat" cmpd="sng" algn="ctr">
            <a:solidFill>
              <a:srgbClr val="5FB564"/>
            </a:solidFill>
            <a:prstDash val="solid"/>
            <a:miter lim="800000"/>
            <a:tailEnd type="triangle"/>
          </a:ln>
          <a:effectLst/>
        </p:spPr>
      </p:cxnSp>
      <p:cxnSp>
        <p:nvCxnSpPr>
          <p:cNvPr id="488" name="Verbinder: gewinkelt 487">
            <a:extLst>
              <a:ext uri="{FF2B5EF4-FFF2-40B4-BE49-F238E27FC236}">
                <a16:creationId xmlns:a16="http://schemas.microsoft.com/office/drawing/2014/main" id="{DE275F16-255A-85CF-B06B-8D652837E349}"/>
              </a:ext>
            </a:extLst>
          </p:cNvPr>
          <p:cNvCxnSpPr>
            <a:cxnSpLocks/>
            <a:stCxn id="461" idx="2"/>
          </p:cNvCxnSpPr>
          <p:nvPr/>
        </p:nvCxnSpPr>
        <p:spPr>
          <a:xfrm rot="10800000" flipV="1">
            <a:off x="4768889" y="2546558"/>
            <a:ext cx="374664" cy="2118147"/>
          </a:xfrm>
          <a:prstGeom prst="bentConnector3">
            <a:avLst>
              <a:gd name="adj1" fmla="val 161015"/>
            </a:avLst>
          </a:prstGeom>
          <a:noFill/>
          <a:ln w="28575" cap="flat" cmpd="sng" algn="ctr">
            <a:solidFill>
              <a:srgbClr val="BCCF00">
                <a:lumMod val="60000"/>
                <a:lumOff val="40000"/>
              </a:srgbClr>
            </a:solidFill>
            <a:prstDash val="solid"/>
            <a:miter lim="800000"/>
            <a:tailEnd type="triangle"/>
          </a:ln>
          <a:effectLst/>
        </p:spPr>
      </p:cxnSp>
      <p:cxnSp>
        <p:nvCxnSpPr>
          <p:cNvPr id="489" name="Verbinder: gewinkelt 488">
            <a:extLst>
              <a:ext uri="{FF2B5EF4-FFF2-40B4-BE49-F238E27FC236}">
                <a16:creationId xmlns:a16="http://schemas.microsoft.com/office/drawing/2014/main" id="{A6567B4E-F2D4-553C-A542-970A6E6F7AFB}"/>
              </a:ext>
            </a:extLst>
          </p:cNvPr>
          <p:cNvCxnSpPr>
            <a:cxnSpLocks/>
            <a:stCxn id="541" idx="3"/>
          </p:cNvCxnSpPr>
          <p:nvPr/>
        </p:nvCxnSpPr>
        <p:spPr>
          <a:xfrm>
            <a:off x="5568254" y="4758201"/>
            <a:ext cx="1523212" cy="204146"/>
          </a:xfrm>
          <a:prstGeom prst="bentConnector3">
            <a:avLst>
              <a:gd name="adj1" fmla="val 10869"/>
            </a:avLst>
          </a:prstGeom>
          <a:noFill/>
          <a:ln w="28575" cap="flat" cmpd="sng" algn="ctr">
            <a:solidFill>
              <a:srgbClr val="FF0000"/>
            </a:solidFill>
            <a:prstDash val="solid"/>
            <a:miter lim="800000"/>
            <a:tailEnd type="triangle"/>
          </a:ln>
          <a:effectLst/>
        </p:spPr>
      </p:cxnSp>
      <p:cxnSp>
        <p:nvCxnSpPr>
          <p:cNvPr id="490" name="Verbinder: gewinkelt 489">
            <a:extLst>
              <a:ext uri="{FF2B5EF4-FFF2-40B4-BE49-F238E27FC236}">
                <a16:creationId xmlns:a16="http://schemas.microsoft.com/office/drawing/2014/main" id="{F35BE2B0-41BA-8520-8C89-0FB162CB7C5C}"/>
              </a:ext>
            </a:extLst>
          </p:cNvPr>
          <p:cNvCxnSpPr>
            <a:cxnSpLocks/>
            <a:stCxn id="541" idx="3"/>
          </p:cNvCxnSpPr>
          <p:nvPr/>
        </p:nvCxnSpPr>
        <p:spPr>
          <a:xfrm>
            <a:off x="5568254" y="4758201"/>
            <a:ext cx="354655" cy="418022"/>
          </a:xfrm>
          <a:prstGeom prst="bentConnector3">
            <a:avLst>
              <a:gd name="adj1" fmla="val 50000"/>
            </a:avLst>
          </a:prstGeom>
          <a:noFill/>
          <a:ln w="28575" cap="flat" cmpd="sng" algn="ctr">
            <a:solidFill>
              <a:srgbClr val="FF0000"/>
            </a:solidFill>
            <a:prstDash val="solid"/>
            <a:miter lim="800000"/>
            <a:tailEnd type="triangle"/>
          </a:ln>
          <a:effectLst/>
        </p:spPr>
      </p:cxnSp>
      <p:cxnSp>
        <p:nvCxnSpPr>
          <p:cNvPr id="492" name="Verbinder: gewinkelt 491">
            <a:extLst>
              <a:ext uri="{FF2B5EF4-FFF2-40B4-BE49-F238E27FC236}">
                <a16:creationId xmlns:a16="http://schemas.microsoft.com/office/drawing/2014/main" id="{1DBAA286-8AE2-7F77-ABDD-89180102AD52}"/>
              </a:ext>
            </a:extLst>
          </p:cNvPr>
          <p:cNvCxnSpPr>
            <a:cxnSpLocks/>
            <a:stCxn id="594" idx="3"/>
            <a:endCxn id="543" idx="1"/>
          </p:cNvCxnSpPr>
          <p:nvPr/>
        </p:nvCxnSpPr>
        <p:spPr>
          <a:xfrm flipV="1">
            <a:off x="3981899" y="4758200"/>
            <a:ext cx="736953" cy="749375"/>
          </a:xfrm>
          <a:prstGeom prst="bentConnector3">
            <a:avLst>
              <a:gd name="adj1" fmla="val 50000"/>
            </a:avLst>
          </a:prstGeom>
          <a:noFill/>
          <a:ln w="28575" cap="flat" cmpd="sng" algn="ctr">
            <a:solidFill>
              <a:srgbClr val="FF0000"/>
            </a:solidFill>
            <a:prstDash val="solid"/>
            <a:miter lim="800000"/>
            <a:tailEnd type="triangle"/>
          </a:ln>
          <a:effectLst/>
        </p:spPr>
      </p:cxnSp>
      <p:cxnSp>
        <p:nvCxnSpPr>
          <p:cNvPr id="493" name="Verbinder: gewinkelt 492">
            <a:extLst>
              <a:ext uri="{FF2B5EF4-FFF2-40B4-BE49-F238E27FC236}">
                <a16:creationId xmlns:a16="http://schemas.microsoft.com/office/drawing/2014/main" id="{DA54B2EA-C5EF-0CDC-ACB3-55E32FD4373A}"/>
              </a:ext>
            </a:extLst>
          </p:cNvPr>
          <p:cNvCxnSpPr>
            <a:cxnSpLocks/>
            <a:endCxn id="559" idx="3"/>
          </p:cNvCxnSpPr>
          <p:nvPr/>
        </p:nvCxnSpPr>
        <p:spPr>
          <a:xfrm>
            <a:off x="7822659" y="3544482"/>
            <a:ext cx="811610" cy="842939"/>
          </a:xfrm>
          <a:prstGeom prst="bentConnector3">
            <a:avLst>
              <a:gd name="adj1" fmla="val 31640"/>
            </a:avLst>
          </a:prstGeom>
          <a:noFill/>
          <a:ln w="28575" cap="flat" cmpd="sng" algn="ctr">
            <a:solidFill>
              <a:srgbClr val="F59C00"/>
            </a:solidFill>
            <a:prstDash val="solid"/>
            <a:miter lim="800000"/>
            <a:tailEnd type="triangle"/>
          </a:ln>
          <a:effectLst/>
        </p:spPr>
      </p:cxnSp>
      <p:cxnSp>
        <p:nvCxnSpPr>
          <p:cNvPr id="494" name="Verbinder: gewinkelt 493">
            <a:extLst>
              <a:ext uri="{FF2B5EF4-FFF2-40B4-BE49-F238E27FC236}">
                <a16:creationId xmlns:a16="http://schemas.microsoft.com/office/drawing/2014/main" id="{4D53D970-6760-AEB5-D73E-6B2F776E6B22}"/>
              </a:ext>
            </a:extLst>
          </p:cNvPr>
          <p:cNvCxnSpPr>
            <a:cxnSpLocks/>
          </p:cNvCxnSpPr>
          <p:nvPr/>
        </p:nvCxnSpPr>
        <p:spPr>
          <a:xfrm>
            <a:off x="6545141" y="3940646"/>
            <a:ext cx="2026463" cy="454111"/>
          </a:xfrm>
          <a:prstGeom prst="bentConnector3">
            <a:avLst>
              <a:gd name="adj1" fmla="val 7217"/>
            </a:avLst>
          </a:prstGeom>
          <a:noFill/>
          <a:ln w="28575" cap="flat" cmpd="sng" algn="ctr">
            <a:solidFill>
              <a:srgbClr val="BCCF00"/>
            </a:solidFill>
            <a:prstDash val="solid"/>
            <a:miter lim="800000"/>
            <a:tailEnd type="triangle"/>
          </a:ln>
          <a:effectLst/>
        </p:spPr>
      </p:cxnSp>
      <p:cxnSp>
        <p:nvCxnSpPr>
          <p:cNvPr id="495" name="Verbinder: gewinkelt 494">
            <a:extLst>
              <a:ext uri="{FF2B5EF4-FFF2-40B4-BE49-F238E27FC236}">
                <a16:creationId xmlns:a16="http://schemas.microsoft.com/office/drawing/2014/main" id="{A259274C-9493-050E-FF22-9D474F77AF9A}"/>
              </a:ext>
            </a:extLst>
          </p:cNvPr>
          <p:cNvCxnSpPr>
            <a:cxnSpLocks/>
            <a:endCxn id="549" idx="3"/>
          </p:cNvCxnSpPr>
          <p:nvPr/>
        </p:nvCxnSpPr>
        <p:spPr>
          <a:xfrm flipV="1">
            <a:off x="7971835" y="4764298"/>
            <a:ext cx="400172" cy="198049"/>
          </a:xfrm>
          <a:prstGeom prst="bentConnector3">
            <a:avLst>
              <a:gd name="adj1" fmla="val 50000"/>
            </a:avLst>
          </a:prstGeom>
          <a:noFill/>
          <a:ln w="28575" cap="flat" cmpd="sng" algn="ctr">
            <a:solidFill>
              <a:srgbClr val="FF0000"/>
            </a:solidFill>
            <a:prstDash val="solid"/>
            <a:miter lim="800000"/>
            <a:tailEnd type="triangle"/>
          </a:ln>
          <a:effectLst/>
        </p:spPr>
      </p:cxnSp>
      <p:cxnSp>
        <p:nvCxnSpPr>
          <p:cNvPr id="496" name="Verbinder: gewinkelt 495">
            <a:extLst>
              <a:ext uri="{FF2B5EF4-FFF2-40B4-BE49-F238E27FC236}">
                <a16:creationId xmlns:a16="http://schemas.microsoft.com/office/drawing/2014/main" id="{4273BD62-0D10-ACCA-3182-F0DC4E9B7FD5}"/>
              </a:ext>
            </a:extLst>
          </p:cNvPr>
          <p:cNvCxnSpPr>
            <a:cxnSpLocks/>
            <a:stCxn id="461" idx="2"/>
          </p:cNvCxnSpPr>
          <p:nvPr/>
        </p:nvCxnSpPr>
        <p:spPr>
          <a:xfrm rot="10800000" flipV="1">
            <a:off x="4768889" y="2546558"/>
            <a:ext cx="374664" cy="2118147"/>
          </a:xfrm>
          <a:prstGeom prst="bentConnector3">
            <a:avLst>
              <a:gd name="adj1" fmla="val 161015"/>
            </a:avLst>
          </a:prstGeom>
          <a:noFill/>
          <a:ln w="28575" cap="flat" cmpd="sng" algn="ctr">
            <a:solidFill>
              <a:srgbClr val="950F53"/>
            </a:solidFill>
            <a:prstDash val="solid"/>
            <a:miter lim="800000"/>
            <a:tailEnd type="triangle"/>
          </a:ln>
          <a:effectLst/>
        </p:spPr>
      </p:cxnSp>
      <p:sp>
        <p:nvSpPr>
          <p:cNvPr id="497" name="Textfeld 496">
            <a:extLst>
              <a:ext uri="{FF2B5EF4-FFF2-40B4-BE49-F238E27FC236}">
                <a16:creationId xmlns:a16="http://schemas.microsoft.com/office/drawing/2014/main" id="{2533EB37-164E-A439-0F9C-36B3AF12B2B4}"/>
              </a:ext>
            </a:extLst>
          </p:cNvPr>
          <p:cNvSpPr txBox="1"/>
          <p:nvPr/>
        </p:nvSpPr>
        <p:spPr>
          <a:xfrm>
            <a:off x="2977390" y="2156009"/>
            <a:ext cx="3255889" cy="261610"/>
          </a:xfrm>
          <a:prstGeom prst="rect">
            <a:avLst/>
          </a:prstGeom>
          <a:noFill/>
        </p:spPr>
        <p:txBody>
          <a:bodyPr wrap="square">
            <a:spAutoFit/>
          </a:bodyPr>
          <a:lstStyle/>
          <a:p>
            <a:pPr defTabSz="914339">
              <a:defRPr/>
            </a:pPr>
            <a:r>
              <a:rPr lang="en-GB" sz="1100" i="1" kern="0" dirty="0">
                <a:solidFill>
                  <a:srgbClr val="E6EFF3">
                    <a:lumMod val="75000"/>
                  </a:srgbClr>
                </a:solidFill>
                <a:latin typeface="Aptos" panose="020B0004020202020204" pitchFamily="34" charset="0"/>
              </a:rPr>
              <a:t>System Boundary</a:t>
            </a:r>
          </a:p>
        </p:txBody>
      </p:sp>
      <p:sp>
        <p:nvSpPr>
          <p:cNvPr id="499" name="Battery4" descr="{&quot;Key&quot;:&quot;POWER_USER_SHAPE_ICON&quot;,&quot;Value&quot;:&quot;POWER_USER_SHAPE_ICON_STYLE_1&quot;}">
            <a:extLst>
              <a:ext uri="{FF2B5EF4-FFF2-40B4-BE49-F238E27FC236}">
                <a16:creationId xmlns:a16="http://schemas.microsoft.com/office/drawing/2014/main" id="{10656F14-6407-EDD4-38FF-C72069787757}"/>
              </a:ext>
            </a:extLst>
          </p:cNvPr>
          <p:cNvSpPr>
            <a:spLocks noChangeAspect="1" noEditPoints="1"/>
          </p:cNvSpPr>
          <p:nvPr>
            <p:custDataLst>
              <p:tags r:id="rId7"/>
            </p:custDataLst>
          </p:nvPr>
        </p:nvSpPr>
        <p:spPr bwMode="auto">
          <a:xfrm>
            <a:off x="7222937" y="3299540"/>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sp>
        <p:nvSpPr>
          <p:cNvPr id="501" name="Textfeld 500">
            <a:extLst>
              <a:ext uri="{FF2B5EF4-FFF2-40B4-BE49-F238E27FC236}">
                <a16:creationId xmlns:a16="http://schemas.microsoft.com/office/drawing/2014/main" id="{163917F3-9C8E-8B07-99E0-93278E25C08F}"/>
              </a:ext>
            </a:extLst>
          </p:cNvPr>
          <p:cNvSpPr txBox="1"/>
          <p:nvPr/>
        </p:nvSpPr>
        <p:spPr>
          <a:xfrm>
            <a:off x="10791998" y="1140443"/>
            <a:ext cx="776175" cy="246221"/>
          </a:xfrm>
          <a:prstGeom prst="rect">
            <a:avLst/>
          </a:prstGeom>
          <a:noFill/>
        </p:spPr>
        <p:txBody>
          <a:bodyPr wrap="none" rtlCol="0">
            <a:spAutoFit/>
          </a:bodyPr>
          <a:lstStyle/>
          <a:p>
            <a:pPr algn="ctr" defTabSz="914339">
              <a:defRPr/>
            </a:pPr>
            <a:r>
              <a:rPr lang="en-GB" sz="1000" b="1" i="1" kern="0" dirty="0">
                <a:solidFill>
                  <a:prstClr val="black"/>
                </a:solidFill>
                <a:latin typeface="Aptos" panose="020B0004020202020204" pitchFamily="34" charset="0"/>
              </a:rPr>
              <a:t>Electricity</a:t>
            </a:r>
            <a:endParaRPr lang="de-AT" sz="1000" b="1" i="1" kern="0" dirty="0">
              <a:solidFill>
                <a:prstClr val="black"/>
              </a:solidFill>
              <a:latin typeface="Aptos" panose="020B0004020202020204" pitchFamily="34" charset="0"/>
            </a:endParaRPr>
          </a:p>
        </p:txBody>
      </p:sp>
      <p:grpSp>
        <p:nvGrpSpPr>
          <p:cNvPr id="502" name="Gruppieren 501">
            <a:extLst>
              <a:ext uri="{FF2B5EF4-FFF2-40B4-BE49-F238E27FC236}">
                <a16:creationId xmlns:a16="http://schemas.microsoft.com/office/drawing/2014/main" id="{950E9D3E-8795-2D96-9B33-2BBB551180A4}"/>
              </a:ext>
            </a:extLst>
          </p:cNvPr>
          <p:cNvGrpSpPr/>
          <p:nvPr/>
        </p:nvGrpSpPr>
        <p:grpSpPr>
          <a:xfrm>
            <a:off x="10395565" y="1709756"/>
            <a:ext cx="1289308" cy="271542"/>
            <a:chOff x="791737" y="783908"/>
            <a:chExt cx="1289308" cy="271542"/>
          </a:xfrm>
        </p:grpSpPr>
        <p:cxnSp>
          <p:nvCxnSpPr>
            <p:cNvPr id="520" name="Gerade Verbindung mit Pfeil 519">
              <a:extLst>
                <a:ext uri="{FF2B5EF4-FFF2-40B4-BE49-F238E27FC236}">
                  <a16:creationId xmlns:a16="http://schemas.microsoft.com/office/drawing/2014/main" id="{DE2558D9-B5EE-86DA-8532-3623BADB4654}"/>
                </a:ext>
              </a:extLst>
            </p:cNvPr>
            <p:cNvCxnSpPr/>
            <p:nvPr/>
          </p:nvCxnSpPr>
          <p:spPr>
            <a:xfrm>
              <a:off x="837020" y="783908"/>
              <a:ext cx="1244025" cy="0"/>
            </a:xfrm>
            <a:prstGeom prst="straightConnector1">
              <a:avLst/>
            </a:prstGeom>
            <a:noFill/>
            <a:ln w="28575" cap="flat" cmpd="sng" algn="ctr">
              <a:solidFill>
                <a:srgbClr val="5FB564"/>
              </a:solidFill>
              <a:prstDash val="solid"/>
              <a:miter lim="800000"/>
              <a:tailEnd type="triangle"/>
            </a:ln>
            <a:effectLst/>
          </p:spPr>
        </p:cxnSp>
        <p:sp>
          <p:nvSpPr>
            <p:cNvPr id="522" name="Textfeld 521">
              <a:extLst>
                <a:ext uri="{FF2B5EF4-FFF2-40B4-BE49-F238E27FC236}">
                  <a16:creationId xmlns:a16="http://schemas.microsoft.com/office/drawing/2014/main" id="{F95E2A91-AAA3-C1FC-1B60-A1080B44B2F7}"/>
                </a:ext>
              </a:extLst>
            </p:cNvPr>
            <p:cNvSpPr txBox="1"/>
            <p:nvPr/>
          </p:nvSpPr>
          <p:spPr>
            <a:xfrm>
              <a:off x="791737" y="809229"/>
              <a:ext cx="907621" cy="246221"/>
            </a:xfrm>
            <a:prstGeom prst="rect">
              <a:avLst/>
            </a:prstGeom>
            <a:noFill/>
          </p:spPr>
          <p:txBody>
            <a:bodyPr wrap="none" rtlCol="0">
              <a:spAutoFit/>
            </a:bodyPr>
            <a:lstStyle/>
            <a:p>
              <a:pPr defTabSz="914339">
                <a:defRPr/>
              </a:pPr>
              <a:r>
                <a:rPr lang="en-GB" sz="1000" i="1" kern="0" dirty="0">
                  <a:solidFill>
                    <a:prstClr val="black"/>
                  </a:solidFill>
                  <a:latin typeface="Aptos" panose="020B0004020202020204" pitchFamily="34" charset="0"/>
                </a:rPr>
                <a:t>PV direct use</a:t>
              </a:r>
              <a:endParaRPr lang="de-AT" sz="1000" i="1" kern="0" dirty="0">
                <a:solidFill>
                  <a:prstClr val="black"/>
                </a:solidFill>
                <a:latin typeface="Aptos" panose="020B0004020202020204" pitchFamily="34" charset="0"/>
              </a:endParaRPr>
            </a:p>
          </p:txBody>
        </p:sp>
      </p:grpSp>
      <p:grpSp>
        <p:nvGrpSpPr>
          <p:cNvPr id="503" name="Gruppieren 502">
            <a:extLst>
              <a:ext uri="{FF2B5EF4-FFF2-40B4-BE49-F238E27FC236}">
                <a16:creationId xmlns:a16="http://schemas.microsoft.com/office/drawing/2014/main" id="{09D4A415-4980-F3C0-5EF6-000FF887BB64}"/>
              </a:ext>
            </a:extLst>
          </p:cNvPr>
          <p:cNvGrpSpPr/>
          <p:nvPr/>
        </p:nvGrpSpPr>
        <p:grpSpPr>
          <a:xfrm>
            <a:off x="10419364" y="2046521"/>
            <a:ext cx="1283568" cy="246221"/>
            <a:chOff x="797477" y="773621"/>
            <a:chExt cx="1283568" cy="246221"/>
          </a:xfrm>
        </p:grpSpPr>
        <p:cxnSp>
          <p:nvCxnSpPr>
            <p:cNvPr id="517" name="Gerade Verbindung mit Pfeil 516">
              <a:extLst>
                <a:ext uri="{FF2B5EF4-FFF2-40B4-BE49-F238E27FC236}">
                  <a16:creationId xmlns:a16="http://schemas.microsoft.com/office/drawing/2014/main" id="{6F2FAB8A-18C2-5539-6045-F861EB9CAA50}"/>
                </a:ext>
              </a:extLst>
            </p:cNvPr>
            <p:cNvCxnSpPr/>
            <p:nvPr/>
          </p:nvCxnSpPr>
          <p:spPr>
            <a:xfrm>
              <a:off x="837020" y="783908"/>
              <a:ext cx="1244025" cy="0"/>
            </a:xfrm>
            <a:prstGeom prst="straightConnector1">
              <a:avLst/>
            </a:prstGeom>
            <a:noFill/>
            <a:ln w="28575" cap="flat" cmpd="sng" algn="ctr">
              <a:solidFill>
                <a:srgbClr val="5FB564">
                  <a:lumMod val="60000"/>
                  <a:lumOff val="40000"/>
                </a:srgbClr>
              </a:solidFill>
              <a:prstDash val="solid"/>
              <a:miter lim="800000"/>
              <a:tailEnd type="triangle"/>
            </a:ln>
            <a:effectLst/>
          </p:spPr>
        </p:cxnSp>
        <p:sp>
          <p:nvSpPr>
            <p:cNvPr id="519" name="Textfeld 518">
              <a:extLst>
                <a:ext uri="{FF2B5EF4-FFF2-40B4-BE49-F238E27FC236}">
                  <a16:creationId xmlns:a16="http://schemas.microsoft.com/office/drawing/2014/main" id="{4158C3C2-4328-271D-B4B4-CC50B93D1788}"/>
                </a:ext>
              </a:extLst>
            </p:cNvPr>
            <p:cNvSpPr txBox="1"/>
            <p:nvPr/>
          </p:nvSpPr>
          <p:spPr>
            <a:xfrm>
              <a:off x="797477" y="773621"/>
              <a:ext cx="1184940" cy="246221"/>
            </a:xfrm>
            <a:prstGeom prst="rect">
              <a:avLst/>
            </a:prstGeom>
            <a:noFill/>
          </p:spPr>
          <p:txBody>
            <a:bodyPr wrap="none" rtlCol="0">
              <a:spAutoFit/>
            </a:bodyPr>
            <a:lstStyle/>
            <a:p>
              <a:pPr defTabSz="914339">
                <a:defRPr/>
              </a:pPr>
              <a:r>
                <a:rPr lang="en-GB" sz="1000" i="1" kern="0" dirty="0">
                  <a:solidFill>
                    <a:prstClr val="black"/>
                  </a:solidFill>
                  <a:latin typeface="Aptos" panose="020B0004020202020204" pitchFamily="34" charset="0"/>
                </a:rPr>
                <a:t>PV feed-in surplus</a:t>
              </a:r>
              <a:endParaRPr lang="de-AT" sz="1000" i="1" kern="0" dirty="0">
                <a:solidFill>
                  <a:prstClr val="black"/>
                </a:solidFill>
                <a:latin typeface="Aptos" panose="020B0004020202020204" pitchFamily="34" charset="0"/>
              </a:endParaRPr>
            </a:p>
          </p:txBody>
        </p:sp>
      </p:grpSp>
      <p:grpSp>
        <p:nvGrpSpPr>
          <p:cNvPr id="504" name="Gruppieren 503">
            <a:extLst>
              <a:ext uri="{FF2B5EF4-FFF2-40B4-BE49-F238E27FC236}">
                <a16:creationId xmlns:a16="http://schemas.microsoft.com/office/drawing/2014/main" id="{83FF4864-3BBE-44C2-FA1F-423FA28E3FF4}"/>
              </a:ext>
            </a:extLst>
          </p:cNvPr>
          <p:cNvGrpSpPr/>
          <p:nvPr/>
        </p:nvGrpSpPr>
        <p:grpSpPr>
          <a:xfrm>
            <a:off x="10397999" y="2403635"/>
            <a:ext cx="1298239" cy="259541"/>
            <a:chOff x="782806" y="783908"/>
            <a:chExt cx="1298239" cy="259541"/>
          </a:xfrm>
        </p:grpSpPr>
        <p:cxnSp>
          <p:nvCxnSpPr>
            <p:cNvPr id="514" name="Gerade Verbindung mit Pfeil 513">
              <a:extLst>
                <a:ext uri="{FF2B5EF4-FFF2-40B4-BE49-F238E27FC236}">
                  <a16:creationId xmlns:a16="http://schemas.microsoft.com/office/drawing/2014/main" id="{CFBB4C46-183C-3BDA-666E-59584748E988}"/>
                </a:ext>
              </a:extLst>
            </p:cNvPr>
            <p:cNvCxnSpPr/>
            <p:nvPr/>
          </p:nvCxnSpPr>
          <p:spPr>
            <a:xfrm>
              <a:off x="837020" y="783908"/>
              <a:ext cx="1244025" cy="0"/>
            </a:xfrm>
            <a:prstGeom prst="straightConnector1">
              <a:avLst/>
            </a:prstGeom>
            <a:noFill/>
            <a:ln w="28575" cap="flat" cmpd="sng" algn="ctr">
              <a:solidFill>
                <a:srgbClr val="BCCF00">
                  <a:lumMod val="60000"/>
                  <a:lumOff val="40000"/>
                </a:srgbClr>
              </a:solidFill>
              <a:prstDash val="solid"/>
              <a:miter lim="800000"/>
              <a:tailEnd type="triangle"/>
            </a:ln>
            <a:effectLst/>
          </p:spPr>
        </p:cxnSp>
        <p:sp>
          <p:nvSpPr>
            <p:cNvPr id="516" name="Textfeld 515">
              <a:extLst>
                <a:ext uri="{FF2B5EF4-FFF2-40B4-BE49-F238E27FC236}">
                  <a16:creationId xmlns:a16="http://schemas.microsoft.com/office/drawing/2014/main" id="{B0F1DBCA-EFEB-AC0C-ACC1-C891DC85DAB2}"/>
                </a:ext>
              </a:extLst>
            </p:cNvPr>
            <p:cNvSpPr txBox="1"/>
            <p:nvPr/>
          </p:nvSpPr>
          <p:spPr>
            <a:xfrm>
              <a:off x="782806" y="797228"/>
              <a:ext cx="1074333" cy="246221"/>
            </a:xfrm>
            <a:prstGeom prst="rect">
              <a:avLst/>
            </a:prstGeom>
            <a:noFill/>
          </p:spPr>
          <p:txBody>
            <a:bodyPr wrap="none" rtlCol="0">
              <a:spAutoFit/>
            </a:bodyPr>
            <a:lstStyle/>
            <a:p>
              <a:pPr defTabSz="914339">
                <a:defRPr/>
              </a:pPr>
              <a:r>
                <a:rPr lang="de-DE" sz="1000" i="1" kern="0" dirty="0">
                  <a:solidFill>
                    <a:prstClr val="black"/>
                  </a:solidFill>
                  <a:latin typeface="Aptos" panose="020B0004020202020204" pitchFamily="34" charset="0"/>
                </a:rPr>
                <a:t>Flexible grid use</a:t>
              </a:r>
              <a:endParaRPr lang="de-AT" sz="1000" i="1" kern="0" dirty="0">
                <a:solidFill>
                  <a:prstClr val="black"/>
                </a:solidFill>
                <a:latin typeface="Aptos" panose="020B0004020202020204" pitchFamily="34" charset="0"/>
              </a:endParaRPr>
            </a:p>
          </p:txBody>
        </p:sp>
      </p:grpSp>
      <p:grpSp>
        <p:nvGrpSpPr>
          <p:cNvPr id="505" name="Gruppieren 504">
            <a:extLst>
              <a:ext uri="{FF2B5EF4-FFF2-40B4-BE49-F238E27FC236}">
                <a16:creationId xmlns:a16="http://schemas.microsoft.com/office/drawing/2014/main" id="{825E8704-477D-8D19-1D7F-196303CFA296}"/>
              </a:ext>
            </a:extLst>
          </p:cNvPr>
          <p:cNvGrpSpPr/>
          <p:nvPr/>
        </p:nvGrpSpPr>
        <p:grpSpPr>
          <a:xfrm>
            <a:off x="10372913" y="2854230"/>
            <a:ext cx="1330019" cy="268293"/>
            <a:chOff x="751026" y="783908"/>
            <a:chExt cx="1330019" cy="268293"/>
          </a:xfrm>
        </p:grpSpPr>
        <p:cxnSp>
          <p:nvCxnSpPr>
            <p:cNvPr id="511" name="Gerade Verbindung mit Pfeil 510">
              <a:extLst>
                <a:ext uri="{FF2B5EF4-FFF2-40B4-BE49-F238E27FC236}">
                  <a16:creationId xmlns:a16="http://schemas.microsoft.com/office/drawing/2014/main" id="{F78A7C40-6C11-F395-2D65-048E9FDDB3E2}"/>
                </a:ext>
              </a:extLst>
            </p:cNvPr>
            <p:cNvCxnSpPr/>
            <p:nvPr/>
          </p:nvCxnSpPr>
          <p:spPr>
            <a:xfrm>
              <a:off x="837020" y="783908"/>
              <a:ext cx="1244025" cy="0"/>
            </a:xfrm>
            <a:prstGeom prst="straightConnector1">
              <a:avLst/>
            </a:prstGeom>
            <a:noFill/>
            <a:ln w="28575" cap="flat" cmpd="sng" algn="ctr">
              <a:solidFill>
                <a:srgbClr val="BCCF00"/>
              </a:solidFill>
              <a:prstDash val="solid"/>
              <a:miter lim="800000"/>
              <a:tailEnd type="triangle"/>
            </a:ln>
            <a:effectLst/>
          </p:spPr>
        </p:cxnSp>
        <p:sp>
          <p:nvSpPr>
            <p:cNvPr id="513" name="Textfeld 512">
              <a:extLst>
                <a:ext uri="{FF2B5EF4-FFF2-40B4-BE49-F238E27FC236}">
                  <a16:creationId xmlns:a16="http://schemas.microsoft.com/office/drawing/2014/main" id="{8D63FA69-73A4-B6BF-254F-B77B57DE6EFE}"/>
                </a:ext>
              </a:extLst>
            </p:cNvPr>
            <p:cNvSpPr txBox="1"/>
            <p:nvPr/>
          </p:nvSpPr>
          <p:spPr>
            <a:xfrm>
              <a:off x="751026" y="805980"/>
              <a:ext cx="806631" cy="246221"/>
            </a:xfrm>
            <a:prstGeom prst="rect">
              <a:avLst/>
            </a:prstGeom>
            <a:noFill/>
          </p:spPr>
          <p:txBody>
            <a:bodyPr wrap="none" rtlCol="0">
              <a:spAutoFit/>
            </a:bodyPr>
            <a:lstStyle/>
            <a:p>
              <a:pPr defTabSz="914339">
                <a:defRPr/>
              </a:pPr>
              <a:r>
                <a:rPr lang="de-DE" sz="1000" i="1" kern="0" dirty="0">
                  <a:solidFill>
                    <a:prstClr val="black"/>
                  </a:solidFill>
                  <a:latin typeface="Aptos" panose="020B0004020202020204" pitchFamily="34" charset="0"/>
                </a:rPr>
                <a:t>Battery use</a:t>
              </a:r>
              <a:endParaRPr lang="de-AT" sz="1000" i="1" kern="0" dirty="0">
                <a:solidFill>
                  <a:prstClr val="black"/>
                </a:solidFill>
                <a:latin typeface="Aptos" panose="020B0004020202020204" pitchFamily="34" charset="0"/>
              </a:endParaRPr>
            </a:p>
          </p:txBody>
        </p:sp>
      </p:grpSp>
      <p:cxnSp>
        <p:nvCxnSpPr>
          <p:cNvPr id="506" name="Gerade Verbindung mit Pfeil 505">
            <a:extLst>
              <a:ext uri="{FF2B5EF4-FFF2-40B4-BE49-F238E27FC236}">
                <a16:creationId xmlns:a16="http://schemas.microsoft.com/office/drawing/2014/main" id="{057EC084-A138-2A8C-9A4C-20CA008F969F}"/>
              </a:ext>
            </a:extLst>
          </p:cNvPr>
          <p:cNvCxnSpPr>
            <a:cxnSpLocks/>
          </p:cNvCxnSpPr>
          <p:nvPr/>
        </p:nvCxnSpPr>
        <p:spPr>
          <a:xfrm>
            <a:off x="10455252" y="2756631"/>
            <a:ext cx="1244025" cy="0"/>
          </a:xfrm>
          <a:prstGeom prst="straightConnector1">
            <a:avLst/>
          </a:prstGeom>
          <a:noFill/>
          <a:ln w="28575" cap="flat" cmpd="sng" algn="ctr">
            <a:solidFill>
              <a:srgbClr val="F59C00"/>
            </a:solidFill>
            <a:prstDash val="solid"/>
            <a:miter lim="800000"/>
            <a:tailEnd type="triangle"/>
          </a:ln>
          <a:effectLst/>
        </p:spPr>
      </p:cxnSp>
      <p:cxnSp>
        <p:nvCxnSpPr>
          <p:cNvPr id="507" name="Verbinder: gewinkelt 506">
            <a:extLst>
              <a:ext uri="{FF2B5EF4-FFF2-40B4-BE49-F238E27FC236}">
                <a16:creationId xmlns:a16="http://schemas.microsoft.com/office/drawing/2014/main" id="{D10A2DCA-E51F-3244-021D-DEDD8FB6CD59}"/>
              </a:ext>
            </a:extLst>
          </p:cNvPr>
          <p:cNvCxnSpPr>
            <a:cxnSpLocks/>
          </p:cNvCxnSpPr>
          <p:nvPr/>
        </p:nvCxnSpPr>
        <p:spPr>
          <a:xfrm flipH="1">
            <a:off x="4768889" y="3940646"/>
            <a:ext cx="1776252" cy="724060"/>
          </a:xfrm>
          <a:prstGeom prst="bentConnector5">
            <a:avLst>
              <a:gd name="adj1" fmla="val -8294"/>
              <a:gd name="adj2" fmla="val 55313"/>
              <a:gd name="adj3" fmla="val 112870"/>
            </a:avLst>
          </a:prstGeom>
          <a:noFill/>
          <a:ln w="28575" cap="flat" cmpd="sng" algn="ctr">
            <a:solidFill>
              <a:srgbClr val="BCCF00"/>
            </a:solidFill>
            <a:prstDash val="solid"/>
            <a:miter lim="800000"/>
            <a:tailEnd type="triangle"/>
          </a:ln>
          <a:effectLst/>
        </p:spPr>
      </p:cxnSp>
      <p:cxnSp>
        <p:nvCxnSpPr>
          <p:cNvPr id="508" name="Verbinder: gewinkelt 507">
            <a:extLst>
              <a:ext uri="{FF2B5EF4-FFF2-40B4-BE49-F238E27FC236}">
                <a16:creationId xmlns:a16="http://schemas.microsoft.com/office/drawing/2014/main" id="{3E698E6B-4E8D-D929-F03D-1C4D4252102D}"/>
              </a:ext>
            </a:extLst>
          </p:cNvPr>
          <p:cNvCxnSpPr>
            <a:cxnSpLocks/>
          </p:cNvCxnSpPr>
          <p:nvPr/>
        </p:nvCxnSpPr>
        <p:spPr>
          <a:xfrm flipV="1">
            <a:off x="6545141" y="3544482"/>
            <a:ext cx="308147" cy="396164"/>
          </a:xfrm>
          <a:prstGeom prst="bentConnector3">
            <a:avLst>
              <a:gd name="adj1" fmla="val 50000"/>
            </a:avLst>
          </a:prstGeom>
          <a:noFill/>
          <a:ln w="28575" cap="flat" cmpd="sng" algn="ctr">
            <a:solidFill>
              <a:srgbClr val="BCCF00"/>
            </a:solidFill>
            <a:prstDash val="solid"/>
            <a:miter lim="800000"/>
            <a:tailEnd type="triangle"/>
          </a:ln>
          <a:effectLst/>
        </p:spPr>
      </p:cxnSp>
      <p:cxnSp>
        <p:nvCxnSpPr>
          <p:cNvPr id="509" name="Gerade Verbindung mit Pfeil 508">
            <a:extLst>
              <a:ext uri="{FF2B5EF4-FFF2-40B4-BE49-F238E27FC236}">
                <a16:creationId xmlns:a16="http://schemas.microsoft.com/office/drawing/2014/main" id="{6CC864D2-5812-91A2-A5C2-68EE0EE0EA59}"/>
              </a:ext>
            </a:extLst>
          </p:cNvPr>
          <p:cNvCxnSpPr>
            <a:cxnSpLocks/>
          </p:cNvCxnSpPr>
          <p:nvPr/>
        </p:nvCxnSpPr>
        <p:spPr>
          <a:xfrm>
            <a:off x="4435474" y="4000647"/>
            <a:ext cx="1235940" cy="0"/>
          </a:xfrm>
          <a:prstGeom prst="straightConnector1">
            <a:avLst/>
          </a:prstGeom>
          <a:noFill/>
          <a:ln w="28575" cap="flat" cmpd="sng" algn="ctr">
            <a:solidFill>
              <a:srgbClr val="BCCF00">
                <a:lumMod val="60000"/>
                <a:lumOff val="40000"/>
              </a:srgbClr>
            </a:solidFill>
            <a:prstDash val="solid"/>
            <a:miter lim="800000"/>
            <a:tailEnd type="triangle"/>
          </a:ln>
          <a:effectLst/>
        </p:spPr>
      </p:cxnSp>
      <p:cxnSp>
        <p:nvCxnSpPr>
          <p:cNvPr id="510" name="Gerader Verbinder 509">
            <a:extLst>
              <a:ext uri="{FF2B5EF4-FFF2-40B4-BE49-F238E27FC236}">
                <a16:creationId xmlns:a16="http://schemas.microsoft.com/office/drawing/2014/main" id="{17BC7D22-82FE-727B-93F9-7A57B9638CB3}"/>
              </a:ext>
            </a:extLst>
          </p:cNvPr>
          <p:cNvCxnSpPr>
            <a:cxnSpLocks/>
          </p:cNvCxnSpPr>
          <p:nvPr/>
        </p:nvCxnSpPr>
        <p:spPr>
          <a:xfrm flipH="1">
            <a:off x="4435474" y="2576127"/>
            <a:ext cx="700461" cy="0"/>
          </a:xfrm>
          <a:prstGeom prst="line">
            <a:avLst/>
          </a:prstGeom>
          <a:noFill/>
          <a:ln w="28575" cap="flat" cmpd="sng" algn="ctr">
            <a:solidFill>
              <a:srgbClr val="BCCF00">
                <a:lumMod val="60000"/>
                <a:lumOff val="40000"/>
              </a:srgbClr>
            </a:solidFill>
            <a:prstDash val="solid"/>
            <a:miter lim="800000"/>
            <a:headEnd type="none" w="med" len="med"/>
            <a:tailEnd type="none" w="med" len="med"/>
          </a:ln>
          <a:effectLst/>
        </p:spPr>
      </p:cxnSp>
      <p:cxnSp>
        <p:nvCxnSpPr>
          <p:cNvPr id="4" name="Verbinder: gewinkelt 3">
            <a:extLst>
              <a:ext uri="{FF2B5EF4-FFF2-40B4-BE49-F238E27FC236}">
                <a16:creationId xmlns:a16="http://schemas.microsoft.com/office/drawing/2014/main" id="{146440DF-8ECD-55CD-7841-A251E27AFD37}"/>
              </a:ext>
            </a:extLst>
          </p:cNvPr>
          <p:cNvCxnSpPr>
            <a:cxnSpLocks/>
            <a:endCxn id="543" idx="1"/>
          </p:cNvCxnSpPr>
          <p:nvPr/>
        </p:nvCxnSpPr>
        <p:spPr>
          <a:xfrm flipH="1">
            <a:off x="4718852" y="3544482"/>
            <a:ext cx="3103807" cy="1213718"/>
          </a:xfrm>
          <a:prstGeom prst="bentConnector5">
            <a:avLst>
              <a:gd name="adj1" fmla="val -7365"/>
              <a:gd name="adj2" fmla="val 61570"/>
              <a:gd name="adj3" fmla="val 107365"/>
            </a:avLst>
          </a:prstGeom>
          <a:noFill/>
          <a:ln w="28575" cap="flat" cmpd="sng" algn="ctr">
            <a:solidFill>
              <a:srgbClr val="F59C00"/>
            </a:solidFill>
            <a:prstDash val="solid"/>
            <a:miter lim="800000"/>
            <a:tailEnd type="triangle"/>
          </a:ln>
          <a:effectLst/>
        </p:spPr>
      </p:cxnSp>
      <p:grpSp>
        <p:nvGrpSpPr>
          <p:cNvPr id="479" name="Gruppieren 478">
            <a:extLst>
              <a:ext uri="{FF2B5EF4-FFF2-40B4-BE49-F238E27FC236}">
                <a16:creationId xmlns:a16="http://schemas.microsoft.com/office/drawing/2014/main" id="{55E0828B-7118-DB0E-7A57-DAE3A8DABB13}"/>
              </a:ext>
            </a:extLst>
          </p:cNvPr>
          <p:cNvGrpSpPr/>
          <p:nvPr/>
        </p:nvGrpSpPr>
        <p:grpSpPr>
          <a:xfrm>
            <a:off x="5975006" y="4885609"/>
            <a:ext cx="962123" cy="696222"/>
            <a:chOff x="5355447" y="4812795"/>
            <a:chExt cx="962123" cy="696222"/>
          </a:xfrm>
        </p:grpSpPr>
        <p:grpSp>
          <p:nvGrpSpPr>
            <p:cNvPr id="526" name="Gruppieren 525">
              <a:extLst>
                <a:ext uri="{FF2B5EF4-FFF2-40B4-BE49-F238E27FC236}">
                  <a16:creationId xmlns:a16="http://schemas.microsoft.com/office/drawing/2014/main" id="{CD32A21E-60DA-CBDC-D181-E0563756D9CC}"/>
                </a:ext>
              </a:extLst>
            </p:cNvPr>
            <p:cNvGrpSpPr/>
            <p:nvPr/>
          </p:nvGrpSpPr>
          <p:grpSpPr>
            <a:xfrm>
              <a:off x="5355447" y="4812795"/>
              <a:ext cx="962123" cy="696222"/>
              <a:chOff x="4716458" y="4033373"/>
              <a:chExt cx="962123" cy="696222"/>
            </a:xfrm>
          </p:grpSpPr>
          <p:sp>
            <p:nvSpPr>
              <p:cNvPr id="528" name="Flussdiagramm: Anzeige 9">
                <a:extLst>
                  <a:ext uri="{FF2B5EF4-FFF2-40B4-BE49-F238E27FC236}">
                    <a16:creationId xmlns:a16="http://schemas.microsoft.com/office/drawing/2014/main" id="{C0ADF0D9-A200-6307-9023-985F643085B2}"/>
                  </a:ext>
                </a:extLst>
              </p:cNvPr>
              <p:cNvSpPr/>
              <p:nvPr/>
            </p:nvSpPr>
            <p:spPr>
              <a:xfrm rot="5400000">
                <a:off x="4803245" y="4030373"/>
                <a:ext cx="696222" cy="702221"/>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E1320F">
                  <a:lumMod val="20000"/>
                  <a:lumOff val="80000"/>
                </a:srgbClr>
              </a:solidFill>
              <a:ln w="12700" cap="flat" cmpd="sng" algn="ctr">
                <a:solidFill>
                  <a:srgbClr val="E1320F">
                    <a:lumMod val="60000"/>
                    <a:lumOff val="40000"/>
                  </a:srgbClr>
                </a:solidFill>
                <a:prstDash val="solid"/>
                <a:miter lim="800000"/>
              </a:ln>
              <a:effectLst/>
            </p:spPr>
            <p:txBody>
              <a:bodyPr vert="vert270" rtlCol="0" anchor="ctr"/>
              <a:lstStyle/>
              <a:p>
                <a:pPr algn="ctr" defTabSz="914339">
                  <a:defRPr/>
                </a:pPr>
                <a:endParaRPr lang="de-AT" sz="1100" kern="0" dirty="0">
                  <a:solidFill>
                    <a:prstClr val="white"/>
                  </a:solidFill>
                  <a:latin typeface="Aptos" panose="020B0004020202020204" pitchFamily="34" charset="0"/>
                </a:endParaRPr>
              </a:p>
            </p:txBody>
          </p:sp>
          <p:sp>
            <p:nvSpPr>
              <p:cNvPr id="530" name="Textfeld 529">
                <a:extLst>
                  <a:ext uri="{FF2B5EF4-FFF2-40B4-BE49-F238E27FC236}">
                    <a16:creationId xmlns:a16="http://schemas.microsoft.com/office/drawing/2014/main" id="{2BC2EF96-15B1-54C0-D8BF-2D243FD8EF9E}"/>
                  </a:ext>
                </a:extLst>
              </p:cNvPr>
              <p:cNvSpPr txBox="1"/>
              <p:nvPr/>
            </p:nvSpPr>
            <p:spPr>
              <a:xfrm>
                <a:off x="4716458" y="4407251"/>
                <a:ext cx="962123"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Building mass</a:t>
                </a:r>
                <a:endParaRPr lang="de-AT" sz="1000" i="1" kern="0" dirty="0">
                  <a:solidFill>
                    <a:prstClr val="black"/>
                  </a:solidFill>
                  <a:latin typeface="Aptos" panose="020B0004020202020204" pitchFamily="34" charset="0"/>
                </a:endParaRPr>
              </a:p>
            </p:txBody>
          </p:sp>
        </p:grpSp>
        <p:sp>
          <p:nvSpPr>
            <p:cNvPr id="527" name="Battery4" descr="{&quot;Key&quot;:&quot;POWER_USER_SHAPE_ICON&quot;,&quot;Value&quot;:&quot;POWER_USER_SHAPE_ICON_STYLE_1&quot;}">
              <a:extLst>
                <a:ext uri="{FF2B5EF4-FFF2-40B4-BE49-F238E27FC236}">
                  <a16:creationId xmlns:a16="http://schemas.microsoft.com/office/drawing/2014/main" id="{37767A41-7D69-76E8-D4F8-251F5151A4DD}"/>
                </a:ext>
              </a:extLst>
            </p:cNvPr>
            <p:cNvSpPr>
              <a:spLocks noChangeAspect="1" noEditPoints="1"/>
            </p:cNvSpPr>
            <p:nvPr>
              <p:custDataLst>
                <p:tags r:id="rId9"/>
              </p:custDataLst>
            </p:nvPr>
          </p:nvSpPr>
          <p:spPr bwMode="auto">
            <a:xfrm>
              <a:off x="5732070" y="4846487"/>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E1320F">
                <a:lumMod val="60000"/>
                <a:lumOff val="40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grpSp>
      <p:grpSp>
        <p:nvGrpSpPr>
          <p:cNvPr id="441" name="Gruppieren 440">
            <a:extLst>
              <a:ext uri="{FF2B5EF4-FFF2-40B4-BE49-F238E27FC236}">
                <a16:creationId xmlns:a16="http://schemas.microsoft.com/office/drawing/2014/main" id="{C2671337-1AA1-E440-44B9-CDAEFA97F691}"/>
              </a:ext>
            </a:extLst>
          </p:cNvPr>
          <p:cNvGrpSpPr/>
          <p:nvPr/>
        </p:nvGrpSpPr>
        <p:grpSpPr>
          <a:xfrm>
            <a:off x="5733349" y="3570864"/>
            <a:ext cx="702221" cy="696222"/>
            <a:chOff x="3631979" y="4005697"/>
            <a:chExt cx="702221" cy="696222"/>
          </a:xfrm>
        </p:grpSpPr>
        <p:sp>
          <p:nvSpPr>
            <p:cNvPr id="604" name="Flussdiagramm: Anzeige 9">
              <a:extLst>
                <a:ext uri="{FF2B5EF4-FFF2-40B4-BE49-F238E27FC236}">
                  <a16:creationId xmlns:a16="http://schemas.microsoft.com/office/drawing/2014/main" id="{3D5B9989-C2AB-185F-3E1E-5E4B45CABB12}"/>
                </a:ext>
              </a:extLst>
            </p:cNvPr>
            <p:cNvSpPr/>
            <p:nvPr/>
          </p:nvSpPr>
          <p:spPr>
            <a:xfrm rot="5400000">
              <a:off x="3634979" y="4002697"/>
              <a:ext cx="696222" cy="702221"/>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BCCF00"/>
            </a:solid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1100" kern="0" dirty="0">
                <a:solidFill>
                  <a:prstClr val="white"/>
                </a:solidFill>
                <a:latin typeface="Aptos" panose="020B0004020202020204" pitchFamily="34" charset="0"/>
              </a:endParaRPr>
            </a:p>
          </p:txBody>
        </p:sp>
        <p:sp>
          <p:nvSpPr>
            <p:cNvPr id="606" name="Textfeld 605">
              <a:extLst>
                <a:ext uri="{FF2B5EF4-FFF2-40B4-BE49-F238E27FC236}">
                  <a16:creationId xmlns:a16="http://schemas.microsoft.com/office/drawing/2014/main" id="{984D7426-2A8A-5E55-6540-6BE72B1563D6}"/>
                </a:ext>
              </a:extLst>
            </p:cNvPr>
            <p:cNvSpPr txBox="1"/>
            <p:nvPr/>
          </p:nvSpPr>
          <p:spPr>
            <a:xfrm>
              <a:off x="3766753" y="4257002"/>
              <a:ext cx="478016" cy="246221"/>
            </a:xfrm>
            <a:prstGeom prst="rect">
              <a:avLst/>
            </a:prstGeom>
            <a:noFill/>
          </p:spPr>
          <p:txBody>
            <a:bodyPr wrap="none" rtlCol="0">
              <a:spAutoFit/>
            </a:bodyPr>
            <a:lstStyle/>
            <a:p>
              <a:pPr algn="ctr" defTabSz="914339">
                <a:defRPr/>
              </a:pPr>
              <a:r>
                <a:rPr lang="en-GB" sz="1000" i="1" kern="0" dirty="0">
                  <a:solidFill>
                    <a:prstClr val="black"/>
                  </a:solidFill>
                  <a:latin typeface="Aptos" panose="020B0004020202020204" pitchFamily="34" charset="0"/>
                </a:rPr>
                <a:t>BESS</a:t>
              </a:r>
              <a:endParaRPr lang="de-AT" sz="1000" i="1" kern="0" dirty="0">
                <a:solidFill>
                  <a:prstClr val="black"/>
                </a:solidFill>
                <a:latin typeface="Aptos" panose="020B0004020202020204" pitchFamily="34" charset="0"/>
              </a:endParaRPr>
            </a:p>
          </p:txBody>
        </p:sp>
      </p:grpSp>
      <p:sp>
        <p:nvSpPr>
          <p:cNvPr id="498" name="Battery4" descr="{&quot;Key&quot;:&quot;POWER_USER_SHAPE_ICON&quot;,&quot;Value&quot;:&quot;POWER_USER_SHAPE_ICON_STYLE_1&quot;}">
            <a:extLst>
              <a:ext uri="{FF2B5EF4-FFF2-40B4-BE49-F238E27FC236}">
                <a16:creationId xmlns:a16="http://schemas.microsoft.com/office/drawing/2014/main" id="{18CD1A3E-F6F1-97CE-EA18-D09679455B7F}"/>
              </a:ext>
            </a:extLst>
          </p:cNvPr>
          <p:cNvSpPr>
            <a:spLocks noChangeAspect="1" noEditPoints="1"/>
          </p:cNvSpPr>
          <p:nvPr>
            <p:custDataLst>
              <p:tags r:id="rId8"/>
            </p:custDataLst>
          </p:nvPr>
        </p:nvSpPr>
        <p:spPr bwMode="auto">
          <a:xfrm>
            <a:off x="6074744" y="3635244"/>
            <a:ext cx="99807" cy="170956"/>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BCCF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kern="0" dirty="0">
              <a:solidFill>
                <a:prstClr val="black"/>
              </a:solidFill>
              <a:latin typeface="Aptos" panose="020B0004020202020204" pitchFamily="34" charset="0"/>
            </a:endParaRPr>
          </a:p>
        </p:txBody>
      </p:sp>
    </p:spTree>
    <p:extLst>
      <p:ext uri="{BB962C8B-B14F-4D97-AF65-F5344CB8AC3E}">
        <p14:creationId xmlns:p14="http://schemas.microsoft.com/office/powerpoint/2010/main" val="2516739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uppieren 27">
            <a:extLst>
              <a:ext uri="{FF2B5EF4-FFF2-40B4-BE49-F238E27FC236}">
                <a16:creationId xmlns:a16="http://schemas.microsoft.com/office/drawing/2014/main" id="{E06C8B69-DFBD-76AD-D02B-FDAF920B23ED}"/>
              </a:ext>
            </a:extLst>
          </p:cNvPr>
          <p:cNvGrpSpPr/>
          <p:nvPr/>
        </p:nvGrpSpPr>
        <p:grpSpPr>
          <a:xfrm>
            <a:off x="3979308" y="2164801"/>
            <a:ext cx="2432384" cy="2334810"/>
            <a:chOff x="5513252" y="2957042"/>
            <a:chExt cx="1375861" cy="1320669"/>
          </a:xfrm>
        </p:grpSpPr>
        <p:sp>
          <p:nvSpPr>
            <p:cNvPr id="29" name="Rechteck 28">
              <a:extLst>
                <a:ext uri="{FF2B5EF4-FFF2-40B4-BE49-F238E27FC236}">
                  <a16:creationId xmlns:a16="http://schemas.microsoft.com/office/drawing/2014/main" id="{71E1202E-28F8-DBC8-4E67-7C62EAE579C2}"/>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0" name="Rechteck 29">
              <a:extLst>
                <a:ext uri="{FF2B5EF4-FFF2-40B4-BE49-F238E27FC236}">
                  <a16:creationId xmlns:a16="http://schemas.microsoft.com/office/drawing/2014/main" id="{BEBF1F2F-6803-0FD0-4585-9E9D936876A1}"/>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1" name="Rechteck 30">
              <a:extLst>
                <a:ext uri="{FF2B5EF4-FFF2-40B4-BE49-F238E27FC236}">
                  <a16:creationId xmlns:a16="http://schemas.microsoft.com/office/drawing/2014/main" id="{6FFEE77D-657F-BBF8-2D77-50034A1EC21E}"/>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2" name="Building5" descr="{&quot;Key&quot;:&quot;POWER_USER_SHAPE_ICON&quot;,&quot;Value&quot;:&quot;POWER_USER_SHAPE_ICON_STYLE_1&quot;}">
              <a:extLst>
                <a:ext uri="{FF2B5EF4-FFF2-40B4-BE49-F238E27FC236}">
                  <a16:creationId xmlns:a16="http://schemas.microsoft.com/office/drawing/2014/main" id="{7F6C5197-9621-D556-79E2-4593EB09F41C}"/>
                </a:ext>
              </a:extLst>
            </p:cNvPr>
            <p:cNvSpPr>
              <a:spLocks noChangeAspect="1" noEditPoints="1"/>
            </p:cNvSpPr>
            <p:nvPr>
              <p:custDataLst>
                <p:tags r:id="rId4"/>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Calibri" panose="020F0502020204030204"/>
              </a:endParaRPr>
            </a:p>
          </p:txBody>
        </p:sp>
        <p:sp>
          <p:nvSpPr>
            <p:cNvPr id="33" name="Rechteck 32">
              <a:extLst>
                <a:ext uri="{FF2B5EF4-FFF2-40B4-BE49-F238E27FC236}">
                  <a16:creationId xmlns:a16="http://schemas.microsoft.com/office/drawing/2014/main" id="{619D7F4B-EEEE-F630-1786-7504A658BCBE}"/>
                </a:ext>
              </a:extLst>
            </p:cNvPr>
            <p:cNvSpPr/>
            <p:nvPr/>
          </p:nvSpPr>
          <p:spPr>
            <a:xfrm>
              <a:off x="5513252" y="4205449"/>
              <a:ext cx="1374314" cy="72262"/>
            </a:xfrm>
            <a:prstGeom prst="rect">
              <a:avLst/>
            </a:prstGeom>
            <a:solidFill>
              <a:srgbClr val="D4B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4" name="Rechteck 33">
              <a:extLst>
                <a:ext uri="{FF2B5EF4-FFF2-40B4-BE49-F238E27FC236}">
                  <a16:creationId xmlns:a16="http://schemas.microsoft.com/office/drawing/2014/main" id="{5D75BBFE-2B65-B5DD-EAB0-9BF134051A1B}"/>
                </a:ext>
              </a:extLst>
            </p:cNvPr>
            <p:cNvSpPr/>
            <p:nvPr/>
          </p:nvSpPr>
          <p:spPr>
            <a:xfrm>
              <a:off x="6824773" y="3228411"/>
              <a:ext cx="62793" cy="97743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5" name="Rechteck 34">
              <a:extLst>
                <a:ext uri="{FF2B5EF4-FFF2-40B4-BE49-F238E27FC236}">
                  <a16:creationId xmlns:a16="http://schemas.microsoft.com/office/drawing/2014/main" id="{4F0D4358-97C0-DB30-25B7-528C62B6E1EC}"/>
                </a:ext>
              </a:extLst>
            </p:cNvPr>
            <p:cNvSpPr/>
            <p:nvPr/>
          </p:nvSpPr>
          <p:spPr>
            <a:xfrm>
              <a:off x="6424376" y="2967031"/>
              <a:ext cx="71719" cy="111816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7" name="Rechteck 36">
              <a:extLst>
                <a:ext uri="{FF2B5EF4-FFF2-40B4-BE49-F238E27FC236}">
                  <a16:creationId xmlns:a16="http://schemas.microsoft.com/office/drawing/2014/main" id="{7A013306-03A5-5DDE-F398-7814022E571D}"/>
                </a:ext>
              </a:extLst>
            </p:cNvPr>
            <p:cNvSpPr/>
            <p:nvPr/>
          </p:nvSpPr>
          <p:spPr>
            <a:xfrm>
              <a:off x="5514799" y="3422910"/>
              <a:ext cx="74958" cy="78293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8" name="Rechteck 37">
              <a:extLst>
                <a:ext uri="{FF2B5EF4-FFF2-40B4-BE49-F238E27FC236}">
                  <a16:creationId xmlns:a16="http://schemas.microsoft.com/office/drawing/2014/main" id="{DBF24AD3-2AA4-E6BF-2B45-EF96F8C5318D}"/>
                </a:ext>
              </a:extLst>
            </p:cNvPr>
            <p:cNvSpPr/>
            <p:nvPr/>
          </p:nvSpPr>
          <p:spPr>
            <a:xfrm>
              <a:off x="6496095" y="3209739"/>
              <a:ext cx="391471" cy="10576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0" name="Rechteck 39">
              <a:extLst>
                <a:ext uri="{FF2B5EF4-FFF2-40B4-BE49-F238E27FC236}">
                  <a16:creationId xmlns:a16="http://schemas.microsoft.com/office/drawing/2014/main" id="{7C3811F5-2E9E-89CD-FF9A-E57DD96D7C6B}"/>
                </a:ext>
              </a:extLst>
            </p:cNvPr>
            <p:cNvSpPr/>
            <p:nvPr/>
          </p:nvSpPr>
          <p:spPr>
            <a:xfrm>
              <a:off x="5516346" y="3308888"/>
              <a:ext cx="458364"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1" name="Rechteck 40">
              <a:extLst>
                <a:ext uri="{FF2B5EF4-FFF2-40B4-BE49-F238E27FC236}">
                  <a16:creationId xmlns:a16="http://schemas.microsoft.com/office/drawing/2014/main" id="{367073F1-758E-7C25-40CA-4F02D8752686}"/>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2" name="Rechteck 41">
              <a:extLst>
                <a:ext uri="{FF2B5EF4-FFF2-40B4-BE49-F238E27FC236}">
                  <a16:creationId xmlns:a16="http://schemas.microsoft.com/office/drawing/2014/main" id="{1D84424F-8827-9FA2-B852-A754711ADAAC}"/>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6" name="Rechteck 35">
              <a:extLst>
                <a:ext uri="{FF2B5EF4-FFF2-40B4-BE49-F238E27FC236}">
                  <a16:creationId xmlns:a16="http://schemas.microsoft.com/office/drawing/2014/main" id="{9A4397AA-FAF4-11ED-BF3D-0E2ED9036E24}"/>
                </a:ext>
              </a:extLst>
            </p:cNvPr>
            <p:cNvSpPr/>
            <p:nvPr/>
          </p:nvSpPr>
          <p:spPr>
            <a:xfrm>
              <a:off x="5961096" y="2992042"/>
              <a:ext cx="71719" cy="42999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9" name="Rechteck 38">
              <a:extLst>
                <a:ext uri="{FF2B5EF4-FFF2-40B4-BE49-F238E27FC236}">
                  <a16:creationId xmlns:a16="http://schemas.microsoft.com/office/drawing/2014/main" id="{4F953945-6F91-7766-DD29-E18D87905B0E}"/>
                </a:ext>
              </a:extLst>
            </p:cNvPr>
            <p:cNvSpPr/>
            <p:nvPr/>
          </p:nvSpPr>
          <p:spPr>
            <a:xfrm>
              <a:off x="5961095" y="2957042"/>
              <a:ext cx="535000"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111" name="Gruppieren 110">
            <a:extLst>
              <a:ext uri="{FF2B5EF4-FFF2-40B4-BE49-F238E27FC236}">
                <a16:creationId xmlns:a16="http://schemas.microsoft.com/office/drawing/2014/main" id="{8D1C9938-6629-822E-73E8-999F56B2F3DF}"/>
              </a:ext>
            </a:extLst>
          </p:cNvPr>
          <p:cNvGrpSpPr/>
          <p:nvPr/>
        </p:nvGrpSpPr>
        <p:grpSpPr>
          <a:xfrm>
            <a:off x="6822222" y="2129054"/>
            <a:ext cx="2432384" cy="2334810"/>
            <a:chOff x="5513252" y="2957042"/>
            <a:chExt cx="1375861" cy="1320669"/>
          </a:xfrm>
        </p:grpSpPr>
        <p:sp>
          <p:nvSpPr>
            <p:cNvPr id="112" name="Rechteck 111">
              <a:extLst>
                <a:ext uri="{FF2B5EF4-FFF2-40B4-BE49-F238E27FC236}">
                  <a16:creationId xmlns:a16="http://schemas.microsoft.com/office/drawing/2014/main" id="{10261A06-8BEE-A813-80E6-2219DD2D9968}"/>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3" name="Rechteck 112">
              <a:extLst>
                <a:ext uri="{FF2B5EF4-FFF2-40B4-BE49-F238E27FC236}">
                  <a16:creationId xmlns:a16="http://schemas.microsoft.com/office/drawing/2014/main" id="{6F484F40-40AD-E7F2-17E9-EE69C7DA768D}"/>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4" name="Rechteck 113">
              <a:extLst>
                <a:ext uri="{FF2B5EF4-FFF2-40B4-BE49-F238E27FC236}">
                  <a16:creationId xmlns:a16="http://schemas.microsoft.com/office/drawing/2014/main" id="{B61472E3-3EF3-8A4B-5F3F-0C9881C4D6F2}"/>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5" name="Building5" descr="{&quot;Key&quot;:&quot;POWER_USER_SHAPE_ICON&quot;,&quot;Value&quot;:&quot;POWER_USER_SHAPE_ICON_STYLE_1&quot;}">
              <a:extLst>
                <a:ext uri="{FF2B5EF4-FFF2-40B4-BE49-F238E27FC236}">
                  <a16:creationId xmlns:a16="http://schemas.microsoft.com/office/drawing/2014/main" id="{64D968A7-5A61-E06E-2767-9183C6BDC00D}"/>
                </a:ext>
              </a:extLst>
            </p:cNvPr>
            <p:cNvSpPr>
              <a:spLocks noChangeAspect="1" noEditPoints="1"/>
            </p:cNvSpPr>
            <p:nvPr>
              <p:custDataLst>
                <p:tags r:id="rId3"/>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Calibri" panose="020F0502020204030204"/>
              </a:endParaRPr>
            </a:p>
          </p:txBody>
        </p:sp>
        <p:sp>
          <p:nvSpPr>
            <p:cNvPr id="116" name="Rechteck 115">
              <a:extLst>
                <a:ext uri="{FF2B5EF4-FFF2-40B4-BE49-F238E27FC236}">
                  <a16:creationId xmlns:a16="http://schemas.microsoft.com/office/drawing/2014/main" id="{7FFC00DF-3E8B-884B-4214-64FFC7CF2C38}"/>
                </a:ext>
              </a:extLst>
            </p:cNvPr>
            <p:cNvSpPr/>
            <p:nvPr/>
          </p:nvSpPr>
          <p:spPr>
            <a:xfrm>
              <a:off x="5513252" y="4205449"/>
              <a:ext cx="1374314" cy="72262"/>
            </a:xfrm>
            <a:prstGeom prst="rect">
              <a:avLst/>
            </a:prstGeom>
            <a:solidFill>
              <a:srgbClr val="D4B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7" name="Rechteck 116">
              <a:extLst>
                <a:ext uri="{FF2B5EF4-FFF2-40B4-BE49-F238E27FC236}">
                  <a16:creationId xmlns:a16="http://schemas.microsoft.com/office/drawing/2014/main" id="{F6AB5A02-56FE-A6EF-A8BA-E8382A3731A9}"/>
                </a:ext>
              </a:extLst>
            </p:cNvPr>
            <p:cNvSpPr/>
            <p:nvPr/>
          </p:nvSpPr>
          <p:spPr>
            <a:xfrm>
              <a:off x="6824773" y="3228411"/>
              <a:ext cx="62793" cy="97743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8" name="Rechteck 117">
              <a:extLst>
                <a:ext uri="{FF2B5EF4-FFF2-40B4-BE49-F238E27FC236}">
                  <a16:creationId xmlns:a16="http://schemas.microsoft.com/office/drawing/2014/main" id="{ABF011FA-C519-52DF-1DAA-98DC9CA3DB5D}"/>
                </a:ext>
              </a:extLst>
            </p:cNvPr>
            <p:cNvSpPr/>
            <p:nvPr/>
          </p:nvSpPr>
          <p:spPr>
            <a:xfrm>
              <a:off x="6424376" y="2967031"/>
              <a:ext cx="71719" cy="111816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9" name="Rechteck 118">
              <a:extLst>
                <a:ext uri="{FF2B5EF4-FFF2-40B4-BE49-F238E27FC236}">
                  <a16:creationId xmlns:a16="http://schemas.microsoft.com/office/drawing/2014/main" id="{FDF1F327-63B7-F094-10D4-E0FC05E42E55}"/>
                </a:ext>
              </a:extLst>
            </p:cNvPr>
            <p:cNvSpPr/>
            <p:nvPr/>
          </p:nvSpPr>
          <p:spPr>
            <a:xfrm>
              <a:off x="5514799" y="3422910"/>
              <a:ext cx="74958" cy="78293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0" name="Rechteck 119">
              <a:extLst>
                <a:ext uri="{FF2B5EF4-FFF2-40B4-BE49-F238E27FC236}">
                  <a16:creationId xmlns:a16="http://schemas.microsoft.com/office/drawing/2014/main" id="{8BBF2C9B-C3B7-EF18-E819-FD558E69D170}"/>
                </a:ext>
              </a:extLst>
            </p:cNvPr>
            <p:cNvSpPr/>
            <p:nvPr/>
          </p:nvSpPr>
          <p:spPr>
            <a:xfrm>
              <a:off x="6496095" y="3209739"/>
              <a:ext cx="391471" cy="10576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1" name="Rechteck 120">
              <a:extLst>
                <a:ext uri="{FF2B5EF4-FFF2-40B4-BE49-F238E27FC236}">
                  <a16:creationId xmlns:a16="http://schemas.microsoft.com/office/drawing/2014/main" id="{092FF1ED-D333-1137-DD62-BB1F090B757F}"/>
                </a:ext>
              </a:extLst>
            </p:cNvPr>
            <p:cNvSpPr/>
            <p:nvPr/>
          </p:nvSpPr>
          <p:spPr>
            <a:xfrm>
              <a:off x="5516346" y="3308888"/>
              <a:ext cx="458364"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2" name="Rechteck 121">
              <a:extLst>
                <a:ext uri="{FF2B5EF4-FFF2-40B4-BE49-F238E27FC236}">
                  <a16:creationId xmlns:a16="http://schemas.microsoft.com/office/drawing/2014/main" id="{F97EC086-629B-96F1-BDCB-2B8D339DFCD1}"/>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3" name="Rechteck 122">
              <a:extLst>
                <a:ext uri="{FF2B5EF4-FFF2-40B4-BE49-F238E27FC236}">
                  <a16:creationId xmlns:a16="http://schemas.microsoft.com/office/drawing/2014/main" id="{3CEFAAD9-8A35-8B9B-7DCE-49D722B93ABD}"/>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4" name="Rechteck 123">
              <a:extLst>
                <a:ext uri="{FF2B5EF4-FFF2-40B4-BE49-F238E27FC236}">
                  <a16:creationId xmlns:a16="http://schemas.microsoft.com/office/drawing/2014/main" id="{73BF580F-78DE-34A9-4022-645E80C0C913}"/>
                </a:ext>
              </a:extLst>
            </p:cNvPr>
            <p:cNvSpPr/>
            <p:nvPr/>
          </p:nvSpPr>
          <p:spPr>
            <a:xfrm>
              <a:off x="5961096" y="2992042"/>
              <a:ext cx="71719" cy="42999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5" name="Rechteck 124">
              <a:extLst>
                <a:ext uri="{FF2B5EF4-FFF2-40B4-BE49-F238E27FC236}">
                  <a16:creationId xmlns:a16="http://schemas.microsoft.com/office/drawing/2014/main" id="{DAD27E85-28D0-4482-F55A-1C6A92BD3B26}"/>
                </a:ext>
              </a:extLst>
            </p:cNvPr>
            <p:cNvSpPr/>
            <p:nvPr/>
          </p:nvSpPr>
          <p:spPr>
            <a:xfrm>
              <a:off x="5961095" y="2957042"/>
              <a:ext cx="535000"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grpSp>
      <p:sp>
        <p:nvSpPr>
          <p:cNvPr id="2" name="Titel 1">
            <a:extLst>
              <a:ext uri="{FF2B5EF4-FFF2-40B4-BE49-F238E27FC236}">
                <a16:creationId xmlns:a16="http://schemas.microsoft.com/office/drawing/2014/main" id="{FFA27DA5-6F21-DD75-8FF1-827BB5404231}"/>
              </a:ext>
            </a:extLst>
          </p:cNvPr>
          <p:cNvSpPr>
            <a:spLocks noGrp="1"/>
          </p:cNvSpPr>
          <p:nvPr>
            <p:ph type="title"/>
          </p:nvPr>
        </p:nvSpPr>
        <p:spPr>
          <a:xfrm>
            <a:off x="636104" y="1406526"/>
            <a:ext cx="5184747" cy="829455"/>
          </a:xfrm>
        </p:spPr>
        <p:txBody>
          <a:bodyPr/>
          <a:lstStyle/>
          <a:p>
            <a:r>
              <a:rPr lang="de-DE" dirty="0"/>
              <a:t>Thermisches Energiemodell</a:t>
            </a:r>
          </a:p>
        </p:txBody>
      </p:sp>
      <mc:AlternateContent xmlns:mc="http://schemas.openxmlformats.org/markup-compatibility/2006" xmlns:a14="http://schemas.microsoft.com/office/drawing/2010/main">
        <mc:Choice Requires="a14">
          <p:sp>
            <p:nvSpPr>
              <p:cNvPr id="3" name="Textplatzhalter 2">
                <a:extLst>
                  <a:ext uri="{FF2B5EF4-FFF2-40B4-BE49-F238E27FC236}">
                    <a16:creationId xmlns:a16="http://schemas.microsoft.com/office/drawing/2014/main" id="{ECC2CB68-0290-CEE4-8C2B-218FC5945A00}"/>
                  </a:ext>
                </a:extLst>
              </p:cNvPr>
              <p:cNvSpPr>
                <a:spLocks noGrp="1"/>
              </p:cNvSpPr>
              <p:nvPr>
                <p:ph type="body" sz="quarter" idx="13"/>
              </p:nvPr>
            </p:nvSpPr>
            <p:spPr>
              <a:xfrm>
                <a:off x="627826" y="2164801"/>
                <a:ext cx="3298535" cy="3977767"/>
              </a:xfrm>
            </p:spPr>
            <p:txBody>
              <a:bodyPr/>
              <a:lstStyle/>
              <a:p>
                <a:pPr marL="0" indent="0" defTabSz="107993">
                  <a:buNone/>
                </a:pPr>
                <a:r>
                  <a:rPr lang="de-DE" sz="1200" dirty="0"/>
                  <a:t>Gemäß ÖNORM B 8110 6-1 Dynamisches Verfahren</a:t>
                </a:r>
              </a:p>
              <a:p>
                <a:pPr marL="0" indent="0" defTabSz="107993">
                  <a:buNone/>
                </a:pPr>
                <a:r>
                  <a:rPr lang="de-DE" sz="1200" b="1" dirty="0"/>
                  <a:t>Zwei</a:t>
                </a:r>
                <a:r>
                  <a:rPr lang="de-DE" sz="1200" dirty="0"/>
                  <a:t> thermisch entkoppelte Zonen:</a:t>
                </a:r>
                <a:br>
                  <a:rPr lang="de-DE" sz="1200" dirty="0"/>
                </a:br>
                <a:r>
                  <a:rPr lang="de-DE" sz="1200" dirty="0"/>
                  <a:t>🥵 Ohne aktiver Kühlung </a:t>
                </a:r>
                <a:br>
                  <a:rPr lang="de-DE" sz="1200" dirty="0"/>
                </a:br>
                <a:r>
                  <a:rPr lang="de-DE" sz="1200" dirty="0"/>
                  <a:t>❄️ Mit aktiver Kühlung</a:t>
                </a:r>
              </a:p>
              <a:p>
                <a:pPr marL="0" indent="0" defTabSz="107993">
                  <a:buNone/>
                </a:pPr>
                <a14:m>
                  <m:oMath xmlns:m="http://schemas.openxmlformats.org/officeDocument/2006/math">
                    <m:r>
                      <a:rPr lang="de-DE" sz="1200" i="1">
                        <a:latin typeface="Cambria Math" panose="02040503050406030204" pitchFamily="18" charset="0"/>
                      </a:rPr>
                      <m:t>🌦️</m:t>
                    </m:r>
                    <m:sSub>
                      <m:sSubPr>
                        <m:ctrlPr>
                          <a:rPr lang="de-DE" sz="1200" i="1">
                            <a:latin typeface="Cambria Math" panose="02040503050406030204" pitchFamily="18" charset="0"/>
                          </a:rPr>
                        </m:ctrlPr>
                      </m:sSubPr>
                      <m:e>
                        <m:r>
                          <a:rPr lang="de-DE" sz="1200" i="1">
                            <a:latin typeface="Cambria Math" panose="02040503050406030204" pitchFamily="18" charset="0"/>
                          </a:rPr>
                          <m:t>𝑇</m:t>
                        </m:r>
                      </m:e>
                      <m:sub>
                        <m:r>
                          <a:rPr lang="de-DE" sz="1200" i="1">
                            <a:latin typeface="Cambria Math" panose="02040503050406030204" pitchFamily="18" charset="0"/>
                          </a:rPr>
                          <m:t>𝐴</m:t>
                        </m:r>
                      </m:sub>
                    </m:sSub>
                  </m:oMath>
                </a14:m>
                <a:r>
                  <a:rPr lang="de-DE" sz="1200" dirty="0"/>
                  <a:t> 		… Außentemperatur</a:t>
                </a:r>
                <a:br>
                  <a:rPr lang="de-DE" sz="1200" i="1" dirty="0">
                    <a:latin typeface="Cambria Math" panose="02040503050406030204" pitchFamily="18" charset="0"/>
                  </a:rPr>
                </a:br>
                <a:r>
                  <a:rPr lang="de-DE" sz="1200"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𝑇</m:t>
                        </m:r>
                      </m:e>
                      <m:sub>
                        <m:r>
                          <a:rPr lang="de-DE" sz="1200" i="1">
                            <a:latin typeface="Cambria Math" panose="02040503050406030204" pitchFamily="18" charset="0"/>
                          </a:rPr>
                          <m:t>𝑖</m:t>
                        </m:r>
                        <m:r>
                          <a:rPr lang="de-DE" sz="1200" i="1">
                            <a:latin typeface="Cambria Math" panose="02040503050406030204" pitchFamily="18" charset="0"/>
                          </a:rPr>
                          <m:t>,</m:t>
                        </m:r>
                        <m:r>
                          <a:rPr lang="de-DE" sz="1200" i="1">
                            <a:latin typeface="Cambria Math" panose="02040503050406030204" pitchFamily="18" charset="0"/>
                          </a:rPr>
                          <m:t>𝑢</m:t>
                        </m:r>
                      </m:sub>
                    </m:sSub>
                  </m:oMath>
                </a14:m>
                <a:r>
                  <a:rPr lang="de-DE" sz="1200" dirty="0"/>
                  <a:t> 	… Innentemperatur ungekühlter Bereich</a:t>
                </a:r>
                <a:br>
                  <a:rPr lang="de-DE" sz="1200" i="1" dirty="0">
                    <a:latin typeface="Cambria Math" panose="02040503050406030204" pitchFamily="18" charset="0"/>
                  </a:rPr>
                </a:br>
                <a:r>
                  <a:rPr lang="de-DE" sz="1200"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𝑇</m:t>
                        </m:r>
                      </m:e>
                      <m:sub>
                        <m:r>
                          <a:rPr lang="de-DE" sz="1200" i="1">
                            <a:latin typeface="Cambria Math" panose="02040503050406030204" pitchFamily="18" charset="0"/>
                          </a:rPr>
                          <m:t>𝑖</m:t>
                        </m:r>
                        <m:r>
                          <a:rPr lang="de-DE" sz="1200" i="1">
                            <a:latin typeface="Cambria Math" panose="02040503050406030204" pitchFamily="18" charset="0"/>
                          </a:rPr>
                          <m:t>,</m:t>
                        </m:r>
                        <m:r>
                          <a:rPr lang="de-DE" sz="1200" i="1">
                            <a:latin typeface="Cambria Math" panose="02040503050406030204" pitchFamily="18" charset="0"/>
                          </a:rPr>
                          <m:t>𝑐</m:t>
                        </m:r>
                      </m:sub>
                    </m:sSub>
                  </m:oMath>
                </a14:m>
                <a:r>
                  <a:rPr lang="de-DE" sz="1200" dirty="0"/>
                  <a:t> 	… Innentemperatur gekühlt Bereich</a:t>
                </a:r>
              </a:p>
              <a:p>
                <a:pPr marL="0" indent="0" defTabSz="107993">
                  <a:buNone/>
                </a:pPr>
                <a:r>
                  <a:rPr lang="de-DE" sz="1200" b="1" dirty="0"/>
                  <a:t>Wärmeflüsse</a:t>
                </a:r>
                <a:br>
                  <a:rPr lang="de-DE" sz="1200" b="1" dirty="0"/>
                </a:br>
                <a:r>
                  <a:rPr lang="de-DE" sz="1200" b="1"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𝑇</m:t>
                        </m:r>
                      </m:sub>
                    </m:sSub>
                  </m:oMath>
                </a14:m>
                <a:r>
                  <a:rPr lang="de-DE" sz="1200" dirty="0"/>
                  <a:t> 		… Transmissionswärmeverluste</a:t>
                </a:r>
                <a:br>
                  <a:rPr lang="de-DE" sz="1200" b="1" dirty="0"/>
                </a:br>
                <a:r>
                  <a:rPr lang="de-DE" sz="1200" b="1"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𝑉</m:t>
                        </m:r>
                      </m:sub>
                    </m:sSub>
                  </m:oMath>
                </a14:m>
                <a:r>
                  <a:rPr lang="de-DE" sz="1200" dirty="0"/>
                  <a:t> 		… Lüftungsverluste (Aktiver LW, Infiltration</a:t>
                </a:r>
                <a:br>
                  <a:rPr lang="de-DE" sz="1200" b="1" dirty="0"/>
                </a:br>
                <a:r>
                  <a:rPr lang="de-DE" sz="1200" b="1"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𝑛𝑉</m:t>
                        </m:r>
                      </m:sub>
                    </m:sSub>
                  </m:oMath>
                </a14:m>
                <a:r>
                  <a:rPr lang="de-DE" sz="1200" dirty="0"/>
                  <a:t> 	… Nachtlüftung (nur 🥵 Zone)</a:t>
                </a:r>
                <a:br>
                  <a:rPr lang="de-DE" sz="1200" b="1" dirty="0"/>
                </a:br>
                <a:r>
                  <a:rPr lang="de-DE" sz="1200"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𝑆</m:t>
                        </m:r>
                      </m:sub>
                    </m:sSub>
                  </m:oMath>
                </a14:m>
                <a:r>
                  <a:rPr lang="de-DE" sz="1200" dirty="0"/>
                  <a:t> 		… Solare Gewinne (Fenster)</a:t>
                </a:r>
                <a:r>
                  <a:rPr lang="de-DE" sz="1200" b="1" dirty="0"/>
                  <a:t> </a:t>
                </a:r>
                <a:br>
                  <a:rPr lang="de-DE" sz="1200" b="1" dirty="0"/>
                </a:br>
                <a:r>
                  <a:rPr lang="de-DE" sz="1200" b="1"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𝐼</m:t>
                        </m:r>
                      </m:sub>
                    </m:sSub>
                  </m:oMath>
                </a14:m>
                <a:r>
                  <a:rPr lang="de-DE" sz="1200" dirty="0"/>
                  <a:t> 		… Innere Gewinne (Nutzer, …)</a:t>
                </a:r>
                <a:br>
                  <a:rPr lang="de-DE" sz="1200" i="1" dirty="0">
                    <a:latin typeface="Cambria Math" panose="02040503050406030204" pitchFamily="18" charset="0"/>
                  </a:rPr>
                </a:br>
                <a:r>
                  <a:rPr lang="de-DE" sz="1200" dirty="0">
                    <a:latin typeface="Cambria Math" panose="02040503050406030204" pitchFamily="18" charset="0"/>
                  </a:rPr>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𝐻</m:t>
                        </m:r>
                      </m:sub>
                    </m:sSub>
                  </m:oMath>
                </a14:m>
                <a:r>
                  <a:rPr lang="de-DE" sz="1200" dirty="0"/>
                  <a:t> 	… Heizung</a:t>
                </a:r>
                <a:br>
                  <a:rPr lang="de-DE" sz="1200" b="1" dirty="0"/>
                </a:br>
                <a:r>
                  <a:rPr lang="de-DE" sz="1200"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𝐶</m:t>
                        </m:r>
                      </m:sub>
                    </m:sSub>
                  </m:oMath>
                </a14:m>
                <a:r>
                  <a:rPr lang="de-DE" sz="1200" dirty="0"/>
                  <a:t> 		… Kühlung (Nur ❄️ Zone)</a:t>
                </a:r>
              </a:p>
              <a:p>
                <a:pPr marL="0" indent="0" defTabSz="107993">
                  <a:buNone/>
                </a:pPr>
                <a:r>
                  <a:rPr lang="de-DE" sz="1200" b="1" dirty="0"/>
                  <a:t>Thermische Hülle </a:t>
                </a:r>
                <a:r>
                  <a:rPr lang="de-DE" sz="1200" dirty="0"/>
                  <a:t>(Wärmebilanzgrenze)</a:t>
                </a:r>
                <a:br>
                  <a:rPr lang="de-DE" sz="1200" dirty="0"/>
                </a:br>
                <a:r>
                  <a:rPr lang="de-DE" sz="1200" dirty="0"/>
                  <a:t>🟥Außenwände</a:t>
                </a:r>
                <a:br>
                  <a:rPr lang="de-DE" sz="1200" dirty="0"/>
                </a:br>
                <a:r>
                  <a:rPr lang="de-DE" sz="1200" dirty="0"/>
                  <a:t>🟫Kellerdecke / Erdberührter Fußboden</a:t>
                </a:r>
                <a:br>
                  <a:rPr lang="de-DE" sz="1200" dirty="0"/>
                </a:br>
                <a:r>
                  <a:rPr lang="de-DE" sz="1200" dirty="0"/>
                  <a:t>🟩Dach</a:t>
                </a:r>
                <a:br>
                  <a:rPr lang="de-DE" sz="1200" dirty="0"/>
                </a:br>
                <a:r>
                  <a:rPr lang="de-DE" sz="1200" dirty="0"/>
                  <a:t>🟦Fenster (je 4 Himmelsrichtungen)</a:t>
                </a:r>
              </a:p>
              <a:p>
                <a:pPr marL="0" indent="0" defTabSz="107993">
                  <a:buNone/>
                </a:pPr>
                <a:endParaRPr lang="de-DE" sz="1200" dirty="0"/>
              </a:p>
              <a:p>
                <a:pPr marL="0" indent="0" defTabSz="107993">
                  <a:buNone/>
                </a:pPr>
                <a:endParaRPr lang="de-DE" sz="1200" dirty="0"/>
              </a:p>
              <a:p>
                <a:pPr marL="0" indent="0" defTabSz="107993">
                  <a:buNone/>
                </a:pPr>
                <a:endParaRPr lang="de-DE" sz="1200" dirty="0"/>
              </a:p>
            </p:txBody>
          </p:sp>
        </mc:Choice>
        <mc:Fallback xmlns="">
          <p:sp>
            <p:nvSpPr>
              <p:cNvPr id="3" name="Textplatzhalter 2">
                <a:extLst>
                  <a:ext uri="{FF2B5EF4-FFF2-40B4-BE49-F238E27FC236}">
                    <a16:creationId xmlns:a16="http://schemas.microsoft.com/office/drawing/2014/main" id="{ECC2CB68-0290-CEE4-8C2B-218FC5945A00}"/>
                  </a:ext>
                </a:extLst>
              </p:cNvPr>
              <p:cNvSpPr>
                <a:spLocks noGrp="1" noRot="1" noChangeAspect="1" noMove="1" noResize="1" noEditPoints="1" noAdjustHandles="1" noChangeArrowheads="1" noChangeShapeType="1" noTextEdit="1"/>
              </p:cNvSpPr>
              <p:nvPr>
                <p:ph type="body" sz="quarter" idx="13"/>
              </p:nvPr>
            </p:nvSpPr>
            <p:spPr>
              <a:xfrm>
                <a:off x="627826" y="2164801"/>
                <a:ext cx="3298535" cy="3977767"/>
              </a:xfrm>
              <a:blipFill>
                <a:blip r:embed="rId6"/>
                <a:stretch>
                  <a:fillRect l="-2957" t="-1225" b="-2603"/>
                </a:stretch>
              </a:blipFill>
            </p:spPr>
            <p:txBody>
              <a:bodyPr/>
              <a:lstStyle/>
              <a:p>
                <a:r>
                  <a:rPr lang="de-DE">
                    <a:noFill/>
                  </a:rPr>
                  <a:t> </a:t>
                </a:r>
              </a:p>
            </p:txBody>
          </p:sp>
        </mc:Fallback>
      </mc:AlternateContent>
      <p:sp>
        <p:nvSpPr>
          <p:cNvPr id="5" name="Foliennummernplatzhalter 4">
            <a:extLst>
              <a:ext uri="{FF2B5EF4-FFF2-40B4-BE49-F238E27FC236}">
                <a16:creationId xmlns:a16="http://schemas.microsoft.com/office/drawing/2014/main" id="{E9DC9620-59A4-1315-50B1-4699FE18EF45}"/>
              </a:ext>
            </a:extLst>
          </p:cNvPr>
          <p:cNvSpPr>
            <a:spLocks noGrp="1"/>
          </p:cNvSpPr>
          <p:nvPr>
            <p:ph type="sldNum" sz="quarter" idx="12"/>
          </p:nvPr>
        </p:nvSpPr>
        <p:spPr/>
        <p:txBody>
          <a:bodyPr/>
          <a:lstStyle/>
          <a:p>
            <a:fld id="{1206269C-C24E-4E80-9A4B-E7E19BB59A67}" type="slidenum">
              <a:rPr lang="de-AT" smtClean="0"/>
              <a:pPr/>
              <a:t>11</a:t>
            </a:fld>
            <a:endParaRPr lang="de-AT" dirty="0"/>
          </a:p>
        </p:txBody>
      </p:sp>
      <p:pic>
        <p:nvPicPr>
          <p:cNvPr id="6" name="Grafik 5" descr="Ein Bild, das Text, Schrift, Software, Webseite enthält.&#10;&#10;KI-generierte Inhalte können fehlerhaft sein.">
            <a:extLst>
              <a:ext uri="{FF2B5EF4-FFF2-40B4-BE49-F238E27FC236}">
                <a16:creationId xmlns:a16="http://schemas.microsoft.com/office/drawing/2014/main" id="{057976D1-D1B9-3A03-B934-D4199DAF36B6}"/>
              </a:ext>
            </a:extLst>
          </p:cNvPr>
          <p:cNvPicPr>
            <a:picLocks noChangeAspect="1"/>
          </p:cNvPicPr>
          <p:nvPr/>
        </p:nvPicPr>
        <p:blipFill>
          <a:blip r:embed="rId7"/>
          <a:stretch>
            <a:fillRect/>
          </a:stretch>
        </p:blipFill>
        <p:spPr>
          <a:xfrm>
            <a:off x="4002312" y="4722524"/>
            <a:ext cx="5252295" cy="2012250"/>
          </a:xfrm>
          <a:prstGeom prst="rect">
            <a:avLst/>
          </a:prstGeom>
          <a:ln>
            <a:solidFill>
              <a:schemeClr val="tx1"/>
            </a:solidFill>
          </a:ln>
        </p:spPr>
      </p:pic>
      <mc:AlternateContent xmlns:mc="http://schemas.openxmlformats.org/markup-compatibility/2006" xmlns:a14="http://schemas.microsoft.com/office/drawing/2010/main">
        <mc:Choice Requires="a14">
          <p:sp>
            <p:nvSpPr>
              <p:cNvPr id="43" name="Pfeil: nach rechts 42">
                <a:extLst>
                  <a:ext uri="{FF2B5EF4-FFF2-40B4-BE49-F238E27FC236}">
                    <a16:creationId xmlns:a16="http://schemas.microsoft.com/office/drawing/2014/main" id="{1578E240-F8F8-9C29-9E58-5B7494DF8022}"/>
                  </a:ext>
                </a:extLst>
              </p:cNvPr>
              <p:cNvSpPr/>
              <p:nvPr/>
            </p:nvSpPr>
            <p:spPr>
              <a:xfrm>
                <a:off x="4125706" y="2284601"/>
                <a:ext cx="985340" cy="508940"/>
              </a:xfrm>
              <a:prstGeom prst="rightArrow">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𝑠</m:t>
                        </m:r>
                      </m:sub>
                    </m:sSub>
                  </m:oMath>
                </a14:m>
                <a:endParaRPr lang="de-AT" dirty="0"/>
              </a:p>
            </p:txBody>
          </p:sp>
        </mc:Choice>
        <mc:Fallback xmlns="">
          <p:sp>
            <p:nvSpPr>
              <p:cNvPr id="43" name="Pfeil: nach rechts 42">
                <a:extLst>
                  <a:ext uri="{FF2B5EF4-FFF2-40B4-BE49-F238E27FC236}">
                    <a16:creationId xmlns:a16="http://schemas.microsoft.com/office/drawing/2014/main" id="{1578E240-F8F8-9C29-9E58-5B7494DF8022}"/>
                  </a:ext>
                </a:extLst>
              </p:cNvPr>
              <p:cNvSpPr>
                <a:spLocks noRot="1" noChangeAspect="1" noMove="1" noResize="1" noEditPoints="1" noAdjustHandles="1" noChangeArrowheads="1" noChangeShapeType="1" noTextEdit="1"/>
              </p:cNvSpPr>
              <p:nvPr/>
            </p:nvSpPr>
            <p:spPr>
              <a:xfrm>
                <a:off x="4125706" y="2284601"/>
                <a:ext cx="985340" cy="508940"/>
              </a:xfrm>
              <a:prstGeom prst="rightArrow">
                <a:avLst/>
              </a:prstGeom>
              <a:blipFill>
                <a:blip r:embed="rId8"/>
                <a:stretch>
                  <a:fillRect b="-4819"/>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5" name="Pfeil: nach links und rechts 44">
                <a:extLst>
                  <a:ext uri="{FF2B5EF4-FFF2-40B4-BE49-F238E27FC236}">
                    <a16:creationId xmlns:a16="http://schemas.microsoft.com/office/drawing/2014/main" id="{CFB06A3F-F80A-4B98-FF48-0C48BEA5730E}"/>
                  </a:ext>
                </a:extLst>
              </p:cNvPr>
              <p:cNvSpPr/>
              <p:nvPr/>
            </p:nvSpPr>
            <p:spPr>
              <a:xfrm>
                <a:off x="3646203" y="3782037"/>
                <a:ext cx="981346" cy="515110"/>
              </a:xfrm>
              <a:prstGeom prst="lef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𝑇</m:t>
                        </m:r>
                      </m:sub>
                    </m:sSub>
                  </m:oMath>
                </a14:m>
                <a:endParaRPr lang="de-AT" dirty="0"/>
              </a:p>
            </p:txBody>
          </p:sp>
        </mc:Choice>
        <mc:Fallback xmlns="">
          <p:sp>
            <p:nvSpPr>
              <p:cNvPr id="45" name="Pfeil: nach links und rechts 44">
                <a:extLst>
                  <a:ext uri="{FF2B5EF4-FFF2-40B4-BE49-F238E27FC236}">
                    <a16:creationId xmlns:a16="http://schemas.microsoft.com/office/drawing/2014/main" id="{CFB06A3F-F80A-4B98-FF48-0C48BEA5730E}"/>
                  </a:ext>
                </a:extLst>
              </p:cNvPr>
              <p:cNvSpPr>
                <a:spLocks noRot="1" noChangeAspect="1" noMove="1" noResize="1" noEditPoints="1" noAdjustHandles="1" noChangeArrowheads="1" noChangeShapeType="1" noTextEdit="1"/>
              </p:cNvSpPr>
              <p:nvPr/>
            </p:nvSpPr>
            <p:spPr>
              <a:xfrm>
                <a:off x="3646203" y="3782037"/>
                <a:ext cx="981346" cy="515110"/>
              </a:xfrm>
              <a:prstGeom prst="leftRightArrow">
                <a:avLst/>
              </a:prstGeom>
              <a:blipFill>
                <a:blip r:embed="rId9"/>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6" name="Pfeil: nach links und rechts 45">
                <a:extLst>
                  <a:ext uri="{FF2B5EF4-FFF2-40B4-BE49-F238E27FC236}">
                    <a16:creationId xmlns:a16="http://schemas.microsoft.com/office/drawing/2014/main" id="{384F4A0F-5C30-D258-CA1D-5FAA30C584DC}"/>
                  </a:ext>
                </a:extLst>
              </p:cNvPr>
              <p:cNvSpPr/>
              <p:nvPr/>
            </p:nvSpPr>
            <p:spPr>
              <a:xfrm>
                <a:off x="3643468" y="3519964"/>
                <a:ext cx="981346" cy="515110"/>
              </a:xfrm>
              <a:prstGeom prst="leftRightArrow">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𝑉</m:t>
                        </m:r>
                      </m:sub>
                    </m:sSub>
                  </m:oMath>
                </a14:m>
                <a:endParaRPr lang="de-AT" dirty="0"/>
              </a:p>
            </p:txBody>
          </p:sp>
        </mc:Choice>
        <mc:Fallback xmlns="">
          <p:sp>
            <p:nvSpPr>
              <p:cNvPr id="46" name="Pfeil: nach links und rechts 45">
                <a:extLst>
                  <a:ext uri="{FF2B5EF4-FFF2-40B4-BE49-F238E27FC236}">
                    <a16:creationId xmlns:a16="http://schemas.microsoft.com/office/drawing/2014/main" id="{384F4A0F-5C30-D258-CA1D-5FAA30C584DC}"/>
                  </a:ext>
                </a:extLst>
              </p:cNvPr>
              <p:cNvSpPr>
                <a:spLocks noRot="1" noChangeAspect="1" noMove="1" noResize="1" noEditPoints="1" noAdjustHandles="1" noChangeArrowheads="1" noChangeShapeType="1" noTextEdit="1"/>
              </p:cNvSpPr>
              <p:nvPr/>
            </p:nvSpPr>
            <p:spPr>
              <a:xfrm>
                <a:off x="3643468" y="3519964"/>
                <a:ext cx="981346" cy="515110"/>
              </a:xfrm>
              <a:prstGeom prst="leftRightArrow">
                <a:avLst/>
              </a:prstGeom>
              <a:blipFill>
                <a:blip r:embed="rId10"/>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7" name="Pfeil: nach rechts 46">
                <a:extLst>
                  <a:ext uri="{FF2B5EF4-FFF2-40B4-BE49-F238E27FC236}">
                    <a16:creationId xmlns:a16="http://schemas.microsoft.com/office/drawing/2014/main" id="{B9134691-046B-2077-94CB-D600C93D8E38}"/>
                  </a:ext>
                </a:extLst>
              </p:cNvPr>
              <p:cNvSpPr/>
              <p:nvPr/>
            </p:nvSpPr>
            <p:spPr>
              <a:xfrm flipH="1">
                <a:off x="5585009" y="3922461"/>
                <a:ext cx="823947" cy="508940"/>
              </a:xfrm>
              <a:prstGeom prst="rightArrow">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𝐼</m:t>
                        </m:r>
                      </m:sub>
                    </m:sSub>
                  </m:oMath>
                </a14:m>
                <a:endParaRPr lang="de-AT" dirty="0"/>
              </a:p>
            </p:txBody>
          </p:sp>
        </mc:Choice>
        <mc:Fallback xmlns="">
          <p:sp>
            <p:nvSpPr>
              <p:cNvPr id="47" name="Pfeil: nach rechts 46">
                <a:extLst>
                  <a:ext uri="{FF2B5EF4-FFF2-40B4-BE49-F238E27FC236}">
                    <a16:creationId xmlns:a16="http://schemas.microsoft.com/office/drawing/2014/main" id="{B9134691-046B-2077-94CB-D600C93D8E38}"/>
                  </a:ext>
                </a:extLst>
              </p:cNvPr>
              <p:cNvSpPr>
                <a:spLocks noRot="1" noChangeAspect="1" noMove="1" noResize="1" noEditPoints="1" noAdjustHandles="1" noChangeArrowheads="1" noChangeShapeType="1" noTextEdit="1"/>
              </p:cNvSpPr>
              <p:nvPr/>
            </p:nvSpPr>
            <p:spPr>
              <a:xfrm flipH="1">
                <a:off x="5585009" y="3922461"/>
                <a:ext cx="823947" cy="508940"/>
              </a:xfrm>
              <a:prstGeom prst="rightArrow">
                <a:avLst/>
              </a:prstGeom>
              <a:blipFill>
                <a:blip r:embed="rId11"/>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7" name="Pfeil: nach rechts 66">
                <a:extLst>
                  <a:ext uri="{FF2B5EF4-FFF2-40B4-BE49-F238E27FC236}">
                    <a16:creationId xmlns:a16="http://schemas.microsoft.com/office/drawing/2014/main" id="{08F31223-ACC7-D81C-E993-B78CDE62E568}"/>
                  </a:ext>
                </a:extLst>
              </p:cNvPr>
              <p:cNvSpPr/>
              <p:nvPr/>
            </p:nvSpPr>
            <p:spPr>
              <a:xfrm flipH="1">
                <a:off x="3655092" y="2983555"/>
                <a:ext cx="949789" cy="508940"/>
              </a:xfrm>
              <a:prstGeom prst="rightArrow">
                <a:avLst/>
              </a:prstGeom>
              <a:solidFill>
                <a:srgbClr val="4760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𝑛𝑉</m:t>
                        </m:r>
                      </m:sub>
                    </m:sSub>
                  </m:oMath>
                </a14:m>
                <a:endParaRPr lang="de-AT" dirty="0"/>
              </a:p>
            </p:txBody>
          </p:sp>
        </mc:Choice>
        <mc:Fallback xmlns="">
          <p:sp>
            <p:nvSpPr>
              <p:cNvPr id="67" name="Pfeil: nach rechts 66">
                <a:extLst>
                  <a:ext uri="{FF2B5EF4-FFF2-40B4-BE49-F238E27FC236}">
                    <a16:creationId xmlns:a16="http://schemas.microsoft.com/office/drawing/2014/main" id="{08F31223-ACC7-D81C-E993-B78CDE62E568}"/>
                  </a:ext>
                </a:extLst>
              </p:cNvPr>
              <p:cNvSpPr>
                <a:spLocks noRot="1" noChangeAspect="1" noMove="1" noResize="1" noEditPoints="1" noAdjustHandles="1" noChangeArrowheads="1" noChangeShapeType="1" noTextEdit="1"/>
              </p:cNvSpPr>
              <p:nvPr/>
            </p:nvSpPr>
            <p:spPr>
              <a:xfrm flipH="1">
                <a:off x="3655092" y="2983555"/>
                <a:ext cx="949789" cy="508940"/>
              </a:xfrm>
              <a:prstGeom prst="rightArrow">
                <a:avLst/>
              </a:prstGeom>
              <a:blipFill>
                <a:blip r:embed="rId12"/>
                <a:stretch>
                  <a:fillRect/>
                </a:stretch>
              </a:blipFill>
              <a:ln>
                <a:noFill/>
              </a:ln>
            </p:spPr>
            <p:txBody>
              <a:bodyPr/>
              <a:lstStyle/>
              <a:p>
                <a:r>
                  <a:rPr lang="de-DE">
                    <a:noFill/>
                  </a:rPr>
                  <a:t> </a:t>
                </a:r>
              </a:p>
            </p:txBody>
          </p:sp>
        </mc:Fallback>
      </mc:AlternateContent>
      <p:sp>
        <p:nvSpPr>
          <p:cNvPr id="68" name="Rechteck 67">
            <a:extLst>
              <a:ext uri="{FF2B5EF4-FFF2-40B4-BE49-F238E27FC236}">
                <a16:creationId xmlns:a16="http://schemas.microsoft.com/office/drawing/2014/main" id="{E38126C5-9AD9-BF4B-7BD5-3FB60B06591C}"/>
              </a:ext>
            </a:extLst>
          </p:cNvPr>
          <p:cNvSpPr/>
          <p:nvPr/>
        </p:nvSpPr>
        <p:spPr>
          <a:xfrm>
            <a:off x="4774280" y="3132481"/>
            <a:ext cx="905971" cy="825596"/>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18615DD0-2B18-6B53-46A1-B44B5B10537C}"/>
                  </a:ext>
                </a:extLst>
              </p:cNvPr>
              <p:cNvSpPr txBox="1"/>
              <p:nvPr/>
            </p:nvSpPr>
            <p:spPr>
              <a:xfrm>
                <a:off x="4619366" y="3227139"/>
                <a:ext cx="1789591" cy="477888"/>
              </a:xfrm>
              <a:prstGeom prst="rect">
                <a:avLst/>
              </a:prstGeom>
              <a:noFill/>
            </p:spPr>
            <p:txBody>
              <a:bodyPr wrap="square">
                <a:spAutoFit/>
              </a:bodyPr>
              <a:lstStyle/>
              <a:p>
                <a:r>
                  <a:rPr lang="de-DE" sz="2400" dirty="0"/>
                  <a:t>🥵 </a:t>
                </a:r>
                <a14:m>
                  <m:oMath xmlns:m="http://schemas.openxmlformats.org/officeDocument/2006/math">
                    <m:sSub>
                      <m:sSubPr>
                        <m:ctrlPr>
                          <a:rPr lang="de-DE" sz="2400" i="1">
                            <a:latin typeface="Cambria Math" panose="02040503050406030204" pitchFamily="18" charset="0"/>
                          </a:rPr>
                        </m:ctrlPr>
                      </m:sSubPr>
                      <m:e>
                        <m:r>
                          <a:rPr lang="de-DE" sz="2400" i="1">
                            <a:latin typeface="Cambria Math" panose="02040503050406030204" pitchFamily="18" charset="0"/>
                          </a:rPr>
                          <m:t>𝑇</m:t>
                        </m:r>
                      </m:e>
                      <m:sub>
                        <m:r>
                          <a:rPr lang="de-DE" sz="2400" i="1">
                            <a:latin typeface="Cambria Math" panose="02040503050406030204" pitchFamily="18" charset="0"/>
                          </a:rPr>
                          <m:t>𝑖</m:t>
                        </m:r>
                        <m:r>
                          <a:rPr lang="de-DE" sz="2400" i="1">
                            <a:latin typeface="Cambria Math" panose="02040503050406030204" pitchFamily="18" charset="0"/>
                          </a:rPr>
                          <m:t>, </m:t>
                        </m:r>
                        <m:r>
                          <a:rPr lang="de-DE" sz="2400" i="1">
                            <a:latin typeface="Cambria Math" panose="02040503050406030204" pitchFamily="18" charset="0"/>
                          </a:rPr>
                          <m:t>𝑢</m:t>
                        </m:r>
                      </m:sub>
                    </m:sSub>
                  </m:oMath>
                </a14:m>
                <a:endParaRPr lang="de-AT" sz="2400" dirty="0"/>
              </a:p>
            </p:txBody>
          </p:sp>
        </mc:Choice>
        <mc:Fallback xmlns="">
          <p:sp>
            <p:nvSpPr>
              <p:cNvPr id="11" name="Textfeld 10">
                <a:extLst>
                  <a:ext uri="{FF2B5EF4-FFF2-40B4-BE49-F238E27FC236}">
                    <a16:creationId xmlns:a16="http://schemas.microsoft.com/office/drawing/2014/main" id="{18615DD0-2B18-6B53-46A1-B44B5B10537C}"/>
                  </a:ext>
                </a:extLst>
              </p:cNvPr>
              <p:cNvSpPr txBox="1">
                <a:spLocks noRot="1" noChangeAspect="1" noMove="1" noResize="1" noEditPoints="1" noAdjustHandles="1" noChangeArrowheads="1" noChangeShapeType="1" noTextEdit="1"/>
              </p:cNvSpPr>
              <p:nvPr/>
            </p:nvSpPr>
            <p:spPr>
              <a:xfrm>
                <a:off x="4619366" y="3227139"/>
                <a:ext cx="1789591" cy="477888"/>
              </a:xfrm>
              <a:prstGeom prst="rect">
                <a:avLst/>
              </a:prstGeom>
              <a:blipFill>
                <a:blip r:embed="rId13"/>
                <a:stretch>
                  <a:fillRect l="-5461" t="-10127" b="-24051"/>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3" name="Pfeil: nach rechts 62">
                <a:extLst>
                  <a:ext uri="{FF2B5EF4-FFF2-40B4-BE49-F238E27FC236}">
                    <a16:creationId xmlns:a16="http://schemas.microsoft.com/office/drawing/2014/main" id="{4DE4B366-311F-F171-7D1D-79349D708D9E}"/>
                  </a:ext>
                </a:extLst>
              </p:cNvPr>
              <p:cNvSpPr/>
              <p:nvPr/>
            </p:nvSpPr>
            <p:spPr>
              <a:xfrm>
                <a:off x="6971627" y="2266941"/>
                <a:ext cx="985340" cy="508940"/>
              </a:xfrm>
              <a:prstGeom prst="rightArrow">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𝑠</m:t>
                        </m:r>
                      </m:sub>
                    </m:sSub>
                  </m:oMath>
                </a14:m>
                <a:endParaRPr lang="de-AT" dirty="0"/>
              </a:p>
            </p:txBody>
          </p:sp>
        </mc:Choice>
        <mc:Fallback xmlns="">
          <p:sp>
            <p:nvSpPr>
              <p:cNvPr id="63" name="Pfeil: nach rechts 62">
                <a:extLst>
                  <a:ext uri="{FF2B5EF4-FFF2-40B4-BE49-F238E27FC236}">
                    <a16:creationId xmlns:a16="http://schemas.microsoft.com/office/drawing/2014/main" id="{4DE4B366-311F-F171-7D1D-79349D708D9E}"/>
                  </a:ext>
                </a:extLst>
              </p:cNvPr>
              <p:cNvSpPr>
                <a:spLocks noRot="1" noChangeAspect="1" noMove="1" noResize="1" noEditPoints="1" noAdjustHandles="1" noChangeArrowheads="1" noChangeShapeType="1" noTextEdit="1"/>
              </p:cNvSpPr>
              <p:nvPr/>
            </p:nvSpPr>
            <p:spPr>
              <a:xfrm>
                <a:off x="6971627" y="2266941"/>
                <a:ext cx="985340" cy="508940"/>
              </a:xfrm>
              <a:prstGeom prst="rightArrow">
                <a:avLst/>
              </a:prstGeom>
              <a:blipFill>
                <a:blip r:embed="rId14"/>
                <a:stretch>
                  <a:fillRect l="-1863" b="-6024"/>
                </a:stretch>
              </a:blipFill>
              <a:ln>
                <a:noFill/>
              </a:ln>
            </p:spPr>
            <p:txBody>
              <a:bodyPr/>
              <a:lstStyle/>
              <a:p>
                <a:r>
                  <a:rPr lang="de-DE">
                    <a:noFill/>
                  </a:rPr>
                  <a:t> </a:t>
                </a:r>
              </a:p>
            </p:txBody>
          </p:sp>
        </mc:Fallback>
      </mc:AlternateContent>
      <p:sp>
        <p:nvSpPr>
          <p:cNvPr id="71" name="Rechteck 70">
            <a:extLst>
              <a:ext uri="{FF2B5EF4-FFF2-40B4-BE49-F238E27FC236}">
                <a16:creationId xmlns:a16="http://schemas.microsoft.com/office/drawing/2014/main" id="{ACE6CE28-2B6D-41BC-4855-0538309486D5}"/>
              </a:ext>
            </a:extLst>
          </p:cNvPr>
          <p:cNvSpPr/>
          <p:nvPr/>
        </p:nvSpPr>
        <p:spPr>
          <a:xfrm>
            <a:off x="7639027" y="3067681"/>
            <a:ext cx="905971" cy="825596"/>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34A17B8B-7BA7-B491-81A8-32109BB43DAA}"/>
                  </a:ext>
                </a:extLst>
              </p:cNvPr>
              <p:cNvSpPr txBox="1"/>
              <p:nvPr/>
            </p:nvSpPr>
            <p:spPr>
              <a:xfrm>
                <a:off x="7370459" y="3246745"/>
                <a:ext cx="1247120" cy="477888"/>
              </a:xfrm>
              <a:prstGeom prst="rect">
                <a:avLst/>
              </a:prstGeom>
              <a:noFill/>
            </p:spPr>
            <p:txBody>
              <a:bodyPr wrap="square">
                <a:spAutoFit/>
              </a:bodyPr>
              <a:lstStyle/>
              <a:p>
                <a:r>
                  <a:rPr lang="de-DE" sz="2400" dirty="0"/>
                  <a:t>❄️</a:t>
                </a:r>
                <a14:m>
                  <m:oMath xmlns:m="http://schemas.openxmlformats.org/officeDocument/2006/math">
                    <m:sSub>
                      <m:sSubPr>
                        <m:ctrlPr>
                          <a:rPr lang="de-DE" sz="2400" i="1">
                            <a:latin typeface="Cambria Math" panose="02040503050406030204" pitchFamily="18" charset="0"/>
                          </a:rPr>
                        </m:ctrlPr>
                      </m:sSubPr>
                      <m:e>
                        <m:r>
                          <a:rPr lang="de-DE" sz="2400" i="1">
                            <a:latin typeface="Cambria Math" panose="02040503050406030204" pitchFamily="18" charset="0"/>
                          </a:rPr>
                          <m:t>𝑇</m:t>
                        </m:r>
                      </m:e>
                      <m:sub>
                        <m:r>
                          <a:rPr lang="de-DE" sz="2400" i="1">
                            <a:latin typeface="Cambria Math" panose="02040503050406030204" pitchFamily="18" charset="0"/>
                          </a:rPr>
                          <m:t>𝑖</m:t>
                        </m:r>
                        <m:r>
                          <a:rPr lang="de-DE" sz="2400" i="1">
                            <a:latin typeface="Cambria Math" panose="02040503050406030204" pitchFamily="18" charset="0"/>
                          </a:rPr>
                          <m:t>, </m:t>
                        </m:r>
                        <m:r>
                          <a:rPr lang="de-DE" sz="2400" i="1">
                            <a:latin typeface="Cambria Math" panose="02040503050406030204" pitchFamily="18" charset="0"/>
                          </a:rPr>
                          <m:t>𝑐</m:t>
                        </m:r>
                      </m:sub>
                    </m:sSub>
                  </m:oMath>
                </a14:m>
                <a:endParaRPr lang="de-AT" sz="2400" dirty="0"/>
              </a:p>
            </p:txBody>
          </p:sp>
        </mc:Choice>
        <mc:Fallback xmlns="">
          <p:sp>
            <p:nvSpPr>
              <p:cNvPr id="13" name="Textfeld 12">
                <a:extLst>
                  <a:ext uri="{FF2B5EF4-FFF2-40B4-BE49-F238E27FC236}">
                    <a16:creationId xmlns:a16="http://schemas.microsoft.com/office/drawing/2014/main" id="{34A17B8B-7BA7-B491-81A8-32109BB43DAA}"/>
                  </a:ext>
                </a:extLst>
              </p:cNvPr>
              <p:cNvSpPr txBox="1">
                <a:spLocks noRot="1" noChangeAspect="1" noMove="1" noResize="1" noEditPoints="1" noAdjustHandles="1" noChangeArrowheads="1" noChangeShapeType="1" noTextEdit="1"/>
              </p:cNvSpPr>
              <p:nvPr/>
            </p:nvSpPr>
            <p:spPr>
              <a:xfrm>
                <a:off x="7370459" y="3246745"/>
                <a:ext cx="1247120" cy="477888"/>
              </a:xfrm>
              <a:prstGeom prst="rect">
                <a:avLst/>
              </a:prstGeom>
              <a:blipFill>
                <a:blip r:embed="rId15"/>
                <a:stretch>
                  <a:fillRect l="-7317" t="-10256" b="-25641"/>
                </a:stretch>
              </a:blipFill>
            </p:spPr>
            <p:txBody>
              <a:bodyPr/>
              <a:lstStyle/>
              <a:p>
                <a:r>
                  <a:rPr lang="de-DE">
                    <a:noFill/>
                  </a:rPr>
                  <a:t> </a:t>
                </a:r>
              </a:p>
            </p:txBody>
          </p:sp>
        </mc:Fallback>
      </mc:AlternateContent>
      <p:sp>
        <p:nvSpPr>
          <p:cNvPr id="75" name="Pfeil: nach oben und unten 74">
            <a:extLst>
              <a:ext uri="{FF2B5EF4-FFF2-40B4-BE49-F238E27FC236}">
                <a16:creationId xmlns:a16="http://schemas.microsoft.com/office/drawing/2014/main" id="{A9CF030D-07D3-3C79-5188-44FDFF4CDC8D}"/>
              </a:ext>
            </a:extLst>
          </p:cNvPr>
          <p:cNvSpPr/>
          <p:nvPr/>
        </p:nvSpPr>
        <p:spPr>
          <a:xfrm rot="5400000">
            <a:off x="6398065" y="2233906"/>
            <a:ext cx="252805" cy="1780375"/>
          </a:xfrm>
          <a:prstGeom prst="upDownArrow">
            <a:avLst>
              <a:gd name="adj1" fmla="val 0"/>
              <a:gd name="adj2" fmla="val 57536"/>
            </a:avLst>
          </a:prstGeom>
          <a:noFill/>
          <a:ln w="28575">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7" name="Textfeld 76">
            <a:extLst>
              <a:ext uri="{FF2B5EF4-FFF2-40B4-BE49-F238E27FC236}">
                <a16:creationId xmlns:a16="http://schemas.microsoft.com/office/drawing/2014/main" id="{2F63C212-3914-AD8C-930A-DB6BC8D502BB}"/>
              </a:ext>
            </a:extLst>
          </p:cNvPr>
          <p:cNvSpPr txBox="1"/>
          <p:nvPr/>
        </p:nvSpPr>
        <p:spPr>
          <a:xfrm>
            <a:off x="5878097" y="2621297"/>
            <a:ext cx="1451038" cy="253916"/>
          </a:xfrm>
          <a:prstGeom prst="rect">
            <a:avLst/>
          </a:prstGeom>
          <a:noFill/>
        </p:spPr>
        <p:txBody>
          <a:bodyPr wrap="none" rtlCol="0">
            <a:spAutoFit/>
          </a:bodyPr>
          <a:lstStyle/>
          <a:p>
            <a:r>
              <a:rPr lang="de-AT" sz="1050" dirty="0"/>
              <a:t>Kein Wärmeaustausch!</a:t>
            </a:r>
          </a:p>
        </p:txBody>
      </p:sp>
      <mc:AlternateContent xmlns:mc="http://schemas.openxmlformats.org/markup-compatibility/2006" xmlns:a14="http://schemas.microsoft.com/office/drawing/2010/main">
        <mc:Choice Requires="a14">
          <p:sp>
            <p:nvSpPr>
              <p:cNvPr id="78" name="Pfeil: nach rechts 77">
                <a:extLst>
                  <a:ext uri="{FF2B5EF4-FFF2-40B4-BE49-F238E27FC236}">
                    <a16:creationId xmlns:a16="http://schemas.microsoft.com/office/drawing/2014/main" id="{CA9A138A-899E-D53A-C4F0-9B68B9AFE4F4}"/>
                  </a:ext>
                </a:extLst>
              </p:cNvPr>
              <p:cNvSpPr/>
              <p:nvPr/>
            </p:nvSpPr>
            <p:spPr>
              <a:xfrm rot="5400000" flipH="1">
                <a:off x="4655759" y="4003593"/>
                <a:ext cx="483876" cy="508940"/>
              </a:xfrm>
              <a:prstGeom prst="rightArrow">
                <a:avLst>
                  <a:gd name="adj1" fmla="val 62165"/>
                  <a:gd name="adj2"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14:m>
                  <m:oMathPara xmlns:m="http://schemas.openxmlformats.org/officeDocument/2006/math">
                    <m:o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𝐻</m:t>
                          </m:r>
                        </m:sub>
                      </m:sSub>
                    </m:oMath>
                  </m:oMathPara>
                </a14:m>
                <a:endParaRPr lang="de-AT" dirty="0"/>
              </a:p>
            </p:txBody>
          </p:sp>
        </mc:Choice>
        <mc:Fallback xmlns="">
          <p:sp>
            <p:nvSpPr>
              <p:cNvPr id="78" name="Pfeil: nach rechts 77">
                <a:extLst>
                  <a:ext uri="{FF2B5EF4-FFF2-40B4-BE49-F238E27FC236}">
                    <a16:creationId xmlns:a16="http://schemas.microsoft.com/office/drawing/2014/main" id="{CA9A138A-899E-D53A-C4F0-9B68B9AFE4F4}"/>
                  </a:ext>
                </a:extLst>
              </p:cNvPr>
              <p:cNvSpPr>
                <a:spLocks noRot="1" noChangeAspect="1" noMove="1" noResize="1" noEditPoints="1" noAdjustHandles="1" noChangeArrowheads="1" noChangeShapeType="1" noTextEdit="1"/>
              </p:cNvSpPr>
              <p:nvPr/>
            </p:nvSpPr>
            <p:spPr>
              <a:xfrm rot="5400000" flipH="1">
                <a:off x="4655759" y="4003593"/>
                <a:ext cx="483876" cy="508940"/>
              </a:xfrm>
              <a:prstGeom prst="rightArrow">
                <a:avLst>
                  <a:gd name="adj1" fmla="val 62165"/>
                  <a:gd name="adj2" fmla="val 50000"/>
                </a:avLst>
              </a:prstGeom>
              <a:blipFill>
                <a:blip r:embed="rId16"/>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0" name="Pfeil: nach rechts 79">
                <a:extLst>
                  <a:ext uri="{FF2B5EF4-FFF2-40B4-BE49-F238E27FC236}">
                    <a16:creationId xmlns:a16="http://schemas.microsoft.com/office/drawing/2014/main" id="{D95B2635-E03A-F24A-9976-F0483E8FFF96}"/>
                  </a:ext>
                </a:extLst>
              </p:cNvPr>
              <p:cNvSpPr/>
              <p:nvPr/>
            </p:nvSpPr>
            <p:spPr>
              <a:xfrm rot="5400000" flipH="1">
                <a:off x="7543645" y="3984578"/>
                <a:ext cx="483876" cy="508940"/>
              </a:xfrm>
              <a:prstGeom prst="rightArrow">
                <a:avLst>
                  <a:gd name="adj1" fmla="val 62165"/>
                  <a:gd name="adj2"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14:m>
                  <m:oMathPara xmlns:m="http://schemas.openxmlformats.org/officeDocument/2006/math">
                    <m:o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𝐻</m:t>
                          </m:r>
                        </m:sub>
                      </m:sSub>
                    </m:oMath>
                  </m:oMathPara>
                </a14:m>
                <a:endParaRPr lang="de-AT" dirty="0"/>
              </a:p>
            </p:txBody>
          </p:sp>
        </mc:Choice>
        <mc:Fallback xmlns="">
          <p:sp>
            <p:nvSpPr>
              <p:cNvPr id="80" name="Pfeil: nach rechts 79">
                <a:extLst>
                  <a:ext uri="{FF2B5EF4-FFF2-40B4-BE49-F238E27FC236}">
                    <a16:creationId xmlns:a16="http://schemas.microsoft.com/office/drawing/2014/main" id="{D95B2635-E03A-F24A-9976-F0483E8FFF96}"/>
                  </a:ext>
                </a:extLst>
              </p:cNvPr>
              <p:cNvSpPr>
                <a:spLocks noRot="1" noChangeAspect="1" noMove="1" noResize="1" noEditPoints="1" noAdjustHandles="1" noChangeArrowheads="1" noChangeShapeType="1" noTextEdit="1"/>
              </p:cNvSpPr>
              <p:nvPr/>
            </p:nvSpPr>
            <p:spPr>
              <a:xfrm rot="5400000" flipH="1">
                <a:off x="7543645" y="3984578"/>
                <a:ext cx="483876" cy="508940"/>
              </a:xfrm>
              <a:prstGeom prst="rightArrow">
                <a:avLst>
                  <a:gd name="adj1" fmla="val 62165"/>
                  <a:gd name="adj2" fmla="val 50000"/>
                </a:avLst>
              </a:prstGeom>
              <a:blipFill>
                <a:blip r:embed="rId17"/>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1" name="Pfeil: nach rechts 80">
                <a:extLst>
                  <a:ext uri="{FF2B5EF4-FFF2-40B4-BE49-F238E27FC236}">
                    <a16:creationId xmlns:a16="http://schemas.microsoft.com/office/drawing/2014/main" id="{E92E7570-43A8-90D9-0EAE-B9EB8DC29A40}"/>
                  </a:ext>
                </a:extLst>
              </p:cNvPr>
              <p:cNvSpPr/>
              <p:nvPr/>
            </p:nvSpPr>
            <p:spPr>
              <a:xfrm rot="16200000" flipH="1">
                <a:off x="7996345" y="4139530"/>
                <a:ext cx="483876" cy="508940"/>
              </a:xfrm>
              <a:prstGeom prst="rightArrow">
                <a:avLst>
                  <a:gd name="adj1" fmla="val 62165"/>
                  <a:gd name="adj2" fmla="val 5000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14:m>
                  <m:oMathPara xmlns:m="http://schemas.openxmlformats.org/officeDocument/2006/math">
                    <m:o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𝐶</m:t>
                          </m:r>
                        </m:sub>
                      </m:sSub>
                    </m:oMath>
                  </m:oMathPara>
                </a14:m>
                <a:endParaRPr lang="de-AT" dirty="0"/>
              </a:p>
            </p:txBody>
          </p:sp>
        </mc:Choice>
        <mc:Fallback xmlns="">
          <p:sp>
            <p:nvSpPr>
              <p:cNvPr id="81" name="Pfeil: nach rechts 80">
                <a:extLst>
                  <a:ext uri="{FF2B5EF4-FFF2-40B4-BE49-F238E27FC236}">
                    <a16:creationId xmlns:a16="http://schemas.microsoft.com/office/drawing/2014/main" id="{E92E7570-43A8-90D9-0EAE-B9EB8DC29A40}"/>
                  </a:ext>
                </a:extLst>
              </p:cNvPr>
              <p:cNvSpPr>
                <a:spLocks noRot="1" noChangeAspect="1" noMove="1" noResize="1" noEditPoints="1" noAdjustHandles="1" noChangeArrowheads="1" noChangeShapeType="1" noTextEdit="1"/>
              </p:cNvSpPr>
              <p:nvPr/>
            </p:nvSpPr>
            <p:spPr>
              <a:xfrm rot="16200000" flipH="1">
                <a:off x="7996345" y="4139530"/>
                <a:ext cx="483876" cy="508940"/>
              </a:xfrm>
              <a:prstGeom prst="rightArrow">
                <a:avLst>
                  <a:gd name="adj1" fmla="val 62165"/>
                  <a:gd name="adj2" fmla="val 50000"/>
                </a:avLst>
              </a:prstGeom>
              <a:blipFill>
                <a:blip r:embed="rId18"/>
                <a:stretch>
                  <a:fillRect/>
                </a:stretch>
              </a:blipFill>
              <a:ln>
                <a:noFill/>
              </a:ln>
            </p:spPr>
            <p:txBody>
              <a:bodyPr/>
              <a:lstStyle/>
              <a:p>
                <a:r>
                  <a:rPr lang="de-DE">
                    <a:noFill/>
                  </a:rPr>
                  <a:t> </a:t>
                </a:r>
              </a:p>
            </p:txBody>
          </p:sp>
        </mc:Fallback>
      </mc:AlternateContent>
      <p:sp>
        <p:nvSpPr>
          <p:cNvPr id="83" name="Textfeld 82">
            <a:extLst>
              <a:ext uri="{FF2B5EF4-FFF2-40B4-BE49-F238E27FC236}">
                <a16:creationId xmlns:a16="http://schemas.microsoft.com/office/drawing/2014/main" id="{64A9DFEE-79E3-0008-8AA8-64F0C2AFFA21}"/>
              </a:ext>
            </a:extLst>
          </p:cNvPr>
          <p:cNvSpPr txBox="1"/>
          <p:nvPr/>
        </p:nvSpPr>
        <p:spPr>
          <a:xfrm>
            <a:off x="4282244" y="5031041"/>
            <a:ext cx="578955" cy="369332"/>
          </a:xfrm>
          <a:prstGeom prst="rect">
            <a:avLst/>
          </a:prstGeom>
          <a:noFill/>
        </p:spPr>
        <p:txBody>
          <a:bodyPr wrap="square">
            <a:spAutoFit/>
          </a:bodyPr>
          <a:lstStyle/>
          <a:p>
            <a:r>
              <a:rPr lang="de-DE" dirty="0"/>
              <a:t>🥵</a:t>
            </a:r>
            <a:endParaRPr lang="de-AT" dirty="0"/>
          </a:p>
        </p:txBody>
      </p:sp>
      <p:sp>
        <p:nvSpPr>
          <p:cNvPr id="84" name="Textfeld 83">
            <a:extLst>
              <a:ext uri="{FF2B5EF4-FFF2-40B4-BE49-F238E27FC236}">
                <a16:creationId xmlns:a16="http://schemas.microsoft.com/office/drawing/2014/main" id="{882AC742-7A4C-932B-FB2A-194D05FFB7C1}"/>
              </a:ext>
            </a:extLst>
          </p:cNvPr>
          <p:cNvSpPr txBox="1"/>
          <p:nvPr/>
        </p:nvSpPr>
        <p:spPr>
          <a:xfrm>
            <a:off x="4282244" y="5931340"/>
            <a:ext cx="578955" cy="369332"/>
          </a:xfrm>
          <a:prstGeom prst="rect">
            <a:avLst/>
          </a:prstGeom>
          <a:noFill/>
        </p:spPr>
        <p:txBody>
          <a:bodyPr wrap="square">
            <a:spAutoFit/>
          </a:bodyPr>
          <a:lstStyle/>
          <a:p>
            <a:r>
              <a:rPr lang="de-DE" dirty="0"/>
              <a:t>❄️</a:t>
            </a:r>
            <a:endParaRPr lang="de-AT" dirty="0"/>
          </a:p>
        </p:txBody>
      </p:sp>
      <mc:AlternateContent xmlns:mc="http://schemas.openxmlformats.org/markup-compatibility/2006" xmlns:a14="http://schemas.microsoft.com/office/drawing/2010/main">
        <mc:Choice Requires="a14">
          <p:sp>
            <p:nvSpPr>
              <p:cNvPr id="85" name="Pfeil: nach links und rechts 84">
                <a:extLst>
                  <a:ext uri="{FF2B5EF4-FFF2-40B4-BE49-F238E27FC236}">
                    <a16:creationId xmlns:a16="http://schemas.microsoft.com/office/drawing/2014/main" id="{9B70BD16-AA08-F99E-24AE-8B148D1C3D5F}"/>
                  </a:ext>
                </a:extLst>
              </p:cNvPr>
              <p:cNvSpPr/>
              <p:nvPr/>
            </p:nvSpPr>
            <p:spPr>
              <a:xfrm>
                <a:off x="6526195" y="3783288"/>
                <a:ext cx="981346" cy="515110"/>
              </a:xfrm>
              <a:prstGeom prst="lef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𝑇</m:t>
                        </m:r>
                      </m:sub>
                    </m:sSub>
                  </m:oMath>
                </a14:m>
                <a:endParaRPr lang="de-AT" dirty="0"/>
              </a:p>
            </p:txBody>
          </p:sp>
        </mc:Choice>
        <mc:Fallback xmlns="">
          <p:sp>
            <p:nvSpPr>
              <p:cNvPr id="85" name="Pfeil: nach links und rechts 84">
                <a:extLst>
                  <a:ext uri="{FF2B5EF4-FFF2-40B4-BE49-F238E27FC236}">
                    <a16:creationId xmlns:a16="http://schemas.microsoft.com/office/drawing/2014/main" id="{9B70BD16-AA08-F99E-24AE-8B148D1C3D5F}"/>
                  </a:ext>
                </a:extLst>
              </p:cNvPr>
              <p:cNvSpPr>
                <a:spLocks noRot="1" noChangeAspect="1" noMove="1" noResize="1" noEditPoints="1" noAdjustHandles="1" noChangeArrowheads="1" noChangeShapeType="1" noTextEdit="1"/>
              </p:cNvSpPr>
              <p:nvPr/>
            </p:nvSpPr>
            <p:spPr>
              <a:xfrm>
                <a:off x="6526195" y="3783288"/>
                <a:ext cx="981346" cy="515110"/>
              </a:xfrm>
              <a:prstGeom prst="leftRightArrow">
                <a:avLst/>
              </a:prstGeom>
              <a:blipFill>
                <a:blip r:embed="rId19"/>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6" name="Pfeil: nach links und rechts 85">
                <a:extLst>
                  <a:ext uri="{FF2B5EF4-FFF2-40B4-BE49-F238E27FC236}">
                    <a16:creationId xmlns:a16="http://schemas.microsoft.com/office/drawing/2014/main" id="{CF8B1E4B-7B42-3631-DAEE-E2C4C35719E2}"/>
                  </a:ext>
                </a:extLst>
              </p:cNvPr>
              <p:cNvSpPr/>
              <p:nvPr/>
            </p:nvSpPr>
            <p:spPr>
              <a:xfrm>
                <a:off x="6523460" y="3521215"/>
                <a:ext cx="981346" cy="515110"/>
              </a:xfrm>
              <a:prstGeom prst="leftRightArrow">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𝑉</m:t>
                        </m:r>
                      </m:sub>
                    </m:sSub>
                  </m:oMath>
                </a14:m>
                <a:endParaRPr lang="de-AT" dirty="0"/>
              </a:p>
            </p:txBody>
          </p:sp>
        </mc:Choice>
        <mc:Fallback xmlns="">
          <p:sp>
            <p:nvSpPr>
              <p:cNvPr id="86" name="Pfeil: nach links und rechts 85">
                <a:extLst>
                  <a:ext uri="{FF2B5EF4-FFF2-40B4-BE49-F238E27FC236}">
                    <a16:creationId xmlns:a16="http://schemas.microsoft.com/office/drawing/2014/main" id="{CF8B1E4B-7B42-3631-DAEE-E2C4C35719E2}"/>
                  </a:ext>
                </a:extLst>
              </p:cNvPr>
              <p:cNvSpPr>
                <a:spLocks noRot="1" noChangeAspect="1" noMove="1" noResize="1" noEditPoints="1" noAdjustHandles="1" noChangeArrowheads="1" noChangeShapeType="1" noTextEdit="1"/>
              </p:cNvSpPr>
              <p:nvPr/>
            </p:nvSpPr>
            <p:spPr>
              <a:xfrm>
                <a:off x="6523460" y="3521215"/>
                <a:ext cx="981346" cy="515110"/>
              </a:xfrm>
              <a:prstGeom prst="leftRightArrow">
                <a:avLst/>
              </a:prstGeom>
              <a:blipFill>
                <a:blip r:embed="rId20"/>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7" name="Pfeil: nach rechts 86">
                <a:extLst>
                  <a:ext uri="{FF2B5EF4-FFF2-40B4-BE49-F238E27FC236}">
                    <a16:creationId xmlns:a16="http://schemas.microsoft.com/office/drawing/2014/main" id="{4B7AD2D0-E650-8802-40D2-12761C04E2B0}"/>
                  </a:ext>
                </a:extLst>
              </p:cNvPr>
              <p:cNvSpPr/>
              <p:nvPr/>
            </p:nvSpPr>
            <p:spPr>
              <a:xfrm flipH="1">
                <a:off x="8439210" y="3915948"/>
                <a:ext cx="823947" cy="508940"/>
              </a:xfrm>
              <a:prstGeom prst="rightArrow">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𝐼</m:t>
                        </m:r>
                      </m:sub>
                    </m:sSub>
                  </m:oMath>
                </a14:m>
                <a:endParaRPr lang="de-AT" dirty="0"/>
              </a:p>
            </p:txBody>
          </p:sp>
        </mc:Choice>
        <mc:Fallback xmlns="">
          <p:sp>
            <p:nvSpPr>
              <p:cNvPr id="87" name="Pfeil: nach rechts 86">
                <a:extLst>
                  <a:ext uri="{FF2B5EF4-FFF2-40B4-BE49-F238E27FC236}">
                    <a16:creationId xmlns:a16="http://schemas.microsoft.com/office/drawing/2014/main" id="{4B7AD2D0-E650-8802-40D2-12761C04E2B0}"/>
                  </a:ext>
                </a:extLst>
              </p:cNvPr>
              <p:cNvSpPr>
                <a:spLocks noRot="1" noChangeAspect="1" noMove="1" noResize="1" noEditPoints="1" noAdjustHandles="1" noChangeArrowheads="1" noChangeShapeType="1" noTextEdit="1"/>
              </p:cNvSpPr>
              <p:nvPr/>
            </p:nvSpPr>
            <p:spPr>
              <a:xfrm flipH="1">
                <a:off x="8439210" y="3915948"/>
                <a:ext cx="823947" cy="508940"/>
              </a:xfrm>
              <a:prstGeom prst="rightArrow">
                <a:avLst/>
              </a:prstGeom>
              <a:blipFill>
                <a:blip r:embed="rId21"/>
                <a:stretch>
                  <a:fillRect/>
                </a:stretch>
              </a:blipFill>
              <a:ln>
                <a:noFill/>
              </a:ln>
            </p:spPr>
            <p:txBody>
              <a:bodyPr/>
              <a:lstStyle/>
              <a:p>
                <a:r>
                  <a:rPr lang="de-DE">
                    <a:noFill/>
                  </a:rPr>
                  <a:t> </a:t>
                </a:r>
              </a:p>
            </p:txBody>
          </p:sp>
        </mc:Fallback>
      </mc:AlternateContent>
      <p:sp>
        <p:nvSpPr>
          <p:cNvPr id="89" name="Textfeld 88">
            <a:extLst>
              <a:ext uri="{FF2B5EF4-FFF2-40B4-BE49-F238E27FC236}">
                <a16:creationId xmlns:a16="http://schemas.microsoft.com/office/drawing/2014/main" id="{75A3E900-92A3-B55D-3412-B2E6459034E1}"/>
              </a:ext>
            </a:extLst>
          </p:cNvPr>
          <p:cNvSpPr txBox="1"/>
          <p:nvPr/>
        </p:nvSpPr>
        <p:spPr>
          <a:xfrm>
            <a:off x="4653500" y="3974606"/>
            <a:ext cx="915091" cy="369332"/>
          </a:xfrm>
          <a:prstGeom prst="rect">
            <a:avLst/>
          </a:prstGeom>
          <a:noFill/>
        </p:spPr>
        <p:txBody>
          <a:bodyPr wrap="square">
            <a:spAutoFit/>
          </a:bodyPr>
          <a:lstStyle/>
          <a:p>
            <a:r>
              <a:rPr lang="de-DE" dirty="0">
                <a:latin typeface="Cambria Math" panose="02040503050406030204" pitchFamily="18" charset="0"/>
              </a:rPr>
              <a:t>♨️</a:t>
            </a:r>
            <a:endParaRPr lang="de-AT" dirty="0"/>
          </a:p>
        </p:txBody>
      </p:sp>
      <p:sp>
        <p:nvSpPr>
          <p:cNvPr id="90" name="Textfeld 89">
            <a:extLst>
              <a:ext uri="{FF2B5EF4-FFF2-40B4-BE49-F238E27FC236}">
                <a16:creationId xmlns:a16="http://schemas.microsoft.com/office/drawing/2014/main" id="{273468E0-C18E-0105-902A-31B33032DEF1}"/>
              </a:ext>
            </a:extLst>
          </p:cNvPr>
          <p:cNvSpPr txBox="1"/>
          <p:nvPr/>
        </p:nvSpPr>
        <p:spPr>
          <a:xfrm>
            <a:off x="7537500" y="3928960"/>
            <a:ext cx="915091" cy="369332"/>
          </a:xfrm>
          <a:prstGeom prst="rect">
            <a:avLst/>
          </a:prstGeom>
          <a:noFill/>
        </p:spPr>
        <p:txBody>
          <a:bodyPr wrap="square">
            <a:spAutoFit/>
          </a:bodyPr>
          <a:lstStyle/>
          <a:p>
            <a:r>
              <a:rPr lang="de-DE" dirty="0">
                <a:latin typeface="Cambria Math" panose="02040503050406030204" pitchFamily="18" charset="0"/>
              </a:rPr>
              <a:t>♨️</a:t>
            </a:r>
            <a:endParaRPr lang="de-AT" dirty="0"/>
          </a:p>
        </p:txBody>
      </p:sp>
      <p:sp>
        <p:nvSpPr>
          <p:cNvPr id="92" name="Textfeld 91">
            <a:extLst>
              <a:ext uri="{FF2B5EF4-FFF2-40B4-BE49-F238E27FC236}">
                <a16:creationId xmlns:a16="http://schemas.microsoft.com/office/drawing/2014/main" id="{0F8263D0-AC7B-F59E-F21C-9A7C3391E460}"/>
              </a:ext>
            </a:extLst>
          </p:cNvPr>
          <p:cNvSpPr txBox="1"/>
          <p:nvPr/>
        </p:nvSpPr>
        <p:spPr>
          <a:xfrm>
            <a:off x="8019415" y="3956293"/>
            <a:ext cx="646604" cy="307777"/>
          </a:xfrm>
          <a:prstGeom prst="rect">
            <a:avLst/>
          </a:prstGeom>
          <a:noFill/>
        </p:spPr>
        <p:txBody>
          <a:bodyPr wrap="square">
            <a:spAutoFit/>
          </a:bodyPr>
          <a:lstStyle/>
          <a:p>
            <a:r>
              <a:rPr lang="de-DE" sz="1400" dirty="0"/>
              <a:t>❄️</a:t>
            </a:r>
            <a:endParaRPr lang="de-AT" sz="1400" dirty="0"/>
          </a:p>
        </p:txBody>
      </p:sp>
      <mc:AlternateContent xmlns:mc="http://schemas.openxmlformats.org/markup-compatibility/2006" xmlns:a14="http://schemas.microsoft.com/office/drawing/2010/main">
        <mc:Choice Requires="a14">
          <p:sp>
            <p:nvSpPr>
              <p:cNvPr id="94" name="Textfeld 93">
                <a:extLst>
                  <a:ext uri="{FF2B5EF4-FFF2-40B4-BE49-F238E27FC236}">
                    <a16:creationId xmlns:a16="http://schemas.microsoft.com/office/drawing/2014/main" id="{59E9C418-689F-5F26-B5B5-39F23AA35990}"/>
                  </a:ext>
                </a:extLst>
              </p:cNvPr>
              <p:cNvSpPr txBox="1"/>
              <p:nvPr/>
            </p:nvSpPr>
            <p:spPr>
              <a:xfrm>
                <a:off x="5942004" y="2044094"/>
                <a:ext cx="933904" cy="373436"/>
              </a:xfrm>
              <a:prstGeom prst="rect">
                <a:avLst/>
              </a:prstGeom>
              <a:noFill/>
            </p:spPr>
            <p:txBody>
              <a:bodyPr wrap="square">
                <a:spAutoFit/>
              </a:bodyPr>
              <a:lstStyle/>
              <a:p>
                <a:pPr/>
                <a14:m>
                  <m:oMathPara xmlns:m="http://schemas.openxmlformats.org/officeDocument/2006/math">
                    <m:oMath>
                      <m:r>
                        <a:rPr lang="de-DE" i="1">
                          <a:latin typeface="Cambria Math" panose="02040503050406030204" pitchFamily="18" charset="0"/>
                        </a:rPr>
                        <m:t>🌦️</m:t>
                      </m:r>
                      <m:sSub>
                        <m:sSubPr>
                          <m:ctrlPr>
                            <a:rPr lang="de-DE" i="1">
                              <a:latin typeface="Cambria Math" panose="02040503050406030204" pitchFamily="18" charset="0"/>
                            </a:rPr>
                          </m:ctrlPr>
                        </m:sSubPr>
                        <m:e>
                          <m:r>
                            <a:rPr lang="de-DE" i="1">
                              <a:latin typeface="Cambria Math" panose="02040503050406030204" pitchFamily="18" charset="0"/>
                            </a:rPr>
                            <m:t>𝑇</m:t>
                          </m:r>
                        </m:e>
                        <m:sub>
                          <m:r>
                            <a:rPr lang="de-DE" i="1">
                              <a:latin typeface="Cambria Math" panose="02040503050406030204" pitchFamily="18" charset="0"/>
                            </a:rPr>
                            <m:t>𝐴</m:t>
                          </m:r>
                        </m:sub>
                      </m:sSub>
                    </m:oMath>
                  </m:oMathPara>
                </a14:m>
                <a:endParaRPr lang="de-AT" dirty="0"/>
              </a:p>
            </p:txBody>
          </p:sp>
        </mc:Choice>
        <mc:Fallback xmlns="">
          <p:sp>
            <p:nvSpPr>
              <p:cNvPr id="94" name="Textfeld 93">
                <a:extLst>
                  <a:ext uri="{FF2B5EF4-FFF2-40B4-BE49-F238E27FC236}">
                    <a16:creationId xmlns:a16="http://schemas.microsoft.com/office/drawing/2014/main" id="{59E9C418-689F-5F26-B5B5-39F23AA35990}"/>
                  </a:ext>
                </a:extLst>
              </p:cNvPr>
              <p:cNvSpPr txBox="1">
                <a:spLocks noRot="1" noChangeAspect="1" noMove="1" noResize="1" noEditPoints="1" noAdjustHandles="1" noChangeArrowheads="1" noChangeShapeType="1" noTextEdit="1"/>
              </p:cNvSpPr>
              <p:nvPr/>
            </p:nvSpPr>
            <p:spPr>
              <a:xfrm>
                <a:off x="5942004" y="2044094"/>
                <a:ext cx="933904" cy="373436"/>
              </a:xfrm>
              <a:prstGeom prst="rect">
                <a:avLst/>
              </a:prstGeom>
              <a:blipFill>
                <a:blip r:embed="rId22"/>
                <a:stretch>
                  <a:fillRect b="-12903"/>
                </a:stretch>
              </a:blipFill>
            </p:spPr>
            <p:txBody>
              <a:bodyPr/>
              <a:lstStyle/>
              <a:p>
                <a:r>
                  <a:rPr lang="de-DE">
                    <a:noFill/>
                  </a:rPr>
                  <a:t> </a:t>
                </a:r>
              </a:p>
            </p:txBody>
          </p:sp>
        </mc:Fallback>
      </mc:AlternateContent>
      <p:pic>
        <p:nvPicPr>
          <p:cNvPr id="95" name="Grafik 94">
            <a:extLst>
              <a:ext uri="{FF2B5EF4-FFF2-40B4-BE49-F238E27FC236}">
                <a16:creationId xmlns:a16="http://schemas.microsoft.com/office/drawing/2014/main" id="{9EB4BF5F-2EBC-C9E8-4F41-8E6EE277676D}"/>
              </a:ext>
            </a:extLst>
          </p:cNvPr>
          <p:cNvPicPr>
            <a:picLocks noChangeAspect="1"/>
          </p:cNvPicPr>
          <p:nvPr/>
        </p:nvPicPr>
        <p:blipFill>
          <a:blip r:embed="rId23"/>
          <a:stretch>
            <a:fillRect/>
          </a:stretch>
        </p:blipFill>
        <p:spPr>
          <a:xfrm>
            <a:off x="9404899" y="1500152"/>
            <a:ext cx="2681625" cy="2965259"/>
          </a:xfrm>
          <a:prstGeom prst="rect">
            <a:avLst/>
          </a:prstGeom>
        </p:spPr>
      </p:pic>
      <p:grpSp>
        <p:nvGrpSpPr>
          <p:cNvPr id="126" name="Gruppieren 125">
            <a:extLst>
              <a:ext uri="{FF2B5EF4-FFF2-40B4-BE49-F238E27FC236}">
                <a16:creationId xmlns:a16="http://schemas.microsoft.com/office/drawing/2014/main" id="{D1AE6F59-26C6-2923-1A87-DE26D2149E11}"/>
              </a:ext>
            </a:extLst>
          </p:cNvPr>
          <p:cNvGrpSpPr/>
          <p:nvPr/>
        </p:nvGrpSpPr>
        <p:grpSpPr>
          <a:xfrm>
            <a:off x="6892606" y="7158900"/>
            <a:ext cx="2432384" cy="2334810"/>
            <a:chOff x="5513252" y="2957042"/>
            <a:chExt cx="1375861" cy="1320669"/>
          </a:xfrm>
        </p:grpSpPr>
        <p:sp>
          <p:nvSpPr>
            <p:cNvPr id="127" name="Rechteck 126">
              <a:extLst>
                <a:ext uri="{FF2B5EF4-FFF2-40B4-BE49-F238E27FC236}">
                  <a16:creationId xmlns:a16="http://schemas.microsoft.com/office/drawing/2014/main" id="{DFA756BE-6709-5D77-7055-D9854AA37A5D}"/>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8" name="Rechteck 127">
              <a:extLst>
                <a:ext uri="{FF2B5EF4-FFF2-40B4-BE49-F238E27FC236}">
                  <a16:creationId xmlns:a16="http://schemas.microsoft.com/office/drawing/2014/main" id="{568A4A65-4BEE-0C31-E20D-D7CCD8A1C052}"/>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9" name="Rechteck 128">
              <a:extLst>
                <a:ext uri="{FF2B5EF4-FFF2-40B4-BE49-F238E27FC236}">
                  <a16:creationId xmlns:a16="http://schemas.microsoft.com/office/drawing/2014/main" id="{7AA19514-54AA-5ABF-ECCE-A922C8E5D8D5}"/>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0" name="Building5" descr="{&quot;Key&quot;:&quot;POWER_USER_SHAPE_ICON&quot;,&quot;Value&quot;:&quot;POWER_USER_SHAPE_ICON_STYLE_1&quot;}">
              <a:extLst>
                <a:ext uri="{FF2B5EF4-FFF2-40B4-BE49-F238E27FC236}">
                  <a16:creationId xmlns:a16="http://schemas.microsoft.com/office/drawing/2014/main" id="{F5D351A3-5ADB-0F7B-9B2A-D5992ACB47A9}"/>
                </a:ext>
              </a:extLst>
            </p:cNvPr>
            <p:cNvSpPr>
              <a:spLocks noChangeAspect="1" noEditPoints="1"/>
            </p:cNvSpPr>
            <p:nvPr>
              <p:custDataLst>
                <p:tags r:id="rId2"/>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Calibri" panose="020F0502020204030204"/>
              </a:endParaRPr>
            </a:p>
          </p:txBody>
        </p:sp>
        <p:sp>
          <p:nvSpPr>
            <p:cNvPr id="131" name="Rechteck 130">
              <a:extLst>
                <a:ext uri="{FF2B5EF4-FFF2-40B4-BE49-F238E27FC236}">
                  <a16:creationId xmlns:a16="http://schemas.microsoft.com/office/drawing/2014/main" id="{F597828D-A808-B9C2-F8DB-DDEF38C46288}"/>
                </a:ext>
              </a:extLst>
            </p:cNvPr>
            <p:cNvSpPr/>
            <p:nvPr/>
          </p:nvSpPr>
          <p:spPr>
            <a:xfrm>
              <a:off x="5513252" y="4205449"/>
              <a:ext cx="1374314" cy="72262"/>
            </a:xfrm>
            <a:prstGeom prst="rect">
              <a:avLst/>
            </a:prstGeom>
            <a:solidFill>
              <a:srgbClr val="7F50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2" name="Rechteck 131">
              <a:extLst>
                <a:ext uri="{FF2B5EF4-FFF2-40B4-BE49-F238E27FC236}">
                  <a16:creationId xmlns:a16="http://schemas.microsoft.com/office/drawing/2014/main" id="{A1009DC8-B261-A839-811A-BA4BF56B8CEC}"/>
                </a:ext>
              </a:extLst>
            </p:cNvPr>
            <p:cNvSpPr/>
            <p:nvPr/>
          </p:nvSpPr>
          <p:spPr>
            <a:xfrm>
              <a:off x="6824773" y="3228411"/>
              <a:ext cx="62793" cy="97743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3" name="Rechteck 132">
              <a:extLst>
                <a:ext uri="{FF2B5EF4-FFF2-40B4-BE49-F238E27FC236}">
                  <a16:creationId xmlns:a16="http://schemas.microsoft.com/office/drawing/2014/main" id="{EE50420E-18AF-2424-2D81-59AEB228E581}"/>
                </a:ext>
              </a:extLst>
            </p:cNvPr>
            <p:cNvSpPr/>
            <p:nvPr/>
          </p:nvSpPr>
          <p:spPr>
            <a:xfrm>
              <a:off x="6424376" y="2967031"/>
              <a:ext cx="71719" cy="1118169"/>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4" name="Rechteck 133">
              <a:extLst>
                <a:ext uri="{FF2B5EF4-FFF2-40B4-BE49-F238E27FC236}">
                  <a16:creationId xmlns:a16="http://schemas.microsoft.com/office/drawing/2014/main" id="{CEE87B63-A84B-7D19-CB7D-AB9D04063FF6}"/>
                </a:ext>
              </a:extLst>
            </p:cNvPr>
            <p:cNvSpPr/>
            <p:nvPr/>
          </p:nvSpPr>
          <p:spPr>
            <a:xfrm>
              <a:off x="5514799" y="3422910"/>
              <a:ext cx="74958" cy="782932"/>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5" name="Rechteck 134">
              <a:extLst>
                <a:ext uri="{FF2B5EF4-FFF2-40B4-BE49-F238E27FC236}">
                  <a16:creationId xmlns:a16="http://schemas.microsoft.com/office/drawing/2014/main" id="{FAF17BC2-2D77-DFEC-9AD3-5CDD9097D4CB}"/>
                </a:ext>
              </a:extLst>
            </p:cNvPr>
            <p:cNvSpPr/>
            <p:nvPr/>
          </p:nvSpPr>
          <p:spPr>
            <a:xfrm>
              <a:off x="6496095" y="3209739"/>
              <a:ext cx="391471" cy="105760"/>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6" name="Rechteck 135">
              <a:extLst>
                <a:ext uri="{FF2B5EF4-FFF2-40B4-BE49-F238E27FC236}">
                  <a16:creationId xmlns:a16="http://schemas.microsoft.com/office/drawing/2014/main" id="{85D439C0-4C24-625A-DDEB-96E4F7C8C79D}"/>
                </a:ext>
              </a:extLst>
            </p:cNvPr>
            <p:cNvSpPr/>
            <p:nvPr/>
          </p:nvSpPr>
          <p:spPr>
            <a:xfrm>
              <a:off x="5516346" y="3308888"/>
              <a:ext cx="458364"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7" name="Rechteck 136">
              <a:extLst>
                <a:ext uri="{FF2B5EF4-FFF2-40B4-BE49-F238E27FC236}">
                  <a16:creationId xmlns:a16="http://schemas.microsoft.com/office/drawing/2014/main" id="{FF793B6A-A70D-9433-AE11-10E7F65DD2E0}"/>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8" name="Rechteck 137">
              <a:extLst>
                <a:ext uri="{FF2B5EF4-FFF2-40B4-BE49-F238E27FC236}">
                  <a16:creationId xmlns:a16="http://schemas.microsoft.com/office/drawing/2014/main" id="{00E4F8A2-66AF-1C91-E1F6-5C550B3323FD}"/>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9" name="Rechteck 138">
              <a:extLst>
                <a:ext uri="{FF2B5EF4-FFF2-40B4-BE49-F238E27FC236}">
                  <a16:creationId xmlns:a16="http://schemas.microsoft.com/office/drawing/2014/main" id="{C8471BC2-A701-093E-A07D-710B94DD592D}"/>
                </a:ext>
              </a:extLst>
            </p:cNvPr>
            <p:cNvSpPr/>
            <p:nvPr/>
          </p:nvSpPr>
          <p:spPr>
            <a:xfrm>
              <a:off x="5961096" y="2992042"/>
              <a:ext cx="71719" cy="42999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0" name="Rechteck 139">
              <a:extLst>
                <a:ext uri="{FF2B5EF4-FFF2-40B4-BE49-F238E27FC236}">
                  <a16:creationId xmlns:a16="http://schemas.microsoft.com/office/drawing/2014/main" id="{9648011C-38D2-FD74-36FD-935E574283E3}"/>
                </a:ext>
              </a:extLst>
            </p:cNvPr>
            <p:cNvSpPr/>
            <p:nvPr/>
          </p:nvSpPr>
          <p:spPr>
            <a:xfrm>
              <a:off x="5961095" y="2957042"/>
              <a:ext cx="535000"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141" name="Gruppieren 140">
            <a:extLst>
              <a:ext uri="{FF2B5EF4-FFF2-40B4-BE49-F238E27FC236}">
                <a16:creationId xmlns:a16="http://schemas.microsoft.com/office/drawing/2014/main" id="{E7EDAD3B-6EC5-7A65-66DC-12CDA21F40E5}"/>
              </a:ext>
            </a:extLst>
          </p:cNvPr>
          <p:cNvGrpSpPr/>
          <p:nvPr/>
        </p:nvGrpSpPr>
        <p:grpSpPr>
          <a:xfrm>
            <a:off x="4052155" y="7197365"/>
            <a:ext cx="2432384" cy="2334810"/>
            <a:chOff x="5513252" y="2957042"/>
            <a:chExt cx="1375861" cy="1320669"/>
          </a:xfrm>
        </p:grpSpPr>
        <p:sp>
          <p:nvSpPr>
            <p:cNvPr id="142" name="Rechteck 141">
              <a:extLst>
                <a:ext uri="{FF2B5EF4-FFF2-40B4-BE49-F238E27FC236}">
                  <a16:creationId xmlns:a16="http://schemas.microsoft.com/office/drawing/2014/main" id="{A38CD6B0-0815-95F4-FA4F-F829F9722761}"/>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3" name="Rechteck 142">
              <a:extLst>
                <a:ext uri="{FF2B5EF4-FFF2-40B4-BE49-F238E27FC236}">
                  <a16:creationId xmlns:a16="http://schemas.microsoft.com/office/drawing/2014/main" id="{E29CCF3E-5C3A-378E-6E24-74A99AACD9F5}"/>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4" name="Rechteck 143">
              <a:extLst>
                <a:ext uri="{FF2B5EF4-FFF2-40B4-BE49-F238E27FC236}">
                  <a16:creationId xmlns:a16="http://schemas.microsoft.com/office/drawing/2014/main" id="{99625E35-53D9-7CA1-1B11-495D136F3916}"/>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5" name="Building5" descr="{&quot;Key&quot;:&quot;POWER_USER_SHAPE_ICON&quot;,&quot;Value&quot;:&quot;POWER_USER_SHAPE_ICON_STYLE_1&quot;}">
              <a:extLst>
                <a:ext uri="{FF2B5EF4-FFF2-40B4-BE49-F238E27FC236}">
                  <a16:creationId xmlns:a16="http://schemas.microsoft.com/office/drawing/2014/main" id="{58F60CB3-6EC5-85D5-E0B2-9520A17A6297}"/>
                </a:ext>
              </a:extLst>
            </p:cNvPr>
            <p:cNvSpPr>
              <a:spLocks noChangeAspect="1" noEditPoints="1"/>
            </p:cNvSpPr>
            <p:nvPr>
              <p:custDataLst>
                <p:tags r:id="rId1"/>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Calibri" panose="020F0502020204030204"/>
              </a:endParaRPr>
            </a:p>
          </p:txBody>
        </p:sp>
        <p:sp>
          <p:nvSpPr>
            <p:cNvPr id="146" name="Rechteck 145">
              <a:extLst>
                <a:ext uri="{FF2B5EF4-FFF2-40B4-BE49-F238E27FC236}">
                  <a16:creationId xmlns:a16="http://schemas.microsoft.com/office/drawing/2014/main" id="{DB799EED-A6B3-355C-592B-E2AC35B89D91}"/>
                </a:ext>
              </a:extLst>
            </p:cNvPr>
            <p:cNvSpPr/>
            <p:nvPr/>
          </p:nvSpPr>
          <p:spPr>
            <a:xfrm>
              <a:off x="5513252" y="4205449"/>
              <a:ext cx="1374314" cy="72262"/>
            </a:xfrm>
            <a:prstGeom prst="rect">
              <a:avLst/>
            </a:prstGeom>
            <a:solidFill>
              <a:srgbClr val="7F50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7" name="Rechteck 146">
              <a:extLst>
                <a:ext uri="{FF2B5EF4-FFF2-40B4-BE49-F238E27FC236}">
                  <a16:creationId xmlns:a16="http://schemas.microsoft.com/office/drawing/2014/main" id="{A81CEF73-19CB-B3A6-A2D8-80EE37655DB3}"/>
                </a:ext>
              </a:extLst>
            </p:cNvPr>
            <p:cNvSpPr/>
            <p:nvPr/>
          </p:nvSpPr>
          <p:spPr>
            <a:xfrm>
              <a:off x="6824773" y="3228411"/>
              <a:ext cx="62793" cy="97743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8" name="Rechteck 147">
              <a:extLst>
                <a:ext uri="{FF2B5EF4-FFF2-40B4-BE49-F238E27FC236}">
                  <a16:creationId xmlns:a16="http://schemas.microsoft.com/office/drawing/2014/main" id="{7A6A6CD7-64E1-BBC2-22A9-AEDEA0555513}"/>
                </a:ext>
              </a:extLst>
            </p:cNvPr>
            <p:cNvSpPr/>
            <p:nvPr/>
          </p:nvSpPr>
          <p:spPr>
            <a:xfrm>
              <a:off x="6424376" y="2967031"/>
              <a:ext cx="71719" cy="1118169"/>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9" name="Rechteck 148">
              <a:extLst>
                <a:ext uri="{FF2B5EF4-FFF2-40B4-BE49-F238E27FC236}">
                  <a16:creationId xmlns:a16="http://schemas.microsoft.com/office/drawing/2014/main" id="{500C9099-AA1A-27A9-2963-D2223DD7F17E}"/>
                </a:ext>
              </a:extLst>
            </p:cNvPr>
            <p:cNvSpPr/>
            <p:nvPr/>
          </p:nvSpPr>
          <p:spPr>
            <a:xfrm>
              <a:off x="5514799" y="3422910"/>
              <a:ext cx="74958" cy="782932"/>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0" name="Rechteck 149">
              <a:extLst>
                <a:ext uri="{FF2B5EF4-FFF2-40B4-BE49-F238E27FC236}">
                  <a16:creationId xmlns:a16="http://schemas.microsoft.com/office/drawing/2014/main" id="{2C5869AA-A949-FE07-FB91-D4E2326A219B}"/>
                </a:ext>
              </a:extLst>
            </p:cNvPr>
            <p:cNvSpPr/>
            <p:nvPr/>
          </p:nvSpPr>
          <p:spPr>
            <a:xfrm>
              <a:off x="6496095" y="3209739"/>
              <a:ext cx="391471" cy="105760"/>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1" name="Rechteck 150">
              <a:extLst>
                <a:ext uri="{FF2B5EF4-FFF2-40B4-BE49-F238E27FC236}">
                  <a16:creationId xmlns:a16="http://schemas.microsoft.com/office/drawing/2014/main" id="{E1829705-263A-1F6B-87EE-0772E715D397}"/>
                </a:ext>
              </a:extLst>
            </p:cNvPr>
            <p:cNvSpPr/>
            <p:nvPr/>
          </p:nvSpPr>
          <p:spPr>
            <a:xfrm>
              <a:off x="5516346" y="3308888"/>
              <a:ext cx="458364"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2" name="Rechteck 151">
              <a:extLst>
                <a:ext uri="{FF2B5EF4-FFF2-40B4-BE49-F238E27FC236}">
                  <a16:creationId xmlns:a16="http://schemas.microsoft.com/office/drawing/2014/main" id="{E3681E62-BCBC-8BC3-AA6A-4FEA88BE9487}"/>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3" name="Rechteck 152">
              <a:extLst>
                <a:ext uri="{FF2B5EF4-FFF2-40B4-BE49-F238E27FC236}">
                  <a16:creationId xmlns:a16="http://schemas.microsoft.com/office/drawing/2014/main" id="{BF0E1B5F-93F5-312F-0DEF-552EB0C70871}"/>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4" name="Rechteck 153">
              <a:extLst>
                <a:ext uri="{FF2B5EF4-FFF2-40B4-BE49-F238E27FC236}">
                  <a16:creationId xmlns:a16="http://schemas.microsoft.com/office/drawing/2014/main" id="{BEAE5F6D-3D0B-7DBD-6E41-6112BBF6FC6B}"/>
                </a:ext>
              </a:extLst>
            </p:cNvPr>
            <p:cNvSpPr/>
            <p:nvPr/>
          </p:nvSpPr>
          <p:spPr>
            <a:xfrm>
              <a:off x="5961096" y="2992042"/>
              <a:ext cx="71719" cy="42999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5" name="Rechteck 154">
              <a:extLst>
                <a:ext uri="{FF2B5EF4-FFF2-40B4-BE49-F238E27FC236}">
                  <a16:creationId xmlns:a16="http://schemas.microsoft.com/office/drawing/2014/main" id="{FF99EBA7-3CCE-8338-BC02-5F669D16B4AC}"/>
                </a:ext>
              </a:extLst>
            </p:cNvPr>
            <p:cNvSpPr/>
            <p:nvPr/>
          </p:nvSpPr>
          <p:spPr>
            <a:xfrm>
              <a:off x="5961095" y="2957042"/>
              <a:ext cx="535000"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grpSp>
    </p:spTree>
    <p:extLst>
      <p:ext uri="{BB962C8B-B14F-4D97-AF65-F5344CB8AC3E}">
        <p14:creationId xmlns:p14="http://schemas.microsoft.com/office/powerpoint/2010/main" val="3765091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D4FCE-C49B-F032-C181-DA4EB24141EF}"/>
            </a:ext>
          </a:extLst>
        </p:cNvPr>
        <p:cNvGrpSpPr/>
        <p:nvPr/>
      </p:nvGrpSpPr>
      <p:grpSpPr>
        <a:xfrm>
          <a:off x="0" y="0"/>
          <a:ext cx="0" cy="0"/>
          <a:chOff x="0" y="0"/>
          <a:chExt cx="0" cy="0"/>
        </a:xfrm>
      </p:grpSpPr>
      <p:grpSp>
        <p:nvGrpSpPr>
          <p:cNvPr id="28" name="Gruppieren 27">
            <a:extLst>
              <a:ext uri="{FF2B5EF4-FFF2-40B4-BE49-F238E27FC236}">
                <a16:creationId xmlns:a16="http://schemas.microsoft.com/office/drawing/2014/main" id="{8E43D52C-BB94-29CB-3921-4DE71FA0619C}"/>
              </a:ext>
            </a:extLst>
          </p:cNvPr>
          <p:cNvGrpSpPr/>
          <p:nvPr/>
        </p:nvGrpSpPr>
        <p:grpSpPr>
          <a:xfrm>
            <a:off x="3979308" y="2164801"/>
            <a:ext cx="2432384" cy="2334810"/>
            <a:chOff x="5513252" y="2957042"/>
            <a:chExt cx="1375861" cy="1320669"/>
          </a:xfrm>
        </p:grpSpPr>
        <p:sp>
          <p:nvSpPr>
            <p:cNvPr id="29" name="Rechteck 28">
              <a:extLst>
                <a:ext uri="{FF2B5EF4-FFF2-40B4-BE49-F238E27FC236}">
                  <a16:creationId xmlns:a16="http://schemas.microsoft.com/office/drawing/2014/main" id="{53431523-AD8E-F4EF-2161-F033C69B8965}"/>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0" name="Rechteck 29">
              <a:extLst>
                <a:ext uri="{FF2B5EF4-FFF2-40B4-BE49-F238E27FC236}">
                  <a16:creationId xmlns:a16="http://schemas.microsoft.com/office/drawing/2014/main" id="{90383AA0-9508-8A6B-8F85-3672EA840C43}"/>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1" name="Rechteck 30">
              <a:extLst>
                <a:ext uri="{FF2B5EF4-FFF2-40B4-BE49-F238E27FC236}">
                  <a16:creationId xmlns:a16="http://schemas.microsoft.com/office/drawing/2014/main" id="{BC6C51F6-2F76-2956-4879-FD2A44D3A78D}"/>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2" name="Building5" descr="{&quot;Key&quot;:&quot;POWER_USER_SHAPE_ICON&quot;,&quot;Value&quot;:&quot;POWER_USER_SHAPE_ICON_STYLE_1&quot;}">
              <a:extLst>
                <a:ext uri="{FF2B5EF4-FFF2-40B4-BE49-F238E27FC236}">
                  <a16:creationId xmlns:a16="http://schemas.microsoft.com/office/drawing/2014/main" id="{5BE75E52-E3BB-E247-4BBA-870CF50745E5}"/>
                </a:ext>
              </a:extLst>
            </p:cNvPr>
            <p:cNvSpPr>
              <a:spLocks noChangeAspect="1" noEditPoints="1"/>
            </p:cNvSpPr>
            <p:nvPr>
              <p:custDataLst>
                <p:tags r:id="rId4"/>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Calibri" panose="020F0502020204030204"/>
              </a:endParaRPr>
            </a:p>
          </p:txBody>
        </p:sp>
        <p:sp>
          <p:nvSpPr>
            <p:cNvPr id="33" name="Rechteck 32">
              <a:extLst>
                <a:ext uri="{FF2B5EF4-FFF2-40B4-BE49-F238E27FC236}">
                  <a16:creationId xmlns:a16="http://schemas.microsoft.com/office/drawing/2014/main" id="{CFE622B7-379C-6926-9E31-4AEF6980A148}"/>
                </a:ext>
              </a:extLst>
            </p:cNvPr>
            <p:cNvSpPr/>
            <p:nvPr/>
          </p:nvSpPr>
          <p:spPr>
            <a:xfrm>
              <a:off x="5513252" y="4205449"/>
              <a:ext cx="1374314" cy="72262"/>
            </a:xfrm>
            <a:prstGeom prst="rect">
              <a:avLst/>
            </a:prstGeom>
            <a:solidFill>
              <a:srgbClr val="D4B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4" name="Rechteck 33">
              <a:extLst>
                <a:ext uri="{FF2B5EF4-FFF2-40B4-BE49-F238E27FC236}">
                  <a16:creationId xmlns:a16="http://schemas.microsoft.com/office/drawing/2014/main" id="{1098EEB2-07EA-CE74-441D-D62CDBF62BC1}"/>
                </a:ext>
              </a:extLst>
            </p:cNvPr>
            <p:cNvSpPr/>
            <p:nvPr/>
          </p:nvSpPr>
          <p:spPr>
            <a:xfrm>
              <a:off x="6824773" y="3228411"/>
              <a:ext cx="62793" cy="97743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5" name="Rechteck 34">
              <a:extLst>
                <a:ext uri="{FF2B5EF4-FFF2-40B4-BE49-F238E27FC236}">
                  <a16:creationId xmlns:a16="http://schemas.microsoft.com/office/drawing/2014/main" id="{AAE80828-FD62-9447-31E7-63A454DA4BD0}"/>
                </a:ext>
              </a:extLst>
            </p:cNvPr>
            <p:cNvSpPr/>
            <p:nvPr/>
          </p:nvSpPr>
          <p:spPr>
            <a:xfrm>
              <a:off x="6424376" y="2967031"/>
              <a:ext cx="71719" cy="111816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7" name="Rechteck 36">
              <a:extLst>
                <a:ext uri="{FF2B5EF4-FFF2-40B4-BE49-F238E27FC236}">
                  <a16:creationId xmlns:a16="http://schemas.microsoft.com/office/drawing/2014/main" id="{018526EE-8BDF-5835-F2AC-C60F8D03C191}"/>
                </a:ext>
              </a:extLst>
            </p:cNvPr>
            <p:cNvSpPr/>
            <p:nvPr/>
          </p:nvSpPr>
          <p:spPr>
            <a:xfrm>
              <a:off x="5514799" y="3422910"/>
              <a:ext cx="74958" cy="78293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8" name="Rechteck 37">
              <a:extLst>
                <a:ext uri="{FF2B5EF4-FFF2-40B4-BE49-F238E27FC236}">
                  <a16:creationId xmlns:a16="http://schemas.microsoft.com/office/drawing/2014/main" id="{223AF3BC-1EB0-0976-4B7A-2EFD22EE4A49}"/>
                </a:ext>
              </a:extLst>
            </p:cNvPr>
            <p:cNvSpPr/>
            <p:nvPr/>
          </p:nvSpPr>
          <p:spPr>
            <a:xfrm>
              <a:off x="6496095" y="3209739"/>
              <a:ext cx="391471" cy="10576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0" name="Rechteck 39">
              <a:extLst>
                <a:ext uri="{FF2B5EF4-FFF2-40B4-BE49-F238E27FC236}">
                  <a16:creationId xmlns:a16="http://schemas.microsoft.com/office/drawing/2014/main" id="{B2704F61-C963-0B14-8841-B73C5E672448}"/>
                </a:ext>
              </a:extLst>
            </p:cNvPr>
            <p:cNvSpPr/>
            <p:nvPr/>
          </p:nvSpPr>
          <p:spPr>
            <a:xfrm>
              <a:off x="5516346" y="3308888"/>
              <a:ext cx="458364"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1" name="Rechteck 40">
              <a:extLst>
                <a:ext uri="{FF2B5EF4-FFF2-40B4-BE49-F238E27FC236}">
                  <a16:creationId xmlns:a16="http://schemas.microsoft.com/office/drawing/2014/main" id="{847FD345-D0A3-19BE-CD9A-3C8503A50901}"/>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2" name="Rechteck 41">
              <a:extLst>
                <a:ext uri="{FF2B5EF4-FFF2-40B4-BE49-F238E27FC236}">
                  <a16:creationId xmlns:a16="http://schemas.microsoft.com/office/drawing/2014/main" id="{CA87F2BA-9EF2-EAB3-0637-4F921D2AE99A}"/>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6" name="Rechteck 35">
              <a:extLst>
                <a:ext uri="{FF2B5EF4-FFF2-40B4-BE49-F238E27FC236}">
                  <a16:creationId xmlns:a16="http://schemas.microsoft.com/office/drawing/2014/main" id="{DCDFA421-2186-FED5-144B-585DDE195E0E}"/>
                </a:ext>
              </a:extLst>
            </p:cNvPr>
            <p:cNvSpPr/>
            <p:nvPr/>
          </p:nvSpPr>
          <p:spPr>
            <a:xfrm>
              <a:off x="5961096" y="2992042"/>
              <a:ext cx="71719" cy="42999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9" name="Rechteck 38">
              <a:extLst>
                <a:ext uri="{FF2B5EF4-FFF2-40B4-BE49-F238E27FC236}">
                  <a16:creationId xmlns:a16="http://schemas.microsoft.com/office/drawing/2014/main" id="{40F5CED6-CAA7-4300-D22B-8CD70341F206}"/>
                </a:ext>
              </a:extLst>
            </p:cNvPr>
            <p:cNvSpPr/>
            <p:nvPr/>
          </p:nvSpPr>
          <p:spPr>
            <a:xfrm>
              <a:off x="5961095" y="2957042"/>
              <a:ext cx="535000"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111" name="Gruppieren 110">
            <a:extLst>
              <a:ext uri="{FF2B5EF4-FFF2-40B4-BE49-F238E27FC236}">
                <a16:creationId xmlns:a16="http://schemas.microsoft.com/office/drawing/2014/main" id="{B220499A-9488-9584-60B7-5353EC68A178}"/>
              </a:ext>
            </a:extLst>
          </p:cNvPr>
          <p:cNvGrpSpPr/>
          <p:nvPr/>
        </p:nvGrpSpPr>
        <p:grpSpPr>
          <a:xfrm>
            <a:off x="6822222" y="2129054"/>
            <a:ext cx="2432384" cy="2334810"/>
            <a:chOff x="5513252" y="2957042"/>
            <a:chExt cx="1375861" cy="1320669"/>
          </a:xfrm>
        </p:grpSpPr>
        <p:sp>
          <p:nvSpPr>
            <p:cNvPr id="112" name="Rechteck 111">
              <a:extLst>
                <a:ext uri="{FF2B5EF4-FFF2-40B4-BE49-F238E27FC236}">
                  <a16:creationId xmlns:a16="http://schemas.microsoft.com/office/drawing/2014/main" id="{DFD103A7-AA2D-C322-F4B0-B5B76D253C7C}"/>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3" name="Rechteck 112">
              <a:extLst>
                <a:ext uri="{FF2B5EF4-FFF2-40B4-BE49-F238E27FC236}">
                  <a16:creationId xmlns:a16="http://schemas.microsoft.com/office/drawing/2014/main" id="{5A598778-0811-4A7D-D312-66275F16FB42}"/>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4" name="Rechteck 113">
              <a:extLst>
                <a:ext uri="{FF2B5EF4-FFF2-40B4-BE49-F238E27FC236}">
                  <a16:creationId xmlns:a16="http://schemas.microsoft.com/office/drawing/2014/main" id="{D7EF50B0-2FEE-83D3-4D8B-A9C8067A27B3}"/>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5" name="Building5" descr="{&quot;Key&quot;:&quot;POWER_USER_SHAPE_ICON&quot;,&quot;Value&quot;:&quot;POWER_USER_SHAPE_ICON_STYLE_1&quot;}">
              <a:extLst>
                <a:ext uri="{FF2B5EF4-FFF2-40B4-BE49-F238E27FC236}">
                  <a16:creationId xmlns:a16="http://schemas.microsoft.com/office/drawing/2014/main" id="{6DA10ABA-8FF9-D3FF-333B-3F5719E99211}"/>
                </a:ext>
              </a:extLst>
            </p:cNvPr>
            <p:cNvSpPr>
              <a:spLocks noChangeAspect="1" noEditPoints="1"/>
            </p:cNvSpPr>
            <p:nvPr>
              <p:custDataLst>
                <p:tags r:id="rId3"/>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Calibri" panose="020F0502020204030204"/>
              </a:endParaRPr>
            </a:p>
          </p:txBody>
        </p:sp>
        <p:sp>
          <p:nvSpPr>
            <p:cNvPr id="116" name="Rechteck 115">
              <a:extLst>
                <a:ext uri="{FF2B5EF4-FFF2-40B4-BE49-F238E27FC236}">
                  <a16:creationId xmlns:a16="http://schemas.microsoft.com/office/drawing/2014/main" id="{41E09176-D6CF-BCF0-A4C3-7C47DEB1A134}"/>
                </a:ext>
              </a:extLst>
            </p:cNvPr>
            <p:cNvSpPr/>
            <p:nvPr/>
          </p:nvSpPr>
          <p:spPr>
            <a:xfrm>
              <a:off x="5513252" y="4205449"/>
              <a:ext cx="1374314" cy="72262"/>
            </a:xfrm>
            <a:prstGeom prst="rect">
              <a:avLst/>
            </a:prstGeom>
            <a:solidFill>
              <a:srgbClr val="D4B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7" name="Rechteck 116">
              <a:extLst>
                <a:ext uri="{FF2B5EF4-FFF2-40B4-BE49-F238E27FC236}">
                  <a16:creationId xmlns:a16="http://schemas.microsoft.com/office/drawing/2014/main" id="{47F39933-454F-7ECF-F9CE-061175CB7E7F}"/>
                </a:ext>
              </a:extLst>
            </p:cNvPr>
            <p:cNvSpPr/>
            <p:nvPr/>
          </p:nvSpPr>
          <p:spPr>
            <a:xfrm>
              <a:off x="6824773" y="3228411"/>
              <a:ext cx="62793" cy="97743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8" name="Rechteck 117">
              <a:extLst>
                <a:ext uri="{FF2B5EF4-FFF2-40B4-BE49-F238E27FC236}">
                  <a16:creationId xmlns:a16="http://schemas.microsoft.com/office/drawing/2014/main" id="{419BC54E-2B51-02C7-7882-9608EC761BDA}"/>
                </a:ext>
              </a:extLst>
            </p:cNvPr>
            <p:cNvSpPr/>
            <p:nvPr/>
          </p:nvSpPr>
          <p:spPr>
            <a:xfrm>
              <a:off x="6424376" y="2967031"/>
              <a:ext cx="71719" cy="111816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19" name="Rechteck 118">
              <a:extLst>
                <a:ext uri="{FF2B5EF4-FFF2-40B4-BE49-F238E27FC236}">
                  <a16:creationId xmlns:a16="http://schemas.microsoft.com/office/drawing/2014/main" id="{3B5284BA-8F2C-9FF0-A7A5-18C25DAEDC8B}"/>
                </a:ext>
              </a:extLst>
            </p:cNvPr>
            <p:cNvSpPr/>
            <p:nvPr/>
          </p:nvSpPr>
          <p:spPr>
            <a:xfrm>
              <a:off x="5514799" y="3422910"/>
              <a:ext cx="74958" cy="78293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0" name="Rechteck 119">
              <a:extLst>
                <a:ext uri="{FF2B5EF4-FFF2-40B4-BE49-F238E27FC236}">
                  <a16:creationId xmlns:a16="http://schemas.microsoft.com/office/drawing/2014/main" id="{5E712275-B658-D716-8222-7BF40040A71B}"/>
                </a:ext>
              </a:extLst>
            </p:cNvPr>
            <p:cNvSpPr/>
            <p:nvPr/>
          </p:nvSpPr>
          <p:spPr>
            <a:xfrm>
              <a:off x="6496095" y="3209739"/>
              <a:ext cx="391471" cy="10576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1" name="Rechteck 120">
              <a:extLst>
                <a:ext uri="{FF2B5EF4-FFF2-40B4-BE49-F238E27FC236}">
                  <a16:creationId xmlns:a16="http://schemas.microsoft.com/office/drawing/2014/main" id="{0DD5F105-D20B-74E5-1B8C-4091358A2364}"/>
                </a:ext>
              </a:extLst>
            </p:cNvPr>
            <p:cNvSpPr/>
            <p:nvPr/>
          </p:nvSpPr>
          <p:spPr>
            <a:xfrm>
              <a:off x="5516346" y="3308888"/>
              <a:ext cx="458364"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2" name="Rechteck 121">
              <a:extLst>
                <a:ext uri="{FF2B5EF4-FFF2-40B4-BE49-F238E27FC236}">
                  <a16:creationId xmlns:a16="http://schemas.microsoft.com/office/drawing/2014/main" id="{D4221304-A7E6-048C-8241-656550F64F7E}"/>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3" name="Rechteck 122">
              <a:extLst>
                <a:ext uri="{FF2B5EF4-FFF2-40B4-BE49-F238E27FC236}">
                  <a16:creationId xmlns:a16="http://schemas.microsoft.com/office/drawing/2014/main" id="{CEB4C20F-101B-E366-8345-DB5CD59FEB22}"/>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4" name="Rechteck 123">
              <a:extLst>
                <a:ext uri="{FF2B5EF4-FFF2-40B4-BE49-F238E27FC236}">
                  <a16:creationId xmlns:a16="http://schemas.microsoft.com/office/drawing/2014/main" id="{BEDB2366-A719-DF36-2201-DA0792A4712F}"/>
                </a:ext>
              </a:extLst>
            </p:cNvPr>
            <p:cNvSpPr/>
            <p:nvPr/>
          </p:nvSpPr>
          <p:spPr>
            <a:xfrm>
              <a:off x="5961096" y="2992042"/>
              <a:ext cx="71719" cy="42999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5" name="Rechteck 124">
              <a:extLst>
                <a:ext uri="{FF2B5EF4-FFF2-40B4-BE49-F238E27FC236}">
                  <a16:creationId xmlns:a16="http://schemas.microsoft.com/office/drawing/2014/main" id="{8EFB0356-6216-5B77-3217-454ED88052FF}"/>
                </a:ext>
              </a:extLst>
            </p:cNvPr>
            <p:cNvSpPr/>
            <p:nvPr/>
          </p:nvSpPr>
          <p:spPr>
            <a:xfrm>
              <a:off x="5961095" y="2957042"/>
              <a:ext cx="535000"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grpSp>
      <p:sp>
        <p:nvSpPr>
          <p:cNvPr id="2" name="Titel 1">
            <a:extLst>
              <a:ext uri="{FF2B5EF4-FFF2-40B4-BE49-F238E27FC236}">
                <a16:creationId xmlns:a16="http://schemas.microsoft.com/office/drawing/2014/main" id="{7C979AA6-1B85-4811-72DB-1CA6182844A1}"/>
              </a:ext>
            </a:extLst>
          </p:cNvPr>
          <p:cNvSpPr>
            <a:spLocks noGrp="1"/>
          </p:cNvSpPr>
          <p:nvPr>
            <p:ph type="title"/>
          </p:nvPr>
        </p:nvSpPr>
        <p:spPr>
          <a:xfrm>
            <a:off x="636104" y="1406526"/>
            <a:ext cx="5184747" cy="829455"/>
          </a:xfrm>
        </p:spPr>
        <p:txBody>
          <a:bodyPr/>
          <a:lstStyle/>
          <a:p>
            <a:r>
              <a:rPr lang="de-DE" dirty="0"/>
              <a:t>Thermisches Energiemodell</a:t>
            </a:r>
          </a:p>
        </p:txBody>
      </p:sp>
      <mc:AlternateContent xmlns:mc="http://schemas.openxmlformats.org/markup-compatibility/2006">
        <mc:Choice xmlns:a14="http://schemas.microsoft.com/office/drawing/2010/main" Requires="a14">
          <p:sp>
            <p:nvSpPr>
              <p:cNvPr id="3" name="Textplatzhalter 2">
                <a:extLst>
                  <a:ext uri="{FF2B5EF4-FFF2-40B4-BE49-F238E27FC236}">
                    <a16:creationId xmlns:a16="http://schemas.microsoft.com/office/drawing/2014/main" id="{620BC3BD-5A22-04BB-06E6-6C4BF6BB24DD}"/>
                  </a:ext>
                </a:extLst>
              </p:cNvPr>
              <p:cNvSpPr>
                <a:spLocks noGrp="1"/>
              </p:cNvSpPr>
              <p:nvPr>
                <p:ph type="body" sz="quarter" idx="13"/>
              </p:nvPr>
            </p:nvSpPr>
            <p:spPr>
              <a:xfrm>
                <a:off x="9347257" y="1821253"/>
                <a:ext cx="3298535" cy="3977767"/>
              </a:xfrm>
            </p:spPr>
            <p:txBody>
              <a:bodyPr/>
              <a:lstStyle/>
              <a:p>
                <a:pPr marL="0" indent="0" defTabSz="107993">
                  <a:buNone/>
                </a:pPr>
                <a:r>
                  <a:rPr lang="de-DE" sz="1200" dirty="0"/>
                  <a:t>Gemäß ÖNORM B 8110 6-1 Dynamisches Verfahren</a:t>
                </a:r>
              </a:p>
              <a:p>
                <a:pPr marL="0" indent="0" defTabSz="107993">
                  <a:buNone/>
                </a:pPr>
                <a:r>
                  <a:rPr lang="de-DE" sz="1200" b="1" dirty="0"/>
                  <a:t>Zwei</a:t>
                </a:r>
                <a:r>
                  <a:rPr lang="de-DE" sz="1200" dirty="0"/>
                  <a:t> thermisch entkoppelte Zonen:</a:t>
                </a:r>
                <a:br>
                  <a:rPr lang="de-DE" sz="1200" dirty="0"/>
                </a:br>
                <a:r>
                  <a:rPr lang="de-DE" sz="1200" dirty="0"/>
                  <a:t>🥵 Ohne aktiver Kühlung </a:t>
                </a:r>
                <a:br>
                  <a:rPr lang="de-DE" sz="1200" dirty="0"/>
                </a:br>
                <a:r>
                  <a:rPr lang="de-DE" sz="1200" dirty="0"/>
                  <a:t>❄️ Mit aktiver Kühlung</a:t>
                </a:r>
              </a:p>
              <a:p>
                <a:pPr marL="0" indent="0" defTabSz="107993">
                  <a:buNone/>
                </a:pPr>
                <a14:m>
                  <m:oMath xmlns:m="http://schemas.openxmlformats.org/officeDocument/2006/math">
                    <m:r>
                      <a:rPr lang="de-DE" sz="1200" i="1">
                        <a:latin typeface="Cambria Math" panose="02040503050406030204" pitchFamily="18" charset="0"/>
                      </a:rPr>
                      <m:t>🌦️</m:t>
                    </m:r>
                    <m:sSub>
                      <m:sSubPr>
                        <m:ctrlPr>
                          <a:rPr lang="de-DE" sz="1200" i="1">
                            <a:latin typeface="Cambria Math" panose="02040503050406030204" pitchFamily="18" charset="0"/>
                          </a:rPr>
                        </m:ctrlPr>
                      </m:sSubPr>
                      <m:e>
                        <m:r>
                          <a:rPr lang="de-DE" sz="1200" i="1">
                            <a:latin typeface="Cambria Math" panose="02040503050406030204" pitchFamily="18" charset="0"/>
                          </a:rPr>
                          <m:t>𝑇</m:t>
                        </m:r>
                      </m:e>
                      <m:sub>
                        <m:r>
                          <a:rPr lang="de-DE" sz="1200" i="1">
                            <a:latin typeface="Cambria Math" panose="02040503050406030204" pitchFamily="18" charset="0"/>
                          </a:rPr>
                          <m:t>𝐴</m:t>
                        </m:r>
                      </m:sub>
                    </m:sSub>
                  </m:oMath>
                </a14:m>
                <a:r>
                  <a:rPr lang="de-DE" sz="1200" dirty="0"/>
                  <a:t> 		… Außentemperatur</a:t>
                </a:r>
                <a:br>
                  <a:rPr lang="de-DE" sz="1200" i="1" dirty="0">
                    <a:latin typeface="Cambria Math" panose="02040503050406030204" pitchFamily="18" charset="0"/>
                  </a:rPr>
                </a:br>
                <a:r>
                  <a:rPr lang="de-DE" sz="1200"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𝑇</m:t>
                        </m:r>
                      </m:e>
                      <m:sub>
                        <m:r>
                          <a:rPr lang="de-DE" sz="1200" i="1">
                            <a:latin typeface="Cambria Math" panose="02040503050406030204" pitchFamily="18" charset="0"/>
                          </a:rPr>
                          <m:t>𝑖</m:t>
                        </m:r>
                        <m:r>
                          <a:rPr lang="de-DE" sz="1200" i="1">
                            <a:latin typeface="Cambria Math" panose="02040503050406030204" pitchFamily="18" charset="0"/>
                          </a:rPr>
                          <m:t>,</m:t>
                        </m:r>
                        <m:r>
                          <a:rPr lang="de-DE" sz="1200" i="1">
                            <a:latin typeface="Cambria Math" panose="02040503050406030204" pitchFamily="18" charset="0"/>
                          </a:rPr>
                          <m:t>𝑢</m:t>
                        </m:r>
                      </m:sub>
                    </m:sSub>
                  </m:oMath>
                </a14:m>
                <a:r>
                  <a:rPr lang="de-DE" sz="1200" dirty="0"/>
                  <a:t> 	… Innentemperatur ungekühlter Bereich</a:t>
                </a:r>
                <a:br>
                  <a:rPr lang="de-DE" sz="1200" i="1" dirty="0">
                    <a:latin typeface="Cambria Math" panose="02040503050406030204" pitchFamily="18" charset="0"/>
                  </a:rPr>
                </a:br>
                <a:r>
                  <a:rPr lang="de-DE" sz="1200"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𝑇</m:t>
                        </m:r>
                      </m:e>
                      <m:sub>
                        <m:r>
                          <a:rPr lang="de-DE" sz="1200" i="1">
                            <a:latin typeface="Cambria Math" panose="02040503050406030204" pitchFamily="18" charset="0"/>
                          </a:rPr>
                          <m:t>𝑖</m:t>
                        </m:r>
                        <m:r>
                          <a:rPr lang="de-DE" sz="1200" i="1">
                            <a:latin typeface="Cambria Math" panose="02040503050406030204" pitchFamily="18" charset="0"/>
                          </a:rPr>
                          <m:t>,</m:t>
                        </m:r>
                        <m:r>
                          <a:rPr lang="de-DE" sz="1200" i="1">
                            <a:latin typeface="Cambria Math" panose="02040503050406030204" pitchFamily="18" charset="0"/>
                          </a:rPr>
                          <m:t>𝑐</m:t>
                        </m:r>
                      </m:sub>
                    </m:sSub>
                  </m:oMath>
                </a14:m>
                <a:r>
                  <a:rPr lang="de-DE" sz="1200" dirty="0"/>
                  <a:t> 	… Innentemperatur gekühlt Bereich</a:t>
                </a:r>
              </a:p>
              <a:p>
                <a:pPr marL="0" indent="0" defTabSz="107993">
                  <a:buNone/>
                </a:pPr>
                <a:r>
                  <a:rPr lang="de-DE" sz="1200" b="1" dirty="0"/>
                  <a:t>Wärmeflüsse</a:t>
                </a:r>
                <a:br>
                  <a:rPr lang="de-DE" sz="1200" b="1" dirty="0"/>
                </a:br>
                <a:r>
                  <a:rPr lang="de-DE" sz="1200" b="1"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𝑇</m:t>
                        </m:r>
                      </m:sub>
                    </m:sSub>
                  </m:oMath>
                </a14:m>
                <a:r>
                  <a:rPr lang="de-DE" sz="1200" dirty="0"/>
                  <a:t> 		… Transmissionswärmeverluste</a:t>
                </a:r>
                <a:br>
                  <a:rPr lang="de-DE" sz="1200" b="1" dirty="0"/>
                </a:br>
                <a:r>
                  <a:rPr lang="de-DE" sz="1200" b="1"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𝑉</m:t>
                        </m:r>
                      </m:sub>
                    </m:sSub>
                  </m:oMath>
                </a14:m>
                <a:r>
                  <a:rPr lang="de-DE" sz="1200" dirty="0"/>
                  <a:t> 		… Lüftungsverluste (Aktiver LW, Infiltration</a:t>
                </a:r>
                <a:br>
                  <a:rPr lang="de-DE" sz="1200" b="1" dirty="0"/>
                </a:br>
                <a:r>
                  <a:rPr lang="de-DE" sz="1200" b="1"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𝑛𝑉</m:t>
                        </m:r>
                      </m:sub>
                    </m:sSub>
                  </m:oMath>
                </a14:m>
                <a:r>
                  <a:rPr lang="de-DE" sz="1200" dirty="0"/>
                  <a:t> 	… Nachtlüftung (nur 🥵 Zone)</a:t>
                </a:r>
                <a:br>
                  <a:rPr lang="de-DE" sz="1200" b="1" dirty="0"/>
                </a:br>
                <a:r>
                  <a:rPr lang="de-DE" sz="1200"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𝑆</m:t>
                        </m:r>
                      </m:sub>
                    </m:sSub>
                  </m:oMath>
                </a14:m>
                <a:r>
                  <a:rPr lang="de-DE" sz="1200" dirty="0"/>
                  <a:t> 		… Solare Gewinne (Fenster)</a:t>
                </a:r>
                <a:r>
                  <a:rPr lang="de-DE" sz="1200" b="1" dirty="0"/>
                  <a:t> </a:t>
                </a:r>
                <a:br>
                  <a:rPr lang="de-DE" sz="1200" b="1" dirty="0"/>
                </a:br>
                <a:r>
                  <a:rPr lang="de-DE" sz="1200" b="1"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𝐼</m:t>
                        </m:r>
                      </m:sub>
                    </m:sSub>
                  </m:oMath>
                </a14:m>
                <a:r>
                  <a:rPr lang="de-DE" sz="1200" dirty="0"/>
                  <a:t> 		… Innere Gewinne (Nutzer, …)</a:t>
                </a:r>
                <a:br>
                  <a:rPr lang="de-DE" sz="1200" i="1" dirty="0">
                    <a:latin typeface="Cambria Math" panose="02040503050406030204" pitchFamily="18" charset="0"/>
                  </a:rPr>
                </a:br>
                <a:r>
                  <a:rPr lang="de-DE" sz="1200" dirty="0">
                    <a:latin typeface="Cambria Math" panose="02040503050406030204" pitchFamily="18" charset="0"/>
                  </a:rPr>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𝐻</m:t>
                        </m:r>
                      </m:sub>
                    </m:sSub>
                  </m:oMath>
                </a14:m>
                <a:r>
                  <a:rPr lang="de-DE" sz="1200" dirty="0"/>
                  <a:t> 	… Heizung</a:t>
                </a:r>
                <a:br>
                  <a:rPr lang="de-DE" sz="1200" b="1" dirty="0"/>
                </a:br>
                <a:r>
                  <a:rPr lang="de-DE" sz="1200" dirty="0"/>
                  <a:t>❄️</a:t>
                </a:r>
                <a14:m>
                  <m:oMath xmlns:m="http://schemas.openxmlformats.org/officeDocument/2006/math">
                    <m:sSub>
                      <m:sSubPr>
                        <m:ctrlPr>
                          <a:rPr lang="de-DE" sz="1200" i="1">
                            <a:latin typeface="Cambria Math" panose="02040503050406030204" pitchFamily="18" charset="0"/>
                          </a:rPr>
                        </m:ctrlPr>
                      </m:sSubPr>
                      <m:e>
                        <m:r>
                          <a:rPr lang="de-DE" sz="1200" i="1">
                            <a:latin typeface="Cambria Math" panose="02040503050406030204" pitchFamily="18" charset="0"/>
                          </a:rPr>
                          <m:t>𝑄</m:t>
                        </m:r>
                      </m:e>
                      <m:sub>
                        <m:r>
                          <a:rPr lang="de-DE" sz="1200" i="1">
                            <a:latin typeface="Cambria Math" panose="02040503050406030204" pitchFamily="18" charset="0"/>
                          </a:rPr>
                          <m:t>𝐶</m:t>
                        </m:r>
                      </m:sub>
                    </m:sSub>
                  </m:oMath>
                </a14:m>
                <a:r>
                  <a:rPr lang="de-DE" sz="1200" dirty="0"/>
                  <a:t> 		… Kühlung (Nur ❄️ Zone)</a:t>
                </a:r>
              </a:p>
              <a:p>
                <a:pPr marL="0" indent="0" defTabSz="107993">
                  <a:buNone/>
                </a:pPr>
                <a:r>
                  <a:rPr lang="de-DE" sz="1200" b="1" dirty="0"/>
                  <a:t>Thermische Hülle </a:t>
                </a:r>
                <a:r>
                  <a:rPr lang="de-DE" sz="1200" dirty="0"/>
                  <a:t>(Wärmebilanzgrenze)</a:t>
                </a:r>
                <a:br>
                  <a:rPr lang="de-DE" sz="1200" dirty="0"/>
                </a:br>
                <a:r>
                  <a:rPr lang="de-DE" sz="1200" dirty="0"/>
                  <a:t>🟥Außenwände</a:t>
                </a:r>
                <a:br>
                  <a:rPr lang="de-DE" sz="1200" dirty="0"/>
                </a:br>
                <a:r>
                  <a:rPr lang="de-DE" sz="1200" dirty="0"/>
                  <a:t>🟫Kellerdecke / Erdberührter Fußboden</a:t>
                </a:r>
                <a:br>
                  <a:rPr lang="de-DE" sz="1200" dirty="0"/>
                </a:br>
                <a:r>
                  <a:rPr lang="de-DE" sz="1200" dirty="0"/>
                  <a:t>🟩Dach</a:t>
                </a:r>
                <a:br>
                  <a:rPr lang="de-DE" sz="1200" dirty="0"/>
                </a:br>
                <a:r>
                  <a:rPr lang="de-DE" sz="1200" dirty="0"/>
                  <a:t>🟦Fenster (je 4 Himmelsrichtungen)</a:t>
                </a:r>
              </a:p>
              <a:p>
                <a:pPr marL="0" indent="0" defTabSz="107993">
                  <a:buNone/>
                </a:pPr>
                <a:endParaRPr lang="de-DE" sz="1200" dirty="0"/>
              </a:p>
              <a:p>
                <a:pPr marL="0" indent="0" defTabSz="107993">
                  <a:buNone/>
                </a:pPr>
                <a:endParaRPr lang="de-DE" sz="1200" dirty="0"/>
              </a:p>
              <a:p>
                <a:pPr marL="0" indent="0" defTabSz="107993">
                  <a:buNone/>
                </a:pPr>
                <a:endParaRPr lang="de-DE" sz="1200" dirty="0"/>
              </a:p>
            </p:txBody>
          </p:sp>
        </mc:Choice>
        <mc:Fallback>
          <p:sp>
            <p:nvSpPr>
              <p:cNvPr id="3" name="Textplatzhalter 2">
                <a:extLst>
                  <a:ext uri="{FF2B5EF4-FFF2-40B4-BE49-F238E27FC236}">
                    <a16:creationId xmlns:a16="http://schemas.microsoft.com/office/drawing/2014/main" id="{620BC3BD-5A22-04BB-06E6-6C4BF6BB24DD}"/>
                  </a:ext>
                </a:extLst>
              </p:cNvPr>
              <p:cNvSpPr>
                <a:spLocks noGrp="1" noRot="1" noChangeAspect="1" noMove="1" noResize="1" noEditPoints="1" noAdjustHandles="1" noChangeArrowheads="1" noChangeShapeType="1" noTextEdit="1"/>
              </p:cNvSpPr>
              <p:nvPr>
                <p:ph type="body" sz="quarter" idx="13"/>
              </p:nvPr>
            </p:nvSpPr>
            <p:spPr>
              <a:xfrm>
                <a:off x="9347257" y="1821253"/>
                <a:ext cx="3298535" cy="3977767"/>
              </a:xfrm>
              <a:blipFill>
                <a:blip r:embed="rId6"/>
                <a:stretch>
                  <a:fillRect l="-2773" t="-1227" b="-2607"/>
                </a:stretch>
              </a:blipFill>
            </p:spPr>
            <p:txBody>
              <a:bodyPr/>
              <a:lstStyle/>
              <a:p>
                <a:r>
                  <a:rPr lang="de-DE">
                    <a:noFill/>
                  </a:rPr>
                  <a:t> </a:t>
                </a:r>
              </a:p>
            </p:txBody>
          </p:sp>
        </mc:Fallback>
      </mc:AlternateContent>
      <p:sp>
        <p:nvSpPr>
          <p:cNvPr id="5" name="Foliennummernplatzhalter 4">
            <a:extLst>
              <a:ext uri="{FF2B5EF4-FFF2-40B4-BE49-F238E27FC236}">
                <a16:creationId xmlns:a16="http://schemas.microsoft.com/office/drawing/2014/main" id="{58A2FEAD-AE28-F843-FBEB-E61D889A4F8F}"/>
              </a:ext>
            </a:extLst>
          </p:cNvPr>
          <p:cNvSpPr>
            <a:spLocks noGrp="1"/>
          </p:cNvSpPr>
          <p:nvPr>
            <p:ph type="sldNum" sz="quarter" idx="12"/>
          </p:nvPr>
        </p:nvSpPr>
        <p:spPr/>
        <p:txBody>
          <a:bodyPr/>
          <a:lstStyle/>
          <a:p>
            <a:fld id="{1206269C-C24E-4E80-9A4B-E7E19BB59A67}" type="slidenum">
              <a:rPr lang="de-AT" smtClean="0"/>
              <a:pPr/>
              <a:t>12</a:t>
            </a:fld>
            <a:endParaRPr lang="de-AT" dirty="0"/>
          </a:p>
        </p:txBody>
      </p:sp>
      <mc:AlternateContent xmlns:mc="http://schemas.openxmlformats.org/markup-compatibility/2006" xmlns:a14="http://schemas.microsoft.com/office/drawing/2010/main">
        <mc:Choice Requires="a14">
          <p:sp>
            <p:nvSpPr>
              <p:cNvPr id="43" name="Pfeil: nach rechts 42">
                <a:extLst>
                  <a:ext uri="{FF2B5EF4-FFF2-40B4-BE49-F238E27FC236}">
                    <a16:creationId xmlns:a16="http://schemas.microsoft.com/office/drawing/2014/main" id="{26BAC209-306B-5864-3B00-93082F1ED272}"/>
                  </a:ext>
                </a:extLst>
              </p:cNvPr>
              <p:cNvSpPr/>
              <p:nvPr/>
            </p:nvSpPr>
            <p:spPr>
              <a:xfrm>
                <a:off x="4125706" y="2284601"/>
                <a:ext cx="985340" cy="508940"/>
              </a:xfrm>
              <a:prstGeom prst="rightArrow">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𝑠</m:t>
                        </m:r>
                      </m:sub>
                    </m:sSub>
                  </m:oMath>
                </a14:m>
                <a:endParaRPr lang="de-AT" dirty="0"/>
              </a:p>
            </p:txBody>
          </p:sp>
        </mc:Choice>
        <mc:Fallback xmlns="">
          <p:sp>
            <p:nvSpPr>
              <p:cNvPr id="43" name="Pfeil: nach rechts 42">
                <a:extLst>
                  <a:ext uri="{FF2B5EF4-FFF2-40B4-BE49-F238E27FC236}">
                    <a16:creationId xmlns:a16="http://schemas.microsoft.com/office/drawing/2014/main" id="{1578E240-F8F8-9C29-9E58-5B7494DF8022}"/>
                  </a:ext>
                </a:extLst>
              </p:cNvPr>
              <p:cNvSpPr>
                <a:spLocks noRot="1" noChangeAspect="1" noMove="1" noResize="1" noEditPoints="1" noAdjustHandles="1" noChangeArrowheads="1" noChangeShapeType="1" noTextEdit="1"/>
              </p:cNvSpPr>
              <p:nvPr/>
            </p:nvSpPr>
            <p:spPr>
              <a:xfrm>
                <a:off x="4125706" y="2284601"/>
                <a:ext cx="985340" cy="508940"/>
              </a:xfrm>
              <a:prstGeom prst="rightArrow">
                <a:avLst/>
              </a:prstGeom>
              <a:blipFill>
                <a:blip r:embed="rId8"/>
                <a:stretch>
                  <a:fillRect b="-4819"/>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5" name="Pfeil: nach links und rechts 44">
                <a:extLst>
                  <a:ext uri="{FF2B5EF4-FFF2-40B4-BE49-F238E27FC236}">
                    <a16:creationId xmlns:a16="http://schemas.microsoft.com/office/drawing/2014/main" id="{E6E2C4E5-BE26-06FD-92C8-9ACAC242574D}"/>
                  </a:ext>
                </a:extLst>
              </p:cNvPr>
              <p:cNvSpPr/>
              <p:nvPr/>
            </p:nvSpPr>
            <p:spPr>
              <a:xfrm>
                <a:off x="3646203" y="3782037"/>
                <a:ext cx="981346" cy="515110"/>
              </a:xfrm>
              <a:prstGeom prst="lef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𝑇</m:t>
                        </m:r>
                      </m:sub>
                    </m:sSub>
                  </m:oMath>
                </a14:m>
                <a:endParaRPr lang="de-AT" dirty="0"/>
              </a:p>
            </p:txBody>
          </p:sp>
        </mc:Choice>
        <mc:Fallback xmlns="">
          <p:sp>
            <p:nvSpPr>
              <p:cNvPr id="45" name="Pfeil: nach links und rechts 44">
                <a:extLst>
                  <a:ext uri="{FF2B5EF4-FFF2-40B4-BE49-F238E27FC236}">
                    <a16:creationId xmlns:a16="http://schemas.microsoft.com/office/drawing/2014/main" id="{CFB06A3F-F80A-4B98-FF48-0C48BEA5730E}"/>
                  </a:ext>
                </a:extLst>
              </p:cNvPr>
              <p:cNvSpPr>
                <a:spLocks noRot="1" noChangeAspect="1" noMove="1" noResize="1" noEditPoints="1" noAdjustHandles="1" noChangeArrowheads="1" noChangeShapeType="1" noTextEdit="1"/>
              </p:cNvSpPr>
              <p:nvPr/>
            </p:nvSpPr>
            <p:spPr>
              <a:xfrm>
                <a:off x="3646203" y="3782037"/>
                <a:ext cx="981346" cy="515110"/>
              </a:xfrm>
              <a:prstGeom prst="leftRightArrow">
                <a:avLst/>
              </a:prstGeom>
              <a:blipFill>
                <a:blip r:embed="rId9"/>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6" name="Pfeil: nach links und rechts 45">
                <a:extLst>
                  <a:ext uri="{FF2B5EF4-FFF2-40B4-BE49-F238E27FC236}">
                    <a16:creationId xmlns:a16="http://schemas.microsoft.com/office/drawing/2014/main" id="{BE09D526-B98D-CA73-B518-AC45FEDBBAB4}"/>
                  </a:ext>
                </a:extLst>
              </p:cNvPr>
              <p:cNvSpPr/>
              <p:nvPr/>
            </p:nvSpPr>
            <p:spPr>
              <a:xfrm>
                <a:off x="3643468" y="3519964"/>
                <a:ext cx="981346" cy="515110"/>
              </a:xfrm>
              <a:prstGeom prst="leftRightArrow">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𝑉</m:t>
                        </m:r>
                      </m:sub>
                    </m:sSub>
                  </m:oMath>
                </a14:m>
                <a:endParaRPr lang="de-AT" dirty="0"/>
              </a:p>
            </p:txBody>
          </p:sp>
        </mc:Choice>
        <mc:Fallback xmlns="">
          <p:sp>
            <p:nvSpPr>
              <p:cNvPr id="46" name="Pfeil: nach links und rechts 45">
                <a:extLst>
                  <a:ext uri="{FF2B5EF4-FFF2-40B4-BE49-F238E27FC236}">
                    <a16:creationId xmlns:a16="http://schemas.microsoft.com/office/drawing/2014/main" id="{384F4A0F-5C30-D258-CA1D-5FAA30C584DC}"/>
                  </a:ext>
                </a:extLst>
              </p:cNvPr>
              <p:cNvSpPr>
                <a:spLocks noRot="1" noChangeAspect="1" noMove="1" noResize="1" noEditPoints="1" noAdjustHandles="1" noChangeArrowheads="1" noChangeShapeType="1" noTextEdit="1"/>
              </p:cNvSpPr>
              <p:nvPr/>
            </p:nvSpPr>
            <p:spPr>
              <a:xfrm>
                <a:off x="3643468" y="3519964"/>
                <a:ext cx="981346" cy="515110"/>
              </a:xfrm>
              <a:prstGeom prst="leftRightArrow">
                <a:avLst/>
              </a:prstGeom>
              <a:blipFill>
                <a:blip r:embed="rId10"/>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7" name="Pfeil: nach rechts 46">
                <a:extLst>
                  <a:ext uri="{FF2B5EF4-FFF2-40B4-BE49-F238E27FC236}">
                    <a16:creationId xmlns:a16="http://schemas.microsoft.com/office/drawing/2014/main" id="{AD020F05-36B9-F8EE-6DB8-06B37FBC3ED0}"/>
                  </a:ext>
                </a:extLst>
              </p:cNvPr>
              <p:cNvSpPr/>
              <p:nvPr/>
            </p:nvSpPr>
            <p:spPr>
              <a:xfrm flipH="1">
                <a:off x="5585009" y="3922461"/>
                <a:ext cx="823947" cy="508940"/>
              </a:xfrm>
              <a:prstGeom prst="rightArrow">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𝐼</m:t>
                        </m:r>
                      </m:sub>
                    </m:sSub>
                  </m:oMath>
                </a14:m>
                <a:endParaRPr lang="de-AT" dirty="0"/>
              </a:p>
            </p:txBody>
          </p:sp>
        </mc:Choice>
        <mc:Fallback xmlns="">
          <p:sp>
            <p:nvSpPr>
              <p:cNvPr id="47" name="Pfeil: nach rechts 46">
                <a:extLst>
                  <a:ext uri="{FF2B5EF4-FFF2-40B4-BE49-F238E27FC236}">
                    <a16:creationId xmlns:a16="http://schemas.microsoft.com/office/drawing/2014/main" id="{B9134691-046B-2077-94CB-D600C93D8E38}"/>
                  </a:ext>
                </a:extLst>
              </p:cNvPr>
              <p:cNvSpPr>
                <a:spLocks noRot="1" noChangeAspect="1" noMove="1" noResize="1" noEditPoints="1" noAdjustHandles="1" noChangeArrowheads="1" noChangeShapeType="1" noTextEdit="1"/>
              </p:cNvSpPr>
              <p:nvPr/>
            </p:nvSpPr>
            <p:spPr>
              <a:xfrm flipH="1">
                <a:off x="5585009" y="3922461"/>
                <a:ext cx="823947" cy="508940"/>
              </a:xfrm>
              <a:prstGeom prst="rightArrow">
                <a:avLst/>
              </a:prstGeom>
              <a:blipFill>
                <a:blip r:embed="rId11"/>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7" name="Pfeil: nach rechts 66">
                <a:extLst>
                  <a:ext uri="{FF2B5EF4-FFF2-40B4-BE49-F238E27FC236}">
                    <a16:creationId xmlns:a16="http://schemas.microsoft.com/office/drawing/2014/main" id="{CD84B326-4285-FD94-2FB9-CE5BC5428A77}"/>
                  </a:ext>
                </a:extLst>
              </p:cNvPr>
              <p:cNvSpPr/>
              <p:nvPr/>
            </p:nvSpPr>
            <p:spPr>
              <a:xfrm flipH="1">
                <a:off x="3655092" y="2983555"/>
                <a:ext cx="949789" cy="508940"/>
              </a:xfrm>
              <a:prstGeom prst="rightArrow">
                <a:avLst/>
              </a:prstGeom>
              <a:solidFill>
                <a:srgbClr val="4760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𝑛𝑉</m:t>
                        </m:r>
                      </m:sub>
                    </m:sSub>
                  </m:oMath>
                </a14:m>
                <a:endParaRPr lang="de-AT" dirty="0"/>
              </a:p>
            </p:txBody>
          </p:sp>
        </mc:Choice>
        <mc:Fallback xmlns="">
          <p:sp>
            <p:nvSpPr>
              <p:cNvPr id="67" name="Pfeil: nach rechts 66">
                <a:extLst>
                  <a:ext uri="{FF2B5EF4-FFF2-40B4-BE49-F238E27FC236}">
                    <a16:creationId xmlns:a16="http://schemas.microsoft.com/office/drawing/2014/main" id="{08F31223-ACC7-D81C-E993-B78CDE62E568}"/>
                  </a:ext>
                </a:extLst>
              </p:cNvPr>
              <p:cNvSpPr>
                <a:spLocks noRot="1" noChangeAspect="1" noMove="1" noResize="1" noEditPoints="1" noAdjustHandles="1" noChangeArrowheads="1" noChangeShapeType="1" noTextEdit="1"/>
              </p:cNvSpPr>
              <p:nvPr/>
            </p:nvSpPr>
            <p:spPr>
              <a:xfrm flipH="1">
                <a:off x="3655092" y="2983555"/>
                <a:ext cx="949789" cy="508940"/>
              </a:xfrm>
              <a:prstGeom prst="rightArrow">
                <a:avLst/>
              </a:prstGeom>
              <a:blipFill>
                <a:blip r:embed="rId12"/>
                <a:stretch>
                  <a:fillRect/>
                </a:stretch>
              </a:blipFill>
              <a:ln>
                <a:noFill/>
              </a:ln>
            </p:spPr>
            <p:txBody>
              <a:bodyPr/>
              <a:lstStyle/>
              <a:p>
                <a:r>
                  <a:rPr lang="de-DE">
                    <a:noFill/>
                  </a:rPr>
                  <a:t> </a:t>
                </a:r>
              </a:p>
            </p:txBody>
          </p:sp>
        </mc:Fallback>
      </mc:AlternateContent>
      <p:sp>
        <p:nvSpPr>
          <p:cNvPr id="68" name="Rechteck 67">
            <a:extLst>
              <a:ext uri="{FF2B5EF4-FFF2-40B4-BE49-F238E27FC236}">
                <a16:creationId xmlns:a16="http://schemas.microsoft.com/office/drawing/2014/main" id="{A63C7160-C2B3-E0C3-C400-74D38D7D474C}"/>
              </a:ext>
            </a:extLst>
          </p:cNvPr>
          <p:cNvSpPr/>
          <p:nvPr/>
        </p:nvSpPr>
        <p:spPr>
          <a:xfrm>
            <a:off x="4774280" y="3132481"/>
            <a:ext cx="905971" cy="825596"/>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3C2ABF41-C9EF-C2E9-4D06-651F291C232F}"/>
                  </a:ext>
                </a:extLst>
              </p:cNvPr>
              <p:cNvSpPr txBox="1"/>
              <p:nvPr/>
            </p:nvSpPr>
            <p:spPr>
              <a:xfrm>
                <a:off x="4619366" y="3227139"/>
                <a:ext cx="1789591" cy="477888"/>
              </a:xfrm>
              <a:prstGeom prst="rect">
                <a:avLst/>
              </a:prstGeom>
              <a:noFill/>
            </p:spPr>
            <p:txBody>
              <a:bodyPr wrap="square">
                <a:spAutoFit/>
              </a:bodyPr>
              <a:lstStyle/>
              <a:p>
                <a:r>
                  <a:rPr lang="de-DE" sz="2400" dirty="0"/>
                  <a:t>🥵 </a:t>
                </a:r>
                <a14:m>
                  <m:oMath xmlns:m="http://schemas.openxmlformats.org/officeDocument/2006/math">
                    <m:sSub>
                      <m:sSubPr>
                        <m:ctrlPr>
                          <a:rPr lang="de-DE" sz="2400" i="1">
                            <a:latin typeface="Cambria Math" panose="02040503050406030204" pitchFamily="18" charset="0"/>
                          </a:rPr>
                        </m:ctrlPr>
                      </m:sSubPr>
                      <m:e>
                        <m:r>
                          <a:rPr lang="de-DE" sz="2400" i="1">
                            <a:latin typeface="Cambria Math" panose="02040503050406030204" pitchFamily="18" charset="0"/>
                          </a:rPr>
                          <m:t>𝑇</m:t>
                        </m:r>
                      </m:e>
                      <m:sub>
                        <m:r>
                          <a:rPr lang="de-DE" sz="2400" i="1">
                            <a:latin typeface="Cambria Math" panose="02040503050406030204" pitchFamily="18" charset="0"/>
                          </a:rPr>
                          <m:t>𝑖</m:t>
                        </m:r>
                        <m:r>
                          <a:rPr lang="de-DE" sz="2400" i="1">
                            <a:latin typeface="Cambria Math" panose="02040503050406030204" pitchFamily="18" charset="0"/>
                          </a:rPr>
                          <m:t>, </m:t>
                        </m:r>
                        <m:r>
                          <a:rPr lang="de-DE" sz="2400" i="1">
                            <a:latin typeface="Cambria Math" panose="02040503050406030204" pitchFamily="18" charset="0"/>
                          </a:rPr>
                          <m:t>𝑢</m:t>
                        </m:r>
                      </m:sub>
                    </m:sSub>
                  </m:oMath>
                </a14:m>
                <a:endParaRPr lang="de-AT" sz="2400" dirty="0"/>
              </a:p>
            </p:txBody>
          </p:sp>
        </mc:Choice>
        <mc:Fallback xmlns="">
          <p:sp>
            <p:nvSpPr>
              <p:cNvPr id="11" name="Textfeld 10">
                <a:extLst>
                  <a:ext uri="{FF2B5EF4-FFF2-40B4-BE49-F238E27FC236}">
                    <a16:creationId xmlns:a16="http://schemas.microsoft.com/office/drawing/2014/main" id="{18615DD0-2B18-6B53-46A1-B44B5B10537C}"/>
                  </a:ext>
                </a:extLst>
              </p:cNvPr>
              <p:cNvSpPr txBox="1">
                <a:spLocks noRot="1" noChangeAspect="1" noMove="1" noResize="1" noEditPoints="1" noAdjustHandles="1" noChangeArrowheads="1" noChangeShapeType="1" noTextEdit="1"/>
              </p:cNvSpPr>
              <p:nvPr/>
            </p:nvSpPr>
            <p:spPr>
              <a:xfrm>
                <a:off x="4619366" y="3227139"/>
                <a:ext cx="1789591" cy="477888"/>
              </a:xfrm>
              <a:prstGeom prst="rect">
                <a:avLst/>
              </a:prstGeom>
              <a:blipFill>
                <a:blip r:embed="rId13"/>
                <a:stretch>
                  <a:fillRect l="-5461" t="-10127" b="-24051"/>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3" name="Pfeil: nach rechts 62">
                <a:extLst>
                  <a:ext uri="{FF2B5EF4-FFF2-40B4-BE49-F238E27FC236}">
                    <a16:creationId xmlns:a16="http://schemas.microsoft.com/office/drawing/2014/main" id="{FE15B2E9-6B00-40AF-BC25-D129E479E3D5}"/>
                  </a:ext>
                </a:extLst>
              </p:cNvPr>
              <p:cNvSpPr/>
              <p:nvPr/>
            </p:nvSpPr>
            <p:spPr>
              <a:xfrm>
                <a:off x="6971627" y="2266941"/>
                <a:ext cx="985340" cy="508940"/>
              </a:xfrm>
              <a:prstGeom prst="rightArrow">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𝑠</m:t>
                        </m:r>
                      </m:sub>
                    </m:sSub>
                  </m:oMath>
                </a14:m>
                <a:endParaRPr lang="de-AT" dirty="0"/>
              </a:p>
            </p:txBody>
          </p:sp>
        </mc:Choice>
        <mc:Fallback xmlns="">
          <p:sp>
            <p:nvSpPr>
              <p:cNvPr id="63" name="Pfeil: nach rechts 62">
                <a:extLst>
                  <a:ext uri="{FF2B5EF4-FFF2-40B4-BE49-F238E27FC236}">
                    <a16:creationId xmlns:a16="http://schemas.microsoft.com/office/drawing/2014/main" id="{4DE4B366-311F-F171-7D1D-79349D708D9E}"/>
                  </a:ext>
                </a:extLst>
              </p:cNvPr>
              <p:cNvSpPr>
                <a:spLocks noRot="1" noChangeAspect="1" noMove="1" noResize="1" noEditPoints="1" noAdjustHandles="1" noChangeArrowheads="1" noChangeShapeType="1" noTextEdit="1"/>
              </p:cNvSpPr>
              <p:nvPr/>
            </p:nvSpPr>
            <p:spPr>
              <a:xfrm>
                <a:off x="6971627" y="2266941"/>
                <a:ext cx="985340" cy="508940"/>
              </a:xfrm>
              <a:prstGeom prst="rightArrow">
                <a:avLst/>
              </a:prstGeom>
              <a:blipFill>
                <a:blip r:embed="rId14"/>
                <a:stretch>
                  <a:fillRect l="-1863" b="-6024"/>
                </a:stretch>
              </a:blipFill>
              <a:ln>
                <a:noFill/>
              </a:ln>
            </p:spPr>
            <p:txBody>
              <a:bodyPr/>
              <a:lstStyle/>
              <a:p>
                <a:r>
                  <a:rPr lang="de-DE">
                    <a:noFill/>
                  </a:rPr>
                  <a:t> </a:t>
                </a:r>
              </a:p>
            </p:txBody>
          </p:sp>
        </mc:Fallback>
      </mc:AlternateContent>
      <p:sp>
        <p:nvSpPr>
          <p:cNvPr id="71" name="Rechteck 70">
            <a:extLst>
              <a:ext uri="{FF2B5EF4-FFF2-40B4-BE49-F238E27FC236}">
                <a16:creationId xmlns:a16="http://schemas.microsoft.com/office/drawing/2014/main" id="{767D1DA5-D344-FFD5-E7A0-A0B8A9C33243}"/>
              </a:ext>
            </a:extLst>
          </p:cNvPr>
          <p:cNvSpPr/>
          <p:nvPr/>
        </p:nvSpPr>
        <p:spPr>
          <a:xfrm>
            <a:off x="7639027" y="3067681"/>
            <a:ext cx="905971" cy="825596"/>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CD53BDD9-A3A3-9FA2-3A23-C73C159EDCB5}"/>
                  </a:ext>
                </a:extLst>
              </p:cNvPr>
              <p:cNvSpPr txBox="1"/>
              <p:nvPr/>
            </p:nvSpPr>
            <p:spPr>
              <a:xfrm>
                <a:off x="7370459" y="3246745"/>
                <a:ext cx="1247120" cy="477888"/>
              </a:xfrm>
              <a:prstGeom prst="rect">
                <a:avLst/>
              </a:prstGeom>
              <a:noFill/>
            </p:spPr>
            <p:txBody>
              <a:bodyPr wrap="square">
                <a:spAutoFit/>
              </a:bodyPr>
              <a:lstStyle/>
              <a:p>
                <a:r>
                  <a:rPr lang="de-DE" sz="2400" dirty="0"/>
                  <a:t>❄️</a:t>
                </a:r>
                <a14:m>
                  <m:oMath xmlns:m="http://schemas.openxmlformats.org/officeDocument/2006/math">
                    <m:sSub>
                      <m:sSubPr>
                        <m:ctrlPr>
                          <a:rPr lang="de-DE" sz="2400" i="1">
                            <a:latin typeface="Cambria Math" panose="02040503050406030204" pitchFamily="18" charset="0"/>
                          </a:rPr>
                        </m:ctrlPr>
                      </m:sSubPr>
                      <m:e>
                        <m:r>
                          <a:rPr lang="de-DE" sz="2400" i="1">
                            <a:latin typeface="Cambria Math" panose="02040503050406030204" pitchFamily="18" charset="0"/>
                          </a:rPr>
                          <m:t>𝑇</m:t>
                        </m:r>
                      </m:e>
                      <m:sub>
                        <m:r>
                          <a:rPr lang="de-DE" sz="2400" i="1">
                            <a:latin typeface="Cambria Math" panose="02040503050406030204" pitchFamily="18" charset="0"/>
                          </a:rPr>
                          <m:t>𝑖</m:t>
                        </m:r>
                        <m:r>
                          <a:rPr lang="de-DE" sz="2400" i="1">
                            <a:latin typeface="Cambria Math" panose="02040503050406030204" pitchFamily="18" charset="0"/>
                          </a:rPr>
                          <m:t>, </m:t>
                        </m:r>
                        <m:r>
                          <a:rPr lang="de-DE" sz="2400" i="1">
                            <a:latin typeface="Cambria Math" panose="02040503050406030204" pitchFamily="18" charset="0"/>
                          </a:rPr>
                          <m:t>𝑐</m:t>
                        </m:r>
                      </m:sub>
                    </m:sSub>
                  </m:oMath>
                </a14:m>
                <a:endParaRPr lang="de-AT" sz="2400" dirty="0"/>
              </a:p>
            </p:txBody>
          </p:sp>
        </mc:Choice>
        <mc:Fallback xmlns="">
          <p:sp>
            <p:nvSpPr>
              <p:cNvPr id="13" name="Textfeld 12">
                <a:extLst>
                  <a:ext uri="{FF2B5EF4-FFF2-40B4-BE49-F238E27FC236}">
                    <a16:creationId xmlns:a16="http://schemas.microsoft.com/office/drawing/2014/main" id="{34A17B8B-7BA7-B491-81A8-32109BB43DAA}"/>
                  </a:ext>
                </a:extLst>
              </p:cNvPr>
              <p:cNvSpPr txBox="1">
                <a:spLocks noRot="1" noChangeAspect="1" noMove="1" noResize="1" noEditPoints="1" noAdjustHandles="1" noChangeArrowheads="1" noChangeShapeType="1" noTextEdit="1"/>
              </p:cNvSpPr>
              <p:nvPr/>
            </p:nvSpPr>
            <p:spPr>
              <a:xfrm>
                <a:off x="7370459" y="3246745"/>
                <a:ext cx="1247120" cy="477888"/>
              </a:xfrm>
              <a:prstGeom prst="rect">
                <a:avLst/>
              </a:prstGeom>
              <a:blipFill>
                <a:blip r:embed="rId15"/>
                <a:stretch>
                  <a:fillRect l="-7317" t="-10256" b="-25641"/>
                </a:stretch>
              </a:blipFill>
            </p:spPr>
            <p:txBody>
              <a:bodyPr/>
              <a:lstStyle/>
              <a:p>
                <a:r>
                  <a:rPr lang="de-DE">
                    <a:noFill/>
                  </a:rPr>
                  <a:t> </a:t>
                </a:r>
              </a:p>
            </p:txBody>
          </p:sp>
        </mc:Fallback>
      </mc:AlternateContent>
      <p:sp>
        <p:nvSpPr>
          <p:cNvPr id="75" name="Pfeil: nach oben und unten 74">
            <a:extLst>
              <a:ext uri="{FF2B5EF4-FFF2-40B4-BE49-F238E27FC236}">
                <a16:creationId xmlns:a16="http://schemas.microsoft.com/office/drawing/2014/main" id="{E97B1D88-6DB1-1920-D8DB-98685B6FECDF}"/>
              </a:ext>
            </a:extLst>
          </p:cNvPr>
          <p:cNvSpPr/>
          <p:nvPr/>
        </p:nvSpPr>
        <p:spPr>
          <a:xfrm rot="5400000">
            <a:off x="6398065" y="2233906"/>
            <a:ext cx="252805" cy="1780375"/>
          </a:xfrm>
          <a:prstGeom prst="upDownArrow">
            <a:avLst>
              <a:gd name="adj1" fmla="val 0"/>
              <a:gd name="adj2" fmla="val 57536"/>
            </a:avLst>
          </a:prstGeom>
          <a:noFill/>
          <a:ln w="28575">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7" name="Textfeld 76">
            <a:extLst>
              <a:ext uri="{FF2B5EF4-FFF2-40B4-BE49-F238E27FC236}">
                <a16:creationId xmlns:a16="http://schemas.microsoft.com/office/drawing/2014/main" id="{E51370C2-835F-C3A1-BBA7-71C68B639CDA}"/>
              </a:ext>
            </a:extLst>
          </p:cNvPr>
          <p:cNvSpPr txBox="1"/>
          <p:nvPr/>
        </p:nvSpPr>
        <p:spPr>
          <a:xfrm>
            <a:off x="5878097" y="2621297"/>
            <a:ext cx="1451038" cy="253916"/>
          </a:xfrm>
          <a:prstGeom prst="rect">
            <a:avLst/>
          </a:prstGeom>
          <a:noFill/>
        </p:spPr>
        <p:txBody>
          <a:bodyPr wrap="none" rtlCol="0">
            <a:spAutoFit/>
          </a:bodyPr>
          <a:lstStyle/>
          <a:p>
            <a:r>
              <a:rPr lang="de-AT" sz="1050" dirty="0"/>
              <a:t>Kein Wärmeaustausch!</a:t>
            </a:r>
          </a:p>
        </p:txBody>
      </p:sp>
      <mc:AlternateContent xmlns:mc="http://schemas.openxmlformats.org/markup-compatibility/2006" xmlns:a14="http://schemas.microsoft.com/office/drawing/2010/main">
        <mc:Choice Requires="a14">
          <p:sp>
            <p:nvSpPr>
              <p:cNvPr id="78" name="Pfeil: nach rechts 77">
                <a:extLst>
                  <a:ext uri="{FF2B5EF4-FFF2-40B4-BE49-F238E27FC236}">
                    <a16:creationId xmlns:a16="http://schemas.microsoft.com/office/drawing/2014/main" id="{DB971253-CAFE-889C-16E4-E80A06A03073}"/>
                  </a:ext>
                </a:extLst>
              </p:cNvPr>
              <p:cNvSpPr/>
              <p:nvPr/>
            </p:nvSpPr>
            <p:spPr>
              <a:xfrm rot="5400000" flipH="1">
                <a:off x="4655759" y="4003593"/>
                <a:ext cx="483876" cy="508940"/>
              </a:xfrm>
              <a:prstGeom prst="rightArrow">
                <a:avLst>
                  <a:gd name="adj1" fmla="val 62165"/>
                  <a:gd name="adj2"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14:m>
                  <m:oMathPara xmlns:m="http://schemas.openxmlformats.org/officeDocument/2006/math">
                    <m:o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𝐻</m:t>
                          </m:r>
                        </m:sub>
                      </m:sSub>
                    </m:oMath>
                  </m:oMathPara>
                </a14:m>
                <a:endParaRPr lang="de-AT" dirty="0"/>
              </a:p>
            </p:txBody>
          </p:sp>
        </mc:Choice>
        <mc:Fallback xmlns="">
          <p:sp>
            <p:nvSpPr>
              <p:cNvPr id="78" name="Pfeil: nach rechts 77">
                <a:extLst>
                  <a:ext uri="{FF2B5EF4-FFF2-40B4-BE49-F238E27FC236}">
                    <a16:creationId xmlns:a16="http://schemas.microsoft.com/office/drawing/2014/main" id="{CA9A138A-899E-D53A-C4F0-9B68B9AFE4F4}"/>
                  </a:ext>
                </a:extLst>
              </p:cNvPr>
              <p:cNvSpPr>
                <a:spLocks noRot="1" noChangeAspect="1" noMove="1" noResize="1" noEditPoints="1" noAdjustHandles="1" noChangeArrowheads="1" noChangeShapeType="1" noTextEdit="1"/>
              </p:cNvSpPr>
              <p:nvPr/>
            </p:nvSpPr>
            <p:spPr>
              <a:xfrm rot="5400000" flipH="1">
                <a:off x="4655759" y="4003593"/>
                <a:ext cx="483876" cy="508940"/>
              </a:xfrm>
              <a:prstGeom prst="rightArrow">
                <a:avLst>
                  <a:gd name="adj1" fmla="val 62165"/>
                  <a:gd name="adj2" fmla="val 50000"/>
                </a:avLst>
              </a:prstGeom>
              <a:blipFill>
                <a:blip r:embed="rId16"/>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0" name="Pfeil: nach rechts 79">
                <a:extLst>
                  <a:ext uri="{FF2B5EF4-FFF2-40B4-BE49-F238E27FC236}">
                    <a16:creationId xmlns:a16="http://schemas.microsoft.com/office/drawing/2014/main" id="{B48F078A-D8EC-FF07-97BC-FA4FA794D383}"/>
                  </a:ext>
                </a:extLst>
              </p:cNvPr>
              <p:cNvSpPr/>
              <p:nvPr/>
            </p:nvSpPr>
            <p:spPr>
              <a:xfrm rot="5400000" flipH="1">
                <a:off x="7543645" y="3984578"/>
                <a:ext cx="483876" cy="508940"/>
              </a:xfrm>
              <a:prstGeom prst="rightArrow">
                <a:avLst>
                  <a:gd name="adj1" fmla="val 62165"/>
                  <a:gd name="adj2"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14:m>
                  <m:oMathPara xmlns:m="http://schemas.openxmlformats.org/officeDocument/2006/math">
                    <m:o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𝐻</m:t>
                          </m:r>
                        </m:sub>
                      </m:sSub>
                    </m:oMath>
                  </m:oMathPara>
                </a14:m>
                <a:endParaRPr lang="de-AT" dirty="0"/>
              </a:p>
            </p:txBody>
          </p:sp>
        </mc:Choice>
        <mc:Fallback xmlns="">
          <p:sp>
            <p:nvSpPr>
              <p:cNvPr id="80" name="Pfeil: nach rechts 79">
                <a:extLst>
                  <a:ext uri="{FF2B5EF4-FFF2-40B4-BE49-F238E27FC236}">
                    <a16:creationId xmlns:a16="http://schemas.microsoft.com/office/drawing/2014/main" id="{D95B2635-E03A-F24A-9976-F0483E8FFF96}"/>
                  </a:ext>
                </a:extLst>
              </p:cNvPr>
              <p:cNvSpPr>
                <a:spLocks noRot="1" noChangeAspect="1" noMove="1" noResize="1" noEditPoints="1" noAdjustHandles="1" noChangeArrowheads="1" noChangeShapeType="1" noTextEdit="1"/>
              </p:cNvSpPr>
              <p:nvPr/>
            </p:nvSpPr>
            <p:spPr>
              <a:xfrm rot="5400000" flipH="1">
                <a:off x="7543645" y="3984578"/>
                <a:ext cx="483876" cy="508940"/>
              </a:xfrm>
              <a:prstGeom prst="rightArrow">
                <a:avLst>
                  <a:gd name="adj1" fmla="val 62165"/>
                  <a:gd name="adj2" fmla="val 50000"/>
                </a:avLst>
              </a:prstGeom>
              <a:blipFill>
                <a:blip r:embed="rId17"/>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1" name="Pfeil: nach rechts 80">
                <a:extLst>
                  <a:ext uri="{FF2B5EF4-FFF2-40B4-BE49-F238E27FC236}">
                    <a16:creationId xmlns:a16="http://schemas.microsoft.com/office/drawing/2014/main" id="{D7DB92D0-28B6-F97B-3200-A369CAB99324}"/>
                  </a:ext>
                </a:extLst>
              </p:cNvPr>
              <p:cNvSpPr/>
              <p:nvPr/>
            </p:nvSpPr>
            <p:spPr>
              <a:xfrm rot="16200000" flipH="1">
                <a:off x="7996345" y="4139530"/>
                <a:ext cx="483876" cy="508940"/>
              </a:xfrm>
              <a:prstGeom prst="rightArrow">
                <a:avLst>
                  <a:gd name="adj1" fmla="val 62165"/>
                  <a:gd name="adj2" fmla="val 5000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14:m>
                  <m:oMathPara xmlns:m="http://schemas.openxmlformats.org/officeDocument/2006/math">
                    <m:o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𝐶</m:t>
                          </m:r>
                        </m:sub>
                      </m:sSub>
                    </m:oMath>
                  </m:oMathPara>
                </a14:m>
                <a:endParaRPr lang="de-AT" dirty="0"/>
              </a:p>
            </p:txBody>
          </p:sp>
        </mc:Choice>
        <mc:Fallback xmlns="">
          <p:sp>
            <p:nvSpPr>
              <p:cNvPr id="81" name="Pfeil: nach rechts 80">
                <a:extLst>
                  <a:ext uri="{FF2B5EF4-FFF2-40B4-BE49-F238E27FC236}">
                    <a16:creationId xmlns:a16="http://schemas.microsoft.com/office/drawing/2014/main" id="{E92E7570-43A8-90D9-0EAE-B9EB8DC29A40}"/>
                  </a:ext>
                </a:extLst>
              </p:cNvPr>
              <p:cNvSpPr>
                <a:spLocks noRot="1" noChangeAspect="1" noMove="1" noResize="1" noEditPoints="1" noAdjustHandles="1" noChangeArrowheads="1" noChangeShapeType="1" noTextEdit="1"/>
              </p:cNvSpPr>
              <p:nvPr/>
            </p:nvSpPr>
            <p:spPr>
              <a:xfrm rot="16200000" flipH="1">
                <a:off x="7996345" y="4139530"/>
                <a:ext cx="483876" cy="508940"/>
              </a:xfrm>
              <a:prstGeom prst="rightArrow">
                <a:avLst>
                  <a:gd name="adj1" fmla="val 62165"/>
                  <a:gd name="adj2" fmla="val 50000"/>
                </a:avLst>
              </a:prstGeom>
              <a:blipFill>
                <a:blip r:embed="rId18"/>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5" name="Pfeil: nach links und rechts 84">
                <a:extLst>
                  <a:ext uri="{FF2B5EF4-FFF2-40B4-BE49-F238E27FC236}">
                    <a16:creationId xmlns:a16="http://schemas.microsoft.com/office/drawing/2014/main" id="{2BDF4FA8-2F06-C14D-78A9-EDFA8819E399}"/>
                  </a:ext>
                </a:extLst>
              </p:cNvPr>
              <p:cNvSpPr/>
              <p:nvPr/>
            </p:nvSpPr>
            <p:spPr>
              <a:xfrm>
                <a:off x="6526195" y="3783288"/>
                <a:ext cx="981346" cy="515110"/>
              </a:xfrm>
              <a:prstGeom prst="lef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𝑇</m:t>
                        </m:r>
                      </m:sub>
                    </m:sSub>
                  </m:oMath>
                </a14:m>
                <a:endParaRPr lang="de-AT" dirty="0"/>
              </a:p>
            </p:txBody>
          </p:sp>
        </mc:Choice>
        <mc:Fallback xmlns="">
          <p:sp>
            <p:nvSpPr>
              <p:cNvPr id="85" name="Pfeil: nach links und rechts 84">
                <a:extLst>
                  <a:ext uri="{FF2B5EF4-FFF2-40B4-BE49-F238E27FC236}">
                    <a16:creationId xmlns:a16="http://schemas.microsoft.com/office/drawing/2014/main" id="{9B70BD16-AA08-F99E-24AE-8B148D1C3D5F}"/>
                  </a:ext>
                </a:extLst>
              </p:cNvPr>
              <p:cNvSpPr>
                <a:spLocks noRot="1" noChangeAspect="1" noMove="1" noResize="1" noEditPoints="1" noAdjustHandles="1" noChangeArrowheads="1" noChangeShapeType="1" noTextEdit="1"/>
              </p:cNvSpPr>
              <p:nvPr/>
            </p:nvSpPr>
            <p:spPr>
              <a:xfrm>
                <a:off x="6526195" y="3783288"/>
                <a:ext cx="981346" cy="515110"/>
              </a:xfrm>
              <a:prstGeom prst="leftRightArrow">
                <a:avLst/>
              </a:prstGeom>
              <a:blipFill>
                <a:blip r:embed="rId19"/>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6" name="Pfeil: nach links und rechts 85">
                <a:extLst>
                  <a:ext uri="{FF2B5EF4-FFF2-40B4-BE49-F238E27FC236}">
                    <a16:creationId xmlns:a16="http://schemas.microsoft.com/office/drawing/2014/main" id="{BBBA98A1-FC88-8D78-54C6-206B61D2FC1B}"/>
                  </a:ext>
                </a:extLst>
              </p:cNvPr>
              <p:cNvSpPr/>
              <p:nvPr/>
            </p:nvSpPr>
            <p:spPr>
              <a:xfrm>
                <a:off x="6523460" y="3521215"/>
                <a:ext cx="981346" cy="515110"/>
              </a:xfrm>
              <a:prstGeom prst="leftRightArrow">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𝑉</m:t>
                        </m:r>
                      </m:sub>
                    </m:sSub>
                  </m:oMath>
                </a14:m>
                <a:endParaRPr lang="de-AT" dirty="0"/>
              </a:p>
            </p:txBody>
          </p:sp>
        </mc:Choice>
        <mc:Fallback xmlns="">
          <p:sp>
            <p:nvSpPr>
              <p:cNvPr id="86" name="Pfeil: nach links und rechts 85">
                <a:extLst>
                  <a:ext uri="{FF2B5EF4-FFF2-40B4-BE49-F238E27FC236}">
                    <a16:creationId xmlns:a16="http://schemas.microsoft.com/office/drawing/2014/main" id="{CF8B1E4B-7B42-3631-DAEE-E2C4C35719E2}"/>
                  </a:ext>
                </a:extLst>
              </p:cNvPr>
              <p:cNvSpPr>
                <a:spLocks noRot="1" noChangeAspect="1" noMove="1" noResize="1" noEditPoints="1" noAdjustHandles="1" noChangeArrowheads="1" noChangeShapeType="1" noTextEdit="1"/>
              </p:cNvSpPr>
              <p:nvPr/>
            </p:nvSpPr>
            <p:spPr>
              <a:xfrm>
                <a:off x="6523460" y="3521215"/>
                <a:ext cx="981346" cy="515110"/>
              </a:xfrm>
              <a:prstGeom prst="leftRightArrow">
                <a:avLst/>
              </a:prstGeom>
              <a:blipFill>
                <a:blip r:embed="rId20"/>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7" name="Pfeil: nach rechts 86">
                <a:extLst>
                  <a:ext uri="{FF2B5EF4-FFF2-40B4-BE49-F238E27FC236}">
                    <a16:creationId xmlns:a16="http://schemas.microsoft.com/office/drawing/2014/main" id="{9D27B7C7-52C2-EFFA-4629-096691C908A9}"/>
                  </a:ext>
                </a:extLst>
              </p:cNvPr>
              <p:cNvSpPr/>
              <p:nvPr/>
            </p:nvSpPr>
            <p:spPr>
              <a:xfrm flipH="1">
                <a:off x="8439210" y="3915948"/>
                <a:ext cx="823947" cy="508940"/>
              </a:xfrm>
              <a:prstGeom prst="rightArrow">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t>👤</a:t>
                </a:r>
                <a:r>
                  <a:rPr lang="de-DE" b="1" dirty="0"/>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𝐼</m:t>
                        </m:r>
                      </m:sub>
                    </m:sSub>
                  </m:oMath>
                </a14:m>
                <a:endParaRPr lang="de-AT" dirty="0"/>
              </a:p>
            </p:txBody>
          </p:sp>
        </mc:Choice>
        <mc:Fallback xmlns="">
          <p:sp>
            <p:nvSpPr>
              <p:cNvPr id="87" name="Pfeil: nach rechts 86">
                <a:extLst>
                  <a:ext uri="{FF2B5EF4-FFF2-40B4-BE49-F238E27FC236}">
                    <a16:creationId xmlns:a16="http://schemas.microsoft.com/office/drawing/2014/main" id="{4B7AD2D0-E650-8802-40D2-12761C04E2B0}"/>
                  </a:ext>
                </a:extLst>
              </p:cNvPr>
              <p:cNvSpPr>
                <a:spLocks noRot="1" noChangeAspect="1" noMove="1" noResize="1" noEditPoints="1" noAdjustHandles="1" noChangeArrowheads="1" noChangeShapeType="1" noTextEdit="1"/>
              </p:cNvSpPr>
              <p:nvPr/>
            </p:nvSpPr>
            <p:spPr>
              <a:xfrm flipH="1">
                <a:off x="8439210" y="3915948"/>
                <a:ext cx="823947" cy="508940"/>
              </a:xfrm>
              <a:prstGeom prst="rightArrow">
                <a:avLst/>
              </a:prstGeom>
              <a:blipFill>
                <a:blip r:embed="rId21"/>
                <a:stretch>
                  <a:fillRect/>
                </a:stretch>
              </a:blipFill>
              <a:ln>
                <a:noFill/>
              </a:ln>
            </p:spPr>
            <p:txBody>
              <a:bodyPr/>
              <a:lstStyle/>
              <a:p>
                <a:r>
                  <a:rPr lang="de-DE">
                    <a:noFill/>
                  </a:rPr>
                  <a:t> </a:t>
                </a:r>
              </a:p>
            </p:txBody>
          </p:sp>
        </mc:Fallback>
      </mc:AlternateContent>
      <p:sp>
        <p:nvSpPr>
          <p:cNvPr id="89" name="Textfeld 88">
            <a:extLst>
              <a:ext uri="{FF2B5EF4-FFF2-40B4-BE49-F238E27FC236}">
                <a16:creationId xmlns:a16="http://schemas.microsoft.com/office/drawing/2014/main" id="{70D7210B-B296-5339-3527-AFB243D24037}"/>
              </a:ext>
            </a:extLst>
          </p:cNvPr>
          <p:cNvSpPr txBox="1"/>
          <p:nvPr/>
        </p:nvSpPr>
        <p:spPr>
          <a:xfrm>
            <a:off x="4653500" y="3974606"/>
            <a:ext cx="915091" cy="369332"/>
          </a:xfrm>
          <a:prstGeom prst="rect">
            <a:avLst/>
          </a:prstGeom>
          <a:noFill/>
        </p:spPr>
        <p:txBody>
          <a:bodyPr wrap="square">
            <a:spAutoFit/>
          </a:bodyPr>
          <a:lstStyle/>
          <a:p>
            <a:r>
              <a:rPr lang="de-DE" dirty="0">
                <a:latin typeface="Cambria Math" panose="02040503050406030204" pitchFamily="18" charset="0"/>
              </a:rPr>
              <a:t>♨️</a:t>
            </a:r>
            <a:endParaRPr lang="de-AT" dirty="0"/>
          </a:p>
        </p:txBody>
      </p:sp>
      <p:sp>
        <p:nvSpPr>
          <p:cNvPr id="90" name="Textfeld 89">
            <a:extLst>
              <a:ext uri="{FF2B5EF4-FFF2-40B4-BE49-F238E27FC236}">
                <a16:creationId xmlns:a16="http://schemas.microsoft.com/office/drawing/2014/main" id="{46AC053C-880C-89F6-5BCD-FDCEFED65831}"/>
              </a:ext>
            </a:extLst>
          </p:cNvPr>
          <p:cNvSpPr txBox="1"/>
          <p:nvPr/>
        </p:nvSpPr>
        <p:spPr>
          <a:xfrm>
            <a:off x="7537500" y="3928960"/>
            <a:ext cx="915091" cy="369332"/>
          </a:xfrm>
          <a:prstGeom prst="rect">
            <a:avLst/>
          </a:prstGeom>
          <a:noFill/>
        </p:spPr>
        <p:txBody>
          <a:bodyPr wrap="square">
            <a:spAutoFit/>
          </a:bodyPr>
          <a:lstStyle/>
          <a:p>
            <a:r>
              <a:rPr lang="de-DE" dirty="0">
                <a:latin typeface="Cambria Math" panose="02040503050406030204" pitchFamily="18" charset="0"/>
              </a:rPr>
              <a:t>♨️</a:t>
            </a:r>
            <a:endParaRPr lang="de-AT" dirty="0"/>
          </a:p>
        </p:txBody>
      </p:sp>
      <p:sp>
        <p:nvSpPr>
          <p:cNvPr id="92" name="Textfeld 91">
            <a:extLst>
              <a:ext uri="{FF2B5EF4-FFF2-40B4-BE49-F238E27FC236}">
                <a16:creationId xmlns:a16="http://schemas.microsoft.com/office/drawing/2014/main" id="{652874CD-E20A-9F4D-D9AF-4D60E977A0EA}"/>
              </a:ext>
            </a:extLst>
          </p:cNvPr>
          <p:cNvSpPr txBox="1"/>
          <p:nvPr/>
        </p:nvSpPr>
        <p:spPr>
          <a:xfrm>
            <a:off x="8019415" y="3956293"/>
            <a:ext cx="646604" cy="307777"/>
          </a:xfrm>
          <a:prstGeom prst="rect">
            <a:avLst/>
          </a:prstGeom>
          <a:noFill/>
        </p:spPr>
        <p:txBody>
          <a:bodyPr wrap="square">
            <a:spAutoFit/>
          </a:bodyPr>
          <a:lstStyle/>
          <a:p>
            <a:r>
              <a:rPr lang="de-DE" sz="1400" dirty="0"/>
              <a:t>❄️</a:t>
            </a:r>
            <a:endParaRPr lang="de-AT" sz="1400" dirty="0"/>
          </a:p>
        </p:txBody>
      </p:sp>
      <mc:AlternateContent xmlns:mc="http://schemas.openxmlformats.org/markup-compatibility/2006" xmlns:a14="http://schemas.microsoft.com/office/drawing/2010/main">
        <mc:Choice Requires="a14">
          <p:sp>
            <p:nvSpPr>
              <p:cNvPr id="94" name="Textfeld 93">
                <a:extLst>
                  <a:ext uri="{FF2B5EF4-FFF2-40B4-BE49-F238E27FC236}">
                    <a16:creationId xmlns:a16="http://schemas.microsoft.com/office/drawing/2014/main" id="{31E8B3AF-5A9A-5029-E045-5895B37D14E9}"/>
                  </a:ext>
                </a:extLst>
              </p:cNvPr>
              <p:cNvSpPr txBox="1"/>
              <p:nvPr/>
            </p:nvSpPr>
            <p:spPr>
              <a:xfrm>
                <a:off x="5942004" y="2044094"/>
                <a:ext cx="933904" cy="373436"/>
              </a:xfrm>
              <a:prstGeom prst="rect">
                <a:avLst/>
              </a:prstGeom>
              <a:noFill/>
            </p:spPr>
            <p:txBody>
              <a:bodyPr wrap="square">
                <a:spAutoFit/>
              </a:bodyPr>
              <a:lstStyle/>
              <a:p>
                <a:pPr/>
                <a14:m>
                  <m:oMathPara xmlns:m="http://schemas.openxmlformats.org/officeDocument/2006/math">
                    <m:oMath>
                      <m:r>
                        <a:rPr lang="de-DE" i="1">
                          <a:latin typeface="Cambria Math" panose="02040503050406030204" pitchFamily="18" charset="0"/>
                        </a:rPr>
                        <m:t>🌦️</m:t>
                      </m:r>
                      <m:sSub>
                        <m:sSubPr>
                          <m:ctrlPr>
                            <a:rPr lang="de-DE" i="1">
                              <a:latin typeface="Cambria Math" panose="02040503050406030204" pitchFamily="18" charset="0"/>
                            </a:rPr>
                          </m:ctrlPr>
                        </m:sSubPr>
                        <m:e>
                          <m:r>
                            <a:rPr lang="de-DE" i="1">
                              <a:latin typeface="Cambria Math" panose="02040503050406030204" pitchFamily="18" charset="0"/>
                            </a:rPr>
                            <m:t>𝑇</m:t>
                          </m:r>
                        </m:e>
                        <m:sub>
                          <m:r>
                            <a:rPr lang="de-DE" i="1">
                              <a:latin typeface="Cambria Math" panose="02040503050406030204" pitchFamily="18" charset="0"/>
                            </a:rPr>
                            <m:t>𝐴</m:t>
                          </m:r>
                        </m:sub>
                      </m:sSub>
                    </m:oMath>
                  </m:oMathPara>
                </a14:m>
                <a:endParaRPr lang="de-AT" dirty="0"/>
              </a:p>
            </p:txBody>
          </p:sp>
        </mc:Choice>
        <mc:Fallback xmlns="">
          <p:sp>
            <p:nvSpPr>
              <p:cNvPr id="94" name="Textfeld 93">
                <a:extLst>
                  <a:ext uri="{FF2B5EF4-FFF2-40B4-BE49-F238E27FC236}">
                    <a16:creationId xmlns:a16="http://schemas.microsoft.com/office/drawing/2014/main" id="{59E9C418-689F-5F26-B5B5-39F23AA35990}"/>
                  </a:ext>
                </a:extLst>
              </p:cNvPr>
              <p:cNvSpPr txBox="1">
                <a:spLocks noRot="1" noChangeAspect="1" noMove="1" noResize="1" noEditPoints="1" noAdjustHandles="1" noChangeArrowheads="1" noChangeShapeType="1" noTextEdit="1"/>
              </p:cNvSpPr>
              <p:nvPr/>
            </p:nvSpPr>
            <p:spPr>
              <a:xfrm>
                <a:off x="5942004" y="2044094"/>
                <a:ext cx="933904" cy="373436"/>
              </a:xfrm>
              <a:prstGeom prst="rect">
                <a:avLst/>
              </a:prstGeom>
              <a:blipFill>
                <a:blip r:embed="rId22"/>
                <a:stretch>
                  <a:fillRect b="-12903"/>
                </a:stretch>
              </a:blipFill>
            </p:spPr>
            <p:txBody>
              <a:bodyPr/>
              <a:lstStyle/>
              <a:p>
                <a:r>
                  <a:rPr lang="de-DE">
                    <a:noFill/>
                  </a:rPr>
                  <a:t> </a:t>
                </a:r>
              </a:p>
            </p:txBody>
          </p:sp>
        </mc:Fallback>
      </mc:AlternateContent>
      <p:grpSp>
        <p:nvGrpSpPr>
          <p:cNvPr id="126" name="Gruppieren 125">
            <a:extLst>
              <a:ext uri="{FF2B5EF4-FFF2-40B4-BE49-F238E27FC236}">
                <a16:creationId xmlns:a16="http://schemas.microsoft.com/office/drawing/2014/main" id="{D069788C-EEA7-4673-08AE-0004039EB170}"/>
              </a:ext>
            </a:extLst>
          </p:cNvPr>
          <p:cNvGrpSpPr/>
          <p:nvPr/>
        </p:nvGrpSpPr>
        <p:grpSpPr>
          <a:xfrm>
            <a:off x="6892606" y="7158900"/>
            <a:ext cx="2432384" cy="2334810"/>
            <a:chOff x="5513252" y="2957042"/>
            <a:chExt cx="1375861" cy="1320669"/>
          </a:xfrm>
        </p:grpSpPr>
        <p:sp>
          <p:nvSpPr>
            <p:cNvPr id="127" name="Rechteck 126">
              <a:extLst>
                <a:ext uri="{FF2B5EF4-FFF2-40B4-BE49-F238E27FC236}">
                  <a16:creationId xmlns:a16="http://schemas.microsoft.com/office/drawing/2014/main" id="{A8FFBC84-6F34-4C62-DF05-3BB9B9A61BEE}"/>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8" name="Rechteck 127">
              <a:extLst>
                <a:ext uri="{FF2B5EF4-FFF2-40B4-BE49-F238E27FC236}">
                  <a16:creationId xmlns:a16="http://schemas.microsoft.com/office/drawing/2014/main" id="{BB92BE7F-517A-2225-0B42-6D85DFE4C599}"/>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9" name="Rechteck 128">
              <a:extLst>
                <a:ext uri="{FF2B5EF4-FFF2-40B4-BE49-F238E27FC236}">
                  <a16:creationId xmlns:a16="http://schemas.microsoft.com/office/drawing/2014/main" id="{C635569C-3679-953D-9467-942224695421}"/>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0" name="Building5" descr="{&quot;Key&quot;:&quot;POWER_USER_SHAPE_ICON&quot;,&quot;Value&quot;:&quot;POWER_USER_SHAPE_ICON_STYLE_1&quot;}">
              <a:extLst>
                <a:ext uri="{FF2B5EF4-FFF2-40B4-BE49-F238E27FC236}">
                  <a16:creationId xmlns:a16="http://schemas.microsoft.com/office/drawing/2014/main" id="{41607C92-108C-18BC-FB4B-C5DFF99B8AFC}"/>
                </a:ext>
              </a:extLst>
            </p:cNvPr>
            <p:cNvSpPr>
              <a:spLocks noChangeAspect="1" noEditPoints="1"/>
            </p:cNvSpPr>
            <p:nvPr>
              <p:custDataLst>
                <p:tags r:id="rId2"/>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Calibri" panose="020F0502020204030204"/>
              </a:endParaRPr>
            </a:p>
          </p:txBody>
        </p:sp>
        <p:sp>
          <p:nvSpPr>
            <p:cNvPr id="131" name="Rechteck 130">
              <a:extLst>
                <a:ext uri="{FF2B5EF4-FFF2-40B4-BE49-F238E27FC236}">
                  <a16:creationId xmlns:a16="http://schemas.microsoft.com/office/drawing/2014/main" id="{F86DE89C-E7A4-30CD-BC6C-D1A2330E2A43}"/>
                </a:ext>
              </a:extLst>
            </p:cNvPr>
            <p:cNvSpPr/>
            <p:nvPr/>
          </p:nvSpPr>
          <p:spPr>
            <a:xfrm>
              <a:off x="5513252" y="4205449"/>
              <a:ext cx="1374314" cy="72262"/>
            </a:xfrm>
            <a:prstGeom prst="rect">
              <a:avLst/>
            </a:prstGeom>
            <a:solidFill>
              <a:srgbClr val="7F50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2" name="Rechteck 131">
              <a:extLst>
                <a:ext uri="{FF2B5EF4-FFF2-40B4-BE49-F238E27FC236}">
                  <a16:creationId xmlns:a16="http://schemas.microsoft.com/office/drawing/2014/main" id="{D6E83683-02BE-967C-E92B-4C904FB61722}"/>
                </a:ext>
              </a:extLst>
            </p:cNvPr>
            <p:cNvSpPr/>
            <p:nvPr/>
          </p:nvSpPr>
          <p:spPr>
            <a:xfrm>
              <a:off x="6824773" y="3228411"/>
              <a:ext cx="62793" cy="97743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3" name="Rechteck 132">
              <a:extLst>
                <a:ext uri="{FF2B5EF4-FFF2-40B4-BE49-F238E27FC236}">
                  <a16:creationId xmlns:a16="http://schemas.microsoft.com/office/drawing/2014/main" id="{09541BD2-6593-5D61-2CB0-EF4593063613}"/>
                </a:ext>
              </a:extLst>
            </p:cNvPr>
            <p:cNvSpPr/>
            <p:nvPr/>
          </p:nvSpPr>
          <p:spPr>
            <a:xfrm>
              <a:off x="6424376" y="2967031"/>
              <a:ext cx="71719" cy="1118169"/>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4" name="Rechteck 133">
              <a:extLst>
                <a:ext uri="{FF2B5EF4-FFF2-40B4-BE49-F238E27FC236}">
                  <a16:creationId xmlns:a16="http://schemas.microsoft.com/office/drawing/2014/main" id="{760DD71E-9642-AE66-24A4-483285481D86}"/>
                </a:ext>
              </a:extLst>
            </p:cNvPr>
            <p:cNvSpPr/>
            <p:nvPr/>
          </p:nvSpPr>
          <p:spPr>
            <a:xfrm>
              <a:off x="5514799" y="3422910"/>
              <a:ext cx="74958" cy="782932"/>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5" name="Rechteck 134">
              <a:extLst>
                <a:ext uri="{FF2B5EF4-FFF2-40B4-BE49-F238E27FC236}">
                  <a16:creationId xmlns:a16="http://schemas.microsoft.com/office/drawing/2014/main" id="{0E9FAF1D-17F5-BC08-72A1-744EDDE4402F}"/>
                </a:ext>
              </a:extLst>
            </p:cNvPr>
            <p:cNvSpPr/>
            <p:nvPr/>
          </p:nvSpPr>
          <p:spPr>
            <a:xfrm>
              <a:off x="6496095" y="3209739"/>
              <a:ext cx="391471" cy="105760"/>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6" name="Rechteck 135">
              <a:extLst>
                <a:ext uri="{FF2B5EF4-FFF2-40B4-BE49-F238E27FC236}">
                  <a16:creationId xmlns:a16="http://schemas.microsoft.com/office/drawing/2014/main" id="{53EE48E1-DA6E-A367-024E-9188A49250D7}"/>
                </a:ext>
              </a:extLst>
            </p:cNvPr>
            <p:cNvSpPr/>
            <p:nvPr/>
          </p:nvSpPr>
          <p:spPr>
            <a:xfrm>
              <a:off x="5516346" y="3308888"/>
              <a:ext cx="458364"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7" name="Rechteck 136">
              <a:extLst>
                <a:ext uri="{FF2B5EF4-FFF2-40B4-BE49-F238E27FC236}">
                  <a16:creationId xmlns:a16="http://schemas.microsoft.com/office/drawing/2014/main" id="{C8FEBBEB-F460-ED9F-8E3F-E3FD2AC63576}"/>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8" name="Rechteck 137">
              <a:extLst>
                <a:ext uri="{FF2B5EF4-FFF2-40B4-BE49-F238E27FC236}">
                  <a16:creationId xmlns:a16="http://schemas.microsoft.com/office/drawing/2014/main" id="{D775DC42-99A8-EF16-790E-8E8DA3153D4C}"/>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39" name="Rechteck 138">
              <a:extLst>
                <a:ext uri="{FF2B5EF4-FFF2-40B4-BE49-F238E27FC236}">
                  <a16:creationId xmlns:a16="http://schemas.microsoft.com/office/drawing/2014/main" id="{DDFEB5C9-28CA-B9A6-55FB-5BE49AEFE8A1}"/>
                </a:ext>
              </a:extLst>
            </p:cNvPr>
            <p:cNvSpPr/>
            <p:nvPr/>
          </p:nvSpPr>
          <p:spPr>
            <a:xfrm>
              <a:off x="5961096" y="2992042"/>
              <a:ext cx="71719" cy="42999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0" name="Rechteck 139">
              <a:extLst>
                <a:ext uri="{FF2B5EF4-FFF2-40B4-BE49-F238E27FC236}">
                  <a16:creationId xmlns:a16="http://schemas.microsoft.com/office/drawing/2014/main" id="{B748424B-1965-A5B7-EB01-F6580BD9C47B}"/>
                </a:ext>
              </a:extLst>
            </p:cNvPr>
            <p:cNvSpPr/>
            <p:nvPr/>
          </p:nvSpPr>
          <p:spPr>
            <a:xfrm>
              <a:off x="5961095" y="2957042"/>
              <a:ext cx="535000"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grpSp>
      <p:grpSp>
        <p:nvGrpSpPr>
          <p:cNvPr id="141" name="Gruppieren 140">
            <a:extLst>
              <a:ext uri="{FF2B5EF4-FFF2-40B4-BE49-F238E27FC236}">
                <a16:creationId xmlns:a16="http://schemas.microsoft.com/office/drawing/2014/main" id="{B14D910E-AFE0-4D50-3CF1-97EBB38F2EB3}"/>
              </a:ext>
            </a:extLst>
          </p:cNvPr>
          <p:cNvGrpSpPr/>
          <p:nvPr/>
        </p:nvGrpSpPr>
        <p:grpSpPr>
          <a:xfrm>
            <a:off x="4052155" y="7197365"/>
            <a:ext cx="2432384" cy="2334810"/>
            <a:chOff x="5513252" y="2957042"/>
            <a:chExt cx="1375861" cy="1320669"/>
          </a:xfrm>
        </p:grpSpPr>
        <p:sp>
          <p:nvSpPr>
            <p:cNvPr id="142" name="Rechteck 141">
              <a:extLst>
                <a:ext uri="{FF2B5EF4-FFF2-40B4-BE49-F238E27FC236}">
                  <a16:creationId xmlns:a16="http://schemas.microsoft.com/office/drawing/2014/main" id="{F675D6AD-3680-200C-69B1-86805F32A0A7}"/>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3" name="Rechteck 142">
              <a:extLst>
                <a:ext uri="{FF2B5EF4-FFF2-40B4-BE49-F238E27FC236}">
                  <a16:creationId xmlns:a16="http://schemas.microsoft.com/office/drawing/2014/main" id="{E25AB046-02BF-777A-3977-DDB64C1C7ADA}"/>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4" name="Rechteck 143">
              <a:extLst>
                <a:ext uri="{FF2B5EF4-FFF2-40B4-BE49-F238E27FC236}">
                  <a16:creationId xmlns:a16="http://schemas.microsoft.com/office/drawing/2014/main" id="{FFAA9E0D-7FD8-2BF9-E3AF-3E4046C8D282}"/>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5" name="Building5" descr="{&quot;Key&quot;:&quot;POWER_USER_SHAPE_ICON&quot;,&quot;Value&quot;:&quot;POWER_USER_SHAPE_ICON_STYLE_1&quot;}">
              <a:extLst>
                <a:ext uri="{FF2B5EF4-FFF2-40B4-BE49-F238E27FC236}">
                  <a16:creationId xmlns:a16="http://schemas.microsoft.com/office/drawing/2014/main" id="{D48691E8-EDF3-2D9A-67BD-C117A869CA10}"/>
                </a:ext>
              </a:extLst>
            </p:cNvPr>
            <p:cNvSpPr>
              <a:spLocks noChangeAspect="1" noEditPoints="1"/>
            </p:cNvSpPr>
            <p:nvPr>
              <p:custDataLst>
                <p:tags r:id="rId1"/>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Calibri" panose="020F0502020204030204"/>
              </a:endParaRPr>
            </a:p>
          </p:txBody>
        </p:sp>
        <p:sp>
          <p:nvSpPr>
            <p:cNvPr id="146" name="Rechteck 145">
              <a:extLst>
                <a:ext uri="{FF2B5EF4-FFF2-40B4-BE49-F238E27FC236}">
                  <a16:creationId xmlns:a16="http://schemas.microsoft.com/office/drawing/2014/main" id="{51BF870A-1433-BA87-CE4E-40B44C37697A}"/>
                </a:ext>
              </a:extLst>
            </p:cNvPr>
            <p:cNvSpPr/>
            <p:nvPr/>
          </p:nvSpPr>
          <p:spPr>
            <a:xfrm>
              <a:off x="5513252" y="4205449"/>
              <a:ext cx="1374314" cy="72262"/>
            </a:xfrm>
            <a:prstGeom prst="rect">
              <a:avLst/>
            </a:prstGeom>
            <a:solidFill>
              <a:srgbClr val="7F50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7" name="Rechteck 146">
              <a:extLst>
                <a:ext uri="{FF2B5EF4-FFF2-40B4-BE49-F238E27FC236}">
                  <a16:creationId xmlns:a16="http://schemas.microsoft.com/office/drawing/2014/main" id="{B91260A6-184A-03A7-FE11-D65248726EA5}"/>
                </a:ext>
              </a:extLst>
            </p:cNvPr>
            <p:cNvSpPr/>
            <p:nvPr/>
          </p:nvSpPr>
          <p:spPr>
            <a:xfrm>
              <a:off x="6824773" y="3228411"/>
              <a:ext cx="62793" cy="97743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8" name="Rechteck 147">
              <a:extLst>
                <a:ext uri="{FF2B5EF4-FFF2-40B4-BE49-F238E27FC236}">
                  <a16:creationId xmlns:a16="http://schemas.microsoft.com/office/drawing/2014/main" id="{3868F3D7-9B3B-07B3-5612-EA601007AF85}"/>
                </a:ext>
              </a:extLst>
            </p:cNvPr>
            <p:cNvSpPr/>
            <p:nvPr/>
          </p:nvSpPr>
          <p:spPr>
            <a:xfrm>
              <a:off x="6424376" y="2967031"/>
              <a:ext cx="71719" cy="1118169"/>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9" name="Rechteck 148">
              <a:extLst>
                <a:ext uri="{FF2B5EF4-FFF2-40B4-BE49-F238E27FC236}">
                  <a16:creationId xmlns:a16="http://schemas.microsoft.com/office/drawing/2014/main" id="{C3AC8E6A-8D9A-4C56-A594-8A1E927C7D2F}"/>
                </a:ext>
              </a:extLst>
            </p:cNvPr>
            <p:cNvSpPr/>
            <p:nvPr/>
          </p:nvSpPr>
          <p:spPr>
            <a:xfrm>
              <a:off x="5514799" y="3422910"/>
              <a:ext cx="74958" cy="782932"/>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0" name="Rechteck 149">
              <a:extLst>
                <a:ext uri="{FF2B5EF4-FFF2-40B4-BE49-F238E27FC236}">
                  <a16:creationId xmlns:a16="http://schemas.microsoft.com/office/drawing/2014/main" id="{4E3CAEE2-C4B7-28E4-543E-5BC80AF889E2}"/>
                </a:ext>
              </a:extLst>
            </p:cNvPr>
            <p:cNvSpPr/>
            <p:nvPr/>
          </p:nvSpPr>
          <p:spPr>
            <a:xfrm>
              <a:off x="6496095" y="3209739"/>
              <a:ext cx="391471" cy="105760"/>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1" name="Rechteck 150">
              <a:extLst>
                <a:ext uri="{FF2B5EF4-FFF2-40B4-BE49-F238E27FC236}">
                  <a16:creationId xmlns:a16="http://schemas.microsoft.com/office/drawing/2014/main" id="{ACF323AA-996D-241B-C282-C8FCBE6A58EF}"/>
                </a:ext>
              </a:extLst>
            </p:cNvPr>
            <p:cNvSpPr/>
            <p:nvPr/>
          </p:nvSpPr>
          <p:spPr>
            <a:xfrm>
              <a:off x="5516346" y="3308888"/>
              <a:ext cx="458364"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2" name="Rechteck 151">
              <a:extLst>
                <a:ext uri="{FF2B5EF4-FFF2-40B4-BE49-F238E27FC236}">
                  <a16:creationId xmlns:a16="http://schemas.microsoft.com/office/drawing/2014/main" id="{6D5374BD-2679-D756-6174-B4CA509789FF}"/>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3" name="Rechteck 152">
              <a:extLst>
                <a:ext uri="{FF2B5EF4-FFF2-40B4-BE49-F238E27FC236}">
                  <a16:creationId xmlns:a16="http://schemas.microsoft.com/office/drawing/2014/main" id="{DDC8A35C-5550-2F50-0268-88AA33F388A0}"/>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4" name="Rechteck 153">
              <a:extLst>
                <a:ext uri="{FF2B5EF4-FFF2-40B4-BE49-F238E27FC236}">
                  <a16:creationId xmlns:a16="http://schemas.microsoft.com/office/drawing/2014/main" id="{4E9685D8-1A3D-4F62-1EB7-F7AE761F0EBA}"/>
                </a:ext>
              </a:extLst>
            </p:cNvPr>
            <p:cNvSpPr/>
            <p:nvPr/>
          </p:nvSpPr>
          <p:spPr>
            <a:xfrm>
              <a:off x="5961096" y="2992042"/>
              <a:ext cx="71719" cy="42999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55" name="Rechteck 154">
              <a:extLst>
                <a:ext uri="{FF2B5EF4-FFF2-40B4-BE49-F238E27FC236}">
                  <a16:creationId xmlns:a16="http://schemas.microsoft.com/office/drawing/2014/main" id="{44D92B91-63D1-0967-EED7-BDE8202446D0}"/>
                </a:ext>
              </a:extLst>
            </p:cNvPr>
            <p:cNvSpPr/>
            <p:nvPr/>
          </p:nvSpPr>
          <p:spPr>
            <a:xfrm>
              <a:off x="5961095" y="2957042"/>
              <a:ext cx="535000"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grpSp>
    </p:spTree>
    <p:extLst>
      <p:ext uri="{BB962C8B-B14F-4D97-AF65-F5344CB8AC3E}">
        <p14:creationId xmlns:p14="http://schemas.microsoft.com/office/powerpoint/2010/main" val="2974104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0F69C-F55F-F137-3CE6-0B7BBBB333DE}"/>
            </a:ext>
          </a:extLst>
        </p:cNvPr>
        <p:cNvGrpSpPr/>
        <p:nvPr/>
      </p:nvGrpSpPr>
      <p:grpSpPr>
        <a:xfrm>
          <a:off x="0" y="0"/>
          <a:ext cx="0" cy="0"/>
          <a:chOff x="0" y="0"/>
          <a:chExt cx="0" cy="0"/>
        </a:xfrm>
      </p:grpSpPr>
      <p:grpSp>
        <p:nvGrpSpPr>
          <p:cNvPr id="28" name="Gruppieren 27">
            <a:extLst>
              <a:ext uri="{FF2B5EF4-FFF2-40B4-BE49-F238E27FC236}">
                <a16:creationId xmlns:a16="http://schemas.microsoft.com/office/drawing/2014/main" id="{E8C59E22-7CC4-FA3D-741C-BF7B88AC2A98}"/>
              </a:ext>
            </a:extLst>
          </p:cNvPr>
          <p:cNvGrpSpPr/>
          <p:nvPr/>
        </p:nvGrpSpPr>
        <p:grpSpPr>
          <a:xfrm>
            <a:off x="2632696" y="2952965"/>
            <a:ext cx="2432384" cy="2334810"/>
            <a:chOff x="5513252" y="2957042"/>
            <a:chExt cx="1375861" cy="1320669"/>
          </a:xfrm>
        </p:grpSpPr>
        <p:sp>
          <p:nvSpPr>
            <p:cNvPr id="29" name="Rechteck 28">
              <a:extLst>
                <a:ext uri="{FF2B5EF4-FFF2-40B4-BE49-F238E27FC236}">
                  <a16:creationId xmlns:a16="http://schemas.microsoft.com/office/drawing/2014/main" id="{8D491CCB-B504-C455-C1C8-0C0170CA8D7E}"/>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0" name="Rechteck 29">
              <a:extLst>
                <a:ext uri="{FF2B5EF4-FFF2-40B4-BE49-F238E27FC236}">
                  <a16:creationId xmlns:a16="http://schemas.microsoft.com/office/drawing/2014/main" id="{AED5E58D-D5F5-FF92-A691-DC8A7BE565B6}"/>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1" name="Rechteck 30">
              <a:extLst>
                <a:ext uri="{FF2B5EF4-FFF2-40B4-BE49-F238E27FC236}">
                  <a16:creationId xmlns:a16="http://schemas.microsoft.com/office/drawing/2014/main" id="{4520C0AB-4560-BC50-7826-3A733FD35A92}"/>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2" name="Building5" descr="{&quot;Key&quot;:&quot;POWER_USER_SHAPE_ICON&quot;,&quot;Value&quot;:&quot;POWER_USER_SHAPE_ICON_STYLE_1&quot;}">
              <a:extLst>
                <a:ext uri="{FF2B5EF4-FFF2-40B4-BE49-F238E27FC236}">
                  <a16:creationId xmlns:a16="http://schemas.microsoft.com/office/drawing/2014/main" id="{5FEBDEFC-3ED0-8A99-93E1-0C40988FB097}"/>
                </a:ext>
              </a:extLst>
            </p:cNvPr>
            <p:cNvSpPr>
              <a:spLocks noChangeAspect="1" noEditPoints="1"/>
            </p:cNvSpPr>
            <p:nvPr>
              <p:custDataLst>
                <p:tags r:id="rId4"/>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Times New Roman" panose="02020603050405020304" pitchFamily="18" charset="0"/>
                <a:cs typeface="Times New Roman" panose="02020603050405020304" pitchFamily="18" charset="0"/>
              </a:endParaRPr>
            </a:p>
          </p:txBody>
        </p:sp>
        <p:sp>
          <p:nvSpPr>
            <p:cNvPr id="33" name="Rechteck 32">
              <a:extLst>
                <a:ext uri="{FF2B5EF4-FFF2-40B4-BE49-F238E27FC236}">
                  <a16:creationId xmlns:a16="http://schemas.microsoft.com/office/drawing/2014/main" id="{1E3C5344-65EA-E87F-2261-D382CFAA5E47}"/>
                </a:ext>
              </a:extLst>
            </p:cNvPr>
            <p:cNvSpPr/>
            <p:nvPr/>
          </p:nvSpPr>
          <p:spPr>
            <a:xfrm>
              <a:off x="5513252" y="4205449"/>
              <a:ext cx="1374314" cy="72262"/>
            </a:xfrm>
            <a:prstGeom prst="rect">
              <a:avLst/>
            </a:prstGeom>
            <a:solidFill>
              <a:srgbClr val="D4B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4" name="Rechteck 33">
              <a:extLst>
                <a:ext uri="{FF2B5EF4-FFF2-40B4-BE49-F238E27FC236}">
                  <a16:creationId xmlns:a16="http://schemas.microsoft.com/office/drawing/2014/main" id="{2A4EBB24-D3F5-22C5-0C18-2647D4330C51}"/>
                </a:ext>
              </a:extLst>
            </p:cNvPr>
            <p:cNvSpPr/>
            <p:nvPr/>
          </p:nvSpPr>
          <p:spPr>
            <a:xfrm>
              <a:off x="6824773" y="3228411"/>
              <a:ext cx="62793" cy="97743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5" name="Rechteck 34">
              <a:extLst>
                <a:ext uri="{FF2B5EF4-FFF2-40B4-BE49-F238E27FC236}">
                  <a16:creationId xmlns:a16="http://schemas.microsoft.com/office/drawing/2014/main" id="{0D8009C4-B776-8FE6-8D4B-F625854DF6DD}"/>
                </a:ext>
              </a:extLst>
            </p:cNvPr>
            <p:cNvSpPr/>
            <p:nvPr/>
          </p:nvSpPr>
          <p:spPr>
            <a:xfrm>
              <a:off x="6424376" y="2967031"/>
              <a:ext cx="71719" cy="111816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7" name="Rechteck 36">
              <a:extLst>
                <a:ext uri="{FF2B5EF4-FFF2-40B4-BE49-F238E27FC236}">
                  <a16:creationId xmlns:a16="http://schemas.microsoft.com/office/drawing/2014/main" id="{76C5B6F3-6F57-C978-4D1D-5499C09D0F4D}"/>
                </a:ext>
              </a:extLst>
            </p:cNvPr>
            <p:cNvSpPr/>
            <p:nvPr/>
          </p:nvSpPr>
          <p:spPr>
            <a:xfrm>
              <a:off x="5514799" y="3422910"/>
              <a:ext cx="74958" cy="78293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8" name="Rechteck 37">
              <a:extLst>
                <a:ext uri="{FF2B5EF4-FFF2-40B4-BE49-F238E27FC236}">
                  <a16:creationId xmlns:a16="http://schemas.microsoft.com/office/drawing/2014/main" id="{9F12DB40-07D4-B393-A29F-55191A1C636C}"/>
                </a:ext>
              </a:extLst>
            </p:cNvPr>
            <p:cNvSpPr/>
            <p:nvPr/>
          </p:nvSpPr>
          <p:spPr>
            <a:xfrm>
              <a:off x="6496095" y="3209739"/>
              <a:ext cx="391471" cy="10576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40" name="Rechteck 39">
              <a:extLst>
                <a:ext uri="{FF2B5EF4-FFF2-40B4-BE49-F238E27FC236}">
                  <a16:creationId xmlns:a16="http://schemas.microsoft.com/office/drawing/2014/main" id="{4CB465FD-6F18-7B55-B82F-35157D77F790}"/>
                </a:ext>
              </a:extLst>
            </p:cNvPr>
            <p:cNvSpPr/>
            <p:nvPr/>
          </p:nvSpPr>
          <p:spPr>
            <a:xfrm>
              <a:off x="5516346" y="3308888"/>
              <a:ext cx="458364"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41" name="Rechteck 40">
              <a:extLst>
                <a:ext uri="{FF2B5EF4-FFF2-40B4-BE49-F238E27FC236}">
                  <a16:creationId xmlns:a16="http://schemas.microsoft.com/office/drawing/2014/main" id="{E7FA1B1C-8285-F160-5A7E-9CA6219BF283}"/>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42" name="Rechteck 41">
              <a:extLst>
                <a:ext uri="{FF2B5EF4-FFF2-40B4-BE49-F238E27FC236}">
                  <a16:creationId xmlns:a16="http://schemas.microsoft.com/office/drawing/2014/main" id="{3E01BA0B-4BE5-9459-99DE-CE2802F72E93}"/>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6" name="Rechteck 35">
              <a:extLst>
                <a:ext uri="{FF2B5EF4-FFF2-40B4-BE49-F238E27FC236}">
                  <a16:creationId xmlns:a16="http://schemas.microsoft.com/office/drawing/2014/main" id="{7DB2183B-E27F-C826-E322-09C5C04A140F}"/>
                </a:ext>
              </a:extLst>
            </p:cNvPr>
            <p:cNvSpPr/>
            <p:nvPr/>
          </p:nvSpPr>
          <p:spPr>
            <a:xfrm>
              <a:off x="5961096" y="2992042"/>
              <a:ext cx="71719" cy="42999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39" name="Rechteck 38">
              <a:extLst>
                <a:ext uri="{FF2B5EF4-FFF2-40B4-BE49-F238E27FC236}">
                  <a16:creationId xmlns:a16="http://schemas.microsoft.com/office/drawing/2014/main" id="{5DAECA29-E531-804E-B9C8-3601691E347C}"/>
                </a:ext>
              </a:extLst>
            </p:cNvPr>
            <p:cNvSpPr/>
            <p:nvPr/>
          </p:nvSpPr>
          <p:spPr>
            <a:xfrm>
              <a:off x="5961095" y="2957042"/>
              <a:ext cx="535000"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grpSp>
      <p:grpSp>
        <p:nvGrpSpPr>
          <p:cNvPr id="111" name="Gruppieren 110">
            <a:extLst>
              <a:ext uri="{FF2B5EF4-FFF2-40B4-BE49-F238E27FC236}">
                <a16:creationId xmlns:a16="http://schemas.microsoft.com/office/drawing/2014/main" id="{09E578A2-CCA2-49DC-213A-B0B5E7F5F675}"/>
              </a:ext>
            </a:extLst>
          </p:cNvPr>
          <p:cNvGrpSpPr/>
          <p:nvPr/>
        </p:nvGrpSpPr>
        <p:grpSpPr>
          <a:xfrm>
            <a:off x="5475611" y="2917218"/>
            <a:ext cx="2432384" cy="2334810"/>
            <a:chOff x="5513252" y="2957042"/>
            <a:chExt cx="1375861" cy="1320669"/>
          </a:xfrm>
        </p:grpSpPr>
        <p:sp>
          <p:nvSpPr>
            <p:cNvPr id="112" name="Rechteck 111">
              <a:extLst>
                <a:ext uri="{FF2B5EF4-FFF2-40B4-BE49-F238E27FC236}">
                  <a16:creationId xmlns:a16="http://schemas.microsoft.com/office/drawing/2014/main" id="{BC1CDAB4-3E2C-1C78-8224-D34A5C6C8B71}"/>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13" name="Rechteck 112">
              <a:extLst>
                <a:ext uri="{FF2B5EF4-FFF2-40B4-BE49-F238E27FC236}">
                  <a16:creationId xmlns:a16="http://schemas.microsoft.com/office/drawing/2014/main" id="{6C73C27F-8713-27C4-40E1-7360058D110F}"/>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14" name="Rechteck 113">
              <a:extLst>
                <a:ext uri="{FF2B5EF4-FFF2-40B4-BE49-F238E27FC236}">
                  <a16:creationId xmlns:a16="http://schemas.microsoft.com/office/drawing/2014/main" id="{E9532634-01FB-523E-65CB-4F07B51A67C3}"/>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15" name="Building5" descr="{&quot;Key&quot;:&quot;POWER_USER_SHAPE_ICON&quot;,&quot;Value&quot;:&quot;POWER_USER_SHAPE_ICON_STYLE_1&quot;}">
              <a:extLst>
                <a:ext uri="{FF2B5EF4-FFF2-40B4-BE49-F238E27FC236}">
                  <a16:creationId xmlns:a16="http://schemas.microsoft.com/office/drawing/2014/main" id="{3E0723EA-FAC5-A1A9-D40C-999D248FD1CF}"/>
                </a:ext>
              </a:extLst>
            </p:cNvPr>
            <p:cNvSpPr>
              <a:spLocks noChangeAspect="1" noEditPoints="1"/>
            </p:cNvSpPr>
            <p:nvPr>
              <p:custDataLst>
                <p:tags r:id="rId3"/>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Times New Roman" panose="02020603050405020304" pitchFamily="18" charset="0"/>
                <a:cs typeface="Times New Roman" panose="02020603050405020304" pitchFamily="18" charset="0"/>
              </a:endParaRPr>
            </a:p>
          </p:txBody>
        </p:sp>
        <p:sp>
          <p:nvSpPr>
            <p:cNvPr id="116" name="Rechteck 115">
              <a:extLst>
                <a:ext uri="{FF2B5EF4-FFF2-40B4-BE49-F238E27FC236}">
                  <a16:creationId xmlns:a16="http://schemas.microsoft.com/office/drawing/2014/main" id="{A39C1AD2-F78A-F607-E3E0-AAFF0BA95E44}"/>
                </a:ext>
              </a:extLst>
            </p:cNvPr>
            <p:cNvSpPr/>
            <p:nvPr/>
          </p:nvSpPr>
          <p:spPr>
            <a:xfrm>
              <a:off x="5513252" y="4205449"/>
              <a:ext cx="1374314" cy="72262"/>
            </a:xfrm>
            <a:prstGeom prst="rect">
              <a:avLst/>
            </a:prstGeom>
            <a:solidFill>
              <a:srgbClr val="D4BA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17" name="Rechteck 116">
              <a:extLst>
                <a:ext uri="{FF2B5EF4-FFF2-40B4-BE49-F238E27FC236}">
                  <a16:creationId xmlns:a16="http://schemas.microsoft.com/office/drawing/2014/main" id="{13CEA269-9EC7-8458-75E7-3884F8CB19B6}"/>
                </a:ext>
              </a:extLst>
            </p:cNvPr>
            <p:cNvSpPr/>
            <p:nvPr/>
          </p:nvSpPr>
          <p:spPr>
            <a:xfrm>
              <a:off x="6824773" y="3228411"/>
              <a:ext cx="62793" cy="97743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18" name="Rechteck 117">
              <a:extLst>
                <a:ext uri="{FF2B5EF4-FFF2-40B4-BE49-F238E27FC236}">
                  <a16:creationId xmlns:a16="http://schemas.microsoft.com/office/drawing/2014/main" id="{5EBF814E-0D41-7818-4033-36DAACF65C0B}"/>
                </a:ext>
              </a:extLst>
            </p:cNvPr>
            <p:cNvSpPr/>
            <p:nvPr/>
          </p:nvSpPr>
          <p:spPr>
            <a:xfrm>
              <a:off x="6424376" y="2967031"/>
              <a:ext cx="71719" cy="111816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19" name="Rechteck 118">
              <a:extLst>
                <a:ext uri="{FF2B5EF4-FFF2-40B4-BE49-F238E27FC236}">
                  <a16:creationId xmlns:a16="http://schemas.microsoft.com/office/drawing/2014/main" id="{094C028E-662C-34CC-DDD0-39EB24B038C2}"/>
                </a:ext>
              </a:extLst>
            </p:cNvPr>
            <p:cNvSpPr/>
            <p:nvPr/>
          </p:nvSpPr>
          <p:spPr>
            <a:xfrm>
              <a:off x="5514799" y="3422910"/>
              <a:ext cx="74958" cy="78293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20" name="Rechteck 119">
              <a:extLst>
                <a:ext uri="{FF2B5EF4-FFF2-40B4-BE49-F238E27FC236}">
                  <a16:creationId xmlns:a16="http://schemas.microsoft.com/office/drawing/2014/main" id="{E881ADAF-6875-1E4C-258D-43218FDC2820}"/>
                </a:ext>
              </a:extLst>
            </p:cNvPr>
            <p:cNvSpPr/>
            <p:nvPr/>
          </p:nvSpPr>
          <p:spPr>
            <a:xfrm>
              <a:off x="6496095" y="3209739"/>
              <a:ext cx="391471" cy="10576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21" name="Rechteck 120">
              <a:extLst>
                <a:ext uri="{FF2B5EF4-FFF2-40B4-BE49-F238E27FC236}">
                  <a16:creationId xmlns:a16="http://schemas.microsoft.com/office/drawing/2014/main" id="{0BE3442C-7213-FC83-F273-4A7B5D4669F5}"/>
                </a:ext>
              </a:extLst>
            </p:cNvPr>
            <p:cNvSpPr/>
            <p:nvPr/>
          </p:nvSpPr>
          <p:spPr>
            <a:xfrm>
              <a:off x="5516346" y="3308888"/>
              <a:ext cx="458364"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22" name="Rechteck 121">
              <a:extLst>
                <a:ext uri="{FF2B5EF4-FFF2-40B4-BE49-F238E27FC236}">
                  <a16:creationId xmlns:a16="http://schemas.microsoft.com/office/drawing/2014/main" id="{C2CE576D-DAAA-F25B-FEEB-B9EE33A8E99B}"/>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23" name="Rechteck 122">
              <a:extLst>
                <a:ext uri="{FF2B5EF4-FFF2-40B4-BE49-F238E27FC236}">
                  <a16:creationId xmlns:a16="http://schemas.microsoft.com/office/drawing/2014/main" id="{B1FFFC25-B61D-D732-F164-27F27A2A5FD7}"/>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24" name="Rechteck 123">
              <a:extLst>
                <a:ext uri="{FF2B5EF4-FFF2-40B4-BE49-F238E27FC236}">
                  <a16:creationId xmlns:a16="http://schemas.microsoft.com/office/drawing/2014/main" id="{DA0357E0-091D-A628-894A-DCF9DDB4B21B}"/>
                </a:ext>
              </a:extLst>
            </p:cNvPr>
            <p:cNvSpPr/>
            <p:nvPr/>
          </p:nvSpPr>
          <p:spPr>
            <a:xfrm>
              <a:off x="5961096" y="2992042"/>
              <a:ext cx="71719" cy="42999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25" name="Rechteck 124">
              <a:extLst>
                <a:ext uri="{FF2B5EF4-FFF2-40B4-BE49-F238E27FC236}">
                  <a16:creationId xmlns:a16="http://schemas.microsoft.com/office/drawing/2014/main" id="{E75D8B7F-113A-8B03-3A20-99F0B7F0911E}"/>
                </a:ext>
              </a:extLst>
            </p:cNvPr>
            <p:cNvSpPr/>
            <p:nvPr/>
          </p:nvSpPr>
          <p:spPr>
            <a:xfrm>
              <a:off x="5961095" y="2957042"/>
              <a:ext cx="535000" cy="1140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grpSp>
      <p:sp>
        <p:nvSpPr>
          <p:cNvPr id="2" name="Titel 1">
            <a:extLst>
              <a:ext uri="{FF2B5EF4-FFF2-40B4-BE49-F238E27FC236}">
                <a16:creationId xmlns:a16="http://schemas.microsoft.com/office/drawing/2014/main" id="{7AD77D5C-3E48-1723-2CE0-191BC680249E}"/>
              </a:ext>
            </a:extLst>
          </p:cNvPr>
          <p:cNvSpPr>
            <a:spLocks noGrp="1"/>
          </p:cNvSpPr>
          <p:nvPr>
            <p:ph type="title"/>
          </p:nvPr>
        </p:nvSpPr>
        <p:spPr>
          <a:xfrm>
            <a:off x="581103" y="919413"/>
            <a:ext cx="5184747" cy="829455"/>
          </a:xfrm>
        </p:spPr>
        <p:txBody>
          <a:bodyPr/>
          <a:lstStyle/>
          <a:p>
            <a:r>
              <a:rPr lang="de-DE" noProof="1">
                <a:latin typeface="Times New Roman" panose="02020603050405020304" pitchFamily="18" charset="0"/>
                <a:cs typeface="Times New Roman" panose="02020603050405020304" pitchFamily="18" charset="0"/>
              </a:rPr>
              <a:t>Thermal model</a:t>
            </a:r>
          </a:p>
        </p:txBody>
      </p:sp>
      <mc:AlternateContent xmlns:mc="http://schemas.openxmlformats.org/markup-compatibility/2006" xmlns:a14="http://schemas.microsoft.com/office/drawing/2010/main">
        <mc:Choice Requires="a14">
          <p:sp>
            <p:nvSpPr>
              <p:cNvPr id="3" name="Textplatzhalter 2">
                <a:extLst>
                  <a:ext uri="{FF2B5EF4-FFF2-40B4-BE49-F238E27FC236}">
                    <a16:creationId xmlns:a16="http://schemas.microsoft.com/office/drawing/2014/main" id="{CA2B4CE9-627C-5243-B2F8-15DBFCDE0A5F}"/>
                  </a:ext>
                </a:extLst>
              </p:cNvPr>
              <p:cNvSpPr>
                <a:spLocks noGrp="1"/>
              </p:cNvSpPr>
              <p:nvPr>
                <p:ph type="body" sz="quarter" idx="13"/>
              </p:nvPr>
            </p:nvSpPr>
            <p:spPr>
              <a:xfrm>
                <a:off x="8059499" y="2046026"/>
                <a:ext cx="3298535" cy="3977767"/>
              </a:xfrm>
            </p:spPr>
            <p:txBody>
              <a:bodyPr/>
              <a:lstStyle/>
              <a:p>
                <a:pPr marL="0" indent="0" defTabSz="107993">
                  <a:buNone/>
                </a:pPr>
                <a:r>
                  <a:rPr lang="de-DE" sz="1200" b="1" noProof="1">
                    <a:latin typeface="Times New Roman" panose="02020603050405020304" pitchFamily="18" charset="0"/>
                    <a:cs typeface="Times New Roman" panose="02020603050405020304" pitchFamily="18" charset="0"/>
                  </a:rPr>
                  <a:t>Two</a:t>
                </a:r>
                <a:r>
                  <a:rPr lang="de-DE" sz="1200" noProof="1">
                    <a:latin typeface="Times New Roman" panose="02020603050405020304" pitchFamily="18" charset="0"/>
                    <a:cs typeface="Times New Roman" panose="02020603050405020304" pitchFamily="18" charset="0"/>
                  </a:rPr>
                  <a:t> thermally independent zones:</a:t>
                </a:r>
                <a:br>
                  <a:rPr lang="de-DE" sz="1200"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 Without active cooling</a:t>
                </a:r>
                <a:br>
                  <a:rPr lang="de-DE" sz="1200"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❄️With active cooling</a:t>
                </a:r>
              </a:p>
              <a:p>
                <a:pPr marL="0" indent="0" defTabSz="107993">
                  <a:buNone/>
                </a:pPr>
                <a14:m>
                  <m:oMath xmlns:m="http://schemas.openxmlformats.org/officeDocument/2006/math">
                    <m:r>
                      <a:rPr lang="de-DE" sz="1200" i="1" noProof="1" dirty="0">
                        <a:latin typeface="Cambria Math" panose="02040503050406030204" pitchFamily="18" charset="0"/>
                      </a:rPr>
                      <m:t>🌦️</m:t>
                    </m:r>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𝑇</m:t>
                        </m:r>
                      </m:e>
                      <m:sub>
                        <m:r>
                          <a:rPr lang="de-DE" sz="1200" i="1" noProof="1" dirty="0">
                            <a:latin typeface="Cambria Math" panose="02040503050406030204" pitchFamily="18" charset="0"/>
                          </a:rPr>
                          <m:t>𝐴</m:t>
                        </m:r>
                      </m:sub>
                    </m:sSub>
                  </m:oMath>
                </a14:m>
                <a:r>
                  <a:rPr lang="de-DE" sz="1200" noProof="1">
                    <a:latin typeface="Times New Roman" panose="02020603050405020304" pitchFamily="18" charset="0"/>
                    <a:cs typeface="Times New Roman" panose="02020603050405020304" pitchFamily="18" charset="0"/>
                  </a:rPr>
                  <a:t> 		… Outdoor Temperature</a:t>
                </a:r>
                <a:br>
                  <a:rPr lang="de-DE" sz="1200" i="1"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𝑇</m:t>
                        </m:r>
                      </m:e>
                      <m:sub>
                        <m:r>
                          <a:rPr lang="de-DE" sz="1200" i="1" noProof="1" dirty="0">
                            <a:latin typeface="Cambria Math" panose="02040503050406030204" pitchFamily="18" charset="0"/>
                          </a:rPr>
                          <m:t>𝑖</m:t>
                        </m:r>
                        <m:r>
                          <a:rPr lang="de-DE" sz="1200" i="1" noProof="1" dirty="0">
                            <a:latin typeface="Cambria Math" panose="02040503050406030204" pitchFamily="18" charset="0"/>
                          </a:rPr>
                          <m:t>,</m:t>
                        </m:r>
                        <m:r>
                          <a:rPr lang="de-DE" sz="1200" i="1" noProof="1" dirty="0">
                            <a:latin typeface="Cambria Math" panose="02040503050406030204" pitchFamily="18" charset="0"/>
                          </a:rPr>
                          <m:t>𝑢</m:t>
                        </m:r>
                      </m:sub>
                    </m:sSub>
                  </m:oMath>
                </a14:m>
                <a:r>
                  <a:rPr lang="de-DE" sz="1200" noProof="1">
                    <a:latin typeface="Times New Roman" panose="02020603050405020304" pitchFamily="18" charset="0"/>
                    <a:cs typeface="Times New Roman" panose="02020603050405020304" pitchFamily="18" charset="0"/>
                  </a:rPr>
                  <a:t> 	… Indoor Temperature (uncooled)</a:t>
                </a:r>
                <a:br>
                  <a:rPr lang="de-DE" sz="1200" i="1"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𝑇</m:t>
                        </m:r>
                      </m:e>
                      <m:sub>
                        <m:r>
                          <a:rPr lang="de-DE" sz="1200" i="1" noProof="1" dirty="0">
                            <a:latin typeface="Cambria Math" panose="02040503050406030204" pitchFamily="18" charset="0"/>
                          </a:rPr>
                          <m:t>𝑖</m:t>
                        </m:r>
                        <m:r>
                          <a:rPr lang="de-DE" sz="1200" i="1" noProof="1" dirty="0">
                            <a:latin typeface="Cambria Math" panose="02040503050406030204" pitchFamily="18" charset="0"/>
                          </a:rPr>
                          <m:t>,</m:t>
                        </m:r>
                        <m:r>
                          <a:rPr lang="de-DE" sz="1200" i="1" noProof="1" dirty="0">
                            <a:latin typeface="Cambria Math" panose="02040503050406030204" pitchFamily="18" charset="0"/>
                          </a:rPr>
                          <m:t>𝑐</m:t>
                        </m:r>
                      </m:sub>
                    </m:sSub>
                  </m:oMath>
                </a14:m>
                <a:r>
                  <a:rPr lang="de-DE" sz="1200" noProof="1">
                    <a:latin typeface="Times New Roman" panose="02020603050405020304" pitchFamily="18" charset="0"/>
                    <a:cs typeface="Times New Roman" panose="02020603050405020304" pitchFamily="18" charset="0"/>
                  </a:rPr>
                  <a:t> 	… Indoor Temperature (cooled) </a:t>
                </a:r>
              </a:p>
              <a:p>
                <a:pPr marL="0" indent="0" defTabSz="107993">
                  <a:buNone/>
                </a:pPr>
                <a:r>
                  <a:rPr lang="de-DE" sz="1200" b="1" noProof="1">
                    <a:latin typeface="Times New Roman" panose="02020603050405020304" pitchFamily="18" charset="0"/>
                    <a:cs typeface="Times New Roman" panose="02020603050405020304" pitchFamily="18" charset="0"/>
                  </a:rPr>
                  <a:t>Heat flows</a:t>
                </a:r>
                <a:br>
                  <a:rPr lang="de-DE" sz="1200" b="1" noProof="1">
                    <a:latin typeface="Times New Roman" panose="02020603050405020304" pitchFamily="18" charset="0"/>
                    <a:cs typeface="Times New Roman" panose="02020603050405020304" pitchFamily="18" charset="0"/>
                  </a:rPr>
                </a:br>
                <a:r>
                  <a:rPr lang="de-DE" sz="1200" b="1"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𝑄</m:t>
                        </m:r>
                      </m:e>
                      <m:sub>
                        <m:r>
                          <a:rPr lang="de-DE" sz="1200" i="1" noProof="1" dirty="0">
                            <a:latin typeface="Cambria Math" panose="02040503050406030204" pitchFamily="18" charset="0"/>
                          </a:rPr>
                          <m:t>𝑇</m:t>
                        </m:r>
                      </m:sub>
                    </m:sSub>
                  </m:oMath>
                </a14:m>
                <a:r>
                  <a:rPr lang="de-DE" sz="1200" noProof="1">
                    <a:latin typeface="Times New Roman" panose="02020603050405020304" pitchFamily="18" charset="0"/>
                    <a:cs typeface="Times New Roman" panose="02020603050405020304" pitchFamily="18" charset="0"/>
                  </a:rPr>
                  <a:t> 		… Transmisison heat losses</a:t>
                </a:r>
                <a:br>
                  <a:rPr lang="de-DE" sz="1200" b="1" noProof="1">
                    <a:latin typeface="Times New Roman" panose="02020603050405020304" pitchFamily="18" charset="0"/>
                    <a:cs typeface="Times New Roman" panose="02020603050405020304" pitchFamily="18" charset="0"/>
                  </a:rPr>
                </a:br>
                <a:r>
                  <a:rPr lang="de-DE" sz="1200" b="1"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𝑄</m:t>
                        </m:r>
                      </m:e>
                      <m:sub>
                        <m:r>
                          <a:rPr lang="de-DE" sz="1200" i="1" noProof="1" dirty="0">
                            <a:latin typeface="Cambria Math" panose="02040503050406030204" pitchFamily="18" charset="0"/>
                          </a:rPr>
                          <m:t>𝑉</m:t>
                        </m:r>
                      </m:sub>
                    </m:sSub>
                  </m:oMath>
                </a14:m>
                <a:r>
                  <a:rPr lang="de-DE" sz="1200" noProof="1">
                    <a:latin typeface="Times New Roman" panose="02020603050405020304" pitchFamily="18" charset="0"/>
                    <a:cs typeface="Times New Roman" panose="02020603050405020304" pitchFamily="18" charset="0"/>
                  </a:rPr>
                  <a:t> 		… Ventilation heat losses</a:t>
                </a:r>
                <a:br>
                  <a:rPr lang="de-DE" sz="1200" b="1" noProof="1">
                    <a:latin typeface="Times New Roman" panose="02020603050405020304" pitchFamily="18" charset="0"/>
                    <a:cs typeface="Times New Roman" panose="02020603050405020304" pitchFamily="18" charset="0"/>
                  </a:rPr>
                </a:br>
                <a:r>
                  <a:rPr lang="de-DE" sz="1200" b="1"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𝑄</m:t>
                        </m:r>
                      </m:e>
                      <m:sub>
                        <m:r>
                          <a:rPr lang="de-DE" sz="1200" i="1" noProof="1" dirty="0">
                            <a:latin typeface="Cambria Math" panose="02040503050406030204" pitchFamily="18" charset="0"/>
                          </a:rPr>
                          <m:t>𝑛𝑉</m:t>
                        </m:r>
                      </m:sub>
                    </m:sSub>
                  </m:oMath>
                </a14:m>
                <a:r>
                  <a:rPr lang="de-DE" sz="1200" noProof="1">
                    <a:latin typeface="Times New Roman" panose="02020603050405020304" pitchFamily="18" charset="0"/>
                    <a:cs typeface="Times New Roman" panose="02020603050405020304" pitchFamily="18" charset="0"/>
                  </a:rPr>
                  <a:t> 	… Night ventilation (nur 🥵 Zone)</a:t>
                </a:r>
                <a:br>
                  <a:rPr lang="de-DE" sz="1200" b="1"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𝑄</m:t>
                        </m:r>
                      </m:e>
                      <m:sub>
                        <m:r>
                          <a:rPr lang="de-DE" sz="1200" i="1" noProof="1" dirty="0">
                            <a:latin typeface="Cambria Math" panose="02040503050406030204" pitchFamily="18" charset="0"/>
                          </a:rPr>
                          <m:t>𝑆</m:t>
                        </m:r>
                      </m:sub>
                    </m:sSub>
                  </m:oMath>
                </a14:m>
                <a:r>
                  <a:rPr lang="de-DE" sz="1200" noProof="1">
                    <a:latin typeface="Times New Roman" panose="02020603050405020304" pitchFamily="18" charset="0"/>
                    <a:cs typeface="Times New Roman" panose="02020603050405020304" pitchFamily="18" charset="0"/>
                  </a:rPr>
                  <a:t> 		… Solar gains (transparent)</a:t>
                </a:r>
                <a:r>
                  <a:rPr lang="de-DE" sz="1200" b="1" noProof="1">
                    <a:latin typeface="Times New Roman" panose="02020603050405020304" pitchFamily="18" charset="0"/>
                    <a:cs typeface="Times New Roman" panose="02020603050405020304" pitchFamily="18" charset="0"/>
                  </a:rPr>
                  <a:t> </a:t>
                </a:r>
                <a:br>
                  <a:rPr lang="de-DE" sz="1200" b="1" noProof="1">
                    <a:latin typeface="Times New Roman" panose="02020603050405020304" pitchFamily="18" charset="0"/>
                    <a:cs typeface="Times New Roman" panose="02020603050405020304" pitchFamily="18" charset="0"/>
                  </a:rPr>
                </a:br>
                <a:r>
                  <a:rPr lang="de-DE" sz="1200" b="1"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𝑄</m:t>
                        </m:r>
                      </m:e>
                      <m:sub>
                        <m:r>
                          <a:rPr lang="de-DE" sz="1200" i="1" noProof="1" dirty="0">
                            <a:latin typeface="Cambria Math" panose="02040503050406030204" pitchFamily="18" charset="0"/>
                          </a:rPr>
                          <m:t>𝐼</m:t>
                        </m:r>
                      </m:sub>
                    </m:sSub>
                  </m:oMath>
                </a14:m>
                <a:r>
                  <a:rPr lang="de-DE" sz="1200" noProof="1">
                    <a:latin typeface="Times New Roman" panose="02020603050405020304" pitchFamily="18" charset="0"/>
                    <a:cs typeface="Times New Roman" panose="02020603050405020304" pitchFamily="18" charset="0"/>
                  </a:rPr>
                  <a:t> 		… Internal gains (usage, …)</a:t>
                </a:r>
                <a:br>
                  <a:rPr lang="de-DE" sz="1200" i="1"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𝑄</m:t>
                        </m:r>
                      </m:e>
                      <m:sub>
                        <m:r>
                          <a:rPr lang="de-DE" sz="1200" i="1" noProof="1" dirty="0">
                            <a:latin typeface="Cambria Math" panose="02040503050406030204" pitchFamily="18" charset="0"/>
                          </a:rPr>
                          <m:t>𝐻</m:t>
                        </m:r>
                      </m:sub>
                    </m:sSub>
                  </m:oMath>
                </a14:m>
                <a:r>
                  <a:rPr lang="de-DE" sz="1200" noProof="1">
                    <a:latin typeface="Times New Roman" panose="02020603050405020304" pitchFamily="18" charset="0"/>
                    <a:cs typeface="Times New Roman" panose="02020603050405020304" pitchFamily="18" charset="0"/>
                  </a:rPr>
                  <a:t> 	… Heating</a:t>
                </a:r>
                <a:br>
                  <a:rPr lang="de-DE" sz="1200" b="1"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1200" i="1" noProof="1" dirty="0">
                            <a:latin typeface="Cambria Math" panose="02040503050406030204" pitchFamily="18" charset="0"/>
                          </a:rPr>
                        </m:ctrlPr>
                      </m:sSubPr>
                      <m:e>
                        <m:r>
                          <a:rPr lang="de-DE" sz="1200" i="1" noProof="1" dirty="0">
                            <a:latin typeface="Cambria Math" panose="02040503050406030204" pitchFamily="18" charset="0"/>
                          </a:rPr>
                          <m:t>𝑄</m:t>
                        </m:r>
                      </m:e>
                      <m:sub>
                        <m:r>
                          <a:rPr lang="de-DE" sz="1200" i="1" noProof="1" dirty="0">
                            <a:latin typeface="Cambria Math" panose="02040503050406030204" pitchFamily="18" charset="0"/>
                          </a:rPr>
                          <m:t>𝐶</m:t>
                        </m:r>
                      </m:sub>
                    </m:sSub>
                  </m:oMath>
                </a14:m>
                <a:r>
                  <a:rPr lang="de-DE" sz="1200" noProof="1">
                    <a:latin typeface="Times New Roman" panose="02020603050405020304" pitchFamily="18" charset="0"/>
                    <a:cs typeface="Times New Roman" panose="02020603050405020304" pitchFamily="18" charset="0"/>
                  </a:rPr>
                  <a:t> 		… Cooling (❄️ Zone)</a:t>
                </a:r>
              </a:p>
              <a:p>
                <a:pPr marL="0" indent="0" defTabSz="107993">
                  <a:buNone/>
                </a:pPr>
                <a:r>
                  <a:rPr lang="de-DE" sz="1200" b="1" noProof="1">
                    <a:latin typeface="Times New Roman" panose="02020603050405020304" pitchFamily="18" charset="0"/>
                    <a:cs typeface="Times New Roman" panose="02020603050405020304" pitchFamily="18" charset="0"/>
                  </a:rPr>
                  <a:t>Thermal Hull </a:t>
                </a:r>
                <a:r>
                  <a:rPr lang="de-DE" sz="1200" noProof="1">
                    <a:latin typeface="Times New Roman" panose="02020603050405020304" pitchFamily="18" charset="0"/>
                    <a:cs typeface="Times New Roman" panose="02020603050405020304" pitchFamily="18" charset="0"/>
                  </a:rPr>
                  <a:t>(System boundary heat balance)</a:t>
                </a:r>
                <a:br>
                  <a:rPr lang="de-DE" sz="1200"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🟥Walls</a:t>
                </a:r>
                <a:br>
                  <a:rPr lang="de-DE" sz="1200"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🟫Ground floor / slab (heated)</a:t>
                </a:r>
                <a:br>
                  <a:rPr lang="de-DE" sz="1200"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🟩Roof</a:t>
                </a:r>
                <a:br>
                  <a:rPr lang="de-DE" sz="1200" noProof="1">
                    <a:latin typeface="Times New Roman" panose="02020603050405020304" pitchFamily="18" charset="0"/>
                    <a:cs typeface="Times New Roman" panose="02020603050405020304" pitchFamily="18" charset="0"/>
                  </a:rPr>
                </a:br>
                <a:r>
                  <a:rPr lang="de-DE" sz="1200" noProof="1">
                    <a:latin typeface="Times New Roman" panose="02020603050405020304" pitchFamily="18" charset="0"/>
                    <a:cs typeface="Times New Roman" panose="02020603050405020304" pitchFamily="18" charset="0"/>
                  </a:rPr>
                  <a:t>🟦Windows (5 cardinal directions)</a:t>
                </a:r>
              </a:p>
              <a:p>
                <a:pPr marL="0" indent="0" defTabSz="107993">
                  <a:buNone/>
                </a:pPr>
                <a:endParaRPr lang="de-DE" sz="1200" noProof="1">
                  <a:latin typeface="Times New Roman" panose="02020603050405020304" pitchFamily="18" charset="0"/>
                  <a:cs typeface="Times New Roman" panose="02020603050405020304" pitchFamily="18" charset="0"/>
                </a:endParaRPr>
              </a:p>
              <a:p>
                <a:pPr marL="0" indent="0" defTabSz="107993">
                  <a:buNone/>
                </a:pPr>
                <a:endParaRPr lang="de-DE" sz="1200" noProof="1">
                  <a:latin typeface="Times New Roman" panose="02020603050405020304" pitchFamily="18" charset="0"/>
                  <a:cs typeface="Times New Roman" panose="02020603050405020304" pitchFamily="18" charset="0"/>
                </a:endParaRPr>
              </a:p>
              <a:p>
                <a:pPr marL="0" indent="0" defTabSz="107993">
                  <a:buNone/>
                </a:pPr>
                <a:endParaRPr lang="de-DE" sz="1200" noProof="1">
                  <a:latin typeface="Times New Roman" panose="02020603050405020304" pitchFamily="18" charset="0"/>
                  <a:cs typeface="Times New Roman" panose="02020603050405020304" pitchFamily="18" charset="0"/>
                </a:endParaRPr>
              </a:p>
            </p:txBody>
          </p:sp>
        </mc:Choice>
        <mc:Fallback xmlns="">
          <p:sp>
            <p:nvSpPr>
              <p:cNvPr id="3" name="Textplatzhalter 2">
                <a:extLst>
                  <a:ext uri="{FF2B5EF4-FFF2-40B4-BE49-F238E27FC236}">
                    <a16:creationId xmlns:a16="http://schemas.microsoft.com/office/drawing/2014/main" id="{CA2B4CE9-627C-5243-B2F8-15DBFCDE0A5F}"/>
                  </a:ext>
                </a:extLst>
              </p:cNvPr>
              <p:cNvSpPr>
                <a:spLocks noGrp="1" noRot="1" noChangeAspect="1" noMove="1" noResize="1" noEditPoints="1" noAdjustHandles="1" noChangeArrowheads="1" noChangeShapeType="1" noTextEdit="1"/>
              </p:cNvSpPr>
              <p:nvPr>
                <p:ph type="body" sz="quarter" idx="13"/>
              </p:nvPr>
            </p:nvSpPr>
            <p:spPr>
              <a:xfrm>
                <a:off x="8059499" y="2046026"/>
                <a:ext cx="3298535" cy="3977767"/>
              </a:xfrm>
              <a:blipFill>
                <a:blip r:embed="rId6"/>
                <a:stretch>
                  <a:fillRect l="-2773" t="-1227"/>
                </a:stretch>
              </a:blipFill>
            </p:spPr>
            <p:txBody>
              <a:bodyPr/>
              <a:lstStyle/>
              <a:p>
                <a:r>
                  <a:rPr lang="de-DE">
                    <a:noFill/>
                  </a:rPr>
                  <a:t> </a:t>
                </a:r>
              </a:p>
            </p:txBody>
          </p:sp>
        </mc:Fallback>
      </mc:AlternateContent>
      <p:sp>
        <p:nvSpPr>
          <p:cNvPr id="5" name="Foliennummernplatzhalter 4">
            <a:extLst>
              <a:ext uri="{FF2B5EF4-FFF2-40B4-BE49-F238E27FC236}">
                <a16:creationId xmlns:a16="http://schemas.microsoft.com/office/drawing/2014/main" id="{34A947D5-27EE-5332-3B70-FB76675D2519}"/>
              </a:ext>
            </a:extLst>
          </p:cNvPr>
          <p:cNvSpPr>
            <a:spLocks noGrp="1"/>
          </p:cNvSpPr>
          <p:nvPr>
            <p:ph type="sldNum" sz="quarter" idx="12"/>
          </p:nvPr>
        </p:nvSpPr>
        <p:spPr/>
        <p:txBody>
          <a:bodyPr/>
          <a:lstStyle/>
          <a:p>
            <a:fld id="{1206269C-C24E-4E80-9A4B-E7E19BB59A67}" type="slidenum">
              <a:rPr lang="de-AT" smtClean="0">
                <a:latin typeface="Times New Roman" panose="02020603050405020304" pitchFamily="18" charset="0"/>
                <a:cs typeface="Times New Roman" panose="02020603050405020304" pitchFamily="18" charset="0"/>
              </a:rPr>
              <a:pPr/>
              <a:t>13</a:t>
            </a:fld>
            <a:endParaRPr lang="de-AT" dirty="0">
              <a:latin typeface="Times New Roman" panose="02020603050405020304" pitchFamily="18" charset="0"/>
              <a:cs typeface="Times New Roman" panose="02020603050405020304" pitchFamily="18" charset="0"/>
            </a:endParaRPr>
          </a:p>
        </p:txBody>
      </p:sp>
      <p:pic>
        <p:nvPicPr>
          <p:cNvPr id="6" name="Grafik 5" descr="Ein Bild, das Text, Schrift, Software, Webseite enthält.&#10;&#10;KI-generierte Inhalte können fehlerhaft sein.">
            <a:extLst>
              <a:ext uri="{FF2B5EF4-FFF2-40B4-BE49-F238E27FC236}">
                <a16:creationId xmlns:a16="http://schemas.microsoft.com/office/drawing/2014/main" id="{A4C20609-0814-54D7-901C-99D737335496}"/>
              </a:ext>
            </a:extLst>
          </p:cNvPr>
          <p:cNvPicPr>
            <a:picLocks noChangeAspect="1"/>
          </p:cNvPicPr>
          <p:nvPr/>
        </p:nvPicPr>
        <p:blipFill>
          <a:blip r:embed="rId7"/>
          <a:stretch>
            <a:fillRect/>
          </a:stretch>
        </p:blipFill>
        <p:spPr>
          <a:xfrm>
            <a:off x="12451226" y="4635938"/>
            <a:ext cx="5252295" cy="2012250"/>
          </a:xfrm>
          <a:prstGeom prst="rect">
            <a:avLst/>
          </a:prstGeom>
          <a:ln>
            <a:solidFill>
              <a:schemeClr val="tx1"/>
            </a:solidFill>
          </a:ln>
        </p:spPr>
      </p:pic>
      <mc:AlternateContent xmlns:mc="http://schemas.openxmlformats.org/markup-compatibility/2006" xmlns:a14="http://schemas.microsoft.com/office/drawing/2010/main">
        <mc:Choice Requires="a14">
          <p:sp>
            <p:nvSpPr>
              <p:cNvPr id="43" name="Pfeil: nach rechts 42">
                <a:extLst>
                  <a:ext uri="{FF2B5EF4-FFF2-40B4-BE49-F238E27FC236}">
                    <a16:creationId xmlns:a16="http://schemas.microsoft.com/office/drawing/2014/main" id="{AC6C1355-59B0-EB51-B3BF-F1CB7CEC041A}"/>
                  </a:ext>
                </a:extLst>
              </p:cNvPr>
              <p:cNvSpPr/>
              <p:nvPr/>
            </p:nvSpPr>
            <p:spPr>
              <a:xfrm>
                <a:off x="2779094" y="3072765"/>
                <a:ext cx="985340" cy="508940"/>
              </a:xfrm>
              <a:prstGeom prst="rightArrow">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𝑠</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43" name="Pfeil: nach rechts 42">
                <a:extLst>
                  <a:ext uri="{FF2B5EF4-FFF2-40B4-BE49-F238E27FC236}">
                    <a16:creationId xmlns:a16="http://schemas.microsoft.com/office/drawing/2014/main" id="{AC6C1355-59B0-EB51-B3BF-F1CB7CEC041A}"/>
                  </a:ext>
                </a:extLst>
              </p:cNvPr>
              <p:cNvSpPr>
                <a:spLocks noRot="1" noChangeAspect="1" noMove="1" noResize="1" noEditPoints="1" noAdjustHandles="1" noChangeArrowheads="1" noChangeShapeType="1" noTextEdit="1"/>
              </p:cNvSpPr>
              <p:nvPr/>
            </p:nvSpPr>
            <p:spPr>
              <a:xfrm>
                <a:off x="2779094" y="3072765"/>
                <a:ext cx="985340" cy="508940"/>
              </a:xfrm>
              <a:prstGeom prst="rightArrow">
                <a:avLst/>
              </a:prstGeom>
              <a:blipFill>
                <a:blip r:embed="rId8"/>
                <a:stretch>
                  <a:fillRect b="-4762"/>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5" name="Pfeil: nach links und rechts 44">
                <a:extLst>
                  <a:ext uri="{FF2B5EF4-FFF2-40B4-BE49-F238E27FC236}">
                    <a16:creationId xmlns:a16="http://schemas.microsoft.com/office/drawing/2014/main" id="{5E835AFD-2712-0248-B183-57DB38B940AD}"/>
                  </a:ext>
                </a:extLst>
              </p:cNvPr>
              <p:cNvSpPr/>
              <p:nvPr/>
            </p:nvSpPr>
            <p:spPr>
              <a:xfrm>
                <a:off x="2299591" y="4570201"/>
                <a:ext cx="981346" cy="515110"/>
              </a:xfrm>
              <a:prstGeom prst="lef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b="1" dirty="0">
                    <a:latin typeface="Times New Roman" panose="02020603050405020304" pitchFamily="18" charset="0"/>
                    <a:cs typeface="Times New Roman" panose="02020603050405020304" pitchFamily="18" charset="0"/>
                  </a:rPr>
                  <a:t>🧱</a:t>
                </a:r>
                <a:r>
                  <a:rPr lang="de-DE"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𝑇</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45" name="Pfeil: nach links und rechts 44">
                <a:extLst>
                  <a:ext uri="{FF2B5EF4-FFF2-40B4-BE49-F238E27FC236}">
                    <a16:creationId xmlns:a16="http://schemas.microsoft.com/office/drawing/2014/main" id="{5E835AFD-2712-0248-B183-57DB38B940AD}"/>
                  </a:ext>
                </a:extLst>
              </p:cNvPr>
              <p:cNvSpPr>
                <a:spLocks noRot="1" noChangeAspect="1" noMove="1" noResize="1" noEditPoints="1" noAdjustHandles="1" noChangeArrowheads="1" noChangeShapeType="1" noTextEdit="1"/>
              </p:cNvSpPr>
              <p:nvPr/>
            </p:nvSpPr>
            <p:spPr>
              <a:xfrm>
                <a:off x="2299591" y="4570201"/>
                <a:ext cx="981346" cy="515110"/>
              </a:xfrm>
              <a:prstGeom prst="leftRightArrow">
                <a:avLst/>
              </a:prstGeom>
              <a:blipFill>
                <a:blip r:embed="rId9"/>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6" name="Pfeil: nach links und rechts 45">
                <a:extLst>
                  <a:ext uri="{FF2B5EF4-FFF2-40B4-BE49-F238E27FC236}">
                    <a16:creationId xmlns:a16="http://schemas.microsoft.com/office/drawing/2014/main" id="{1B0ABA4B-DE23-8DFC-07D3-0478100AF2D6}"/>
                  </a:ext>
                </a:extLst>
              </p:cNvPr>
              <p:cNvSpPr/>
              <p:nvPr/>
            </p:nvSpPr>
            <p:spPr>
              <a:xfrm>
                <a:off x="2296856" y="4308128"/>
                <a:ext cx="981346" cy="515110"/>
              </a:xfrm>
              <a:prstGeom prst="leftRightArrow">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latin typeface="Times New Roman" panose="02020603050405020304" pitchFamily="18" charset="0"/>
                    <a:cs typeface="Times New Roman" panose="02020603050405020304" pitchFamily="18" charset="0"/>
                  </a:rPr>
                  <a:t>💨</a:t>
                </a:r>
                <a:r>
                  <a:rPr lang="de-DE"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𝑉</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46" name="Pfeil: nach links und rechts 45">
                <a:extLst>
                  <a:ext uri="{FF2B5EF4-FFF2-40B4-BE49-F238E27FC236}">
                    <a16:creationId xmlns:a16="http://schemas.microsoft.com/office/drawing/2014/main" id="{1B0ABA4B-DE23-8DFC-07D3-0478100AF2D6}"/>
                  </a:ext>
                </a:extLst>
              </p:cNvPr>
              <p:cNvSpPr>
                <a:spLocks noRot="1" noChangeAspect="1" noMove="1" noResize="1" noEditPoints="1" noAdjustHandles="1" noChangeArrowheads="1" noChangeShapeType="1" noTextEdit="1"/>
              </p:cNvSpPr>
              <p:nvPr/>
            </p:nvSpPr>
            <p:spPr>
              <a:xfrm>
                <a:off x="2296856" y="4308128"/>
                <a:ext cx="981346" cy="515110"/>
              </a:xfrm>
              <a:prstGeom prst="leftRightArrow">
                <a:avLst/>
              </a:prstGeom>
              <a:blipFill>
                <a:blip r:embed="rId10"/>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7" name="Pfeil: nach rechts 46">
                <a:extLst>
                  <a:ext uri="{FF2B5EF4-FFF2-40B4-BE49-F238E27FC236}">
                    <a16:creationId xmlns:a16="http://schemas.microsoft.com/office/drawing/2014/main" id="{3DE44A4A-F842-446A-45B9-93B70C21AD22}"/>
                  </a:ext>
                </a:extLst>
              </p:cNvPr>
              <p:cNvSpPr/>
              <p:nvPr/>
            </p:nvSpPr>
            <p:spPr>
              <a:xfrm flipH="1">
                <a:off x="4238397" y="4710625"/>
                <a:ext cx="823947" cy="508940"/>
              </a:xfrm>
              <a:prstGeom prst="rightArrow">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latin typeface="Times New Roman" panose="02020603050405020304" pitchFamily="18" charset="0"/>
                    <a:cs typeface="Times New Roman" panose="02020603050405020304" pitchFamily="18" charset="0"/>
                  </a:rPr>
                  <a:t>👤</a:t>
                </a:r>
                <a:r>
                  <a:rPr lang="de-DE"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𝐼</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47" name="Pfeil: nach rechts 46">
                <a:extLst>
                  <a:ext uri="{FF2B5EF4-FFF2-40B4-BE49-F238E27FC236}">
                    <a16:creationId xmlns:a16="http://schemas.microsoft.com/office/drawing/2014/main" id="{3DE44A4A-F842-446A-45B9-93B70C21AD22}"/>
                  </a:ext>
                </a:extLst>
              </p:cNvPr>
              <p:cNvSpPr>
                <a:spLocks noRot="1" noChangeAspect="1" noMove="1" noResize="1" noEditPoints="1" noAdjustHandles="1" noChangeArrowheads="1" noChangeShapeType="1" noTextEdit="1"/>
              </p:cNvSpPr>
              <p:nvPr/>
            </p:nvSpPr>
            <p:spPr>
              <a:xfrm flipH="1">
                <a:off x="4238397" y="4710625"/>
                <a:ext cx="823947" cy="508940"/>
              </a:xfrm>
              <a:prstGeom prst="rightArrow">
                <a:avLst/>
              </a:prstGeom>
              <a:blipFill>
                <a:blip r:embed="rId11"/>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7" name="Pfeil: nach rechts 66">
                <a:extLst>
                  <a:ext uri="{FF2B5EF4-FFF2-40B4-BE49-F238E27FC236}">
                    <a16:creationId xmlns:a16="http://schemas.microsoft.com/office/drawing/2014/main" id="{9681F59A-1FD9-0AEE-F04F-D973FF4BD243}"/>
                  </a:ext>
                </a:extLst>
              </p:cNvPr>
              <p:cNvSpPr/>
              <p:nvPr/>
            </p:nvSpPr>
            <p:spPr>
              <a:xfrm flipH="1">
                <a:off x="2308479" y="3771719"/>
                <a:ext cx="964274" cy="508940"/>
              </a:xfrm>
              <a:prstGeom prst="rightArrow">
                <a:avLst/>
              </a:prstGeom>
              <a:solidFill>
                <a:srgbClr val="4760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latin typeface="Times New Roman" panose="02020603050405020304" pitchFamily="18" charset="0"/>
                    <a:cs typeface="Times New Roman" panose="02020603050405020304" pitchFamily="18" charset="0"/>
                  </a:rPr>
                  <a:t>🌒</a:t>
                </a:r>
                <a:r>
                  <a:rPr lang="de-DE"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𝑛𝑉</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67" name="Pfeil: nach rechts 66">
                <a:extLst>
                  <a:ext uri="{FF2B5EF4-FFF2-40B4-BE49-F238E27FC236}">
                    <a16:creationId xmlns:a16="http://schemas.microsoft.com/office/drawing/2014/main" id="{9681F59A-1FD9-0AEE-F04F-D973FF4BD243}"/>
                  </a:ext>
                </a:extLst>
              </p:cNvPr>
              <p:cNvSpPr>
                <a:spLocks noRot="1" noChangeAspect="1" noMove="1" noResize="1" noEditPoints="1" noAdjustHandles="1" noChangeArrowheads="1" noChangeShapeType="1" noTextEdit="1"/>
              </p:cNvSpPr>
              <p:nvPr/>
            </p:nvSpPr>
            <p:spPr>
              <a:xfrm flipH="1">
                <a:off x="2308479" y="3771719"/>
                <a:ext cx="964274" cy="508940"/>
              </a:xfrm>
              <a:prstGeom prst="rightArrow">
                <a:avLst/>
              </a:prstGeom>
              <a:blipFill>
                <a:blip r:embed="rId12"/>
                <a:stretch>
                  <a:fillRect/>
                </a:stretch>
              </a:blipFill>
              <a:ln>
                <a:noFill/>
              </a:ln>
            </p:spPr>
            <p:txBody>
              <a:bodyPr/>
              <a:lstStyle/>
              <a:p>
                <a:r>
                  <a:rPr lang="de-DE">
                    <a:noFill/>
                  </a:rPr>
                  <a:t> </a:t>
                </a:r>
              </a:p>
            </p:txBody>
          </p:sp>
        </mc:Fallback>
      </mc:AlternateContent>
      <p:sp>
        <p:nvSpPr>
          <p:cNvPr id="68" name="Rechteck 67">
            <a:extLst>
              <a:ext uri="{FF2B5EF4-FFF2-40B4-BE49-F238E27FC236}">
                <a16:creationId xmlns:a16="http://schemas.microsoft.com/office/drawing/2014/main" id="{0A3AC522-7ECC-B922-4A51-564BE0B62213}"/>
              </a:ext>
            </a:extLst>
          </p:cNvPr>
          <p:cNvSpPr/>
          <p:nvPr/>
        </p:nvSpPr>
        <p:spPr>
          <a:xfrm>
            <a:off x="3427667" y="3920645"/>
            <a:ext cx="905971" cy="825596"/>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275D2BFA-72B4-6BB9-21E3-BD064F2B82B6}"/>
                  </a:ext>
                </a:extLst>
              </p:cNvPr>
              <p:cNvSpPr txBox="1"/>
              <p:nvPr/>
            </p:nvSpPr>
            <p:spPr>
              <a:xfrm>
                <a:off x="3272753" y="4015302"/>
                <a:ext cx="1789591" cy="477888"/>
              </a:xfrm>
              <a:prstGeom prst="rect">
                <a:avLst/>
              </a:prstGeom>
              <a:noFill/>
            </p:spPr>
            <p:txBody>
              <a:bodyPr wrap="square">
                <a:spAutoFit/>
              </a:bodyPr>
              <a:lstStyle/>
              <a:p>
                <a:r>
                  <a:rPr lang="de-DE"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sz="2400" i="1">
                            <a:latin typeface="Cambria Math" panose="02040503050406030204" pitchFamily="18" charset="0"/>
                          </a:rPr>
                        </m:ctrlPr>
                      </m:sSubPr>
                      <m:e>
                        <m:r>
                          <a:rPr lang="de-DE" sz="2400" i="1">
                            <a:latin typeface="Cambria Math" panose="02040503050406030204" pitchFamily="18" charset="0"/>
                          </a:rPr>
                          <m:t>𝑇</m:t>
                        </m:r>
                      </m:e>
                      <m:sub>
                        <m:r>
                          <a:rPr lang="de-DE" sz="2400" i="1">
                            <a:latin typeface="Cambria Math" panose="02040503050406030204" pitchFamily="18" charset="0"/>
                          </a:rPr>
                          <m:t>𝑖</m:t>
                        </m:r>
                        <m:r>
                          <a:rPr lang="de-DE" sz="2400" i="1">
                            <a:latin typeface="Cambria Math" panose="02040503050406030204" pitchFamily="18" charset="0"/>
                          </a:rPr>
                          <m:t>, </m:t>
                        </m:r>
                        <m:r>
                          <a:rPr lang="de-DE" sz="2400" i="1">
                            <a:latin typeface="Cambria Math" panose="02040503050406030204" pitchFamily="18" charset="0"/>
                          </a:rPr>
                          <m:t>𝑢</m:t>
                        </m:r>
                      </m:sub>
                    </m:sSub>
                  </m:oMath>
                </a14:m>
                <a:endParaRPr lang="de-AT" sz="2400" dirty="0">
                  <a:latin typeface="Times New Roman" panose="02020603050405020304" pitchFamily="18" charset="0"/>
                  <a:cs typeface="Times New Roman" panose="02020603050405020304" pitchFamily="18" charset="0"/>
                </a:endParaRPr>
              </a:p>
            </p:txBody>
          </p:sp>
        </mc:Choice>
        <mc:Fallback xmlns="">
          <p:sp>
            <p:nvSpPr>
              <p:cNvPr id="11" name="Textfeld 10">
                <a:extLst>
                  <a:ext uri="{FF2B5EF4-FFF2-40B4-BE49-F238E27FC236}">
                    <a16:creationId xmlns:a16="http://schemas.microsoft.com/office/drawing/2014/main" id="{275D2BFA-72B4-6BB9-21E3-BD064F2B82B6}"/>
                  </a:ext>
                </a:extLst>
              </p:cNvPr>
              <p:cNvSpPr txBox="1">
                <a:spLocks noRot="1" noChangeAspect="1" noMove="1" noResize="1" noEditPoints="1" noAdjustHandles="1" noChangeArrowheads="1" noChangeShapeType="1" noTextEdit="1"/>
              </p:cNvSpPr>
              <p:nvPr/>
            </p:nvSpPr>
            <p:spPr>
              <a:xfrm>
                <a:off x="3272753" y="4015302"/>
                <a:ext cx="1789591" cy="477888"/>
              </a:xfrm>
              <a:prstGeom prst="rect">
                <a:avLst/>
              </a:prstGeom>
              <a:blipFill>
                <a:blip r:embed="rId13"/>
                <a:stretch>
                  <a:fillRect l="-5461" t="-10256" b="-25641"/>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3" name="Pfeil: nach rechts 62">
                <a:extLst>
                  <a:ext uri="{FF2B5EF4-FFF2-40B4-BE49-F238E27FC236}">
                    <a16:creationId xmlns:a16="http://schemas.microsoft.com/office/drawing/2014/main" id="{C9D3EB77-522C-EAC2-3F98-FFFE906BD0CD}"/>
                  </a:ext>
                </a:extLst>
              </p:cNvPr>
              <p:cNvSpPr/>
              <p:nvPr/>
            </p:nvSpPr>
            <p:spPr>
              <a:xfrm>
                <a:off x="5625015" y="3055105"/>
                <a:ext cx="985340" cy="508940"/>
              </a:xfrm>
              <a:prstGeom prst="rightArrow">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𝑠</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63" name="Pfeil: nach rechts 62">
                <a:extLst>
                  <a:ext uri="{FF2B5EF4-FFF2-40B4-BE49-F238E27FC236}">
                    <a16:creationId xmlns:a16="http://schemas.microsoft.com/office/drawing/2014/main" id="{C9D3EB77-522C-EAC2-3F98-FFFE906BD0CD}"/>
                  </a:ext>
                </a:extLst>
              </p:cNvPr>
              <p:cNvSpPr>
                <a:spLocks noRot="1" noChangeAspect="1" noMove="1" noResize="1" noEditPoints="1" noAdjustHandles="1" noChangeArrowheads="1" noChangeShapeType="1" noTextEdit="1"/>
              </p:cNvSpPr>
              <p:nvPr/>
            </p:nvSpPr>
            <p:spPr>
              <a:xfrm>
                <a:off x="5625015" y="3055105"/>
                <a:ext cx="985340" cy="508940"/>
              </a:xfrm>
              <a:prstGeom prst="rightArrow">
                <a:avLst/>
              </a:prstGeom>
              <a:blipFill>
                <a:blip r:embed="rId14"/>
                <a:stretch>
                  <a:fillRect l="-2484" b="-4762"/>
                </a:stretch>
              </a:blipFill>
              <a:ln>
                <a:noFill/>
              </a:ln>
            </p:spPr>
            <p:txBody>
              <a:bodyPr/>
              <a:lstStyle/>
              <a:p>
                <a:r>
                  <a:rPr lang="de-DE">
                    <a:noFill/>
                  </a:rPr>
                  <a:t> </a:t>
                </a:r>
              </a:p>
            </p:txBody>
          </p:sp>
        </mc:Fallback>
      </mc:AlternateContent>
      <p:sp>
        <p:nvSpPr>
          <p:cNvPr id="71" name="Rechteck 70">
            <a:extLst>
              <a:ext uri="{FF2B5EF4-FFF2-40B4-BE49-F238E27FC236}">
                <a16:creationId xmlns:a16="http://schemas.microsoft.com/office/drawing/2014/main" id="{FA83DD15-6A99-822B-8AC4-57E690856670}"/>
              </a:ext>
            </a:extLst>
          </p:cNvPr>
          <p:cNvSpPr/>
          <p:nvPr/>
        </p:nvSpPr>
        <p:spPr>
          <a:xfrm>
            <a:off x="6292415" y="3855846"/>
            <a:ext cx="905971" cy="825596"/>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99EBECA4-A22F-4B6E-B464-021FD4284770}"/>
                  </a:ext>
                </a:extLst>
              </p:cNvPr>
              <p:cNvSpPr txBox="1"/>
              <p:nvPr/>
            </p:nvSpPr>
            <p:spPr>
              <a:xfrm>
                <a:off x="6023847" y="4034909"/>
                <a:ext cx="1247120" cy="477888"/>
              </a:xfrm>
              <a:prstGeom prst="rect">
                <a:avLst/>
              </a:prstGeom>
              <a:noFill/>
            </p:spPr>
            <p:txBody>
              <a:bodyPr wrap="square">
                <a:spAutoFit/>
              </a:bodyPr>
              <a:lstStyle/>
              <a:p>
                <a:r>
                  <a:rPr lang="de-DE" sz="24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de-DE" sz="2400" i="1">
                            <a:latin typeface="Cambria Math" panose="02040503050406030204" pitchFamily="18" charset="0"/>
                          </a:rPr>
                        </m:ctrlPr>
                      </m:sSubPr>
                      <m:e>
                        <m:r>
                          <a:rPr lang="de-DE" sz="2400" i="1">
                            <a:latin typeface="Cambria Math" panose="02040503050406030204" pitchFamily="18" charset="0"/>
                          </a:rPr>
                          <m:t>𝑇</m:t>
                        </m:r>
                      </m:e>
                      <m:sub>
                        <m:r>
                          <a:rPr lang="de-DE" sz="2400" i="1">
                            <a:latin typeface="Cambria Math" panose="02040503050406030204" pitchFamily="18" charset="0"/>
                          </a:rPr>
                          <m:t>𝑖</m:t>
                        </m:r>
                        <m:r>
                          <a:rPr lang="de-DE" sz="2400" i="1">
                            <a:latin typeface="Cambria Math" panose="02040503050406030204" pitchFamily="18" charset="0"/>
                          </a:rPr>
                          <m:t>, </m:t>
                        </m:r>
                        <m:r>
                          <a:rPr lang="de-DE" sz="2400" i="1">
                            <a:latin typeface="Cambria Math" panose="02040503050406030204" pitchFamily="18" charset="0"/>
                          </a:rPr>
                          <m:t>𝑐</m:t>
                        </m:r>
                      </m:sub>
                    </m:sSub>
                  </m:oMath>
                </a14:m>
                <a:endParaRPr lang="de-AT" sz="2400" dirty="0">
                  <a:latin typeface="Times New Roman" panose="02020603050405020304" pitchFamily="18" charset="0"/>
                  <a:cs typeface="Times New Roman" panose="02020603050405020304" pitchFamily="18" charset="0"/>
                </a:endParaRPr>
              </a:p>
            </p:txBody>
          </p:sp>
        </mc:Choice>
        <mc:Fallback xmlns="">
          <p:sp>
            <p:nvSpPr>
              <p:cNvPr id="13" name="Textfeld 12">
                <a:extLst>
                  <a:ext uri="{FF2B5EF4-FFF2-40B4-BE49-F238E27FC236}">
                    <a16:creationId xmlns:a16="http://schemas.microsoft.com/office/drawing/2014/main" id="{99EBECA4-A22F-4B6E-B464-021FD4284770}"/>
                  </a:ext>
                </a:extLst>
              </p:cNvPr>
              <p:cNvSpPr txBox="1">
                <a:spLocks noRot="1" noChangeAspect="1" noMove="1" noResize="1" noEditPoints="1" noAdjustHandles="1" noChangeArrowheads="1" noChangeShapeType="1" noTextEdit="1"/>
              </p:cNvSpPr>
              <p:nvPr/>
            </p:nvSpPr>
            <p:spPr>
              <a:xfrm>
                <a:off x="6023847" y="4034909"/>
                <a:ext cx="1247120" cy="477888"/>
              </a:xfrm>
              <a:prstGeom prst="rect">
                <a:avLst/>
              </a:prstGeom>
              <a:blipFill>
                <a:blip r:embed="rId15"/>
                <a:stretch>
                  <a:fillRect l="-7317" t="-10256" b="-25641"/>
                </a:stretch>
              </a:blipFill>
            </p:spPr>
            <p:txBody>
              <a:bodyPr/>
              <a:lstStyle/>
              <a:p>
                <a:r>
                  <a:rPr lang="de-DE">
                    <a:noFill/>
                  </a:rPr>
                  <a:t> </a:t>
                </a:r>
              </a:p>
            </p:txBody>
          </p:sp>
        </mc:Fallback>
      </mc:AlternateContent>
      <p:sp>
        <p:nvSpPr>
          <p:cNvPr id="75" name="Pfeil: nach oben und unten 74">
            <a:extLst>
              <a:ext uri="{FF2B5EF4-FFF2-40B4-BE49-F238E27FC236}">
                <a16:creationId xmlns:a16="http://schemas.microsoft.com/office/drawing/2014/main" id="{46D6EA35-DA66-90A7-B9FD-F22CC2AEFE5A}"/>
              </a:ext>
            </a:extLst>
          </p:cNvPr>
          <p:cNvSpPr/>
          <p:nvPr/>
        </p:nvSpPr>
        <p:spPr>
          <a:xfrm rot="5400000">
            <a:off x="5051453" y="3022070"/>
            <a:ext cx="252805" cy="1780375"/>
          </a:xfrm>
          <a:prstGeom prst="upDownArrow">
            <a:avLst>
              <a:gd name="adj1" fmla="val 0"/>
              <a:gd name="adj2" fmla="val 57536"/>
            </a:avLst>
          </a:prstGeom>
          <a:noFill/>
          <a:ln w="28575">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77" name="Textfeld 76">
            <a:extLst>
              <a:ext uri="{FF2B5EF4-FFF2-40B4-BE49-F238E27FC236}">
                <a16:creationId xmlns:a16="http://schemas.microsoft.com/office/drawing/2014/main" id="{C18E7F74-6D5A-04AF-9322-BF13ECEB4425}"/>
              </a:ext>
            </a:extLst>
          </p:cNvPr>
          <p:cNvSpPr txBox="1"/>
          <p:nvPr/>
        </p:nvSpPr>
        <p:spPr>
          <a:xfrm>
            <a:off x="4531485" y="3409461"/>
            <a:ext cx="1050288" cy="253916"/>
          </a:xfrm>
          <a:prstGeom prst="rect">
            <a:avLst/>
          </a:prstGeom>
          <a:noFill/>
        </p:spPr>
        <p:txBody>
          <a:bodyPr wrap="none" rtlCol="0">
            <a:spAutoFit/>
          </a:bodyPr>
          <a:lstStyle/>
          <a:p>
            <a:r>
              <a:rPr lang="de-AT" sz="1050" noProof="1">
                <a:latin typeface="Times New Roman" panose="02020603050405020304" pitchFamily="18" charset="0"/>
                <a:cs typeface="Times New Roman" panose="02020603050405020304" pitchFamily="18" charset="0"/>
              </a:rPr>
              <a:t>No heat transfer</a:t>
            </a:r>
          </a:p>
        </p:txBody>
      </p:sp>
      <mc:AlternateContent xmlns:mc="http://schemas.openxmlformats.org/markup-compatibility/2006" xmlns:a14="http://schemas.microsoft.com/office/drawing/2010/main">
        <mc:Choice Requires="a14">
          <p:sp>
            <p:nvSpPr>
              <p:cNvPr id="78" name="Pfeil: nach rechts 77">
                <a:extLst>
                  <a:ext uri="{FF2B5EF4-FFF2-40B4-BE49-F238E27FC236}">
                    <a16:creationId xmlns:a16="http://schemas.microsoft.com/office/drawing/2014/main" id="{6B9B5F7A-2E09-2C90-B315-0ACDA5F1DCA3}"/>
                  </a:ext>
                </a:extLst>
              </p:cNvPr>
              <p:cNvSpPr/>
              <p:nvPr/>
            </p:nvSpPr>
            <p:spPr>
              <a:xfrm rot="5400000" flipH="1">
                <a:off x="3309146" y="4791757"/>
                <a:ext cx="483876" cy="508940"/>
              </a:xfrm>
              <a:prstGeom prst="rightArrow">
                <a:avLst>
                  <a:gd name="adj1" fmla="val 62165"/>
                  <a:gd name="adj2"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14:m>
                  <m:oMathPara xmlns:m="http://schemas.openxmlformats.org/officeDocument/2006/math">
                    <m:o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𝐻</m:t>
                          </m:r>
                        </m:sub>
                      </m:sSub>
                    </m:oMath>
                  </m:oMathPara>
                </a14:m>
                <a:endParaRPr lang="de-AT" dirty="0">
                  <a:latin typeface="Times New Roman" panose="02020603050405020304" pitchFamily="18" charset="0"/>
                  <a:cs typeface="Times New Roman" panose="02020603050405020304" pitchFamily="18" charset="0"/>
                </a:endParaRPr>
              </a:p>
            </p:txBody>
          </p:sp>
        </mc:Choice>
        <mc:Fallback xmlns="">
          <p:sp>
            <p:nvSpPr>
              <p:cNvPr id="78" name="Pfeil: nach rechts 77">
                <a:extLst>
                  <a:ext uri="{FF2B5EF4-FFF2-40B4-BE49-F238E27FC236}">
                    <a16:creationId xmlns:a16="http://schemas.microsoft.com/office/drawing/2014/main" id="{6B9B5F7A-2E09-2C90-B315-0ACDA5F1DCA3}"/>
                  </a:ext>
                </a:extLst>
              </p:cNvPr>
              <p:cNvSpPr>
                <a:spLocks noRot="1" noChangeAspect="1" noMove="1" noResize="1" noEditPoints="1" noAdjustHandles="1" noChangeArrowheads="1" noChangeShapeType="1" noTextEdit="1"/>
              </p:cNvSpPr>
              <p:nvPr/>
            </p:nvSpPr>
            <p:spPr>
              <a:xfrm rot="5400000" flipH="1">
                <a:off x="3309146" y="4791757"/>
                <a:ext cx="483876" cy="508940"/>
              </a:xfrm>
              <a:prstGeom prst="rightArrow">
                <a:avLst>
                  <a:gd name="adj1" fmla="val 62165"/>
                  <a:gd name="adj2" fmla="val 50000"/>
                </a:avLst>
              </a:prstGeom>
              <a:blipFill>
                <a:blip r:embed="rId16"/>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0" name="Pfeil: nach rechts 79">
                <a:extLst>
                  <a:ext uri="{FF2B5EF4-FFF2-40B4-BE49-F238E27FC236}">
                    <a16:creationId xmlns:a16="http://schemas.microsoft.com/office/drawing/2014/main" id="{C2062092-8624-D1D6-3709-E80F232457C1}"/>
                  </a:ext>
                </a:extLst>
              </p:cNvPr>
              <p:cNvSpPr/>
              <p:nvPr/>
            </p:nvSpPr>
            <p:spPr>
              <a:xfrm rot="5400000" flipH="1">
                <a:off x="6197034" y="4772742"/>
                <a:ext cx="483876" cy="508940"/>
              </a:xfrm>
              <a:prstGeom prst="rightArrow">
                <a:avLst>
                  <a:gd name="adj1" fmla="val 62165"/>
                  <a:gd name="adj2"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14:m>
                  <m:oMathPara xmlns:m="http://schemas.openxmlformats.org/officeDocument/2006/math">
                    <m:o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𝐻</m:t>
                          </m:r>
                        </m:sub>
                      </m:sSub>
                    </m:oMath>
                  </m:oMathPara>
                </a14:m>
                <a:endParaRPr lang="de-AT" dirty="0">
                  <a:latin typeface="Times New Roman" panose="02020603050405020304" pitchFamily="18" charset="0"/>
                  <a:cs typeface="Times New Roman" panose="02020603050405020304" pitchFamily="18" charset="0"/>
                </a:endParaRPr>
              </a:p>
            </p:txBody>
          </p:sp>
        </mc:Choice>
        <mc:Fallback xmlns="">
          <p:sp>
            <p:nvSpPr>
              <p:cNvPr id="80" name="Pfeil: nach rechts 79">
                <a:extLst>
                  <a:ext uri="{FF2B5EF4-FFF2-40B4-BE49-F238E27FC236}">
                    <a16:creationId xmlns:a16="http://schemas.microsoft.com/office/drawing/2014/main" id="{C2062092-8624-D1D6-3709-E80F232457C1}"/>
                  </a:ext>
                </a:extLst>
              </p:cNvPr>
              <p:cNvSpPr>
                <a:spLocks noRot="1" noChangeAspect="1" noMove="1" noResize="1" noEditPoints="1" noAdjustHandles="1" noChangeArrowheads="1" noChangeShapeType="1" noTextEdit="1"/>
              </p:cNvSpPr>
              <p:nvPr/>
            </p:nvSpPr>
            <p:spPr>
              <a:xfrm rot="5400000" flipH="1">
                <a:off x="6197034" y="4772742"/>
                <a:ext cx="483876" cy="508940"/>
              </a:xfrm>
              <a:prstGeom prst="rightArrow">
                <a:avLst>
                  <a:gd name="adj1" fmla="val 62165"/>
                  <a:gd name="adj2" fmla="val 50000"/>
                </a:avLst>
              </a:prstGeom>
              <a:blipFill>
                <a:blip r:embed="rId17"/>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1" name="Pfeil: nach rechts 80">
                <a:extLst>
                  <a:ext uri="{FF2B5EF4-FFF2-40B4-BE49-F238E27FC236}">
                    <a16:creationId xmlns:a16="http://schemas.microsoft.com/office/drawing/2014/main" id="{A91D753D-C2D0-4C3F-F4B8-1854D88E02E3}"/>
                  </a:ext>
                </a:extLst>
              </p:cNvPr>
              <p:cNvSpPr/>
              <p:nvPr/>
            </p:nvSpPr>
            <p:spPr>
              <a:xfrm rot="16200000" flipH="1">
                <a:off x="6649734" y="4927694"/>
                <a:ext cx="483876" cy="508940"/>
              </a:xfrm>
              <a:prstGeom prst="rightArrow">
                <a:avLst>
                  <a:gd name="adj1" fmla="val 62165"/>
                  <a:gd name="adj2" fmla="val 5000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14:m>
                  <m:oMathPara xmlns:m="http://schemas.openxmlformats.org/officeDocument/2006/math">
                    <m:o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𝐶</m:t>
                          </m:r>
                        </m:sub>
                      </m:sSub>
                    </m:oMath>
                  </m:oMathPara>
                </a14:m>
                <a:endParaRPr lang="de-AT" dirty="0">
                  <a:latin typeface="Times New Roman" panose="02020603050405020304" pitchFamily="18" charset="0"/>
                  <a:cs typeface="Times New Roman" panose="02020603050405020304" pitchFamily="18" charset="0"/>
                </a:endParaRPr>
              </a:p>
            </p:txBody>
          </p:sp>
        </mc:Choice>
        <mc:Fallback xmlns="">
          <p:sp>
            <p:nvSpPr>
              <p:cNvPr id="81" name="Pfeil: nach rechts 80">
                <a:extLst>
                  <a:ext uri="{FF2B5EF4-FFF2-40B4-BE49-F238E27FC236}">
                    <a16:creationId xmlns:a16="http://schemas.microsoft.com/office/drawing/2014/main" id="{A91D753D-C2D0-4C3F-F4B8-1854D88E02E3}"/>
                  </a:ext>
                </a:extLst>
              </p:cNvPr>
              <p:cNvSpPr>
                <a:spLocks noRot="1" noChangeAspect="1" noMove="1" noResize="1" noEditPoints="1" noAdjustHandles="1" noChangeArrowheads="1" noChangeShapeType="1" noTextEdit="1"/>
              </p:cNvSpPr>
              <p:nvPr/>
            </p:nvSpPr>
            <p:spPr>
              <a:xfrm rot="16200000" flipH="1">
                <a:off x="6649734" y="4927694"/>
                <a:ext cx="483876" cy="508940"/>
              </a:xfrm>
              <a:prstGeom prst="rightArrow">
                <a:avLst>
                  <a:gd name="adj1" fmla="val 62165"/>
                  <a:gd name="adj2" fmla="val 50000"/>
                </a:avLst>
              </a:prstGeom>
              <a:blipFill>
                <a:blip r:embed="rId18"/>
                <a:stretch>
                  <a:fillRect/>
                </a:stretch>
              </a:blipFill>
              <a:ln>
                <a:noFill/>
              </a:ln>
            </p:spPr>
            <p:txBody>
              <a:bodyPr/>
              <a:lstStyle/>
              <a:p>
                <a:r>
                  <a:rPr lang="de-DE">
                    <a:noFill/>
                  </a:rPr>
                  <a:t> </a:t>
                </a:r>
              </a:p>
            </p:txBody>
          </p:sp>
        </mc:Fallback>
      </mc:AlternateContent>
      <p:sp>
        <p:nvSpPr>
          <p:cNvPr id="83" name="Textfeld 82">
            <a:extLst>
              <a:ext uri="{FF2B5EF4-FFF2-40B4-BE49-F238E27FC236}">
                <a16:creationId xmlns:a16="http://schemas.microsoft.com/office/drawing/2014/main" id="{9CFD70A5-4F55-1C3E-B5E5-33C70CE5A84E}"/>
              </a:ext>
            </a:extLst>
          </p:cNvPr>
          <p:cNvSpPr txBox="1"/>
          <p:nvPr/>
        </p:nvSpPr>
        <p:spPr>
          <a:xfrm>
            <a:off x="2579749" y="2285917"/>
            <a:ext cx="2347156" cy="646331"/>
          </a:xfrm>
          <a:prstGeom prst="rect">
            <a:avLst/>
          </a:prstGeom>
          <a:noFill/>
        </p:spPr>
        <p:txBody>
          <a:bodyPr wrap="square">
            <a:spAutoFit/>
          </a:bodyPr>
          <a:lstStyle/>
          <a:p>
            <a:r>
              <a:rPr lang="de-DE" noProof="1">
                <a:latin typeface="Times New Roman" panose="02020603050405020304" pitchFamily="18" charset="0"/>
                <a:cs typeface="Times New Roman" panose="02020603050405020304" pitchFamily="18" charset="0"/>
              </a:rPr>
              <a:t>🥵Thermal zone without active cooling</a:t>
            </a:r>
          </a:p>
        </p:txBody>
      </p:sp>
      <p:sp>
        <p:nvSpPr>
          <p:cNvPr id="84" name="Textfeld 83">
            <a:extLst>
              <a:ext uri="{FF2B5EF4-FFF2-40B4-BE49-F238E27FC236}">
                <a16:creationId xmlns:a16="http://schemas.microsoft.com/office/drawing/2014/main" id="{05234418-FF1D-7C62-9885-34BD01E7BA44}"/>
              </a:ext>
            </a:extLst>
          </p:cNvPr>
          <p:cNvSpPr txBox="1"/>
          <p:nvPr/>
        </p:nvSpPr>
        <p:spPr>
          <a:xfrm>
            <a:off x="5516592" y="2226081"/>
            <a:ext cx="2241217" cy="646331"/>
          </a:xfrm>
          <a:prstGeom prst="rect">
            <a:avLst/>
          </a:prstGeom>
          <a:noFill/>
        </p:spPr>
        <p:txBody>
          <a:bodyPr wrap="square">
            <a:spAutoFit/>
          </a:bodyPr>
          <a:lstStyle/>
          <a:p>
            <a:r>
              <a:rPr lang="de-DE" noProof="1">
                <a:latin typeface="Times New Roman" panose="02020603050405020304" pitchFamily="18" charset="0"/>
                <a:cs typeface="Times New Roman" panose="02020603050405020304" pitchFamily="18" charset="0"/>
              </a:rPr>
              <a:t>❄️ Thermal zone with active cooling</a:t>
            </a:r>
          </a:p>
        </p:txBody>
      </p:sp>
      <mc:AlternateContent xmlns:mc="http://schemas.openxmlformats.org/markup-compatibility/2006" xmlns:a14="http://schemas.microsoft.com/office/drawing/2010/main">
        <mc:Choice Requires="a14">
          <p:sp>
            <p:nvSpPr>
              <p:cNvPr id="85" name="Pfeil: nach links und rechts 84">
                <a:extLst>
                  <a:ext uri="{FF2B5EF4-FFF2-40B4-BE49-F238E27FC236}">
                    <a16:creationId xmlns:a16="http://schemas.microsoft.com/office/drawing/2014/main" id="{3B0E9778-E33E-E8EA-1DFB-EA0E45E57E83}"/>
                  </a:ext>
                </a:extLst>
              </p:cNvPr>
              <p:cNvSpPr/>
              <p:nvPr/>
            </p:nvSpPr>
            <p:spPr>
              <a:xfrm>
                <a:off x="5179584" y="4571452"/>
                <a:ext cx="981346" cy="515110"/>
              </a:xfrm>
              <a:prstGeom prst="leftRightArrow">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b="1" dirty="0">
                    <a:latin typeface="Times New Roman" panose="02020603050405020304" pitchFamily="18" charset="0"/>
                    <a:cs typeface="Times New Roman" panose="02020603050405020304" pitchFamily="18" charset="0"/>
                  </a:rPr>
                  <a:t>🧱</a:t>
                </a:r>
                <a:r>
                  <a:rPr lang="de-DE"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𝑇</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85" name="Pfeil: nach links und rechts 84">
                <a:extLst>
                  <a:ext uri="{FF2B5EF4-FFF2-40B4-BE49-F238E27FC236}">
                    <a16:creationId xmlns:a16="http://schemas.microsoft.com/office/drawing/2014/main" id="{3B0E9778-E33E-E8EA-1DFB-EA0E45E57E83}"/>
                  </a:ext>
                </a:extLst>
              </p:cNvPr>
              <p:cNvSpPr>
                <a:spLocks noRot="1" noChangeAspect="1" noMove="1" noResize="1" noEditPoints="1" noAdjustHandles="1" noChangeArrowheads="1" noChangeShapeType="1" noTextEdit="1"/>
              </p:cNvSpPr>
              <p:nvPr/>
            </p:nvSpPr>
            <p:spPr>
              <a:xfrm>
                <a:off x="5179584" y="4571452"/>
                <a:ext cx="981346" cy="515110"/>
              </a:xfrm>
              <a:prstGeom prst="leftRightArrow">
                <a:avLst/>
              </a:prstGeom>
              <a:blipFill>
                <a:blip r:embed="rId19"/>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6" name="Pfeil: nach links und rechts 85">
                <a:extLst>
                  <a:ext uri="{FF2B5EF4-FFF2-40B4-BE49-F238E27FC236}">
                    <a16:creationId xmlns:a16="http://schemas.microsoft.com/office/drawing/2014/main" id="{39A139D3-EDF1-E835-1F3E-02D3CB78A23F}"/>
                  </a:ext>
                </a:extLst>
              </p:cNvPr>
              <p:cNvSpPr/>
              <p:nvPr/>
            </p:nvSpPr>
            <p:spPr>
              <a:xfrm>
                <a:off x="5176848" y="4309379"/>
                <a:ext cx="981346" cy="515110"/>
              </a:xfrm>
              <a:prstGeom prst="leftRightArrow">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latin typeface="Times New Roman" panose="02020603050405020304" pitchFamily="18" charset="0"/>
                    <a:cs typeface="Times New Roman" panose="02020603050405020304" pitchFamily="18" charset="0"/>
                  </a:rPr>
                  <a:t>💨</a:t>
                </a:r>
                <a:r>
                  <a:rPr lang="de-DE"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𝑉</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86" name="Pfeil: nach links und rechts 85">
                <a:extLst>
                  <a:ext uri="{FF2B5EF4-FFF2-40B4-BE49-F238E27FC236}">
                    <a16:creationId xmlns:a16="http://schemas.microsoft.com/office/drawing/2014/main" id="{39A139D3-EDF1-E835-1F3E-02D3CB78A23F}"/>
                  </a:ext>
                </a:extLst>
              </p:cNvPr>
              <p:cNvSpPr>
                <a:spLocks noRot="1" noChangeAspect="1" noMove="1" noResize="1" noEditPoints="1" noAdjustHandles="1" noChangeArrowheads="1" noChangeShapeType="1" noTextEdit="1"/>
              </p:cNvSpPr>
              <p:nvPr/>
            </p:nvSpPr>
            <p:spPr>
              <a:xfrm>
                <a:off x="5176848" y="4309379"/>
                <a:ext cx="981346" cy="515110"/>
              </a:xfrm>
              <a:prstGeom prst="leftRightArrow">
                <a:avLst/>
              </a:prstGeom>
              <a:blipFill>
                <a:blip r:embed="rId20"/>
                <a:stretch>
                  <a:fillRect/>
                </a:stretch>
              </a:blipFill>
              <a:ln>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7" name="Pfeil: nach rechts 86">
                <a:extLst>
                  <a:ext uri="{FF2B5EF4-FFF2-40B4-BE49-F238E27FC236}">
                    <a16:creationId xmlns:a16="http://schemas.microsoft.com/office/drawing/2014/main" id="{2CCD086D-D3AB-D8C4-0E14-25D6C1854CE6}"/>
                  </a:ext>
                </a:extLst>
              </p:cNvPr>
              <p:cNvSpPr/>
              <p:nvPr/>
            </p:nvSpPr>
            <p:spPr>
              <a:xfrm flipH="1">
                <a:off x="7092597" y="4704112"/>
                <a:ext cx="823947" cy="508940"/>
              </a:xfrm>
              <a:prstGeom prst="rightArrow">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b="1" dirty="0">
                    <a:latin typeface="Times New Roman" panose="02020603050405020304" pitchFamily="18" charset="0"/>
                    <a:cs typeface="Times New Roman" panose="02020603050405020304" pitchFamily="18" charset="0"/>
                  </a:rPr>
                  <a:t>👤</a:t>
                </a:r>
                <a:r>
                  <a:rPr lang="de-DE" b="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de-DE" i="1">
                            <a:latin typeface="Cambria Math" panose="02040503050406030204" pitchFamily="18" charset="0"/>
                          </a:rPr>
                        </m:ctrlPr>
                      </m:sSubPr>
                      <m:e>
                        <m:r>
                          <a:rPr lang="de-DE" i="1">
                            <a:latin typeface="Cambria Math" panose="02040503050406030204" pitchFamily="18" charset="0"/>
                          </a:rPr>
                          <m:t>𝑄</m:t>
                        </m:r>
                      </m:e>
                      <m:sub>
                        <m:r>
                          <a:rPr lang="de-DE" i="1">
                            <a:latin typeface="Cambria Math" panose="02040503050406030204" pitchFamily="18" charset="0"/>
                          </a:rPr>
                          <m:t>𝐼</m:t>
                        </m:r>
                      </m:sub>
                    </m:sSub>
                  </m:oMath>
                </a14:m>
                <a:endParaRPr lang="de-AT" dirty="0">
                  <a:latin typeface="Times New Roman" panose="02020603050405020304" pitchFamily="18" charset="0"/>
                  <a:cs typeface="Times New Roman" panose="02020603050405020304" pitchFamily="18" charset="0"/>
                </a:endParaRPr>
              </a:p>
            </p:txBody>
          </p:sp>
        </mc:Choice>
        <mc:Fallback xmlns="">
          <p:sp>
            <p:nvSpPr>
              <p:cNvPr id="87" name="Pfeil: nach rechts 86">
                <a:extLst>
                  <a:ext uri="{FF2B5EF4-FFF2-40B4-BE49-F238E27FC236}">
                    <a16:creationId xmlns:a16="http://schemas.microsoft.com/office/drawing/2014/main" id="{2CCD086D-D3AB-D8C4-0E14-25D6C1854CE6}"/>
                  </a:ext>
                </a:extLst>
              </p:cNvPr>
              <p:cNvSpPr>
                <a:spLocks noRot="1" noChangeAspect="1" noMove="1" noResize="1" noEditPoints="1" noAdjustHandles="1" noChangeArrowheads="1" noChangeShapeType="1" noTextEdit="1"/>
              </p:cNvSpPr>
              <p:nvPr/>
            </p:nvSpPr>
            <p:spPr>
              <a:xfrm flipH="1">
                <a:off x="7092597" y="4704112"/>
                <a:ext cx="823947" cy="508940"/>
              </a:xfrm>
              <a:prstGeom prst="rightArrow">
                <a:avLst/>
              </a:prstGeom>
              <a:blipFill>
                <a:blip r:embed="rId21"/>
                <a:stretch>
                  <a:fillRect/>
                </a:stretch>
              </a:blipFill>
              <a:ln>
                <a:noFill/>
              </a:ln>
            </p:spPr>
            <p:txBody>
              <a:bodyPr/>
              <a:lstStyle/>
              <a:p>
                <a:r>
                  <a:rPr lang="de-DE">
                    <a:noFill/>
                  </a:rPr>
                  <a:t> </a:t>
                </a:r>
              </a:p>
            </p:txBody>
          </p:sp>
        </mc:Fallback>
      </mc:AlternateContent>
      <p:sp>
        <p:nvSpPr>
          <p:cNvPr id="89" name="Textfeld 88">
            <a:extLst>
              <a:ext uri="{FF2B5EF4-FFF2-40B4-BE49-F238E27FC236}">
                <a16:creationId xmlns:a16="http://schemas.microsoft.com/office/drawing/2014/main" id="{3CA53577-A826-FE7E-96F2-147E953D29DC}"/>
              </a:ext>
            </a:extLst>
          </p:cNvPr>
          <p:cNvSpPr txBox="1"/>
          <p:nvPr/>
        </p:nvSpPr>
        <p:spPr>
          <a:xfrm>
            <a:off x="3306888" y="4762769"/>
            <a:ext cx="915091" cy="369332"/>
          </a:xfrm>
          <a:prstGeom prst="rect">
            <a:avLst/>
          </a:prstGeom>
          <a:noFill/>
        </p:spPr>
        <p:txBody>
          <a:bodyPr wrap="square">
            <a:spAutoFit/>
          </a:bodyPr>
          <a:lstStyle/>
          <a:p>
            <a:r>
              <a:rPr lang="de-DE" dirty="0">
                <a:latin typeface="Times New Roman" panose="02020603050405020304" pitchFamily="18" charset="0"/>
                <a:cs typeface="Times New Roman" panose="02020603050405020304" pitchFamily="18" charset="0"/>
              </a:rPr>
              <a:t>♨️</a:t>
            </a:r>
            <a:endParaRPr lang="de-AT" dirty="0">
              <a:latin typeface="Times New Roman" panose="02020603050405020304" pitchFamily="18" charset="0"/>
              <a:cs typeface="Times New Roman" panose="02020603050405020304" pitchFamily="18" charset="0"/>
            </a:endParaRPr>
          </a:p>
        </p:txBody>
      </p:sp>
      <p:sp>
        <p:nvSpPr>
          <p:cNvPr id="90" name="Textfeld 89">
            <a:extLst>
              <a:ext uri="{FF2B5EF4-FFF2-40B4-BE49-F238E27FC236}">
                <a16:creationId xmlns:a16="http://schemas.microsoft.com/office/drawing/2014/main" id="{96E150D8-91D4-1FD8-1053-2D6C4F078FBA}"/>
              </a:ext>
            </a:extLst>
          </p:cNvPr>
          <p:cNvSpPr txBox="1"/>
          <p:nvPr/>
        </p:nvSpPr>
        <p:spPr>
          <a:xfrm>
            <a:off x="6190888" y="4717125"/>
            <a:ext cx="915091" cy="369332"/>
          </a:xfrm>
          <a:prstGeom prst="rect">
            <a:avLst/>
          </a:prstGeom>
          <a:noFill/>
        </p:spPr>
        <p:txBody>
          <a:bodyPr wrap="square">
            <a:spAutoFit/>
          </a:bodyPr>
          <a:lstStyle/>
          <a:p>
            <a:r>
              <a:rPr lang="de-DE" dirty="0">
                <a:latin typeface="Times New Roman" panose="02020603050405020304" pitchFamily="18" charset="0"/>
                <a:cs typeface="Times New Roman" panose="02020603050405020304" pitchFamily="18" charset="0"/>
              </a:rPr>
              <a:t>♨️</a:t>
            </a:r>
            <a:endParaRPr lang="de-AT" dirty="0">
              <a:latin typeface="Times New Roman" panose="02020603050405020304" pitchFamily="18" charset="0"/>
              <a:cs typeface="Times New Roman" panose="02020603050405020304" pitchFamily="18" charset="0"/>
            </a:endParaRPr>
          </a:p>
        </p:txBody>
      </p:sp>
      <p:sp>
        <p:nvSpPr>
          <p:cNvPr id="92" name="Textfeld 91">
            <a:extLst>
              <a:ext uri="{FF2B5EF4-FFF2-40B4-BE49-F238E27FC236}">
                <a16:creationId xmlns:a16="http://schemas.microsoft.com/office/drawing/2014/main" id="{85A681E9-2193-38C1-6A45-7973244FC22F}"/>
              </a:ext>
            </a:extLst>
          </p:cNvPr>
          <p:cNvSpPr txBox="1"/>
          <p:nvPr/>
        </p:nvSpPr>
        <p:spPr>
          <a:xfrm>
            <a:off x="6672803" y="4744457"/>
            <a:ext cx="646604" cy="307777"/>
          </a:xfrm>
          <a:prstGeom prst="rect">
            <a:avLst/>
          </a:prstGeom>
          <a:noFill/>
        </p:spPr>
        <p:txBody>
          <a:bodyPr wrap="square">
            <a:spAutoFit/>
          </a:bodyPr>
          <a:lstStyle/>
          <a:p>
            <a:r>
              <a:rPr lang="de-DE" sz="1400" dirty="0">
                <a:latin typeface="Times New Roman" panose="02020603050405020304" pitchFamily="18" charset="0"/>
                <a:cs typeface="Times New Roman" panose="02020603050405020304" pitchFamily="18" charset="0"/>
              </a:rPr>
              <a:t>❄️</a:t>
            </a:r>
            <a:endParaRPr lang="de-AT" sz="1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4" name="Textfeld 93">
                <a:extLst>
                  <a:ext uri="{FF2B5EF4-FFF2-40B4-BE49-F238E27FC236}">
                    <a16:creationId xmlns:a16="http://schemas.microsoft.com/office/drawing/2014/main" id="{BC93CAA1-0AFA-88A9-A197-7470A05603A1}"/>
                  </a:ext>
                </a:extLst>
              </p:cNvPr>
              <p:cNvSpPr txBox="1"/>
              <p:nvPr/>
            </p:nvSpPr>
            <p:spPr>
              <a:xfrm>
                <a:off x="4595391" y="2832259"/>
                <a:ext cx="933904" cy="373436"/>
              </a:xfrm>
              <a:prstGeom prst="rect">
                <a:avLst/>
              </a:prstGeom>
              <a:noFill/>
            </p:spPr>
            <p:txBody>
              <a:bodyPr wrap="square">
                <a:spAutoFit/>
              </a:bodyPr>
              <a:lstStyle/>
              <a:p>
                <a:pPr/>
                <a14:m>
                  <m:oMathPara xmlns:m="http://schemas.openxmlformats.org/officeDocument/2006/math">
                    <m:oMath>
                      <m:r>
                        <a:rPr lang="de-DE" i="1">
                          <a:latin typeface="Cambria Math" panose="02040503050406030204" pitchFamily="18" charset="0"/>
                        </a:rPr>
                        <m:t>🌦️</m:t>
                      </m:r>
                      <m:sSub>
                        <m:sSubPr>
                          <m:ctrlPr>
                            <a:rPr lang="de-DE" i="1">
                              <a:latin typeface="Cambria Math" panose="02040503050406030204" pitchFamily="18" charset="0"/>
                            </a:rPr>
                          </m:ctrlPr>
                        </m:sSubPr>
                        <m:e>
                          <m:r>
                            <a:rPr lang="de-DE" i="1">
                              <a:latin typeface="Cambria Math" panose="02040503050406030204" pitchFamily="18" charset="0"/>
                            </a:rPr>
                            <m:t>𝑇</m:t>
                          </m:r>
                        </m:e>
                        <m:sub>
                          <m:r>
                            <a:rPr lang="de-DE" i="1">
                              <a:latin typeface="Cambria Math" panose="02040503050406030204" pitchFamily="18" charset="0"/>
                            </a:rPr>
                            <m:t>𝐴</m:t>
                          </m:r>
                        </m:sub>
                      </m:sSub>
                    </m:oMath>
                  </m:oMathPara>
                </a14:m>
                <a:endParaRPr lang="de-AT" dirty="0">
                  <a:latin typeface="Times New Roman" panose="02020603050405020304" pitchFamily="18" charset="0"/>
                  <a:cs typeface="Times New Roman" panose="02020603050405020304" pitchFamily="18" charset="0"/>
                </a:endParaRPr>
              </a:p>
            </p:txBody>
          </p:sp>
        </mc:Choice>
        <mc:Fallback xmlns="">
          <p:sp>
            <p:nvSpPr>
              <p:cNvPr id="94" name="Textfeld 93">
                <a:extLst>
                  <a:ext uri="{FF2B5EF4-FFF2-40B4-BE49-F238E27FC236}">
                    <a16:creationId xmlns:a16="http://schemas.microsoft.com/office/drawing/2014/main" id="{BC93CAA1-0AFA-88A9-A197-7470A05603A1}"/>
                  </a:ext>
                </a:extLst>
              </p:cNvPr>
              <p:cNvSpPr txBox="1">
                <a:spLocks noRot="1" noChangeAspect="1" noMove="1" noResize="1" noEditPoints="1" noAdjustHandles="1" noChangeArrowheads="1" noChangeShapeType="1" noTextEdit="1"/>
              </p:cNvSpPr>
              <p:nvPr/>
            </p:nvSpPr>
            <p:spPr>
              <a:xfrm>
                <a:off x="4595391" y="2832259"/>
                <a:ext cx="933904" cy="373436"/>
              </a:xfrm>
              <a:prstGeom prst="rect">
                <a:avLst/>
              </a:prstGeom>
              <a:blipFill>
                <a:blip r:embed="rId22"/>
                <a:stretch>
                  <a:fillRect b="-14754"/>
                </a:stretch>
              </a:blipFill>
            </p:spPr>
            <p:txBody>
              <a:bodyPr/>
              <a:lstStyle/>
              <a:p>
                <a:r>
                  <a:rPr lang="de-DE">
                    <a:noFill/>
                  </a:rPr>
                  <a:t> </a:t>
                </a:r>
              </a:p>
            </p:txBody>
          </p:sp>
        </mc:Fallback>
      </mc:AlternateContent>
      <p:pic>
        <p:nvPicPr>
          <p:cNvPr id="95" name="Grafik 94">
            <a:extLst>
              <a:ext uri="{FF2B5EF4-FFF2-40B4-BE49-F238E27FC236}">
                <a16:creationId xmlns:a16="http://schemas.microsoft.com/office/drawing/2014/main" id="{F4DC36C4-F153-5DB4-A37A-CD032FAABAA9}"/>
              </a:ext>
            </a:extLst>
          </p:cNvPr>
          <p:cNvPicPr>
            <a:picLocks noChangeAspect="1"/>
          </p:cNvPicPr>
          <p:nvPr/>
        </p:nvPicPr>
        <p:blipFill>
          <a:blip r:embed="rId23"/>
          <a:stretch>
            <a:fillRect/>
          </a:stretch>
        </p:blipFill>
        <p:spPr>
          <a:xfrm>
            <a:off x="12395749" y="1406526"/>
            <a:ext cx="2681625" cy="2965259"/>
          </a:xfrm>
          <a:prstGeom prst="rect">
            <a:avLst/>
          </a:prstGeom>
        </p:spPr>
      </p:pic>
      <p:grpSp>
        <p:nvGrpSpPr>
          <p:cNvPr id="126" name="Gruppieren 125">
            <a:extLst>
              <a:ext uri="{FF2B5EF4-FFF2-40B4-BE49-F238E27FC236}">
                <a16:creationId xmlns:a16="http://schemas.microsoft.com/office/drawing/2014/main" id="{DD79FCBA-7740-8B9C-806E-34B7C4BE3FCE}"/>
              </a:ext>
            </a:extLst>
          </p:cNvPr>
          <p:cNvGrpSpPr/>
          <p:nvPr/>
        </p:nvGrpSpPr>
        <p:grpSpPr>
          <a:xfrm>
            <a:off x="6892606" y="7158900"/>
            <a:ext cx="2432384" cy="2334810"/>
            <a:chOff x="5513252" y="2957042"/>
            <a:chExt cx="1375861" cy="1320669"/>
          </a:xfrm>
        </p:grpSpPr>
        <p:sp>
          <p:nvSpPr>
            <p:cNvPr id="127" name="Rechteck 126">
              <a:extLst>
                <a:ext uri="{FF2B5EF4-FFF2-40B4-BE49-F238E27FC236}">
                  <a16:creationId xmlns:a16="http://schemas.microsoft.com/office/drawing/2014/main" id="{407064BA-39A1-9BE3-265E-1362291EDAEB}"/>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28" name="Rechteck 127">
              <a:extLst>
                <a:ext uri="{FF2B5EF4-FFF2-40B4-BE49-F238E27FC236}">
                  <a16:creationId xmlns:a16="http://schemas.microsoft.com/office/drawing/2014/main" id="{92E61607-60A7-74B1-FDD2-6522ED0CB47B}"/>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29" name="Rechteck 128">
              <a:extLst>
                <a:ext uri="{FF2B5EF4-FFF2-40B4-BE49-F238E27FC236}">
                  <a16:creationId xmlns:a16="http://schemas.microsoft.com/office/drawing/2014/main" id="{7FE0CC7B-AD8F-96E3-7C53-122FDE56C573}"/>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0" name="Building5" descr="{&quot;Key&quot;:&quot;POWER_USER_SHAPE_ICON&quot;,&quot;Value&quot;:&quot;POWER_USER_SHAPE_ICON_STYLE_1&quot;}">
              <a:extLst>
                <a:ext uri="{FF2B5EF4-FFF2-40B4-BE49-F238E27FC236}">
                  <a16:creationId xmlns:a16="http://schemas.microsoft.com/office/drawing/2014/main" id="{37A5DE64-1E99-1D93-DD2F-964841E10487}"/>
                </a:ext>
              </a:extLst>
            </p:cNvPr>
            <p:cNvSpPr>
              <a:spLocks noChangeAspect="1" noEditPoints="1"/>
            </p:cNvSpPr>
            <p:nvPr>
              <p:custDataLst>
                <p:tags r:id="rId2"/>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Times New Roman" panose="02020603050405020304" pitchFamily="18" charset="0"/>
                <a:cs typeface="Times New Roman" panose="02020603050405020304" pitchFamily="18" charset="0"/>
              </a:endParaRPr>
            </a:p>
          </p:txBody>
        </p:sp>
        <p:sp>
          <p:nvSpPr>
            <p:cNvPr id="131" name="Rechteck 130">
              <a:extLst>
                <a:ext uri="{FF2B5EF4-FFF2-40B4-BE49-F238E27FC236}">
                  <a16:creationId xmlns:a16="http://schemas.microsoft.com/office/drawing/2014/main" id="{03E937C7-AD61-0191-B90E-80A53DB1BFDE}"/>
                </a:ext>
              </a:extLst>
            </p:cNvPr>
            <p:cNvSpPr/>
            <p:nvPr/>
          </p:nvSpPr>
          <p:spPr>
            <a:xfrm>
              <a:off x="5513252" y="4205449"/>
              <a:ext cx="1374314" cy="72262"/>
            </a:xfrm>
            <a:prstGeom prst="rect">
              <a:avLst/>
            </a:prstGeom>
            <a:solidFill>
              <a:srgbClr val="7F50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2" name="Rechteck 131">
              <a:extLst>
                <a:ext uri="{FF2B5EF4-FFF2-40B4-BE49-F238E27FC236}">
                  <a16:creationId xmlns:a16="http://schemas.microsoft.com/office/drawing/2014/main" id="{2A9A603C-BA17-3218-0489-4CFC0E35D107}"/>
                </a:ext>
              </a:extLst>
            </p:cNvPr>
            <p:cNvSpPr/>
            <p:nvPr/>
          </p:nvSpPr>
          <p:spPr>
            <a:xfrm>
              <a:off x="6824773" y="3228411"/>
              <a:ext cx="62793" cy="97743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3" name="Rechteck 132">
              <a:extLst>
                <a:ext uri="{FF2B5EF4-FFF2-40B4-BE49-F238E27FC236}">
                  <a16:creationId xmlns:a16="http://schemas.microsoft.com/office/drawing/2014/main" id="{02ACAD43-651C-B924-575B-BFD6F49026B6}"/>
                </a:ext>
              </a:extLst>
            </p:cNvPr>
            <p:cNvSpPr/>
            <p:nvPr/>
          </p:nvSpPr>
          <p:spPr>
            <a:xfrm>
              <a:off x="6424376" y="2967031"/>
              <a:ext cx="71719" cy="1118169"/>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4" name="Rechteck 133">
              <a:extLst>
                <a:ext uri="{FF2B5EF4-FFF2-40B4-BE49-F238E27FC236}">
                  <a16:creationId xmlns:a16="http://schemas.microsoft.com/office/drawing/2014/main" id="{398BF742-F1BA-13F3-CFEF-CFB198B0E289}"/>
                </a:ext>
              </a:extLst>
            </p:cNvPr>
            <p:cNvSpPr/>
            <p:nvPr/>
          </p:nvSpPr>
          <p:spPr>
            <a:xfrm>
              <a:off x="5514799" y="3422910"/>
              <a:ext cx="74958" cy="782932"/>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5" name="Rechteck 134">
              <a:extLst>
                <a:ext uri="{FF2B5EF4-FFF2-40B4-BE49-F238E27FC236}">
                  <a16:creationId xmlns:a16="http://schemas.microsoft.com/office/drawing/2014/main" id="{DDC38FD1-E74C-9A10-B508-7A722DAF540A}"/>
                </a:ext>
              </a:extLst>
            </p:cNvPr>
            <p:cNvSpPr/>
            <p:nvPr/>
          </p:nvSpPr>
          <p:spPr>
            <a:xfrm>
              <a:off x="6496095" y="3209739"/>
              <a:ext cx="391471" cy="105760"/>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6" name="Rechteck 135">
              <a:extLst>
                <a:ext uri="{FF2B5EF4-FFF2-40B4-BE49-F238E27FC236}">
                  <a16:creationId xmlns:a16="http://schemas.microsoft.com/office/drawing/2014/main" id="{6944D64F-93E9-86AC-DEA7-50CC50ED9665}"/>
                </a:ext>
              </a:extLst>
            </p:cNvPr>
            <p:cNvSpPr/>
            <p:nvPr/>
          </p:nvSpPr>
          <p:spPr>
            <a:xfrm>
              <a:off x="5516346" y="3308888"/>
              <a:ext cx="458364"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7" name="Rechteck 136">
              <a:extLst>
                <a:ext uri="{FF2B5EF4-FFF2-40B4-BE49-F238E27FC236}">
                  <a16:creationId xmlns:a16="http://schemas.microsoft.com/office/drawing/2014/main" id="{CDD0D40F-32A0-515B-5D7A-C6F3EC4D722E}"/>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8" name="Rechteck 137">
              <a:extLst>
                <a:ext uri="{FF2B5EF4-FFF2-40B4-BE49-F238E27FC236}">
                  <a16:creationId xmlns:a16="http://schemas.microsoft.com/office/drawing/2014/main" id="{35DDF83F-E72C-FEE7-4506-19683693F66E}"/>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39" name="Rechteck 138">
              <a:extLst>
                <a:ext uri="{FF2B5EF4-FFF2-40B4-BE49-F238E27FC236}">
                  <a16:creationId xmlns:a16="http://schemas.microsoft.com/office/drawing/2014/main" id="{6B7F234F-8C29-14DC-8B67-7A68E32579DC}"/>
                </a:ext>
              </a:extLst>
            </p:cNvPr>
            <p:cNvSpPr/>
            <p:nvPr/>
          </p:nvSpPr>
          <p:spPr>
            <a:xfrm>
              <a:off x="5961096" y="2992042"/>
              <a:ext cx="71719" cy="42999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40" name="Rechteck 139">
              <a:extLst>
                <a:ext uri="{FF2B5EF4-FFF2-40B4-BE49-F238E27FC236}">
                  <a16:creationId xmlns:a16="http://schemas.microsoft.com/office/drawing/2014/main" id="{4F884842-4A89-7735-6F82-6E8E7AF0282C}"/>
                </a:ext>
              </a:extLst>
            </p:cNvPr>
            <p:cNvSpPr/>
            <p:nvPr/>
          </p:nvSpPr>
          <p:spPr>
            <a:xfrm>
              <a:off x="5961095" y="2957042"/>
              <a:ext cx="535000"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grpSp>
      <p:grpSp>
        <p:nvGrpSpPr>
          <p:cNvPr id="141" name="Gruppieren 140">
            <a:extLst>
              <a:ext uri="{FF2B5EF4-FFF2-40B4-BE49-F238E27FC236}">
                <a16:creationId xmlns:a16="http://schemas.microsoft.com/office/drawing/2014/main" id="{E442A300-CE83-BCB0-7DC6-C02646043D9C}"/>
              </a:ext>
            </a:extLst>
          </p:cNvPr>
          <p:cNvGrpSpPr/>
          <p:nvPr/>
        </p:nvGrpSpPr>
        <p:grpSpPr>
          <a:xfrm>
            <a:off x="4052155" y="7197365"/>
            <a:ext cx="2432384" cy="2334810"/>
            <a:chOff x="5513252" y="2957042"/>
            <a:chExt cx="1375861" cy="1320669"/>
          </a:xfrm>
        </p:grpSpPr>
        <p:sp>
          <p:nvSpPr>
            <p:cNvPr id="142" name="Rechteck 141">
              <a:extLst>
                <a:ext uri="{FF2B5EF4-FFF2-40B4-BE49-F238E27FC236}">
                  <a16:creationId xmlns:a16="http://schemas.microsoft.com/office/drawing/2014/main" id="{25573014-7F36-A21F-0A28-6AD94342624C}"/>
                </a:ext>
              </a:extLst>
            </p:cNvPr>
            <p:cNvSpPr/>
            <p:nvPr/>
          </p:nvSpPr>
          <p:spPr>
            <a:xfrm>
              <a:off x="5588845" y="3071747"/>
              <a:ext cx="1235929" cy="889660"/>
            </a:xfrm>
            <a:prstGeom prst="rect">
              <a:avLst/>
            </a:prstGeom>
            <a:solidFill>
              <a:srgbClr val="3F85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43" name="Rechteck 142">
              <a:extLst>
                <a:ext uri="{FF2B5EF4-FFF2-40B4-BE49-F238E27FC236}">
                  <a16:creationId xmlns:a16="http://schemas.microsoft.com/office/drawing/2014/main" id="{C19DCB7E-B3C8-35F9-EA7F-40C0B7EBC804}"/>
                </a:ext>
              </a:extLst>
            </p:cNvPr>
            <p:cNvSpPr/>
            <p:nvPr/>
          </p:nvSpPr>
          <p:spPr>
            <a:xfrm>
              <a:off x="5553064" y="3020340"/>
              <a:ext cx="512456" cy="444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44" name="Rechteck 143">
              <a:extLst>
                <a:ext uri="{FF2B5EF4-FFF2-40B4-BE49-F238E27FC236}">
                  <a16:creationId xmlns:a16="http://schemas.microsoft.com/office/drawing/2014/main" id="{4D65A292-10A5-9BFE-A8FA-84BE2F3AACD6}"/>
                </a:ext>
              </a:extLst>
            </p:cNvPr>
            <p:cNvSpPr/>
            <p:nvPr/>
          </p:nvSpPr>
          <p:spPr>
            <a:xfrm>
              <a:off x="6376657" y="3014053"/>
              <a:ext cx="512456" cy="2735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45" name="Building5" descr="{&quot;Key&quot;:&quot;POWER_USER_SHAPE_ICON&quot;,&quot;Value&quot;:&quot;POWER_USER_SHAPE_ICON_STYLE_1&quot;}">
              <a:extLst>
                <a:ext uri="{FF2B5EF4-FFF2-40B4-BE49-F238E27FC236}">
                  <a16:creationId xmlns:a16="http://schemas.microsoft.com/office/drawing/2014/main" id="{DD28E502-4A80-6615-D57C-19BE5D4EEB92}"/>
                </a:ext>
              </a:extLst>
            </p:cNvPr>
            <p:cNvSpPr>
              <a:spLocks noChangeAspect="1" noEditPoints="1"/>
            </p:cNvSpPr>
            <p:nvPr>
              <p:custDataLst>
                <p:tags r:id="rId1"/>
              </p:custDataLst>
            </p:nvPr>
          </p:nvSpPr>
          <p:spPr bwMode="auto">
            <a:xfrm>
              <a:off x="5588845" y="3035580"/>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kern="0" noProof="1">
                <a:solidFill>
                  <a:prstClr val="black"/>
                </a:solidFill>
                <a:latin typeface="Times New Roman" panose="02020603050405020304" pitchFamily="18" charset="0"/>
                <a:cs typeface="Times New Roman" panose="02020603050405020304" pitchFamily="18" charset="0"/>
              </a:endParaRPr>
            </a:p>
          </p:txBody>
        </p:sp>
        <p:sp>
          <p:nvSpPr>
            <p:cNvPr id="146" name="Rechteck 145">
              <a:extLst>
                <a:ext uri="{FF2B5EF4-FFF2-40B4-BE49-F238E27FC236}">
                  <a16:creationId xmlns:a16="http://schemas.microsoft.com/office/drawing/2014/main" id="{CEB17FFA-1406-80DF-AACF-D5C96F4E0CD8}"/>
                </a:ext>
              </a:extLst>
            </p:cNvPr>
            <p:cNvSpPr/>
            <p:nvPr/>
          </p:nvSpPr>
          <p:spPr>
            <a:xfrm>
              <a:off x="5513252" y="4205449"/>
              <a:ext cx="1374314" cy="72262"/>
            </a:xfrm>
            <a:prstGeom prst="rect">
              <a:avLst/>
            </a:prstGeom>
            <a:solidFill>
              <a:srgbClr val="7F50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47" name="Rechteck 146">
              <a:extLst>
                <a:ext uri="{FF2B5EF4-FFF2-40B4-BE49-F238E27FC236}">
                  <a16:creationId xmlns:a16="http://schemas.microsoft.com/office/drawing/2014/main" id="{935C3B25-12C4-B8CD-7D50-4F5F0D0C616F}"/>
                </a:ext>
              </a:extLst>
            </p:cNvPr>
            <p:cNvSpPr/>
            <p:nvPr/>
          </p:nvSpPr>
          <p:spPr>
            <a:xfrm>
              <a:off x="6824773" y="3228411"/>
              <a:ext cx="62793" cy="97743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48" name="Rechteck 147">
              <a:extLst>
                <a:ext uri="{FF2B5EF4-FFF2-40B4-BE49-F238E27FC236}">
                  <a16:creationId xmlns:a16="http://schemas.microsoft.com/office/drawing/2014/main" id="{57A6443A-E46B-1EFC-32DE-6505B19CEA0C}"/>
                </a:ext>
              </a:extLst>
            </p:cNvPr>
            <p:cNvSpPr/>
            <p:nvPr/>
          </p:nvSpPr>
          <p:spPr>
            <a:xfrm>
              <a:off x="6424376" y="2967031"/>
              <a:ext cx="71719" cy="1118169"/>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49" name="Rechteck 148">
              <a:extLst>
                <a:ext uri="{FF2B5EF4-FFF2-40B4-BE49-F238E27FC236}">
                  <a16:creationId xmlns:a16="http://schemas.microsoft.com/office/drawing/2014/main" id="{2F0B1D4E-8D2B-3D8E-2C9F-86A8437C2182}"/>
                </a:ext>
              </a:extLst>
            </p:cNvPr>
            <p:cNvSpPr/>
            <p:nvPr/>
          </p:nvSpPr>
          <p:spPr>
            <a:xfrm>
              <a:off x="5514799" y="3422910"/>
              <a:ext cx="74958" cy="782932"/>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50" name="Rechteck 149">
              <a:extLst>
                <a:ext uri="{FF2B5EF4-FFF2-40B4-BE49-F238E27FC236}">
                  <a16:creationId xmlns:a16="http://schemas.microsoft.com/office/drawing/2014/main" id="{2A7DAF4F-B463-E3C7-79F3-703EEA7B898B}"/>
                </a:ext>
              </a:extLst>
            </p:cNvPr>
            <p:cNvSpPr/>
            <p:nvPr/>
          </p:nvSpPr>
          <p:spPr>
            <a:xfrm>
              <a:off x="6496095" y="3209739"/>
              <a:ext cx="391471" cy="105760"/>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51" name="Rechteck 150">
              <a:extLst>
                <a:ext uri="{FF2B5EF4-FFF2-40B4-BE49-F238E27FC236}">
                  <a16:creationId xmlns:a16="http://schemas.microsoft.com/office/drawing/2014/main" id="{CDFB17C5-8D0C-CC0B-4C76-37A0BE338174}"/>
                </a:ext>
              </a:extLst>
            </p:cNvPr>
            <p:cNvSpPr/>
            <p:nvPr/>
          </p:nvSpPr>
          <p:spPr>
            <a:xfrm>
              <a:off x="5516346" y="3308888"/>
              <a:ext cx="458364"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52" name="Rechteck 151">
              <a:extLst>
                <a:ext uri="{FF2B5EF4-FFF2-40B4-BE49-F238E27FC236}">
                  <a16:creationId xmlns:a16="http://schemas.microsoft.com/office/drawing/2014/main" id="{5A7FBEDD-7F00-13D0-187E-031995D8AEB6}"/>
                </a:ext>
              </a:extLst>
            </p:cNvPr>
            <p:cNvSpPr/>
            <p:nvPr/>
          </p:nvSpPr>
          <p:spPr>
            <a:xfrm>
              <a:off x="5958715" y="3422069"/>
              <a:ext cx="106745" cy="663131"/>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53" name="Rechteck 152">
              <a:extLst>
                <a:ext uri="{FF2B5EF4-FFF2-40B4-BE49-F238E27FC236}">
                  <a16:creationId xmlns:a16="http://schemas.microsoft.com/office/drawing/2014/main" id="{E4738F91-1186-C4B9-3CC9-E6D81FC1FE93}"/>
                </a:ext>
              </a:extLst>
            </p:cNvPr>
            <p:cNvSpPr/>
            <p:nvPr/>
          </p:nvSpPr>
          <p:spPr>
            <a:xfrm>
              <a:off x="6409243" y="3315499"/>
              <a:ext cx="106745" cy="848239"/>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54" name="Rechteck 153">
              <a:extLst>
                <a:ext uri="{FF2B5EF4-FFF2-40B4-BE49-F238E27FC236}">
                  <a16:creationId xmlns:a16="http://schemas.microsoft.com/office/drawing/2014/main" id="{836213BF-1D8B-1A63-903E-6C5F5A55399D}"/>
                </a:ext>
              </a:extLst>
            </p:cNvPr>
            <p:cNvSpPr/>
            <p:nvPr/>
          </p:nvSpPr>
          <p:spPr>
            <a:xfrm>
              <a:off x="5961096" y="2992042"/>
              <a:ext cx="71719" cy="429991"/>
            </a:xfrm>
            <a:prstGeom prst="rect">
              <a:avLst/>
            </a:prstGeom>
            <a:solidFill>
              <a:srgbClr val="D83C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sp>
          <p:nvSpPr>
            <p:cNvPr id="155" name="Rechteck 154">
              <a:extLst>
                <a:ext uri="{FF2B5EF4-FFF2-40B4-BE49-F238E27FC236}">
                  <a16:creationId xmlns:a16="http://schemas.microsoft.com/office/drawing/2014/main" id="{5770B1D0-6C40-FAB9-8659-F4E6DE414E57}"/>
                </a:ext>
              </a:extLst>
            </p:cNvPr>
            <p:cNvSpPr/>
            <p:nvPr/>
          </p:nvSpPr>
          <p:spPr>
            <a:xfrm>
              <a:off x="5961095" y="2957042"/>
              <a:ext cx="535000" cy="114022"/>
            </a:xfrm>
            <a:prstGeom prst="rect">
              <a:avLst/>
            </a:prstGeom>
            <a:solidFill>
              <a:srgbClr val="4DC9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49802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8B897459-905A-A1FD-96FF-CF82FE39378D}"/>
              </a:ext>
            </a:extLst>
          </p:cNvPr>
          <p:cNvSpPr/>
          <p:nvPr/>
        </p:nvSpPr>
        <p:spPr>
          <a:xfrm rot="5400000">
            <a:off x="9137307" y="2768474"/>
            <a:ext cx="792470" cy="132518"/>
          </a:xfrm>
          <a:prstGeom prst="rect">
            <a:avLst/>
          </a:prstGeom>
          <a:gradFill>
            <a:gsLst>
              <a:gs pos="0">
                <a:schemeClr val="accent3">
                  <a:lumMod val="60000"/>
                  <a:lumOff val="40000"/>
                </a:schemeClr>
              </a:gs>
              <a:gs pos="30000">
                <a:schemeClr val="bg1">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3" name="Rechteck 22">
            <a:extLst>
              <a:ext uri="{FF2B5EF4-FFF2-40B4-BE49-F238E27FC236}">
                <a16:creationId xmlns:a16="http://schemas.microsoft.com/office/drawing/2014/main" id="{9B70EDEA-E93A-51CF-D48D-57C40F8207BB}"/>
              </a:ext>
            </a:extLst>
          </p:cNvPr>
          <p:cNvSpPr/>
          <p:nvPr/>
        </p:nvSpPr>
        <p:spPr>
          <a:xfrm>
            <a:off x="7410091" y="4738360"/>
            <a:ext cx="4781909" cy="2119640"/>
          </a:xfrm>
          <a:prstGeom prst="rect">
            <a:avLst/>
          </a:prstGeom>
          <a:gradFill flip="none" rotWithShape="1">
            <a:gsLst>
              <a:gs pos="0">
                <a:srgbClr val="221600"/>
              </a:gs>
              <a:gs pos="100000">
                <a:schemeClr val="accent4">
                  <a:lumMod val="5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 name="Titel 1">
            <a:extLst>
              <a:ext uri="{FF2B5EF4-FFF2-40B4-BE49-F238E27FC236}">
                <a16:creationId xmlns:a16="http://schemas.microsoft.com/office/drawing/2014/main" id="{2B3CCD9B-C3CA-06EC-EA83-936741D0B671}"/>
              </a:ext>
            </a:extLst>
          </p:cNvPr>
          <p:cNvSpPr>
            <a:spLocks noGrp="1"/>
          </p:cNvSpPr>
          <p:nvPr>
            <p:ph type="title"/>
          </p:nvPr>
        </p:nvSpPr>
        <p:spPr>
          <a:xfrm>
            <a:off x="594360" y="1406526"/>
            <a:ext cx="5288855" cy="829455"/>
          </a:xfrm>
        </p:spPr>
        <p:txBody>
          <a:bodyPr/>
          <a:lstStyle/>
          <a:p>
            <a:r>
              <a:rPr lang="de-AT" dirty="0"/>
              <a:t>Bauteil-Typen  – </a:t>
            </a:r>
            <a:r>
              <a:rPr lang="de-AT" i="1" dirty="0"/>
              <a:t>Component </a:t>
            </a:r>
            <a:r>
              <a:rPr lang="de-AT" i="1" noProof="1"/>
              <a:t>Types</a:t>
            </a:r>
            <a:endParaRPr lang="de-AT" i="1" dirty="0"/>
          </a:p>
        </p:txBody>
      </p:sp>
      <p:sp>
        <p:nvSpPr>
          <p:cNvPr id="4" name="Fußzeilenplatzhalter 3">
            <a:extLst>
              <a:ext uri="{FF2B5EF4-FFF2-40B4-BE49-F238E27FC236}">
                <a16:creationId xmlns:a16="http://schemas.microsoft.com/office/drawing/2014/main" id="{339D6F41-E073-EF9A-CC8A-9577EAC28F3A}"/>
              </a:ext>
            </a:extLst>
          </p:cNvPr>
          <p:cNvSpPr>
            <a:spLocks noGrp="1"/>
          </p:cNvSpPr>
          <p:nvPr>
            <p:ph type="ftr" sz="quarter" idx="11"/>
          </p:nvPr>
        </p:nvSpPr>
        <p:spPr/>
        <p:txBody>
          <a:bodyPr/>
          <a:lstStyle/>
          <a:p>
            <a:r>
              <a:rPr lang="de-AT" dirty="0"/>
              <a:t>Klimaaktiv Nachweistool Plus-Energie-Quartiere</a:t>
            </a:r>
          </a:p>
        </p:txBody>
      </p:sp>
      <p:sp>
        <p:nvSpPr>
          <p:cNvPr id="5" name="Foliennummernplatzhalter 4">
            <a:extLst>
              <a:ext uri="{FF2B5EF4-FFF2-40B4-BE49-F238E27FC236}">
                <a16:creationId xmlns:a16="http://schemas.microsoft.com/office/drawing/2014/main" id="{20AFB50F-3383-ED0B-1F56-9409934C47E2}"/>
              </a:ext>
            </a:extLst>
          </p:cNvPr>
          <p:cNvSpPr>
            <a:spLocks noGrp="1"/>
          </p:cNvSpPr>
          <p:nvPr>
            <p:ph type="sldNum" sz="quarter" idx="12"/>
          </p:nvPr>
        </p:nvSpPr>
        <p:spPr/>
        <p:txBody>
          <a:bodyPr/>
          <a:lstStyle/>
          <a:p>
            <a:fld id="{1206269C-C24E-4E80-9A4B-E7E19BB59A67}" type="slidenum">
              <a:rPr lang="de-AT" smtClean="0"/>
              <a:pPr/>
              <a:t>14</a:t>
            </a:fld>
            <a:endParaRPr lang="de-AT" dirty="0"/>
          </a:p>
        </p:txBody>
      </p:sp>
      <p:graphicFrame>
        <p:nvGraphicFramePr>
          <p:cNvPr id="22" name="Tabelle 21">
            <a:extLst>
              <a:ext uri="{FF2B5EF4-FFF2-40B4-BE49-F238E27FC236}">
                <a16:creationId xmlns:a16="http://schemas.microsoft.com/office/drawing/2014/main" id="{E4C45E72-D63B-5F55-253F-1BBBA423EE9D}"/>
              </a:ext>
            </a:extLst>
          </p:cNvPr>
          <p:cNvGraphicFramePr>
            <a:graphicFrameLocks noGrp="1"/>
          </p:cNvGraphicFramePr>
          <p:nvPr>
            <p:extLst>
              <p:ext uri="{D42A27DB-BD31-4B8C-83A1-F6EECF244321}">
                <p14:modId xmlns:p14="http://schemas.microsoft.com/office/powerpoint/2010/main" val="1040674408"/>
              </p:ext>
            </p:extLst>
          </p:nvPr>
        </p:nvGraphicFramePr>
        <p:xfrm>
          <a:off x="781633" y="2147549"/>
          <a:ext cx="5406186" cy="3574106"/>
        </p:xfrm>
        <a:graphic>
          <a:graphicData uri="http://schemas.openxmlformats.org/drawingml/2006/table">
            <a:tbl>
              <a:tblPr>
                <a:tableStyleId>{9D7B26C5-4107-4FEC-AEDC-1716B250A1EF}</a:tableStyleId>
              </a:tblPr>
              <a:tblGrid>
                <a:gridCol w="2297035">
                  <a:extLst>
                    <a:ext uri="{9D8B030D-6E8A-4147-A177-3AD203B41FA5}">
                      <a16:colId xmlns:a16="http://schemas.microsoft.com/office/drawing/2014/main" val="3838334776"/>
                    </a:ext>
                  </a:extLst>
                </a:gridCol>
                <a:gridCol w="3109151">
                  <a:extLst>
                    <a:ext uri="{9D8B030D-6E8A-4147-A177-3AD203B41FA5}">
                      <a16:colId xmlns:a16="http://schemas.microsoft.com/office/drawing/2014/main" val="3039595828"/>
                    </a:ext>
                  </a:extLst>
                </a:gridCol>
              </a:tblGrid>
              <a:tr h="179153">
                <a:tc>
                  <a:txBody>
                    <a:bodyPr/>
                    <a:lstStyle/>
                    <a:p>
                      <a:pPr algn="l" fontAlgn="b">
                        <a:buNone/>
                      </a:pPr>
                      <a:r>
                        <a:rPr lang="de-DE" sz="1100" b="0" u="none" strike="noStrike" dirty="0">
                          <a:solidFill>
                            <a:srgbClr val="000000"/>
                          </a:solidFill>
                          <a:effectLst/>
                        </a:rPr>
                        <a:t>Außenwand</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External wall</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827958658"/>
                  </a:ext>
                </a:extLst>
              </a:tr>
              <a:tr h="179153">
                <a:tc>
                  <a:txBody>
                    <a:bodyPr/>
                    <a:lstStyle/>
                    <a:p>
                      <a:pPr algn="l" fontAlgn="b">
                        <a:buNone/>
                      </a:pPr>
                      <a:r>
                        <a:rPr lang="de-DE" sz="1100" b="0" u="none" strike="noStrike" dirty="0">
                          <a:solidFill>
                            <a:srgbClr val="000000"/>
                          </a:solidFill>
                          <a:effectLst/>
                        </a:rPr>
                        <a:t>Fenster</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Window</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503350022"/>
                  </a:ext>
                </a:extLst>
              </a:tr>
              <a:tr h="179153">
                <a:tc>
                  <a:txBody>
                    <a:bodyPr/>
                    <a:lstStyle/>
                    <a:p>
                      <a:pPr algn="l" fontAlgn="b">
                        <a:buNone/>
                      </a:pPr>
                      <a:r>
                        <a:rPr lang="de-DE" sz="1100" b="0" u="none" strike="noStrike" dirty="0">
                          <a:solidFill>
                            <a:srgbClr val="000000"/>
                          </a:solidFill>
                          <a:effectLst/>
                        </a:rPr>
                        <a:t>Dach</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Roof</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074645545"/>
                  </a:ext>
                </a:extLst>
              </a:tr>
              <a:tr h="179153">
                <a:tc>
                  <a:txBody>
                    <a:bodyPr/>
                    <a:lstStyle/>
                    <a:p>
                      <a:pPr algn="l" fontAlgn="b">
                        <a:buNone/>
                      </a:pPr>
                      <a:r>
                        <a:rPr lang="de-DE" sz="1100" b="0" u="none" strike="noStrike" dirty="0">
                          <a:solidFill>
                            <a:srgbClr val="000000"/>
                          </a:solidFill>
                          <a:effectLst/>
                        </a:rPr>
                        <a:t>Erdb. Fußboden / Bodenplatte beheizt</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Ground floor / slab-on-ground (heated)</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4000130576"/>
                  </a:ext>
                </a:extLst>
              </a:tr>
              <a:tr h="179153">
                <a:tc>
                  <a:txBody>
                    <a:bodyPr/>
                    <a:lstStyle/>
                    <a:p>
                      <a:pPr algn="l" fontAlgn="b">
                        <a:buNone/>
                      </a:pPr>
                      <a:r>
                        <a:rPr lang="de-DE" sz="1100" b="0" u="none" strike="noStrike" dirty="0">
                          <a:solidFill>
                            <a:srgbClr val="000000"/>
                          </a:solidFill>
                          <a:effectLst/>
                        </a:rPr>
                        <a:t>Geschoßdecken</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Intermediate floors / floor slabs</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942160552"/>
                  </a:ext>
                </a:extLst>
              </a:tr>
              <a:tr h="179153">
                <a:tc>
                  <a:txBody>
                    <a:bodyPr/>
                    <a:lstStyle/>
                    <a:p>
                      <a:pPr algn="l" fontAlgn="b">
                        <a:buNone/>
                      </a:pPr>
                      <a:r>
                        <a:rPr lang="de-DE" sz="1100" b="0" u="none" strike="noStrike" dirty="0">
                          <a:solidFill>
                            <a:srgbClr val="000000"/>
                          </a:solidFill>
                          <a:effectLst/>
                        </a:rPr>
                        <a:t>Terrasse</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Terrace</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593825226"/>
                  </a:ext>
                </a:extLst>
              </a:tr>
              <a:tr h="179153">
                <a:tc>
                  <a:txBody>
                    <a:bodyPr/>
                    <a:lstStyle/>
                    <a:p>
                      <a:pPr algn="l" fontAlgn="b">
                        <a:buNone/>
                      </a:pPr>
                      <a:r>
                        <a:rPr lang="de-DE" sz="1100" b="0" u="none" strike="noStrike" dirty="0">
                          <a:solidFill>
                            <a:srgbClr val="000000"/>
                          </a:solidFill>
                          <a:effectLst/>
                        </a:rPr>
                        <a:t>Kellerdecke</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Basement ceiling</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533504925"/>
                  </a:ext>
                </a:extLst>
              </a:tr>
              <a:tr h="179153">
                <a:tc>
                  <a:txBody>
                    <a:bodyPr/>
                    <a:lstStyle/>
                    <a:p>
                      <a:pPr algn="l" fontAlgn="b">
                        <a:buNone/>
                      </a:pPr>
                      <a:r>
                        <a:rPr lang="de-DE" sz="1100" b="0" u="none" strike="noStrike" dirty="0">
                          <a:solidFill>
                            <a:srgbClr val="000000"/>
                          </a:solidFill>
                          <a:effectLst/>
                        </a:rPr>
                        <a:t>Außendecke gg. Außenluft</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en-US" sz="1100" b="0" i="1" u="none" strike="noStrike" dirty="0">
                          <a:solidFill>
                            <a:srgbClr val="000000"/>
                          </a:solidFill>
                          <a:effectLst/>
                        </a:rPr>
                        <a:t>Ceiling exposed to outdoor air</a:t>
                      </a:r>
                      <a:endParaRPr lang="en-US"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19615732"/>
                  </a:ext>
                </a:extLst>
              </a:tr>
              <a:tr h="179153">
                <a:tc>
                  <a:txBody>
                    <a:bodyPr/>
                    <a:lstStyle/>
                    <a:p>
                      <a:pPr algn="l" fontAlgn="b">
                        <a:buNone/>
                      </a:pPr>
                      <a:r>
                        <a:rPr lang="de-DE" sz="1100" b="0" u="none" strike="noStrike" dirty="0">
                          <a:solidFill>
                            <a:srgbClr val="000000"/>
                          </a:solidFill>
                          <a:effectLst/>
                        </a:rPr>
                        <a:t>Erdb. Wand beheizt</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Earth-contact wall (heated)</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450926168"/>
                  </a:ext>
                </a:extLst>
              </a:tr>
              <a:tr h="179153">
                <a:tc>
                  <a:txBody>
                    <a:bodyPr/>
                    <a:lstStyle/>
                    <a:p>
                      <a:pPr algn="l" fontAlgn="b">
                        <a:buNone/>
                      </a:pPr>
                      <a:r>
                        <a:rPr lang="de-DE" sz="1100" b="0" u="none" strike="noStrike" dirty="0">
                          <a:solidFill>
                            <a:srgbClr val="000000"/>
                          </a:solidFill>
                          <a:effectLst/>
                        </a:rPr>
                        <a:t>Innenwand tragend</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Load-bearing internal wall</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570528180"/>
                  </a:ext>
                </a:extLst>
              </a:tr>
              <a:tr h="179153">
                <a:tc>
                  <a:txBody>
                    <a:bodyPr/>
                    <a:lstStyle/>
                    <a:p>
                      <a:pPr algn="l" fontAlgn="b">
                        <a:buNone/>
                      </a:pPr>
                      <a:r>
                        <a:rPr lang="de-DE" sz="1100" b="0" u="none" strike="noStrike" dirty="0">
                          <a:solidFill>
                            <a:srgbClr val="000000"/>
                          </a:solidFill>
                          <a:effectLst/>
                        </a:rPr>
                        <a:t>Innenwand nicht tragend</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Non-load-bearing internal wall</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378804828"/>
                  </a:ext>
                </a:extLst>
              </a:tr>
              <a:tr h="179153">
                <a:tc>
                  <a:txBody>
                    <a:bodyPr/>
                    <a:lstStyle/>
                    <a:p>
                      <a:pPr algn="l" fontAlgn="b">
                        <a:buNone/>
                      </a:pPr>
                      <a:r>
                        <a:rPr lang="de-DE" sz="1100" b="0" u="none" strike="noStrike" dirty="0">
                          <a:solidFill>
                            <a:srgbClr val="000000"/>
                          </a:solidFill>
                          <a:effectLst/>
                        </a:rPr>
                        <a:t>Oberste Geschoßdecke</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en-US" sz="1100" b="0" i="1" u="none" strike="noStrike" dirty="0">
                          <a:solidFill>
                            <a:srgbClr val="000000"/>
                          </a:solidFill>
                          <a:effectLst/>
                        </a:rPr>
                        <a:t>Top floor ceiling</a:t>
                      </a:r>
                      <a:endParaRPr lang="en-US"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959893429"/>
                  </a:ext>
                </a:extLst>
              </a:tr>
              <a:tr h="179153">
                <a:tc>
                  <a:txBody>
                    <a:bodyPr/>
                    <a:lstStyle/>
                    <a:p>
                      <a:pPr algn="l" fontAlgn="b">
                        <a:buNone/>
                      </a:pPr>
                      <a:r>
                        <a:rPr lang="de-DE" sz="1100" b="0" u="none" strike="noStrike" dirty="0">
                          <a:solidFill>
                            <a:srgbClr val="000000"/>
                          </a:solidFill>
                          <a:effectLst/>
                        </a:rPr>
                        <a:t>Erdb. Wand unbeheizt</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Earth-contact wall (unheated)</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062399100"/>
                  </a:ext>
                </a:extLst>
              </a:tr>
              <a:tr h="179153">
                <a:tc>
                  <a:txBody>
                    <a:bodyPr/>
                    <a:lstStyle/>
                    <a:p>
                      <a:pPr algn="l" fontAlgn="b">
                        <a:buNone/>
                      </a:pPr>
                      <a:r>
                        <a:rPr lang="de-DE" sz="1100" b="0" u="none" strike="noStrike" dirty="0">
                          <a:solidFill>
                            <a:srgbClr val="000000"/>
                          </a:solidFill>
                          <a:effectLst/>
                        </a:rPr>
                        <a:t>Erdb. Fußboden unbeheizt</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en-US" sz="1100" b="0" i="1" u="none" strike="noStrike" dirty="0">
                          <a:solidFill>
                            <a:srgbClr val="000000"/>
                          </a:solidFill>
                          <a:effectLst/>
                        </a:rPr>
                        <a:t>Ground floor (unheated)</a:t>
                      </a:r>
                      <a:endParaRPr lang="en-US"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007589809"/>
                  </a:ext>
                </a:extLst>
              </a:tr>
              <a:tr h="179153">
                <a:tc>
                  <a:txBody>
                    <a:bodyPr/>
                    <a:lstStyle/>
                    <a:p>
                      <a:pPr algn="l" fontAlgn="b">
                        <a:buNone/>
                      </a:pPr>
                      <a:r>
                        <a:rPr lang="de-DE" sz="1100" b="0" u="none" strike="noStrike" dirty="0">
                          <a:solidFill>
                            <a:srgbClr val="000000"/>
                          </a:solidFill>
                          <a:effectLst/>
                        </a:rPr>
                        <a:t>Stützen</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Columns</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200154499"/>
                  </a:ext>
                </a:extLst>
              </a:tr>
              <a:tr h="179153">
                <a:tc>
                  <a:txBody>
                    <a:bodyPr/>
                    <a:lstStyle/>
                    <a:p>
                      <a:pPr algn="l" fontAlgn="b">
                        <a:buNone/>
                      </a:pPr>
                      <a:r>
                        <a:rPr lang="de-DE" sz="1100" b="0" u="none" strike="noStrike" dirty="0">
                          <a:solidFill>
                            <a:srgbClr val="000000"/>
                          </a:solidFill>
                          <a:effectLst/>
                        </a:rPr>
                        <a:t>Innenwand unbeheizt</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en-US" sz="1100" b="0" i="1" u="none" strike="noStrike" dirty="0">
                          <a:solidFill>
                            <a:srgbClr val="000000"/>
                          </a:solidFill>
                          <a:effectLst/>
                        </a:rPr>
                        <a:t>Internal wall adjacent to unheated space</a:t>
                      </a:r>
                      <a:endParaRPr lang="en-US"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063506990"/>
                  </a:ext>
                </a:extLst>
              </a:tr>
              <a:tr h="170199">
                <a:tc>
                  <a:txBody>
                    <a:bodyPr/>
                    <a:lstStyle/>
                    <a:p>
                      <a:pPr algn="l" fontAlgn="b">
                        <a:buNone/>
                      </a:pPr>
                      <a:r>
                        <a:rPr lang="de-DE" sz="1100" b="0" u="none" strike="noStrike" dirty="0">
                          <a:solidFill>
                            <a:srgbClr val="000000"/>
                          </a:solidFill>
                          <a:effectLst/>
                        </a:rPr>
                        <a:t>Zwischendecke / Keller / TG unbeh.</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en-US" sz="1100" b="0" i="1" u="none" strike="noStrike" dirty="0">
                          <a:solidFill>
                            <a:srgbClr val="000000"/>
                          </a:solidFill>
                          <a:effectLst/>
                        </a:rPr>
                        <a:t>Unheated Ceiling / basement / underground garage </a:t>
                      </a:r>
                      <a:endParaRPr lang="en-US"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4085041948"/>
                  </a:ext>
                </a:extLst>
              </a:tr>
              <a:tr h="179153">
                <a:tc>
                  <a:txBody>
                    <a:bodyPr/>
                    <a:lstStyle/>
                    <a:p>
                      <a:pPr algn="l" fontAlgn="b">
                        <a:buNone/>
                      </a:pPr>
                      <a:r>
                        <a:rPr lang="de-DE" sz="1100" b="0" u="none" strike="noStrike" dirty="0">
                          <a:solidFill>
                            <a:srgbClr val="000000"/>
                          </a:solidFill>
                          <a:effectLst/>
                        </a:rPr>
                        <a:t>Balkone / Loggien</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Balconies / loggias</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604270164"/>
                  </a:ext>
                </a:extLst>
              </a:tr>
              <a:tr h="179153">
                <a:tc>
                  <a:txBody>
                    <a:bodyPr/>
                    <a:lstStyle/>
                    <a:p>
                      <a:pPr algn="l" fontAlgn="b">
                        <a:buNone/>
                      </a:pPr>
                      <a:r>
                        <a:rPr lang="de-DE" sz="1100" b="0" u="none" strike="noStrike" dirty="0">
                          <a:solidFill>
                            <a:srgbClr val="000000"/>
                          </a:solidFill>
                          <a:effectLst/>
                        </a:rPr>
                        <a:t>Fensterrahmen</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Window frame</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906338716"/>
                  </a:ext>
                </a:extLst>
              </a:tr>
              <a:tr h="179153">
                <a:tc>
                  <a:txBody>
                    <a:bodyPr/>
                    <a:lstStyle/>
                    <a:p>
                      <a:pPr algn="l" fontAlgn="b">
                        <a:buNone/>
                      </a:pPr>
                      <a:r>
                        <a:rPr lang="de-DE" sz="1100" b="0" u="none" strike="noStrike" dirty="0">
                          <a:solidFill>
                            <a:srgbClr val="000000"/>
                          </a:solidFill>
                          <a:effectLst/>
                        </a:rPr>
                        <a:t>Fensterglas</a:t>
                      </a:r>
                      <a:endParaRPr lang="de-DE" sz="1100" b="0" i="0" u="none" strike="noStrike" dirty="0">
                        <a:solidFill>
                          <a:srgbClr val="000000"/>
                        </a:solidFill>
                        <a:effectLst/>
                        <a:latin typeface="Calibri" panose="020F0502020204030204" pitchFamily="34" charset="0"/>
                      </a:endParaRPr>
                    </a:p>
                  </a:txBody>
                  <a:tcPr marL="0" marR="0" marT="0" marB="0" anchor="b"/>
                </a:tc>
                <a:tc>
                  <a:txBody>
                    <a:bodyPr/>
                    <a:lstStyle/>
                    <a:p>
                      <a:pPr algn="r" fontAlgn="ctr">
                        <a:buNone/>
                      </a:pPr>
                      <a:r>
                        <a:rPr lang="de-DE" sz="1100" b="0" i="1" u="none" strike="noStrike" dirty="0">
                          <a:solidFill>
                            <a:srgbClr val="000000"/>
                          </a:solidFill>
                          <a:effectLst/>
                        </a:rPr>
                        <a:t>Window glazing</a:t>
                      </a:r>
                      <a:endParaRPr lang="de-DE" sz="1100" b="0" i="1"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671226041"/>
                  </a:ext>
                </a:extLst>
              </a:tr>
            </a:tbl>
          </a:graphicData>
        </a:graphic>
      </p:graphicFrame>
      <p:sp>
        <p:nvSpPr>
          <p:cNvPr id="24" name="Rechteck 23">
            <a:extLst>
              <a:ext uri="{FF2B5EF4-FFF2-40B4-BE49-F238E27FC236}">
                <a16:creationId xmlns:a16="http://schemas.microsoft.com/office/drawing/2014/main" id="{70DFE458-85BB-B9F4-2B79-B2CDE20466C3}"/>
              </a:ext>
            </a:extLst>
          </p:cNvPr>
          <p:cNvSpPr/>
          <p:nvPr/>
        </p:nvSpPr>
        <p:spPr>
          <a:xfrm>
            <a:off x="141270" y="2200933"/>
            <a:ext cx="594822" cy="10582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6" name="Rechteck 25">
            <a:extLst>
              <a:ext uri="{FF2B5EF4-FFF2-40B4-BE49-F238E27FC236}">
                <a16:creationId xmlns:a16="http://schemas.microsoft.com/office/drawing/2014/main" id="{9C5F7079-7114-B189-85DB-C5A29F3D9A63}"/>
              </a:ext>
            </a:extLst>
          </p:cNvPr>
          <p:cNvSpPr/>
          <p:nvPr/>
        </p:nvSpPr>
        <p:spPr>
          <a:xfrm>
            <a:off x="141270" y="2378716"/>
            <a:ext cx="594822" cy="10582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7" name="Rechteck 26">
            <a:extLst>
              <a:ext uri="{FF2B5EF4-FFF2-40B4-BE49-F238E27FC236}">
                <a16:creationId xmlns:a16="http://schemas.microsoft.com/office/drawing/2014/main" id="{7DD35D5C-C258-EC33-50C2-09001F2A4CC9}"/>
              </a:ext>
            </a:extLst>
          </p:cNvPr>
          <p:cNvSpPr/>
          <p:nvPr/>
        </p:nvSpPr>
        <p:spPr>
          <a:xfrm rot="10800000">
            <a:off x="141270" y="2556499"/>
            <a:ext cx="594822" cy="105820"/>
          </a:xfrm>
          <a:prstGeom prst="rect">
            <a:avLst/>
          </a:prstGeom>
          <a:gradFill>
            <a:gsLst>
              <a:gs pos="0">
                <a:schemeClr val="accent3">
                  <a:lumMod val="60000"/>
                  <a:lumOff val="40000"/>
                </a:schemeClr>
              </a:gs>
              <a:gs pos="22000">
                <a:schemeClr val="accent2">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8" name="Rechteck 27">
            <a:extLst>
              <a:ext uri="{FF2B5EF4-FFF2-40B4-BE49-F238E27FC236}">
                <a16:creationId xmlns:a16="http://schemas.microsoft.com/office/drawing/2014/main" id="{9F95EF59-8C62-213E-6333-78D6FDC83B10}"/>
              </a:ext>
            </a:extLst>
          </p:cNvPr>
          <p:cNvSpPr/>
          <p:nvPr/>
        </p:nvSpPr>
        <p:spPr>
          <a:xfrm>
            <a:off x="141270" y="2734282"/>
            <a:ext cx="594822" cy="105820"/>
          </a:xfrm>
          <a:prstGeom prst="rect">
            <a:avLst/>
          </a:prstGeom>
          <a:gradFill>
            <a:gsLst>
              <a:gs pos="0">
                <a:schemeClr val="accent3">
                  <a:lumMod val="60000"/>
                  <a:lumOff val="40000"/>
                </a:schemeClr>
              </a:gs>
              <a:gs pos="2500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2" name="Rechteck 31">
            <a:extLst>
              <a:ext uri="{FF2B5EF4-FFF2-40B4-BE49-F238E27FC236}">
                <a16:creationId xmlns:a16="http://schemas.microsoft.com/office/drawing/2014/main" id="{3170E9BE-C13E-705F-260F-C6C0B68B4013}"/>
              </a:ext>
            </a:extLst>
          </p:cNvPr>
          <p:cNvSpPr/>
          <p:nvPr/>
        </p:nvSpPr>
        <p:spPr>
          <a:xfrm>
            <a:off x="141270" y="2912065"/>
            <a:ext cx="594822" cy="10582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6" name="Rechteck 35">
            <a:extLst>
              <a:ext uri="{FF2B5EF4-FFF2-40B4-BE49-F238E27FC236}">
                <a16:creationId xmlns:a16="http://schemas.microsoft.com/office/drawing/2014/main" id="{0EF97173-6ACF-5BB2-182B-20C874F8C66C}"/>
              </a:ext>
            </a:extLst>
          </p:cNvPr>
          <p:cNvSpPr/>
          <p:nvPr/>
        </p:nvSpPr>
        <p:spPr>
          <a:xfrm rot="10800000">
            <a:off x="141269" y="3089848"/>
            <a:ext cx="594822" cy="1058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8" name="Rechteck 37">
            <a:extLst>
              <a:ext uri="{FF2B5EF4-FFF2-40B4-BE49-F238E27FC236}">
                <a16:creationId xmlns:a16="http://schemas.microsoft.com/office/drawing/2014/main" id="{E64AAA86-8E35-F137-D552-725E6BB3B490}"/>
              </a:ext>
            </a:extLst>
          </p:cNvPr>
          <p:cNvSpPr/>
          <p:nvPr/>
        </p:nvSpPr>
        <p:spPr>
          <a:xfrm>
            <a:off x="141270" y="3267631"/>
            <a:ext cx="594822" cy="105820"/>
          </a:xfrm>
          <a:prstGeom prst="rect">
            <a:avLst/>
          </a:prstGeom>
          <a:gradFill>
            <a:gsLst>
              <a:gs pos="0">
                <a:schemeClr val="accent3">
                  <a:lumMod val="60000"/>
                  <a:lumOff val="40000"/>
                </a:schemeClr>
              </a:gs>
              <a:gs pos="22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3" name="Rechteck 42">
            <a:extLst>
              <a:ext uri="{FF2B5EF4-FFF2-40B4-BE49-F238E27FC236}">
                <a16:creationId xmlns:a16="http://schemas.microsoft.com/office/drawing/2014/main" id="{562ED29D-9C89-9EC6-2246-71501FC7D5E9}"/>
              </a:ext>
            </a:extLst>
          </p:cNvPr>
          <p:cNvSpPr/>
          <p:nvPr/>
        </p:nvSpPr>
        <p:spPr>
          <a:xfrm>
            <a:off x="141270" y="3445414"/>
            <a:ext cx="594822" cy="1058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4" name="Rechteck 43">
            <a:extLst>
              <a:ext uri="{FF2B5EF4-FFF2-40B4-BE49-F238E27FC236}">
                <a16:creationId xmlns:a16="http://schemas.microsoft.com/office/drawing/2014/main" id="{21501D27-FD99-DC0B-62DF-BC427F805133}"/>
              </a:ext>
            </a:extLst>
          </p:cNvPr>
          <p:cNvSpPr/>
          <p:nvPr/>
        </p:nvSpPr>
        <p:spPr>
          <a:xfrm rot="10800000">
            <a:off x="141270" y="4156546"/>
            <a:ext cx="594822" cy="105820"/>
          </a:xfrm>
          <a:prstGeom prst="rect">
            <a:avLst/>
          </a:prstGeom>
          <a:gradFill>
            <a:gsLst>
              <a:gs pos="0">
                <a:schemeClr val="accent3">
                  <a:lumMod val="60000"/>
                  <a:lumOff val="40000"/>
                </a:schemeClr>
              </a:gs>
              <a:gs pos="45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7" name="Rechteck 46">
            <a:extLst>
              <a:ext uri="{FF2B5EF4-FFF2-40B4-BE49-F238E27FC236}">
                <a16:creationId xmlns:a16="http://schemas.microsoft.com/office/drawing/2014/main" id="{BD749665-69A8-B1C8-10EA-953B3D63595F}"/>
              </a:ext>
            </a:extLst>
          </p:cNvPr>
          <p:cNvSpPr/>
          <p:nvPr/>
        </p:nvSpPr>
        <p:spPr>
          <a:xfrm>
            <a:off x="141270" y="3978763"/>
            <a:ext cx="594822" cy="1058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8" name="Rechteck 47">
            <a:extLst>
              <a:ext uri="{FF2B5EF4-FFF2-40B4-BE49-F238E27FC236}">
                <a16:creationId xmlns:a16="http://schemas.microsoft.com/office/drawing/2014/main" id="{56916146-3642-AE85-6DB6-0106200B1809}"/>
              </a:ext>
            </a:extLst>
          </p:cNvPr>
          <p:cNvSpPr/>
          <p:nvPr/>
        </p:nvSpPr>
        <p:spPr>
          <a:xfrm>
            <a:off x="141270" y="3800980"/>
            <a:ext cx="594822" cy="10582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0" name="Rechteck 49">
            <a:extLst>
              <a:ext uri="{FF2B5EF4-FFF2-40B4-BE49-F238E27FC236}">
                <a16:creationId xmlns:a16="http://schemas.microsoft.com/office/drawing/2014/main" id="{D4962833-DECD-0AE1-986D-A450BF0D071F}"/>
              </a:ext>
            </a:extLst>
          </p:cNvPr>
          <p:cNvSpPr/>
          <p:nvPr/>
        </p:nvSpPr>
        <p:spPr>
          <a:xfrm>
            <a:off x="141270" y="3623197"/>
            <a:ext cx="594822" cy="105820"/>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2" name="Rechteck 51">
            <a:extLst>
              <a:ext uri="{FF2B5EF4-FFF2-40B4-BE49-F238E27FC236}">
                <a16:creationId xmlns:a16="http://schemas.microsoft.com/office/drawing/2014/main" id="{DCE6CD89-DA35-CAD7-78B0-CC1DD5CB867F}"/>
              </a:ext>
            </a:extLst>
          </p:cNvPr>
          <p:cNvSpPr/>
          <p:nvPr/>
        </p:nvSpPr>
        <p:spPr>
          <a:xfrm>
            <a:off x="141270" y="4334329"/>
            <a:ext cx="594822" cy="1058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8" name="Rechteck 57">
            <a:extLst>
              <a:ext uri="{FF2B5EF4-FFF2-40B4-BE49-F238E27FC236}">
                <a16:creationId xmlns:a16="http://schemas.microsoft.com/office/drawing/2014/main" id="{A08441A3-B443-A4E4-0EEA-34D4BFBCF60B}"/>
              </a:ext>
            </a:extLst>
          </p:cNvPr>
          <p:cNvSpPr/>
          <p:nvPr/>
        </p:nvSpPr>
        <p:spPr>
          <a:xfrm>
            <a:off x="141270" y="4512112"/>
            <a:ext cx="594822" cy="105820"/>
          </a:xfrm>
          <a:prstGeom prst="rect">
            <a:avLst/>
          </a:prstGeom>
          <a:gradFill>
            <a:gsLst>
              <a:gs pos="0">
                <a:schemeClr val="accent3">
                  <a:lumMod val="60000"/>
                  <a:lumOff val="40000"/>
                </a:schemeClr>
              </a:gs>
              <a:gs pos="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2" name="Rechteck 61">
            <a:extLst>
              <a:ext uri="{FF2B5EF4-FFF2-40B4-BE49-F238E27FC236}">
                <a16:creationId xmlns:a16="http://schemas.microsoft.com/office/drawing/2014/main" id="{A595E780-9B68-E552-0099-DED2FA0D4698}"/>
              </a:ext>
            </a:extLst>
          </p:cNvPr>
          <p:cNvSpPr/>
          <p:nvPr/>
        </p:nvSpPr>
        <p:spPr>
          <a:xfrm>
            <a:off x="141270" y="4689895"/>
            <a:ext cx="594822" cy="10582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3" name="Rechteck 62">
            <a:extLst>
              <a:ext uri="{FF2B5EF4-FFF2-40B4-BE49-F238E27FC236}">
                <a16:creationId xmlns:a16="http://schemas.microsoft.com/office/drawing/2014/main" id="{7799A27B-F198-69BB-26A1-27348189F309}"/>
              </a:ext>
            </a:extLst>
          </p:cNvPr>
          <p:cNvSpPr/>
          <p:nvPr/>
        </p:nvSpPr>
        <p:spPr>
          <a:xfrm>
            <a:off x="141270" y="4867678"/>
            <a:ext cx="594822" cy="105820"/>
          </a:xfrm>
          <a:prstGeom prst="rect">
            <a:avLst/>
          </a:prstGeom>
          <a:gradFill>
            <a:gsLst>
              <a:gs pos="0">
                <a:schemeClr val="accent3">
                  <a:lumMod val="60000"/>
                  <a:lumOff val="40000"/>
                </a:schemeClr>
              </a:gs>
              <a:gs pos="30000">
                <a:schemeClr val="bg1">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7" name="Rechteck 66">
            <a:extLst>
              <a:ext uri="{FF2B5EF4-FFF2-40B4-BE49-F238E27FC236}">
                <a16:creationId xmlns:a16="http://schemas.microsoft.com/office/drawing/2014/main" id="{F591B2D0-9169-5873-42BC-A0A92FE8357F}"/>
              </a:ext>
            </a:extLst>
          </p:cNvPr>
          <p:cNvSpPr/>
          <p:nvPr/>
        </p:nvSpPr>
        <p:spPr>
          <a:xfrm>
            <a:off x="141270" y="5045461"/>
            <a:ext cx="594822" cy="105820"/>
          </a:xfrm>
          <a:prstGeom prst="rect">
            <a:avLst/>
          </a:prstGeom>
          <a:pattFill prst="wdUpDiag">
            <a:fgClr>
              <a:schemeClr val="accent2">
                <a:lumMod val="5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3" name="Rechteck 72">
            <a:extLst>
              <a:ext uri="{FF2B5EF4-FFF2-40B4-BE49-F238E27FC236}">
                <a16:creationId xmlns:a16="http://schemas.microsoft.com/office/drawing/2014/main" id="{34377906-4A51-1252-9C33-FA185DDD1DCD}"/>
              </a:ext>
            </a:extLst>
          </p:cNvPr>
          <p:cNvSpPr/>
          <p:nvPr/>
        </p:nvSpPr>
        <p:spPr>
          <a:xfrm>
            <a:off x="141270" y="5223244"/>
            <a:ext cx="594822" cy="10582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4" name="Rechteck 73">
            <a:extLst>
              <a:ext uri="{FF2B5EF4-FFF2-40B4-BE49-F238E27FC236}">
                <a16:creationId xmlns:a16="http://schemas.microsoft.com/office/drawing/2014/main" id="{848A0D73-0D53-78CB-C8AC-42A72C677083}"/>
              </a:ext>
            </a:extLst>
          </p:cNvPr>
          <p:cNvSpPr/>
          <p:nvPr/>
        </p:nvSpPr>
        <p:spPr>
          <a:xfrm>
            <a:off x="141270" y="5401027"/>
            <a:ext cx="594822" cy="105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5" name="Rechteck 74">
            <a:extLst>
              <a:ext uri="{FF2B5EF4-FFF2-40B4-BE49-F238E27FC236}">
                <a16:creationId xmlns:a16="http://schemas.microsoft.com/office/drawing/2014/main" id="{CE4D96D3-8C1C-A1CA-8D4E-1581018DA53D}"/>
              </a:ext>
            </a:extLst>
          </p:cNvPr>
          <p:cNvSpPr/>
          <p:nvPr/>
        </p:nvSpPr>
        <p:spPr>
          <a:xfrm>
            <a:off x="141270" y="5578814"/>
            <a:ext cx="594822" cy="10582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0" name="Rechteck 69">
            <a:extLst>
              <a:ext uri="{FF2B5EF4-FFF2-40B4-BE49-F238E27FC236}">
                <a16:creationId xmlns:a16="http://schemas.microsoft.com/office/drawing/2014/main" id="{39FCFB60-66D2-7882-CFA2-C631C0869C94}"/>
              </a:ext>
            </a:extLst>
          </p:cNvPr>
          <p:cNvSpPr/>
          <p:nvPr/>
        </p:nvSpPr>
        <p:spPr>
          <a:xfrm>
            <a:off x="10302719" y="3237484"/>
            <a:ext cx="132518" cy="1027283"/>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0" name="Rechteck 59">
            <a:extLst>
              <a:ext uri="{FF2B5EF4-FFF2-40B4-BE49-F238E27FC236}">
                <a16:creationId xmlns:a16="http://schemas.microsoft.com/office/drawing/2014/main" id="{ACF8D338-E0C4-673D-2489-1D7056A556E8}"/>
              </a:ext>
            </a:extLst>
          </p:cNvPr>
          <p:cNvSpPr/>
          <p:nvPr/>
        </p:nvSpPr>
        <p:spPr>
          <a:xfrm>
            <a:off x="9483388" y="4382877"/>
            <a:ext cx="126686" cy="1184967"/>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5" name="Rechteck 64">
            <a:extLst>
              <a:ext uri="{FF2B5EF4-FFF2-40B4-BE49-F238E27FC236}">
                <a16:creationId xmlns:a16="http://schemas.microsoft.com/office/drawing/2014/main" id="{B540F1CA-E76E-7C20-B7D9-36497E860225}"/>
              </a:ext>
            </a:extLst>
          </p:cNvPr>
          <p:cNvSpPr/>
          <p:nvPr/>
        </p:nvSpPr>
        <p:spPr>
          <a:xfrm>
            <a:off x="8979189" y="4353001"/>
            <a:ext cx="143716" cy="38042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1" name="Rechteck 60">
            <a:extLst>
              <a:ext uri="{FF2B5EF4-FFF2-40B4-BE49-F238E27FC236}">
                <a16:creationId xmlns:a16="http://schemas.microsoft.com/office/drawing/2014/main" id="{828661D2-FDC4-519A-9E68-8ACBF438FD06}"/>
              </a:ext>
            </a:extLst>
          </p:cNvPr>
          <p:cNvSpPr/>
          <p:nvPr/>
        </p:nvSpPr>
        <p:spPr>
          <a:xfrm>
            <a:off x="10310957" y="4380939"/>
            <a:ext cx="126686" cy="1184967"/>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6A8BF216-8F76-0DB3-9E34-AF9EBDF1B7A4}"/>
              </a:ext>
            </a:extLst>
          </p:cNvPr>
          <p:cNvSpPr/>
          <p:nvPr/>
        </p:nvSpPr>
        <p:spPr>
          <a:xfrm>
            <a:off x="9476443" y="3258928"/>
            <a:ext cx="132518" cy="102728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6" name="Rechteck 45">
            <a:extLst>
              <a:ext uri="{FF2B5EF4-FFF2-40B4-BE49-F238E27FC236}">
                <a16:creationId xmlns:a16="http://schemas.microsoft.com/office/drawing/2014/main" id="{20ADC36E-8FAF-B73B-CDCD-09C6F4ACC761}"/>
              </a:ext>
            </a:extLst>
          </p:cNvPr>
          <p:cNvSpPr/>
          <p:nvPr/>
        </p:nvSpPr>
        <p:spPr>
          <a:xfrm>
            <a:off x="8966716" y="3249066"/>
            <a:ext cx="132518" cy="1027283"/>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43136AAA-2F48-097E-D599-07FAB8A598DA}"/>
              </a:ext>
            </a:extLst>
          </p:cNvPr>
          <p:cNvSpPr/>
          <p:nvPr/>
        </p:nvSpPr>
        <p:spPr>
          <a:xfrm>
            <a:off x="10213342" y="2486015"/>
            <a:ext cx="905971" cy="4835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A9B0E56D-B37C-7612-0D8D-79479F555863}"/>
              </a:ext>
            </a:extLst>
          </p:cNvPr>
          <p:cNvSpPr/>
          <p:nvPr/>
        </p:nvSpPr>
        <p:spPr>
          <a:xfrm>
            <a:off x="10891818" y="3160140"/>
            <a:ext cx="111012" cy="1612618"/>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4" name="Rechteck 13">
            <a:extLst>
              <a:ext uri="{FF2B5EF4-FFF2-40B4-BE49-F238E27FC236}">
                <a16:creationId xmlns:a16="http://schemas.microsoft.com/office/drawing/2014/main" id="{C9C89E30-546F-BE91-55DF-A9DDBDB57A2C}"/>
              </a:ext>
            </a:extLst>
          </p:cNvPr>
          <p:cNvSpPr/>
          <p:nvPr/>
        </p:nvSpPr>
        <p:spPr>
          <a:xfrm>
            <a:off x="8461375" y="3017886"/>
            <a:ext cx="132518" cy="137296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6" name="Rechteck 15">
            <a:extLst>
              <a:ext uri="{FF2B5EF4-FFF2-40B4-BE49-F238E27FC236}">
                <a16:creationId xmlns:a16="http://schemas.microsoft.com/office/drawing/2014/main" id="{94A4D02F-7B4F-0505-ED3D-E0750ABAC506}"/>
              </a:ext>
            </a:extLst>
          </p:cNvPr>
          <p:cNvSpPr/>
          <p:nvPr/>
        </p:nvSpPr>
        <p:spPr>
          <a:xfrm rot="10800000">
            <a:off x="8461375" y="3170602"/>
            <a:ext cx="1008606" cy="110893"/>
          </a:xfrm>
          <a:prstGeom prst="rect">
            <a:avLst/>
          </a:prstGeom>
          <a:gradFill>
            <a:gsLst>
              <a:gs pos="0">
                <a:schemeClr val="accent3">
                  <a:lumMod val="60000"/>
                  <a:lumOff val="40000"/>
                </a:schemeClr>
              </a:gs>
              <a:gs pos="30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5" name="Rechteck 24">
            <a:extLst>
              <a:ext uri="{FF2B5EF4-FFF2-40B4-BE49-F238E27FC236}">
                <a16:creationId xmlns:a16="http://schemas.microsoft.com/office/drawing/2014/main" id="{48A3BE9B-51E1-3896-73BE-F3372D0ABBAF}"/>
              </a:ext>
            </a:extLst>
          </p:cNvPr>
          <p:cNvSpPr/>
          <p:nvPr/>
        </p:nvSpPr>
        <p:spPr>
          <a:xfrm>
            <a:off x="8465103" y="3437764"/>
            <a:ext cx="135253" cy="39943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9" name="Rechteck 28">
            <a:extLst>
              <a:ext uri="{FF2B5EF4-FFF2-40B4-BE49-F238E27FC236}">
                <a16:creationId xmlns:a16="http://schemas.microsoft.com/office/drawing/2014/main" id="{5AA463A4-9534-90F2-8062-EA3B20150DB2}"/>
              </a:ext>
            </a:extLst>
          </p:cNvPr>
          <p:cNvSpPr/>
          <p:nvPr/>
        </p:nvSpPr>
        <p:spPr>
          <a:xfrm>
            <a:off x="8962511" y="4266838"/>
            <a:ext cx="2040320" cy="12005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0" name="Rechteck 29">
            <a:extLst>
              <a:ext uri="{FF2B5EF4-FFF2-40B4-BE49-F238E27FC236}">
                <a16:creationId xmlns:a16="http://schemas.microsoft.com/office/drawing/2014/main" id="{65067B3E-D5F2-7A13-992A-F8A5A8C1846A}"/>
              </a:ext>
            </a:extLst>
          </p:cNvPr>
          <p:cNvSpPr/>
          <p:nvPr/>
        </p:nvSpPr>
        <p:spPr>
          <a:xfrm>
            <a:off x="8461375" y="3787442"/>
            <a:ext cx="2552574" cy="12005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3" name="Rechteck 32">
            <a:extLst>
              <a:ext uri="{FF2B5EF4-FFF2-40B4-BE49-F238E27FC236}">
                <a16:creationId xmlns:a16="http://schemas.microsoft.com/office/drawing/2014/main" id="{DB2D3F10-D6BE-D10B-62A1-CC58E6525182}"/>
              </a:ext>
            </a:extLst>
          </p:cNvPr>
          <p:cNvSpPr/>
          <p:nvPr/>
        </p:nvSpPr>
        <p:spPr>
          <a:xfrm>
            <a:off x="9469981" y="3160464"/>
            <a:ext cx="954515" cy="11702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4" name="Rechteck 33">
            <a:extLst>
              <a:ext uri="{FF2B5EF4-FFF2-40B4-BE49-F238E27FC236}">
                <a16:creationId xmlns:a16="http://schemas.microsoft.com/office/drawing/2014/main" id="{1BDE88D4-D2DA-BDAA-F751-5BDC15C88C5B}"/>
              </a:ext>
            </a:extLst>
          </p:cNvPr>
          <p:cNvSpPr/>
          <p:nvPr/>
        </p:nvSpPr>
        <p:spPr>
          <a:xfrm>
            <a:off x="10310957" y="2400859"/>
            <a:ext cx="116043" cy="76018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20" name="Rechteck 19">
            <a:extLst>
              <a:ext uri="{FF2B5EF4-FFF2-40B4-BE49-F238E27FC236}">
                <a16:creationId xmlns:a16="http://schemas.microsoft.com/office/drawing/2014/main" id="{4DCC64FC-4C2E-7A7B-28C7-FA852BEE5B5B}"/>
              </a:ext>
            </a:extLst>
          </p:cNvPr>
          <p:cNvSpPr/>
          <p:nvPr/>
        </p:nvSpPr>
        <p:spPr>
          <a:xfrm rot="10800000">
            <a:off x="9478670" y="2385225"/>
            <a:ext cx="945826" cy="201579"/>
          </a:xfrm>
          <a:prstGeom prst="rect">
            <a:avLst/>
          </a:prstGeom>
          <a:gradFill>
            <a:gsLst>
              <a:gs pos="0">
                <a:schemeClr val="accent3">
                  <a:lumMod val="60000"/>
                  <a:lumOff val="40000"/>
                </a:schemeClr>
              </a:gs>
              <a:gs pos="22000">
                <a:schemeClr val="accent2">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9" name="Rechteck 38">
            <a:extLst>
              <a:ext uri="{FF2B5EF4-FFF2-40B4-BE49-F238E27FC236}">
                <a16:creationId xmlns:a16="http://schemas.microsoft.com/office/drawing/2014/main" id="{A0760289-E17D-869A-9BA8-2B38BC218C5F}"/>
              </a:ext>
            </a:extLst>
          </p:cNvPr>
          <p:cNvSpPr/>
          <p:nvPr/>
        </p:nvSpPr>
        <p:spPr>
          <a:xfrm>
            <a:off x="8461376" y="4270367"/>
            <a:ext cx="498401" cy="117020"/>
          </a:xfrm>
          <a:prstGeom prst="rect">
            <a:avLst/>
          </a:prstGeom>
          <a:gradFill>
            <a:gsLst>
              <a:gs pos="0">
                <a:schemeClr val="accent3">
                  <a:lumMod val="60000"/>
                  <a:lumOff val="40000"/>
                </a:schemeClr>
              </a:gs>
              <a:gs pos="21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0" name="Rechteck 39">
            <a:extLst>
              <a:ext uri="{FF2B5EF4-FFF2-40B4-BE49-F238E27FC236}">
                <a16:creationId xmlns:a16="http://schemas.microsoft.com/office/drawing/2014/main" id="{D5042A05-C8AA-5DC8-12C6-43CC1FED9439}"/>
              </a:ext>
            </a:extLst>
          </p:cNvPr>
          <p:cNvSpPr/>
          <p:nvPr/>
        </p:nvSpPr>
        <p:spPr>
          <a:xfrm rot="10800000">
            <a:off x="10401650" y="3158781"/>
            <a:ext cx="601180" cy="1170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1" name="Rechteck 40">
            <a:extLst>
              <a:ext uri="{FF2B5EF4-FFF2-40B4-BE49-F238E27FC236}">
                <a16:creationId xmlns:a16="http://schemas.microsoft.com/office/drawing/2014/main" id="{1FAA5225-3FBC-F94B-43C9-275957A47516}"/>
              </a:ext>
            </a:extLst>
          </p:cNvPr>
          <p:cNvSpPr/>
          <p:nvPr/>
        </p:nvSpPr>
        <p:spPr>
          <a:xfrm>
            <a:off x="9987591" y="4656108"/>
            <a:ext cx="1026358" cy="117020"/>
          </a:xfrm>
          <a:prstGeom prst="rect">
            <a:avLst/>
          </a:prstGeom>
          <a:gradFill>
            <a:gsLst>
              <a:gs pos="0">
                <a:schemeClr val="accent3">
                  <a:lumMod val="60000"/>
                  <a:lumOff val="40000"/>
                </a:schemeClr>
              </a:gs>
              <a:gs pos="22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2" name="Rechteck 41">
            <a:extLst>
              <a:ext uri="{FF2B5EF4-FFF2-40B4-BE49-F238E27FC236}">
                <a16:creationId xmlns:a16="http://schemas.microsoft.com/office/drawing/2014/main" id="{6F75DE4E-DC80-B6C3-3677-6259324E80B3}"/>
              </a:ext>
            </a:extLst>
          </p:cNvPr>
          <p:cNvSpPr/>
          <p:nvPr/>
        </p:nvSpPr>
        <p:spPr>
          <a:xfrm>
            <a:off x="8970295" y="5568948"/>
            <a:ext cx="1026358" cy="117020"/>
          </a:xfrm>
          <a:prstGeom prst="rect">
            <a:avLst/>
          </a:prstGeom>
          <a:gradFill>
            <a:gsLst>
              <a:gs pos="0">
                <a:schemeClr val="accent3">
                  <a:lumMod val="60000"/>
                  <a:lumOff val="40000"/>
                </a:schemeClr>
              </a:gs>
              <a:gs pos="2500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9" name="Rechteck 48">
            <a:extLst>
              <a:ext uri="{FF2B5EF4-FFF2-40B4-BE49-F238E27FC236}">
                <a16:creationId xmlns:a16="http://schemas.microsoft.com/office/drawing/2014/main" id="{5BD881FA-2E54-CD8F-6840-17FEC34A7283}"/>
              </a:ext>
            </a:extLst>
          </p:cNvPr>
          <p:cNvSpPr/>
          <p:nvPr/>
        </p:nvSpPr>
        <p:spPr>
          <a:xfrm>
            <a:off x="8990303" y="4725326"/>
            <a:ext cx="126792" cy="842518"/>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1" name="Rechteck 50">
            <a:extLst>
              <a:ext uri="{FF2B5EF4-FFF2-40B4-BE49-F238E27FC236}">
                <a16:creationId xmlns:a16="http://schemas.microsoft.com/office/drawing/2014/main" id="{B74CFD9F-09EB-A3E5-C990-6F096B0361F8}"/>
              </a:ext>
            </a:extLst>
          </p:cNvPr>
          <p:cNvSpPr/>
          <p:nvPr/>
        </p:nvSpPr>
        <p:spPr>
          <a:xfrm>
            <a:off x="10871672" y="4767055"/>
            <a:ext cx="126792" cy="84251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3" name="Rechteck 52">
            <a:extLst>
              <a:ext uri="{FF2B5EF4-FFF2-40B4-BE49-F238E27FC236}">
                <a16:creationId xmlns:a16="http://schemas.microsoft.com/office/drawing/2014/main" id="{D6231C61-52A1-D90F-2768-3C678C113B12}"/>
              </a:ext>
            </a:extLst>
          </p:cNvPr>
          <p:cNvSpPr/>
          <p:nvPr/>
        </p:nvSpPr>
        <p:spPr>
          <a:xfrm>
            <a:off x="8458641" y="3950591"/>
            <a:ext cx="135253" cy="199715"/>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5" name="Rechteck 54">
            <a:extLst>
              <a:ext uri="{FF2B5EF4-FFF2-40B4-BE49-F238E27FC236}">
                <a16:creationId xmlns:a16="http://schemas.microsoft.com/office/drawing/2014/main" id="{D8084A8A-0AE5-F4B4-0C94-736C2BE492DA}"/>
              </a:ext>
            </a:extLst>
          </p:cNvPr>
          <p:cNvSpPr/>
          <p:nvPr/>
        </p:nvSpPr>
        <p:spPr>
          <a:xfrm>
            <a:off x="10891817" y="3381391"/>
            <a:ext cx="116042" cy="199715"/>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6" name="Rechteck 55">
            <a:extLst>
              <a:ext uri="{FF2B5EF4-FFF2-40B4-BE49-F238E27FC236}">
                <a16:creationId xmlns:a16="http://schemas.microsoft.com/office/drawing/2014/main" id="{D59B6508-3725-AC56-906F-11511B06C437}"/>
              </a:ext>
            </a:extLst>
          </p:cNvPr>
          <p:cNvSpPr/>
          <p:nvPr/>
        </p:nvSpPr>
        <p:spPr>
          <a:xfrm>
            <a:off x="10313354" y="2722168"/>
            <a:ext cx="116042" cy="43493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59" name="Rechteck 58">
            <a:extLst>
              <a:ext uri="{FF2B5EF4-FFF2-40B4-BE49-F238E27FC236}">
                <a16:creationId xmlns:a16="http://schemas.microsoft.com/office/drawing/2014/main" id="{B35B25DF-885D-C579-407D-0E9E1966A6D2}"/>
              </a:ext>
            </a:extLst>
          </p:cNvPr>
          <p:cNvSpPr/>
          <p:nvPr/>
        </p:nvSpPr>
        <p:spPr>
          <a:xfrm>
            <a:off x="9996653" y="5568723"/>
            <a:ext cx="981803" cy="117020"/>
          </a:xfrm>
          <a:prstGeom prst="rect">
            <a:avLst/>
          </a:prstGeom>
          <a:gradFill>
            <a:gsLst>
              <a:gs pos="0">
                <a:schemeClr val="accent3">
                  <a:lumMod val="60000"/>
                  <a:lumOff val="40000"/>
                </a:schemeClr>
              </a:gs>
              <a:gs pos="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4" name="Rechteck 63">
            <a:extLst>
              <a:ext uri="{FF2B5EF4-FFF2-40B4-BE49-F238E27FC236}">
                <a16:creationId xmlns:a16="http://schemas.microsoft.com/office/drawing/2014/main" id="{7D3ACA2B-C57E-7BD4-BB8A-7A500A70F86B}"/>
              </a:ext>
            </a:extLst>
          </p:cNvPr>
          <p:cNvSpPr/>
          <p:nvPr/>
        </p:nvSpPr>
        <p:spPr>
          <a:xfrm rot="16200000">
            <a:off x="9647868" y="5116775"/>
            <a:ext cx="792470" cy="109665"/>
          </a:xfrm>
          <a:prstGeom prst="rect">
            <a:avLst/>
          </a:prstGeom>
          <a:gradFill>
            <a:gsLst>
              <a:gs pos="0">
                <a:schemeClr val="accent3">
                  <a:lumMod val="60000"/>
                  <a:lumOff val="40000"/>
                </a:schemeClr>
              </a:gs>
              <a:gs pos="30000">
                <a:schemeClr val="bg1">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6" name="Rechteck 65">
            <a:extLst>
              <a:ext uri="{FF2B5EF4-FFF2-40B4-BE49-F238E27FC236}">
                <a16:creationId xmlns:a16="http://schemas.microsoft.com/office/drawing/2014/main" id="{D4697143-55D6-C805-5412-8304323F0437}"/>
              </a:ext>
            </a:extLst>
          </p:cNvPr>
          <p:cNvSpPr/>
          <p:nvPr/>
        </p:nvSpPr>
        <p:spPr>
          <a:xfrm>
            <a:off x="10098935" y="5109122"/>
            <a:ext cx="899529" cy="120050"/>
          </a:xfrm>
          <a:prstGeom prst="rect">
            <a:avLst/>
          </a:prstGeom>
          <a:pattFill prst="wdUpDiag">
            <a:fgClr>
              <a:schemeClr val="accent2">
                <a:lumMod val="5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8" name="Rechteck 67">
            <a:extLst>
              <a:ext uri="{FF2B5EF4-FFF2-40B4-BE49-F238E27FC236}">
                <a16:creationId xmlns:a16="http://schemas.microsoft.com/office/drawing/2014/main" id="{244A524D-EF39-5145-456F-2B7F590F657B}"/>
              </a:ext>
            </a:extLst>
          </p:cNvPr>
          <p:cNvSpPr/>
          <p:nvPr/>
        </p:nvSpPr>
        <p:spPr>
          <a:xfrm>
            <a:off x="8976493" y="4660613"/>
            <a:ext cx="1020160" cy="12005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69" name="Rechteck 68">
            <a:extLst>
              <a:ext uri="{FF2B5EF4-FFF2-40B4-BE49-F238E27FC236}">
                <a16:creationId xmlns:a16="http://schemas.microsoft.com/office/drawing/2014/main" id="{B8823F73-881C-E064-E6E5-830191F7BEEC}"/>
              </a:ext>
            </a:extLst>
          </p:cNvPr>
          <p:cNvSpPr/>
          <p:nvPr/>
        </p:nvSpPr>
        <p:spPr>
          <a:xfrm>
            <a:off x="8993382" y="5109640"/>
            <a:ext cx="1090067" cy="127954"/>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1" name="Rechteck 70">
            <a:extLst>
              <a:ext uri="{FF2B5EF4-FFF2-40B4-BE49-F238E27FC236}">
                <a16:creationId xmlns:a16="http://schemas.microsoft.com/office/drawing/2014/main" id="{14B03375-9AA3-5331-6776-D4EC79E2E601}"/>
              </a:ext>
            </a:extLst>
          </p:cNvPr>
          <p:cNvSpPr/>
          <p:nvPr/>
        </p:nvSpPr>
        <p:spPr>
          <a:xfrm>
            <a:off x="11005528" y="4270367"/>
            <a:ext cx="311608" cy="110572"/>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2" name="Rechteck 71">
            <a:extLst>
              <a:ext uri="{FF2B5EF4-FFF2-40B4-BE49-F238E27FC236}">
                <a16:creationId xmlns:a16="http://schemas.microsoft.com/office/drawing/2014/main" id="{DC0489AC-E567-009D-E29B-003A2CF5770F}"/>
              </a:ext>
            </a:extLst>
          </p:cNvPr>
          <p:cNvSpPr/>
          <p:nvPr/>
        </p:nvSpPr>
        <p:spPr>
          <a:xfrm>
            <a:off x="11005528" y="3797352"/>
            <a:ext cx="311608" cy="110572"/>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8" name="Rechteck 77">
            <a:extLst>
              <a:ext uri="{FF2B5EF4-FFF2-40B4-BE49-F238E27FC236}">
                <a16:creationId xmlns:a16="http://schemas.microsoft.com/office/drawing/2014/main" id="{CD900292-68B9-E88F-EE89-3D28F10058DB}"/>
              </a:ext>
            </a:extLst>
          </p:cNvPr>
          <p:cNvSpPr/>
          <p:nvPr/>
        </p:nvSpPr>
        <p:spPr>
          <a:xfrm>
            <a:off x="10889485" y="3391647"/>
            <a:ext cx="116042" cy="199715"/>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9" name="Rechteck 78">
            <a:extLst>
              <a:ext uri="{FF2B5EF4-FFF2-40B4-BE49-F238E27FC236}">
                <a16:creationId xmlns:a16="http://schemas.microsoft.com/office/drawing/2014/main" id="{70825C8E-BB9E-D337-4D4B-2A248DF41D07}"/>
              </a:ext>
            </a:extLst>
          </p:cNvPr>
          <p:cNvSpPr/>
          <p:nvPr/>
        </p:nvSpPr>
        <p:spPr>
          <a:xfrm>
            <a:off x="10889485" y="3586190"/>
            <a:ext cx="116042"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0" name="Rechteck 79">
            <a:extLst>
              <a:ext uri="{FF2B5EF4-FFF2-40B4-BE49-F238E27FC236}">
                <a16:creationId xmlns:a16="http://schemas.microsoft.com/office/drawing/2014/main" id="{1C82ACA9-A034-AFB9-25AF-22807834B789}"/>
              </a:ext>
            </a:extLst>
          </p:cNvPr>
          <p:cNvSpPr/>
          <p:nvPr/>
        </p:nvSpPr>
        <p:spPr>
          <a:xfrm>
            <a:off x="10889485" y="3370168"/>
            <a:ext cx="116042"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1" name="Rechteck 80">
            <a:extLst>
              <a:ext uri="{FF2B5EF4-FFF2-40B4-BE49-F238E27FC236}">
                <a16:creationId xmlns:a16="http://schemas.microsoft.com/office/drawing/2014/main" id="{66F893F3-A246-9A24-6F07-D3875E1D21F2}"/>
              </a:ext>
            </a:extLst>
          </p:cNvPr>
          <p:cNvSpPr/>
          <p:nvPr/>
        </p:nvSpPr>
        <p:spPr>
          <a:xfrm>
            <a:off x="10889485" y="3977478"/>
            <a:ext cx="116042" cy="199715"/>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2" name="Rechteck 81">
            <a:extLst>
              <a:ext uri="{FF2B5EF4-FFF2-40B4-BE49-F238E27FC236}">
                <a16:creationId xmlns:a16="http://schemas.microsoft.com/office/drawing/2014/main" id="{3949BC32-B26E-34CF-9EBC-46CF09741B94}"/>
              </a:ext>
            </a:extLst>
          </p:cNvPr>
          <p:cNvSpPr/>
          <p:nvPr/>
        </p:nvSpPr>
        <p:spPr>
          <a:xfrm>
            <a:off x="10889485" y="4172021"/>
            <a:ext cx="116042"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3" name="Rechteck 82">
            <a:extLst>
              <a:ext uri="{FF2B5EF4-FFF2-40B4-BE49-F238E27FC236}">
                <a16:creationId xmlns:a16="http://schemas.microsoft.com/office/drawing/2014/main" id="{536B4B55-6BEB-45BC-614B-91AC94940386}"/>
              </a:ext>
            </a:extLst>
          </p:cNvPr>
          <p:cNvSpPr/>
          <p:nvPr/>
        </p:nvSpPr>
        <p:spPr>
          <a:xfrm>
            <a:off x="10889485" y="3955999"/>
            <a:ext cx="116042"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5" name="Rechteck 84">
            <a:extLst>
              <a:ext uri="{FF2B5EF4-FFF2-40B4-BE49-F238E27FC236}">
                <a16:creationId xmlns:a16="http://schemas.microsoft.com/office/drawing/2014/main" id="{05C7231D-7D14-E76C-E491-3511DCA70A51}"/>
              </a:ext>
            </a:extLst>
          </p:cNvPr>
          <p:cNvSpPr/>
          <p:nvPr/>
        </p:nvSpPr>
        <p:spPr>
          <a:xfrm>
            <a:off x="6248001" y="2178782"/>
            <a:ext cx="594822" cy="10582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6" name="Rechteck 85">
            <a:extLst>
              <a:ext uri="{FF2B5EF4-FFF2-40B4-BE49-F238E27FC236}">
                <a16:creationId xmlns:a16="http://schemas.microsoft.com/office/drawing/2014/main" id="{ADB34715-F8FA-2895-FA5B-FE57D3EFBA3C}"/>
              </a:ext>
            </a:extLst>
          </p:cNvPr>
          <p:cNvSpPr/>
          <p:nvPr/>
        </p:nvSpPr>
        <p:spPr>
          <a:xfrm>
            <a:off x="6248001" y="2356565"/>
            <a:ext cx="594822" cy="10582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7" name="Rechteck 86">
            <a:extLst>
              <a:ext uri="{FF2B5EF4-FFF2-40B4-BE49-F238E27FC236}">
                <a16:creationId xmlns:a16="http://schemas.microsoft.com/office/drawing/2014/main" id="{2935FCF9-2B11-F895-FB97-5EE6634440B5}"/>
              </a:ext>
            </a:extLst>
          </p:cNvPr>
          <p:cNvSpPr/>
          <p:nvPr/>
        </p:nvSpPr>
        <p:spPr>
          <a:xfrm rot="10800000">
            <a:off x="6248001" y="2534348"/>
            <a:ext cx="594822" cy="105820"/>
          </a:xfrm>
          <a:prstGeom prst="rect">
            <a:avLst/>
          </a:prstGeom>
          <a:gradFill>
            <a:gsLst>
              <a:gs pos="0">
                <a:schemeClr val="accent3">
                  <a:lumMod val="60000"/>
                  <a:lumOff val="40000"/>
                </a:schemeClr>
              </a:gs>
              <a:gs pos="22000">
                <a:schemeClr val="accent2">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8" name="Rechteck 87">
            <a:extLst>
              <a:ext uri="{FF2B5EF4-FFF2-40B4-BE49-F238E27FC236}">
                <a16:creationId xmlns:a16="http://schemas.microsoft.com/office/drawing/2014/main" id="{44A74117-13D4-7F95-BFBB-BCD07724C37E}"/>
              </a:ext>
            </a:extLst>
          </p:cNvPr>
          <p:cNvSpPr/>
          <p:nvPr/>
        </p:nvSpPr>
        <p:spPr>
          <a:xfrm>
            <a:off x="6248001" y="2712131"/>
            <a:ext cx="594822" cy="105820"/>
          </a:xfrm>
          <a:prstGeom prst="rect">
            <a:avLst/>
          </a:prstGeom>
          <a:gradFill>
            <a:gsLst>
              <a:gs pos="0">
                <a:schemeClr val="accent3">
                  <a:lumMod val="60000"/>
                  <a:lumOff val="40000"/>
                </a:schemeClr>
              </a:gs>
              <a:gs pos="2500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9" name="Rechteck 88">
            <a:extLst>
              <a:ext uri="{FF2B5EF4-FFF2-40B4-BE49-F238E27FC236}">
                <a16:creationId xmlns:a16="http://schemas.microsoft.com/office/drawing/2014/main" id="{C7BF5B79-18B2-63BF-0FB6-1858CAE0C830}"/>
              </a:ext>
            </a:extLst>
          </p:cNvPr>
          <p:cNvSpPr/>
          <p:nvPr/>
        </p:nvSpPr>
        <p:spPr>
          <a:xfrm>
            <a:off x="6248001" y="2889914"/>
            <a:ext cx="594822" cy="10582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0" name="Rechteck 89">
            <a:extLst>
              <a:ext uri="{FF2B5EF4-FFF2-40B4-BE49-F238E27FC236}">
                <a16:creationId xmlns:a16="http://schemas.microsoft.com/office/drawing/2014/main" id="{09845F71-215C-8C46-7FDF-0A1BC2DE8ECC}"/>
              </a:ext>
            </a:extLst>
          </p:cNvPr>
          <p:cNvSpPr/>
          <p:nvPr/>
        </p:nvSpPr>
        <p:spPr>
          <a:xfrm rot="10800000">
            <a:off x="6248000" y="3067697"/>
            <a:ext cx="594822" cy="1058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1" name="Rechteck 90">
            <a:extLst>
              <a:ext uri="{FF2B5EF4-FFF2-40B4-BE49-F238E27FC236}">
                <a16:creationId xmlns:a16="http://schemas.microsoft.com/office/drawing/2014/main" id="{7C8A766B-1591-D3EF-EABD-1D35B46D8984}"/>
              </a:ext>
            </a:extLst>
          </p:cNvPr>
          <p:cNvSpPr/>
          <p:nvPr/>
        </p:nvSpPr>
        <p:spPr>
          <a:xfrm>
            <a:off x="6248001" y="3245480"/>
            <a:ext cx="594822" cy="105820"/>
          </a:xfrm>
          <a:prstGeom prst="rect">
            <a:avLst/>
          </a:prstGeom>
          <a:gradFill>
            <a:gsLst>
              <a:gs pos="0">
                <a:schemeClr val="accent3">
                  <a:lumMod val="60000"/>
                  <a:lumOff val="40000"/>
                </a:schemeClr>
              </a:gs>
              <a:gs pos="22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2" name="Rechteck 91">
            <a:extLst>
              <a:ext uri="{FF2B5EF4-FFF2-40B4-BE49-F238E27FC236}">
                <a16:creationId xmlns:a16="http://schemas.microsoft.com/office/drawing/2014/main" id="{AB96B9C1-BAF7-9746-BB0D-27ED650C0C9A}"/>
              </a:ext>
            </a:extLst>
          </p:cNvPr>
          <p:cNvSpPr/>
          <p:nvPr/>
        </p:nvSpPr>
        <p:spPr>
          <a:xfrm>
            <a:off x="6248001" y="3423263"/>
            <a:ext cx="594822" cy="1058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3" name="Rechteck 92">
            <a:extLst>
              <a:ext uri="{FF2B5EF4-FFF2-40B4-BE49-F238E27FC236}">
                <a16:creationId xmlns:a16="http://schemas.microsoft.com/office/drawing/2014/main" id="{A91A4A52-A704-EC0E-E2FB-68E6AB730581}"/>
              </a:ext>
            </a:extLst>
          </p:cNvPr>
          <p:cNvSpPr/>
          <p:nvPr/>
        </p:nvSpPr>
        <p:spPr>
          <a:xfrm rot="10800000">
            <a:off x="6248001" y="4134395"/>
            <a:ext cx="594822" cy="105820"/>
          </a:xfrm>
          <a:prstGeom prst="rect">
            <a:avLst/>
          </a:prstGeom>
          <a:gradFill>
            <a:gsLst>
              <a:gs pos="0">
                <a:schemeClr val="accent3">
                  <a:lumMod val="60000"/>
                  <a:lumOff val="40000"/>
                </a:schemeClr>
              </a:gs>
              <a:gs pos="45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4" name="Rechteck 93">
            <a:extLst>
              <a:ext uri="{FF2B5EF4-FFF2-40B4-BE49-F238E27FC236}">
                <a16:creationId xmlns:a16="http://schemas.microsoft.com/office/drawing/2014/main" id="{A2DCC3E0-CF72-7B7D-DEBB-551F9D66B076}"/>
              </a:ext>
            </a:extLst>
          </p:cNvPr>
          <p:cNvSpPr/>
          <p:nvPr/>
        </p:nvSpPr>
        <p:spPr>
          <a:xfrm>
            <a:off x="6248001" y="3956612"/>
            <a:ext cx="594822" cy="1058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5" name="Rechteck 94">
            <a:extLst>
              <a:ext uri="{FF2B5EF4-FFF2-40B4-BE49-F238E27FC236}">
                <a16:creationId xmlns:a16="http://schemas.microsoft.com/office/drawing/2014/main" id="{0B0A7D16-B457-5BAA-4C54-8CF60CAE23FA}"/>
              </a:ext>
            </a:extLst>
          </p:cNvPr>
          <p:cNvSpPr/>
          <p:nvPr/>
        </p:nvSpPr>
        <p:spPr>
          <a:xfrm>
            <a:off x="6248001" y="3778829"/>
            <a:ext cx="594822" cy="10582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6" name="Rechteck 95">
            <a:extLst>
              <a:ext uri="{FF2B5EF4-FFF2-40B4-BE49-F238E27FC236}">
                <a16:creationId xmlns:a16="http://schemas.microsoft.com/office/drawing/2014/main" id="{69C56E96-C8B3-CBD6-78D2-02325A403328}"/>
              </a:ext>
            </a:extLst>
          </p:cNvPr>
          <p:cNvSpPr/>
          <p:nvPr/>
        </p:nvSpPr>
        <p:spPr>
          <a:xfrm>
            <a:off x="6248001" y="3601046"/>
            <a:ext cx="594822" cy="105820"/>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7" name="Rechteck 96">
            <a:extLst>
              <a:ext uri="{FF2B5EF4-FFF2-40B4-BE49-F238E27FC236}">
                <a16:creationId xmlns:a16="http://schemas.microsoft.com/office/drawing/2014/main" id="{D25B72C7-78D4-84F5-E1C6-893E1C4E9361}"/>
              </a:ext>
            </a:extLst>
          </p:cNvPr>
          <p:cNvSpPr/>
          <p:nvPr/>
        </p:nvSpPr>
        <p:spPr>
          <a:xfrm>
            <a:off x="6248001" y="4312178"/>
            <a:ext cx="594822" cy="1058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8" name="Rechteck 97">
            <a:extLst>
              <a:ext uri="{FF2B5EF4-FFF2-40B4-BE49-F238E27FC236}">
                <a16:creationId xmlns:a16="http://schemas.microsoft.com/office/drawing/2014/main" id="{5555D507-297F-90AF-2477-A052CD88ED30}"/>
              </a:ext>
            </a:extLst>
          </p:cNvPr>
          <p:cNvSpPr/>
          <p:nvPr/>
        </p:nvSpPr>
        <p:spPr>
          <a:xfrm>
            <a:off x="6248001" y="4489961"/>
            <a:ext cx="594822" cy="105820"/>
          </a:xfrm>
          <a:prstGeom prst="rect">
            <a:avLst/>
          </a:prstGeom>
          <a:gradFill>
            <a:gsLst>
              <a:gs pos="0">
                <a:schemeClr val="accent3">
                  <a:lumMod val="60000"/>
                  <a:lumOff val="40000"/>
                </a:schemeClr>
              </a:gs>
              <a:gs pos="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99" name="Rechteck 98">
            <a:extLst>
              <a:ext uri="{FF2B5EF4-FFF2-40B4-BE49-F238E27FC236}">
                <a16:creationId xmlns:a16="http://schemas.microsoft.com/office/drawing/2014/main" id="{689AAF05-D481-9BAF-DF68-F1D178B5AC29}"/>
              </a:ext>
            </a:extLst>
          </p:cNvPr>
          <p:cNvSpPr/>
          <p:nvPr/>
        </p:nvSpPr>
        <p:spPr>
          <a:xfrm>
            <a:off x="6248001" y="4667744"/>
            <a:ext cx="594822" cy="10582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0" name="Rechteck 99">
            <a:extLst>
              <a:ext uri="{FF2B5EF4-FFF2-40B4-BE49-F238E27FC236}">
                <a16:creationId xmlns:a16="http://schemas.microsoft.com/office/drawing/2014/main" id="{5EC2EDAF-DC58-016F-08DA-18DED8E4796A}"/>
              </a:ext>
            </a:extLst>
          </p:cNvPr>
          <p:cNvSpPr/>
          <p:nvPr/>
        </p:nvSpPr>
        <p:spPr>
          <a:xfrm>
            <a:off x="6248001" y="4845527"/>
            <a:ext cx="594822" cy="105820"/>
          </a:xfrm>
          <a:prstGeom prst="rect">
            <a:avLst/>
          </a:prstGeom>
          <a:gradFill>
            <a:gsLst>
              <a:gs pos="0">
                <a:schemeClr val="accent3">
                  <a:lumMod val="60000"/>
                  <a:lumOff val="40000"/>
                </a:schemeClr>
              </a:gs>
              <a:gs pos="30000">
                <a:schemeClr val="bg1">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1" name="Rechteck 100">
            <a:extLst>
              <a:ext uri="{FF2B5EF4-FFF2-40B4-BE49-F238E27FC236}">
                <a16:creationId xmlns:a16="http://schemas.microsoft.com/office/drawing/2014/main" id="{D61F0CA2-5760-B4CE-DAD9-AD1CCC5F7882}"/>
              </a:ext>
            </a:extLst>
          </p:cNvPr>
          <p:cNvSpPr/>
          <p:nvPr/>
        </p:nvSpPr>
        <p:spPr>
          <a:xfrm>
            <a:off x="6248001" y="5023310"/>
            <a:ext cx="594822" cy="105820"/>
          </a:xfrm>
          <a:prstGeom prst="rect">
            <a:avLst/>
          </a:prstGeom>
          <a:pattFill prst="wdUpDiag">
            <a:fgClr>
              <a:schemeClr val="accent2">
                <a:lumMod val="5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2" name="Rechteck 101">
            <a:extLst>
              <a:ext uri="{FF2B5EF4-FFF2-40B4-BE49-F238E27FC236}">
                <a16:creationId xmlns:a16="http://schemas.microsoft.com/office/drawing/2014/main" id="{CCEE7695-1C8D-E676-218F-B327D6851A80}"/>
              </a:ext>
            </a:extLst>
          </p:cNvPr>
          <p:cNvSpPr/>
          <p:nvPr/>
        </p:nvSpPr>
        <p:spPr>
          <a:xfrm>
            <a:off x="6248001" y="5201093"/>
            <a:ext cx="594822" cy="10582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3" name="Rechteck 102">
            <a:extLst>
              <a:ext uri="{FF2B5EF4-FFF2-40B4-BE49-F238E27FC236}">
                <a16:creationId xmlns:a16="http://schemas.microsoft.com/office/drawing/2014/main" id="{359B1626-F5D8-3A6C-2D22-CFAC3C5B1349}"/>
              </a:ext>
            </a:extLst>
          </p:cNvPr>
          <p:cNvSpPr/>
          <p:nvPr/>
        </p:nvSpPr>
        <p:spPr>
          <a:xfrm>
            <a:off x="6248001" y="5378876"/>
            <a:ext cx="594822" cy="105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4" name="Rechteck 103">
            <a:extLst>
              <a:ext uri="{FF2B5EF4-FFF2-40B4-BE49-F238E27FC236}">
                <a16:creationId xmlns:a16="http://schemas.microsoft.com/office/drawing/2014/main" id="{11E1E499-ADE1-0A9F-D86B-40F50CC1F785}"/>
              </a:ext>
            </a:extLst>
          </p:cNvPr>
          <p:cNvSpPr/>
          <p:nvPr/>
        </p:nvSpPr>
        <p:spPr>
          <a:xfrm>
            <a:off x="6248001" y="5556663"/>
            <a:ext cx="594822" cy="10582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7" name="Textfeld 106">
            <a:extLst>
              <a:ext uri="{FF2B5EF4-FFF2-40B4-BE49-F238E27FC236}">
                <a16:creationId xmlns:a16="http://schemas.microsoft.com/office/drawing/2014/main" id="{908D3CBD-7BF2-3AC1-39AA-EE8B0014677A}"/>
              </a:ext>
            </a:extLst>
          </p:cNvPr>
          <p:cNvSpPr txBox="1"/>
          <p:nvPr/>
        </p:nvSpPr>
        <p:spPr>
          <a:xfrm>
            <a:off x="10598264" y="2252133"/>
            <a:ext cx="1296752" cy="646331"/>
          </a:xfrm>
          <a:prstGeom prst="rect">
            <a:avLst/>
          </a:prstGeom>
          <a:noFill/>
        </p:spPr>
        <p:txBody>
          <a:bodyPr wrap="square" rtlCol="0">
            <a:spAutoFit/>
          </a:bodyPr>
          <a:lstStyle/>
          <a:p>
            <a:r>
              <a:rPr lang="de-AT" dirty="0">
                <a:solidFill>
                  <a:schemeClr val="accent3">
                    <a:lumMod val="60000"/>
                    <a:lumOff val="40000"/>
                  </a:schemeClr>
                </a:solidFill>
              </a:rPr>
              <a:t>Thermische Hülle</a:t>
            </a:r>
          </a:p>
        </p:txBody>
      </p:sp>
      <p:sp>
        <p:nvSpPr>
          <p:cNvPr id="6" name="Rechteck 5">
            <a:extLst>
              <a:ext uri="{FF2B5EF4-FFF2-40B4-BE49-F238E27FC236}">
                <a16:creationId xmlns:a16="http://schemas.microsoft.com/office/drawing/2014/main" id="{97DB2295-3F20-54C0-438D-0C489409457C}"/>
              </a:ext>
            </a:extLst>
          </p:cNvPr>
          <p:cNvSpPr/>
          <p:nvPr/>
        </p:nvSpPr>
        <p:spPr>
          <a:xfrm rot="9326406">
            <a:off x="8330572" y="2641855"/>
            <a:ext cx="1241270" cy="201579"/>
          </a:xfrm>
          <a:prstGeom prst="rect">
            <a:avLst/>
          </a:prstGeom>
          <a:gradFill>
            <a:gsLst>
              <a:gs pos="0">
                <a:schemeClr val="accent3">
                  <a:lumMod val="60000"/>
                  <a:lumOff val="40000"/>
                </a:schemeClr>
              </a:gs>
              <a:gs pos="22000">
                <a:schemeClr val="accent2">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6" name="Freihandform: Form 105">
            <a:extLst>
              <a:ext uri="{FF2B5EF4-FFF2-40B4-BE49-F238E27FC236}">
                <a16:creationId xmlns:a16="http://schemas.microsoft.com/office/drawing/2014/main" id="{1F91AB42-FC61-E4E1-0679-953046F1FC43}"/>
              </a:ext>
            </a:extLst>
          </p:cNvPr>
          <p:cNvSpPr/>
          <p:nvPr/>
        </p:nvSpPr>
        <p:spPr>
          <a:xfrm>
            <a:off x="8331206" y="2232887"/>
            <a:ext cx="2815285" cy="3588691"/>
          </a:xfrm>
          <a:custGeom>
            <a:avLst/>
            <a:gdLst>
              <a:gd name="csX0" fmla="*/ 1157852 w 2815285"/>
              <a:gd name="csY0" fmla="*/ 35861 h 3588691"/>
              <a:gd name="csX1" fmla="*/ 1114720 w 2815285"/>
              <a:gd name="csY1" fmla="*/ 44488 h 3588691"/>
              <a:gd name="csX2" fmla="*/ 1054335 w 2815285"/>
              <a:gd name="csY2" fmla="*/ 87620 h 3588691"/>
              <a:gd name="csX3" fmla="*/ 1002576 w 2815285"/>
              <a:gd name="csY3" fmla="*/ 208389 h 3588691"/>
              <a:gd name="csX4" fmla="*/ 1011203 w 2815285"/>
              <a:gd name="csY4" fmla="*/ 424050 h 3588691"/>
              <a:gd name="csX5" fmla="*/ 1019829 w 2815285"/>
              <a:gd name="csY5" fmla="*/ 493061 h 3588691"/>
              <a:gd name="csX6" fmla="*/ 993950 w 2815285"/>
              <a:gd name="csY6" fmla="*/ 734601 h 3588691"/>
              <a:gd name="csX7" fmla="*/ 933565 w 2815285"/>
              <a:gd name="csY7" fmla="*/ 820865 h 3588691"/>
              <a:gd name="csX8" fmla="*/ 855927 w 2815285"/>
              <a:gd name="csY8" fmla="*/ 838118 h 3588691"/>
              <a:gd name="csX9" fmla="*/ 131308 w 2815285"/>
              <a:gd name="csY9" fmla="*/ 846744 h 3588691"/>
              <a:gd name="csX10" fmla="*/ 114055 w 2815285"/>
              <a:gd name="csY10" fmla="*/ 889876 h 3588691"/>
              <a:gd name="csX11" fmla="*/ 96803 w 2815285"/>
              <a:gd name="csY11" fmla="*/ 958888 h 3588691"/>
              <a:gd name="csX12" fmla="*/ 27791 w 2815285"/>
              <a:gd name="csY12" fmla="*/ 1140042 h 3588691"/>
              <a:gd name="csX13" fmla="*/ 1912 w 2815285"/>
              <a:gd name="csY13" fmla="*/ 1269439 h 3588691"/>
              <a:gd name="csX14" fmla="*/ 10538 w 2815285"/>
              <a:gd name="csY14" fmla="*/ 1804276 h 3588691"/>
              <a:gd name="csX15" fmla="*/ 79550 w 2815285"/>
              <a:gd name="csY15" fmla="*/ 2097574 h 3588691"/>
              <a:gd name="csX16" fmla="*/ 174440 w 2815285"/>
              <a:gd name="csY16" fmla="*/ 2287356 h 3588691"/>
              <a:gd name="csX17" fmla="*/ 234825 w 2815285"/>
              <a:gd name="csY17" fmla="*/ 2278729 h 3588691"/>
              <a:gd name="csX18" fmla="*/ 277957 w 2815285"/>
              <a:gd name="csY18" fmla="*/ 2270103 h 3588691"/>
              <a:gd name="csX19" fmla="*/ 329716 w 2815285"/>
              <a:gd name="csY19" fmla="*/ 2261476 h 3588691"/>
              <a:gd name="csX20" fmla="*/ 528123 w 2815285"/>
              <a:gd name="csY20" fmla="*/ 2270103 h 3588691"/>
              <a:gd name="csX21" fmla="*/ 554003 w 2815285"/>
              <a:gd name="csY21" fmla="*/ 2278729 h 3588691"/>
              <a:gd name="csX22" fmla="*/ 588508 w 2815285"/>
              <a:gd name="csY22" fmla="*/ 2356367 h 3588691"/>
              <a:gd name="csX23" fmla="*/ 579882 w 2815285"/>
              <a:gd name="csY23" fmla="*/ 2684171 h 3588691"/>
              <a:gd name="csX24" fmla="*/ 545376 w 2815285"/>
              <a:gd name="csY24" fmla="*/ 2951589 h 3588691"/>
              <a:gd name="csX25" fmla="*/ 562629 w 2815285"/>
              <a:gd name="csY25" fmla="*/ 3305272 h 3588691"/>
              <a:gd name="csX26" fmla="*/ 571255 w 2815285"/>
              <a:gd name="csY26" fmla="*/ 3339778 h 3588691"/>
              <a:gd name="csX27" fmla="*/ 579882 w 2815285"/>
              <a:gd name="csY27" fmla="*/ 3469174 h 3588691"/>
              <a:gd name="csX28" fmla="*/ 726531 w 2815285"/>
              <a:gd name="csY28" fmla="*/ 3538186 h 3588691"/>
              <a:gd name="csX29" fmla="*/ 924938 w 2815285"/>
              <a:gd name="csY29" fmla="*/ 3546812 h 3588691"/>
              <a:gd name="csX30" fmla="*/ 1192357 w 2815285"/>
              <a:gd name="csY30" fmla="*/ 3555439 h 3588691"/>
              <a:gd name="csX31" fmla="*/ 1433897 w 2815285"/>
              <a:gd name="csY31" fmla="*/ 3564065 h 3588691"/>
              <a:gd name="csX32" fmla="*/ 1873844 w 2815285"/>
              <a:gd name="csY32" fmla="*/ 3520933 h 3588691"/>
              <a:gd name="csX33" fmla="*/ 1891097 w 2815285"/>
              <a:gd name="csY33" fmla="*/ 2666918 h 3588691"/>
              <a:gd name="csX34" fmla="*/ 1899723 w 2815285"/>
              <a:gd name="csY34" fmla="*/ 2641039 h 3588691"/>
              <a:gd name="csX35" fmla="*/ 2003240 w 2815285"/>
              <a:gd name="csY35" fmla="*/ 2632412 h 3588691"/>
              <a:gd name="csX36" fmla="*/ 2641595 w 2815285"/>
              <a:gd name="csY36" fmla="*/ 2623786 h 3588691"/>
              <a:gd name="csX37" fmla="*/ 2788244 w 2815285"/>
              <a:gd name="csY37" fmla="*/ 2615159 h 3588691"/>
              <a:gd name="csX38" fmla="*/ 2814123 w 2815285"/>
              <a:gd name="csY38" fmla="*/ 2606533 h 3588691"/>
              <a:gd name="csX39" fmla="*/ 2788244 w 2815285"/>
              <a:gd name="csY39" fmla="*/ 2347740 h 3588691"/>
              <a:gd name="csX40" fmla="*/ 2753738 w 2815285"/>
              <a:gd name="csY40" fmla="*/ 2088948 h 3588691"/>
              <a:gd name="csX41" fmla="*/ 2719233 w 2815285"/>
              <a:gd name="csY41" fmla="*/ 1200427 h 3588691"/>
              <a:gd name="csX42" fmla="*/ 2693353 w 2815285"/>
              <a:gd name="csY42" fmla="*/ 1002020 h 3588691"/>
              <a:gd name="csX43" fmla="*/ 2684727 w 2815285"/>
              <a:gd name="csY43" fmla="*/ 863997 h 3588691"/>
              <a:gd name="csX44" fmla="*/ 2581210 w 2815285"/>
              <a:gd name="csY44" fmla="*/ 855371 h 3588691"/>
              <a:gd name="csX45" fmla="*/ 2365550 w 2815285"/>
              <a:gd name="csY45" fmla="*/ 881250 h 3588691"/>
              <a:gd name="csX46" fmla="*/ 2270659 w 2815285"/>
              <a:gd name="csY46" fmla="*/ 889876 h 3588691"/>
              <a:gd name="csX47" fmla="*/ 2184395 w 2815285"/>
              <a:gd name="csY47" fmla="*/ 881250 h 3588691"/>
              <a:gd name="csX48" fmla="*/ 2175769 w 2815285"/>
              <a:gd name="csY48" fmla="*/ 820865 h 3588691"/>
              <a:gd name="csX49" fmla="*/ 2141263 w 2815285"/>
              <a:gd name="csY49" fmla="*/ 613831 h 3588691"/>
              <a:gd name="csX50" fmla="*/ 2132637 w 2815285"/>
              <a:gd name="csY50" fmla="*/ 458556 h 3588691"/>
              <a:gd name="csX51" fmla="*/ 1192357 w 2815285"/>
              <a:gd name="csY51" fmla="*/ 53114 h 3588691"/>
              <a:gd name="csX52" fmla="*/ 1157852 w 2815285"/>
              <a:gd name="csY52" fmla="*/ 35861 h 35886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Lst>
            <a:rect l="l" t="t" r="r" b="b"/>
            <a:pathLst>
              <a:path w="2815285" h="3588691">
                <a:moveTo>
                  <a:pt x="1157852" y="35861"/>
                </a:moveTo>
                <a:cubicBezTo>
                  <a:pt x="1144913" y="34423"/>
                  <a:pt x="1127834" y="37931"/>
                  <a:pt x="1114720" y="44488"/>
                </a:cubicBezTo>
                <a:cubicBezTo>
                  <a:pt x="1092596" y="55550"/>
                  <a:pt x="1071050" y="69386"/>
                  <a:pt x="1054335" y="87620"/>
                </a:cubicBezTo>
                <a:cubicBezTo>
                  <a:pt x="1021725" y="123194"/>
                  <a:pt x="1015108" y="164529"/>
                  <a:pt x="1002576" y="208389"/>
                </a:cubicBezTo>
                <a:cubicBezTo>
                  <a:pt x="1005452" y="280276"/>
                  <a:pt x="1006851" y="352237"/>
                  <a:pt x="1011203" y="424050"/>
                </a:cubicBezTo>
                <a:cubicBezTo>
                  <a:pt x="1012605" y="447190"/>
                  <a:pt x="1021115" y="469914"/>
                  <a:pt x="1019829" y="493061"/>
                </a:cubicBezTo>
                <a:cubicBezTo>
                  <a:pt x="1015337" y="573910"/>
                  <a:pt x="1008022" y="654859"/>
                  <a:pt x="993950" y="734601"/>
                </a:cubicBezTo>
                <a:cubicBezTo>
                  <a:pt x="990057" y="756659"/>
                  <a:pt x="957033" y="810033"/>
                  <a:pt x="933565" y="820865"/>
                </a:cubicBezTo>
                <a:cubicBezTo>
                  <a:pt x="909494" y="831975"/>
                  <a:pt x="881806" y="832367"/>
                  <a:pt x="855927" y="838118"/>
                </a:cubicBezTo>
                <a:cubicBezTo>
                  <a:pt x="754596" y="836169"/>
                  <a:pt x="285724" y="814952"/>
                  <a:pt x="131308" y="846744"/>
                </a:cubicBezTo>
                <a:cubicBezTo>
                  <a:pt x="116141" y="849867"/>
                  <a:pt x="118609" y="875076"/>
                  <a:pt x="114055" y="889876"/>
                </a:cubicBezTo>
                <a:cubicBezTo>
                  <a:pt x="107082" y="912539"/>
                  <a:pt x="103616" y="936176"/>
                  <a:pt x="96803" y="958888"/>
                </a:cubicBezTo>
                <a:cubicBezTo>
                  <a:pt x="66716" y="1059179"/>
                  <a:pt x="66656" y="1052598"/>
                  <a:pt x="27791" y="1140042"/>
                </a:cubicBezTo>
                <a:cubicBezTo>
                  <a:pt x="19165" y="1183174"/>
                  <a:pt x="3054" y="1225467"/>
                  <a:pt x="1912" y="1269439"/>
                </a:cubicBezTo>
                <a:cubicBezTo>
                  <a:pt x="-2718" y="1447681"/>
                  <a:pt x="1406" y="1626208"/>
                  <a:pt x="10538" y="1804276"/>
                </a:cubicBezTo>
                <a:cubicBezTo>
                  <a:pt x="13834" y="1868544"/>
                  <a:pt x="61168" y="2042428"/>
                  <a:pt x="79550" y="2097574"/>
                </a:cubicBezTo>
                <a:cubicBezTo>
                  <a:pt x="131628" y="2253807"/>
                  <a:pt x="104827" y="2217741"/>
                  <a:pt x="174440" y="2287356"/>
                </a:cubicBezTo>
                <a:cubicBezTo>
                  <a:pt x="194568" y="2284480"/>
                  <a:pt x="214769" y="2282072"/>
                  <a:pt x="234825" y="2278729"/>
                </a:cubicBezTo>
                <a:cubicBezTo>
                  <a:pt x="249288" y="2276319"/>
                  <a:pt x="263531" y="2272726"/>
                  <a:pt x="277957" y="2270103"/>
                </a:cubicBezTo>
                <a:cubicBezTo>
                  <a:pt x="295166" y="2266974"/>
                  <a:pt x="312463" y="2264352"/>
                  <a:pt x="329716" y="2261476"/>
                </a:cubicBezTo>
                <a:cubicBezTo>
                  <a:pt x="395852" y="2264352"/>
                  <a:pt x="462120" y="2265026"/>
                  <a:pt x="528123" y="2270103"/>
                </a:cubicBezTo>
                <a:cubicBezTo>
                  <a:pt x="537189" y="2270800"/>
                  <a:pt x="548788" y="2271280"/>
                  <a:pt x="554003" y="2278729"/>
                </a:cubicBezTo>
                <a:cubicBezTo>
                  <a:pt x="570244" y="2301930"/>
                  <a:pt x="577006" y="2330488"/>
                  <a:pt x="588508" y="2356367"/>
                </a:cubicBezTo>
                <a:cubicBezTo>
                  <a:pt x="585633" y="2465635"/>
                  <a:pt x="585627" y="2575016"/>
                  <a:pt x="579882" y="2684171"/>
                </a:cubicBezTo>
                <a:cubicBezTo>
                  <a:pt x="574251" y="2791156"/>
                  <a:pt x="561928" y="2852280"/>
                  <a:pt x="545376" y="2951589"/>
                </a:cubicBezTo>
                <a:cubicBezTo>
                  <a:pt x="551127" y="3069483"/>
                  <a:pt x="554778" y="3187499"/>
                  <a:pt x="562629" y="3305272"/>
                </a:cubicBezTo>
                <a:cubicBezTo>
                  <a:pt x="563418" y="3317102"/>
                  <a:pt x="570014" y="3327987"/>
                  <a:pt x="571255" y="3339778"/>
                </a:cubicBezTo>
                <a:cubicBezTo>
                  <a:pt x="575780" y="3382768"/>
                  <a:pt x="565602" y="3428373"/>
                  <a:pt x="579882" y="3469174"/>
                </a:cubicBezTo>
                <a:cubicBezTo>
                  <a:pt x="595464" y="3513693"/>
                  <a:pt x="699554" y="3535012"/>
                  <a:pt x="726531" y="3538186"/>
                </a:cubicBezTo>
                <a:cubicBezTo>
                  <a:pt x="792276" y="3545921"/>
                  <a:pt x="858785" y="3544362"/>
                  <a:pt x="924938" y="3546812"/>
                </a:cubicBezTo>
                <a:lnTo>
                  <a:pt x="1192357" y="3555439"/>
                </a:lnTo>
                <a:lnTo>
                  <a:pt x="1433897" y="3564065"/>
                </a:lnTo>
                <a:cubicBezTo>
                  <a:pt x="1580546" y="3549688"/>
                  <a:pt x="1806938" y="3652220"/>
                  <a:pt x="1873844" y="3520933"/>
                </a:cubicBezTo>
                <a:cubicBezTo>
                  <a:pt x="2003127" y="3267246"/>
                  <a:pt x="1882726" y="2951525"/>
                  <a:pt x="1891097" y="2666918"/>
                </a:cubicBezTo>
                <a:cubicBezTo>
                  <a:pt x="1891364" y="2657829"/>
                  <a:pt x="1891032" y="2643713"/>
                  <a:pt x="1899723" y="2641039"/>
                </a:cubicBezTo>
                <a:cubicBezTo>
                  <a:pt x="1932817" y="2630856"/>
                  <a:pt x="1968624" y="2633217"/>
                  <a:pt x="2003240" y="2632412"/>
                </a:cubicBezTo>
                <a:lnTo>
                  <a:pt x="2641595" y="2623786"/>
                </a:lnTo>
                <a:cubicBezTo>
                  <a:pt x="2690478" y="2620910"/>
                  <a:pt x="2739520" y="2620032"/>
                  <a:pt x="2788244" y="2615159"/>
                </a:cubicBezTo>
                <a:cubicBezTo>
                  <a:pt x="2797292" y="2614254"/>
                  <a:pt x="2813061" y="2615564"/>
                  <a:pt x="2814123" y="2606533"/>
                </a:cubicBezTo>
                <a:cubicBezTo>
                  <a:pt x="2820896" y="2548964"/>
                  <a:pt x="2796194" y="2407367"/>
                  <a:pt x="2788244" y="2347740"/>
                </a:cubicBezTo>
                <a:cubicBezTo>
                  <a:pt x="2743650" y="2013289"/>
                  <a:pt x="2797104" y="2392507"/>
                  <a:pt x="2753738" y="2088948"/>
                </a:cubicBezTo>
                <a:cubicBezTo>
                  <a:pt x="2741435" y="1547599"/>
                  <a:pt x="2768917" y="1535791"/>
                  <a:pt x="2719233" y="1200427"/>
                </a:cubicBezTo>
                <a:cubicBezTo>
                  <a:pt x="2699074" y="1064356"/>
                  <a:pt x="2703045" y="1132861"/>
                  <a:pt x="2693353" y="1002020"/>
                </a:cubicBezTo>
                <a:cubicBezTo>
                  <a:pt x="2689948" y="956049"/>
                  <a:pt x="2712729" y="900615"/>
                  <a:pt x="2684727" y="863997"/>
                </a:cubicBezTo>
                <a:cubicBezTo>
                  <a:pt x="2663694" y="836492"/>
                  <a:pt x="2615716" y="858246"/>
                  <a:pt x="2581210" y="855371"/>
                </a:cubicBezTo>
                <a:cubicBezTo>
                  <a:pt x="2352413" y="876170"/>
                  <a:pt x="2637360" y="848633"/>
                  <a:pt x="2365550" y="881250"/>
                </a:cubicBezTo>
                <a:cubicBezTo>
                  <a:pt x="2334015" y="885034"/>
                  <a:pt x="2302289" y="887001"/>
                  <a:pt x="2270659" y="889876"/>
                </a:cubicBezTo>
                <a:cubicBezTo>
                  <a:pt x="2241904" y="887001"/>
                  <a:pt x="2207766" y="898247"/>
                  <a:pt x="2184395" y="881250"/>
                </a:cubicBezTo>
                <a:cubicBezTo>
                  <a:pt x="2167951" y="869291"/>
                  <a:pt x="2179007" y="840938"/>
                  <a:pt x="2175769" y="820865"/>
                </a:cubicBezTo>
                <a:cubicBezTo>
                  <a:pt x="2164629" y="751794"/>
                  <a:pt x="2141263" y="613831"/>
                  <a:pt x="2141263" y="613831"/>
                </a:cubicBezTo>
                <a:cubicBezTo>
                  <a:pt x="2138388" y="562073"/>
                  <a:pt x="2139067" y="509994"/>
                  <a:pt x="2132637" y="458556"/>
                </a:cubicBezTo>
                <a:cubicBezTo>
                  <a:pt x="2046812" y="-228051"/>
                  <a:pt x="2165076" y="62650"/>
                  <a:pt x="1192357" y="53114"/>
                </a:cubicBezTo>
                <a:cubicBezTo>
                  <a:pt x="1153907" y="43502"/>
                  <a:pt x="1170791" y="37299"/>
                  <a:pt x="1157852" y="35861"/>
                </a:cubicBezTo>
                <a:close/>
              </a:path>
            </a:pathLst>
          </a:custGeom>
          <a:noFill/>
          <a:ln w="0">
            <a:solidFill>
              <a:schemeClr val="accent3">
                <a:lumMod val="60000"/>
                <a:lumOff val="40000"/>
              </a:schemeClr>
            </a:solidFill>
          </a:ln>
          <a:effectLst>
            <a:glow rad="50800">
              <a:schemeClr val="accent3">
                <a:satMod val="175000"/>
                <a:alpha val="25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dirty="0"/>
          </a:p>
        </p:txBody>
      </p:sp>
    </p:spTree>
    <p:extLst>
      <p:ext uri="{BB962C8B-B14F-4D97-AF65-F5344CB8AC3E}">
        <p14:creationId xmlns:p14="http://schemas.microsoft.com/office/powerpoint/2010/main" val="2289280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BB7E828-667F-677A-0DC2-5B811829B074}"/>
            </a:ext>
          </a:extLst>
        </p:cNvPr>
        <p:cNvGrpSpPr/>
        <p:nvPr/>
      </p:nvGrpSpPr>
      <p:grpSpPr>
        <a:xfrm>
          <a:off x="0" y="0"/>
          <a:ext cx="0" cy="0"/>
          <a:chOff x="0" y="0"/>
          <a:chExt cx="0" cy="0"/>
        </a:xfrm>
      </p:grpSpPr>
      <p:sp>
        <p:nvSpPr>
          <p:cNvPr id="23" name="Rechteck 22">
            <a:extLst>
              <a:ext uri="{FF2B5EF4-FFF2-40B4-BE49-F238E27FC236}">
                <a16:creationId xmlns:a16="http://schemas.microsoft.com/office/drawing/2014/main" id="{C9D9F445-DCDD-7ECC-D0F8-C0B6A473EBF9}"/>
              </a:ext>
            </a:extLst>
          </p:cNvPr>
          <p:cNvSpPr/>
          <p:nvPr/>
        </p:nvSpPr>
        <p:spPr>
          <a:xfrm>
            <a:off x="8220647" y="4738360"/>
            <a:ext cx="3971354" cy="1085228"/>
          </a:xfrm>
          <a:prstGeom prst="rect">
            <a:avLst/>
          </a:prstGeom>
          <a:gradFill flip="none" rotWithShape="1">
            <a:gsLst>
              <a:gs pos="0">
                <a:srgbClr val="221600"/>
              </a:gs>
              <a:gs pos="100000">
                <a:schemeClr val="accent4">
                  <a:lumMod val="5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3" name="Rechteck 2">
            <a:extLst>
              <a:ext uri="{FF2B5EF4-FFF2-40B4-BE49-F238E27FC236}">
                <a16:creationId xmlns:a16="http://schemas.microsoft.com/office/drawing/2014/main" id="{932C5858-E945-B3DA-A335-B68726986620}"/>
              </a:ext>
            </a:extLst>
          </p:cNvPr>
          <p:cNvSpPr/>
          <p:nvPr/>
        </p:nvSpPr>
        <p:spPr>
          <a:xfrm>
            <a:off x="5080000" y="2120366"/>
            <a:ext cx="3140646" cy="36180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Rechteck 7">
            <a:extLst>
              <a:ext uri="{FF2B5EF4-FFF2-40B4-BE49-F238E27FC236}">
                <a16:creationId xmlns:a16="http://schemas.microsoft.com/office/drawing/2014/main" id="{87BE9DFC-F9D4-918A-1527-AFEABF116BCE}"/>
              </a:ext>
            </a:extLst>
          </p:cNvPr>
          <p:cNvSpPr/>
          <p:nvPr/>
        </p:nvSpPr>
        <p:spPr>
          <a:xfrm rot="5400000">
            <a:off x="9137307" y="2768474"/>
            <a:ext cx="792470" cy="132518"/>
          </a:xfrm>
          <a:prstGeom prst="rect">
            <a:avLst/>
          </a:prstGeom>
          <a:gradFill>
            <a:gsLst>
              <a:gs pos="0">
                <a:schemeClr val="accent3">
                  <a:lumMod val="60000"/>
                  <a:lumOff val="40000"/>
                </a:schemeClr>
              </a:gs>
              <a:gs pos="30000">
                <a:schemeClr val="bg1">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2" name="Titel 1">
            <a:extLst>
              <a:ext uri="{FF2B5EF4-FFF2-40B4-BE49-F238E27FC236}">
                <a16:creationId xmlns:a16="http://schemas.microsoft.com/office/drawing/2014/main" id="{2F18BC70-3018-C93B-34C9-06F97B6F6A48}"/>
              </a:ext>
            </a:extLst>
          </p:cNvPr>
          <p:cNvSpPr>
            <a:spLocks noGrp="1"/>
          </p:cNvSpPr>
          <p:nvPr>
            <p:ph type="title"/>
          </p:nvPr>
        </p:nvSpPr>
        <p:spPr>
          <a:xfrm>
            <a:off x="594360" y="1406526"/>
            <a:ext cx="5288855" cy="829455"/>
          </a:xfrm>
        </p:spPr>
        <p:txBody>
          <a:bodyPr/>
          <a:lstStyle/>
          <a:p>
            <a:r>
              <a:rPr lang="de-AT" noProof="1"/>
              <a:t>Bauteil-Typen  – </a:t>
            </a:r>
            <a:r>
              <a:rPr lang="de-AT" i="1" noProof="1"/>
              <a:t>Component Types</a:t>
            </a:r>
          </a:p>
        </p:txBody>
      </p:sp>
      <p:sp>
        <p:nvSpPr>
          <p:cNvPr id="4" name="Fußzeilenplatzhalter 3">
            <a:extLst>
              <a:ext uri="{FF2B5EF4-FFF2-40B4-BE49-F238E27FC236}">
                <a16:creationId xmlns:a16="http://schemas.microsoft.com/office/drawing/2014/main" id="{145AA203-141C-A21C-1301-4958B24DA5B7}"/>
              </a:ext>
            </a:extLst>
          </p:cNvPr>
          <p:cNvSpPr>
            <a:spLocks noGrp="1"/>
          </p:cNvSpPr>
          <p:nvPr>
            <p:ph type="ftr" sz="quarter" idx="11"/>
          </p:nvPr>
        </p:nvSpPr>
        <p:spPr/>
        <p:txBody>
          <a:bodyPr/>
          <a:lstStyle/>
          <a:p>
            <a:r>
              <a:rPr lang="de-AT" noProof="1"/>
              <a:t>Klimaaktiv Nachweistool Plus-Energie-Quartiere</a:t>
            </a:r>
          </a:p>
        </p:txBody>
      </p:sp>
      <p:sp>
        <p:nvSpPr>
          <p:cNvPr id="5" name="Foliennummernplatzhalter 4">
            <a:extLst>
              <a:ext uri="{FF2B5EF4-FFF2-40B4-BE49-F238E27FC236}">
                <a16:creationId xmlns:a16="http://schemas.microsoft.com/office/drawing/2014/main" id="{E9123164-E759-409B-DB50-22049E1820E9}"/>
              </a:ext>
            </a:extLst>
          </p:cNvPr>
          <p:cNvSpPr>
            <a:spLocks noGrp="1"/>
          </p:cNvSpPr>
          <p:nvPr>
            <p:ph type="sldNum" sz="quarter" idx="12"/>
          </p:nvPr>
        </p:nvSpPr>
        <p:spPr/>
        <p:txBody>
          <a:bodyPr/>
          <a:lstStyle/>
          <a:p>
            <a:fld id="{1206269C-C24E-4E80-9A4B-E7E19BB59A67}" type="slidenum">
              <a:rPr lang="de-AT" noProof="1" smtClean="0"/>
              <a:pPr/>
              <a:t>15</a:t>
            </a:fld>
            <a:endParaRPr lang="de-AT" noProof="1"/>
          </a:p>
        </p:txBody>
      </p:sp>
      <p:sp>
        <p:nvSpPr>
          <p:cNvPr id="24" name="Rechteck 23">
            <a:extLst>
              <a:ext uri="{FF2B5EF4-FFF2-40B4-BE49-F238E27FC236}">
                <a16:creationId xmlns:a16="http://schemas.microsoft.com/office/drawing/2014/main" id="{434913FB-9A73-BED0-FF03-1E0615F2B2F1}"/>
              </a:ext>
            </a:extLst>
          </p:cNvPr>
          <p:cNvSpPr/>
          <p:nvPr/>
        </p:nvSpPr>
        <p:spPr>
          <a:xfrm>
            <a:off x="141270" y="2200933"/>
            <a:ext cx="594822" cy="10582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26" name="Rechteck 25">
            <a:extLst>
              <a:ext uri="{FF2B5EF4-FFF2-40B4-BE49-F238E27FC236}">
                <a16:creationId xmlns:a16="http://schemas.microsoft.com/office/drawing/2014/main" id="{013CA7C3-A5AC-0BDA-49EC-B7742495DC3A}"/>
              </a:ext>
            </a:extLst>
          </p:cNvPr>
          <p:cNvSpPr/>
          <p:nvPr/>
        </p:nvSpPr>
        <p:spPr>
          <a:xfrm>
            <a:off x="141270" y="2378716"/>
            <a:ext cx="594822" cy="10582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27" name="Rechteck 26">
            <a:extLst>
              <a:ext uri="{FF2B5EF4-FFF2-40B4-BE49-F238E27FC236}">
                <a16:creationId xmlns:a16="http://schemas.microsoft.com/office/drawing/2014/main" id="{EA40969C-0B2A-C359-2342-1A5094CE1C0B}"/>
              </a:ext>
            </a:extLst>
          </p:cNvPr>
          <p:cNvSpPr/>
          <p:nvPr/>
        </p:nvSpPr>
        <p:spPr>
          <a:xfrm rot="10800000">
            <a:off x="141270" y="2556499"/>
            <a:ext cx="594822" cy="105820"/>
          </a:xfrm>
          <a:prstGeom prst="rect">
            <a:avLst/>
          </a:prstGeom>
          <a:gradFill>
            <a:gsLst>
              <a:gs pos="0">
                <a:schemeClr val="accent3">
                  <a:lumMod val="60000"/>
                  <a:lumOff val="40000"/>
                </a:schemeClr>
              </a:gs>
              <a:gs pos="22000">
                <a:schemeClr val="accent2">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28" name="Rechteck 27">
            <a:extLst>
              <a:ext uri="{FF2B5EF4-FFF2-40B4-BE49-F238E27FC236}">
                <a16:creationId xmlns:a16="http://schemas.microsoft.com/office/drawing/2014/main" id="{5435B0B2-A482-59A0-9679-B46A3669E9BC}"/>
              </a:ext>
            </a:extLst>
          </p:cNvPr>
          <p:cNvSpPr/>
          <p:nvPr/>
        </p:nvSpPr>
        <p:spPr>
          <a:xfrm>
            <a:off x="141270" y="2734282"/>
            <a:ext cx="594822" cy="105820"/>
          </a:xfrm>
          <a:prstGeom prst="rect">
            <a:avLst/>
          </a:prstGeom>
          <a:gradFill>
            <a:gsLst>
              <a:gs pos="0">
                <a:schemeClr val="accent3">
                  <a:lumMod val="60000"/>
                  <a:lumOff val="40000"/>
                </a:schemeClr>
              </a:gs>
              <a:gs pos="2500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32" name="Rechteck 31">
            <a:extLst>
              <a:ext uri="{FF2B5EF4-FFF2-40B4-BE49-F238E27FC236}">
                <a16:creationId xmlns:a16="http://schemas.microsoft.com/office/drawing/2014/main" id="{44D41CA8-2F66-77D6-C98E-0B50E5872F5F}"/>
              </a:ext>
            </a:extLst>
          </p:cNvPr>
          <p:cNvSpPr/>
          <p:nvPr/>
        </p:nvSpPr>
        <p:spPr>
          <a:xfrm>
            <a:off x="141270" y="2912065"/>
            <a:ext cx="594822" cy="10582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36" name="Rechteck 35">
            <a:extLst>
              <a:ext uri="{FF2B5EF4-FFF2-40B4-BE49-F238E27FC236}">
                <a16:creationId xmlns:a16="http://schemas.microsoft.com/office/drawing/2014/main" id="{98E569D2-EC4E-F62D-3B6B-7603BDE6217E}"/>
              </a:ext>
            </a:extLst>
          </p:cNvPr>
          <p:cNvSpPr/>
          <p:nvPr/>
        </p:nvSpPr>
        <p:spPr>
          <a:xfrm rot="10800000">
            <a:off x="141269" y="3089848"/>
            <a:ext cx="594822" cy="1058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38" name="Rechteck 37">
            <a:extLst>
              <a:ext uri="{FF2B5EF4-FFF2-40B4-BE49-F238E27FC236}">
                <a16:creationId xmlns:a16="http://schemas.microsoft.com/office/drawing/2014/main" id="{2A3BFBE3-1C24-DA75-45BB-3F7BC9FAA194}"/>
              </a:ext>
            </a:extLst>
          </p:cNvPr>
          <p:cNvSpPr/>
          <p:nvPr/>
        </p:nvSpPr>
        <p:spPr>
          <a:xfrm>
            <a:off x="141270" y="3267631"/>
            <a:ext cx="594822" cy="105820"/>
          </a:xfrm>
          <a:prstGeom prst="rect">
            <a:avLst/>
          </a:prstGeom>
          <a:gradFill>
            <a:gsLst>
              <a:gs pos="0">
                <a:schemeClr val="accent3">
                  <a:lumMod val="60000"/>
                  <a:lumOff val="40000"/>
                </a:schemeClr>
              </a:gs>
              <a:gs pos="22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3" name="Rechteck 42">
            <a:extLst>
              <a:ext uri="{FF2B5EF4-FFF2-40B4-BE49-F238E27FC236}">
                <a16:creationId xmlns:a16="http://schemas.microsoft.com/office/drawing/2014/main" id="{9B2AEAB1-AFF3-44BF-534A-63D3C6B61195}"/>
              </a:ext>
            </a:extLst>
          </p:cNvPr>
          <p:cNvSpPr/>
          <p:nvPr/>
        </p:nvSpPr>
        <p:spPr>
          <a:xfrm>
            <a:off x="141270" y="3445414"/>
            <a:ext cx="594822" cy="1058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4" name="Rechteck 43">
            <a:extLst>
              <a:ext uri="{FF2B5EF4-FFF2-40B4-BE49-F238E27FC236}">
                <a16:creationId xmlns:a16="http://schemas.microsoft.com/office/drawing/2014/main" id="{E5CAB3A4-28F4-846D-CDC6-7F5C8EB90C8D}"/>
              </a:ext>
            </a:extLst>
          </p:cNvPr>
          <p:cNvSpPr/>
          <p:nvPr/>
        </p:nvSpPr>
        <p:spPr>
          <a:xfrm rot="10800000">
            <a:off x="141270" y="4156546"/>
            <a:ext cx="594822" cy="105820"/>
          </a:xfrm>
          <a:prstGeom prst="rect">
            <a:avLst/>
          </a:prstGeom>
          <a:gradFill>
            <a:gsLst>
              <a:gs pos="0">
                <a:schemeClr val="accent3">
                  <a:lumMod val="60000"/>
                  <a:lumOff val="40000"/>
                </a:schemeClr>
              </a:gs>
              <a:gs pos="45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7" name="Rechteck 46">
            <a:extLst>
              <a:ext uri="{FF2B5EF4-FFF2-40B4-BE49-F238E27FC236}">
                <a16:creationId xmlns:a16="http://schemas.microsoft.com/office/drawing/2014/main" id="{9A7AAD35-3E7A-D4E3-0149-42697C22F712}"/>
              </a:ext>
            </a:extLst>
          </p:cNvPr>
          <p:cNvSpPr/>
          <p:nvPr/>
        </p:nvSpPr>
        <p:spPr>
          <a:xfrm>
            <a:off x="141270" y="3978763"/>
            <a:ext cx="594822" cy="1058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8" name="Rechteck 47">
            <a:extLst>
              <a:ext uri="{FF2B5EF4-FFF2-40B4-BE49-F238E27FC236}">
                <a16:creationId xmlns:a16="http://schemas.microsoft.com/office/drawing/2014/main" id="{A4450A62-290C-7E46-581B-EB02461DB5AC}"/>
              </a:ext>
            </a:extLst>
          </p:cNvPr>
          <p:cNvSpPr/>
          <p:nvPr/>
        </p:nvSpPr>
        <p:spPr>
          <a:xfrm>
            <a:off x="141270" y="3800980"/>
            <a:ext cx="594822" cy="10582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50" name="Rechteck 49">
            <a:extLst>
              <a:ext uri="{FF2B5EF4-FFF2-40B4-BE49-F238E27FC236}">
                <a16:creationId xmlns:a16="http://schemas.microsoft.com/office/drawing/2014/main" id="{258988E7-70BB-FB8B-D8EA-62B20F3F1E6D}"/>
              </a:ext>
            </a:extLst>
          </p:cNvPr>
          <p:cNvSpPr/>
          <p:nvPr/>
        </p:nvSpPr>
        <p:spPr>
          <a:xfrm>
            <a:off x="141270" y="3623197"/>
            <a:ext cx="594822" cy="105820"/>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52" name="Rechteck 51">
            <a:extLst>
              <a:ext uri="{FF2B5EF4-FFF2-40B4-BE49-F238E27FC236}">
                <a16:creationId xmlns:a16="http://schemas.microsoft.com/office/drawing/2014/main" id="{7B469B3A-6911-07A9-5AE6-B4A075BBADF9}"/>
              </a:ext>
            </a:extLst>
          </p:cNvPr>
          <p:cNvSpPr/>
          <p:nvPr/>
        </p:nvSpPr>
        <p:spPr>
          <a:xfrm>
            <a:off x="141270" y="4334329"/>
            <a:ext cx="594822" cy="1058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58" name="Rechteck 57">
            <a:extLst>
              <a:ext uri="{FF2B5EF4-FFF2-40B4-BE49-F238E27FC236}">
                <a16:creationId xmlns:a16="http://schemas.microsoft.com/office/drawing/2014/main" id="{3BE9B062-66E0-9A8F-3A40-67C57BB0FE70}"/>
              </a:ext>
            </a:extLst>
          </p:cNvPr>
          <p:cNvSpPr/>
          <p:nvPr/>
        </p:nvSpPr>
        <p:spPr>
          <a:xfrm>
            <a:off x="141270" y="4512112"/>
            <a:ext cx="594822" cy="105820"/>
          </a:xfrm>
          <a:prstGeom prst="rect">
            <a:avLst/>
          </a:prstGeom>
          <a:gradFill>
            <a:gsLst>
              <a:gs pos="0">
                <a:schemeClr val="accent3">
                  <a:lumMod val="60000"/>
                  <a:lumOff val="40000"/>
                </a:schemeClr>
              </a:gs>
              <a:gs pos="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2" name="Rechteck 61">
            <a:extLst>
              <a:ext uri="{FF2B5EF4-FFF2-40B4-BE49-F238E27FC236}">
                <a16:creationId xmlns:a16="http://schemas.microsoft.com/office/drawing/2014/main" id="{CA0BC0B1-839E-7E46-94B2-E05306783B8A}"/>
              </a:ext>
            </a:extLst>
          </p:cNvPr>
          <p:cNvSpPr/>
          <p:nvPr/>
        </p:nvSpPr>
        <p:spPr>
          <a:xfrm>
            <a:off x="141270" y="4689895"/>
            <a:ext cx="594822" cy="10582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3" name="Rechteck 62">
            <a:extLst>
              <a:ext uri="{FF2B5EF4-FFF2-40B4-BE49-F238E27FC236}">
                <a16:creationId xmlns:a16="http://schemas.microsoft.com/office/drawing/2014/main" id="{610D8708-50CC-364C-3EE5-532F6C182544}"/>
              </a:ext>
            </a:extLst>
          </p:cNvPr>
          <p:cNvSpPr/>
          <p:nvPr/>
        </p:nvSpPr>
        <p:spPr>
          <a:xfrm>
            <a:off x="141270" y="4867678"/>
            <a:ext cx="594822" cy="105820"/>
          </a:xfrm>
          <a:prstGeom prst="rect">
            <a:avLst/>
          </a:prstGeom>
          <a:gradFill>
            <a:gsLst>
              <a:gs pos="0">
                <a:schemeClr val="accent3">
                  <a:lumMod val="60000"/>
                  <a:lumOff val="40000"/>
                </a:schemeClr>
              </a:gs>
              <a:gs pos="30000">
                <a:schemeClr val="bg1">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7" name="Rechteck 66">
            <a:extLst>
              <a:ext uri="{FF2B5EF4-FFF2-40B4-BE49-F238E27FC236}">
                <a16:creationId xmlns:a16="http://schemas.microsoft.com/office/drawing/2014/main" id="{E51FA349-9CC0-D758-7B46-1E1A4A6BF52C}"/>
              </a:ext>
            </a:extLst>
          </p:cNvPr>
          <p:cNvSpPr/>
          <p:nvPr/>
        </p:nvSpPr>
        <p:spPr>
          <a:xfrm>
            <a:off x="141270" y="5045461"/>
            <a:ext cx="594822" cy="105820"/>
          </a:xfrm>
          <a:prstGeom prst="rect">
            <a:avLst/>
          </a:prstGeom>
          <a:pattFill prst="wdUpDiag">
            <a:fgClr>
              <a:schemeClr val="accent2">
                <a:lumMod val="5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73" name="Rechteck 72">
            <a:extLst>
              <a:ext uri="{FF2B5EF4-FFF2-40B4-BE49-F238E27FC236}">
                <a16:creationId xmlns:a16="http://schemas.microsoft.com/office/drawing/2014/main" id="{17F26BA6-D80D-4DCD-5AFE-E3599D2B0761}"/>
              </a:ext>
            </a:extLst>
          </p:cNvPr>
          <p:cNvSpPr/>
          <p:nvPr/>
        </p:nvSpPr>
        <p:spPr>
          <a:xfrm>
            <a:off x="141270" y="5223244"/>
            <a:ext cx="594822" cy="10582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74" name="Rechteck 73">
            <a:extLst>
              <a:ext uri="{FF2B5EF4-FFF2-40B4-BE49-F238E27FC236}">
                <a16:creationId xmlns:a16="http://schemas.microsoft.com/office/drawing/2014/main" id="{3A13BFEB-95F8-609E-98D3-F3ABC3E5375B}"/>
              </a:ext>
            </a:extLst>
          </p:cNvPr>
          <p:cNvSpPr/>
          <p:nvPr/>
        </p:nvSpPr>
        <p:spPr>
          <a:xfrm>
            <a:off x="141270" y="5401027"/>
            <a:ext cx="594822" cy="105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75" name="Rechteck 74">
            <a:extLst>
              <a:ext uri="{FF2B5EF4-FFF2-40B4-BE49-F238E27FC236}">
                <a16:creationId xmlns:a16="http://schemas.microsoft.com/office/drawing/2014/main" id="{0C61E2BB-BA30-8D75-1AC2-863D6A587D04}"/>
              </a:ext>
            </a:extLst>
          </p:cNvPr>
          <p:cNvSpPr/>
          <p:nvPr/>
        </p:nvSpPr>
        <p:spPr>
          <a:xfrm>
            <a:off x="141270" y="5578814"/>
            <a:ext cx="594822" cy="10582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70" name="Rechteck 69">
            <a:extLst>
              <a:ext uri="{FF2B5EF4-FFF2-40B4-BE49-F238E27FC236}">
                <a16:creationId xmlns:a16="http://schemas.microsoft.com/office/drawing/2014/main" id="{DB58212A-1821-8918-042D-A3029C4639B6}"/>
              </a:ext>
            </a:extLst>
          </p:cNvPr>
          <p:cNvSpPr/>
          <p:nvPr/>
        </p:nvSpPr>
        <p:spPr>
          <a:xfrm>
            <a:off x="10302719" y="3237484"/>
            <a:ext cx="132518" cy="1027283"/>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0" name="Rechteck 59">
            <a:extLst>
              <a:ext uri="{FF2B5EF4-FFF2-40B4-BE49-F238E27FC236}">
                <a16:creationId xmlns:a16="http://schemas.microsoft.com/office/drawing/2014/main" id="{C4310717-E70C-20BC-F12B-61592A763E5B}"/>
              </a:ext>
            </a:extLst>
          </p:cNvPr>
          <p:cNvSpPr/>
          <p:nvPr/>
        </p:nvSpPr>
        <p:spPr>
          <a:xfrm>
            <a:off x="9483388" y="4382877"/>
            <a:ext cx="126686" cy="1184967"/>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5" name="Rechteck 64">
            <a:extLst>
              <a:ext uri="{FF2B5EF4-FFF2-40B4-BE49-F238E27FC236}">
                <a16:creationId xmlns:a16="http://schemas.microsoft.com/office/drawing/2014/main" id="{1E0E01E5-43C7-E1E4-9BAB-91BB9817E6A8}"/>
              </a:ext>
            </a:extLst>
          </p:cNvPr>
          <p:cNvSpPr/>
          <p:nvPr/>
        </p:nvSpPr>
        <p:spPr>
          <a:xfrm>
            <a:off x="8979189" y="4353001"/>
            <a:ext cx="143716" cy="38042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1" name="Rechteck 60">
            <a:extLst>
              <a:ext uri="{FF2B5EF4-FFF2-40B4-BE49-F238E27FC236}">
                <a16:creationId xmlns:a16="http://schemas.microsoft.com/office/drawing/2014/main" id="{E9DD788D-E4F4-DE1C-8494-B414AF4DBE42}"/>
              </a:ext>
            </a:extLst>
          </p:cNvPr>
          <p:cNvSpPr/>
          <p:nvPr/>
        </p:nvSpPr>
        <p:spPr>
          <a:xfrm>
            <a:off x="10310957" y="4380939"/>
            <a:ext cx="126686" cy="1184967"/>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8" name="Rechteck 17">
            <a:extLst>
              <a:ext uri="{FF2B5EF4-FFF2-40B4-BE49-F238E27FC236}">
                <a16:creationId xmlns:a16="http://schemas.microsoft.com/office/drawing/2014/main" id="{E94FA33B-778A-FF7E-8EB0-A46DB9731F83}"/>
              </a:ext>
            </a:extLst>
          </p:cNvPr>
          <p:cNvSpPr/>
          <p:nvPr/>
        </p:nvSpPr>
        <p:spPr>
          <a:xfrm>
            <a:off x="9476443" y="3258928"/>
            <a:ext cx="132518" cy="102728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6" name="Rechteck 45">
            <a:extLst>
              <a:ext uri="{FF2B5EF4-FFF2-40B4-BE49-F238E27FC236}">
                <a16:creationId xmlns:a16="http://schemas.microsoft.com/office/drawing/2014/main" id="{793702F5-DDAB-0319-21CB-4E2943B6022B}"/>
              </a:ext>
            </a:extLst>
          </p:cNvPr>
          <p:cNvSpPr/>
          <p:nvPr/>
        </p:nvSpPr>
        <p:spPr>
          <a:xfrm>
            <a:off x="8966716" y="3249066"/>
            <a:ext cx="132518" cy="1027283"/>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 name="Rechteck 8">
            <a:extLst>
              <a:ext uri="{FF2B5EF4-FFF2-40B4-BE49-F238E27FC236}">
                <a16:creationId xmlns:a16="http://schemas.microsoft.com/office/drawing/2014/main" id="{C55792D2-EDDF-FEE6-46A7-4B7BBD6F9CDC}"/>
              </a:ext>
            </a:extLst>
          </p:cNvPr>
          <p:cNvSpPr/>
          <p:nvPr/>
        </p:nvSpPr>
        <p:spPr>
          <a:xfrm>
            <a:off x="10213342" y="2486015"/>
            <a:ext cx="905971" cy="4835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2" name="Rechteck 11">
            <a:extLst>
              <a:ext uri="{FF2B5EF4-FFF2-40B4-BE49-F238E27FC236}">
                <a16:creationId xmlns:a16="http://schemas.microsoft.com/office/drawing/2014/main" id="{45C7E45C-A308-88CF-1891-ECB75CBCF70E}"/>
              </a:ext>
            </a:extLst>
          </p:cNvPr>
          <p:cNvSpPr/>
          <p:nvPr/>
        </p:nvSpPr>
        <p:spPr>
          <a:xfrm>
            <a:off x="10891818" y="3160140"/>
            <a:ext cx="111012" cy="1612618"/>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4" name="Rechteck 13">
            <a:extLst>
              <a:ext uri="{FF2B5EF4-FFF2-40B4-BE49-F238E27FC236}">
                <a16:creationId xmlns:a16="http://schemas.microsoft.com/office/drawing/2014/main" id="{2F41AF21-CC28-736F-8C62-18A024374A34}"/>
              </a:ext>
            </a:extLst>
          </p:cNvPr>
          <p:cNvSpPr/>
          <p:nvPr/>
        </p:nvSpPr>
        <p:spPr>
          <a:xfrm>
            <a:off x="8461375" y="3017886"/>
            <a:ext cx="132518" cy="137296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6" name="Rechteck 15">
            <a:extLst>
              <a:ext uri="{FF2B5EF4-FFF2-40B4-BE49-F238E27FC236}">
                <a16:creationId xmlns:a16="http://schemas.microsoft.com/office/drawing/2014/main" id="{AE6BF8FC-5093-86F6-9FFF-C8585E9F0661}"/>
              </a:ext>
            </a:extLst>
          </p:cNvPr>
          <p:cNvSpPr/>
          <p:nvPr/>
        </p:nvSpPr>
        <p:spPr>
          <a:xfrm rot="10800000">
            <a:off x="8461375" y="3170602"/>
            <a:ext cx="1008606" cy="110893"/>
          </a:xfrm>
          <a:prstGeom prst="rect">
            <a:avLst/>
          </a:prstGeom>
          <a:gradFill>
            <a:gsLst>
              <a:gs pos="0">
                <a:schemeClr val="accent3">
                  <a:lumMod val="60000"/>
                  <a:lumOff val="40000"/>
                </a:schemeClr>
              </a:gs>
              <a:gs pos="30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25" name="Rechteck 24">
            <a:extLst>
              <a:ext uri="{FF2B5EF4-FFF2-40B4-BE49-F238E27FC236}">
                <a16:creationId xmlns:a16="http://schemas.microsoft.com/office/drawing/2014/main" id="{0CF4D24D-DE8E-F018-62E1-AB1EE4CB179E}"/>
              </a:ext>
            </a:extLst>
          </p:cNvPr>
          <p:cNvSpPr/>
          <p:nvPr/>
        </p:nvSpPr>
        <p:spPr>
          <a:xfrm>
            <a:off x="8465103" y="3437764"/>
            <a:ext cx="135253" cy="39943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29" name="Rechteck 28">
            <a:extLst>
              <a:ext uri="{FF2B5EF4-FFF2-40B4-BE49-F238E27FC236}">
                <a16:creationId xmlns:a16="http://schemas.microsoft.com/office/drawing/2014/main" id="{5393048D-605A-5DEF-D485-3EA1A02AC4A7}"/>
              </a:ext>
            </a:extLst>
          </p:cNvPr>
          <p:cNvSpPr/>
          <p:nvPr/>
        </p:nvSpPr>
        <p:spPr>
          <a:xfrm>
            <a:off x="8962511" y="4266838"/>
            <a:ext cx="2040320" cy="12005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30" name="Rechteck 29">
            <a:extLst>
              <a:ext uri="{FF2B5EF4-FFF2-40B4-BE49-F238E27FC236}">
                <a16:creationId xmlns:a16="http://schemas.microsoft.com/office/drawing/2014/main" id="{7120364E-F9F7-EA82-B4F1-B3EBDC0F4760}"/>
              </a:ext>
            </a:extLst>
          </p:cNvPr>
          <p:cNvSpPr/>
          <p:nvPr/>
        </p:nvSpPr>
        <p:spPr>
          <a:xfrm>
            <a:off x="8461375" y="3787442"/>
            <a:ext cx="2552574" cy="12005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33" name="Rechteck 32">
            <a:extLst>
              <a:ext uri="{FF2B5EF4-FFF2-40B4-BE49-F238E27FC236}">
                <a16:creationId xmlns:a16="http://schemas.microsoft.com/office/drawing/2014/main" id="{CAB9BA7D-C103-E9FC-B1B0-DFD4D742D407}"/>
              </a:ext>
            </a:extLst>
          </p:cNvPr>
          <p:cNvSpPr/>
          <p:nvPr/>
        </p:nvSpPr>
        <p:spPr>
          <a:xfrm>
            <a:off x="9469981" y="3160464"/>
            <a:ext cx="954515" cy="11702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34" name="Rechteck 33">
            <a:extLst>
              <a:ext uri="{FF2B5EF4-FFF2-40B4-BE49-F238E27FC236}">
                <a16:creationId xmlns:a16="http://schemas.microsoft.com/office/drawing/2014/main" id="{00D373A1-AFDC-013A-9FE0-C2D7F984EB03}"/>
              </a:ext>
            </a:extLst>
          </p:cNvPr>
          <p:cNvSpPr/>
          <p:nvPr/>
        </p:nvSpPr>
        <p:spPr>
          <a:xfrm>
            <a:off x="10310957" y="2400859"/>
            <a:ext cx="116043" cy="76018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20" name="Rechteck 19">
            <a:extLst>
              <a:ext uri="{FF2B5EF4-FFF2-40B4-BE49-F238E27FC236}">
                <a16:creationId xmlns:a16="http://schemas.microsoft.com/office/drawing/2014/main" id="{BF1883BC-2673-9702-8E02-24327420A68A}"/>
              </a:ext>
            </a:extLst>
          </p:cNvPr>
          <p:cNvSpPr/>
          <p:nvPr/>
        </p:nvSpPr>
        <p:spPr>
          <a:xfrm rot="10800000">
            <a:off x="9478670" y="2385225"/>
            <a:ext cx="945826" cy="201579"/>
          </a:xfrm>
          <a:prstGeom prst="rect">
            <a:avLst/>
          </a:prstGeom>
          <a:gradFill>
            <a:gsLst>
              <a:gs pos="0">
                <a:schemeClr val="accent3">
                  <a:lumMod val="60000"/>
                  <a:lumOff val="40000"/>
                </a:schemeClr>
              </a:gs>
              <a:gs pos="22000">
                <a:schemeClr val="accent2">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39" name="Rechteck 38">
            <a:extLst>
              <a:ext uri="{FF2B5EF4-FFF2-40B4-BE49-F238E27FC236}">
                <a16:creationId xmlns:a16="http://schemas.microsoft.com/office/drawing/2014/main" id="{E658C8CA-C981-5C84-2820-5DC24148FAA2}"/>
              </a:ext>
            </a:extLst>
          </p:cNvPr>
          <p:cNvSpPr/>
          <p:nvPr/>
        </p:nvSpPr>
        <p:spPr>
          <a:xfrm>
            <a:off x="8461376" y="4270367"/>
            <a:ext cx="498401" cy="117020"/>
          </a:xfrm>
          <a:prstGeom prst="rect">
            <a:avLst/>
          </a:prstGeom>
          <a:gradFill>
            <a:gsLst>
              <a:gs pos="0">
                <a:schemeClr val="accent3">
                  <a:lumMod val="60000"/>
                  <a:lumOff val="40000"/>
                </a:schemeClr>
              </a:gs>
              <a:gs pos="21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0" name="Rechteck 39">
            <a:extLst>
              <a:ext uri="{FF2B5EF4-FFF2-40B4-BE49-F238E27FC236}">
                <a16:creationId xmlns:a16="http://schemas.microsoft.com/office/drawing/2014/main" id="{46E7A333-11CF-B8DB-4AF5-6FE8FF394190}"/>
              </a:ext>
            </a:extLst>
          </p:cNvPr>
          <p:cNvSpPr/>
          <p:nvPr/>
        </p:nvSpPr>
        <p:spPr>
          <a:xfrm rot="10800000">
            <a:off x="10401650" y="3158781"/>
            <a:ext cx="601180" cy="1170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1" name="Rechteck 40">
            <a:extLst>
              <a:ext uri="{FF2B5EF4-FFF2-40B4-BE49-F238E27FC236}">
                <a16:creationId xmlns:a16="http://schemas.microsoft.com/office/drawing/2014/main" id="{C31232E6-3394-C38E-73FF-976632189DF7}"/>
              </a:ext>
            </a:extLst>
          </p:cNvPr>
          <p:cNvSpPr/>
          <p:nvPr/>
        </p:nvSpPr>
        <p:spPr>
          <a:xfrm>
            <a:off x="9987591" y="4656108"/>
            <a:ext cx="1026358" cy="117020"/>
          </a:xfrm>
          <a:prstGeom prst="rect">
            <a:avLst/>
          </a:prstGeom>
          <a:gradFill>
            <a:gsLst>
              <a:gs pos="0">
                <a:schemeClr val="accent3">
                  <a:lumMod val="60000"/>
                  <a:lumOff val="40000"/>
                </a:schemeClr>
              </a:gs>
              <a:gs pos="22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2" name="Rechteck 41">
            <a:extLst>
              <a:ext uri="{FF2B5EF4-FFF2-40B4-BE49-F238E27FC236}">
                <a16:creationId xmlns:a16="http://schemas.microsoft.com/office/drawing/2014/main" id="{052E0EBE-F910-06DA-7B17-AC5701786F47}"/>
              </a:ext>
            </a:extLst>
          </p:cNvPr>
          <p:cNvSpPr/>
          <p:nvPr/>
        </p:nvSpPr>
        <p:spPr>
          <a:xfrm>
            <a:off x="8970295" y="5568948"/>
            <a:ext cx="1026358" cy="117020"/>
          </a:xfrm>
          <a:prstGeom prst="rect">
            <a:avLst/>
          </a:prstGeom>
          <a:gradFill>
            <a:gsLst>
              <a:gs pos="0">
                <a:schemeClr val="accent3">
                  <a:lumMod val="60000"/>
                  <a:lumOff val="40000"/>
                </a:schemeClr>
              </a:gs>
              <a:gs pos="2500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49" name="Rechteck 48">
            <a:extLst>
              <a:ext uri="{FF2B5EF4-FFF2-40B4-BE49-F238E27FC236}">
                <a16:creationId xmlns:a16="http://schemas.microsoft.com/office/drawing/2014/main" id="{3F21ECB0-D80E-6969-EE49-147EDCB80C0D}"/>
              </a:ext>
            </a:extLst>
          </p:cNvPr>
          <p:cNvSpPr/>
          <p:nvPr/>
        </p:nvSpPr>
        <p:spPr>
          <a:xfrm>
            <a:off x="8990303" y="4725326"/>
            <a:ext cx="126792" cy="842518"/>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51" name="Rechteck 50">
            <a:extLst>
              <a:ext uri="{FF2B5EF4-FFF2-40B4-BE49-F238E27FC236}">
                <a16:creationId xmlns:a16="http://schemas.microsoft.com/office/drawing/2014/main" id="{5763D365-7A98-9F17-F855-4BFAA5AAAB2F}"/>
              </a:ext>
            </a:extLst>
          </p:cNvPr>
          <p:cNvSpPr/>
          <p:nvPr/>
        </p:nvSpPr>
        <p:spPr>
          <a:xfrm>
            <a:off x="10871672" y="4767055"/>
            <a:ext cx="126792" cy="84251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53" name="Rechteck 52">
            <a:extLst>
              <a:ext uri="{FF2B5EF4-FFF2-40B4-BE49-F238E27FC236}">
                <a16:creationId xmlns:a16="http://schemas.microsoft.com/office/drawing/2014/main" id="{4BE6F3DE-007B-37A9-176D-AB6374402000}"/>
              </a:ext>
            </a:extLst>
          </p:cNvPr>
          <p:cNvSpPr/>
          <p:nvPr/>
        </p:nvSpPr>
        <p:spPr>
          <a:xfrm>
            <a:off x="8458641" y="3950591"/>
            <a:ext cx="135253" cy="199715"/>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55" name="Rechteck 54">
            <a:extLst>
              <a:ext uri="{FF2B5EF4-FFF2-40B4-BE49-F238E27FC236}">
                <a16:creationId xmlns:a16="http://schemas.microsoft.com/office/drawing/2014/main" id="{74DF59BA-C672-1B20-1113-5C387D1176B4}"/>
              </a:ext>
            </a:extLst>
          </p:cNvPr>
          <p:cNvSpPr/>
          <p:nvPr/>
        </p:nvSpPr>
        <p:spPr>
          <a:xfrm>
            <a:off x="10891817" y="3381391"/>
            <a:ext cx="116042" cy="199715"/>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56" name="Rechteck 55">
            <a:extLst>
              <a:ext uri="{FF2B5EF4-FFF2-40B4-BE49-F238E27FC236}">
                <a16:creationId xmlns:a16="http://schemas.microsoft.com/office/drawing/2014/main" id="{253D672E-955B-7D42-CB3B-D6227EB905A0}"/>
              </a:ext>
            </a:extLst>
          </p:cNvPr>
          <p:cNvSpPr/>
          <p:nvPr/>
        </p:nvSpPr>
        <p:spPr>
          <a:xfrm>
            <a:off x="10313354" y="2722168"/>
            <a:ext cx="116042" cy="43493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59" name="Rechteck 58">
            <a:extLst>
              <a:ext uri="{FF2B5EF4-FFF2-40B4-BE49-F238E27FC236}">
                <a16:creationId xmlns:a16="http://schemas.microsoft.com/office/drawing/2014/main" id="{E6222725-3702-7023-009A-E4D0C32B5616}"/>
              </a:ext>
            </a:extLst>
          </p:cNvPr>
          <p:cNvSpPr/>
          <p:nvPr/>
        </p:nvSpPr>
        <p:spPr>
          <a:xfrm>
            <a:off x="9996653" y="5568723"/>
            <a:ext cx="981803" cy="117020"/>
          </a:xfrm>
          <a:prstGeom prst="rect">
            <a:avLst/>
          </a:prstGeom>
          <a:gradFill>
            <a:gsLst>
              <a:gs pos="0">
                <a:schemeClr val="accent3">
                  <a:lumMod val="60000"/>
                  <a:lumOff val="40000"/>
                </a:schemeClr>
              </a:gs>
              <a:gs pos="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4" name="Rechteck 63">
            <a:extLst>
              <a:ext uri="{FF2B5EF4-FFF2-40B4-BE49-F238E27FC236}">
                <a16:creationId xmlns:a16="http://schemas.microsoft.com/office/drawing/2014/main" id="{46851BCB-695C-5C4F-4413-15FFFCE67BEC}"/>
              </a:ext>
            </a:extLst>
          </p:cNvPr>
          <p:cNvSpPr/>
          <p:nvPr/>
        </p:nvSpPr>
        <p:spPr>
          <a:xfrm rot="16200000">
            <a:off x="9647868" y="5116775"/>
            <a:ext cx="792470" cy="109665"/>
          </a:xfrm>
          <a:prstGeom prst="rect">
            <a:avLst/>
          </a:prstGeom>
          <a:gradFill>
            <a:gsLst>
              <a:gs pos="0">
                <a:schemeClr val="accent3">
                  <a:lumMod val="60000"/>
                  <a:lumOff val="40000"/>
                </a:schemeClr>
              </a:gs>
              <a:gs pos="30000">
                <a:schemeClr val="bg1">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6" name="Rechteck 65">
            <a:extLst>
              <a:ext uri="{FF2B5EF4-FFF2-40B4-BE49-F238E27FC236}">
                <a16:creationId xmlns:a16="http://schemas.microsoft.com/office/drawing/2014/main" id="{04CF3753-561D-2746-C9DD-28FE8D02ACA4}"/>
              </a:ext>
            </a:extLst>
          </p:cNvPr>
          <p:cNvSpPr/>
          <p:nvPr/>
        </p:nvSpPr>
        <p:spPr>
          <a:xfrm>
            <a:off x="10098935" y="5109122"/>
            <a:ext cx="899529" cy="120050"/>
          </a:xfrm>
          <a:prstGeom prst="rect">
            <a:avLst/>
          </a:prstGeom>
          <a:pattFill prst="wdUpDiag">
            <a:fgClr>
              <a:schemeClr val="accent2">
                <a:lumMod val="5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8" name="Rechteck 67">
            <a:extLst>
              <a:ext uri="{FF2B5EF4-FFF2-40B4-BE49-F238E27FC236}">
                <a16:creationId xmlns:a16="http://schemas.microsoft.com/office/drawing/2014/main" id="{09DAC65D-6664-8962-FC8C-747C035441F4}"/>
              </a:ext>
            </a:extLst>
          </p:cNvPr>
          <p:cNvSpPr/>
          <p:nvPr/>
        </p:nvSpPr>
        <p:spPr>
          <a:xfrm>
            <a:off x="8976493" y="4660613"/>
            <a:ext cx="1020160" cy="12005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9" name="Rechteck 68">
            <a:extLst>
              <a:ext uri="{FF2B5EF4-FFF2-40B4-BE49-F238E27FC236}">
                <a16:creationId xmlns:a16="http://schemas.microsoft.com/office/drawing/2014/main" id="{8FBA5DC1-3C42-7BE7-4FB4-13750305732F}"/>
              </a:ext>
            </a:extLst>
          </p:cNvPr>
          <p:cNvSpPr/>
          <p:nvPr/>
        </p:nvSpPr>
        <p:spPr>
          <a:xfrm>
            <a:off x="8993382" y="5109640"/>
            <a:ext cx="1090067" cy="127954"/>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71" name="Rechteck 70">
            <a:extLst>
              <a:ext uri="{FF2B5EF4-FFF2-40B4-BE49-F238E27FC236}">
                <a16:creationId xmlns:a16="http://schemas.microsoft.com/office/drawing/2014/main" id="{6DD64DD1-47C6-9DD7-4F53-605C54F325E6}"/>
              </a:ext>
            </a:extLst>
          </p:cNvPr>
          <p:cNvSpPr/>
          <p:nvPr/>
        </p:nvSpPr>
        <p:spPr>
          <a:xfrm>
            <a:off x="11005528" y="4270367"/>
            <a:ext cx="311608" cy="110572"/>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72" name="Rechteck 71">
            <a:extLst>
              <a:ext uri="{FF2B5EF4-FFF2-40B4-BE49-F238E27FC236}">
                <a16:creationId xmlns:a16="http://schemas.microsoft.com/office/drawing/2014/main" id="{79C852F0-9863-4ACC-4E8E-09A3EB2965BF}"/>
              </a:ext>
            </a:extLst>
          </p:cNvPr>
          <p:cNvSpPr/>
          <p:nvPr/>
        </p:nvSpPr>
        <p:spPr>
          <a:xfrm>
            <a:off x="11005528" y="3797352"/>
            <a:ext cx="311608" cy="110572"/>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78" name="Rechteck 77">
            <a:extLst>
              <a:ext uri="{FF2B5EF4-FFF2-40B4-BE49-F238E27FC236}">
                <a16:creationId xmlns:a16="http://schemas.microsoft.com/office/drawing/2014/main" id="{37C31D96-0AF1-107E-42A5-9CF2DDB5B74D}"/>
              </a:ext>
            </a:extLst>
          </p:cNvPr>
          <p:cNvSpPr/>
          <p:nvPr/>
        </p:nvSpPr>
        <p:spPr>
          <a:xfrm>
            <a:off x="10889485" y="3391647"/>
            <a:ext cx="116042" cy="199715"/>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79" name="Rechteck 78">
            <a:extLst>
              <a:ext uri="{FF2B5EF4-FFF2-40B4-BE49-F238E27FC236}">
                <a16:creationId xmlns:a16="http://schemas.microsoft.com/office/drawing/2014/main" id="{478CEFAC-E63D-F3A2-7D8C-AC9F08D28258}"/>
              </a:ext>
            </a:extLst>
          </p:cNvPr>
          <p:cNvSpPr/>
          <p:nvPr/>
        </p:nvSpPr>
        <p:spPr>
          <a:xfrm>
            <a:off x="10889485" y="3586190"/>
            <a:ext cx="116042"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0" name="Rechteck 79">
            <a:extLst>
              <a:ext uri="{FF2B5EF4-FFF2-40B4-BE49-F238E27FC236}">
                <a16:creationId xmlns:a16="http://schemas.microsoft.com/office/drawing/2014/main" id="{B3B0F3AD-B86D-7C67-EB79-6926D0CEECF1}"/>
              </a:ext>
            </a:extLst>
          </p:cNvPr>
          <p:cNvSpPr/>
          <p:nvPr/>
        </p:nvSpPr>
        <p:spPr>
          <a:xfrm>
            <a:off x="10889485" y="3370168"/>
            <a:ext cx="116042"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1" name="Rechteck 80">
            <a:extLst>
              <a:ext uri="{FF2B5EF4-FFF2-40B4-BE49-F238E27FC236}">
                <a16:creationId xmlns:a16="http://schemas.microsoft.com/office/drawing/2014/main" id="{00095523-0710-7AA8-F5A3-4D391D129C80}"/>
              </a:ext>
            </a:extLst>
          </p:cNvPr>
          <p:cNvSpPr/>
          <p:nvPr/>
        </p:nvSpPr>
        <p:spPr>
          <a:xfrm>
            <a:off x="10889485" y="3977478"/>
            <a:ext cx="116042" cy="199715"/>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2" name="Rechteck 81">
            <a:extLst>
              <a:ext uri="{FF2B5EF4-FFF2-40B4-BE49-F238E27FC236}">
                <a16:creationId xmlns:a16="http://schemas.microsoft.com/office/drawing/2014/main" id="{772A0AFE-1338-49F1-F749-B3E7F16AC47C}"/>
              </a:ext>
            </a:extLst>
          </p:cNvPr>
          <p:cNvSpPr/>
          <p:nvPr/>
        </p:nvSpPr>
        <p:spPr>
          <a:xfrm>
            <a:off x="10889485" y="4172021"/>
            <a:ext cx="116042"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3" name="Rechteck 82">
            <a:extLst>
              <a:ext uri="{FF2B5EF4-FFF2-40B4-BE49-F238E27FC236}">
                <a16:creationId xmlns:a16="http://schemas.microsoft.com/office/drawing/2014/main" id="{2F956E7B-9DAD-C7F9-81A5-E326F906D8FB}"/>
              </a:ext>
            </a:extLst>
          </p:cNvPr>
          <p:cNvSpPr/>
          <p:nvPr/>
        </p:nvSpPr>
        <p:spPr>
          <a:xfrm>
            <a:off x="10889485" y="3955999"/>
            <a:ext cx="116042"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5" name="Rechteck 84">
            <a:extLst>
              <a:ext uri="{FF2B5EF4-FFF2-40B4-BE49-F238E27FC236}">
                <a16:creationId xmlns:a16="http://schemas.microsoft.com/office/drawing/2014/main" id="{0CA4DBA5-DDF8-8A1E-AF20-F0A33D0F1A68}"/>
              </a:ext>
            </a:extLst>
          </p:cNvPr>
          <p:cNvSpPr/>
          <p:nvPr/>
        </p:nvSpPr>
        <p:spPr>
          <a:xfrm>
            <a:off x="7498924" y="2196049"/>
            <a:ext cx="594822" cy="10582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6" name="Rechteck 85">
            <a:extLst>
              <a:ext uri="{FF2B5EF4-FFF2-40B4-BE49-F238E27FC236}">
                <a16:creationId xmlns:a16="http://schemas.microsoft.com/office/drawing/2014/main" id="{798D870D-256B-1AAA-E104-B62949CF2EA5}"/>
              </a:ext>
            </a:extLst>
          </p:cNvPr>
          <p:cNvSpPr/>
          <p:nvPr/>
        </p:nvSpPr>
        <p:spPr>
          <a:xfrm>
            <a:off x="7498924" y="2373832"/>
            <a:ext cx="594822" cy="10582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7" name="Rechteck 86">
            <a:extLst>
              <a:ext uri="{FF2B5EF4-FFF2-40B4-BE49-F238E27FC236}">
                <a16:creationId xmlns:a16="http://schemas.microsoft.com/office/drawing/2014/main" id="{6F47E68A-2D0C-8BF8-E10E-E138E377B2BA}"/>
              </a:ext>
            </a:extLst>
          </p:cNvPr>
          <p:cNvSpPr/>
          <p:nvPr/>
        </p:nvSpPr>
        <p:spPr>
          <a:xfrm rot="10800000">
            <a:off x="7498924" y="2551615"/>
            <a:ext cx="594822" cy="105820"/>
          </a:xfrm>
          <a:prstGeom prst="rect">
            <a:avLst/>
          </a:prstGeom>
          <a:gradFill>
            <a:gsLst>
              <a:gs pos="0">
                <a:schemeClr val="accent3">
                  <a:lumMod val="60000"/>
                  <a:lumOff val="40000"/>
                </a:schemeClr>
              </a:gs>
              <a:gs pos="22000">
                <a:schemeClr val="accent2">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8" name="Rechteck 87">
            <a:extLst>
              <a:ext uri="{FF2B5EF4-FFF2-40B4-BE49-F238E27FC236}">
                <a16:creationId xmlns:a16="http://schemas.microsoft.com/office/drawing/2014/main" id="{014F919E-9846-A42B-0B4D-C7C1C97ADFC9}"/>
              </a:ext>
            </a:extLst>
          </p:cNvPr>
          <p:cNvSpPr/>
          <p:nvPr/>
        </p:nvSpPr>
        <p:spPr>
          <a:xfrm>
            <a:off x="7498924" y="2729398"/>
            <a:ext cx="594822" cy="105820"/>
          </a:xfrm>
          <a:prstGeom prst="rect">
            <a:avLst/>
          </a:prstGeom>
          <a:gradFill>
            <a:gsLst>
              <a:gs pos="0">
                <a:schemeClr val="accent3">
                  <a:lumMod val="60000"/>
                  <a:lumOff val="40000"/>
                </a:schemeClr>
              </a:gs>
              <a:gs pos="2500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89" name="Rechteck 88">
            <a:extLst>
              <a:ext uri="{FF2B5EF4-FFF2-40B4-BE49-F238E27FC236}">
                <a16:creationId xmlns:a16="http://schemas.microsoft.com/office/drawing/2014/main" id="{1C59DA2A-2CA5-66B5-3D94-AF9506D1490A}"/>
              </a:ext>
            </a:extLst>
          </p:cNvPr>
          <p:cNvSpPr/>
          <p:nvPr/>
        </p:nvSpPr>
        <p:spPr>
          <a:xfrm>
            <a:off x="7498924" y="2907181"/>
            <a:ext cx="594822" cy="105820"/>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0" name="Rechteck 89">
            <a:extLst>
              <a:ext uri="{FF2B5EF4-FFF2-40B4-BE49-F238E27FC236}">
                <a16:creationId xmlns:a16="http://schemas.microsoft.com/office/drawing/2014/main" id="{9AEDB1CF-A404-C5C7-6A50-485B13B42965}"/>
              </a:ext>
            </a:extLst>
          </p:cNvPr>
          <p:cNvSpPr/>
          <p:nvPr/>
        </p:nvSpPr>
        <p:spPr>
          <a:xfrm rot="10800000">
            <a:off x="7498922" y="3084964"/>
            <a:ext cx="594822" cy="1058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1" name="Rechteck 90">
            <a:extLst>
              <a:ext uri="{FF2B5EF4-FFF2-40B4-BE49-F238E27FC236}">
                <a16:creationId xmlns:a16="http://schemas.microsoft.com/office/drawing/2014/main" id="{F849CAE9-10F9-169A-7059-6CC67F135B86}"/>
              </a:ext>
            </a:extLst>
          </p:cNvPr>
          <p:cNvSpPr/>
          <p:nvPr/>
        </p:nvSpPr>
        <p:spPr>
          <a:xfrm>
            <a:off x="7498924" y="3262747"/>
            <a:ext cx="594822" cy="105820"/>
          </a:xfrm>
          <a:prstGeom prst="rect">
            <a:avLst/>
          </a:prstGeom>
          <a:gradFill>
            <a:gsLst>
              <a:gs pos="0">
                <a:schemeClr val="accent3">
                  <a:lumMod val="60000"/>
                  <a:lumOff val="40000"/>
                </a:schemeClr>
              </a:gs>
              <a:gs pos="22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2" name="Rechteck 91">
            <a:extLst>
              <a:ext uri="{FF2B5EF4-FFF2-40B4-BE49-F238E27FC236}">
                <a16:creationId xmlns:a16="http://schemas.microsoft.com/office/drawing/2014/main" id="{0CDBF838-B1DA-085F-AC78-FD5BE7CAE68C}"/>
              </a:ext>
            </a:extLst>
          </p:cNvPr>
          <p:cNvSpPr/>
          <p:nvPr/>
        </p:nvSpPr>
        <p:spPr>
          <a:xfrm>
            <a:off x="7498924" y="3440530"/>
            <a:ext cx="594822" cy="105820"/>
          </a:xfrm>
          <a:prstGeom prst="rect">
            <a:avLst/>
          </a:prstGeom>
          <a:gradFill>
            <a:gsLst>
              <a:gs pos="0">
                <a:schemeClr val="accent3">
                  <a:lumMod val="60000"/>
                  <a:lumOff val="40000"/>
                </a:schemeClr>
              </a:gs>
              <a:gs pos="22000">
                <a:schemeClr val="accent4">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3" name="Rechteck 92">
            <a:extLst>
              <a:ext uri="{FF2B5EF4-FFF2-40B4-BE49-F238E27FC236}">
                <a16:creationId xmlns:a16="http://schemas.microsoft.com/office/drawing/2014/main" id="{35418D02-9CDB-88BC-6836-17ED6B610B0E}"/>
              </a:ext>
            </a:extLst>
          </p:cNvPr>
          <p:cNvSpPr/>
          <p:nvPr/>
        </p:nvSpPr>
        <p:spPr>
          <a:xfrm rot="10800000">
            <a:off x="7498924" y="4151662"/>
            <a:ext cx="594822" cy="105820"/>
          </a:xfrm>
          <a:prstGeom prst="rect">
            <a:avLst/>
          </a:prstGeom>
          <a:gradFill>
            <a:gsLst>
              <a:gs pos="0">
                <a:schemeClr val="accent3">
                  <a:lumMod val="60000"/>
                  <a:lumOff val="40000"/>
                </a:schemeClr>
              </a:gs>
              <a:gs pos="45000">
                <a:schemeClr val="accent2">
                  <a:lumMod val="5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4" name="Rechteck 93">
            <a:extLst>
              <a:ext uri="{FF2B5EF4-FFF2-40B4-BE49-F238E27FC236}">
                <a16:creationId xmlns:a16="http://schemas.microsoft.com/office/drawing/2014/main" id="{D3D2654E-F407-0A9A-6891-8342BF209207}"/>
              </a:ext>
            </a:extLst>
          </p:cNvPr>
          <p:cNvSpPr/>
          <p:nvPr/>
        </p:nvSpPr>
        <p:spPr>
          <a:xfrm>
            <a:off x="7498924" y="3973879"/>
            <a:ext cx="594822" cy="1058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5" name="Rechteck 94">
            <a:extLst>
              <a:ext uri="{FF2B5EF4-FFF2-40B4-BE49-F238E27FC236}">
                <a16:creationId xmlns:a16="http://schemas.microsoft.com/office/drawing/2014/main" id="{A642E55E-3885-AE9B-EEE1-1A2F84067CCC}"/>
              </a:ext>
            </a:extLst>
          </p:cNvPr>
          <p:cNvSpPr/>
          <p:nvPr/>
        </p:nvSpPr>
        <p:spPr>
          <a:xfrm>
            <a:off x="7498924" y="3796096"/>
            <a:ext cx="594822" cy="10582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6" name="Rechteck 95">
            <a:extLst>
              <a:ext uri="{FF2B5EF4-FFF2-40B4-BE49-F238E27FC236}">
                <a16:creationId xmlns:a16="http://schemas.microsoft.com/office/drawing/2014/main" id="{F686CB7A-C243-61E7-BA11-6CB37091B4F5}"/>
              </a:ext>
            </a:extLst>
          </p:cNvPr>
          <p:cNvSpPr/>
          <p:nvPr/>
        </p:nvSpPr>
        <p:spPr>
          <a:xfrm>
            <a:off x="7498924" y="3618313"/>
            <a:ext cx="594822" cy="105820"/>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7" name="Rechteck 96">
            <a:extLst>
              <a:ext uri="{FF2B5EF4-FFF2-40B4-BE49-F238E27FC236}">
                <a16:creationId xmlns:a16="http://schemas.microsoft.com/office/drawing/2014/main" id="{0E6040FD-68D4-B0D7-A6BD-7544DFE391A8}"/>
              </a:ext>
            </a:extLst>
          </p:cNvPr>
          <p:cNvSpPr/>
          <p:nvPr/>
        </p:nvSpPr>
        <p:spPr>
          <a:xfrm>
            <a:off x="7498924" y="4329445"/>
            <a:ext cx="594822" cy="1058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8" name="Rechteck 97">
            <a:extLst>
              <a:ext uri="{FF2B5EF4-FFF2-40B4-BE49-F238E27FC236}">
                <a16:creationId xmlns:a16="http://schemas.microsoft.com/office/drawing/2014/main" id="{9FE37C7D-EE58-180E-46F1-0EC7383BE840}"/>
              </a:ext>
            </a:extLst>
          </p:cNvPr>
          <p:cNvSpPr/>
          <p:nvPr/>
        </p:nvSpPr>
        <p:spPr>
          <a:xfrm>
            <a:off x="7498924" y="4507228"/>
            <a:ext cx="594822" cy="105820"/>
          </a:xfrm>
          <a:prstGeom prst="rect">
            <a:avLst/>
          </a:prstGeom>
          <a:gradFill>
            <a:gsLst>
              <a:gs pos="0">
                <a:schemeClr val="accent3">
                  <a:lumMod val="60000"/>
                  <a:lumOff val="40000"/>
                </a:schemeClr>
              </a:gs>
              <a:gs pos="0">
                <a:schemeClr val="accent2">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99" name="Rechteck 98">
            <a:extLst>
              <a:ext uri="{FF2B5EF4-FFF2-40B4-BE49-F238E27FC236}">
                <a16:creationId xmlns:a16="http://schemas.microsoft.com/office/drawing/2014/main" id="{127C9D26-B882-CBF2-5106-13A67BB4E43C}"/>
              </a:ext>
            </a:extLst>
          </p:cNvPr>
          <p:cNvSpPr/>
          <p:nvPr/>
        </p:nvSpPr>
        <p:spPr>
          <a:xfrm>
            <a:off x="7498924" y="4685011"/>
            <a:ext cx="594822" cy="10582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00" name="Rechteck 99">
            <a:extLst>
              <a:ext uri="{FF2B5EF4-FFF2-40B4-BE49-F238E27FC236}">
                <a16:creationId xmlns:a16="http://schemas.microsoft.com/office/drawing/2014/main" id="{47734666-94DC-CA58-DBAA-37EF193AED02}"/>
              </a:ext>
            </a:extLst>
          </p:cNvPr>
          <p:cNvSpPr/>
          <p:nvPr/>
        </p:nvSpPr>
        <p:spPr>
          <a:xfrm>
            <a:off x="7498924" y="4862794"/>
            <a:ext cx="594822" cy="105820"/>
          </a:xfrm>
          <a:prstGeom prst="rect">
            <a:avLst/>
          </a:prstGeom>
          <a:gradFill>
            <a:gsLst>
              <a:gs pos="0">
                <a:schemeClr val="accent3">
                  <a:lumMod val="60000"/>
                  <a:lumOff val="40000"/>
                </a:schemeClr>
              </a:gs>
              <a:gs pos="30000">
                <a:schemeClr val="bg1">
                  <a:lumMod val="7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01" name="Rechteck 100">
            <a:extLst>
              <a:ext uri="{FF2B5EF4-FFF2-40B4-BE49-F238E27FC236}">
                <a16:creationId xmlns:a16="http://schemas.microsoft.com/office/drawing/2014/main" id="{399FDAFC-9E7D-234C-8A47-BCB72A5F53B2}"/>
              </a:ext>
            </a:extLst>
          </p:cNvPr>
          <p:cNvSpPr/>
          <p:nvPr/>
        </p:nvSpPr>
        <p:spPr>
          <a:xfrm>
            <a:off x="7498924" y="5040577"/>
            <a:ext cx="594822" cy="105820"/>
          </a:xfrm>
          <a:prstGeom prst="rect">
            <a:avLst/>
          </a:prstGeom>
          <a:pattFill prst="wdUpDiag">
            <a:fgClr>
              <a:schemeClr val="accent2">
                <a:lumMod val="5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02" name="Rechteck 101">
            <a:extLst>
              <a:ext uri="{FF2B5EF4-FFF2-40B4-BE49-F238E27FC236}">
                <a16:creationId xmlns:a16="http://schemas.microsoft.com/office/drawing/2014/main" id="{8CA7B999-8CC7-4147-7183-503F58FD58C3}"/>
              </a:ext>
            </a:extLst>
          </p:cNvPr>
          <p:cNvSpPr/>
          <p:nvPr/>
        </p:nvSpPr>
        <p:spPr>
          <a:xfrm>
            <a:off x="7498924" y="5218360"/>
            <a:ext cx="594822" cy="10582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03" name="Rechteck 102">
            <a:extLst>
              <a:ext uri="{FF2B5EF4-FFF2-40B4-BE49-F238E27FC236}">
                <a16:creationId xmlns:a16="http://schemas.microsoft.com/office/drawing/2014/main" id="{2B22C94A-8DFC-0201-0064-656A4617937E}"/>
              </a:ext>
            </a:extLst>
          </p:cNvPr>
          <p:cNvSpPr/>
          <p:nvPr/>
        </p:nvSpPr>
        <p:spPr>
          <a:xfrm>
            <a:off x="7498924" y="5396143"/>
            <a:ext cx="594822" cy="105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104" name="Rechteck 103">
            <a:extLst>
              <a:ext uri="{FF2B5EF4-FFF2-40B4-BE49-F238E27FC236}">
                <a16:creationId xmlns:a16="http://schemas.microsoft.com/office/drawing/2014/main" id="{25DE473A-EF6D-AFD8-7276-34AD065FEA68}"/>
              </a:ext>
            </a:extLst>
          </p:cNvPr>
          <p:cNvSpPr/>
          <p:nvPr/>
        </p:nvSpPr>
        <p:spPr>
          <a:xfrm>
            <a:off x="7498924" y="5573930"/>
            <a:ext cx="594822" cy="10582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sp>
        <p:nvSpPr>
          <p:cNvPr id="6" name="Rechteck 5">
            <a:extLst>
              <a:ext uri="{FF2B5EF4-FFF2-40B4-BE49-F238E27FC236}">
                <a16:creationId xmlns:a16="http://schemas.microsoft.com/office/drawing/2014/main" id="{96AEED87-B48B-C261-BCC3-3EA1002322DF}"/>
              </a:ext>
            </a:extLst>
          </p:cNvPr>
          <p:cNvSpPr/>
          <p:nvPr/>
        </p:nvSpPr>
        <p:spPr>
          <a:xfrm rot="9326406">
            <a:off x="8330572" y="2641855"/>
            <a:ext cx="1241270" cy="201579"/>
          </a:xfrm>
          <a:prstGeom prst="rect">
            <a:avLst/>
          </a:prstGeom>
          <a:gradFill>
            <a:gsLst>
              <a:gs pos="0">
                <a:schemeClr val="accent3">
                  <a:lumMod val="60000"/>
                  <a:lumOff val="40000"/>
                </a:schemeClr>
              </a:gs>
              <a:gs pos="22000">
                <a:schemeClr val="accent2">
                  <a:lumMod val="60000"/>
                  <a:lumOff val="4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noProof="1"/>
          </a:p>
        </p:txBody>
      </p:sp>
      <p:graphicFrame>
        <p:nvGraphicFramePr>
          <p:cNvPr id="22" name="Tabelle 21">
            <a:extLst>
              <a:ext uri="{FF2B5EF4-FFF2-40B4-BE49-F238E27FC236}">
                <a16:creationId xmlns:a16="http://schemas.microsoft.com/office/drawing/2014/main" id="{BDC7CF03-12E6-EB47-337D-5EF50976490C}"/>
              </a:ext>
            </a:extLst>
          </p:cNvPr>
          <p:cNvGraphicFramePr>
            <a:graphicFrameLocks noGrp="1"/>
          </p:cNvGraphicFramePr>
          <p:nvPr>
            <p:extLst>
              <p:ext uri="{D42A27DB-BD31-4B8C-83A1-F6EECF244321}">
                <p14:modId xmlns:p14="http://schemas.microsoft.com/office/powerpoint/2010/main" val="2133007176"/>
              </p:ext>
            </p:extLst>
          </p:nvPr>
        </p:nvGraphicFramePr>
        <p:xfrm>
          <a:off x="2032555" y="2164816"/>
          <a:ext cx="5406186" cy="3574106"/>
        </p:xfrm>
        <a:graphic>
          <a:graphicData uri="http://schemas.openxmlformats.org/drawingml/2006/table">
            <a:tbl>
              <a:tblPr>
                <a:tableStyleId>{9D7B26C5-4107-4FEC-AEDC-1716B250A1EF}</a:tableStyleId>
              </a:tblPr>
              <a:tblGrid>
                <a:gridCol w="2297035">
                  <a:extLst>
                    <a:ext uri="{9D8B030D-6E8A-4147-A177-3AD203B41FA5}">
                      <a16:colId xmlns:a16="http://schemas.microsoft.com/office/drawing/2014/main" val="3838334776"/>
                    </a:ext>
                  </a:extLst>
                </a:gridCol>
                <a:gridCol w="3109151">
                  <a:extLst>
                    <a:ext uri="{9D8B030D-6E8A-4147-A177-3AD203B41FA5}">
                      <a16:colId xmlns:a16="http://schemas.microsoft.com/office/drawing/2014/main" val="3039595828"/>
                    </a:ext>
                  </a:extLst>
                </a:gridCol>
              </a:tblGrid>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Außenwand</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External wall</a:t>
                      </a:r>
                    </a:p>
                  </a:txBody>
                  <a:tcPr marL="0" marR="0" marT="0" marB="0" anchor="ctr"/>
                </a:tc>
                <a:extLst>
                  <a:ext uri="{0D108BD9-81ED-4DB2-BD59-A6C34878D82A}">
                    <a16:rowId xmlns:a16="http://schemas.microsoft.com/office/drawing/2014/main" val="1827958658"/>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Fenster</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Window</a:t>
                      </a:r>
                    </a:p>
                  </a:txBody>
                  <a:tcPr marL="0" marR="0" marT="0" marB="0" anchor="ctr"/>
                </a:tc>
                <a:extLst>
                  <a:ext uri="{0D108BD9-81ED-4DB2-BD59-A6C34878D82A}">
                    <a16:rowId xmlns:a16="http://schemas.microsoft.com/office/drawing/2014/main" val="3503350022"/>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Dach</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Roof</a:t>
                      </a:r>
                    </a:p>
                  </a:txBody>
                  <a:tcPr marL="0" marR="0" marT="0" marB="0" anchor="ctr"/>
                </a:tc>
                <a:extLst>
                  <a:ext uri="{0D108BD9-81ED-4DB2-BD59-A6C34878D82A}">
                    <a16:rowId xmlns:a16="http://schemas.microsoft.com/office/drawing/2014/main" val="3074645545"/>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Erdb. Fußboden / Bodenplatte beheizt</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Ground floor / slab-on-ground (heated)</a:t>
                      </a:r>
                    </a:p>
                  </a:txBody>
                  <a:tcPr marL="0" marR="0" marT="0" marB="0" anchor="ctr"/>
                </a:tc>
                <a:extLst>
                  <a:ext uri="{0D108BD9-81ED-4DB2-BD59-A6C34878D82A}">
                    <a16:rowId xmlns:a16="http://schemas.microsoft.com/office/drawing/2014/main" val="4000130576"/>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Geschoßdecken</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Intermediate floors / floor slabs</a:t>
                      </a:r>
                    </a:p>
                  </a:txBody>
                  <a:tcPr marL="0" marR="0" marT="0" marB="0" anchor="ctr"/>
                </a:tc>
                <a:extLst>
                  <a:ext uri="{0D108BD9-81ED-4DB2-BD59-A6C34878D82A}">
                    <a16:rowId xmlns:a16="http://schemas.microsoft.com/office/drawing/2014/main" val="942160552"/>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Terrasse</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Terrace</a:t>
                      </a:r>
                    </a:p>
                  </a:txBody>
                  <a:tcPr marL="0" marR="0" marT="0" marB="0" anchor="ctr"/>
                </a:tc>
                <a:extLst>
                  <a:ext uri="{0D108BD9-81ED-4DB2-BD59-A6C34878D82A}">
                    <a16:rowId xmlns:a16="http://schemas.microsoft.com/office/drawing/2014/main" val="2593825226"/>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Kellerdecke</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Basement ceiling</a:t>
                      </a:r>
                    </a:p>
                  </a:txBody>
                  <a:tcPr marL="0" marR="0" marT="0" marB="0" anchor="ctr"/>
                </a:tc>
                <a:extLst>
                  <a:ext uri="{0D108BD9-81ED-4DB2-BD59-A6C34878D82A}">
                    <a16:rowId xmlns:a16="http://schemas.microsoft.com/office/drawing/2014/main" val="1533504925"/>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Außendecke gg. Außenluft</a:t>
                      </a:r>
                    </a:p>
                  </a:txBody>
                  <a:tcPr marL="0" marR="0" marT="0" marB="0" anchor="b"/>
                </a:tc>
                <a:tc>
                  <a:txBody>
                    <a:bodyPr/>
                    <a:lstStyle/>
                    <a:p>
                      <a:pPr algn="r" fontAlgn="ctr">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Ceiling exposed to outdoor air</a:t>
                      </a:r>
                    </a:p>
                  </a:txBody>
                  <a:tcPr marL="0" marR="0" marT="0" marB="0" anchor="ctr"/>
                </a:tc>
                <a:extLst>
                  <a:ext uri="{0D108BD9-81ED-4DB2-BD59-A6C34878D82A}">
                    <a16:rowId xmlns:a16="http://schemas.microsoft.com/office/drawing/2014/main" val="219615732"/>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Erdb. Wand beheizt</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Earth-contact wall (heated)</a:t>
                      </a:r>
                    </a:p>
                  </a:txBody>
                  <a:tcPr marL="0" marR="0" marT="0" marB="0" anchor="ctr"/>
                </a:tc>
                <a:extLst>
                  <a:ext uri="{0D108BD9-81ED-4DB2-BD59-A6C34878D82A}">
                    <a16:rowId xmlns:a16="http://schemas.microsoft.com/office/drawing/2014/main" val="2450926168"/>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Innenwand tragend</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Load-bearing internal wall</a:t>
                      </a:r>
                    </a:p>
                  </a:txBody>
                  <a:tcPr marL="0" marR="0" marT="0" marB="0" anchor="ctr"/>
                </a:tc>
                <a:extLst>
                  <a:ext uri="{0D108BD9-81ED-4DB2-BD59-A6C34878D82A}">
                    <a16:rowId xmlns:a16="http://schemas.microsoft.com/office/drawing/2014/main" val="2570528180"/>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Innenwand nicht tragend</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Non-load-bearing internal wall</a:t>
                      </a:r>
                    </a:p>
                  </a:txBody>
                  <a:tcPr marL="0" marR="0" marT="0" marB="0" anchor="ctr"/>
                </a:tc>
                <a:extLst>
                  <a:ext uri="{0D108BD9-81ED-4DB2-BD59-A6C34878D82A}">
                    <a16:rowId xmlns:a16="http://schemas.microsoft.com/office/drawing/2014/main" val="2378804828"/>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Oberste Geschoßdecke</a:t>
                      </a:r>
                    </a:p>
                  </a:txBody>
                  <a:tcPr marL="0" marR="0" marT="0" marB="0" anchor="b"/>
                </a:tc>
                <a:tc>
                  <a:txBody>
                    <a:bodyPr/>
                    <a:lstStyle/>
                    <a:p>
                      <a:pPr algn="r" fontAlgn="ctr">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Top floor ceiling</a:t>
                      </a:r>
                    </a:p>
                  </a:txBody>
                  <a:tcPr marL="0" marR="0" marT="0" marB="0" anchor="ctr"/>
                </a:tc>
                <a:extLst>
                  <a:ext uri="{0D108BD9-81ED-4DB2-BD59-A6C34878D82A}">
                    <a16:rowId xmlns:a16="http://schemas.microsoft.com/office/drawing/2014/main" val="959893429"/>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Erdb. Wand unbeheizt</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Earth-contact wall (unheated)</a:t>
                      </a:r>
                    </a:p>
                  </a:txBody>
                  <a:tcPr marL="0" marR="0" marT="0" marB="0" anchor="ctr"/>
                </a:tc>
                <a:extLst>
                  <a:ext uri="{0D108BD9-81ED-4DB2-BD59-A6C34878D82A}">
                    <a16:rowId xmlns:a16="http://schemas.microsoft.com/office/drawing/2014/main" val="2062399100"/>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Erdb. Fußboden unbeheizt</a:t>
                      </a:r>
                    </a:p>
                  </a:txBody>
                  <a:tcPr marL="0" marR="0" marT="0" marB="0" anchor="b"/>
                </a:tc>
                <a:tc>
                  <a:txBody>
                    <a:bodyPr/>
                    <a:lstStyle/>
                    <a:p>
                      <a:pPr algn="r" fontAlgn="ctr">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Ground floor (unheated)</a:t>
                      </a:r>
                    </a:p>
                  </a:txBody>
                  <a:tcPr marL="0" marR="0" marT="0" marB="0" anchor="ctr"/>
                </a:tc>
                <a:extLst>
                  <a:ext uri="{0D108BD9-81ED-4DB2-BD59-A6C34878D82A}">
                    <a16:rowId xmlns:a16="http://schemas.microsoft.com/office/drawing/2014/main" val="3007589809"/>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Stützen</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Columns</a:t>
                      </a:r>
                    </a:p>
                  </a:txBody>
                  <a:tcPr marL="0" marR="0" marT="0" marB="0" anchor="ctr"/>
                </a:tc>
                <a:extLst>
                  <a:ext uri="{0D108BD9-81ED-4DB2-BD59-A6C34878D82A}">
                    <a16:rowId xmlns:a16="http://schemas.microsoft.com/office/drawing/2014/main" val="2200154499"/>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Innenwand unbeheizt</a:t>
                      </a:r>
                    </a:p>
                  </a:txBody>
                  <a:tcPr marL="0" marR="0" marT="0" marB="0" anchor="b"/>
                </a:tc>
                <a:tc>
                  <a:txBody>
                    <a:bodyPr/>
                    <a:lstStyle/>
                    <a:p>
                      <a:pPr algn="r" fontAlgn="ctr">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Internal wall adjacent to unheated space</a:t>
                      </a:r>
                    </a:p>
                  </a:txBody>
                  <a:tcPr marL="0" marR="0" marT="0" marB="0" anchor="ctr"/>
                </a:tc>
                <a:extLst>
                  <a:ext uri="{0D108BD9-81ED-4DB2-BD59-A6C34878D82A}">
                    <a16:rowId xmlns:a16="http://schemas.microsoft.com/office/drawing/2014/main" val="2063506990"/>
                  </a:ext>
                </a:extLst>
              </a:tr>
              <a:tr h="170199">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Zwischendecke / Keller / TG unbeh.</a:t>
                      </a:r>
                    </a:p>
                  </a:txBody>
                  <a:tcPr marL="0" marR="0" marT="0" marB="0" anchor="b"/>
                </a:tc>
                <a:tc>
                  <a:txBody>
                    <a:bodyPr/>
                    <a:lstStyle/>
                    <a:p>
                      <a:pPr algn="r" fontAlgn="ctr">
                        <a:buNone/>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Unheated Ceiling / basement / underground garage </a:t>
                      </a:r>
                    </a:p>
                  </a:txBody>
                  <a:tcPr marL="0" marR="0" marT="0" marB="0" anchor="ctr"/>
                </a:tc>
                <a:extLst>
                  <a:ext uri="{0D108BD9-81ED-4DB2-BD59-A6C34878D82A}">
                    <a16:rowId xmlns:a16="http://schemas.microsoft.com/office/drawing/2014/main" val="4085041948"/>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Balkone / Loggien</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Balconies / loggias</a:t>
                      </a:r>
                    </a:p>
                  </a:txBody>
                  <a:tcPr marL="0" marR="0" marT="0" marB="0" anchor="ctr"/>
                </a:tc>
                <a:extLst>
                  <a:ext uri="{0D108BD9-81ED-4DB2-BD59-A6C34878D82A}">
                    <a16:rowId xmlns:a16="http://schemas.microsoft.com/office/drawing/2014/main" val="3604270164"/>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Fensterrahmen</a:t>
                      </a:r>
                    </a:p>
                  </a:txBody>
                  <a:tcPr marL="0" marR="0" marT="0" marB="0" anchor="b"/>
                </a:tc>
                <a:tc>
                  <a:txBody>
                    <a:bodyPr/>
                    <a:lstStyle/>
                    <a:p>
                      <a:pPr algn="r" fontAlgn="ctr">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Window frame</a:t>
                      </a:r>
                    </a:p>
                  </a:txBody>
                  <a:tcPr marL="0" marR="0" marT="0" marB="0" anchor="ctr"/>
                </a:tc>
                <a:extLst>
                  <a:ext uri="{0D108BD9-81ED-4DB2-BD59-A6C34878D82A}">
                    <a16:rowId xmlns:a16="http://schemas.microsoft.com/office/drawing/2014/main" val="906338716"/>
                  </a:ext>
                </a:extLst>
              </a:tr>
              <a:tr h="179153">
                <a:tc>
                  <a:txBody>
                    <a:bodyPr/>
                    <a:lstStyle/>
                    <a:p>
                      <a:pPr algn="l" fontAlgn="b">
                        <a:buNone/>
                      </a:pPr>
                      <a:r>
                        <a:rPr lang="de-DE" sz="1100" b="0" i="0" u="none" strike="noStrike" dirty="0">
                          <a:solidFill>
                            <a:srgbClr val="000000"/>
                          </a:solidFill>
                          <a:effectLst/>
                          <a:latin typeface="Times New Roman" panose="02020603050405020304" pitchFamily="18" charset="0"/>
                          <a:cs typeface="Times New Roman" panose="02020603050405020304" pitchFamily="18" charset="0"/>
                        </a:rPr>
                        <a:t>Fensterglas</a:t>
                      </a:r>
                    </a:p>
                  </a:txBody>
                  <a:tcPr marL="0" marR="0" marT="0" marB="0" anchor="b"/>
                </a:tc>
                <a:tc>
                  <a:txBody>
                    <a:bodyPr/>
                    <a:lstStyle/>
                    <a:p>
                      <a:pPr algn="r" fontAlgn="ctr">
                        <a:buNone/>
                      </a:pPr>
                      <a:r>
                        <a:rPr lang="de-DE" sz="1100" b="0" i="0" u="none" strike="noStrike" noProof="1">
                          <a:solidFill>
                            <a:srgbClr val="000000"/>
                          </a:solidFill>
                          <a:effectLst/>
                          <a:latin typeface="Times New Roman" panose="02020603050405020304" pitchFamily="18" charset="0"/>
                          <a:cs typeface="Times New Roman" panose="02020603050405020304" pitchFamily="18" charset="0"/>
                        </a:rPr>
                        <a:t>Window</a:t>
                      </a:r>
                      <a:r>
                        <a:rPr lang="de-DE" sz="1100" b="0" i="0" u="none" strike="noStrike" dirty="0">
                          <a:solidFill>
                            <a:srgbClr val="000000"/>
                          </a:solidFill>
                          <a:effectLst/>
                          <a:latin typeface="Times New Roman" panose="02020603050405020304" pitchFamily="18" charset="0"/>
                          <a:cs typeface="Times New Roman" panose="02020603050405020304" pitchFamily="18" charset="0"/>
                        </a:rPr>
                        <a:t> glazing</a:t>
                      </a:r>
                    </a:p>
                  </a:txBody>
                  <a:tcPr marL="0" marR="0" marT="0" marB="0" anchor="ctr"/>
                </a:tc>
                <a:extLst>
                  <a:ext uri="{0D108BD9-81ED-4DB2-BD59-A6C34878D82A}">
                    <a16:rowId xmlns:a16="http://schemas.microsoft.com/office/drawing/2014/main" val="3671226041"/>
                  </a:ext>
                </a:extLst>
              </a:tr>
            </a:tbl>
          </a:graphicData>
        </a:graphic>
      </p:graphicFrame>
    </p:spTree>
    <p:extLst>
      <p:ext uri="{BB962C8B-B14F-4D97-AF65-F5344CB8AC3E}">
        <p14:creationId xmlns:p14="http://schemas.microsoft.com/office/powerpoint/2010/main" val="2433115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 name="Rechteck 418">
            <a:extLst>
              <a:ext uri="{FF2B5EF4-FFF2-40B4-BE49-F238E27FC236}">
                <a16:creationId xmlns:a16="http://schemas.microsoft.com/office/drawing/2014/main" id="{44ADA99E-0CAD-6E47-347D-87207CED97A0}"/>
              </a:ext>
            </a:extLst>
          </p:cNvPr>
          <p:cNvSpPr/>
          <p:nvPr/>
        </p:nvSpPr>
        <p:spPr>
          <a:xfrm>
            <a:off x="2180590" y="2213310"/>
            <a:ext cx="8312150" cy="3601280"/>
          </a:xfrm>
          <a:prstGeom prst="rect">
            <a:avLst/>
          </a:prstGeom>
          <a:noFill/>
          <a:ln w="28575" cap="flat" cmpd="sng" algn="ctr">
            <a:solidFill>
              <a:srgbClr val="E6EFF3">
                <a:lumMod val="90000"/>
              </a:srgbClr>
            </a:solidFill>
            <a:prstDash val="dash"/>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10" name="Rechteck 9">
            <a:extLst>
              <a:ext uri="{FF2B5EF4-FFF2-40B4-BE49-F238E27FC236}">
                <a16:creationId xmlns:a16="http://schemas.microsoft.com/office/drawing/2014/main" id="{5E1E557E-FA8B-3876-57AD-5CFDC37245EF}"/>
              </a:ext>
            </a:extLst>
          </p:cNvPr>
          <p:cNvSpPr/>
          <p:nvPr/>
        </p:nvSpPr>
        <p:spPr>
          <a:xfrm>
            <a:off x="4391024" y="5815655"/>
            <a:ext cx="6101716" cy="671885"/>
          </a:xfrm>
          <a:prstGeom prst="rect">
            <a:avLst/>
          </a:prstGeom>
          <a:noFill/>
          <a:ln w="28575" cap="flat" cmpd="sng" algn="ctr">
            <a:solidFill>
              <a:srgbClr val="E6EFF3">
                <a:lumMod val="90000"/>
              </a:srgbClr>
            </a:solidFill>
            <a:prstDash val="dash"/>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11" name="Rechteck 10">
            <a:extLst>
              <a:ext uri="{FF2B5EF4-FFF2-40B4-BE49-F238E27FC236}">
                <a16:creationId xmlns:a16="http://schemas.microsoft.com/office/drawing/2014/main" id="{F87CAB5E-D0FD-AAF7-62CE-C04A658CDF8F}"/>
              </a:ext>
            </a:extLst>
          </p:cNvPr>
          <p:cNvSpPr/>
          <p:nvPr/>
        </p:nvSpPr>
        <p:spPr>
          <a:xfrm>
            <a:off x="4414836" y="5717410"/>
            <a:ext cx="6049326" cy="226995"/>
          </a:xfrm>
          <a:prstGeom prst="rect">
            <a:avLst/>
          </a:prstGeom>
          <a:solidFill>
            <a:schemeClr val="bg1"/>
          </a:solidFill>
          <a:ln w="28575" cap="flat" cmpd="sng" algn="ctr">
            <a:noFill/>
            <a:prstDash val="dash"/>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7" name="Titel 6">
            <a:extLst>
              <a:ext uri="{FF2B5EF4-FFF2-40B4-BE49-F238E27FC236}">
                <a16:creationId xmlns:a16="http://schemas.microsoft.com/office/drawing/2014/main" id="{0DB2229D-904B-1E88-CD4F-2DB33A3D7EA8}"/>
              </a:ext>
            </a:extLst>
          </p:cNvPr>
          <p:cNvSpPr>
            <a:spLocks noGrp="1"/>
          </p:cNvSpPr>
          <p:nvPr>
            <p:ph type="title"/>
          </p:nvPr>
        </p:nvSpPr>
        <p:spPr>
          <a:xfrm>
            <a:off x="593725" y="956711"/>
            <a:ext cx="10764838" cy="1278489"/>
          </a:xfrm>
        </p:spPr>
        <p:txBody>
          <a:bodyPr/>
          <a:lstStyle/>
          <a:p>
            <a:r>
              <a:rPr lang="de-DE" dirty="0"/>
              <a:t>Stromflüsse: Flexibilität &amp; Bedarfsdeckung</a:t>
            </a:r>
            <a:br>
              <a:rPr lang="de-DE" dirty="0"/>
            </a:br>
            <a:br>
              <a:rPr lang="de-DE" dirty="0"/>
            </a:br>
            <a:endParaRPr lang="de-DE" dirty="0"/>
          </a:p>
        </p:txBody>
      </p:sp>
      <p:sp>
        <p:nvSpPr>
          <p:cNvPr id="3" name="Foliennummernplatzhalter 2">
            <a:extLst>
              <a:ext uri="{FF2B5EF4-FFF2-40B4-BE49-F238E27FC236}">
                <a16:creationId xmlns:a16="http://schemas.microsoft.com/office/drawing/2014/main" id="{6ADF0764-C9B2-8D50-0A51-40317C85C846}"/>
              </a:ext>
            </a:extLst>
          </p:cNvPr>
          <p:cNvSpPr>
            <a:spLocks noGrp="1"/>
          </p:cNvSpPr>
          <p:nvPr>
            <p:ph type="sldNum" sz="quarter" idx="12"/>
          </p:nvPr>
        </p:nvSpPr>
        <p:spPr>
          <a:xfrm>
            <a:off x="10272004" y="6387003"/>
            <a:ext cx="1086029" cy="266700"/>
          </a:xfrm>
        </p:spPr>
        <p:txBody>
          <a:bodyPr/>
          <a:lstStyle/>
          <a:p>
            <a:pPr lvl="0"/>
            <a:endParaRPr lang="de-AT" noProof="0" dirty="0"/>
          </a:p>
          <a:p>
            <a:pPr lvl="0"/>
            <a:fld id="{6DF1416F-3104-4888-B9E3-BED4C99BC5D9}" type="slidenum">
              <a:rPr lang="de-AT" noProof="0" smtClean="0"/>
              <a:pPr lvl="0"/>
              <a:t>16</a:t>
            </a:fld>
            <a:endParaRPr lang="de-AT" noProof="0" dirty="0"/>
          </a:p>
        </p:txBody>
      </p:sp>
      <p:sp>
        <p:nvSpPr>
          <p:cNvPr id="418" name="Rechteck 417">
            <a:extLst>
              <a:ext uri="{FF2B5EF4-FFF2-40B4-BE49-F238E27FC236}">
                <a16:creationId xmlns:a16="http://schemas.microsoft.com/office/drawing/2014/main" id="{BBD07545-1F02-DC0D-10C5-2A13D76A5F65}"/>
              </a:ext>
            </a:extLst>
          </p:cNvPr>
          <p:cNvSpPr/>
          <p:nvPr/>
        </p:nvSpPr>
        <p:spPr>
          <a:xfrm>
            <a:off x="7398840" y="2212706"/>
            <a:ext cx="2766664" cy="3101701"/>
          </a:xfrm>
          <a:prstGeom prst="rect">
            <a:avLst/>
          </a:prstGeom>
          <a:solidFill>
            <a:srgbClr val="BCCF00">
              <a:lumMod val="20000"/>
              <a:lumOff val="80000"/>
            </a:srgbClr>
          </a:solidFill>
          <a:ln w="12700" cap="flat" cmpd="sng" algn="ctr">
            <a:noFill/>
            <a:prstDash val="solid"/>
            <a:miter lim="800000"/>
          </a:ln>
          <a:effectLst/>
        </p:spPr>
        <p:txBody>
          <a:bodyPr rtlCol="0" anchor="ctr"/>
          <a:lstStyle/>
          <a:p>
            <a:pPr algn="ctr" defTabSz="914339">
              <a:defRPr/>
            </a:pPr>
            <a:endParaRPr lang="de-AT" sz="1200" kern="0" dirty="0">
              <a:solidFill>
                <a:sysClr val="windowText" lastClr="000000"/>
              </a:solidFill>
              <a:latin typeface="Aptos" panose="020B0004020202020204" pitchFamily="34" charset="0"/>
            </a:endParaRPr>
          </a:p>
        </p:txBody>
      </p:sp>
      <p:sp>
        <p:nvSpPr>
          <p:cNvPr id="420" name="Rechteck 419">
            <a:extLst>
              <a:ext uri="{FF2B5EF4-FFF2-40B4-BE49-F238E27FC236}">
                <a16:creationId xmlns:a16="http://schemas.microsoft.com/office/drawing/2014/main" id="{60D7CA38-197F-6DCE-FBD2-72EADF1DC748}"/>
              </a:ext>
            </a:extLst>
          </p:cNvPr>
          <p:cNvSpPr/>
          <p:nvPr/>
        </p:nvSpPr>
        <p:spPr>
          <a:xfrm>
            <a:off x="2169146" y="4510314"/>
            <a:ext cx="2180168" cy="642878"/>
          </a:xfrm>
          <a:prstGeom prst="rect">
            <a:avLst/>
          </a:prstGeom>
          <a:solidFill>
            <a:srgbClr val="FFFFFF"/>
          </a:solidFill>
          <a:ln w="28575" cap="flat" cmpd="sng" algn="ctr">
            <a:solidFill>
              <a:srgbClr val="E6EFF3">
                <a:lumMod val="90000"/>
              </a:srgbClr>
            </a:solidFill>
            <a:prstDash val="dash"/>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cxnSp>
        <p:nvCxnSpPr>
          <p:cNvPr id="421" name="Gewinkelter Verbinder 283">
            <a:extLst>
              <a:ext uri="{FF2B5EF4-FFF2-40B4-BE49-F238E27FC236}">
                <a16:creationId xmlns:a16="http://schemas.microsoft.com/office/drawing/2014/main" id="{8CBA538D-0FE0-0504-93A1-4AE76C49B9B1}"/>
              </a:ext>
            </a:extLst>
          </p:cNvPr>
          <p:cNvCxnSpPr>
            <a:cxnSpLocks/>
          </p:cNvCxnSpPr>
          <p:nvPr/>
        </p:nvCxnSpPr>
        <p:spPr>
          <a:xfrm rot="5400000" flipH="1" flipV="1">
            <a:off x="9228618" y="2733602"/>
            <a:ext cx="1856147" cy="242225"/>
          </a:xfrm>
          <a:prstGeom prst="bentConnector3">
            <a:avLst>
              <a:gd name="adj1" fmla="val 460"/>
            </a:avLst>
          </a:prstGeom>
          <a:noFill/>
          <a:ln w="76200" cap="flat" cmpd="sng" algn="ctr">
            <a:solidFill>
              <a:srgbClr val="5FB564">
                <a:lumMod val="60000"/>
                <a:lumOff val="40000"/>
              </a:srgbClr>
            </a:solidFill>
            <a:prstDash val="solid"/>
            <a:miter lim="800000"/>
            <a:tailEnd type="triangle"/>
          </a:ln>
          <a:effectLst/>
        </p:spPr>
      </p:cxnSp>
      <p:sp>
        <p:nvSpPr>
          <p:cNvPr id="422" name="Textfeld 421">
            <a:extLst>
              <a:ext uri="{FF2B5EF4-FFF2-40B4-BE49-F238E27FC236}">
                <a16:creationId xmlns:a16="http://schemas.microsoft.com/office/drawing/2014/main" id="{079CEEE1-FF3F-A492-DA7B-3D1F051F94A8}"/>
              </a:ext>
            </a:extLst>
          </p:cNvPr>
          <p:cNvSpPr txBox="1"/>
          <p:nvPr/>
        </p:nvSpPr>
        <p:spPr>
          <a:xfrm>
            <a:off x="3433542" y="5980392"/>
            <a:ext cx="184730" cy="276999"/>
          </a:xfrm>
          <a:prstGeom prst="rect">
            <a:avLst/>
          </a:prstGeom>
          <a:noFill/>
        </p:spPr>
        <p:txBody>
          <a:bodyPr wrap="none" rtlCol="0">
            <a:spAutoFit/>
          </a:bodyPr>
          <a:lstStyle/>
          <a:p>
            <a:pPr algn="r">
              <a:defRPr/>
            </a:pPr>
            <a:endParaRPr lang="de-AT" sz="1200" dirty="0">
              <a:solidFill>
                <a:prstClr val="black"/>
              </a:solidFill>
              <a:latin typeface="Aptos" panose="020B0004020202020204" pitchFamily="34" charset="0"/>
            </a:endParaRPr>
          </a:p>
        </p:txBody>
      </p:sp>
      <p:sp>
        <p:nvSpPr>
          <p:cNvPr id="423" name="Textfeld 422">
            <a:extLst>
              <a:ext uri="{FF2B5EF4-FFF2-40B4-BE49-F238E27FC236}">
                <a16:creationId xmlns:a16="http://schemas.microsoft.com/office/drawing/2014/main" id="{46A7C72A-2119-AC0F-11D2-1A9035EF7CB4}"/>
              </a:ext>
            </a:extLst>
          </p:cNvPr>
          <p:cNvSpPr txBox="1"/>
          <p:nvPr/>
        </p:nvSpPr>
        <p:spPr>
          <a:xfrm>
            <a:off x="3433542" y="4613967"/>
            <a:ext cx="184730" cy="276999"/>
          </a:xfrm>
          <a:prstGeom prst="rect">
            <a:avLst/>
          </a:prstGeom>
          <a:noFill/>
        </p:spPr>
        <p:txBody>
          <a:bodyPr wrap="none" rtlCol="0">
            <a:spAutoFit/>
          </a:bodyPr>
          <a:lstStyle/>
          <a:p>
            <a:pPr algn="r">
              <a:defRPr/>
            </a:pPr>
            <a:endParaRPr lang="de-AT" sz="1200" dirty="0">
              <a:solidFill>
                <a:prstClr val="black"/>
              </a:solidFill>
              <a:latin typeface="Aptos" panose="020B0004020202020204" pitchFamily="34" charset="0"/>
            </a:endParaRPr>
          </a:p>
        </p:txBody>
      </p:sp>
      <p:sp>
        <p:nvSpPr>
          <p:cNvPr id="424" name="Textfeld 423">
            <a:extLst>
              <a:ext uri="{FF2B5EF4-FFF2-40B4-BE49-F238E27FC236}">
                <a16:creationId xmlns:a16="http://schemas.microsoft.com/office/drawing/2014/main" id="{71F32CBB-29CB-5D02-1BB7-4591E6534336}"/>
              </a:ext>
            </a:extLst>
          </p:cNvPr>
          <p:cNvSpPr txBox="1"/>
          <p:nvPr/>
        </p:nvSpPr>
        <p:spPr>
          <a:xfrm>
            <a:off x="3433542" y="4056185"/>
            <a:ext cx="184730" cy="276999"/>
          </a:xfrm>
          <a:prstGeom prst="rect">
            <a:avLst/>
          </a:prstGeom>
          <a:noFill/>
        </p:spPr>
        <p:txBody>
          <a:bodyPr wrap="none" rtlCol="0">
            <a:spAutoFit/>
          </a:bodyPr>
          <a:lstStyle/>
          <a:p>
            <a:pPr algn="r">
              <a:defRPr/>
            </a:pPr>
            <a:endParaRPr lang="de-AT" sz="1200" dirty="0">
              <a:solidFill>
                <a:prstClr val="black"/>
              </a:solidFill>
              <a:latin typeface="Aptos" panose="020B0004020202020204" pitchFamily="34" charset="0"/>
            </a:endParaRPr>
          </a:p>
        </p:txBody>
      </p:sp>
      <p:sp>
        <p:nvSpPr>
          <p:cNvPr id="425" name="Solar_panel2" descr="{&quot;Key&quot;:&quot;POWER_USER_SHAPE_ICON&quot;,&quot;Value&quot;:&quot;POWER_USER_SHAPE_ICON_STYLE_1&quot;}">
            <a:extLst>
              <a:ext uri="{FF2B5EF4-FFF2-40B4-BE49-F238E27FC236}">
                <a16:creationId xmlns:a16="http://schemas.microsoft.com/office/drawing/2014/main" id="{31FDCFBC-326A-2E60-52FC-97E6384366B0}"/>
              </a:ext>
            </a:extLst>
          </p:cNvPr>
          <p:cNvSpPr>
            <a:spLocks noChangeAspect="1" noEditPoints="1"/>
          </p:cNvSpPr>
          <p:nvPr>
            <p:custDataLst>
              <p:tags r:id="rId1"/>
            </p:custDataLst>
          </p:nvPr>
        </p:nvSpPr>
        <p:spPr bwMode="auto">
          <a:xfrm>
            <a:off x="3710350" y="3565255"/>
            <a:ext cx="273134" cy="259627"/>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2000" kern="0" dirty="0">
              <a:solidFill>
                <a:prstClr val="black"/>
              </a:solidFill>
              <a:latin typeface="Aptos" panose="020B0004020202020204" pitchFamily="34" charset="0"/>
            </a:endParaRPr>
          </a:p>
        </p:txBody>
      </p:sp>
      <p:sp>
        <p:nvSpPr>
          <p:cNvPr id="426" name="Textfeld 425">
            <a:extLst>
              <a:ext uri="{FF2B5EF4-FFF2-40B4-BE49-F238E27FC236}">
                <a16:creationId xmlns:a16="http://schemas.microsoft.com/office/drawing/2014/main" id="{37923972-E1FB-2389-4EF2-52C3524679CF}"/>
              </a:ext>
            </a:extLst>
          </p:cNvPr>
          <p:cNvSpPr txBox="1"/>
          <p:nvPr/>
        </p:nvSpPr>
        <p:spPr>
          <a:xfrm>
            <a:off x="4778724" y="2292302"/>
            <a:ext cx="184731" cy="276999"/>
          </a:xfrm>
          <a:prstGeom prst="rect">
            <a:avLst/>
          </a:prstGeom>
          <a:noFill/>
        </p:spPr>
        <p:txBody>
          <a:bodyPr wrap="none" rtlCol="0">
            <a:spAutoFit/>
          </a:bodyPr>
          <a:lstStyle/>
          <a:p>
            <a:pPr algn="ctr">
              <a:defRPr/>
            </a:pPr>
            <a:endParaRPr lang="de-AT" sz="1200" dirty="0">
              <a:solidFill>
                <a:prstClr val="black"/>
              </a:solidFill>
              <a:latin typeface="Aptos" panose="020B0004020202020204" pitchFamily="34" charset="0"/>
            </a:endParaRPr>
          </a:p>
        </p:txBody>
      </p:sp>
      <p:cxnSp>
        <p:nvCxnSpPr>
          <p:cNvPr id="427" name="Gerade Verbindung mit Pfeil 426">
            <a:extLst>
              <a:ext uri="{FF2B5EF4-FFF2-40B4-BE49-F238E27FC236}">
                <a16:creationId xmlns:a16="http://schemas.microsoft.com/office/drawing/2014/main" id="{A05BEC53-80A1-5064-10DB-DE1D66E77BAF}"/>
              </a:ext>
            </a:extLst>
          </p:cNvPr>
          <p:cNvCxnSpPr>
            <a:cxnSpLocks/>
          </p:cNvCxnSpPr>
          <p:nvPr/>
        </p:nvCxnSpPr>
        <p:spPr>
          <a:xfrm>
            <a:off x="2827937" y="2352710"/>
            <a:ext cx="1947872" cy="1415047"/>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28" name="Gerade Verbindung mit Pfeil 427">
            <a:extLst>
              <a:ext uri="{FF2B5EF4-FFF2-40B4-BE49-F238E27FC236}">
                <a16:creationId xmlns:a16="http://schemas.microsoft.com/office/drawing/2014/main" id="{E87B93C5-3044-A82E-0E54-60B52E9D00F2}"/>
              </a:ext>
            </a:extLst>
          </p:cNvPr>
          <p:cNvCxnSpPr>
            <a:cxnSpLocks/>
          </p:cNvCxnSpPr>
          <p:nvPr/>
        </p:nvCxnSpPr>
        <p:spPr>
          <a:xfrm>
            <a:off x="5003103" y="3751253"/>
            <a:ext cx="732870" cy="478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29" name="Gerade Verbindung mit Pfeil 428">
            <a:extLst>
              <a:ext uri="{FF2B5EF4-FFF2-40B4-BE49-F238E27FC236}">
                <a16:creationId xmlns:a16="http://schemas.microsoft.com/office/drawing/2014/main" id="{1079E5BA-8141-701E-995C-2331805FBFDF}"/>
              </a:ext>
            </a:extLst>
          </p:cNvPr>
          <p:cNvCxnSpPr>
            <a:cxnSpLocks/>
          </p:cNvCxnSpPr>
          <p:nvPr/>
        </p:nvCxnSpPr>
        <p:spPr>
          <a:xfrm>
            <a:off x="5990918" y="3767757"/>
            <a:ext cx="688605" cy="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30" name="Gerade Verbindung mit Pfeil 429">
            <a:extLst>
              <a:ext uri="{FF2B5EF4-FFF2-40B4-BE49-F238E27FC236}">
                <a16:creationId xmlns:a16="http://schemas.microsoft.com/office/drawing/2014/main" id="{CF60259D-AB7E-2979-5110-36B918568CA6}"/>
              </a:ext>
            </a:extLst>
          </p:cNvPr>
          <p:cNvCxnSpPr>
            <a:cxnSpLocks/>
            <a:endCxn id="443" idx="2"/>
          </p:cNvCxnSpPr>
          <p:nvPr/>
        </p:nvCxnSpPr>
        <p:spPr>
          <a:xfrm>
            <a:off x="6981799" y="3771862"/>
            <a:ext cx="685930" cy="10925"/>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31" name="Gerade Verbindung mit Pfeil 430">
            <a:extLst>
              <a:ext uri="{FF2B5EF4-FFF2-40B4-BE49-F238E27FC236}">
                <a16:creationId xmlns:a16="http://schemas.microsoft.com/office/drawing/2014/main" id="{816F8B10-1512-051E-C3E9-805EDB25DF90}"/>
              </a:ext>
            </a:extLst>
          </p:cNvPr>
          <p:cNvCxnSpPr>
            <a:cxnSpLocks/>
          </p:cNvCxnSpPr>
          <p:nvPr/>
        </p:nvCxnSpPr>
        <p:spPr>
          <a:xfrm>
            <a:off x="7928109" y="3782789"/>
            <a:ext cx="698214" cy="827"/>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32" name="Gerade Verbindung mit Pfeil 431">
            <a:extLst>
              <a:ext uri="{FF2B5EF4-FFF2-40B4-BE49-F238E27FC236}">
                <a16:creationId xmlns:a16="http://schemas.microsoft.com/office/drawing/2014/main" id="{F52D73AD-24C8-06F4-FCEB-A0A78C62C738}"/>
              </a:ext>
            </a:extLst>
          </p:cNvPr>
          <p:cNvCxnSpPr>
            <a:cxnSpLocks/>
          </p:cNvCxnSpPr>
          <p:nvPr/>
        </p:nvCxnSpPr>
        <p:spPr>
          <a:xfrm flipV="1">
            <a:off x="8877670" y="3767353"/>
            <a:ext cx="748395" cy="587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33" name="Gewinkelter Verbinder 271">
            <a:extLst>
              <a:ext uri="{FF2B5EF4-FFF2-40B4-BE49-F238E27FC236}">
                <a16:creationId xmlns:a16="http://schemas.microsoft.com/office/drawing/2014/main" id="{5555DAC2-B7E1-B799-20FD-4B7FC3DC19AB}"/>
              </a:ext>
            </a:extLst>
          </p:cNvPr>
          <p:cNvCxnSpPr>
            <a:cxnSpLocks/>
          </p:cNvCxnSpPr>
          <p:nvPr/>
        </p:nvCxnSpPr>
        <p:spPr>
          <a:xfrm flipH="1">
            <a:off x="4816437" y="3759684"/>
            <a:ext cx="5021070" cy="542851"/>
          </a:xfrm>
          <a:prstGeom prst="bentConnector5">
            <a:avLst>
              <a:gd name="adj1" fmla="val -3319"/>
              <a:gd name="adj2" fmla="val 43954"/>
              <a:gd name="adj3" fmla="val 103319"/>
            </a:avLst>
          </a:prstGeom>
          <a:noFill/>
          <a:ln w="28575" cap="flat" cmpd="sng" algn="ctr">
            <a:solidFill>
              <a:schemeClr val="bg1">
                <a:lumMod val="85000"/>
              </a:schemeClr>
            </a:solidFill>
            <a:prstDash val="sysDot"/>
            <a:miter lim="800000"/>
            <a:tailEnd type="triangle"/>
          </a:ln>
          <a:effectLst/>
        </p:spPr>
      </p:cxnSp>
      <p:cxnSp>
        <p:nvCxnSpPr>
          <p:cNvPr id="434" name="Gewinkelter Verbinder 274">
            <a:extLst>
              <a:ext uri="{FF2B5EF4-FFF2-40B4-BE49-F238E27FC236}">
                <a16:creationId xmlns:a16="http://schemas.microsoft.com/office/drawing/2014/main" id="{595885D2-3704-613A-3EC6-234A35F557E5}"/>
              </a:ext>
            </a:extLst>
          </p:cNvPr>
          <p:cNvCxnSpPr>
            <a:cxnSpLocks/>
          </p:cNvCxnSpPr>
          <p:nvPr/>
        </p:nvCxnSpPr>
        <p:spPr>
          <a:xfrm flipH="1">
            <a:off x="4816438" y="4301708"/>
            <a:ext cx="2274654" cy="549447"/>
          </a:xfrm>
          <a:prstGeom prst="bentConnector5">
            <a:avLst>
              <a:gd name="adj1" fmla="val -7325"/>
              <a:gd name="adj2" fmla="val 45150"/>
              <a:gd name="adj3" fmla="val 107325"/>
            </a:avLst>
          </a:prstGeom>
          <a:noFill/>
          <a:ln w="28575" cap="flat" cmpd="sng" algn="ctr">
            <a:solidFill>
              <a:schemeClr val="bg1">
                <a:lumMod val="85000"/>
              </a:schemeClr>
            </a:solidFill>
            <a:prstDash val="sysDot"/>
            <a:miter lim="800000"/>
            <a:tailEnd type="triangle"/>
          </a:ln>
          <a:effectLst/>
        </p:spPr>
      </p:cxnSp>
      <p:cxnSp>
        <p:nvCxnSpPr>
          <p:cNvPr id="435" name="Gewinkelter Verbinder 277">
            <a:extLst>
              <a:ext uri="{FF2B5EF4-FFF2-40B4-BE49-F238E27FC236}">
                <a16:creationId xmlns:a16="http://schemas.microsoft.com/office/drawing/2014/main" id="{B0ECA819-D6E4-3A65-6A8A-4D585D8C733F}"/>
              </a:ext>
            </a:extLst>
          </p:cNvPr>
          <p:cNvCxnSpPr>
            <a:cxnSpLocks/>
            <a:stCxn id="579" idx="0"/>
            <a:endCxn id="459" idx="2"/>
          </p:cNvCxnSpPr>
          <p:nvPr/>
        </p:nvCxnSpPr>
        <p:spPr>
          <a:xfrm flipH="1">
            <a:off x="4775808" y="5422972"/>
            <a:ext cx="1364154" cy="815253"/>
          </a:xfrm>
          <a:prstGeom prst="bentConnector5">
            <a:avLst>
              <a:gd name="adj1" fmla="val -16758"/>
              <a:gd name="adj2" fmla="val 50832"/>
              <a:gd name="adj3" fmla="val 108164"/>
            </a:avLst>
          </a:prstGeom>
          <a:noFill/>
          <a:ln w="28575" cap="flat" cmpd="sng" algn="ctr">
            <a:solidFill>
              <a:schemeClr val="bg1">
                <a:lumMod val="85000"/>
              </a:schemeClr>
            </a:solidFill>
            <a:prstDash val="sysDot"/>
            <a:miter lim="800000"/>
            <a:tailEnd type="triangle"/>
          </a:ln>
          <a:effectLst/>
        </p:spPr>
      </p:cxnSp>
      <p:sp>
        <p:nvSpPr>
          <p:cNvPr id="436" name="Textfeld 435">
            <a:extLst>
              <a:ext uri="{FF2B5EF4-FFF2-40B4-BE49-F238E27FC236}">
                <a16:creationId xmlns:a16="http://schemas.microsoft.com/office/drawing/2014/main" id="{E6633749-5E66-A6E2-ABA7-682F7A5F8369}"/>
              </a:ext>
            </a:extLst>
          </p:cNvPr>
          <p:cNvSpPr txBox="1"/>
          <p:nvPr/>
        </p:nvSpPr>
        <p:spPr>
          <a:xfrm>
            <a:off x="7680870" y="6038918"/>
            <a:ext cx="184731" cy="184666"/>
          </a:xfrm>
          <a:prstGeom prst="rect">
            <a:avLst/>
          </a:prstGeom>
          <a:noFill/>
        </p:spPr>
        <p:txBody>
          <a:bodyPr wrap="none" rtlCol="0">
            <a:spAutoFit/>
          </a:bodyPr>
          <a:lstStyle/>
          <a:p>
            <a:pPr algn="ctr">
              <a:defRPr/>
            </a:pPr>
            <a:endParaRPr lang="de-AT" sz="600" dirty="0">
              <a:solidFill>
                <a:prstClr val="black"/>
              </a:solidFill>
              <a:latin typeface="Aptos" panose="020B0004020202020204" pitchFamily="34" charset="0"/>
            </a:endParaRPr>
          </a:p>
        </p:txBody>
      </p:sp>
      <p:sp>
        <p:nvSpPr>
          <p:cNvPr id="437" name="High_voltage3" descr="{&quot;Key&quot;:&quot;POWER_USER_SHAPE_ICON&quot;,&quot;Value&quot;:&quot;POWER_USER_SHAPE_ICON_STYLE_1&quot;}">
            <a:extLst>
              <a:ext uri="{FF2B5EF4-FFF2-40B4-BE49-F238E27FC236}">
                <a16:creationId xmlns:a16="http://schemas.microsoft.com/office/drawing/2014/main" id="{C269D635-608F-D191-3573-9F61C6149087}"/>
              </a:ext>
            </a:extLst>
          </p:cNvPr>
          <p:cNvSpPr>
            <a:spLocks noChangeAspect="1" noEditPoints="1"/>
          </p:cNvSpPr>
          <p:nvPr>
            <p:custDataLst>
              <p:tags r:id="rId2"/>
            </p:custDataLst>
          </p:nvPr>
        </p:nvSpPr>
        <p:spPr bwMode="auto">
          <a:xfrm>
            <a:off x="3790942" y="5950809"/>
            <a:ext cx="231331" cy="322083"/>
          </a:xfrm>
          <a:custGeom>
            <a:avLst/>
            <a:gdLst>
              <a:gd name="T0" fmla="*/ 244 w 542"/>
              <a:gd name="T1" fmla="*/ 590 h 753"/>
              <a:gd name="T2" fmla="*/ 181 w 542"/>
              <a:gd name="T3" fmla="*/ 645 h 753"/>
              <a:gd name="T4" fmla="*/ 361 w 542"/>
              <a:gd name="T5" fmla="*/ 645 h 753"/>
              <a:gd name="T6" fmla="*/ 298 w 542"/>
              <a:gd name="T7" fmla="*/ 590 h 753"/>
              <a:gd name="T8" fmla="*/ 376 w 542"/>
              <a:gd name="T9" fmla="*/ 706 h 753"/>
              <a:gd name="T10" fmla="*/ 166 w 542"/>
              <a:gd name="T11" fmla="*/ 706 h 753"/>
              <a:gd name="T12" fmla="*/ 122 w 542"/>
              <a:gd name="T13" fmla="*/ 395 h 753"/>
              <a:gd name="T14" fmla="*/ 204 w 542"/>
              <a:gd name="T15" fmla="*/ 347 h 753"/>
              <a:gd name="T16" fmla="*/ 338 w 542"/>
              <a:gd name="T17" fmla="*/ 347 h 753"/>
              <a:gd name="T18" fmla="*/ 420 w 542"/>
              <a:gd name="T19" fmla="*/ 395 h 753"/>
              <a:gd name="T20" fmla="*/ 219 w 542"/>
              <a:gd name="T21" fmla="*/ 521 h 753"/>
              <a:gd name="T22" fmla="*/ 323 w 542"/>
              <a:gd name="T23" fmla="*/ 521 h 753"/>
              <a:gd name="T24" fmla="*/ 247 w 542"/>
              <a:gd name="T25" fmla="*/ 430 h 753"/>
              <a:gd name="T26" fmla="*/ 251 w 542"/>
              <a:gd name="T27" fmla="*/ 395 h 753"/>
              <a:gd name="T28" fmla="*/ 291 w 542"/>
              <a:gd name="T29" fmla="*/ 331 h 753"/>
              <a:gd name="T30" fmla="*/ 38 w 542"/>
              <a:gd name="T31" fmla="*/ 412 h 753"/>
              <a:gd name="T32" fmla="*/ 204 w 542"/>
              <a:gd name="T33" fmla="*/ 306 h 753"/>
              <a:gd name="T34" fmla="*/ 95 w 542"/>
              <a:gd name="T35" fmla="*/ 231 h 753"/>
              <a:gd name="T36" fmla="*/ 77 w 542"/>
              <a:gd name="T37" fmla="*/ 303 h 753"/>
              <a:gd name="T38" fmla="*/ 60 w 542"/>
              <a:gd name="T39" fmla="*/ 213 h 753"/>
              <a:gd name="T40" fmla="*/ 212 w 542"/>
              <a:gd name="T41" fmla="*/ 115 h 753"/>
              <a:gd name="T42" fmla="*/ 257 w 542"/>
              <a:gd name="T43" fmla="*/ 0 h 753"/>
              <a:gd name="T44" fmla="*/ 303 w 542"/>
              <a:gd name="T45" fmla="*/ 14 h 753"/>
              <a:gd name="T46" fmla="*/ 472 w 542"/>
              <a:gd name="T47" fmla="*/ 197 h 753"/>
              <a:gd name="T48" fmla="*/ 482 w 542"/>
              <a:gd name="T49" fmla="*/ 285 h 753"/>
              <a:gd name="T50" fmla="*/ 447 w 542"/>
              <a:gd name="T51" fmla="*/ 285 h 753"/>
              <a:gd name="T52" fmla="*/ 338 w 542"/>
              <a:gd name="T53" fmla="*/ 231 h 753"/>
              <a:gd name="T54" fmla="*/ 494 w 542"/>
              <a:gd name="T55" fmla="*/ 397 h 753"/>
              <a:gd name="T56" fmla="*/ 504 w 542"/>
              <a:gd name="T57" fmla="*/ 484 h 753"/>
              <a:gd name="T58" fmla="*/ 469 w 542"/>
              <a:gd name="T59" fmla="*/ 484 h 753"/>
              <a:gd name="T60" fmla="*/ 344 w 542"/>
              <a:gd name="T61" fmla="*/ 430 h 753"/>
              <a:gd name="T62" fmla="*/ 519 w 542"/>
              <a:gd name="T63" fmla="*/ 706 h 753"/>
              <a:gd name="T64" fmla="*/ 519 w 542"/>
              <a:gd name="T65" fmla="*/ 753 h 753"/>
              <a:gd name="T66" fmla="*/ 0 w 542"/>
              <a:gd name="T67" fmla="*/ 730 h 753"/>
              <a:gd name="T68" fmla="*/ 114 w 542"/>
              <a:gd name="T69" fmla="*/ 706 h 753"/>
              <a:gd name="T70" fmla="*/ 73 w 542"/>
              <a:gd name="T71" fmla="*/ 430 h 753"/>
              <a:gd name="T72" fmla="*/ 56 w 542"/>
              <a:gd name="T73" fmla="*/ 502 h 753"/>
              <a:gd name="T74" fmla="*/ 38 w 542"/>
              <a:gd name="T75" fmla="*/ 412 h 753"/>
              <a:gd name="T76" fmla="*/ 144 w 542"/>
              <a:gd name="T77" fmla="*/ 195 h 753"/>
              <a:gd name="T78" fmla="*/ 204 w 542"/>
              <a:gd name="T79" fmla="*/ 160 h 753"/>
              <a:gd name="T80" fmla="*/ 338 w 542"/>
              <a:gd name="T81" fmla="*/ 160 h 753"/>
              <a:gd name="T82" fmla="*/ 399 w 542"/>
              <a:gd name="T83" fmla="*/ 195 h 753"/>
              <a:gd name="T84" fmla="*/ 271 w 542"/>
              <a:gd name="T85" fmla="*/ 35 h 753"/>
              <a:gd name="T86" fmla="*/ 291 w 542"/>
              <a:gd name="T87" fmla="*/ 109 h 753"/>
              <a:gd name="T88" fmla="*/ 251 w 542"/>
              <a:gd name="T89" fmla="*/ 296 h 753"/>
              <a:gd name="T90" fmla="*/ 291 w 542"/>
              <a:gd name="T91" fmla="*/ 231 h 753"/>
              <a:gd name="T92" fmla="*/ 251 w 542"/>
              <a:gd name="T93" fmla="*/ 144 h 753"/>
              <a:gd name="T94" fmla="*/ 291 w 542"/>
              <a:gd name="T95" fmla="*/ 195 h 753"/>
              <a:gd name="T96" fmla="*/ 251 w 542"/>
              <a:gd name="T97" fmla="*/ 144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2" h="753">
                <a:moveTo>
                  <a:pt x="181" y="645"/>
                </a:moveTo>
                <a:lnTo>
                  <a:pt x="244" y="590"/>
                </a:lnTo>
                <a:lnTo>
                  <a:pt x="208" y="558"/>
                </a:lnTo>
                <a:lnTo>
                  <a:pt x="181" y="645"/>
                </a:lnTo>
                <a:close/>
                <a:moveTo>
                  <a:pt x="298" y="590"/>
                </a:moveTo>
                <a:lnTo>
                  <a:pt x="361" y="645"/>
                </a:lnTo>
                <a:lnTo>
                  <a:pt x="334" y="558"/>
                </a:lnTo>
                <a:lnTo>
                  <a:pt x="298" y="590"/>
                </a:lnTo>
                <a:close/>
                <a:moveTo>
                  <a:pt x="166" y="706"/>
                </a:moveTo>
                <a:lnTo>
                  <a:pt x="376" y="706"/>
                </a:lnTo>
                <a:lnTo>
                  <a:pt x="271" y="614"/>
                </a:lnTo>
                <a:lnTo>
                  <a:pt x="166" y="706"/>
                </a:lnTo>
                <a:close/>
                <a:moveTo>
                  <a:pt x="204" y="347"/>
                </a:moveTo>
                <a:lnTo>
                  <a:pt x="122" y="395"/>
                </a:lnTo>
                <a:lnTo>
                  <a:pt x="204" y="395"/>
                </a:lnTo>
                <a:lnTo>
                  <a:pt x="204" y="347"/>
                </a:lnTo>
                <a:close/>
                <a:moveTo>
                  <a:pt x="420" y="395"/>
                </a:moveTo>
                <a:lnTo>
                  <a:pt x="338" y="347"/>
                </a:lnTo>
                <a:lnTo>
                  <a:pt x="338" y="395"/>
                </a:lnTo>
                <a:lnTo>
                  <a:pt x="420" y="395"/>
                </a:lnTo>
                <a:close/>
                <a:moveTo>
                  <a:pt x="247" y="430"/>
                </a:moveTo>
                <a:lnTo>
                  <a:pt x="219" y="521"/>
                </a:lnTo>
                <a:lnTo>
                  <a:pt x="271" y="566"/>
                </a:lnTo>
                <a:lnTo>
                  <a:pt x="323" y="521"/>
                </a:lnTo>
                <a:lnTo>
                  <a:pt x="295" y="430"/>
                </a:lnTo>
                <a:lnTo>
                  <a:pt x="247" y="430"/>
                </a:lnTo>
                <a:close/>
                <a:moveTo>
                  <a:pt x="251" y="331"/>
                </a:moveTo>
                <a:lnTo>
                  <a:pt x="251" y="395"/>
                </a:lnTo>
                <a:lnTo>
                  <a:pt x="291" y="395"/>
                </a:lnTo>
                <a:lnTo>
                  <a:pt x="291" y="331"/>
                </a:lnTo>
                <a:lnTo>
                  <a:pt x="251" y="331"/>
                </a:lnTo>
                <a:close/>
                <a:moveTo>
                  <a:pt x="38" y="412"/>
                </a:moveTo>
                <a:cubicBezTo>
                  <a:pt x="38" y="406"/>
                  <a:pt x="41" y="400"/>
                  <a:pt x="47" y="397"/>
                </a:cubicBezTo>
                <a:lnTo>
                  <a:pt x="204" y="306"/>
                </a:lnTo>
                <a:lnTo>
                  <a:pt x="204" y="231"/>
                </a:lnTo>
                <a:lnTo>
                  <a:pt x="95" y="231"/>
                </a:lnTo>
                <a:lnTo>
                  <a:pt x="95" y="285"/>
                </a:lnTo>
                <a:cubicBezTo>
                  <a:pt x="95" y="295"/>
                  <a:pt x="87" y="303"/>
                  <a:pt x="77" y="303"/>
                </a:cubicBezTo>
                <a:cubicBezTo>
                  <a:pt x="68" y="303"/>
                  <a:pt x="60" y="295"/>
                  <a:pt x="60" y="285"/>
                </a:cubicBezTo>
                <a:lnTo>
                  <a:pt x="60" y="213"/>
                </a:lnTo>
                <a:cubicBezTo>
                  <a:pt x="60" y="207"/>
                  <a:pt x="63" y="201"/>
                  <a:pt x="69" y="198"/>
                </a:cubicBezTo>
                <a:lnTo>
                  <a:pt x="212" y="115"/>
                </a:lnTo>
                <a:lnTo>
                  <a:pt x="240" y="13"/>
                </a:lnTo>
                <a:cubicBezTo>
                  <a:pt x="242" y="5"/>
                  <a:pt x="249" y="0"/>
                  <a:pt x="257" y="0"/>
                </a:cubicBezTo>
                <a:lnTo>
                  <a:pt x="285" y="0"/>
                </a:lnTo>
                <a:cubicBezTo>
                  <a:pt x="294" y="0"/>
                  <a:pt x="300" y="6"/>
                  <a:pt x="303" y="14"/>
                </a:cubicBezTo>
                <a:lnTo>
                  <a:pt x="330" y="115"/>
                </a:lnTo>
                <a:lnTo>
                  <a:pt x="472" y="197"/>
                </a:lnTo>
                <a:cubicBezTo>
                  <a:pt x="478" y="200"/>
                  <a:pt x="482" y="206"/>
                  <a:pt x="482" y="213"/>
                </a:cubicBezTo>
                <a:lnTo>
                  <a:pt x="482" y="285"/>
                </a:lnTo>
                <a:cubicBezTo>
                  <a:pt x="482" y="295"/>
                  <a:pt x="474" y="303"/>
                  <a:pt x="465" y="303"/>
                </a:cubicBezTo>
                <a:cubicBezTo>
                  <a:pt x="455" y="303"/>
                  <a:pt x="447" y="295"/>
                  <a:pt x="447" y="285"/>
                </a:cubicBezTo>
                <a:lnTo>
                  <a:pt x="447" y="231"/>
                </a:lnTo>
                <a:lnTo>
                  <a:pt x="338" y="231"/>
                </a:lnTo>
                <a:lnTo>
                  <a:pt x="338" y="306"/>
                </a:lnTo>
                <a:lnTo>
                  <a:pt x="494" y="397"/>
                </a:lnTo>
                <a:cubicBezTo>
                  <a:pt x="500" y="400"/>
                  <a:pt x="504" y="405"/>
                  <a:pt x="504" y="412"/>
                </a:cubicBezTo>
                <a:lnTo>
                  <a:pt x="504" y="484"/>
                </a:lnTo>
                <a:cubicBezTo>
                  <a:pt x="504" y="494"/>
                  <a:pt x="496" y="502"/>
                  <a:pt x="486" y="502"/>
                </a:cubicBezTo>
                <a:cubicBezTo>
                  <a:pt x="477" y="502"/>
                  <a:pt x="469" y="494"/>
                  <a:pt x="469" y="484"/>
                </a:cubicBezTo>
                <a:lnTo>
                  <a:pt x="469" y="430"/>
                </a:lnTo>
                <a:lnTo>
                  <a:pt x="344" y="430"/>
                </a:lnTo>
                <a:lnTo>
                  <a:pt x="428" y="706"/>
                </a:lnTo>
                <a:lnTo>
                  <a:pt x="519" y="706"/>
                </a:lnTo>
                <a:cubicBezTo>
                  <a:pt x="532" y="706"/>
                  <a:pt x="542" y="717"/>
                  <a:pt x="542" y="730"/>
                </a:cubicBezTo>
                <a:cubicBezTo>
                  <a:pt x="542" y="743"/>
                  <a:pt x="532" y="753"/>
                  <a:pt x="519" y="753"/>
                </a:cubicBezTo>
                <a:lnTo>
                  <a:pt x="23" y="753"/>
                </a:lnTo>
                <a:cubicBezTo>
                  <a:pt x="10" y="753"/>
                  <a:pt x="0" y="743"/>
                  <a:pt x="0" y="730"/>
                </a:cubicBezTo>
                <a:cubicBezTo>
                  <a:pt x="0" y="717"/>
                  <a:pt x="10" y="706"/>
                  <a:pt x="23" y="706"/>
                </a:cubicBezTo>
                <a:lnTo>
                  <a:pt x="114" y="706"/>
                </a:lnTo>
                <a:lnTo>
                  <a:pt x="198" y="430"/>
                </a:lnTo>
                <a:lnTo>
                  <a:pt x="73" y="430"/>
                </a:lnTo>
                <a:lnTo>
                  <a:pt x="73" y="484"/>
                </a:lnTo>
                <a:cubicBezTo>
                  <a:pt x="73" y="494"/>
                  <a:pt x="65" y="502"/>
                  <a:pt x="56" y="502"/>
                </a:cubicBezTo>
                <a:cubicBezTo>
                  <a:pt x="46" y="502"/>
                  <a:pt x="38" y="494"/>
                  <a:pt x="38" y="484"/>
                </a:cubicBezTo>
                <a:lnTo>
                  <a:pt x="38" y="412"/>
                </a:lnTo>
                <a:close/>
                <a:moveTo>
                  <a:pt x="204" y="160"/>
                </a:moveTo>
                <a:lnTo>
                  <a:pt x="144" y="195"/>
                </a:lnTo>
                <a:lnTo>
                  <a:pt x="204" y="195"/>
                </a:lnTo>
                <a:lnTo>
                  <a:pt x="204" y="160"/>
                </a:lnTo>
                <a:close/>
                <a:moveTo>
                  <a:pt x="399" y="195"/>
                </a:moveTo>
                <a:lnTo>
                  <a:pt x="338" y="160"/>
                </a:lnTo>
                <a:lnTo>
                  <a:pt x="338" y="195"/>
                </a:lnTo>
                <a:lnTo>
                  <a:pt x="399" y="195"/>
                </a:lnTo>
                <a:close/>
                <a:moveTo>
                  <a:pt x="291" y="109"/>
                </a:moveTo>
                <a:lnTo>
                  <a:pt x="271" y="35"/>
                </a:lnTo>
                <a:lnTo>
                  <a:pt x="251" y="109"/>
                </a:lnTo>
                <a:lnTo>
                  <a:pt x="291" y="109"/>
                </a:lnTo>
                <a:close/>
                <a:moveTo>
                  <a:pt x="251" y="231"/>
                </a:moveTo>
                <a:lnTo>
                  <a:pt x="251" y="296"/>
                </a:lnTo>
                <a:lnTo>
                  <a:pt x="291" y="296"/>
                </a:lnTo>
                <a:lnTo>
                  <a:pt x="291" y="231"/>
                </a:lnTo>
                <a:lnTo>
                  <a:pt x="251" y="231"/>
                </a:lnTo>
                <a:close/>
                <a:moveTo>
                  <a:pt x="251" y="144"/>
                </a:moveTo>
                <a:lnTo>
                  <a:pt x="251" y="195"/>
                </a:lnTo>
                <a:lnTo>
                  <a:pt x="291" y="195"/>
                </a:lnTo>
                <a:lnTo>
                  <a:pt x="291" y="144"/>
                </a:lnTo>
                <a:lnTo>
                  <a:pt x="251" y="144"/>
                </a:lnTo>
                <a:lnTo>
                  <a:pt x="251" y="144"/>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a:defRPr/>
            </a:pPr>
            <a:endParaRPr lang="fr-FR" sz="1200" dirty="0">
              <a:solidFill>
                <a:prstClr val="black"/>
              </a:solidFill>
              <a:latin typeface="Aptos" panose="020B0004020202020204" pitchFamily="34" charset="0"/>
            </a:endParaRPr>
          </a:p>
        </p:txBody>
      </p:sp>
      <p:sp>
        <p:nvSpPr>
          <p:cNvPr id="438" name="Battery4" descr="{&quot;Key&quot;:&quot;POWER_USER_SHAPE_ICON&quot;,&quot;Value&quot;:&quot;POWER_USER_SHAPE_ICON_STYLE_1&quot;}">
            <a:extLst>
              <a:ext uri="{FF2B5EF4-FFF2-40B4-BE49-F238E27FC236}">
                <a16:creationId xmlns:a16="http://schemas.microsoft.com/office/drawing/2014/main" id="{EB080E63-3B5B-C757-FCD5-06F85EAA7781}"/>
              </a:ext>
            </a:extLst>
          </p:cNvPr>
          <p:cNvSpPr>
            <a:spLocks noChangeAspect="1" noEditPoints="1"/>
          </p:cNvSpPr>
          <p:nvPr>
            <p:custDataLst>
              <p:tags r:id="rId3"/>
            </p:custDataLst>
          </p:nvPr>
        </p:nvSpPr>
        <p:spPr bwMode="auto">
          <a:xfrm>
            <a:off x="3778074" y="4165623"/>
            <a:ext cx="153139" cy="262307"/>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grpSp>
        <p:nvGrpSpPr>
          <p:cNvPr id="439" name="Gruppieren 438">
            <a:extLst>
              <a:ext uri="{FF2B5EF4-FFF2-40B4-BE49-F238E27FC236}">
                <a16:creationId xmlns:a16="http://schemas.microsoft.com/office/drawing/2014/main" id="{E5DF4F79-18EB-70A2-2DE4-E114EBF34AE4}"/>
              </a:ext>
            </a:extLst>
          </p:cNvPr>
          <p:cNvGrpSpPr/>
          <p:nvPr/>
        </p:nvGrpSpPr>
        <p:grpSpPr>
          <a:xfrm>
            <a:off x="4757427" y="3497437"/>
            <a:ext cx="5209197" cy="336038"/>
            <a:chOff x="3757853" y="3521924"/>
            <a:chExt cx="7146658" cy="461020"/>
          </a:xfrm>
          <a:solidFill>
            <a:srgbClr val="5FB564"/>
          </a:solidFill>
        </p:grpSpPr>
        <p:sp>
          <p:nvSpPr>
            <p:cNvPr id="440" name="Pfeil: gebogen 439">
              <a:extLst>
                <a:ext uri="{FF2B5EF4-FFF2-40B4-BE49-F238E27FC236}">
                  <a16:creationId xmlns:a16="http://schemas.microsoft.com/office/drawing/2014/main" id="{3DEE422E-BBEE-C5DF-B2E1-29F099C969AF}"/>
                </a:ext>
              </a:extLst>
            </p:cNvPr>
            <p:cNvSpPr/>
            <p:nvPr/>
          </p:nvSpPr>
          <p:spPr>
            <a:xfrm rot="5400000" flipH="1">
              <a:off x="3773393" y="3506384"/>
              <a:ext cx="461015"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1" name="Pfeil: gebogen 440">
              <a:extLst>
                <a:ext uri="{FF2B5EF4-FFF2-40B4-BE49-F238E27FC236}">
                  <a16:creationId xmlns:a16="http://schemas.microsoft.com/office/drawing/2014/main" id="{0C29FA74-5EC7-3C29-0A1E-336B9B4EECEF}"/>
                </a:ext>
              </a:extLst>
            </p:cNvPr>
            <p:cNvSpPr/>
            <p:nvPr/>
          </p:nvSpPr>
          <p:spPr>
            <a:xfrm rot="5400000" flipH="1">
              <a:off x="5104304" y="3506385"/>
              <a:ext cx="461015"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2" name="Pfeil: gebogen 441">
              <a:extLst>
                <a:ext uri="{FF2B5EF4-FFF2-40B4-BE49-F238E27FC236}">
                  <a16:creationId xmlns:a16="http://schemas.microsoft.com/office/drawing/2014/main" id="{29BCDF83-D831-E8F1-168D-4537A0639BF9}"/>
                </a:ext>
              </a:extLst>
            </p:cNvPr>
            <p:cNvSpPr/>
            <p:nvPr/>
          </p:nvSpPr>
          <p:spPr>
            <a:xfrm rot="5400000" flipH="1">
              <a:off x="6435215" y="3506387"/>
              <a:ext cx="461016"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3" name="Pfeil: gebogen 442">
              <a:extLst>
                <a:ext uri="{FF2B5EF4-FFF2-40B4-BE49-F238E27FC236}">
                  <a16:creationId xmlns:a16="http://schemas.microsoft.com/office/drawing/2014/main" id="{20CCD603-927C-0F9D-B083-A400BFBC3B88}"/>
                </a:ext>
              </a:extLst>
            </p:cNvPr>
            <p:cNvSpPr/>
            <p:nvPr/>
          </p:nvSpPr>
          <p:spPr>
            <a:xfrm rot="5400000" flipH="1">
              <a:off x="7766125" y="3506387"/>
              <a:ext cx="461016"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4" name="Pfeil: gebogen 443">
              <a:extLst>
                <a:ext uri="{FF2B5EF4-FFF2-40B4-BE49-F238E27FC236}">
                  <a16:creationId xmlns:a16="http://schemas.microsoft.com/office/drawing/2014/main" id="{CD044044-A594-9F9C-7BF4-FA108C6B59F6}"/>
                </a:ext>
              </a:extLst>
            </p:cNvPr>
            <p:cNvSpPr/>
            <p:nvPr/>
          </p:nvSpPr>
          <p:spPr>
            <a:xfrm rot="5400000" flipH="1">
              <a:off x="9097042" y="3506384"/>
              <a:ext cx="461016"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5" name="Pfeil: gebogen 444">
              <a:extLst>
                <a:ext uri="{FF2B5EF4-FFF2-40B4-BE49-F238E27FC236}">
                  <a16:creationId xmlns:a16="http://schemas.microsoft.com/office/drawing/2014/main" id="{B83C1AA8-03AF-41FD-F5AF-73F3BBEA723C}"/>
                </a:ext>
              </a:extLst>
            </p:cNvPr>
            <p:cNvSpPr/>
            <p:nvPr/>
          </p:nvSpPr>
          <p:spPr>
            <a:xfrm rot="5400000" flipH="1">
              <a:off x="10427955" y="3506388"/>
              <a:ext cx="461016"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cxnSp>
        <p:nvCxnSpPr>
          <p:cNvPr id="446" name="Gerade Verbindung mit Pfeil 445">
            <a:extLst>
              <a:ext uri="{FF2B5EF4-FFF2-40B4-BE49-F238E27FC236}">
                <a16:creationId xmlns:a16="http://schemas.microsoft.com/office/drawing/2014/main" id="{6E5E36BC-C4A4-7E90-D8EE-F2EFAB6E4657}"/>
              </a:ext>
            </a:extLst>
          </p:cNvPr>
          <p:cNvCxnSpPr>
            <a:cxnSpLocks/>
          </p:cNvCxnSpPr>
          <p:nvPr/>
        </p:nvCxnSpPr>
        <p:spPr>
          <a:xfrm>
            <a:off x="7223121" y="6239840"/>
            <a:ext cx="328683" cy="0"/>
          </a:xfrm>
          <a:prstGeom prst="straightConnector1">
            <a:avLst/>
          </a:prstGeom>
          <a:noFill/>
          <a:ln w="28575" cap="flat" cmpd="sng" algn="ctr">
            <a:solidFill>
              <a:schemeClr val="bg1">
                <a:lumMod val="85000"/>
              </a:schemeClr>
            </a:solidFill>
            <a:prstDash val="sysDot"/>
            <a:miter lim="800000"/>
            <a:tailEnd type="triangle"/>
          </a:ln>
          <a:effectLst/>
        </p:spPr>
      </p:cxnSp>
      <p:grpSp>
        <p:nvGrpSpPr>
          <p:cNvPr id="447" name="Gruppieren 446">
            <a:extLst>
              <a:ext uri="{FF2B5EF4-FFF2-40B4-BE49-F238E27FC236}">
                <a16:creationId xmlns:a16="http://schemas.microsoft.com/office/drawing/2014/main" id="{0FD8B91E-F0C4-387D-7955-2AD3ED62DEA1}"/>
              </a:ext>
            </a:extLst>
          </p:cNvPr>
          <p:cNvGrpSpPr/>
          <p:nvPr/>
        </p:nvGrpSpPr>
        <p:grpSpPr>
          <a:xfrm>
            <a:off x="4784620" y="4059244"/>
            <a:ext cx="2298895" cy="336037"/>
            <a:chOff x="3757852" y="3521927"/>
            <a:chExt cx="3153924" cy="461019"/>
          </a:xfrm>
          <a:solidFill>
            <a:srgbClr val="BCCF00"/>
          </a:solidFill>
        </p:grpSpPr>
        <p:sp>
          <p:nvSpPr>
            <p:cNvPr id="448" name="Pfeil: gebogen 447">
              <a:extLst>
                <a:ext uri="{FF2B5EF4-FFF2-40B4-BE49-F238E27FC236}">
                  <a16:creationId xmlns:a16="http://schemas.microsoft.com/office/drawing/2014/main" id="{5C478A77-4F8A-DAB0-EEA4-D2C4CD7896DC}"/>
                </a:ext>
              </a:extLst>
            </p:cNvPr>
            <p:cNvSpPr/>
            <p:nvPr/>
          </p:nvSpPr>
          <p:spPr>
            <a:xfrm rot="5400000" flipH="1">
              <a:off x="3773392" y="3506387"/>
              <a:ext cx="461016" cy="492096"/>
            </a:xfrm>
            <a:prstGeom prst="bentArrow">
              <a:avLst>
                <a:gd name="adj1" fmla="val 30165"/>
                <a:gd name="adj2" fmla="val 25000"/>
                <a:gd name="adj3" fmla="val 25000"/>
                <a:gd name="adj4" fmla="val 64755"/>
              </a:avLst>
            </a:prstGeom>
            <a:grp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sp>
          <p:nvSpPr>
            <p:cNvPr id="449" name="Pfeil: gebogen 448">
              <a:extLst>
                <a:ext uri="{FF2B5EF4-FFF2-40B4-BE49-F238E27FC236}">
                  <a16:creationId xmlns:a16="http://schemas.microsoft.com/office/drawing/2014/main" id="{0B704198-C8FB-EE86-EE75-5DF71C62FF44}"/>
                </a:ext>
              </a:extLst>
            </p:cNvPr>
            <p:cNvSpPr/>
            <p:nvPr/>
          </p:nvSpPr>
          <p:spPr>
            <a:xfrm rot="5400000" flipH="1">
              <a:off x="5104307" y="3506390"/>
              <a:ext cx="461016" cy="492096"/>
            </a:xfrm>
            <a:prstGeom prst="bentArrow">
              <a:avLst>
                <a:gd name="adj1" fmla="val 30165"/>
                <a:gd name="adj2" fmla="val 25000"/>
                <a:gd name="adj3" fmla="val 25000"/>
                <a:gd name="adj4" fmla="val 64755"/>
              </a:avLst>
            </a:prstGeom>
            <a:grp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sp>
          <p:nvSpPr>
            <p:cNvPr id="450" name="Pfeil: gebogen 449">
              <a:extLst>
                <a:ext uri="{FF2B5EF4-FFF2-40B4-BE49-F238E27FC236}">
                  <a16:creationId xmlns:a16="http://schemas.microsoft.com/office/drawing/2014/main" id="{9F3A06C9-48AF-3927-DDDA-12B19223CBAF}"/>
                </a:ext>
              </a:extLst>
            </p:cNvPr>
            <p:cNvSpPr/>
            <p:nvPr/>
          </p:nvSpPr>
          <p:spPr>
            <a:xfrm rot="5400000" flipH="1">
              <a:off x="6435220" y="3506388"/>
              <a:ext cx="461016" cy="492096"/>
            </a:xfrm>
            <a:prstGeom prst="bentArrow">
              <a:avLst>
                <a:gd name="adj1" fmla="val 30165"/>
                <a:gd name="adj2" fmla="val 25000"/>
                <a:gd name="adj3" fmla="val 25000"/>
                <a:gd name="adj4" fmla="val 64755"/>
              </a:avLst>
            </a:prstGeom>
            <a:grp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grpSp>
      <p:grpSp>
        <p:nvGrpSpPr>
          <p:cNvPr id="451" name="Gruppieren 450">
            <a:extLst>
              <a:ext uri="{FF2B5EF4-FFF2-40B4-BE49-F238E27FC236}">
                <a16:creationId xmlns:a16="http://schemas.microsoft.com/office/drawing/2014/main" id="{3402E67F-96ED-C7FD-B07D-CF9E42219488}"/>
              </a:ext>
            </a:extLst>
          </p:cNvPr>
          <p:cNvGrpSpPr/>
          <p:nvPr/>
        </p:nvGrpSpPr>
        <p:grpSpPr>
          <a:xfrm>
            <a:off x="4803764" y="4636184"/>
            <a:ext cx="5209197" cy="336038"/>
            <a:chOff x="3757853" y="3521924"/>
            <a:chExt cx="7146658" cy="461020"/>
          </a:xfrm>
          <a:solidFill>
            <a:srgbClr val="BCCF00">
              <a:lumMod val="60000"/>
              <a:lumOff val="40000"/>
            </a:srgbClr>
          </a:solidFill>
        </p:grpSpPr>
        <p:sp>
          <p:nvSpPr>
            <p:cNvPr id="452" name="Pfeil: gebogen 451">
              <a:extLst>
                <a:ext uri="{FF2B5EF4-FFF2-40B4-BE49-F238E27FC236}">
                  <a16:creationId xmlns:a16="http://schemas.microsoft.com/office/drawing/2014/main" id="{EA6F1C5F-B09E-482A-210A-5A5CF6BD13C9}"/>
                </a:ext>
              </a:extLst>
            </p:cNvPr>
            <p:cNvSpPr/>
            <p:nvPr/>
          </p:nvSpPr>
          <p:spPr>
            <a:xfrm rot="5400000" flipH="1">
              <a:off x="3773393" y="3506384"/>
              <a:ext cx="461015"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3" name="Pfeil: gebogen 452">
              <a:extLst>
                <a:ext uri="{FF2B5EF4-FFF2-40B4-BE49-F238E27FC236}">
                  <a16:creationId xmlns:a16="http://schemas.microsoft.com/office/drawing/2014/main" id="{36C4ED46-E9D3-8AA4-58EB-D55FC0245874}"/>
                </a:ext>
              </a:extLst>
            </p:cNvPr>
            <p:cNvSpPr/>
            <p:nvPr/>
          </p:nvSpPr>
          <p:spPr>
            <a:xfrm rot="5400000" flipH="1">
              <a:off x="5104304" y="3506385"/>
              <a:ext cx="461015"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4" name="Pfeil: gebogen 453">
              <a:extLst>
                <a:ext uri="{FF2B5EF4-FFF2-40B4-BE49-F238E27FC236}">
                  <a16:creationId xmlns:a16="http://schemas.microsoft.com/office/drawing/2014/main" id="{87AC84A7-08FA-A8EE-FF88-5C52D293D0C4}"/>
                </a:ext>
              </a:extLst>
            </p:cNvPr>
            <p:cNvSpPr/>
            <p:nvPr/>
          </p:nvSpPr>
          <p:spPr>
            <a:xfrm rot="5400000" flipH="1">
              <a:off x="6435215" y="3506387"/>
              <a:ext cx="461016"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5" name="Pfeil: gebogen 454">
              <a:extLst>
                <a:ext uri="{FF2B5EF4-FFF2-40B4-BE49-F238E27FC236}">
                  <a16:creationId xmlns:a16="http://schemas.microsoft.com/office/drawing/2014/main" id="{61A8EB11-6C9A-D89B-70AF-EE25ED17B02C}"/>
                </a:ext>
              </a:extLst>
            </p:cNvPr>
            <p:cNvSpPr/>
            <p:nvPr/>
          </p:nvSpPr>
          <p:spPr>
            <a:xfrm rot="5400000" flipH="1">
              <a:off x="7766125" y="3506387"/>
              <a:ext cx="461016"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6" name="Pfeil: gebogen 455">
              <a:extLst>
                <a:ext uri="{FF2B5EF4-FFF2-40B4-BE49-F238E27FC236}">
                  <a16:creationId xmlns:a16="http://schemas.microsoft.com/office/drawing/2014/main" id="{F32F98B4-CC37-2B95-A17F-559BB8B26964}"/>
                </a:ext>
              </a:extLst>
            </p:cNvPr>
            <p:cNvSpPr/>
            <p:nvPr/>
          </p:nvSpPr>
          <p:spPr>
            <a:xfrm rot="5400000" flipH="1">
              <a:off x="9097042" y="3506384"/>
              <a:ext cx="461016"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7" name="Pfeil: gebogen 456">
              <a:extLst>
                <a:ext uri="{FF2B5EF4-FFF2-40B4-BE49-F238E27FC236}">
                  <a16:creationId xmlns:a16="http://schemas.microsoft.com/office/drawing/2014/main" id="{28F02A1D-A6ED-8A79-4D55-C9EB85F20360}"/>
                </a:ext>
              </a:extLst>
            </p:cNvPr>
            <p:cNvSpPr/>
            <p:nvPr/>
          </p:nvSpPr>
          <p:spPr>
            <a:xfrm rot="5400000" flipH="1">
              <a:off x="10427955" y="3506388"/>
              <a:ext cx="461016"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grpSp>
      <p:grpSp>
        <p:nvGrpSpPr>
          <p:cNvPr id="458" name="Gruppieren 457">
            <a:extLst>
              <a:ext uri="{FF2B5EF4-FFF2-40B4-BE49-F238E27FC236}">
                <a16:creationId xmlns:a16="http://schemas.microsoft.com/office/drawing/2014/main" id="{D05ADB33-6AC2-1417-3FE4-1D8A9A0F09E6}"/>
              </a:ext>
            </a:extLst>
          </p:cNvPr>
          <p:cNvGrpSpPr/>
          <p:nvPr/>
        </p:nvGrpSpPr>
        <p:grpSpPr>
          <a:xfrm>
            <a:off x="4775809" y="5952872"/>
            <a:ext cx="2298895" cy="336037"/>
            <a:chOff x="3757852" y="3521927"/>
            <a:chExt cx="3153924" cy="461019"/>
          </a:xfrm>
          <a:solidFill>
            <a:srgbClr val="950F53"/>
          </a:solidFill>
        </p:grpSpPr>
        <p:sp>
          <p:nvSpPr>
            <p:cNvPr id="459" name="Pfeil: gebogen 458">
              <a:extLst>
                <a:ext uri="{FF2B5EF4-FFF2-40B4-BE49-F238E27FC236}">
                  <a16:creationId xmlns:a16="http://schemas.microsoft.com/office/drawing/2014/main" id="{A8391DDC-DDA2-1921-7FEC-14882BF307EB}"/>
                </a:ext>
              </a:extLst>
            </p:cNvPr>
            <p:cNvSpPr/>
            <p:nvPr/>
          </p:nvSpPr>
          <p:spPr>
            <a:xfrm rot="5400000" flipH="1">
              <a:off x="3773392" y="3506387"/>
              <a:ext cx="461016" cy="492096"/>
            </a:xfrm>
            <a:prstGeom prst="bentArrow">
              <a:avLst>
                <a:gd name="adj1" fmla="val 30165"/>
                <a:gd name="adj2" fmla="val 25000"/>
                <a:gd name="adj3" fmla="val 25000"/>
                <a:gd name="adj4" fmla="val 64755"/>
              </a:avLst>
            </a:prstGeom>
            <a:grpFill/>
            <a:ln w="12700" cap="flat" cmpd="sng" algn="ctr">
              <a:solidFill>
                <a:srgbClr val="950F53">
                  <a:lumMod val="75000"/>
                </a:srgbClr>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60" name="Pfeil: gebogen 459">
              <a:extLst>
                <a:ext uri="{FF2B5EF4-FFF2-40B4-BE49-F238E27FC236}">
                  <a16:creationId xmlns:a16="http://schemas.microsoft.com/office/drawing/2014/main" id="{727E98FD-5E70-421F-7EDF-49736068B4C6}"/>
                </a:ext>
              </a:extLst>
            </p:cNvPr>
            <p:cNvSpPr/>
            <p:nvPr/>
          </p:nvSpPr>
          <p:spPr>
            <a:xfrm rot="5400000" flipH="1">
              <a:off x="5104307" y="3506390"/>
              <a:ext cx="461016" cy="492096"/>
            </a:xfrm>
            <a:prstGeom prst="bentArrow">
              <a:avLst>
                <a:gd name="adj1" fmla="val 30165"/>
                <a:gd name="adj2" fmla="val 25000"/>
                <a:gd name="adj3" fmla="val 25000"/>
                <a:gd name="adj4" fmla="val 64755"/>
              </a:avLst>
            </a:prstGeom>
            <a:grpFill/>
            <a:ln w="12700" cap="flat" cmpd="sng" algn="ctr">
              <a:solidFill>
                <a:srgbClr val="950F53">
                  <a:lumMod val="75000"/>
                </a:srgbClr>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61" name="Pfeil: gebogen 460">
              <a:extLst>
                <a:ext uri="{FF2B5EF4-FFF2-40B4-BE49-F238E27FC236}">
                  <a16:creationId xmlns:a16="http://schemas.microsoft.com/office/drawing/2014/main" id="{279C10DC-0188-7B77-BF79-EFB9E3DD1799}"/>
                </a:ext>
              </a:extLst>
            </p:cNvPr>
            <p:cNvSpPr/>
            <p:nvPr/>
          </p:nvSpPr>
          <p:spPr>
            <a:xfrm rot="5400000" flipH="1">
              <a:off x="6435220" y="3506388"/>
              <a:ext cx="461016" cy="492096"/>
            </a:xfrm>
            <a:prstGeom prst="bentArrow">
              <a:avLst>
                <a:gd name="adj1" fmla="val 30165"/>
                <a:gd name="adj2" fmla="val 25000"/>
                <a:gd name="adj3" fmla="val 25000"/>
                <a:gd name="adj4" fmla="val 64755"/>
              </a:avLst>
            </a:prstGeom>
            <a:grpFill/>
            <a:ln w="12700" cap="flat" cmpd="sng" algn="ctr">
              <a:solidFill>
                <a:srgbClr val="950F53">
                  <a:lumMod val="75000"/>
                </a:srgbClr>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grpSp>
      <p:cxnSp>
        <p:nvCxnSpPr>
          <p:cNvPr id="462" name="Gerade Verbindung mit Pfeil 461">
            <a:extLst>
              <a:ext uri="{FF2B5EF4-FFF2-40B4-BE49-F238E27FC236}">
                <a16:creationId xmlns:a16="http://schemas.microsoft.com/office/drawing/2014/main" id="{33A5B408-01B8-3E50-A2AE-8E5336BDA699}"/>
              </a:ext>
            </a:extLst>
          </p:cNvPr>
          <p:cNvCxnSpPr>
            <a:cxnSpLocks/>
          </p:cNvCxnSpPr>
          <p:nvPr/>
        </p:nvCxnSpPr>
        <p:spPr>
          <a:xfrm>
            <a:off x="5048404" y="4317538"/>
            <a:ext cx="732870" cy="478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3" name="Gerade Verbindung mit Pfeil 462">
            <a:extLst>
              <a:ext uri="{FF2B5EF4-FFF2-40B4-BE49-F238E27FC236}">
                <a16:creationId xmlns:a16="http://schemas.microsoft.com/office/drawing/2014/main" id="{B3C48DAA-216C-F96F-B1EF-3B2620352725}"/>
              </a:ext>
            </a:extLst>
          </p:cNvPr>
          <p:cNvCxnSpPr>
            <a:cxnSpLocks/>
          </p:cNvCxnSpPr>
          <p:nvPr/>
        </p:nvCxnSpPr>
        <p:spPr>
          <a:xfrm>
            <a:off x="6036218" y="4334043"/>
            <a:ext cx="688605" cy="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4" name="Gerade Verbindung mit Pfeil 463">
            <a:extLst>
              <a:ext uri="{FF2B5EF4-FFF2-40B4-BE49-F238E27FC236}">
                <a16:creationId xmlns:a16="http://schemas.microsoft.com/office/drawing/2014/main" id="{C19DE56C-EB76-4C49-E384-FE8401D30DC6}"/>
              </a:ext>
            </a:extLst>
          </p:cNvPr>
          <p:cNvCxnSpPr>
            <a:cxnSpLocks/>
          </p:cNvCxnSpPr>
          <p:nvPr/>
        </p:nvCxnSpPr>
        <p:spPr>
          <a:xfrm>
            <a:off x="5102316" y="4897899"/>
            <a:ext cx="732870" cy="478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5" name="Gerade Verbindung mit Pfeil 464">
            <a:extLst>
              <a:ext uri="{FF2B5EF4-FFF2-40B4-BE49-F238E27FC236}">
                <a16:creationId xmlns:a16="http://schemas.microsoft.com/office/drawing/2014/main" id="{744E034E-6CF9-E01C-71F7-7638956D65AC}"/>
              </a:ext>
            </a:extLst>
          </p:cNvPr>
          <p:cNvCxnSpPr>
            <a:cxnSpLocks/>
          </p:cNvCxnSpPr>
          <p:nvPr/>
        </p:nvCxnSpPr>
        <p:spPr>
          <a:xfrm>
            <a:off x="6090130" y="4914403"/>
            <a:ext cx="688605" cy="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6" name="Gerade Verbindung mit Pfeil 465">
            <a:extLst>
              <a:ext uri="{FF2B5EF4-FFF2-40B4-BE49-F238E27FC236}">
                <a16:creationId xmlns:a16="http://schemas.microsoft.com/office/drawing/2014/main" id="{F5EFB66A-5D46-E09E-DF09-465221EDE594}"/>
              </a:ext>
            </a:extLst>
          </p:cNvPr>
          <p:cNvCxnSpPr>
            <a:cxnSpLocks/>
          </p:cNvCxnSpPr>
          <p:nvPr/>
        </p:nvCxnSpPr>
        <p:spPr>
          <a:xfrm>
            <a:off x="5055171" y="6230062"/>
            <a:ext cx="732870" cy="478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7" name="Gerade Verbindung mit Pfeil 466">
            <a:extLst>
              <a:ext uri="{FF2B5EF4-FFF2-40B4-BE49-F238E27FC236}">
                <a16:creationId xmlns:a16="http://schemas.microsoft.com/office/drawing/2014/main" id="{0FC4FEA7-45D2-CCAF-28EA-F14B103AF027}"/>
              </a:ext>
            </a:extLst>
          </p:cNvPr>
          <p:cNvCxnSpPr>
            <a:cxnSpLocks/>
          </p:cNvCxnSpPr>
          <p:nvPr/>
        </p:nvCxnSpPr>
        <p:spPr>
          <a:xfrm>
            <a:off x="6042985" y="6246566"/>
            <a:ext cx="688605" cy="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8" name="Gerade Verbindung mit Pfeil 467">
            <a:extLst>
              <a:ext uri="{FF2B5EF4-FFF2-40B4-BE49-F238E27FC236}">
                <a16:creationId xmlns:a16="http://schemas.microsoft.com/office/drawing/2014/main" id="{ED779B83-8995-087F-55AD-9120AE4EA8AB}"/>
              </a:ext>
            </a:extLst>
          </p:cNvPr>
          <p:cNvCxnSpPr>
            <a:cxnSpLocks/>
          </p:cNvCxnSpPr>
          <p:nvPr/>
        </p:nvCxnSpPr>
        <p:spPr>
          <a:xfrm>
            <a:off x="7040730" y="4901318"/>
            <a:ext cx="685930" cy="10925"/>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9" name="Gerade Verbindung mit Pfeil 468">
            <a:extLst>
              <a:ext uri="{FF2B5EF4-FFF2-40B4-BE49-F238E27FC236}">
                <a16:creationId xmlns:a16="http://schemas.microsoft.com/office/drawing/2014/main" id="{E150569E-96BA-7A16-EAC3-4B20CD85CB1C}"/>
              </a:ext>
            </a:extLst>
          </p:cNvPr>
          <p:cNvCxnSpPr>
            <a:cxnSpLocks/>
          </p:cNvCxnSpPr>
          <p:nvPr/>
        </p:nvCxnSpPr>
        <p:spPr>
          <a:xfrm>
            <a:off x="7987040" y="4912244"/>
            <a:ext cx="698214" cy="827"/>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70" name="Gerade Verbindung mit Pfeil 469">
            <a:extLst>
              <a:ext uri="{FF2B5EF4-FFF2-40B4-BE49-F238E27FC236}">
                <a16:creationId xmlns:a16="http://schemas.microsoft.com/office/drawing/2014/main" id="{3CB4971B-792B-3568-CD52-45ED7E5F6855}"/>
              </a:ext>
            </a:extLst>
          </p:cNvPr>
          <p:cNvCxnSpPr>
            <a:cxnSpLocks/>
          </p:cNvCxnSpPr>
          <p:nvPr/>
        </p:nvCxnSpPr>
        <p:spPr>
          <a:xfrm flipV="1">
            <a:off x="8936601" y="4896808"/>
            <a:ext cx="748395" cy="5870"/>
          </a:xfrm>
          <a:prstGeom prst="straightConnector1">
            <a:avLst/>
          </a:prstGeom>
          <a:noFill/>
          <a:ln w="28575" cap="flat" cmpd="sng" algn="ctr">
            <a:solidFill>
              <a:schemeClr val="bg1">
                <a:lumMod val="85000"/>
              </a:schemeClr>
            </a:solidFill>
            <a:prstDash val="sysDot"/>
            <a:miter lim="800000"/>
            <a:tailEnd type="triangle"/>
          </a:ln>
          <a:effectLst/>
        </p:spPr>
      </p:cxnSp>
      <p:sp>
        <p:nvSpPr>
          <p:cNvPr id="471" name="Ellipse 470">
            <a:extLst>
              <a:ext uri="{FF2B5EF4-FFF2-40B4-BE49-F238E27FC236}">
                <a16:creationId xmlns:a16="http://schemas.microsoft.com/office/drawing/2014/main" id="{01CD7B89-26A3-B837-B2DE-47DF7BC703A3}"/>
              </a:ext>
            </a:extLst>
          </p:cNvPr>
          <p:cNvSpPr/>
          <p:nvPr/>
        </p:nvSpPr>
        <p:spPr>
          <a:xfrm>
            <a:off x="3691199" y="5896316"/>
            <a:ext cx="419893" cy="419893"/>
          </a:xfrm>
          <a:prstGeom prst="ellipse">
            <a:avLst/>
          </a:prstGeom>
          <a:solidFill>
            <a:srgbClr val="950F53"/>
          </a:solidFill>
          <a:ln w="12700" cap="flat" cmpd="sng" algn="ctr">
            <a:solidFill>
              <a:srgbClr val="950F53">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72" name="Textfeld 471">
            <a:extLst>
              <a:ext uri="{FF2B5EF4-FFF2-40B4-BE49-F238E27FC236}">
                <a16:creationId xmlns:a16="http://schemas.microsoft.com/office/drawing/2014/main" id="{3458EB07-7752-4708-F17A-CF228F8EB923}"/>
              </a:ext>
            </a:extLst>
          </p:cNvPr>
          <p:cNvSpPr txBox="1"/>
          <p:nvPr/>
        </p:nvSpPr>
        <p:spPr>
          <a:xfrm>
            <a:off x="2917439" y="5980392"/>
            <a:ext cx="700833" cy="230832"/>
          </a:xfrm>
          <a:prstGeom prst="rect">
            <a:avLst/>
          </a:prstGeom>
          <a:noFill/>
        </p:spPr>
        <p:txBody>
          <a:bodyPr wrap="none" rtlCol="0">
            <a:spAutoFit/>
          </a:bodyPr>
          <a:lstStyle/>
          <a:p>
            <a:pPr algn="r">
              <a:defRPr/>
            </a:pPr>
            <a:r>
              <a:rPr lang="en-GB" sz="900" dirty="0">
                <a:solidFill>
                  <a:prstClr val="black"/>
                </a:solidFill>
                <a:latin typeface="Aptos" panose="020B0004020202020204" pitchFamily="34" charset="0"/>
              </a:rPr>
              <a:t>Stromnetz</a:t>
            </a:r>
            <a:endParaRPr lang="de-AT" sz="900" dirty="0">
              <a:solidFill>
                <a:prstClr val="black"/>
              </a:solidFill>
              <a:latin typeface="Aptos" panose="020B0004020202020204" pitchFamily="34" charset="0"/>
            </a:endParaRPr>
          </a:p>
        </p:txBody>
      </p:sp>
      <p:sp>
        <p:nvSpPr>
          <p:cNvPr id="473" name="Textfeld 472">
            <a:extLst>
              <a:ext uri="{FF2B5EF4-FFF2-40B4-BE49-F238E27FC236}">
                <a16:creationId xmlns:a16="http://schemas.microsoft.com/office/drawing/2014/main" id="{50D34056-8063-929E-C326-EEA74898D930}"/>
              </a:ext>
            </a:extLst>
          </p:cNvPr>
          <p:cNvSpPr txBox="1"/>
          <p:nvPr/>
        </p:nvSpPr>
        <p:spPr>
          <a:xfrm>
            <a:off x="2704240" y="6130819"/>
            <a:ext cx="914032" cy="230832"/>
          </a:xfrm>
          <a:prstGeom prst="rect">
            <a:avLst/>
          </a:prstGeom>
          <a:noFill/>
        </p:spPr>
        <p:txBody>
          <a:bodyPr wrap="none" rtlCol="0">
            <a:spAutoFit/>
          </a:bodyPr>
          <a:lstStyle/>
          <a:p>
            <a:pPr algn="r">
              <a:defRPr/>
            </a:pPr>
            <a:r>
              <a:rPr lang="en-GB" sz="900" i="1" dirty="0">
                <a:solidFill>
                  <a:prstClr val="black"/>
                </a:solidFill>
                <a:latin typeface="Aptos" panose="020B0004020202020204" pitchFamily="34" charset="0"/>
              </a:rPr>
              <a:t>Electricity Grid</a:t>
            </a:r>
            <a:endParaRPr lang="de-AT" sz="900" i="1" dirty="0">
              <a:solidFill>
                <a:prstClr val="black"/>
              </a:solidFill>
              <a:latin typeface="Aptos" panose="020B0004020202020204" pitchFamily="34" charset="0"/>
            </a:endParaRPr>
          </a:p>
        </p:txBody>
      </p:sp>
      <p:sp>
        <p:nvSpPr>
          <p:cNvPr id="474" name="Ellipse 473">
            <a:extLst>
              <a:ext uri="{FF2B5EF4-FFF2-40B4-BE49-F238E27FC236}">
                <a16:creationId xmlns:a16="http://schemas.microsoft.com/office/drawing/2014/main" id="{E8542108-E203-0A9D-2208-5B3DDDC8C200}"/>
              </a:ext>
            </a:extLst>
          </p:cNvPr>
          <p:cNvSpPr/>
          <p:nvPr/>
        </p:nvSpPr>
        <p:spPr>
          <a:xfrm>
            <a:off x="3674761" y="4696130"/>
            <a:ext cx="419893" cy="419893"/>
          </a:xfrm>
          <a:prstGeom prst="ellipse">
            <a:avLst/>
          </a:prstGeom>
          <a:solidFill>
            <a:srgbClr val="BCCF00">
              <a:lumMod val="60000"/>
              <a:lumOff val="40000"/>
            </a:srgbClr>
          </a:solidFill>
          <a:ln w="12700" cap="flat" cmpd="sng" algn="ctr">
            <a:solidFill>
              <a:srgbClr val="BCCF00"/>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75" name="Flussdiagramm: Anzeige 9">
            <a:extLst>
              <a:ext uri="{FF2B5EF4-FFF2-40B4-BE49-F238E27FC236}">
                <a16:creationId xmlns:a16="http://schemas.microsoft.com/office/drawing/2014/main" id="{47301A01-ACB2-5AA8-454A-85CBF8979AF2}"/>
              </a:ext>
            </a:extLst>
          </p:cNvPr>
          <p:cNvSpPr/>
          <p:nvPr/>
        </p:nvSpPr>
        <p:spPr>
          <a:xfrm rot="5400000">
            <a:off x="3645706" y="4053221"/>
            <a:ext cx="416306" cy="419893"/>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BCCF00"/>
          </a:solid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476" name="Textfeld 475">
            <a:extLst>
              <a:ext uri="{FF2B5EF4-FFF2-40B4-BE49-F238E27FC236}">
                <a16:creationId xmlns:a16="http://schemas.microsoft.com/office/drawing/2014/main" id="{40178E6C-57D0-2D46-8C1E-09211EF9803F}"/>
              </a:ext>
            </a:extLst>
          </p:cNvPr>
          <p:cNvSpPr txBox="1"/>
          <p:nvPr/>
        </p:nvSpPr>
        <p:spPr>
          <a:xfrm>
            <a:off x="2462186" y="4056185"/>
            <a:ext cx="1156086" cy="230832"/>
          </a:xfrm>
          <a:prstGeom prst="rect">
            <a:avLst/>
          </a:prstGeom>
          <a:noFill/>
        </p:spPr>
        <p:txBody>
          <a:bodyPr wrap="none" rtlCol="0">
            <a:spAutoFit/>
          </a:bodyPr>
          <a:lstStyle/>
          <a:p>
            <a:pPr algn="r">
              <a:defRPr/>
            </a:pPr>
            <a:r>
              <a:rPr lang="en-GB" sz="900" dirty="0" err="1">
                <a:solidFill>
                  <a:prstClr val="black"/>
                </a:solidFill>
                <a:latin typeface="Aptos" panose="020B0004020202020204" pitchFamily="34" charset="0"/>
              </a:rPr>
              <a:t>Elektrische</a:t>
            </a:r>
            <a:r>
              <a:rPr lang="en-GB" sz="900" dirty="0">
                <a:solidFill>
                  <a:prstClr val="black"/>
                </a:solidFill>
                <a:latin typeface="Aptos" panose="020B0004020202020204" pitchFamily="34" charset="0"/>
              </a:rPr>
              <a:t> Batterie</a:t>
            </a:r>
            <a:endParaRPr lang="de-AT" sz="900" dirty="0">
              <a:solidFill>
                <a:prstClr val="black"/>
              </a:solidFill>
              <a:latin typeface="Aptos" panose="020B0004020202020204" pitchFamily="34" charset="0"/>
            </a:endParaRPr>
          </a:p>
        </p:txBody>
      </p:sp>
      <p:sp>
        <p:nvSpPr>
          <p:cNvPr id="477" name="Textfeld 476">
            <a:extLst>
              <a:ext uri="{FF2B5EF4-FFF2-40B4-BE49-F238E27FC236}">
                <a16:creationId xmlns:a16="http://schemas.microsoft.com/office/drawing/2014/main" id="{B20D7059-3ED2-4BA6-1158-03D41D07DFEF}"/>
              </a:ext>
            </a:extLst>
          </p:cNvPr>
          <p:cNvSpPr txBox="1"/>
          <p:nvPr/>
        </p:nvSpPr>
        <p:spPr>
          <a:xfrm>
            <a:off x="3079342" y="4206612"/>
            <a:ext cx="538930" cy="230832"/>
          </a:xfrm>
          <a:prstGeom prst="rect">
            <a:avLst/>
          </a:prstGeom>
          <a:noFill/>
        </p:spPr>
        <p:txBody>
          <a:bodyPr wrap="none" rtlCol="0">
            <a:spAutoFit/>
          </a:bodyPr>
          <a:lstStyle/>
          <a:p>
            <a:pPr algn="r">
              <a:defRPr/>
            </a:pPr>
            <a:r>
              <a:rPr lang="en-GB" sz="900" i="1" dirty="0">
                <a:solidFill>
                  <a:prstClr val="black"/>
                </a:solidFill>
                <a:latin typeface="Aptos" panose="020B0004020202020204" pitchFamily="34" charset="0"/>
              </a:rPr>
              <a:t>Battery</a:t>
            </a:r>
            <a:endParaRPr lang="de-AT" sz="900" i="1" dirty="0">
              <a:solidFill>
                <a:prstClr val="black"/>
              </a:solidFill>
              <a:latin typeface="Aptos" panose="020B0004020202020204" pitchFamily="34" charset="0"/>
            </a:endParaRPr>
          </a:p>
        </p:txBody>
      </p:sp>
      <p:sp>
        <p:nvSpPr>
          <p:cNvPr id="478" name="Ellipse 477">
            <a:extLst>
              <a:ext uri="{FF2B5EF4-FFF2-40B4-BE49-F238E27FC236}">
                <a16:creationId xmlns:a16="http://schemas.microsoft.com/office/drawing/2014/main" id="{1824C7C2-EFD5-5174-56C6-22DA9E8BDFDC}"/>
              </a:ext>
            </a:extLst>
          </p:cNvPr>
          <p:cNvSpPr/>
          <p:nvPr/>
        </p:nvSpPr>
        <p:spPr>
          <a:xfrm>
            <a:off x="3636971" y="3493128"/>
            <a:ext cx="419893" cy="419893"/>
          </a:xfrm>
          <a:prstGeom prst="ellipse">
            <a:avLst/>
          </a:prstGeom>
          <a:solidFill>
            <a:srgbClr val="5FB564"/>
          </a:solid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79" name="Textfeld 478">
            <a:extLst>
              <a:ext uri="{FF2B5EF4-FFF2-40B4-BE49-F238E27FC236}">
                <a16:creationId xmlns:a16="http://schemas.microsoft.com/office/drawing/2014/main" id="{8DB91184-1A12-6F82-82B4-6D036D5DE7E8}"/>
              </a:ext>
            </a:extLst>
          </p:cNvPr>
          <p:cNvSpPr txBox="1"/>
          <p:nvPr/>
        </p:nvSpPr>
        <p:spPr>
          <a:xfrm>
            <a:off x="2567984" y="3551675"/>
            <a:ext cx="1050288" cy="230832"/>
          </a:xfrm>
          <a:prstGeom prst="rect">
            <a:avLst/>
          </a:prstGeom>
          <a:noFill/>
        </p:spPr>
        <p:txBody>
          <a:bodyPr wrap="none" rtlCol="0">
            <a:spAutoFit/>
          </a:bodyPr>
          <a:lstStyle/>
          <a:p>
            <a:pPr algn="r">
              <a:defRPr/>
            </a:pPr>
            <a:r>
              <a:rPr lang="en-GB" sz="900" dirty="0" err="1">
                <a:solidFill>
                  <a:prstClr val="black"/>
                </a:solidFill>
                <a:latin typeface="Aptos" panose="020B0004020202020204" pitchFamily="34" charset="0"/>
              </a:rPr>
              <a:t>Lokaler</a:t>
            </a:r>
            <a:r>
              <a:rPr lang="en-GB" sz="900" dirty="0">
                <a:solidFill>
                  <a:prstClr val="black"/>
                </a:solidFill>
                <a:latin typeface="Aptos" panose="020B0004020202020204" pitchFamily="34" charset="0"/>
              </a:rPr>
              <a:t> PV-Strom</a:t>
            </a:r>
            <a:endParaRPr lang="de-AT" sz="900" dirty="0">
              <a:solidFill>
                <a:prstClr val="black"/>
              </a:solidFill>
              <a:latin typeface="Aptos" panose="020B0004020202020204" pitchFamily="34" charset="0"/>
            </a:endParaRPr>
          </a:p>
        </p:txBody>
      </p:sp>
      <p:sp>
        <p:nvSpPr>
          <p:cNvPr id="480" name="Textfeld 479">
            <a:extLst>
              <a:ext uri="{FF2B5EF4-FFF2-40B4-BE49-F238E27FC236}">
                <a16:creationId xmlns:a16="http://schemas.microsoft.com/office/drawing/2014/main" id="{248A0539-0E2D-A770-CA4B-BE4391B5C8F2}"/>
              </a:ext>
            </a:extLst>
          </p:cNvPr>
          <p:cNvSpPr txBox="1"/>
          <p:nvPr/>
        </p:nvSpPr>
        <p:spPr>
          <a:xfrm>
            <a:off x="2430126" y="3702100"/>
            <a:ext cx="1188146" cy="230832"/>
          </a:xfrm>
          <a:prstGeom prst="rect">
            <a:avLst/>
          </a:prstGeom>
          <a:noFill/>
        </p:spPr>
        <p:txBody>
          <a:bodyPr wrap="none" rtlCol="0">
            <a:spAutoFit/>
          </a:bodyPr>
          <a:lstStyle/>
          <a:p>
            <a:pPr algn="r">
              <a:defRPr/>
            </a:pPr>
            <a:r>
              <a:rPr lang="en-GB" sz="900" i="1" dirty="0">
                <a:solidFill>
                  <a:prstClr val="black"/>
                </a:solidFill>
                <a:latin typeface="Aptos" panose="020B0004020202020204" pitchFamily="34" charset="0"/>
              </a:rPr>
              <a:t>Local PV production</a:t>
            </a:r>
            <a:endParaRPr lang="de-AT" sz="900" i="1" dirty="0">
              <a:solidFill>
                <a:prstClr val="black"/>
              </a:solidFill>
              <a:latin typeface="Aptos" panose="020B0004020202020204" pitchFamily="34" charset="0"/>
            </a:endParaRPr>
          </a:p>
        </p:txBody>
      </p:sp>
      <p:sp>
        <p:nvSpPr>
          <p:cNvPr id="481" name="Solar_panel2" descr="{&quot;Key&quot;:&quot;POWER_USER_SHAPE_ICON&quot;,&quot;Value&quot;:&quot;POWER_USER_SHAPE_ICON_STYLE_1&quot;}">
            <a:extLst>
              <a:ext uri="{FF2B5EF4-FFF2-40B4-BE49-F238E27FC236}">
                <a16:creationId xmlns:a16="http://schemas.microsoft.com/office/drawing/2014/main" id="{78C7C721-D60E-1DBB-8888-375C3253B709}"/>
              </a:ext>
            </a:extLst>
          </p:cNvPr>
          <p:cNvSpPr>
            <a:spLocks noChangeAspect="1" noEditPoints="1"/>
          </p:cNvSpPr>
          <p:nvPr>
            <p:custDataLst>
              <p:tags r:id="rId4"/>
            </p:custDataLst>
          </p:nvPr>
        </p:nvSpPr>
        <p:spPr bwMode="auto">
          <a:xfrm>
            <a:off x="3710350" y="3565255"/>
            <a:ext cx="273134" cy="259627"/>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5FB564">
              <a:lumMod val="20000"/>
              <a:lumOff val="80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482" name="Flussdiagramm: Anzeige 9">
            <a:extLst>
              <a:ext uri="{FF2B5EF4-FFF2-40B4-BE49-F238E27FC236}">
                <a16:creationId xmlns:a16="http://schemas.microsoft.com/office/drawing/2014/main" id="{0D52F7F9-42B0-57F7-D452-47207524781B}"/>
              </a:ext>
            </a:extLst>
          </p:cNvPr>
          <p:cNvSpPr/>
          <p:nvPr/>
        </p:nvSpPr>
        <p:spPr>
          <a:xfrm rot="5400000">
            <a:off x="9443880" y="2629742"/>
            <a:ext cx="670990" cy="676770"/>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BCCF00"/>
          </a:solid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grpSp>
        <p:nvGrpSpPr>
          <p:cNvPr id="483" name="Gruppieren 482">
            <a:extLst>
              <a:ext uri="{FF2B5EF4-FFF2-40B4-BE49-F238E27FC236}">
                <a16:creationId xmlns:a16="http://schemas.microsoft.com/office/drawing/2014/main" id="{74F49A52-571A-C04F-E772-1739B35BF6E5}"/>
              </a:ext>
            </a:extLst>
          </p:cNvPr>
          <p:cNvGrpSpPr/>
          <p:nvPr/>
        </p:nvGrpSpPr>
        <p:grpSpPr>
          <a:xfrm>
            <a:off x="4467771" y="2319125"/>
            <a:ext cx="819303" cy="1011320"/>
            <a:chOff x="3643601" y="1600595"/>
            <a:chExt cx="1124027" cy="1387460"/>
          </a:xfrm>
        </p:grpSpPr>
        <p:grpSp>
          <p:nvGrpSpPr>
            <p:cNvPr id="484" name="Gruppieren 483">
              <a:extLst>
                <a:ext uri="{FF2B5EF4-FFF2-40B4-BE49-F238E27FC236}">
                  <a16:creationId xmlns:a16="http://schemas.microsoft.com/office/drawing/2014/main" id="{8FB80052-2706-3D7D-B836-6E0B6FE4CE27}"/>
                </a:ext>
              </a:extLst>
            </p:cNvPr>
            <p:cNvGrpSpPr/>
            <p:nvPr/>
          </p:nvGrpSpPr>
          <p:grpSpPr>
            <a:xfrm>
              <a:off x="3742314" y="2104165"/>
              <a:ext cx="1025314" cy="883890"/>
              <a:chOff x="2451143" y="538602"/>
              <a:chExt cx="1297164" cy="1118244"/>
            </a:xfrm>
          </p:grpSpPr>
          <p:sp>
            <p:nvSpPr>
              <p:cNvPr id="487" name="Sechseck 486">
                <a:extLst>
                  <a:ext uri="{FF2B5EF4-FFF2-40B4-BE49-F238E27FC236}">
                    <a16:creationId xmlns:a16="http://schemas.microsoft.com/office/drawing/2014/main" id="{BCA17A10-2849-E2B0-5DF6-426DEA243ECA}"/>
                  </a:ext>
                </a:extLst>
              </p:cNvPr>
              <p:cNvSpPr/>
              <p:nvPr/>
            </p:nvSpPr>
            <p:spPr>
              <a:xfrm>
                <a:off x="2451143" y="538602"/>
                <a:ext cx="1297164" cy="1118244"/>
              </a:xfrm>
              <a:prstGeom prst="hexagon">
                <a:avLst>
                  <a:gd name="adj" fmla="val 30979"/>
                  <a:gd name="vf" fmla="val 115470"/>
                </a:avLst>
              </a:prstGeom>
              <a:solidFill>
                <a:srgbClr val="950F53">
                  <a:lumMod val="60000"/>
                  <a:lumOff val="40000"/>
                </a:srgbClr>
              </a:solidFill>
              <a:ln w="12700" cap="flat" cmpd="sng" algn="ctr">
                <a:solidFill>
                  <a:srgbClr val="950F53">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488" name="Gruppieren 487" descr="{&quot;Key&quot;:&quot;POWER_USER_SHAPE_ICON&quot;,&quot;Value&quot;:&quot;POWER_USER_SHAPE_ICON_STYLE_2&quot;}">
                <a:extLst>
                  <a:ext uri="{FF2B5EF4-FFF2-40B4-BE49-F238E27FC236}">
                    <a16:creationId xmlns:a16="http://schemas.microsoft.com/office/drawing/2014/main" id="{90CBFD66-4CC8-B151-9570-80B9DB17A108}"/>
                  </a:ext>
                </a:extLst>
              </p:cNvPr>
              <p:cNvGrpSpPr>
                <a:grpSpLocks noChangeAspect="1"/>
              </p:cNvGrpSpPr>
              <p:nvPr/>
            </p:nvGrpSpPr>
            <p:grpSpPr>
              <a:xfrm>
                <a:off x="2579006" y="745618"/>
                <a:ext cx="472397" cy="472397"/>
                <a:chOff x="-151229" y="3030538"/>
                <a:chExt cx="762000" cy="762000"/>
              </a:xfrm>
            </p:grpSpPr>
            <p:sp>
              <p:nvSpPr>
                <p:cNvPr id="498" name="POWER_USER_SHAPE_ICON_STYLE_2">
                  <a:extLst>
                    <a:ext uri="{FF2B5EF4-FFF2-40B4-BE49-F238E27FC236}">
                      <a16:creationId xmlns:a16="http://schemas.microsoft.com/office/drawing/2014/main" id="{B33824EC-9D99-115C-E271-250807F794A9}"/>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499" name="Gruppieren 498">
                  <a:extLst>
                    <a:ext uri="{FF2B5EF4-FFF2-40B4-BE49-F238E27FC236}">
                      <a16:creationId xmlns:a16="http://schemas.microsoft.com/office/drawing/2014/main" id="{775DE6F4-6AE8-9DB6-C21A-99DBC5AEED95}"/>
                    </a:ext>
                  </a:extLst>
                </p:cNvPr>
                <p:cNvGrpSpPr>
                  <a:grpSpLocks noChangeAspect="1"/>
                </p:cNvGrpSpPr>
                <p:nvPr/>
              </p:nvGrpSpPr>
              <p:grpSpPr>
                <a:xfrm>
                  <a:off x="1" y="3157538"/>
                  <a:ext cx="459541" cy="508000"/>
                  <a:chOff x="0" y="3157538"/>
                  <a:chExt cx="491134" cy="542925"/>
                </a:xfrm>
              </p:grpSpPr>
              <p:sp>
                <p:nvSpPr>
                  <p:cNvPr id="500" name="Crowdsourcing2">
                    <a:extLst>
                      <a:ext uri="{FF2B5EF4-FFF2-40B4-BE49-F238E27FC236}">
                        <a16:creationId xmlns:a16="http://schemas.microsoft.com/office/drawing/2014/main" id="{637C152B-3E66-875E-44E1-132CAAF72B70}"/>
                      </a:ext>
                    </a:extLst>
                  </p:cNvPr>
                  <p:cNvSpPr>
                    <a:spLocks/>
                  </p:cNvSpPr>
                  <p:nvPr>
                    <p:custDataLst>
                      <p:tags r:id="rId15"/>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1" name="Crowdsourcing2">
                    <a:extLst>
                      <a:ext uri="{FF2B5EF4-FFF2-40B4-BE49-F238E27FC236}">
                        <a16:creationId xmlns:a16="http://schemas.microsoft.com/office/drawing/2014/main" id="{DF305693-57EC-FD6B-4136-BCFCAD74BDFB}"/>
                      </a:ext>
                    </a:extLst>
                  </p:cNvPr>
                  <p:cNvSpPr>
                    <a:spLocks/>
                  </p:cNvSpPr>
                  <p:nvPr>
                    <p:custDataLst>
                      <p:tags r:id="rId16"/>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2" name="Crowdsourcing2">
                    <a:extLst>
                      <a:ext uri="{FF2B5EF4-FFF2-40B4-BE49-F238E27FC236}">
                        <a16:creationId xmlns:a16="http://schemas.microsoft.com/office/drawing/2014/main" id="{EFBAA17D-E1B9-10BA-06C9-C0BFA6AB2F01}"/>
                      </a:ext>
                    </a:extLst>
                  </p:cNvPr>
                  <p:cNvSpPr>
                    <a:spLocks/>
                  </p:cNvSpPr>
                  <p:nvPr>
                    <p:custDataLst>
                      <p:tags r:id="rId17"/>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3" name="Crowdsourcing2">
                    <a:extLst>
                      <a:ext uri="{FF2B5EF4-FFF2-40B4-BE49-F238E27FC236}">
                        <a16:creationId xmlns:a16="http://schemas.microsoft.com/office/drawing/2014/main" id="{3FC4B524-E0D7-85D9-2ABC-A5A685ECDA94}"/>
                      </a:ext>
                    </a:extLst>
                  </p:cNvPr>
                  <p:cNvSpPr>
                    <a:spLocks/>
                  </p:cNvSpPr>
                  <p:nvPr>
                    <p:custDataLst>
                      <p:tags r:id="rId18"/>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4" name="Crowdsourcing2">
                    <a:extLst>
                      <a:ext uri="{FF2B5EF4-FFF2-40B4-BE49-F238E27FC236}">
                        <a16:creationId xmlns:a16="http://schemas.microsoft.com/office/drawing/2014/main" id="{F5C4C4BA-A15A-4A03-5A90-ABDAA654002D}"/>
                      </a:ext>
                    </a:extLst>
                  </p:cNvPr>
                  <p:cNvSpPr>
                    <a:spLocks/>
                  </p:cNvSpPr>
                  <p:nvPr>
                    <p:custDataLst>
                      <p:tags r:id="rId19"/>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5" name="Crowdsourcing2">
                    <a:extLst>
                      <a:ext uri="{FF2B5EF4-FFF2-40B4-BE49-F238E27FC236}">
                        <a16:creationId xmlns:a16="http://schemas.microsoft.com/office/drawing/2014/main" id="{00957C60-835D-2738-CF89-E517C6E36B10}"/>
                      </a:ext>
                    </a:extLst>
                  </p:cNvPr>
                  <p:cNvSpPr>
                    <a:spLocks/>
                  </p:cNvSpPr>
                  <p:nvPr>
                    <p:custDataLst>
                      <p:tags r:id="rId20"/>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6" name="Crowdsourcing2">
                    <a:extLst>
                      <a:ext uri="{FF2B5EF4-FFF2-40B4-BE49-F238E27FC236}">
                        <a16:creationId xmlns:a16="http://schemas.microsoft.com/office/drawing/2014/main" id="{763A3300-CA8C-AF30-27A4-8FF534E4B0EA}"/>
                      </a:ext>
                    </a:extLst>
                  </p:cNvPr>
                  <p:cNvSpPr>
                    <a:spLocks/>
                  </p:cNvSpPr>
                  <p:nvPr>
                    <p:custDataLst>
                      <p:tags r:id="rId21"/>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7" name="Crowdsourcing2">
                    <a:extLst>
                      <a:ext uri="{FF2B5EF4-FFF2-40B4-BE49-F238E27FC236}">
                        <a16:creationId xmlns:a16="http://schemas.microsoft.com/office/drawing/2014/main" id="{77744DFC-895D-F719-C4B6-5EF81676D8C5}"/>
                      </a:ext>
                    </a:extLst>
                  </p:cNvPr>
                  <p:cNvSpPr>
                    <a:spLocks/>
                  </p:cNvSpPr>
                  <p:nvPr>
                    <p:custDataLst>
                      <p:tags r:id="rId22"/>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grpSp>
          <p:grpSp>
            <p:nvGrpSpPr>
              <p:cNvPr id="489" name="Gruppieren 488" descr="{&quot;Key&quot;:&quot;POWER_USER_SHAPE_ICON&quot;,&quot;Value&quot;:&quot;POWER_USER_SHAPE_ICON_STYLE_2&quot;}">
                <a:extLst>
                  <a:ext uri="{FF2B5EF4-FFF2-40B4-BE49-F238E27FC236}">
                    <a16:creationId xmlns:a16="http://schemas.microsoft.com/office/drawing/2014/main" id="{9D5363A8-9481-B4AB-FDBC-91013C6F3E0B}"/>
                  </a:ext>
                </a:extLst>
              </p:cNvPr>
              <p:cNvGrpSpPr>
                <a:grpSpLocks noChangeAspect="1"/>
              </p:cNvGrpSpPr>
              <p:nvPr/>
            </p:nvGrpSpPr>
            <p:grpSpPr>
              <a:xfrm>
                <a:off x="2876978" y="1126671"/>
                <a:ext cx="530175" cy="530175"/>
                <a:chOff x="-218067" y="3030540"/>
                <a:chExt cx="762000" cy="762000"/>
              </a:xfrm>
            </p:grpSpPr>
            <p:sp>
              <p:nvSpPr>
                <p:cNvPr id="493" name="POWER_USER_SHAPE_ICON_STYLE_2">
                  <a:extLst>
                    <a:ext uri="{FF2B5EF4-FFF2-40B4-BE49-F238E27FC236}">
                      <a16:creationId xmlns:a16="http://schemas.microsoft.com/office/drawing/2014/main" id="{7D4F1660-7D26-EF94-FA32-4B22A8AD16CC}"/>
                    </a:ext>
                  </a:extLst>
                </p:cNvPr>
                <p:cNvSpPr/>
                <p:nvPr/>
              </p:nvSpPr>
              <p:spPr>
                <a:xfrm>
                  <a:off x="-218067" y="3030540"/>
                  <a:ext cx="762000" cy="762000"/>
                </a:xfrm>
                <a:prstGeom prst="ellipse">
                  <a:avLst/>
                </a:prstGeom>
                <a:solidFill>
                  <a:srgbClr val="5B9BD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494" name="Gruppieren 493">
                  <a:extLst>
                    <a:ext uri="{FF2B5EF4-FFF2-40B4-BE49-F238E27FC236}">
                      <a16:creationId xmlns:a16="http://schemas.microsoft.com/office/drawing/2014/main" id="{A6DF62F0-666B-8377-6281-0F45DC083C48}"/>
                    </a:ext>
                  </a:extLst>
                </p:cNvPr>
                <p:cNvGrpSpPr>
                  <a:grpSpLocks noChangeAspect="1"/>
                </p:cNvGrpSpPr>
                <p:nvPr/>
              </p:nvGrpSpPr>
              <p:grpSpPr>
                <a:xfrm>
                  <a:off x="1" y="3157538"/>
                  <a:ext cx="325860" cy="508000"/>
                  <a:chOff x="0" y="3157538"/>
                  <a:chExt cx="348263" cy="542925"/>
                </a:xfrm>
              </p:grpSpPr>
              <p:sp>
                <p:nvSpPr>
                  <p:cNvPr id="495" name="Freeform 10">
                    <a:extLst>
                      <a:ext uri="{FF2B5EF4-FFF2-40B4-BE49-F238E27FC236}">
                        <a16:creationId xmlns:a16="http://schemas.microsoft.com/office/drawing/2014/main" id="{E65AE52E-B1BE-0F9F-9076-5FEB54E31F40}"/>
                      </a:ext>
                    </a:extLst>
                  </p:cNvPr>
                  <p:cNvSpPr>
                    <a:spLocks noEditPoints="1"/>
                  </p:cNvSpPr>
                  <p:nvPr/>
                </p:nvSpPr>
                <p:spPr bwMode="auto">
                  <a:xfrm>
                    <a:off x="80651" y="3560424"/>
                    <a:ext cx="187696" cy="92015"/>
                  </a:xfrm>
                  <a:custGeom>
                    <a:avLst/>
                    <a:gdLst>
                      <a:gd name="T0" fmla="*/ 440 w 440"/>
                      <a:gd name="T1" fmla="*/ 0 h 215"/>
                      <a:gd name="T2" fmla="*/ 392 w 440"/>
                      <a:gd name="T3" fmla="*/ 0 h 215"/>
                      <a:gd name="T4" fmla="*/ 392 w 440"/>
                      <a:gd name="T5" fmla="*/ 182 h 215"/>
                      <a:gd name="T6" fmla="*/ 440 w 440"/>
                      <a:gd name="T7" fmla="*/ 182 h 215"/>
                      <a:gd name="T8" fmla="*/ 440 w 440"/>
                      <a:gd name="T9" fmla="*/ 0 h 215"/>
                      <a:gd name="T10" fmla="*/ 386 w 440"/>
                      <a:gd name="T11" fmla="*/ 0 h 215"/>
                      <a:gd name="T12" fmla="*/ 338 w 440"/>
                      <a:gd name="T13" fmla="*/ 0 h 215"/>
                      <a:gd name="T14" fmla="*/ 338 w 440"/>
                      <a:gd name="T15" fmla="*/ 182 h 215"/>
                      <a:gd name="T16" fmla="*/ 386 w 440"/>
                      <a:gd name="T17" fmla="*/ 182 h 215"/>
                      <a:gd name="T18" fmla="*/ 386 w 440"/>
                      <a:gd name="T19" fmla="*/ 0 h 215"/>
                      <a:gd name="T20" fmla="*/ 271 w 440"/>
                      <a:gd name="T21" fmla="*/ 0 h 215"/>
                      <a:gd name="T22" fmla="*/ 223 w 440"/>
                      <a:gd name="T23" fmla="*/ 0 h 215"/>
                      <a:gd name="T24" fmla="*/ 223 w 440"/>
                      <a:gd name="T25" fmla="*/ 182 h 215"/>
                      <a:gd name="T26" fmla="*/ 271 w 440"/>
                      <a:gd name="T27" fmla="*/ 182 h 215"/>
                      <a:gd name="T28" fmla="*/ 271 w 440"/>
                      <a:gd name="T29" fmla="*/ 0 h 215"/>
                      <a:gd name="T30" fmla="*/ 216 w 440"/>
                      <a:gd name="T31" fmla="*/ 0 h 215"/>
                      <a:gd name="T32" fmla="*/ 169 w 440"/>
                      <a:gd name="T33" fmla="*/ 0 h 215"/>
                      <a:gd name="T34" fmla="*/ 169 w 440"/>
                      <a:gd name="T35" fmla="*/ 182 h 215"/>
                      <a:gd name="T36" fmla="*/ 216 w 440"/>
                      <a:gd name="T37" fmla="*/ 182 h 215"/>
                      <a:gd name="T38" fmla="*/ 216 w 440"/>
                      <a:gd name="T39" fmla="*/ 0 h 215"/>
                      <a:gd name="T40" fmla="*/ 101 w 440"/>
                      <a:gd name="T41" fmla="*/ 0 h 215"/>
                      <a:gd name="T42" fmla="*/ 54 w 440"/>
                      <a:gd name="T43" fmla="*/ 0 h 215"/>
                      <a:gd name="T44" fmla="*/ 54 w 440"/>
                      <a:gd name="T45" fmla="*/ 182 h 215"/>
                      <a:gd name="T46" fmla="*/ 101 w 440"/>
                      <a:gd name="T47" fmla="*/ 182 h 215"/>
                      <a:gd name="T48" fmla="*/ 101 w 440"/>
                      <a:gd name="T49" fmla="*/ 0 h 215"/>
                      <a:gd name="T50" fmla="*/ 47 w 440"/>
                      <a:gd name="T51" fmla="*/ 0 h 215"/>
                      <a:gd name="T52" fmla="*/ 0 w 440"/>
                      <a:gd name="T53" fmla="*/ 0 h 215"/>
                      <a:gd name="T54" fmla="*/ 0 w 440"/>
                      <a:gd name="T55" fmla="*/ 182 h 215"/>
                      <a:gd name="T56" fmla="*/ 47 w 440"/>
                      <a:gd name="T57" fmla="*/ 182 h 215"/>
                      <a:gd name="T58" fmla="*/ 47 w 440"/>
                      <a:gd name="T5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40" h="215">
                        <a:moveTo>
                          <a:pt x="440" y="0"/>
                        </a:moveTo>
                        <a:lnTo>
                          <a:pt x="392" y="0"/>
                        </a:lnTo>
                        <a:lnTo>
                          <a:pt x="392" y="182"/>
                        </a:lnTo>
                        <a:cubicBezTo>
                          <a:pt x="393" y="215"/>
                          <a:pt x="440" y="215"/>
                          <a:pt x="440" y="182"/>
                        </a:cubicBezTo>
                        <a:lnTo>
                          <a:pt x="440" y="0"/>
                        </a:lnTo>
                        <a:close/>
                        <a:moveTo>
                          <a:pt x="386" y="0"/>
                        </a:moveTo>
                        <a:lnTo>
                          <a:pt x="338" y="0"/>
                        </a:lnTo>
                        <a:lnTo>
                          <a:pt x="338" y="182"/>
                        </a:lnTo>
                        <a:cubicBezTo>
                          <a:pt x="338" y="214"/>
                          <a:pt x="386" y="214"/>
                          <a:pt x="386" y="182"/>
                        </a:cubicBezTo>
                        <a:lnTo>
                          <a:pt x="386" y="0"/>
                        </a:lnTo>
                        <a:close/>
                        <a:moveTo>
                          <a:pt x="271" y="0"/>
                        </a:moveTo>
                        <a:lnTo>
                          <a:pt x="223" y="0"/>
                        </a:lnTo>
                        <a:lnTo>
                          <a:pt x="223" y="182"/>
                        </a:lnTo>
                        <a:cubicBezTo>
                          <a:pt x="223" y="215"/>
                          <a:pt x="271" y="215"/>
                          <a:pt x="271" y="182"/>
                        </a:cubicBezTo>
                        <a:lnTo>
                          <a:pt x="271" y="0"/>
                        </a:lnTo>
                        <a:close/>
                        <a:moveTo>
                          <a:pt x="216" y="0"/>
                        </a:moveTo>
                        <a:lnTo>
                          <a:pt x="169" y="0"/>
                        </a:lnTo>
                        <a:lnTo>
                          <a:pt x="169" y="182"/>
                        </a:lnTo>
                        <a:cubicBezTo>
                          <a:pt x="169" y="214"/>
                          <a:pt x="216" y="214"/>
                          <a:pt x="216" y="182"/>
                        </a:cubicBezTo>
                        <a:lnTo>
                          <a:pt x="216" y="0"/>
                        </a:lnTo>
                        <a:close/>
                        <a:moveTo>
                          <a:pt x="101" y="0"/>
                        </a:moveTo>
                        <a:lnTo>
                          <a:pt x="54" y="0"/>
                        </a:lnTo>
                        <a:lnTo>
                          <a:pt x="54" y="182"/>
                        </a:lnTo>
                        <a:cubicBezTo>
                          <a:pt x="54" y="215"/>
                          <a:pt x="101" y="215"/>
                          <a:pt x="101" y="182"/>
                        </a:cubicBezTo>
                        <a:lnTo>
                          <a:pt x="101" y="0"/>
                        </a:lnTo>
                        <a:close/>
                        <a:moveTo>
                          <a:pt x="47" y="0"/>
                        </a:moveTo>
                        <a:lnTo>
                          <a:pt x="0" y="0"/>
                        </a:lnTo>
                        <a:lnTo>
                          <a:pt x="0" y="182"/>
                        </a:lnTo>
                        <a:cubicBezTo>
                          <a:pt x="0" y="214"/>
                          <a:pt x="47" y="214"/>
                          <a:pt x="47" y="182"/>
                        </a:cubicBezTo>
                        <a:lnTo>
                          <a:pt x="47"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496" name="Freeform 933">
                    <a:extLst>
                      <a:ext uri="{FF2B5EF4-FFF2-40B4-BE49-F238E27FC236}">
                        <a16:creationId xmlns:a16="http://schemas.microsoft.com/office/drawing/2014/main" id="{C4C41476-E507-E952-B9C2-AB3221A576FC}"/>
                      </a:ext>
                    </a:extLst>
                  </p:cNvPr>
                  <p:cNvSpPr>
                    <a:spLocks noEditPoints="1"/>
                  </p:cNvSpPr>
                  <p:nvPr/>
                </p:nvSpPr>
                <p:spPr bwMode="auto">
                  <a:xfrm>
                    <a:off x="0" y="3157538"/>
                    <a:ext cx="348263" cy="542925"/>
                  </a:xfrm>
                  <a:custGeom>
                    <a:avLst/>
                    <a:gdLst>
                      <a:gd name="T0" fmla="*/ 689 w 816"/>
                      <a:gd name="T1" fmla="*/ 507 h 1269"/>
                      <a:gd name="T2" fmla="*/ 129 w 816"/>
                      <a:gd name="T3" fmla="*/ 507 h 1269"/>
                      <a:gd name="T4" fmla="*/ 27 w 816"/>
                      <a:gd name="T5" fmla="*/ 609 h 1269"/>
                      <a:gd name="T6" fmla="*/ 27 w 816"/>
                      <a:gd name="T7" fmla="*/ 1168 h 1269"/>
                      <a:gd name="T8" fmla="*/ 129 w 816"/>
                      <a:gd name="T9" fmla="*/ 1269 h 1269"/>
                      <a:gd name="T10" fmla="*/ 690 w 816"/>
                      <a:gd name="T11" fmla="*/ 1269 h 1269"/>
                      <a:gd name="T12" fmla="*/ 791 w 816"/>
                      <a:gd name="T13" fmla="*/ 1168 h 1269"/>
                      <a:gd name="T14" fmla="*/ 791 w 816"/>
                      <a:gd name="T15" fmla="*/ 609 h 1269"/>
                      <a:gd name="T16" fmla="*/ 689 w 816"/>
                      <a:gd name="T17" fmla="*/ 507 h 1269"/>
                      <a:gd name="T18" fmla="*/ 685 w 816"/>
                      <a:gd name="T19" fmla="*/ 1163 h 1269"/>
                      <a:gd name="T20" fmla="*/ 132 w 816"/>
                      <a:gd name="T21" fmla="*/ 1163 h 1269"/>
                      <a:gd name="T22" fmla="*/ 132 w 816"/>
                      <a:gd name="T23" fmla="*/ 614 h 1269"/>
                      <a:gd name="T24" fmla="*/ 685 w 816"/>
                      <a:gd name="T25" fmla="*/ 614 h 1269"/>
                      <a:gd name="T26" fmla="*/ 685 w 816"/>
                      <a:gd name="T27" fmla="*/ 1163 h 1269"/>
                      <a:gd name="T28" fmla="*/ 547 w 816"/>
                      <a:gd name="T29" fmla="*/ 74 h 1269"/>
                      <a:gd name="T30" fmla="*/ 653 w 816"/>
                      <a:gd name="T31" fmla="*/ 74 h 1269"/>
                      <a:gd name="T32" fmla="*/ 651 w 816"/>
                      <a:gd name="T33" fmla="*/ 296 h 1269"/>
                      <a:gd name="T34" fmla="*/ 708 w 816"/>
                      <a:gd name="T35" fmla="*/ 227 h 1269"/>
                      <a:gd name="T36" fmla="*/ 774 w 816"/>
                      <a:gd name="T37" fmla="*/ 292 h 1269"/>
                      <a:gd name="T38" fmla="*/ 636 w 816"/>
                      <a:gd name="T39" fmla="*/ 456 h 1269"/>
                      <a:gd name="T40" fmla="*/ 564 w 816"/>
                      <a:gd name="T41" fmla="*/ 456 h 1269"/>
                      <a:gd name="T42" fmla="*/ 427 w 816"/>
                      <a:gd name="T43" fmla="*/ 291 h 1269"/>
                      <a:gd name="T44" fmla="*/ 492 w 816"/>
                      <a:gd name="T45" fmla="*/ 226 h 1269"/>
                      <a:gd name="T46" fmla="*/ 549 w 816"/>
                      <a:gd name="T47" fmla="*/ 296 h 1269"/>
                      <a:gd name="T48" fmla="*/ 547 w 816"/>
                      <a:gd name="T49" fmla="*/ 74 h 1269"/>
                      <a:gd name="T50" fmla="*/ 163 w 816"/>
                      <a:gd name="T51" fmla="*/ 418 h 1269"/>
                      <a:gd name="T52" fmla="*/ 269 w 816"/>
                      <a:gd name="T53" fmla="*/ 418 h 1269"/>
                      <a:gd name="T54" fmla="*/ 268 w 816"/>
                      <a:gd name="T55" fmla="*/ 196 h 1269"/>
                      <a:gd name="T56" fmla="*/ 324 w 816"/>
                      <a:gd name="T57" fmla="*/ 266 h 1269"/>
                      <a:gd name="T58" fmla="*/ 390 w 816"/>
                      <a:gd name="T59" fmla="*/ 200 h 1269"/>
                      <a:gd name="T60" fmla="*/ 252 w 816"/>
                      <a:gd name="T61" fmla="*/ 36 h 1269"/>
                      <a:gd name="T62" fmla="*/ 180 w 816"/>
                      <a:gd name="T63" fmla="*/ 36 h 1269"/>
                      <a:gd name="T64" fmla="*/ 43 w 816"/>
                      <a:gd name="T65" fmla="*/ 201 h 1269"/>
                      <a:gd name="T66" fmla="*/ 108 w 816"/>
                      <a:gd name="T67" fmla="*/ 267 h 1269"/>
                      <a:gd name="T68" fmla="*/ 165 w 816"/>
                      <a:gd name="T69" fmla="*/ 196 h 1269"/>
                      <a:gd name="T70" fmla="*/ 163 w 816"/>
                      <a:gd name="T71" fmla="*/ 418 h 1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6" h="1269">
                        <a:moveTo>
                          <a:pt x="689" y="507"/>
                        </a:moveTo>
                        <a:lnTo>
                          <a:pt x="129" y="507"/>
                        </a:lnTo>
                        <a:cubicBezTo>
                          <a:pt x="70" y="507"/>
                          <a:pt x="27" y="553"/>
                          <a:pt x="27" y="609"/>
                        </a:cubicBezTo>
                        <a:lnTo>
                          <a:pt x="27" y="1168"/>
                        </a:lnTo>
                        <a:cubicBezTo>
                          <a:pt x="27" y="1225"/>
                          <a:pt x="73" y="1269"/>
                          <a:pt x="129" y="1269"/>
                        </a:cubicBezTo>
                        <a:lnTo>
                          <a:pt x="690" y="1269"/>
                        </a:lnTo>
                        <a:cubicBezTo>
                          <a:pt x="745" y="1269"/>
                          <a:pt x="791" y="1227"/>
                          <a:pt x="791" y="1168"/>
                        </a:cubicBezTo>
                        <a:lnTo>
                          <a:pt x="791" y="609"/>
                        </a:lnTo>
                        <a:cubicBezTo>
                          <a:pt x="791" y="552"/>
                          <a:pt x="745" y="506"/>
                          <a:pt x="689" y="507"/>
                        </a:cubicBezTo>
                        <a:close/>
                        <a:moveTo>
                          <a:pt x="685" y="1163"/>
                        </a:moveTo>
                        <a:lnTo>
                          <a:pt x="132" y="1163"/>
                        </a:lnTo>
                        <a:lnTo>
                          <a:pt x="132" y="614"/>
                        </a:lnTo>
                        <a:lnTo>
                          <a:pt x="685" y="614"/>
                        </a:lnTo>
                        <a:lnTo>
                          <a:pt x="685" y="1163"/>
                        </a:lnTo>
                        <a:close/>
                        <a:moveTo>
                          <a:pt x="547" y="74"/>
                        </a:moveTo>
                        <a:cubicBezTo>
                          <a:pt x="546" y="1"/>
                          <a:pt x="652" y="0"/>
                          <a:pt x="653" y="74"/>
                        </a:cubicBezTo>
                        <a:lnTo>
                          <a:pt x="651" y="296"/>
                        </a:lnTo>
                        <a:lnTo>
                          <a:pt x="708" y="227"/>
                        </a:lnTo>
                        <a:cubicBezTo>
                          <a:pt x="747" y="183"/>
                          <a:pt x="816" y="243"/>
                          <a:pt x="774" y="292"/>
                        </a:cubicBezTo>
                        <a:lnTo>
                          <a:pt x="636" y="456"/>
                        </a:lnTo>
                        <a:cubicBezTo>
                          <a:pt x="614" y="478"/>
                          <a:pt x="586" y="478"/>
                          <a:pt x="564" y="456"/>
                        </a:cubicBezTo>
                        <a:lnTo>
                          <a:pt x="427" y="291"/>
                        </a:lnTo>
                        <a:cubicBezTo>
                          <a:pt x="384" y="243"/>
                          <a:pt x="454" y="182"/>
                          <a:pt x="492" y="226"/>
                        </a:cubicBezTo>
                        <a:lnTo>
                          <a:pt x="549" y="296"/>
                        </a:lnTo>
                        <a:lnTo>
                          <a:pt x="547" y="74"/>
                        </a:lnTo>
                        <a:close/>
                        <a:moveTo>
                          <a:pt x="163" y="418"/>
                        </a:moveTo>
                        <a:cubicBezTo>
                          <a:pt x="163" y="491"/>
                          <a:pt x="268" y="492"/>
                          <a:pt x="269" y="418"/>
                        </a:cubicBezTo>
                        <a:lnTo>
                          <a:pt x="268" y="196"/>
                        </a:lnTo>
                        <a:lnTo>
                          <a:pt x="324" y="266"/>
                        </a:lnTo>
                        <a:cubicBezTo>
                          <a:pt x="363" y="309"/>
                          <a:pt x="433" y="249"/>
                          <a:pt x="390" y="200"/>
                        </a:cubicBezTo>
                        <a:lnTo>
                          <a:pt x="252" y="36"/>
                        </a:lnTo>
                        <a:cubicBezTo>
                          <a:pt x="230" y="14"/>
                          <a:pt x="202" y="14"/>
                          <a:pt x="180" y="36"/>
                        </a:cubicBezTo>
                        <a:lnTo>
                          <a:pt x="43" y="201"/>
                        </a:lnTo>
                        <a:cubicBezTo>
                          <a:pt x="0" y="249"/>
                          <a:pt x="70" y="310"/>
                          <a:pt x="108" y="267"/>
                        </a:cubicBezTo>
                        <a:lnTo>
                          <a:pt x="165" y="196"/>
                        </a:lnTo>
                        <a:lnTo>
                          <a:pt x="163" y="418"/>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497" name="Freeform 934">
                    <a:extLst>
                      <a:ext uri="{FF2B5EF4-FFF2-40B4-BE49-F238E27FC236}">
                        <a16:creationId xmlns:a16="http://schemas.microsoft.com/office/drawing/2014/main" id="{BD3C8D92-CEEE-AD08-4649-2BB660701B01}"/>
                      </a:ext>
                    </a:extLst>
                  </p:cNvPr>
                  <p:cNvSpPr>
                    <a:spLocks noEditPoints="1"/>
                  </p:cNvSpPr>
                  <p:nvPr/>
                </p:nvSpPr>
                <p:spPr bwMode="auto">
                  <a:xfrm>
                    <a:off x="67820" y="3450813"/>
                    <a:ext cx="213358" cy="111811"/>
                  </a:xfrm>
                  <a:custGeom>
                    <a:avLst/>
                    <a:gdLst>
                      <a:gd name="T0" fmla="*/ 500 w 500"/>
                      <a:gd name="T1" fmla="*/ 243 h 261"/>
                      <a:gd name="T2" fmla="*/ 481 w 500"/>
                      <a:gd name="T3" fmla="*/ 261 h 261"/>
                      <a:gd name="T4" fmla="*/ 357 w 500"/>
                      <a:gd name="T5" fmla="*/ 261 h 261"/>
                      <a:gd name="T6" fmla="*/ 339 w 500"/>
                      <a:gd name="T7" fmla="*/ 243 h 261"/>
                      <a:gd name="T8" fmla="*/ 339 w 500"/>
                      <a:gd name="T9" fmla="*/ 108 h 261"/>
                      <a:gd name="T10" fmla="*/ 364 w 500"/>
                      <a:gd name="T11" fmla="*/ 82 h 261"/>
                      <a:gd name="T12" fmla="*/ 474 w 500"/>
                      <a:gd name="T13" fmla="*/ 82 h 261"/>
                      <a:gd name="T14" fmla="*/ 500 w 500"/>
                      <a:gd name="T15" fmla="*/ 108 h 261"/>
                      <a:gd name="T16" fmla="*/ 500 w 500"/>
                      <a:gd name="T17" fmla="*/ 243 h 261"/>
                      <a:gd name="T18" fmla="*/ 420 w 500"/>
                      <a:gd name="T19" fmla="*/ 71 h 261"/>
                      <a:gd name="T20" fmla="*/ 455 w 500"/>
                      <a:gd name="T21" fmla="*/ 36 h 261"/>
                      <a:gd name="T22" fmla="*/ 420 w 500"/>
                      <a:gd name="T23" fmla="*/ 0 h 261"/>
                      <a:gd name="T24" fmla="*/ 384 w 500"/>
                      <a:gd name="T25" fmla="*/ 36 h 261"/>
                      <a:gd name="T26" fmla="*/ 420 w 500"/>
                      <a:gd name="T27" fmla="*/ 71 h 261"/>
                      <a:gd name="T28" fmla="*/ 331 w 500"/>
                      <a:gd name="T29" fmla="*/ 243 h 261"/>
                      <a:gd name="T30" fmla="*/ 312 w 500"/>
                      <a:gd name="T31" fmla="*/ 261 h 261"/>
                      <a:gd name="T32" fmla="*/ 188 w 500"/>
                      <a:gd name="T33" fmla="*/ 261 h 261"/>
                      <a:gd name="T34" fmla="*/ 170 w 500"/>
                      <a:gd name="T35" fmla="*/ 243 h 261"/>
                      <a:gd name="T36" fmla="*/ 170 w 500"/>
                      <a:gd name="T37" fmla="*/ 108 h 261"/>
                      <a:gd name="T38" fmla="*/ 195 w 500"/>
                      <a:gd name="T39" fmla="*/ 82 h 261"/>
                      <a:gd name="T40" fmla="*/ 305 w 500"/>
                      <a:gd name="T41" fmla="*/ 82 h 261"/>
                      <a:gd name="T42" fmla="*/ 331 w 500"/>
                      <a:gd name="T43" fmla="*/ 108 h 261"/>
                      <a:gd name="T44" fmla="*/ 331 w 500"/>
                      <a:gd name="T45" fmla="*/ 243 h 261"/>
                      <a:gd name="T46" fmla="*/ 251 w 500"/>
                      <a:gd name="T47" fmla="*/ 71 h 261"/>
                      <a:gd name="T48" fmla="*/ 286 w 500"/>
                      <a:gd name="T49" fmla="*/ 36 h 261"/>
                      <a:gd name="T50" fmla="*/ 251 w 500"/>
                      <a:gd name="T51" fmla="*/ 0 h 261"/>
                      <a:gd name="T52" fmla="*/ 215 w 500"/>
                      <a:gd name="T53" fmla="*/ 36 h 261"/>
                      <a:gd name="T54" fmla="*/ 251 w 500"/>
                      <a:gd name="T55" fmla="*/ 71 h 261"/>
                      <a:gd name="T56" fmla="*/ 162 w 500"/>
                      <a:gd name="T57" fmla="*/ 243 h 261"/>
                      <a:gd name="T58" fmla="*/ 143 w 500"/>
                      <a:gd name="T59" fmla="*/ 261 h 261"/>
                      <a:gd name="T60" fmla="*/ 19 w 500"/>
                      <a:gd name="T61" fmla="*/ 261 h 261"/>
                      <a:gd name="T62" fmla="*/ 0 w 500"/>
                      <a:gd name="T63" fmla="*/ 243 h 261"/>
                      <a:gd name="T64" fmla="*/ 0 w 500"/>
                      <a:gd name="T65" fmla="*/ 108 h 261"/>
                      <a:gd name="T66" fmla="*/ 26 w 500"/>
                      <a:gd name="T67" fmla="*/ 82 h 261"/>
                      <a:gd name="T68" fmla="*/ 136 w 500"/>
                      <a:gd name="T69" fmla="*/ 82 h 261"/>
                      <a:gd name="T70" fmla="*/ 162 w 500"/>
                      <a:gd name="T71" fmla="*/ 108 h 261"/>
                      <a:gd name="T72" fmla="*/ 162 w 500"/>
                      <a:gd name="T73" fmla="*/ 243 h 261"/>
                      <a:gd name="T74" fmla="*/ 81 w 500"/>
                      <a:gd name="T75" fmla="*/ 71 h 261"/>
                      <a:gd name="T76" fmla="*/ 117 w 500"/>
                      <a:gd name="T77" fmla="*/ 36 h 261"/>
                      <a:gd name="T78" fmla="*/ 82 w 500"/>
                      <a:gd name="T79" fmla="*/ 0 h 261"/>
                      <a:gd name="T80" fmla="*/ 46 w 500"/>
                      <a:gd name="T81" fmla="*/ 36 h 261"/>
                      <a:gd name="T82" fmla="*/ 82 w 500"/>
                      <a:gd name="T83" fmla="*/ 71 h 261"/>
                      <a:gd name="T84" fmla="*/ 81 w 500"/>
                      <a:gd name="T85" fmla="*/ 71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0" h="261">
                        <a:moveTo>
                          <a:pt x="500" y="243"/>
                        </a:moveTo>
                        <a:cubicBezTo>
                          <a:pt x="500" y="253"/>
                          <a:pt x="492" y="261"/>
                          <a:pt x="481" y="261"/>
                        </a:cubicBezTo>
                        <a:cubicBezTo>
                          <a:pt x="481" y="261"/>
                          <a:pt x="358" y="261"/>
                          <a:pt x="357" y="261"/>
                        </a:cubicBezTo>
                        <a:cubicBezTo>
                          <a:pt x="347" y="261"/>
                          <a:pt x="339" y="253"/>
                          <a:pt x="339" y="243"/>
                        </a:cubicBezTo>
                        <a:lnTo>
                          <a:pt x="339" y="108"/>
                        </a:lnTo>
                        <a:cubicBezTo>
                          <a:pt x="338" y="94"/>
                          <a:pt x="350" y="82"/>
                          <a:pt x="364" y="82"/>
                        </a:cubicBezTo>
                        <a:cubicBezTo>
                          <a:pt x="364" y="82"/>
                          <a:pt x="474" y="82"/>
                          <a:pt x="474" y="82"/>
                        </a:cubicBezTo>
                        <a:cubicBezTo>
                          <a:pt x="488" y="82"/>
                          <a:pt x="500" y="94"/>
                          <a:pt x="500" y="108"/>
                        </a:cubicBezTo>
                        <a:lnTo>
                          <a:pt x="500" y="243"/>
                        </a:lnTo>
                        <a:close/>
                        <a:moveTo>
                          <a:pt x="420" y="71"/>
                        </a:moveTo>
                        <a:cubicBezTo>
                          <a:pt x="439" y="71"/>
                          <a:pt x="455" y="55"/>
                          <a:pt x="455" y="36"/>
                        </a:cubicBezTo>
                        <a:cubicBezTo>
                          <a:pt x="455" y="16"/>
                          <a:pt x="440" y="0"/>
                          <a:pt x="420" y="0"/>
                        </a:cubicBezTo>
                        <a:cubicBezTo>
                          <a:pt x="400" y="0"/>
                          <a:pt x="384" y="16"/>
                          <a:pt x="384" y="36"/>
                        </a:cubicBezTo>
                        <a:cubicBezTo>
                          <a:pt x="385" y="56"/>
                          <a:pt x="400" y="71"/>
                          <a:pt x="420" y="71"/>
                        </a:cubicBezTo>
                        <a:close/>
                        <a:moveTo>
                          <a:pt x="331" y="243"/>
                        </a:moveTo>
                        <a:cubicBezTo>
                          <a:pt x="331" y="253"/>
                          <a:pt x="323" y="261"/>
                          <a:pt x="312" y="261"/>
                        </a:cubicBezTo>
                        <a:cubicBezTo>
                          <a:pt x="312" y="261"/>
                          <a:pt x="188" y="261"/>
                          <a:pt x="188" y="261"/>
                        </a:cubicBezTo>
                        <a:cubicBezTo>
                          <a:pt x="178" y="261"/>
                          <a:pt x="169" y="253"/>
                          <a:pt x="170" y="243"/>
                        </a:cubicBezTo>
                        <a:lnTo>
                          <a:pt x="170" y="108"/>
                        </a:lnTo>
                        <a:cubicBezTo>
                          <a:pt x="169" y="94"/>
                          <a:pt x="181" y="82"/>
                          <a:pt x="195" y="82"/>
                        </a:cubicBezTo>
                        <a:cubicBezTo>
                          <a:pt x="195" y="82"/>
                          <a:pt x="305" y="82"/>
                          <a:pt x="305" y="82"/>
                        </a:cubicBezTo>
                        <a:cubicBezTo>
                          <a:pt x="319" y="82"/>
                          <a:pt x="331" y="94"/>
                          <a:pt x="331" y="108"/>
                        </a:cubicBezTo>
                        <a:lnTo>
                          <a:pt x="331" y="243"/>
                        </a:lnTo>
                        <a:close/>
                        <a:moveTo>
                          <a:pt x="251" y="71"/>
                        </a:moveTo>
                        <a:cubicBezTo>
                          <a:pt x="270" y="71"/>
                          <a:pt x="286" y="55"/>
                          <a:pt x="286" y="36"/>
                        </a:cubicBezTo>
                        <a:cubicBezTo>
                          <a:pt x="286" y="16"/>
                          <a:pt x="270" y="0"/>
                          <a:pt x="251" y="0"/>
                        </a:cubicBezTo>
                        <a:cubicBezTo>
                          <a:pt x="231" y="0"/>
                          <a:pt x="215" y="16"/>
                          <a:pt x="215" y="36"/>
                        </a:cubicBezTo>
                        <a:cubicBezTo>
                          <a:pt x="215" y="55"/>
                          <a:pt x="231" y="71"/>
                          <a:pt x="251" y="71"/>
                        </a:cubicBezTo>
                        <a:close/>
                        <a:moveTo>
                          <a:pt x="162" y="243"/>
                        </a:moveTo>
                        <a:cubicBezTo>
                          <a:pt x="162" y="253"/>
                          <a:pt x="153" y="261"/>
                          <a:pt x="143" y="261"/>
                        </a:cubicBezTo>
                        <a:cubicBezTo>
                          <a:pt x="143" y="261"/>
                          <a:pt x="19" y="261"/>
                          <a:pt x="19" y="261"/>
                        </a:cubicBezTo>
                        <a:cubicBezTo>
                          <a:pt x="9" y="261"/>
                          <a:pt x="0" y="253"/>
                          <a:pt x="0" y="243"/>
                        </a:cubicBezTo>
                        <a:lnTo>
                          <a:pt x="0" y="108"/>
                        </a:lnTo>
                        <a:cubicBezTo>
                          <a:pt x="0" y="94"/>
                          <a:pt x="12" y="82"/>
                          <a:pt x="26" y="82"/>
                        </a:cubicBezTo>
                        <a:cubicBezTo>
                          <a:pt x="26" y="82"/>
                          <a:pt x="136" y="82"/>
                          <a:pt x="136" y="82"/>
                        </a:cubicBezTo>
                        <a:cubicBezTo>
                          <a:pt x="150" y="82"/>
                          <a:pt x="162" y="94"/>
                          <a:pt x="162" y="108"/>
                        </a:cubicBezTo>
                        <a:lnTo>
                          <a:pt x="162" y="243"/>
                        </a:lnTo>
                        <a:close/>
                        <a:moveTo>
                          <a:pt x="81" y="71"/>
                        </a:moveTo>
                        <a:cubicBezTo>
                          <a:pt x="101" y="71"/>
                          <a:pt x="117" y="55"/>
                          <a:pt x="117" y="36"/>
                        </a:cubicBezTo>
                        <a:cubicBezTo>
                          <a:pt x="117" y="16"/>
                          <a:pt x="101" y="0"/>
                          <a:pt x="82" y="0"/>
                        </a:cubicBezTo>
                        <a:cubicBezTo>
                          <a:pt x="62" y="0"/>
                          <a:pt x="46" y="16"/>
                          <a:pt x="46" y="36"/>
                        </a:cubicBezTo>
                        <a:cubicBezTo>
                          <a:pt x="46" y="56"/>
                          <a:pt x="62" y="71"/>
                          <a:pt x="82" y="71"/>
                        </a:cubicBezTo>
                        <a:lnTo>
                          <a:pt x="81" y="7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grpSp>
          <p:grpSp>
            <p:nvGrpSpPr>
              <p:cNvPr id="490" name="Gruppieren 489">
                <a:extLst>
                  <a:ext uri="{FF2B5EF4-FFF2-40B4-BE49-F238E27FC236}">
                    <a16:creationId xmlns:a16="http://schemas.microsoft.com/office/drawing/2014/main" id="{49E65661-5BEF-D53A-95EF-1800A24FD5B3}"/>
                  </a:ext>
                </a:extLst>
              </p:cNvPr>
              <p:cNvGrpSpPr/>
              <p:nvPr/>
            </p:nvGrpSpPr>
            <p:grpSpPr>
              <a:xfrm>
                <a:off x="3045869" y="622757"/>
                <a:ext cx="522635" cy="522635"/>
                <a:chOff x="-19101" y="2381281"/>
                <a:chExt cx="699820" cy="699820"/>
              </a:xfrm>
            </p:grpSpPr>
            <p:sp>
              <p:nvSpPr>
                <p:cNvPr id="491" name="Ellipse 490">
                  <a:extLst>
                    <a:ext uri="{FF2B5EF4-FFF2-40B4-BE49-F238E27FC236}">
                      <a16:creationId xmlns:a16="http://schemas.microsoft.com/office/drawing/2014/main" id="{A92DFE46-3B1A-5BE3-4D42-3CD63558860D}"/>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92" name="Plug" descr="{&quot;Key&quot;:&quot;POWER_USER_SHAPE_ICON&quot;,&quot;Value&quot;:&quot;POWER_USER_SHAPE_ICON_STYLE_1&quot;}">
                  <a:extLst>
                    <a:ext uri="{FF2B5EF4-FFF2-40B4-BE49-F238E27FC236}">
                      <a16:creationId xmlns:a16="http://schemas.microsoft.com/office/drawing/2014/main" id="{5A343169-CA2D-4A08-3D24-564490C5EE5C}"/>
                    </a:ext>
                  </a:extLst>
                </p:cNvPr>
                <p:cNvSpPr>
                  <a:spLocks noChangeAspect="1" noEditPoints="1"/>
                </p:cNvSpPr>
                <p:nvPr>
                  <p:custDataLst>
                    <p:tags r:id="rId14"/>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grpSp>
        </p:grpSp>
        <p:sp>
          <p:nvSpPr>
            <p:cNvPr id="485" name="Textfeld 484">
              <a:extLst>
                <a:ext uri="{FF2B5EF4-FFF2-40B4-BE49-F238E27FC236}">
                  <a16:creationId xmlns:a16="http://schemas.microsoft.com/office/drawing/2014/main" id="{1EC13E43-947B-FC6B-1CCD-E018B90626B0}"/>
                </a:ext>
              </a:extLst>
            </p:cNvPr>
            <p:cNvSpPr txBox="1"/>
            <p:nvPr/>
          </p:nvSpPr>
          <p:spPr>
            <a:xfrm>
              <a:off x="3643601" y="1600595"/>
              <a:ext cx="1106643" cy="696708"/>
            </a:xfrm>
            <a:prstGeom prst="rect">
              <a:avLst/>
            </a:prstGeom>
            <a:noFill/>
          </p:spPr>
          <p:txBody>
            <a:bodyPr wrap="none" rtlCol="0">
              <a:spAutoFit/>
            </a:bodyPr>
            <a:lstStyle/>
            <a:p>
              <a:pPr algn="ctr">
                <a:defRPr/>
              </a:pPr>
              <a:r>
                <a:rPr lang="en-GB" sz="900" kern="0" dirty="0">
                  <a:solidFill>
                    <a:prstClr val="black"/>
                  </a:solidFill>
                  <a:latin typeface="Aptos" panose="020B0004020202020204" pitchFamily="34" charset="0"/>
                </a:rPr>
                <a:t>Nutzerstrom</a:t>
              </a:r>
              <a:br>
                <a:rPr lang="en-GB" sz="900" kern="0" dirty="0">
                  <a:solidFill>
                    <a:prstClr val="black"/>
                  </a:solidFill>
                  <a:latin typeface="Aptos" panose="020B0004020202020204" pitchFamily="34" charset="0"/>
                </a:rPr>
              </a:br>
              <a:r>
                <a:rPr lang="en-GB" sz="900" i="1" kern="0" dirty="0">
                  <a:solidFill>
                    <a:prstClr val="black"/>
                  </a:solidFill>
                  <a:latin typeface="Aptos" panose="020B0004020202020204" pitchFamily="34" charset="0"/>
                </a:rPr>
                <a:t>Plug-loads</a:t>
              </a:r>
              <a:endParaRPr lang="de-AT" sz="900" i="1" kern="0" dirty="0">
                <a:solidFill>
                  <a:prstClr val="black"/>
                </a:solidFill>
                <a:latin typeface="Aptos" panose="020B0004020202020204" pitchFamily="34" charset="0"/>
              </a:endParaRPr>
            </a:p>
            <a:p>
              <a:pPr algn="ctr" defTabSz="914339">
                <a:defRPr/>
              </a:pPr>
              <a:endParaRPr lang="de-AT" sz="900" kern="0" dirty="0">
                <a:solidFill>
                  <a:prstClr val="black"/>
                </a:solidFill>
                <a:latin typeface="Aptos" panose="020B0004020202020204" pitchFamily="34" charset="0"/>
              </a:endParaRPr>
            </a:p>
          </p:txBody>
        </p:sp>
        <p:sp>
          <p:nvSpPr>
            <p:cNvPr id="486" name="Textfeld 485">
              <a:extLst>
                <a:ext uri="{FF2B5EF4-FFF2-40B4-BE49-F238E27FC236}">
                  <a16:creationId xmlns:a16="http://schemas.microsoft.com/office/drawing/2014/main" id="{8CE6189E-D83F-35D6-3159-D358CB7DD490}"/>
                </a:ext>
              </a:extLst>
            </p:cNvPr>
            <p:cNvSpPr txBox="1"/>
            <p:nvPr/>
          </p:nvSpPr>
          <p:spPr>
            <a:xfrm>
              <a:off x="4067477" y="1800591"/>
              <a:ext cx="253438" cy="316685"/>
            </a:xfrm>
            <a:prstGeom prst="rect">
              <a:avLst/>
            </a:prstGeom>
            <a:noFill/>
          </p:spPr>
          <p:txBody>
            <a:bodyPr wrap="none" rtlCol="0">
              <a:spAutoFit/>
            </a:bodyPr>
            <a:lstStyle/>
            <a:p>
              <a:pPr algn="ctr" defTabSz="914339">
                <a:defRPr/>
              </a:pPr>
              <a:endParaRPr lang="de-AT" sz="900" i="1" kern="0" dirty="0">
                <a:solidFill>
                  <a:prstClr val="black"/>
                </a:solidFill>
                <a:latin typeface="Aptos" panose="020B0004020202020204" pitchFamily="34" charset="0"/>
              </a:endParaRPr>
            </a:p>
          </p:txBody>
        </p:sp>
      </p:grpSp>
      <p:grpSp>
        <p:nvGrpSpPr>
          <p:cNvPr id="508" name="Gruppieren 507">
            <a:extLst>
              <a:ext uri="{FF2B5EF4-FFF2-40B4-BE49-F238E27FC236}">
                <a16:creationId xmlns:a16="http://schemas.microsoft.com/office/drawing/2014/main" id="{AFD96254-123D-58F8-9F8D-756DD6C80B78}"/>
              </a:ext>
            </a:extLst>
          </p:cNvPr>
          <p:cNvGrpSpPr/>
          <p:nvPr/>
        </p:nvGrpSpPr>
        <p:grpSpPr>
          <a:xfrm>
            <a:off x="5589927" y="2319124"/>
            <a:ext cx="885179" cy="1038042"/>
            <a:chOff x="5183121" y="1600597"/>
            <a:chExt cx="1214404" cy="1424123"/>
          </a:xfrm>
        </p:grpSpPr>
        <p:grpSp>
          <p:nvGrpSpPr>
            <p:cNvPr id="509" name="Gruppieren 508">
              <a:extLst>
                <a:ext uri="{FF2B5EF4-FFF2-40B4-BE49-F238E27FC236}">
                  <a16:creationId xmlns:a16="http://schemas.microsoft.com/office/drawing/2014/main" id="{A3C6170F-B1A5-3580-B376-F8AF8DE92B0C}"/>
                </a:ext>
              </a:extLst>
            </p:cNvPr>
            <p:cNvGrpSpPr/>
            <p:nvPr/>
          </p:nvGrpSpPr>
          <p:grpSpPr>
            <a:xfrm>
              <a:off x="5383486" y="2104169"/>
              <a:ext cx="928483" cy="920551"/>
              <a:chOff x="4244137" y="647742"/>
              <a:chExt cx="928483" cy="920551"/>
            </a:xfrm>
          </p:grpSpPr>
          <p:sp>
            <p:nvSpPr>
              <p:cNvPr id="512" name="Flussdiagramm: Anzeige 9">
                <a:extLst>
                  <a:ext uri="{FF2B5EF4-FFF2-40B4-BE49-F238E27FC236}">
                    <a16:creationId xmlns:a16="http://schemas.microsoft.com/office/drawing/2014/main" id="{A7C347E7-969C-1698-4B8F-E69B0732FD59}"/>
                  </a:ext>
                </a:extLst>
              </p:cNvPr>
              <p:cNvSpPr/>
              <p:nvPr/>
            </p:nvSpPr>
            <p:spPr>
              <a:xfrm rot="5400000">
                <a:off x="4248103" y="643776"/>
                <a:ext cx="920551" cy="928483"/>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7000">
                    <a:srgbClr val="950F53">
                      <a:lumMod val="60000"/>
                      <a:lumOff val="40000"/>
                    </a:srgbClr>
                  </a:gs>
                  <a:gs pos="11000">
                    <a:srgbClr val="FFFFFF"/>
                  </a:gs>
                </a:gsLst>
                <a:lin ang="10800000" scaled="1"/>
                <a:tileRect/>
              </a:gradFill>
              <a:ln w="12700" cap="flat" cmpd="sng" algn="ctr">
                <a:solidFill>
                  <a:srgbClr val="950F53"/>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13" name="POWER_USER_SHAPE_ICON_STYLE_2">
                <a:extLst>
                  <a:ext uri="{FF2B5EF4-FFF2-40B4-BE49-F238E27FC236}">
                    <a16:creationId xmlns:a16="http://schemas.microsoft.com/office/drawing/2014/main" id="{4FC6D5D3-831B-3679-8FBE-D8F52071E188}"/>
                  </a:ext>
                </a:extLst>
              </p:cNvPr>
              <p:cNvSpPr/>
              <p:nvPr/>
            </p:nvSpPr>
            <p:spPr>
              <a:xfrm>
                <a:off x="4505588" y="836756"/>
                <a:ext cx="423227" cy="423227"/>
              </a:xfrm>
              <a:prstGeom prst="ellipse">
                <a:avLst/>
              </a:prstGeom>
              <a:solidFill>
                <a:srgbClr val="0000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514" name="Snowflake2" descr="{&quot;Key&quot;:&quot;POWER_USER_SHAPE_ICON&quot;,&quot;Value&quot;:&quot;POWER_USER_SHAPE_ICON_STYLE_1&quot;}">
                <a:extLst>
                  <a:ext uri="{FF2B5EF4-FFF2-40B4-BE49-F238E27FC236}">
                    <a16:creationId xmlns:a16="http://schemas.microsoft.com/office/drawing/2014/main" id="{4E06C852-4D83-F493-F706-515B9D9F3E81}"/>
                  </a:ext>
                </a:extLst>
              </p:cNvPr>
              <p:cNvSpPr>
                <a:spLocks noChangeAspect="1"/>
              </p:cNvSpPr>
              <p:nvPr/>
            </p:nvSpPr>
            <p:spPr bwMode="auto">
              <a:xfrm>
                <a:off x="4587300" y="907294"/>
                <a:ext cx="259803" cy="282151"/>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15" name="POWER_USER_SHAPE_ICON_STYLE_2">
                <a:extLst>
                  <a:ext uri="{FF2B5EF4-FFF2-40B4-BE49-F238E27FC236}">
                    <a16:creationId xmlns:a16="http://schemas.microsoft.com/office/drawing/2014/main" id="{92206B39-79AE-B70D-88C1-47B9E7480AF1}"/>
                  </a:ext>
                </a:extLst>
              </p:cNvPr>
              <p:cNvSpPr/>
              <p:nvPr/>
            </p:nvSpPr>
            <p:spPr>
              <a:xfrm>
                <a:off x="4283906" y="1080852"/>
                <a:ext cx="426100" cy="4261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516" name="Flame3" descr="{&quot;Key&quot;:&quot;POWER_USER_SHAPE_ICON&quot;,&quot;Value&quot;:&quot;POWER_USER_SHAPE_ICON_STYLE_1&quot;}">
                <a:extLst>
                  <a:ext uri="{FF2B5EF4-FFF2-40B4-BE49-F238E27FC236}">
                    <a16:creationId xmlns:a16="http://schemas.microsoft.com/office/drawing/2014/main" id="{3E951B78-ACCB-CB80-ABA3-E9B232AD8142}"/>
                  </a:ext>
                </a:extLst>
              </p:cNvPr>
              <p:cNvSpPr>
                <a:spLocks noChangeAspect="1"/>
              </p:cNvSpPr>
              <p:nvPr>
                <p:custDataLst>
                  <p:tags r:id="rId13"/>
                </p:custDataLst>
              </p:nvPr>
            </p:nvSpPr>
            <p:spPr bwMode="auto">
              <a:xfrm>
                <a:off x="4372468" y="1151869"/>
                <a:ext cx="248976" cy="284067"/>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17" name="POWER_USER_SHAPE_ICON_STYLE_2">
                <a:extLst>
                  <a:ext uri="{FF2B5EF4-FFF2-40B4-BE49-F238E27FC236}">
                    <a16:creationId xmlns:a16="http://schemas.microsoft.com/office/drawing/2014/main" id="{E73A4DB1-1FC5-02EB-42E0-2E58EF7DA84B}"/>
                  </a:ext>
                </a:extLst>
              </p:cNvPr>
              <p:cNvSpPr/>
              <p:nvPr/>
            </p:nvSpPr>
            <p:spPr>
              <a:xfrm>
                <a:off x="4755210" y="1116281"/>
                <a:ext cx="398920" cy="39892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518" name="Gruppieren 517">
                <a:extLst>
                  <a:ext uri="{FF2B5EF4-FFF2-40B4-BE49-F238E27FC236}">
                    <a16:creationId xmlns:a16="http://schemas.microsoft.com/office/drawing/2014/main" id="{63DB8200-E124-8BE4-36D2-D2AAC2417E24}"/>
                  </a:ext>
                </a:extLst>
              </p:cNvPr>
              <p:cNvGrpSpPr>
                <a:grpSpLocks noChangeAspect="1"/>
              </p:cNvGrpSpPr>
              <p:nvPr/>
            </p:nvGrpSpPr>
            <p:grpSpPr>
              <a:xfrm>
                <a:off x="4821697" y="1208989"/>
                <a:ext cx="265947" cy="213504"/>
                <a:chOff x="0" y="3157538"/>
                <a:chExt cx="676283" cy="542925"/>
              </a:xfrm>
            </p:grpSpPr>
            <p:sp>
              <p:nvSpPr>
                <p:cNvPr id="519" name="Freeform 284">
                  <a:extLst>
                    <a:ext uri="{FF2B5EF4-FFF2-40B4-BE49-F238E27FC236}">
                      <a16:creationId xmlns:a16="http://schemas.microsoft.com/office/drawing/2014/main" id="{3775DC41-4DAE-6227-61C4-242CC8765911}"/>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20" name="Freeform 285">
                  <a:extLst>
                    <a:ext uri="{FF2B5EF4-FFF2-40B4-BE49-F238E27FC236}">
                      <a16:creationId xmlns:a16="http://schemas.microsoft.com/office/drawing/2014/main" id="{FC456675-C29A-23BF-6002-1ED5B87EB379}"/>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21" name="Freeform 286">
                  <a:extLst>
                    <a:ext uri="{FF2B5EF4-FFF2-40B4-BE49-F238E27FC236}">
                      <a16:creationId xmlns:a16="http://schemas.microsoft.com/office/drawing/2014/main" id="{A48EA493-3441-C5EC-4523-26521327DF85}"/>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grpSp>
        <p:sp>
          <p:nvSpPr>
            <p:cNvPr id="510" name="Textfeld 509">
              <a:extLst>
                <a:ext uri="{FF2B5EF4-FFF2-40B4-BE49-F238E27FC236}">
                  <a16:creationId xmlns:a16="http://schemas.microsoft.com/office/drawing/2014/main" id="{1187D84F-538E-DA7C-5377-18FB339B1DE0}"/>
                </a:ext>
              </a:extLst>
            </p:cNvPr>
            <p:cNvSpPr txBox="1"/>
            <p:nvPr/>
          </p:nvSpPr>
          <p:spPr>
            <a:xfrm>
              <a:off x="5234228" y="1600597"/>
              <a:ext cx="1117639" cy="316686"/>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HT Minimum</a:t>
              </a:r>
              <a:endParaRPr lang="de-AT" sz="900" kern="0" dirty="0">
                <a:solidFill>
                  <a:prstClr val="black"/>
                </a:solidFill>
                <a:latin typeface="Aptos" panose="020B0004020202020204" pitchFamily="34" charset="0"/>
              </a:endParaRPr>
            </a:p>
          </p:txBody>
        </p:sp>
        <p:sp>
          <p:nvSpPr>
            <p:cNvPr id="511" name="Textfeld 510">
              <a:extLst>
                <a:ext uri="{FF2B5EF4-FFF2-40B4-BE49-F238E27FC236}">
                  <a16:creationId xmlns:a16="http://schemas.microsoft.com/office/drawing/2014/main" id="{A9E98594-C3DB-308F-C8C1-C1475F328BAB}"/>
                </a:ext>
              </a:extLst>
            </p:cNvPr>
            <p:cNvSpPr txBox="1"/>
            <p:nvPr/>
          </p:nvSpPr>
          <p:spPr>
            <a:xfrm>
              <a:off x="5183121" y="1807770"/>
              <a:ext cx="1214404" cy="506698"/>
            </a:xfrm>
            <a:prstGeom prst="rect">
              <a:avLst/>
            </a:prstGeom>
            <a:noFill/>
          </p:spPr>
          <p:txBody>
            <a:bodyPr wrap="none" rtlCol="0">
              <a:spAutoFit/>
            </a:bodyPr>
            <a:lstStyle/>
            <a:p>
              <a:pPr algn="ctr" defTabSz="914339">
                <a:defRPr/>
              </a:pPr>
              <a:r>
                <a:rPr lang="en-GB" sz="900" i="1" kern="0" dirty="0">
                  <a:solidFill>
                    <a:prstClr val="black"/>
                  </a:solidFill>
                  <a:latin typeface="Aptos" panose="020B0004020202020204" pitchFamily="34" charset="0"/>
                </a:rPr>
                <a:t>HVAC &amp; DHW </a:t>
              </a:r>
              <a:br>
                <a:rPr lang="en-GB" sz="900" i="1" kern="0" dirty="0">
                  <a:solidFill>
                    <a:prstClr val="black"/>
                  </a:solidFill>
                  <a:latin typeface="Aptos" panose="020B0004020202020204" pitchFamily="34" charset="0"/>
                </a:rPr>
              </a:br>
              <a:r>
                <a:rPr lang="en-GB" sz="900" i="1" kern="0" dirty="0">
                  <a:solidFill>
                    <a:prstClr val="black"/>
                  </a:solidFill>
                  <a:latin typeface="Aptos" panose="020B0004020202020204" pitchFamily="34" charset="0"/>
                </a:rPr>
                <a:t>Minimum</a:t>
              </a:r>
              <a:endParaRPr lang="de-AT" sz="900" i="1" kern="0" dirty="0">
                <a:solidFill>
                  <a:prstClr val="black"/>
                </a:solidFill>
                <a:latin typeface="Aptos" panose="020B0004020202020204" pitchFamily="34" charset="0"/>
              </a:endParaRPr>
            </a:p>
          </p:txBody>
        </p:sp>
      </p:grpSp>
      <p:grpSp>
        <p:nvGrpSpPr>
          <p:cNvPr id="522" name="Gruppieren 521">
            <a:extLst>
              <a:ext uri="{FF2B5EF4-FFF2-40B4-BE49-F238E27FC236}">
                <a16:creationId xmlns:a16="http://schemas.microsoft.com/office/drawing/2014/main" id="{2793C85A-8AA9-3250-13C6-37D13185D852}"/>
              </a:ext>
            </a:extLst>
          </p:cNvPr>
          <p:cNvGrpSpPr/>
          <p:nvPr/>
        </p:nvGrpSpPr>
        <p:grpSpPr>
          <a:xfrm>
            <a:off x="7485519" y="2319122"/>
            <a:ext cx="885179" cy="1038044"/>
            <a:chOff x="7783748" y="1600595"/>
            <a:chExt cx="1214405" cy="1424126"/>
          </a:xfrm>
        </p:grpSpPr>
        <p:grpSp>
          <p:nvGrpSpPr>
            <p:cNvPr id="523" name="Gruppieren 522">
              <a:extLst>
                <a:ext uri="{FF2B5EF4-FFF2-40B4-BE49-F238E27FC236}">
                  <a16:creationId xmlns:a16="http://schemas.microsoft.com/office/drawing/2014/main" id="{107E475F-01E9-C8B9-32B1-4A279E2763D2}"/>
                </a:ext>
              </a:extLst>
            </p:cNvPr>
            <p:cNvGrpSpPr/>
            <p:nvPr/>
          </p:nvGrpSpPr>
          <p:grpSpPr>
            <a:xfrm>
              <a:off x="7926511" y="2104170"/>
              <a:ext cx="928483" cy="920551"/>
              <a:chOff x="6842036" y="647742"/>
              <a:chExt cx="928484" cy="920551"/>
            </a:xfrm>
          </p:grpSpPr>
          <p:sp>
            <p:nvSpPr>
              <p:cNvPr id="526" name="Flussdiagramm: Anzeige 9">
                <a:extLst>
                  <a:ext uri="{FF2B5EF4-FFF2-40B4-BE49-F238E27FC236}">
                    <a16:creationId xmlns:a16="http://schemas.microsoft.com/office/drawing/2014/main" id="{F97D9831-B5CE-014F-9136-EF561A1CA5D3}"/>
                  </a:ext>
                </a:extLst>
              </p:cNvPr>
              <p:cNvSpPr/>
              <p:nvPr/>
            </p:nvSpPr>
            <p:spPr>
              <a:xfrm rot="5400000">
                <a:off x="6846002" y="643776"/>
                <a:ext cx="920551" cy="928484"/>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81000">
                    <a:srgbClr val="950F53">
                      <a:lumMod val="60000"/>
                      <a:lumOff val="40000"/>
                    </a:srgbClr>
                  </a:gs>
                  <a:gs pos="90000">
                    <a:srgbClr val="FFFFFF"/>
                  </a:gs>
                </a:gsLst>
                <a:lin ang="10800000" scaled="1"/>
                <a:tileRect/>
              </a:gradFill>
              <a:ln w="12700" cap="flat" cmpd="sng" algn="ctr">
                <a:solidFill>
                  <a:srgbClr val="950F53"/>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27" name="POWER_USER_SHAPE_ICON_STYLE_2">
                <a:extLst>
                  <a:ext uri="{FF2B5EF4-FFF2-40B4-BE49-F238E27FC236}">
                    <a16:creationId xmlns:a16="http://schemas.microsoft.com/office/drawing/2014/main" id="{52454479-2946-024E-0807-A05F291A92F8}"/>
                  </a:ext>
                </a:extLst>
              </p:cNvPr>
              <p:cNvSpPr/>
              <p:nvPr/>
            </p:nvSpPr>
            <p:spPr>
              <a:xfrm>
                <a:off x="7103481" y="836756"/>
                <a:ext cx="423227" cy="423227"/>
              </a:xfrm>
              <a:prstGeom prst="ellipse">
                <a:avLst/>
              </a:prstGeom>
              <a:solidFill>
                <a:srgbClr val="0000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528" name="Snowflake2" descr="{&quot;Key&quot;:&quot;POWER_USER_SHAPE_ICON&quot;,&quot;Value&quot;:&quot;POWER_USER_SHAPE_ICON_STYLE_1&quot;}">
                <a:extLst>
                  <a:ext uri="{FF2B5EF4-FFF2-40B4-BE49-F238E27FC236}">
                    <a16:creationId xmlns:a16="http://schemas.microsoft.com/office/drawing/2014/main" id="{2AB4BEA9-AC57-95D2-7DED-B4DD1D428A26}"/>
                  </a:ext>
                </a:extLst>
              </p:cNvPr>
              <p:cNvSpPr>
                <a:spLocks noChangeAspect="1"/>
              </p:cNvSpPr>
              <p:nvPr/>
            </p:nvSpPr>
            <p:spPr bwMode="auto">
              <a:xfrm>
                <a:off x="7185193" y="907294"/>
                <a:ext cx="259803" cy="282151"/>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29" name="POWER_USER_SHAPE_ICON_STYLE_2">
                <a:extLst>
                  <a:ext uri="{FF2B5EF4-FFF2-40B4-BE49-F238E27FC236}">
                    <a16:creationId xmlns:a16="http://schemas.microsoft.com/office/drawing/2014/main" id="{64DDAD4E-097B-BC34-D6BE-71CFEC09F3A0}"/>
                  </a:ext>
                </a:extLst>
              </p:cNvPr>
              <p:cNvSpPr/>
              <p:nvPr/>
            </p:nvSpPr>
            <p:spPr>
              <a:xfrm>
                <a:off x="6881799" y="1080852"/>
                <a:ext cx="426100" cy="4261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530" name="Flame3" descr="{&quot;Key&quot;:&quot;POWER_USER_SHAPE_ICON&quot;,&quot;Value&quot;:&quot;POWER_USER_SHAPE_ICON_STYLE_1&quot;}">
                <a:extLst>
                  <a:ext uri="{FF2B5EF4-FFF2-40B4-BE49-F238E27FC236}">
                    <a16:creationId xmlns:a16="http://schemas.microsoft.com/office/drawing/2014/main" id="{546FD0CC-5658-26BC-13B4-B8867FE8C3F5}"/>
                  </a:ext>
                </a:extLst>
              </p:cNvPr>
              <p:cNvSpPr>
                <a:spLocks noChangeAspect="1"/>
              </p:cNvSpPr>
              <p:nvPr>
                <p:custDataLst>
                  <p:tags r:id="rId12"/>
                </p:custDataLst>
              </p:nvPr>
            </p:nvSpPr>
            <p:spPr bwMode="auto">
              <a:xfrm>
                <a:off x="6970361" y="1151869"/>
                <a:ext cx="248976" cy="284067"/>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31" name="POWER_USER_SHAPE_ICON_STYLE_2">
                <a:extLst>
                  <a:ext uri="{FF2B5EF4-FFF2-40B4-BE49-F238E27FC236}">
                    <a16:creationId xmlns:a16="http://schemas.microsoft.com/office/drawing/2014/main" id="{D6D7B9ED-834A-DE23-FC62-6A03DECCA36C}"/>
                  </a:ext>
                </a:extLst>
              </p:cNvPr>
              <p:cNvSpPr/>
              <p:nvPr/>
            </p:nvSpPr>
            <p:spPr>
              <a:xfrm>
                <a:off x="7353103" y="1116281"/>
                <a:ext cx="398920" cy="39892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532" name="Gruppieren 531">
                <a:extLst>
                  <a:ext uri="{FF2B5EF4-FFF2-40B4-BE49-F238E27FC236}">
                    <a16:creationId xmlns:a16="http://schemas.microsoft.com/office/drawing/2014/main" id="{D730E5C2-F84D-AFDD-E0AF-B176C6EE377E}"/>
                  </a:ext>
                </a:extLst>
              </p:cNvPr>
              <p:cNvGrpSpPr>
                <a:grpSpLocks noChangeAspect="1"/>
              </p:cNvGrpSpPr>
              <p:nvPr/>
            </p:nvGrpSpPr>
            <p:grpSpPr>
              <a:xfrm>
                <a:off x="7419590" y="1208989"/>
                <a:ext cx="265947" cy="213504"/>
                <a:chOff x="0" y="3157538"/>
                <a:chExt cx="676283" cy="542925"/>
              </a:xfrm>
            </p:grpSpPr>
            <p:sp>
              <p:nvSpPr>
                <p:cNvPr id="533" name="Freeform 284">
                  <a:extLst>
                    <a:ext uri="{FF2B5EF4-FFF2-40B4-BE49-F238E27FC236}">
                      <a16:creationId xmlns:a16="http://schemas.microsoft.com/office/drawing/2014/main" id="{356DCA33-8561-051B-2110-9577CBDE671D}"/>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34" name="Freeform 285">
                  <a:extLst>
                    <a:ext uri="{FF2B5EF4-FFF2-40B4-BE49-F238E27FC236}">
                      <a16:creationId xmlns:a16="http://schemas.microsoft.com/office/drawing/2014/main" id="{7CF346AA-309F-F0A0-560F-A66982B8196C}"/>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35" name="Freeform 286">
                  <a:extLst>
                    <a:ext uri="{FF2B5EF4-FFF2-40B4-BE49-F238E27FC236}">
                      <a16:creationId xmlns:a16="http://schemas.microsoft.com/office/drawing/2014/main" id="{2C7195E1-F850-C92F-6D4C-8F798780636B}"/>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grpSp>
        <p:sp>
          <p:nvSpPr>
            <p:cNvPr id="524" name="Textfeld 523">
              <a:extLst>
                <a:ext uri="{FF2B5EF4-FFF2-40B4-BE49-F238E27FC236}">
                  <a16:creationId xmlns:a16="http://schemas.microsoft.com/office/drawing/2014/main" id="{B811A4E4-A733-F14D-1BC6-4B62A4C1EF3A}"/>
                </a:ext>
              </a:extLst>
            </p:cNvPr>
            <p:cNvSpPr txBox="1"/>
            <p:nvPr/>
          </p:nvSpPr>
          <p:spPr>
            <a:xfrm>
              <a:off x="8264230" y="1600595"/>
              <a:ext cx="253437" cy="316686"/>
            </a:xfrm>
            <a:prstGeom prst="rect">
              <a:avLst/>
            </a:prstGeom>
            <a:noFill/>
          </p:spPr>
          <p:txBody>
            <a:bodyPr wrap="none" rtlCol="0">
              <a:spAutoFit/>
            </a:bodyPr>
            <a:lstStyle/>
            <a:p>
              <a:pPr algn="ctr" defTabSz="914339">
                <a:defRPr/>
              </a:pPr>
              <a:endParaRPr lang="de-AT" sz="900" kern="0" dirty="0">
                <a:solidFill>
                  <a:prstClr val="black"/>
                </a:solidFill>
                <a:latin typeface="Aptos" panose="020B0004020202020204" pitchFamily="34" charset="0"/>
              </a:endParaRPr>
            </a:p>
          </p:txBody>
        </p:sp>
        <p:sp>
          <p:nvSpPr>
            <p:cNvPr id="525" name="Textfeld 524">
              <a:extLst>
                <a:ext uri="{FF2B5EF4-FFF2-40B4-BE49-F238E27FC236}">
                  <a16:creationId xmlns:a16="http://schemas.microsoft.com/office/drawing/2014/main" id="{34507F94-FAAC-DF7E-A6F9-3FE4115C7C48}"/>
                </a:ext>
              </a:extLst>
            </p:cNvPr>
            <p:cNvSpPr txBox="1"/>
            <p:nvPr/>
          </p:nvSpPr>
          <p:spPr>
            <a:xfrm>
              <a:off x="7783748" y="1665331"/>
              <a:ext cx="1214405" cy="506699"/>
            </a:xfrm>
            <a:prstGeom prst="rect">
              <a:avLst/>
            </a:prstGeom>
            <a:noFill/>
          </p:spPr>
          <p:txBody>
            <a:bodyPr wrap="none" rtlCol="0">
              <a:spAutoFit/>
            </a:bodyPr>
            <a:lstStyle/>
            <a:p>
              <a:pPr algn="ctr" defTabSz="914339">
                <a:defRPr/>
              </a:pPr>
              <a:r>
                <a:rPr lang="en-GB" sz="900" i="1" kern="0" dirty="0">
                  <a:solidFill>
                    <a:prstClr val="black"/>
                  </a:solidFill>
                  <a:latin typeface="Aptos" panose="020B0004020202020204" pitchFamily="34" charset="0"/>
                </a:rPr>
                <a:t>HVAC &amp; DHW </a:t>
              </a:r>
            </a:p>
            <a:p>
              <a:pPr algn="ctr" defTabSz="914339">
                <a:defRPr/>
              </a:pPr>
              <a:r>
                <a:rPr lang="en-GB" sz="900" i="1" kern="0" dirty="0">
                  <a:solidFill>
                    <a:prstClr val="black"/>
                  </a:solidFill>
                  <a:latin typeface="Aptos" panose="020B0004020202020204" pitchFamily="34" charset="0"/>
                </a:rPr>
                <a:t>Maximum</a:t>
              </a:r>
              <a:endParaRPr lang="de-AT" sz="900" i="1" kern="0" dirty="0">
                <a:solidFill>
                  <a:prstClr val="black"/>
                </a:solidFill>
                <a:latin typeface="Aptos" panose="020B0004020202020204" pitchFamily="34" charset="0"/>
              </a:endParaRPr>
            </a:p>
          </p:txBody>
        </p:sp>
      </p:grpSp>
      <p:grpSp>
        <p:nvGrpSpPr>
          <p:cNvPr id="536" name="Gruppieren 535">
            <a:extLst>
              <a:ext uri="{FF2B5EF4-FFF2-40B4-BE49-F238E27FC236}">
                <a16:creationId xmlns:a16="http://schemas.microsoft.com/office/drawing/2014/main" id="{ABB5751B-F2DB-2012-CCD6-1C1B47F2875D}"/>
              </a:ext>
            </a:extLst>
          </p:cNvPr>
          <p:cNvGrpSpPr/>
          <p:nvPr/>
        </p:nvGrpSpPr>
        <p:grpSpPr>
          <a:xfrm>
            <a:off x="6429328" y="2306948"/>
            <a:ext cx="1039067" cy="1057952"/>
            <a:chOff x="6246002" y="1583892"/>
            <a:chExt cx="1425528" cy="1451439"/>
          </a:xfrm>
        </p:grpSpPr>
        <p:grpSp>
          <p:nvGrpSpPr>
            <p:cNvPr id="537" name="Gruppieren 536">
              <a:extLst>
                <a:ext uri="{FF2B5EF4-FFF2-40B4-BE49-F238E27FC236}">
                  <a16:creationId xmlns:a16="http://schemas.microsoft.com/office/drawing/2014/main" id="{1A3204EF-74CB-8F87-D784-A4FA8044D3A0}"/>
                </a:ext>
              </a:extLst>
            </p:cNvPr>
            <p:cNvGrpSpPr/>
            <p:nvPr/>
          </p:nvGrpSpPr>
          <p:grpSpPr>
            <a:xfrm>
              <a:off x="6586091" y="2104170"/>
              <a:ext cx="939183" cy="931161"/>
              <a:chOff x="5556175" y="562911"/>
              <a:chExt cx="839437" cy="832266"/>
            </a:xfrm>
          </p:grpSpPr>
          <p:sp>
            <p:nvSpPr>
              <p:cNvPr id="540" name="Flussdiagramm: Anzeige 9">
                <a:extLst>
                  <a:ext uri="{FF2B5EF4-FFF2-40B4-BE49-F238E27FC236}">
                    <a16:creationId xmlns:a16="http://schemas.microsoft.com/office/drawing/2014/main" id="{49E3DBE7-07E4-485D-5617-851CB58ECCF4}"/>
                  </a:ext>
                </a:extLst>
              </p:cNvPr>
              <p:cNvSpPr/>
              <p:nvPr/>
            </p:nvSpPr>
            <p:spPr>
              <a:xfrm rot="5400000">
                <a:off x="5559761" y="559325"/>
                <a:ext cx="832266" cy="839437"/>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43000">
                    <a:srgbClr val="F59C00"/>
                  </a:gs>
                  <a:gs pos="49000">
                    <a:srgbClr val="FFFFFF"/>
                  </a:gs>
                </a:gsLst>
                <a:lin ang="10800000" scaled="1"/>
                <a:tileRect/>
              </a:grad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41" name="Car7" descr="{&quot;Key&quot;:&quot;POWER_USER_SHAPE_ICON&quot;,&quot;Value&quot;:&quot;POWER_USER_SHAPE_ICON_STYLE_1&quot;}">
                <a:extLst>
                  <a:ext uri="{FF2B5EF4-FFF2-40B4-BE49-F238E27FC236}">
                    <a16:creationId xmlns:a16="http://schemas.microsoft.com/office/drawing/2014/main" id="{C98EEF39-8BD9-EAB8-52B3-D71F190DE28C}"/>
                  </a:ext>
                </a:extLst>
              </p:cNvPr>
              <p:cNvSpPr>
                <a:spLocks noChangeAspect="1" noEditPoints="1"/>
              </p:cNvSpPr>
              <p:nvPr>
                <p:custDataLst>
                  <p:tags r:id="rId11"/>
                </p:custDataLst>
              </p:nvPr>
            </p:nvSpPr>
            <p:spPr bwMode="auto">
              <a:xfrm>
                <a:off x="5760303" y="834706"/>
                <a:ext cx="431182" cy="363022"/>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sp>
          <p:nvSpPr>
            <p:cNvPr id="538" name="Textfeld 537">
              <a:extLst>
                <a:ext uri="{FF2B5EF4-FFF2-40B4-BE49-F238E27FC236}">
                  <a16:creationId xmlns:a16="http://schemas.microsoft.com/office/drawing/2014/main" id="{3262DC7A-82B1-8996-1E46-DF54A406AE5D}"/>
                </a:ext>
              </a:extLst>
            </p:cNvPr>
            <p:cNvSpPr txBox="1"/>
            <p:nvPr/>
          </p:nvSpPr>
          <p:spPr>
            <a:xfrm>
              <a:off x="7026279" y="1608444"/>
              <a:ext cx="253437" cy="316686"/>
            </a:xfrm>
            <a:prstGeom prst="rect">
              <a:avLst/>
            </a:prstGeom>
            <a:noFill/>
          </p:spPr>
          <p:txBody>
            <a:bodyPr wrap="none" rtlCol="0">
              <a:spAutoFit/>
            </a:bodyPr>
            <a:lstStyle/>
            <a:p>
              <a:pPr algn="ctr" defTabSz="914339">
                <a:defRPr/>
              </a:pPr>
              <a:endParaRPr lang="de-AT" sz="900" kern="0" dirty="0">
                <a:solidFill>
                  <a:prstClr val="black"/>
                </a:solidFill>
                <a:latin typeface="Aptos" panose="020B0004020202020204" pitchFamily="34" charset="0"/>
              </a:endParaRPr>
            </a:p>
          </p:txBody>
        </p:sp>
        <p:sp>
          <p:nvSpPr>
            <p:cNvPr id="539" name="Textfeld 538">
              <a:extLst>
                <a:ext uri="{FF2B5EF4-FFF2-40B4-BE49-F238E27FC236}">
                  <a16:creationId xmlns:a16="http://schemas.microsoft.com/office/drawing/2014/main" id="{2ACC195E-C37F-3FC0-4D3C-0CA31B190A23}"/>
                </a:ext>
              </a:extLst>
            </p:cNvPr>
            <p:cNvSpPr txBox="1"/>
            <p:nvPr/>
          </p:nvSpPr>
          <p:spPr>
            <a:xfrm>
              <a:off x="6246002" y="1583892"/>
              <a:ext cx="1425528" cy="506699"/>
            </a:xfrm>
            <a:prstGeom prst="rect">
              <a:avLst/>
            </a:prstGeom>
            <a:noFill/>
          </p:spPr>
          <p:txBody>
            <a:bodyPr wrap="none" rtlCol="0">
              <a:spAutoFit/>
            </a:bodyPr>
            <a:lstStyle/>
            <a:p>
              <a:pPr algn="ctr" defTabSz="914339">
                <a:defRPr/>
              </a:pPr>
              <a:r>
                <a:rPr lang="en-GB" sz="900" i="1" kern="0" dirty="0">
                  <a:solidFill>
                    <a:prstClr val="black"/>
                  </a:solidFill>
                  <a:latin typeface="Aptos" panose="020B0004020202020204" pitchFamily="34" charset="0"/>
                </a:rPr>
                <a:t>Electric Vehicle </a:t>
              </a:r>
            </a:p>
            <a:p>
              <a:pPr algn="ctr" defTabSz="914339">
                <a:defRPr/>
              </a:pPr>
              <a:r>
                <a:rPr lang="en-GB" sz="900" i="1" kern="0" dirty="0">
                  <a:solidFill>
                    <a:prstClr val="black"/>
                  </a:solidFill>
                  <a:latin typeface="Aptos" panose="020B0004020202020204" pitchFamily="34" charset="0"/>
                </a:rPr>
                <a:t>Minimum Charge</a:t>
              </a:r>
              <a:endParaRPr lang="de-AT" sz="900" i="1" kern="0" dirty="0">
                <a:solidFill>
                  <a:prstClr val="black"/>
                </a:solidFill>
                <a:latin typeface="Aptos" panose="020B0004020202020204" pitchFamily="34" charset="0"/>
              </a:endParaRPr>
            </a:p>
          </p:txBody>
        </p:sp>
      </p:grpSp>
      <p:grpSp>
        <p:nvGrpSpPr>
          <p:cNvPr id="542" name="Gruppieren 541">
            <a:extLst>
              <a:ext uri="{FF2B5EF4-FFF2-40B4-BE49-F238E27FC236}">
                <a16:creationId xmlns:a16="http://schemas.microsoft.com/office/drawing/2014/main" id="{BB6FAC4C-4228-FC33-F018-0F0EC2D7D6A2}"/>
              </a:ext>
            </a:extLst>
          </p:cNvPr>
          <p:cNvGrpSpPr/>
          <p:nvPr/>
        </p:nvGrpSpPr>
        <p:grpSpPr>
          <a:xfrm>
            <a:off x="9168296" y="2319121"/>
            <a:ext cx="1156086" cy="508285"/>
            <a:chOff x="10939805" y="1600596"/>
            <a:chExt cx="724500" cy="484236"/>
          </a:xfrm>
        </p:grpSpPr>
        <p:sp>
          <p:nvSpPr>
            <p:cNvPr id="543" name="Textfeld 542">
              <a:extLst>
                <a:ext uri="{FF2B5EF4-FFF2-40B4-BE49-F238E27FC236}">
                  <a16:creationId xmlns:a16="http://schemas.microsoft.com/office/drawing/2014/main" id="{2855DCA2-1E09-5EB1-6165-A5DC056A3E3C}"/>
                </a:ext>
              </a:extLst>
            </p:cNvPr>
            <p:cNvSpPr txBox="1"/>
            <p:nvPr/>
          </p:nvSpPr>
          <p:spPr>
            <a:xfrm>
              <a:off x="10939805" y="1600596"/>
              <a:ext cx="724500" cy="219910"/>
            </a:xfrm>
            <a:prstGeom prst="rect">
              <a:avLst/>
            </a:prstGeom>
            <a:noFill/>
          </p:spPr>
          <p:txBody>
            <a:bodyPr wrap="none" rtlCol="0">
              <a:spAutoFit/>
            </a:bodyPr>
            <a:lstStyle/>
            <a:p>
              <a:pPr algn="ctr">
                <a:defRPr/>
              </a:pPr>
              <a:r>
                <a:rPr lang="en-GB" sz="900" dirty="0" err="1">
                  <a:solidFill>
                    <a:prstClr val="black"/>
                  </a:solidFill>
                  <a:latin typeface="Aptos" panose="020B0004020202020204" pitchFamily="34" charset="0"/>
                </a:rPr>
                <a:t>Elektrische</a:t>
              </a:r>
              <a:r>
                <a:rPr lang="en-GB" sz="900" dirty="0">
                  <a:solidFill>
                    <a:prstClr val="black"/>
                  </a:solidFill>
                  <a:latin typeface="Aptos" panose="020B0004020202020204" pitchFamily="34" charset="0"/>
                </a:rPr>
                <a:t> Batterie</a:t>
              </a:r>
              <a:endParaRPr lang="de-AT" sz="900" dirty="0">
                <a:solidFill>
                  <a:prstClr val="black"/>
                </a:solidFill>
                <a:latin typeface="Aptos" panose="020B0004020202020204" pitchFamily="34" charset="0"/>
              </a:endParaRPr>
            </a:p>
          </p:txBody>
        </p:sp>
        <p:sp>
          <p:nvSpPr>
            <p:cNvPr id="544" name="Textfeld 543">
              <a:extLst>
                <a:ext uri="{FF2B5EF4-FFF2-40B4-BE49-F238E27FC236}">
                  <a16:creationId xmlns:a16="http://schemas.microsoft.com/office/drawing/2014/main" id="{9A38D25C-042C-C764-731A-0A2F98824E91}"/>
                </a:ext>
              </a:extLst>
            </p:cNvPr>
            <p:cNvSpPr txBox="1"/>
            <p:nvPr/>
          </p:nvSpPr>
          <p:spPr>
            <a:xfrm>
              <a:off x="11130442" y="1864922"/>
              <a:ext cx="337738" cy="219910"/>
            </a:xfrm>
            <a:prstGeom prst="rect">
              <a:avLst/>
            </a:prstGeom>
            <a:noFill/>
          </p:spPr>
          <p:txBody>
            <a:bodyPr wrap="none" rtlCol="0">
              <a:spAutoFit/>
            </a:bodyPr>
            <a:lstStyle/>
            <a:p>
              <a:pPr algn="ctr">
                <a:defRPr/>
              </a:pPr>
              <a:r>
                <a:rPr lang="en-GB" sz="900" i="1" dirty="0">
                  <a:solidFill>
                    <a:prstClr val="black"/>
                  </a:solidFill>
                  <a:latin typeface="Aptos" panose="020B0004020202020204" pitchFamily="34" charset="0"/>
                </a:rPr>
                <a:t>Battery</a:t>
              </a:r>
              <a:endParaRPr lang="de-AT" sz="900" i="1" dirty="0">
                <a:solidFill>
                  <a:prstClr val="black"/>
                </a:solidFill>
                <a:latin typeface="Aptos" panose="020B0004020202020204" pitchFamily="34" charset="0"/>
              </a:endParaRPr>
            </a:p>
          </p:txBody>
        </p:sp>
      </p:grpSp>
      <p:grpSp>
        <p:nvGrpSpPr>
          <p:cNvPr id="545" name="Gruppieren 544">
            <a:extLst>
              <a:ext uri="{FF2B5EF4-FFF2-40B4-BE49-F238E27FC236}">
                <a16:creationId xmlns:a16="http://schemas.microsoft.com/office/drawing/2014/main" id="{390FEF44-BCF9-57F4-248E-7EB9DEA49380}"/>
              </a:ext>
            </a:extLst>
          </p:cNvPr>
          <p:cNvGrpSpPr/>
          <p:nvPr/>
        </p:nvGrpSpPr>
        <p:grpSpPr>
          <a:xfrm>
            <a:off x="8287933" y="2319123"/>
            <a:ext cx="1059907" cy="1062561"/>
            <a:chOff x="8884588" y="1600594"/>
            <a:chExt cx="1454119" cy="1457761"/>
          </a:xfrm>
        </p:grpSpPr>
        <p:grpSp>
          <p:nvGrpSpPr>
            <p:cNvPr id="546" name="Gruppieren 545">
              <a:extLst>
                <a:ext uri="{FF2B5EF4-FFF2-40B4-BE49-F238E27FC236}">
                  <a16:creationId xmlns:a16="http://schemas.microsoft.com/office/drawing/2014/main" id="{DBDD37EA-4250-4D4D-F8D7-5E3DCBDE1B45}"/>
                </a:ext>
              </a:extLst>
            </p:cNvPr>
            <p:cNvGrpSpPr/>
            <p:nvPr/>
          </p:nvGrpSpPr>
          <p:grpSpPr>
            <a:xfrm>
              <a:off x="9151817" y="2104167"/>
              <a:ext cx="962410" cy="954188"/>
              <a:chOff x="8230696" y="575606"/>
              <a:chExt cx="825646" cy="818592"/>
            </a:xfrm>
          </p:grpSpPr>
          <p:sp>
            <p:nvSpPr>
              <p:cNvPr id="549" name="Flussdiagramm: Anzeige 9">
                <a:extLst>
                  <a:ext uri="{FF2B5EF4-FFF2-40B4-BE49-F238E27FC236}">
                    <a16:creationId xmlns:a16="http://schemas.microsoft.com/office/drawing/2014/main" id="{E2D01B85-6EC7-7B1B-C123-78FAC7CC2A31}"/>
                  </a:ext>
                </a:extLst>
              </p:cNvPr>
              <p:cNvSpPr/>
              <p:nvPr/>
            </p:nvSpPr>
            <p:spPr>
              <a:xfrm rot="5400000">
                <a:off x="8234223" y="572079"/>
                <a:ext cx="818592" cy="825646"/>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80000">
                    <a:srgbClr val="F59C00"/>
                  </a:gs>
                  <a:gs pos="91000">
                    <a:srgbClr val="FFFFFF"/>
                  </a:gs>
                </a:gsLst>
                <a:lin ang="10800000" scaled="1"/>
                <a:tileRect/>
              </a:grad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50" name="Car7" descr="{&quot;Key&quot;:&quot;POWER_USER_SHAPE_ICON&quot;,&quot;Value&quot;:&quot;POWER_USER_SHAPE_ICON_STYLE_1&quot;}">
                <a:extLst>
                  <a:ext uri="{FF2B5EF4-FFF2-40B4-BE49-F238E27FC236}">
                    <a16:creationId xmlns:a16="http://schemas.microsoft.com/office/drawing/2014/main" id="{96A9CDBD-9746-EE5A-F8FD-B0364409579B}"/>
                  </a:ext>
                </a:extLst>
              </p:cNvPr>
              <p:cNvSpPr>
                <a:spLocks noChangeAspect="1" noEditPoints="1"/>
              </p:cNvSpPr>
              <p:nvPr>
                <p:custDataLst>
                  <p:tags r:id="rId10"/>
                </p:custDataLst>
              </p:nvPr>
            </p:nvSpPr>
            <p:spPr bwMode="auto">
              <a:xfrm>
                <a:off x="8431470" y="842936"/>
                <a:ext cx="424098" cy="35705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sp>
          <p:nvSpPr>
            <p:cNvPr id="547" name="Textfeld 546">
              <a:extLst>
                <a:ext uri="{FF2B5EF4-FFF2-40B4-BE49-F238E27FC236}">
                  <a16:creationId xmlns:a16="http://schemas.microsoft.com/office/drawing/2014/main" id="{8A25F409-6855-D8A9-0741-30C243D82A0A}"/>
                </a:ext>
              </a:extLst>
            </p:cNvPr>
            <p:cNvSpPr txBox="1"/>
            <p:nvPr/>
          </p:nvSpPr>
          <p:spPr>
            <a:xfrm>
              <a:off x="9496961" y="1600594"/>
              <a:ext cx="253437" cy="316686"/>
            </a:xfrm>
            <a:prstGeom prst="rect">
              <a:avLst/>
            </a:prstGeom>
            <a:noFill/>
          </p:spPr>
          <p:txBody>
            <a:bodyPr wrap="none" rtlCol="0">
              <a:spAutoFit/>
            </a:bodyPr>
            <a:lstStyle/>
            <a:p>
              <a:pPr algn="ctr" defTabSz="914339">
                <a:defRPr/>
              </a:pPr>
              <a:endParaRPr lang="de-AT" sz="900" kern="0" dirty="0">
                <a:solidFill>
                  <a:prstClr val="black"/>
                </a:solidFill>
                <a:latin typeface="Aptos" panose="020B0004020202020204" pitchFamily="34" charset="0"/>
              </a:endParaRPr>
            </a:p>
          </p:txBody>
        </p:sp>
        <p:sp>
          <p:nvSpPr>
            <p:cNvPr id="548" name="Textfeld 547">
              <a:extLst>
                <a:ext uri="{FF2B5EF4-FFF2-40B4-BE49-F238E27FC236}">
                  <a16:creationId xmlns:a16="http://schemas.microsoft.com/office/drawing/2014/main" id="{D4493BCF-C994-C952-FE30-FC99E6D00607}"/>
                </a:ext>
              </a:extLst>
            </p:cNvPr>
            <p:cNvSpPr txBox="1"/>
            <p:nvPr/>
          </p:nvSpPr>
          <p:spPr>
            <a:xfrm>
              <a:off x="8884588" y="1639759"/>
              <a:ext cx="1454119" cy="506698"/>
            </a:xfrm>
            <a:prstGeom prst="rect">
              <a:avLst/>
            </a:prstGeom>
            <a:noFill/>
          </p:spPr>
          <p:txBody>
            <a:bodyPr wrap="none" rtlCol="0">
              <a:spAutoFit/>
            </a:bodyPr>
            <a:lstStyle/>
            <a:p>
              <a:pPr algn="ctr" defTabSz="914339">
                <a:defRPr/>
              </a:pPr>
              <a:r>
                <a:rPr lang="en-GB" sz="900" i="1" kern="0" dirty="0">
                  <a:solidFill>
                    <a:prstClr val="black"/>
                  </a:solidFill>
                  <a:latin typeface="Aptos" panose="020B0004020202020204" pitchFamily="34" charset="0"/>
                </a:rPr>
                <a:t>Electric Vehicle </a:t>
              </a:r>
            </a:p>
            <a:p>
              <a:pPr algn="ctr" defTabSz="914339">
                <a:defRPr/>
              </a:pPr>
              <a:r>
                <a:rPr lang="en-GB" sz="900" i="1" kern="0" dirty="0">
                  <a:solidFill>
                    <a:prstClr val="black"/>
                  </a:solidFill>
                  <a:latin typeface="Aptos" panose="020B0004020202020204" pitchFamily="34" charset="0"/>
                </a:rPr>
                <a:t>Maximum Charge</a:t>
              </a:r>
              <a:endParaRPr lang="de-AT" sz="900" i="1" kern="0" dirty="0">
                <a:solidFill>
                  <a:prstClr val="black"/>
                </a:solidFill>
                <a:latin typeface="Aptos" panose="020B0004020202020204" pitchFamily="34" charset="0"/>
              </a:endParaRPr>
            </a:p>
          </p:txBody>
        </p:sp>
      </p:grpSp>
      <p:sp>
        <p:nvSpPr>
          <p:cNvPr id="551" name="Textfeld 550">
            <a:extLst>
              <a:ext uri="{FF2B5EF4-FFF2-40B4-BE49-F238E27FC236}">
                <a16:creationId xmlns:a16="http://schemas.microsoft.com/office/drawing/2014/main" id="{B9E80738-46C2-85AD-6CC2-D82F0300608A}"/>
              </a:ext>
            </a:extLst>
          </p:cNvPr>
          <p:cNvSpPr txBox="1"/>
          <p:nvPr/>
        </p:nvSpPr>
        <p:spPr>
          <a:xfrm>
            <a:off x="2893395" y="3216366"/>
            <a:ext cx="724877" cy="415498"/>
          </a:xfrm>
          <a:prstGeom prst="rect">
            <a:avLst/>
          </a:prstGeom>
          <a:noFill/>
        </p:spPr>
        <p:txBody>
          <a:bodyPr wrap="none" rtlCol="0">
            <a:spAutoFit/>
          </a:bodyPr>
          <a:lstStyle/>
          <a:p>
            <a:pPr algn="r">
              <a:defRPr/>
            </a:pPr>
            <a:r>
              <a:rPr lang="en-GB" sz="1050" b="1" dirty="0" err="1">
                <a:solidFill>
                  <a:prstClr val="black"/>
                </a:solidFill>
                <a:latin typeface="Aptos" panose="020B0004020202020204" pitchFamily="34" charset="0"/>
              </a:rPr>
              <a:t>Deckung</a:t>
            </a:r>
            <a:endParaRPr lang="en-GB" sz="1050" dirty="0">
              <a:solidFill>
                <a:prstClr val="black"/>
              </a:solidFill>
              <a:latin typeface="Aptos" panose="020B0004020202020204" pitchFamily="34" charset="0"/>
            </a:endParaRPr>
          </a:p>
          <a:p>
            <a:pPr algn="r">
              <a:defRPr/>
            </a:pPr>
            <a:r>
              <a:rPr lang="en-GB" sz="1050" i="1" dirty="0">
                <a:solidFill>
                  <a:prstClr val="black"/>
                </a:solidFill>
                <a:latin typeface="Aptos" panose="020B0004020202020204" pitchFamily="34" charset="0"/>
              </a:rPr>
              <a:t>Supply</a:t>
            </a:r>
            <a:endParaRPr lang="de-AT" sz="1050" i="1" dirty="0">
              <a:solidFill>
                <a:prstClr val="black"/>
              </a:solidFill>
              <a:latin typeface="Aptos" panose="020B0004020202020204" pitchFamily="34" charset="0"/>
            </a:endParaRPr>
          </a:p>
        </p:txBody>
      </p:sp>
      <p:sp>
        <p:nvSpPr>
          <p:cNvPr id="552" name="Textfeld 551">
            <a:extLst>
              <a:ext uri="{FF2B5EF4-FFF2-40B4-BE49-F238E27FC236}">
                <a16:creationId xmlns:a16="http://schemas.microsoft.com/office/drawing/2014/main" id="{EFDD29FD-DBA7-9A82-0558-C8561055C0E7}"/>
              </a:ext>
            </a:extLst>
          </p:cNvPr>
          <p:cNvSpPr txBox="1"/>
          <p:nvPr/>
        </p:nvSpPr>
        <p:spPr>
          <a:xfrm>
            <a:off x="3094191" y="2304730"/>
            <a:ext cx="1439804" cy="415498"/>
          </a:xfrm>
          <a:prstGeom prst="rect">
            <a:avLst/>
          </a:prstGeom>
          <a:noFill/>
        </p:spPr>
        <p:txBody>
          <a:bodyPr wrap="square" rtlCol="0">
            <a:spAutoFit/>
          </a:bodyPr>
          <a:lstStyle/>
          <a:p>
            <a:pPr algn="r">
              <a:defRPr/>
            </a:pPr>
            <a:r>
              <a:rPr lang="en-GB" sz="1050" b="1" dirty="0">
                <a:solidFill>
                  <a:prstClr val="black"/>
                </a:solidFill>
                <a:latin typeface="Aptos" panose="020B0004020202020204" pitchFamily="34" charset="0"/>
              </a:rPr>
              <a:t>Bedarf  </a:t>
            </a:r>
            <a:br>
              <a:rPr lang="en-GB" sz="1050" b="1" dirty="0">
                <a:solidFill>
                  <a:prstClr val="black"/>
                </a:solidFill>
                <a:latin typeface="Aptos" panose="020B0004020202020204" pitchFamily="34" charset="0"/>
              </a:rPr>
            </a:br>
            <a:r>
              <a:rPr lang="en-GB" sz="1050" i="1" dirty="0">
                <a:solidFill>
                  <a:prstClr val="black"/>
                </a:solidFill>
                <a:latin typeface="Aptos" panose="020B0004020202020204" pitchFamily="34" charset="0"/>
              </a:rPr>
              <a:t>Demand</a:t>
            </a:r>
            <a:endParaRPr lang="de-AT" sz="1050" i="1" dirty="0">
              <a:solidFill>
                <a:prstClr val="black"/>
              </a:solidFill>
              <a:latin typeface="Aptos" panose="020B0004020202020204" pitchFamily="34" charset="0"/>
            </a:endParaRPr>
          </a:p>
        </p:txBody>
      </p:sp>
      <p:sp>
        <p:nvSpPr>
          <p:cNvPr id="553" name="Textfeld 552">
            <a:extLst>
              <a:ext uri="{FF2B5EF4-FFF2-40B4-BE49-F238E27FC236}">
                <a16:creationId xmlns:a16="http://schemas.microsoft.com/office/drawing/2014/main" id="{ED0DB97E-3341-2188-3A3B-05A838E8FC2C}"/>
              </a:ext>
            </a:extLst>
          </p:cNvPr>
          <p:cNvSpPr txBox="1"/>
          <p:nvPr/>
        </p:nvSpPr>
        <p:spPr>
          <a:xfrm>
            <a:off x="7666563" y="5990248"/>
            <a:ext cx="1582484" cy="253916"/>
          </a:xfrm>
          <a:prstGeom prst="rect">
            <a:avLst/>
          </a:prstGeom>
          <a:noFill/>
        </p:spPr>
        <p:txBody>
          <a:bodyPr wrap="none" rtlCol="0">
            <a:spAutoFit/>
          </a:bodyPr>
          <a:lstStyle/>
          <a:p>
            <a:pPr algn="ctr">
              <a:defRPr/>
            </a:pPr>
            <a:r>
              <a:rPr lang="en-GB" sz="1050" dirty="0" err="1">
                <a:solidFill>
                  <a:prstClr val="black"/>
                </a:solidFill>
                <a:latin typeface="Aptos" panose="020B0004020202020204" pitchFamily="34" charset="0"/>
              </a:rPr>
              <a:t>Mindestbedärfe</a:t>
            </a:r>
            <a:r>
              <a:rPr lang="en-GB" sz="1050" dirty="0">
                <a:solidFill>
                  <a:prstClr val="black"/>
                </a:solidFill>
                <a:latin typeface="Aptos" panose="020B0004020202020204" pitchFamily="34" charset="0"/>
              </a:rPr>
              <a:t> </a:t>
            </a:r>
            <a:r>
              <a:rPr lang="en-GB" sz="1050" dirty="0" err="1">
                <a:solidFill>
                  <a:prstClr val="black"/>
                </a:solidFill>
                <a:latin typeface="Aptos" panose="020B0004020202020204" pitchFamily="34" charset="0"/>
              </a:rPr>
              <a:t>gedeckt</a:t>
            </a:r>
            <a:endParaRPr lang="de-AT" sz="1050" dirty="0">
              <a:solidFill>
                <a:prstClr val="black"/>
              </a:solidFill>
              <a:latin typeface="Aptos" panose="020B0004020202020204" pitchFamily="34" charset="0"/>
            </a:endParaRPr>
          </a:p>
        </p:txBody>
      </p:sp>
      <p:sp>
        <p:nvSpPr>
          <p:cNvPr id="554" name="Textfeld 553">
            <a:extLst>
              <a:ext uri="{FF2B5EF4-FFF2-40B4-BE49-F238E27FC236}">
                <a16:creationId xmlns:a16="http://schemas.microsoft.com/office/drawing/2014/main" id="{7113D29F-CD32-C877-6AC3-9D9AE67E0364}"/>
              </a:ext>
            </a:extLst>
          </p:cNvPr>
          <p:cNvSpPr txBox="1"/>
          <p:nvPr/>
        </p:nvSpPr>
        <p:spPr>
          <a:xfrm>
            <a:off x="7676182" y="6162173"/>
            <a:ext cx="1563248" cy="253916"/>
          </a:xfrm>
          <a:prstGeom prst="rect">
            <a:avLst/>
          </a:prstGeom>
          <a:noFill/>
        </p:spPr>
        <p:txBody>
          <a:bodyPr wrap="none" rtlCol="0">
            <a:spAutoFit/>
          </a:bodyPr>
          <a:lstStyle/>
          <a:p>
            <a:pPr algn="ctr">
              <a:defRPr/>
            </a:pPr>
            <a:r>
              <a:rPr lang="en-GB" sz="1050" i="1" dirty="0">
                <a:solidFill>
                  <a:prstClr val="black"/>
                </a:solidFill>
                <a:latin typeface="Aptos" panose="020B0004020202020204" pitchFamily="34" charset="0"/>
              </a:rPr>
              <a:t>Minimum demands met</a:t>
            </a:r>
            <a:endParaRPr lang="de-AT" sz="1050" i="1" dirty="0">
              <a:solidFill>
                <a:prstClr val="black"/>
              </a:solidFill>
              <a:latin typeface="Aptos" panose="020B0004020202020204" pitchFamily="34" charset="0"/>
            </a:endParaRPr>
          </a:p>
        </p:txBody>
      </p:sp>
      <p:sp>
        <p:nvSpPr>
          <p:cNvPr id="555" name="Textfeld 554">
            <a:extLst>
              <a:ext uri="{FF2B5EF4-FFF2-40B4-BE49-F238E27FC236}">
                <a16:creationId xmlns:a16="http://schemas.microsoft.com/office/drawing/2014/main" id="{E65EE756-34A0-549F-855D-EF6722162CE5}"/>
              </a:ext>
            </a:extLst>
          </p:cNvPr>
          <p:cNvSpPr txBox="1"/>
          <p:nvPr/>
        </p:nvSpPr>
        <p:spPr>
          <a:xfrm>
            <a:off x="9244000" y="1578970"/>
            <a:ext cx="962122" cy="369332"/>
          </a:xfrm>
          <a:prstGeom prst="rect">
            <a:avLst/>
          </a:prstGeom>
          <a:noFill/>
        </p:spPr>
        <p:txBody>
          <a:bodyPr wrap="none" rtlCol="0">
            <a:spAutoFit/>
          </a:bodyPr>
          <a:lstStyle/>
          <a:p>
            <a:pPr algn="r">
              <a:defRPr/>
            </a:pPr>
            <a:r>
              <a:rPr lang="en-GB" sz="900" dirty="0">
                <a:solidFill>
                  <a:prstClr val="black"/>
                </a:solidFill>
                <a:latin typeface="Aptos" panose="020B0004020202020204" pitchFamily="34" charset="0"/>
              </a:rPr>
              <a:t>PV Überschuss </a:t>
            </a:r>
          </a:p>
          <a:p>
            <a:pPr algn="r">
              <a:defRPr/>
            </a:pPr>
            <a:r>
              <a:rPr lang="en-GB" sz="900" dirty="0">
                <a:solidFill>
                  <a:prstClr val="black"/>
                </a:solidFill>
                <a:latin typeface="Aptos" panose="020B0004020202020204" pitchFamily="34" charset="0"/>
              </a:rPr>
              <a:t>Export</a:t>
            </a:r>
            <a:endParaRPr lang="de-AT" sz="900" dirty="0">
              <a:solidFill>
                <a:prstClr val="black"/>
              </a:solidFill>
              <a:latin typeface="Aptos" panose="020B0004020202020204" pitchFamily="34" charset="0"/>
            </a:endParaRPr>
          </a:p>
        </p:txBody>
      </p:sp>
      <p:sp>
        <p:nvSpPr>
          <p:cNvPr id="556" name="Textfeld 555">
            <a:extLst>
              <a:ext uri="{FF2B5EF4-FFF2-40B4-BE49-F238E27FC236}">
                <a16:creationId xmlns:a16="http://schemas.microsoft.com/office/drawing/2014/main" id="{12A21BD9-6FC8-AF4E-17E4-ED218F707936}"/>
              </a:ext>
            </a:extLst>
          </p:cNvPr>
          <p:cNvSpPr txBox="1"/>
          <p:nvPr/>
        </p:nvSpPr>
        <p:spPr>
          <a:xfrm>
            <a:off x="9492464" y="1839394"/>
            <a:ext cx="713657" cy="369332"/>
          </a:xfrm>
          <a:prstGeom prst="rect">
            <a:avLst/>
          </a:prstGeom>
          <a:noFill/>
        </p:spPr>
        <p:txBody>
          <a:bodyPr wrap="none" rtlCol="0">
            <a:spAutoFit/>
          </a:bodyPr>
          <a:lstStyle/>
          <a:p>
            <a:pPr algn="r">
              <a:defRPr/>
            </a:pPr>
            <a:r>
              <a:rPr lang="en-GB" sz="900" i="1" dirty="0">
                <a:solidFill>
                  <a:prstClr val="black"/>
                </a:solidFill>
                <a:latin typeface="Aptos" panose="020B0004020202020204" pitchFamily="34" charset="0"/>
              </a:rPr>
              <a:t>PV Excess </a:t>
            </a:r>
          </a:p>
          <a:p>
            <a:pPr algn="r">
              <a:defRPr/>
            </a:pPr>
            <a:r>
              <a:rPr lang="en-GB" sz="900" i="1" dirty="0">
                <a:solidFill>
                  <a:prstClr val="black"/>
                </a:solidFill>
                <a:latin typeface="Aptos" panose="020B0004020202020204" pitchFamily="34" charset="0"/>
              </a:rPr>
              <a:t>Export</a:t>
            </a:r>
            <a:endParaRPr lang="de-AT" sz="900" i="1" dirty="0">
              <a:solidFill>
                <a:prstClr val="black"/>
              </a:solidFill>
              <a:latin typeface="Aptos" panose="020B0004020202020204" pitchFamily="34" charset="0"/>
            </a:endParaRPr>
          </a:p>
        </p:txBody>
      </p:sp>
      <p:grpSp>
        <p:nvGrpSpPr>
          <p:cNvPr id="557" name="Gruppieren 556">
            <a:extLst>
              <a:ext uri="{FF2B5EF4-FFF2-40B4-BE49-F238E27FC236}">
                <a16:creationId xmlns:a16="http://schemas.microsoft.com/office/drawing/2014/main" id="{BFDDFE4B-DF8C-78AF-31CB-40593F7CF2A0}"/>
              </a:ext>
            </a:extLst>
          </p:cNvPr>
          <p:cNvGrpSpPr/>
          <p:nvPr/>
        </p:nvGrpSpPr>
        <p:grpSpPr>
          <a:xfrm>
            <a:off x="8095782" y="1866750"/>
            <a:ext cx="906769" cy="242323"/>
            <a:chOff x="783684" y="1118083"/>
            <a:chExt cx="1244026" cy="332450"/>
          </a:xfrm>
        </p:grpSpPr>
        <p:cxnSp>
          <p:nvCxnSpPr>
            <p:cNvPr id="558" name="Gerade Verbindung mit Pfeil 557">
              <a:extLst>
                <a:ext uri="{FF2B5EF4-FFF2-40B4-BE49-F238E27FC236}">
                  <a16:creationId xmlns:a16="http://schemas.microsoft.com/office/drawing/2014/main" id="{6DAFF1A9-4CC8-7453-571B-3C783F4D31CA}"/>
                </a:ext>
              </a:extLst>
            </p:cNvPr>
            <p:cNvCxnSpPr/>
            <p:nvPr/>
          </p:nvCxnSpPr>
          <p:spPr>
            <a:xfrm>
              <a:off x="783684" y="1118083"/>
              <a:ext cx="1244026" cy="0"/>
            </a:xfrm>
            <a:prstGeom prst="straightConnector1">
              <a:avLst/>
            </a:prstGeom>
            <a:noFill/>
            <a:ln w="28575" cap="flat" cmpd="sng" algn="ctr">
              <a:solidFill>
                <a:srgbClr val="5FB564">
                  <a:lumMod val="60000"/>
                  <a:lumOff val="40000"/>
                </a:srgbClr>
              </a:solidFill>
              <a:prstDash val="solid"/>
              <a:miter lim="800000"/>
              <a:tailEnd type="triangle"/>
            </a:ln>
            <a:effectLst/>
          </p:spPr>
        </p:cxnSp>
        <p:sp>
          <p:nvSpPr>
            <p:cNvPr id="559" name="Textfeld 558">
              <a:extLst>
                <a:ext uri="{FF2B5EF4-FFF2-40B4-BE49-F238E27FC236}">
                  <a16:creationId xmlns:a16="http://schemas.microsoft.com/office/drawing/2014/main" id="{7E57EE5A-EF46-AD77-AD28-D70FD39503EB}"/>
                </a:ext>
              </a:extLst>
            </p:cNvPr>
            <p:cNvSpPr txBox="1"/>
            <p:nvPr/>
          </p:nvSpPr>
          <p:spPr>
            <a:xfrm>
              <a:off x="1030123" y="1133848"/>
              <a:ext cx="690993" cy="316685"/>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Export</a:t>
              </a:r>
              <a:endParaRPr lang="de-AT" sz="900" kern="0" dirty="0">
                <a:solidFill>
                  <a:prstClr val="black"/>
                </a:solidFill>
                <a:latin typeface="Aptos" panose="020B0004020202020204" pitchFamily="34" charset="0"/>
              </a:endParaRPr>
            </a:p>
          </p:txBody>
        </p:sp>
      </p:grpSp>
      <p:grpSp>
        <p:nvGrpSpPr>
          <p:cNvPr id="560" name="Gruppieren 559">
            <a:extLst>
              <a:ext uri="{FF2B5EF4-FFF2-40B4-BE49-F238E27FC236}">
                <a16:creationId xmlns:a16="http://schemas.microsoft.com/office/drawing/2014/main" id="{AC03AC74-F02B-BB0F-A931-8B2043A88321}"/>
              </a:ext>
            </a:extLst>
          </p:cNvPr>
          <p:cNvGrpSpPr/>
          <p:nvPr/>
        </p:nvGrpSpPr>
        <p:grpSpPr>
          <a:xfrm>
            <a:off x="6980391" y="1864963"/>
            <a:ext cx="906769" cy="242323"/>
            <a:chOff x="783683" y="1118083"/>
            <a:chExt cx="1244025" cy="332450"/>
          </a:xfrm>
        </p:grpSpPr>
        <p:cxnSp>
          <p:nvCxnSpPr>
            <p:cNvPr id="561" name="Gerade Verbindung mit Pfeil 560">
              <a:extLst>
                <a:ext uri="{FF2B5EF4-FFF2-40B4-BE49-F238E27FC236}">
                  <a16:creationId xmlns:a16="http://schemas.microsoft.com/office/drawing/2014/main" id="{8070EF5D-ADD7-D5FD-EA33-A3D2E02D4DCE}"/>
                </a:ext>
              </a:extLst>
            </p:cNvPr>
            <p:cNvCxnSpPr/>
            <p:nvPr/>
          </p:nvCxnSpPr>
          <p:spPr>
            <a:xfrm>
              <a:off x="783683" y="1118083"/>
              <a:ext cx="1244025" cy="0"/>
            </a:xfrm>
            <a:prstGeom prst="straightConnector1">
              <a:avLst/>
            </a:prstGeom>
            <a:noFill/>
            <a:ln w="28575" cap="flat" cmpd="sng" algn="ctr">
              <a:solidFill>
                <a:srgbClr val="FF0000"/>
              </a:solidFill>
              <a:prstDash val="solid"/>
              <a:miter lim="800000"/>
              <a:tailEnd type="triangle"/>
            </a:ln>
            <a:effectLst/>
          </p:spPr>
        </p:cxnSp>
        <p:sp>
          <p:nvSpPr>
            <p:cNvPr id="562" name="Textfeld 561">
              <a:extLst>
                <a:ext uri="{FF2B5EF4-FFF2-40B4-BE49-F238E27FC236}">
                  <a16:creationId xmlns:a16="http://schemas.microsoft.com/office/drawing/2014/main" id="{37E346EE-8F77-45F7-265C-B3191AB802F7}"/>
                </a:ext>
              </a:extLst>
            </p:cNvPr>
            <p:cNvSpPr txBox="1"/>
            <p:nvPr/>
          </p:nvSpPr>
          <p:spPr>
            <a:xfrm>
              <a:off x="1021325" y="1133848"/>
              <a:ext cx="708586" cy="316685"/>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Import</a:t>
              </a:r>
              <a:endParaRPr lang="de-AT" sz="900" kern="0" dirty="0">
                <a:solidFill>
                  <a:prstClr val="black"/>
                </a:solidFill>
                <a:latin typeface="Aptos" panose="020B0004020202020204" pitchFamily="34" charset="0"/>
              </a:endParaRPr>
            </a:p>
          </p:txBody>
        </p:sp>
      </p:grpSp>
      <p:sp>
        <p:nvSpPr>
          <p:cNvPr id="563" name="Textfeld 562">
            <a:extLst>
              <a:ext uri="{FF2B5EF4-FFF2-40B4-BE49-F238E27FC236}">
                <a16:creationId xmlns:a16="http://schemas.microsoft.com/office/drawing/2014/main" id="{D3E20C1B-901F-7CFC-A00C-C76113AEA8FB}"/>
              </a:ext>
            </a:extLst>
          </p:cNvPr>
          <p:cNvSpPr txBox="1"/>
          <p:nvPr/>
        </p:nvSpPr>
        <p:spPr>
          <a:xfrm>
            <a:off x="7228353" y="1601351"/>
            <a:ext cx="2622539" cy="253916"/>
          </a:xfrm>
          <a:prstGeom prst="rect">
            <a:avLst/>
          </a:prstGeom>
          <a:noFill/>
        </p:spPr>
        <p:txBody>
          <a:bodyPr wrap="square" rtlCol="0">
            <a:spAutoFit/>
          </a:bodyPr>
          <a:lstStyle/>
          <a:p>
            <a:pPr>
              <a:defRPr/>
            </a:pPr>
            <a:r>
              <a:rPr lang="en-GB" sz="1050" b="1" dirty="0">
                <a:solidFill>
                  <a:prstClr val="black"/>
                </a:solidFill>
                <a:latin typeface="Aptos" panose="020B0004020202020204" pitchFamily="34" charset="0"/>
              </a:rPr>
              <a:t>Bilanzierung </a:t>
            </a:r>
            <a:r>
              <a:rPr lang="en-GB" sz="1050" i="1" dirty="0">
                <a:solidFill>
                  <a:prstClr val="black"/>
                </a:solidFill>
                <a:latin typeface="Aptos" panose="020B0004020202020204" pitchFamily="34" charset="0"/>
              </a:rPr>
              <a:t>Balancing</a:t>
            </a:r>
            <a:endParaRPr lang="de-AT" sz="1050" i="1" dirty="0">
              <a:solidFill>
                <a:prstClr val="black"/>
              </a:solidFill>
              <a:latin typeface="Aptos" panose="020B0004020202020204" pitchFamily="34" charset="0"/>
            </a:endParaRPr>
          </a:p>
        </p:txBody>
      </p:sp>
      <p:sp>
        <p:nvSpPr>
          <p:cNvPr id="565" name="Rechteck 564">
            <a:extLst>
              <a:ext uri="{FF2B5EF4-FFF2-40B4-BE49-F238E27FC236}">
                <a16:creationId xmlns:a16="http://schemas.microsoft.com/office/drawing/2014/main" id="{603D2B88-8FBB-7708-A8DE-3427926DA553}"/>
              </a:ext>
            </a:extLst>
          </p:cNvPr>
          <p:cNvSpPr/>
          <p:nvPr/>
        </p:nvSpPr>
        <p:spPr>
          <a:xfrm>
            <a:off x="5761294" y="1807470"/>
            <a:ext cx="1466914" cy="369332"/>
          </a:xfrm>
          <a:prstGeom prst="rect">
            <a:avLst/>
          </a:prstGeom>
        </p:spPr>
        <p:txBody>
          <a:bodyPr wrap="square">
            <a:spAutoFit/>
          </a:bodyPr>
          <a:lstStyle/>
          <a:p>
            <a:pPr>
              <a:defRPr/>
            </a:pPr>
            <a:r>
              <a:rPr lang="en-GB" sz="900" b="1" dirty="0" err="1">
                <a:solidFill>
                  <a:srgbClr val="E6EFF3">
                    <a:lumMod val="50000"/>
                  </a:srgbClr>
                </a:solidFill>
                <a:latin typeface="Aptos" panose="020B0004020202020204" pitchFamily="34" charset="0"/>
              </a:rPr>
              <a:t>Systemgrenze</a:t>
            </a:r>
            <a:r>
              <a:rPr lang="en-GB" sz="900" b="1" dirty="0">
                <a:solidFill>
                  <a:srgbClr val="E6EFF3">
                    <a:lumMod val="50000"/>
                  </a:srgbClr>
                </a:solidFill>
                <a:latin typeface="Aptos" panose="020B0004020202020204" pitchFamily="34" charset="0"/>
              </a:rPr>
              <a:t> </a:t>
            </a:r>
          </a:p>
          <a:p>
            <a:pPr>
              <a:defRPr/>
            </a:pPr>
            <a:r>
              <a:rPr lang="en-GB" sz="900" i="1" dirty="0">
                <a:solidFill>
                  <a:srgbClr val="E6EFF3">
                    <a:lumMod val="50000"/>
                  </a:srgbClr>
                </a:solidFill>
                <a:latin typeface="Aptos" panose="020B0004020202020204" pitchFamily="34" charset="0"/>
              </a:rPr>
              <a:t>System Boundary</a:t>
            </a:r>
          </a:p>
        </p:txBody>
      </p:sp>
      <p:sp>
        <p:nvSpPr>
          <p:cNvPr id="566" name="High_voltage3" descr="{&quot;Key&quot;:&quot;POWER_USER_SHAPE_ICON&quot;,&quot;Value&quot;:&quot;POWER_USER_SHAPE_ICON_STYLE_1&quot;}">
            <a:extLst>
              <a:ext uri="{FF2B5EF4-FFF2-40B4-BE49-F238E27FC236}">
                <a16:creationId xmlns:a16="http://schemas.microsoft.com/office/drawing/2014/main" id="{FA2CF697-D0C1-3697-6F0A-BBF1C0ADFFA2}"/>
              </a:ext>
            </a:extLst>
          </p:cNvPr>
          <p:cNvSpPr>
            <a:spLocks noChangeAspect="1" noEditPoints="1"/>
          </p:cNvSpPr>
          <p:nvPr>
            <p:custDataLst>
              <p:tags r:id="rId5"/>
            </p:custDataLst>
          </p:nvPr>
        </p:nvSpPr>
        <p:spPr bwMode="auto">
          <a:xfrm>
            <a:off x="3790942" y="5950809"/>
            <a:ext cx="231331" cy="322083"/>
          </a:xfrm>
          <a:custGeom>
            <a:avLst/>
            <a:gdLst>
              <a:gd name="T0" fmla="*/ 244 w 542"/>
              <a:gd name="T1" fmla="*/ 590 h 753"/>
              <a:gd name="T2" fmla="*/ 181 w 542"/>
              <a:gd name="T3" fmla="*/ 645 h 753"/>
              <a:gd name="T4" fmla="*/ 361 w 542"/>
              <a:gd name="T5" fmla="*/ 645 h 753"/>
              <a:gd name="T6" fmla="*/ 298 w 542"/>
              <a:gd name="T7" fmla="*/ 590 h 753"/>
              <a:gd name="T8" fmla="*/ 376 w 542"/>
              <a:gd name="T9" fmla="*/ 706 h 753"/>
              <a:gd name="T10" fmla="*/ 166 w 542"/>
              <a:gd name="T11" fmla="*/ 706 h 753"/>
              <a:gd name="T12" fmla="*/ 122 w 542"/>
              <a:gd name="T13" fmla="*/ 395 h 753"/>
              <a:gd name="T14" fmla="*/ 204 w 542"/>
              <a:gd name="T15" fmla="*/ 347 h 753"/>
              <a:gd name="T16" fmla="*/ 338 w 542"/>
              <a:gd name="T17" fmla="*/ 347 h 753"/>
              <a:gd name="T18" fmla="*/ 420 w 542"/>
              <a:gd name="T19" fmla="*/ 395 h 753"/>
              <a:gd name="T20" fmla="*/ 219 w 542"/>
              <a:gd name="T21" fmla="*/ 521 h 753"/>
              <a:gd name="T22" fmla="*/ 323 w 542"/>
              <a:gd name="T23" fmla="*/ 521 h 753"/>
              <a:gd name="T24" fmla="*/ 247 w 542"/>
              <a:gd name="T25" fmla="*/ 430 h 753"/>
              <a:gd name="T26" fmla="*/ 251 w 542"/>
              <a:gd name="T27" fmla="*/ 395 h 753"/>
              <a:gd name="T28" fmla="*/ 291 w 542"/>
              <a:gd name="T29" fmla="*/ 331 h 753"/>
              <a:gd name="T30" fmla="*/ 38 w 542"/>
              <a:gd name="T31" fmla="*/ 412 h 753"/>
              <a:gd name="T32" fmla="*/ 204 w 542"/>
              <a:gd name="T33" fmla="*/ 306 h 753"/>
              <a:gd name="T34" fmla="*/ 95 w 542"/>
              <a:gd name="T35" fmla="*/ 231 h 753"/>
              <a:gd name="T36" fmla="*/ 77 w 542"/>
              <a:gd name="T37" fmla="*/ 303 h 753"/>
              <a:gd name="T38" fmla="*/ 60 w 542"/>
              <a:gd name="T39" fmla="*/ 213 h 753"/>
              <a:gd name="T40" fmla="*/ 212 w 542"/>
              <a:gd name="T41" fmla="*/ 115 h 753"/>
              <a:gd name="T42" fmla="*/ 257 w 542"/>
              <a:gd name="T43" fmla="*/ 0 h 753"/>
              <a:gd name="T44" fmla="*/ 303 w 542"/>
              <a:gd name="T45" fmla="*/ 14 h 753"/>
              <a:gd name="T46" fmla="*/ 472 w 542"/>
              <a:gd name="T47" fmla="*/ 197 h 753"/>
              <a:gd name="T48" fmla="*/ 482 w 542"/>
              <a:gd name="T49" fmla="*/ 285 h 753"/>
              <a:gd name="T50" fmla="*/ 447 w 542"/>
              <a:gd name="T51" fmla="*/ 285 h 753"/>
              <a:gd name="T52" fmla="*/ 338 w 542"/>
              <a:gd name="T53" fmla="*/ 231 h 753"/>
              <a:gd name="T54" fmla="*/ 494 w 542"/>
              <a:gd name="T55" fmla="*/ 397 h 753"/>
              <a:gd name="T56" fmla="*/ 504 w 542"/>
              <a:gd name="T57" fmla="*/ 484 h 753"/>
              <a:gd name="T58" fmla="*/ 469 w 542"/>
              <a:gd name="T59" fmla="*/ 484 h 753"/>
              <a:gd name="T60" fmla="*/ 344 w 542"/>
              <a:gd name="T61" fmla="*/ 430 h 753"/>
              <a:gd name="T62" fmla="*/ 519 w 542"/>
              <a:gd name="T63" fmla="*/ 706 h 753"/>
              <a:gd name="T64" fmla="*/ 519 w 542"/>
              <a:gd name="T65" fmla="*/ 753 h 753"/>
              <a:gd name="T66" fmla="*/ 0 w 542"/>
              <a:gd name="T67" fmla="*/ 730 h 753"/>
              <a:gd name="T68" fmla="*/ 114 w 542"/>
              <a:gd name="T69" fmla="*/ 706 h 753"/>
              <a:gd name="T70" fmla="*/ 73 w 542"/>
              <a:gd name="T71" fmla="*/ 430 h 753"/>
              <a:gd name="T72" fmla="*/ 56 w 542"/>
              <a:gd name="T73" fmla="*/ 502 h 753"/>
              <a:gd name="T74" fmla="*/ 38 w 542"/>
              <a:gd name="T75" fmla="*/ 412 h 753"/>
              <a:gd name="T76" fmla="*/ 144 w 542"/>
              <a:gd name="T77" fmla="*/ 195 h 753"/>
              <a:gd name="T78" fmla="*/ 204 w 542"/>
              <a:gd name="T79" fmla="*/ 160 h 753"/>
              <a:gd name="T80" fmla="*/ 338 w 542"/>
              <a:gd name="T81" fmla="*/ 160 h 753"/>
              <a:gd name="T82" fmla="*/ 399 w 542"/>
              <a:gd name="T83" fmla="*/ 195 h 753"/>
              <a:gd name="T84" fmla="*/ 271 w 542"/>
              <a:gd name="T85" fmla="*/ 35 h 753"/>
              <a:gd name="T86" fmla="*/ 291 w 542"/>
              <a:gd name="T87" fmla="*/ 109 h 753"/>
              <a:gd name="T88" fmla="*/ 251 w 542"/>
              <a:gd name="T89" fmla="*/ 296 h 753"/>
              <a:gd name="T90" fmla="*/ 291 w 542"/>
              <a:gd name="T91" fmla="*/ 231 h 753"/>
              <a:gd name="T92" fmla="*/ 251 w 542"/>
              <a:gd name="T93" fmla="*/ 144 h 753"/>
              <a:gd name="T94" fmla="*/ 291 w 542"/>
              <a:gd name="T95" fmla="*/ 195 h 753"/>
              <a:gd name="T96" fmla="*/ 251 w 542"/>
              <a:gd name="T97" fmla="*/ 144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2" h="753">
                <a:moveTo>
                  <a:pt x="181" y="645"/>
                </a:moveTo>
                <a:lnTo>
                  <a:pt x="244" y="590"/>
                </a:lnTo>
                <a:lnTo>
                  <a:pt x="208" y="558"/>
                </a:lnTo>
                <a:lnTo>
                  <a:pt x="181" y="645"/>
                </a:lnTo>
                <a:close/>
                <a:moveTo>
                  <a:pt x="298" y="590"/>
                </a:moveTo>
                <a:lnTo>
                  <a:pt x="361" y="645"/>
                </a:lnTo>
                <a:lnTo>
                  <a:pt x="334" y="558"/>
                </a:lnTo>
                <a:lnTo>
                  <a:pt x="298" y="590"/>
                </a:lnTo>
                <a:close/>
                <a:moveTo>
                  <a:pt x="166" y="706"/>
                </a:moveTo>
                <a:lnTo>
                  <a:pt x="376" y="706"/>
                </a:lnTo>
                <a:lnTo>
                  <a:pt x="271" y="614"/>
                </a:lnTo>
                <a:lnTo>
                  <a:pt x="166" y="706"/>
                </a:lnTo>
                <a:close/>
                <a:moveTo>
                  <a:pt x="204" y="347"/>
                </a:moveTo>
                <a:lnTo>
                  <a:pt x="122" y="395"/>
                </a:lnTo>
                <a:lnTo>
                  <a:pt x="204" y="395"/>
                </a:lnTo>
                <a:lnTo>
                  <a:pt x="204" y="347"/>
                </a:lnTo>
                <a:close/>
                <a:moveTo>
                  <a:pt x="420" y="395"/>
                </a:moveTo>
                <a:lnTo>
                  <a:pt x="338" y="347"/>
                </a:lnTo>
                <a:lnTo>
                  <a:pt x="338" y="395"/>
                </a:lnTo>
                <a:lnTo>
                  <a:pt x="420" y="395"/>
                </a:lnTo>
                <a:close/>
                <a:moveTo>
                  <a:pt x="247" y="430"/>
                </a:moveTo>
                <a:lnTo>
                  <a:pt x="219" y="521"/>
                </a:lnTo>
                <a:lnTo>
                  <a:pt x="271" y="566"/>
                </a:lnTo>
                <a:lnTo>
                  <a:pt x="323" y="521"/>
                </a:lnTo>
                <a:lnTo>
                  <a:pt x="295" y="430"/>
                </a:lnTo>
                <a:lnTo>
                  <a:pt x="247" y="430"/>
                </a:lnTo>
                <a:close/>
                <a:moveTo>
                  <a:pt x="251" y="331"/>
                </a:moveTo>
                <a:lnTo>
                  <a:pt x="251" y="395"/>
                </a:lnTo>
                <a:lnTo>
                  <a:pt x="291" y="395"/>
                </a:lnTo>
                <a:lnTo>
                  <a:pt x="291" y="331"/>
                </a:lnTo>
                <a:lnTo>
                  <a:pt x="251" y="331"/>
                </a:lnTo>
                <a:close/>
                <a:moveTo>
                  <a:pt x="38" y="412"/>
                </a:moveTo>
                <a:cubicBezTo>
                  <a:pt x="38" y="406"/>
                  <a:pt x="41" y="400"/>
                  <a:pt x="47" y="397"/>
                </a:cubicBezTo>
                <a:lnTo>
                  <a:pt x="204" y="306"/>
                </a:lnTo>
                <a:lnTo>
                  <a:pt x="204" y="231"/>
                </a:lnTo>
                <a:lnTo>
                  <a:pt x="95" y="231"/>
                </a:lnTo>
                <a:lnTo>
                  <a:pt x="95" y="285"/>
                </a:lnTo>
                <a:cubicBezTo>
                  <a:pt x="95" y="295"/>
                  <a:pt x="87" y="303"/>
                  <a:pt x="77" y="303"/>
                </a:cubicBezTo>
                <a:cubicBezTo>
                  <a:pt x="68" y="303"/>
                  <a:pt x="60" y="295"/>
                  <a:pt x="60" y="285"/>
                </a:cubicBezTo>
                <a:lnTo>
                  <a:pt x="60" y="213"/>
                </a:lnTo>
                <a:cubicBezTo>
                  <a:pt x="60" y="207"/>
                  <a:pt x="63" y="201"/>
                  <a:pt x="69" y="198"/>
                </a:cubicBezTo>
                <a:lnTo>
                  <a:pt x="212" y="115"/>
                </a:lnTo>
                <a:lnTo>
                  <a:pt x="240" y="13"/>
                </a:lnTo>
                <a:cubicBezTo>
                  <a:pt x="242" y="5"/>
                  <a:pt x="249" y="0"/>
                  <a:pt x="257" y="0"/>
                </a:cubicBezTo>
                <a:lnTo>
                  <a:pt x="285" y="0"/>
                </a:lnTo>
                <a:cubicBezTo>
                  <a:pt x="294" y="0"/>
                  <a:pt x="300" y="6"/>
                  <a:pt x="303" y="14"/>
                </a:cubicBezTo>
                <a:lnTo>
                  <a:pt x="330" y="115"/>
                </a:lnTo>
                <a:lnTo>
                  <a:pt x="472" y="197"/>
                </a:lnTo>
                <a:cubicBezTo>
                  <a:pt x="478" y="200"/>
                  <a:pt x="482" y="206"/>
                  <a:pt x="482" y="213"/>
                </a:cubicBezTo>
                <a:lnTo>
                  <a:pt x="482" y="285"/>
                </a:lnTo>
                <a:cubicBezTo>
                  <a:pt x="482" y="295"/>
                  <a:pt x="474" y="303"/>
                  <a:pt x="465" y="303"/>
                </a:cubicBezTo>
                <a:cubicBezTo>
                  <a:pt x="455" y="303"/>
                  <a:pt x="447" y="295"/>
                  <a:pt x="447" y="285"/>
                </a:cubicBezTo>
                <a:lnTo>
                  <a:pt x="447" y="231"/>
                </a:lnTo>
                <a:lnTo>
                  <a:pt x="338" y="231"/>
                </a:lnTo>
                <a:lnTo>
                  <a:pt x="338" y="306"/>
                </a:lnTo>
                <a:lnTo>
                  <a:pt x="494" y="397"/>
                </a:lnTo>
                <a:cubicBezTo>
                  <a:pt x="500" y="400"/>
                  <a:pt x="504" y="405"/>
                  <a:pt x="504" y="412"/>
                </a:cubicBezTo>
                <a:lnTo>
                  <a:pt x="504" y="484"/>
                </a:lnTo>
                <a:cubicBezTo>
                  <a:pt x="504" y="494"/>
                  <a:pt x="496" y="502"/>
                  <a:pt x="486" y="502"/>
                </a:cubicBezTo>
                <a:cubicBezTo>
                  <a:pt x="477" y="502"/>
                  <a:pt x="469" y="494"/>
                  <a:pt x="469" y="484"/>
                </a:cubicBezTo>
                <a:lnTo>
                  <a:pt x="469" y="430"/>
                </a:lnTo>
                <a:lnTo>
                  <a:pt x="344" y="430"/>
                </a:lnTo>
                <a:lnTo>
                  <a:pt x="428" y="706"/>
                </a:lnTo>
                <a:lnTo>
                  <a:pt x="519" y="706"/>
                </a:lnTo>
                <a:cubicBezTo>
                  <a:pt x="532" y="706"/>
                  <a:pt x="542" y="717"/>
                  <a:pt x="542" y="730"/>
                </a:cubicBezTo>
                <a:cubicBezTo>
                  <a:pt x="542" y="743"/>
                  <a:pt x="532" y="753"/>
                  <a:pt x="519" y="753"/>
                </a:cubicBezTo>
                <a:lnTo>
                  <a:pt x="23" y="753"/>
                </a:lnTo>
                <a:cubicBezTo>
                  <a:pt x="10" y="753"/>
                  <a:pt x="0" y="743"/>
                  <a:pt x="0" y="730"/>
                </a:cubicBezTo>
                <a:cubicBezTo>
                  <a:pt x="0" y="717"/>
                  <a:pt x="10" y="706"/>
                  <a:pt x="23" y="706"/>
                </a:cubicBezTo>
                <a:lnTo>
                  <a:pt x="114" y="706"/>
                </a:lnTo>
                <a:lnTo>
                  <a:pt x="198" y="430"/>
                </a:lnTo>
                <a:lnTo>
                  <a:pt x="73" y="430"/>
                </a:lnTo>
                <a:lnTo>
                  <a:pt x="73" y="484"/>
                </a:lnTo>
                <a:cubicBezTo>
                  <a:pt x="73" y="494"/>
                  <a:pt x="65" y="502"/>
                  <a:pt x="56" y="502"/>
                </a:cubicBezTo>
                <a:cubicBezTo>
                  <a:pt x="46" y="502"/>
                  <a:pt x="38" y="494"/>
                  <a:pt x="38" y="484"/>
                </a:cubicBezTo>
                <a:lnTo>
                  <a:pt x="38" y="412"/>
                </a:lnTo>
                <a:close/>
                <a:moveTo>
                  <a:pt x="204" y="160"/>
                </a:moveTo>
                <a:lnTo>
                  <a:pt x="144" y="195"/>
                </a:lnTo>
                <a:lnTo>
                  <a:pt x="204" y="195"/>
                </a:lnTo>
                <a:lnTo>
                  <a:pt x="204" y="160"/>
                </a:lnTo>
                <a:close/>
                <a:moveTo>
                  <a:pt x="399" y="195"/>
                </a:moveTo>
                <a:lnTo>
                  <a:pt x="338" y="160"/>
                </a:lnTo>
                <a:lnTo>
                  <a:pt x="338" y="195"/>
                </a:lnTo>
                <a:lnTo>
                  <a:pt x="399" y="195"/>
                </a:lnTo>
                <a:close/>
                <a:moveTo>
                  <a:pt x="291" y="109"/>
                </a:moveTo>
                <a:lnTo>
                  <a:pt x="271" y="35"/>
                </a:lnTo>
                <a:lnTo>
                  <a:pt x="251" y="109"/>
                </a:lnTo>
                <a:lnTo>
                  <a:pt x="291" y="109"/>
                </a:lnTo>
                <a:close/>
                <a:moveTo>
                  <a:pt x="251" y="231"/>
                </a:moveTo>
                <a:lnTo>
                  <a:pt x="251" y="296"/>
                </a:lnTo>
                <a:lnTo>
                  <a:pt x="291" y="296"/>
                </a:lnTo>
                <a:lnTo>
                  <a:pt x="291" y="231"/>
                </a:lnTo>
                <a:lnTo>
                  <a:pt x="251" y="231"/>
                </a:lnTo>
                <a:close/>
                <a:moveTo>
                  <a:pt x="251" y="144"/>
                </a:moveTo>
                <a:lnTo>
                  <a:pt x="251" y="195"/>
                </a:lnTo>
                <a:lnTo>
                  <a:pt x="291" y="195"/>
                </a:lnTo>
                <a:lnTo>
                  <a:pt x="291" y="144"/>
                </a:lnTo>
                <a:lnTo>
                  <a:pt x="251" y="144"/>
                </a:lnTo>
                <a:lnTo>
                  <a:pt x="251" y="144"/>
                </a:lnTo>
                <a:close/>
              </a:path>
            </a:pathLst>
          </a:custGeom>
          <a:solidFill>
            <a:srgbClr val="950F53">
              <a:lumMod val="50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67" name="Windmill3" descr="{&quot;Key&quot;:&quot;POWER_USER_SHAPE_ICON&quot;,&quot;Value&quot;:&quot;POWER_USER_SHAPE_ICON_STYLE_1&quot;}">
            <a:extLst>
              <a:ext uri="{FF2B5EF4-FFF2-40B4-BE49-F238E27FC236}">
                <a16:creationId xmlns:a16="http://schemas.microsoft.com/office/drawing/2014/main" id="{F799D250-FCC7-FF56-BAB8-1F34D09B5539}"/>
              </a:ext>
            </a:extLst>
          </p:cNvPr>
          <p:cNvSpPr>
            <a:spLocks noChangeAspect="1" noEditPoints="1"/>
          </p:cNvSpPr>
          <p:nvPr>
            <p:custDataLst>
              <p:tags r:id="rId6"/>
            </p:custDataLst>
          </p:nvPr>
        </p:nvSpPr>
        <p:spPr bwMode="auto">
          <a:xfrm>
            <a:off x="3734654" y="4755308"/>
            <a:ext cx="296016" cy="335829"/>
          </a:xfrm>
          <a:custGeom>
            <a:avLst/>
            <a:gdLst>
              <a:gd name="T0" fmla="*/ 360 w 713"/>
              <a:gd name="T1" fmla="*/ 374 h 808"/>
              <a:gd name="T2" fmla="*/ 360 w 713"/>
              <a:gd name="T3" fmla="*/ 323 h 808"/>
              <a:gd name="T4" fmla="*/ 149 w 713"/>
              <a:gd name="T5" fmla="*/ 405 h 808"/>
              <a:gd name="T6" fmla="*/ 115 w 713"/>
              <a:gd name="T7" fmla="*/ 414 h 808"/>
              <a:gd name="T8" fmla="*/ 164 w 713"/>
              <a:gd name="T9" fmla="*/ 215 h 808"/>
              <a:gd name="T10" fmla="*/ 149 w 713"/>
              <a:gd name="T11" fmla="*/ 405 h 808"/>
              <a:gd name="T12" fmla="*/ 82 w 713"/>
              <a:gd name="T13" fmla="*/ 529 h 808"/>
              <a:gd name="T14" fmla="*/ 23 w 713"/>
              <a:gd name="T15" fmla="*/ 258 h 808"/>
              <a:gd name="T16" fmla="*/ 58 w 713"/>
              <a:gd name="T17" fmla="*/ 267 h 808"/>
              <a:gd name="T18" fmla="*/ 417 w 713"/>
              <a:gd name="T19" fmla="*/ 137 h 808"/>
              <a:gd name="T20" fmla="*/ 426 w 713"/>
              <a:gd name="T21" fmla="*/ 103 h 808"/>
              <a:gd name="T22" fmla="*/ 573 w 713"/>
              <a:gd name="T23" fmla="*/ 246 h 808"/>
              <a:gd name="T24" fmla="*/ 417 w 713"/>
              <a:gd name="T25" fmla="*/ 137 h 808"/>
              <a:gd name="T26" fmla="*/ 342 w 713"/>
              <a:gd name="T27" fmla="*/ 18 h 808"/>
              <a:gd name="T28" fmla="*/ 606 w 713"/>
              <a:gd name="T29" fmla="*/ 102 h 808"/>
              <a:gd name="T30" fmla="*/ 581 w 713"/>
              <a:gd name="T31" fmla="*/ 127 h 808"/>
              <a:gd name="T32" fmla="*/ 631 w 713"/>
              <a:gd name="T33" fmla="*/ 505 h 808"/>
              <a:gd name="T34" fmla="*/ 662 w 713"/>
              <a:gd name="T35" fmla="*/ 523 h 808"/>
              <a:gd name="T36" fmla="*/ 428 w 713"/>
              <a:gd name="T37" fmla="*/ 672 h 808"/>
              <a:gd name="T38" fmla="*/ 631 w 713"/>
              <a:gd name="T39" fmla="*/ 505 h 808"/>
              <a:gd name="T40" fmla="*/ 193 w 713"/>
              <a:gd name="T41" fmla="*/ 638 h 808"/>
              <a:gd name="T42" fmla="*/ 330 w 713"/>
              <a:gd name="T43" fmla="*/ 761 h 808"/>
              <a:gd name="T44" fmla="*/ 172 w 713"/>
              <a:gd name="T45" fmla="*/ 784 h 808"/>
              <a:gd name="T46" fmla="*/ 524 w 713"/>
              <a:gd name="T47" fmla="*/ 808 h 808"/>
              <a:gd name="T48" fmla="*/ 524 w 713"/>
              <a:gd name="T49" fmla="*/ 761 h 808"/>
              <a:gd name="T50" fmla="*/ 389 w 713"/>
              <a:gd name="T51" fmla="*/ 601 h 808"/>
              <a:gd name="T52" fmla="*/ 539 w 713"/>
              <a:gd name="T53" fmla="*/ 503 h 808"/>
              <a:gd name="T54" fmla="*/ 389 w 713"/>
              <a:gd name="T55" fmla="*/ 565 h 808"/>
              <a:gd name="T56" fmla="*/ 440 w 713"/>
              <a:gd name="T57" fmla="*/ 486 h 808"/>
              <a:gd name="T58" fmla="*/ 422 w 713"/>
              <a:gd name="T59" fmla="*/ 456 h 808"/>
              <a:gd name="T60" fmla="*/ 389 w 713"/>
              <a:gd name="T61" fmla="*/ 402 h 808"/>
              <a:gd name="T62" fmla="*/ 695 w 713"/>
              <a:gd name="T63" fmla="*/ 372 h 808"/>
              <a:gd name="T64" fmla="*/ 512 w 713"/>
              <a:gd name="T65" fmla="*/ 299 h 808"/>
              <a:gd name="T66" fmla="*/ 416 w 713"/>
              <a:gd name="T67" fmla="*/ 217 h 808"/>
              <a:gd name="T68" fmla="*/ 476 w 713"/>
              <a:gd name="T69" fmla="*/ 305 h 808"/>
              <a:gd name="T70" fmla="*/ 352 w 713"/>
              <a:gd name="T71" fmla="*/ 288 h 808"/>
              <a:gd name="T72" fmla="*/ 193 w 713"/>
              <a:gd name="T73" fmla="*/ 58 h 808"/>
              <a:gd name="T74" fmla="*/ 200 w 713"/>
              <a:gd name="T75" fmla="*/ 348 h 808"/>
              <a:gd name="T76" fmla="*/ 236 w 713"/>
              <a:gd name="T77" fmla="*/ 348 h 808"/>
              <a:gd name="T78" fmla="*/ 311 w 713"/>
              <a:gd name="T79" fmla="*/ 312 h 808"/>
              <a:gd name="T80" fmla="*/ 172 w 713"/>
              <a:gd name="T81" fmla="*/ 627 h 8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13" h="808">
                <a:moveTo>
                  <a:pt x="386" y="348"/>
                </a:moveTo>
                <a:cubicBezTo>
                  <a:pt x="386" y="362"/>
                  <a:pt x="374" y="374"/>
                  <a:pt x="360" y="374"/>
                </a:cubicBezTo>
                <a:cubicBezTo>
                  <a:pt x="346" y="374"/>
                  <a:pt x="334" y="362"/>
                  <a:pt x="334" y="348"/>
                </a:cubicBezTo>
                <a:cubicBezTo>
                  <a:pt x="334" y="334"/>
                  <a:pt x="346" y="323"/>
                  <a:pt x="360" y="323"/>
                </a:cubicBezTo>
                <a:cubicBezTo>
                  <a:pt x="374" y="323"/>
                  <a:pt x="386" y="334"/>
                  <a:pt x="386" y="348"/>
                </a:cubicBezTo>
                <a:close/>
                <a:moveTo>
                  <a:pt x="149" y="405"/>
                </a:moveTo>
                <a:cubicBezTo>
                  <a:pt x="151" y="414"/>
                  <a:pt x="146" y="424"/>
                  <a:pt x="136" y="427"/>
                </a:cubicBezTo>
                <a:cubicBezTo>
                  <a:pt x="127" y="429"/>
                  <a:pt x="117" y="424"/>
                  <a:pt x="115" y="414"/>
                </a:cubicBezTo>
                <a:cubicBezTo>
                  <a:pt x="97" y="349"/>
                  <a:pt x="106" y="280"/>
                  <a:pt x="140" y="221"/>
                </a:cubicBezTo>
                <a:cubicBezTo>
                  <a:pt x="145" y="213"/>
                  <a:pt x="156" y="210"/>
                  <a:pt x="164" y="215"/>
                </a:cubicBezTo>
                <a:cubicBezTo>
                  <a:pt x="173" y="220"/>
                  <a:pt x="176" y="231"/>
                  <a:pt x="171" y="239"/>
                </a:cubicBezTo>
                <a:cubicBezTo>
                  <a:pt x="142" y="289"/>
                  <a:pt x="134" y="349"/>
                  <a:pt x="149" y="405"/>
                </a:cubicBezTo>
                <a:close/>
                <a:moveTo>
                  <a:pt x="89" y="505"/>
                </a:moveTo>
                <a:cubicBezTo>
                  <a:pt x="94" y="513"/>
                  <a:pt x="91" y="524"/>
                  <a:pt x="82" y="529"/>
                </a:cubicBezTo>
                <a:cubicBezTo>
                  <a:pt x="74" y="534"/>
                  <a:pt x="63" y="531"/>
                  <a:pt x="58" y="523"/>
                </a:cubicBezTo>
                <a:cubicBezTo>
                  <a:pt x="12" y="443"/>
                  <a:pt x="0" y="347"/>
                  <a:pt x="23" y="258"/>
                </a:cubicBezTo>
                <a:cubicBezTo>
                  <a:pt x="26" y="249"/>
                  <a:pt x="36" y="243"/>
                  <a:pt x="45" y="246"/>
                </a:cubicBezTo>
                <a:cubicBezTo>
                  <a:pt x="55" y="248"/>
                  <a:pt x="60" y="258"/>
                  <a:pt x="58" y="267"/>
                </a:cubicBezTo>
                <a:cubicBezTo>
                  <a:pt x="36" y="348"/>
                  <a:pt x="47" y="433"/>
                  <a:pt x="89" y="505"/>
                </a:cubicBezTo>
                <a:close/>
                <a:moveTo>
                  <a:pt x="417" y="137"/>
                </a:moveTo>
                <a:cubicBezTo>
                  <a:pt x="407" y="135"/>
                  <a:pt x="401" y="125"/>
                  <a:pt x="404" y="116"/>
                </a:cubicBezTo>
                <a:cubicBezTo>
                  <a:pt x="407" y="106"/>
                  <a:pt x="416" y="101"/>
                  <a:pt x="426" y="103"/>
                </a:cubicBezTo>
                <a:cubicBezTo>
                  <a:pt x="491" y="121"/>
                  <a:pt x="546" y="163"/>
                  <a:pt x="580" y="222"/>
                </a:cubicBezTo>
                <a:cubicBezTo>
                  <a:pt x="585" y="230"/>
                  <a:pt x="582" y="241"/>
                  <a:pt x="573" y="246"/>
                </a:cubicBezTo>
                <a:cubicBezTo>
                  <a:pt x="565" y="250"/>
                  <a:pt x="554" y="248"/>
                  <a:pt x="549" y="239"/>
                </a:cubicBezTo>
                <a:cubicBezTo>
                  <a:pt x="520" y="189"/>
                  <a:pt x="472" y="152"/>
                  <a:pt x="417" y="137"/>
                </a:cubicBezTo>
                <a:close/>
                <a:moveTo>
                  <a:pt x="360" y="35"/>
                </a:moveTo>
                <a:cubicBezTo>
                  <a:pt x="350" y="35"/>
                  <a:pt x="342" y="27"/>
                  <a:pt x="342" y="18"/>
                </a:cubicBezTo>
                <a:cubicBezTo>
                  <a:pt x="342" y="8"/>
                  <a:pt x="350" y="0"/>
                  <a:pt x="360" y="0"/>
                </a:cubicBezTo>
                <a:cubicBezTo>
                  <a:pt x="452" y="0"/>
                  <a:pt x="541" y="37"/>
                  <a:pt x="606" y="102"/>
                </a:cubicBezTo>
                <a:cubicBezTo>
                  <a:pt x="613" y="109"/>
                  <a:pt x="613" y="120"/>
                  <a:pt x="606" y="127"/>
                </a:cubicBezTo>
                <a:cubicBezTo>
                  <a:pt x="599" y="134"/>
                  <a:pt x="588" y="134"/>
                  <a:pt x="581" y="127"/>
                </a:cubicBezTo>
                <a:cubicBezTo>
                  <a:pt x="522" y="68"/>
                  <a:pt x="443" y="35"/>
                  <a:pt x="360" y="35"/>
                </a:cubicBezTo>
                <a:close/>
                <a:moveTo>
                  <a:pt x="631" y="505"/>
                </a:moveTo>
                <a:cubicBezTo>
                  <a:pt x="636" y="497"/>
                  <a:pt x="647" y="494"/>
                  <a:pt x="655" y="498"/>
                </a:cubicBezTo>
                <a:cubicBezTo>
                  <a:pt x="664" y="503"/>
                  <a:pt x="667" y="514"/>
                  <a:pt x="662" y="523"/>
                </a:cubicBezTo>
                <a:cubicBezTo>
                  <a:pt x="615" y="603"/>
                  <a:pt x="539" y="661"/>
                  <a:pt x="450" y="685"/>
                </a:cubicBezTo>
                <a:cubicBezTo>
                  <a:pt x="441" y="687"/>
                  <a:pt x="431" y="682"/>
                  <a:pt x="428" y="672"/>
                </a:cubicBezTo>
                <a:cubicBezTo>
                  <a:pt x="426" y="663"/>
                  <a:pt x="432" y="653"/>
                  <a:pt x="441" y="651"/>
                </a:cubicBezTo>
                <a:cubicBezTo>
                  <a:pt x="521" y="629"/>
                  <a:pt x="590" y="577"/>
                  <a:pt x="631" y="505"/>
                </a:cubicBezTo>
                <a:close/>
                <a:moveTo>
                  <a:pt x="172" y="627"/>
                </a:moveTo>
                <a:cubicBezTo>
                  <a:pt x="164" y="641"/>
                  <a:pt x="179" y="652"/>
                  <a:pt x="193" y="638"/>
                </a:cubicBezTo>
                <a:lnTo>
                  <a:pt x="330" y="501"/>
                </a:lnTo>
                <a:lnTo>
                  <a:pt x="330" y="761"/>
                </a:lnTo>
                <a:lnTo>
                  <a:pt x="196" y="761"/>
                </a:lnTo>
                <a:cubicBezTo>
                  <a:pt x="183" y="761"/>
                  <a:pt x="172" y="771"/>
                  <a:pt x="172" y="784"/>
                </a:cubicBezTo>
                <a:cubicBezTo>
                  <a:pt x="172" y="797"/>
                  <a:pt x="183" y="808"/>
                  <a:pt x="196" y="808"/>
                </a:cubicBezTo>
                <a:lnTo>
                  <a:pt x="524" y="808"/>
                </a:lnTo>
                <a:cubicBezTo>
                  <a:pt x="537" y="808"/>
                  <a:pt x="548" y="797"/>
                  <a:pt x="548" y="784"/>
                </a:cubicBezTo>
                <a:cubicBezTo>
                  <a:pt x="548" y="771"/>
                  <a:pt x="537" y="761"/>
                  <a:pt x="524" y="761"/>
                </a:cubicBezTo>
                <a:lnTo>
                  <a:pt x="389" y="761"/>
                </a:lnTo>
                <a:lnTo>
                  <a:pt x="389" y="601"/>
                </a:lnTo>
                <a:cubicBezTo>
                  <a:pt x="446" y="594"/>
                  <a:pt x="499" y="568"/>
                  <a:pt x="539" y="528"/>
                </a:cubicBezTo>
                <a:cubicBezTo>
                  <a:pt x="546" y="521"/>
                  <a:pt x="546" y="510"/>
                  <a:pt x="539" y="503"/>
                </a:cubicBezTo>
                <a:cubicBezTo>
                  <a:pt x="533" y="496"/>
                  <a:pt x="521" y="496"/>
                  <a:pt x="514" y="503"/>
                </a:cubicBezTo>
                <a:cubicBezTo>
                  <a:pt x="481" y="537"/>
                  <a:pt x="437" y="559"/>
                  <a:pt x="389" y="565"/>
                </a:cubicBezTo>
                <a:lnTo>
                  <a:pt x="389" y="505"/>
                </a:lnTo>
                <a:cubicBezTo>
                  <a:pt x="407" y="502"/>
                  <a:pt x="424" y="496"/>
                  <a:pt x="440" y="486"/>
                </a:cubicBezTo>
                <a:cubicBezTo>
                  <a:pt x="448" y="482"/>
                  <a:pt x="451" y="471"/>
                  <a:pt x="446" y="462"/>
                </a:cubicBezTo>
                <a:cubicBezTo>
                  <a:pt x="441" y="454"/>
                  <a:pt x="430" y="451"/>
                  <a:pt x="422" y="456"/>
                </a:cubicBezTo>
                <a:cubicBezTo>
                  <a:pt x="412" y="462"/>
                  <a:pt x="401" y="466"/>
                  <a:pt x="389" y="469"/>
                </a:cubicBezTo>
                <a:lnTo>
                  <a:pt x="389" y="402"/>
                </a:lnTo>
                <a:cubicBezTo>
                  <a:pt x="401" y="395"/>
                  <a:pt x="411" y="385"/>
                  <a:pt x="416" y="372"/>
                </a:cubicBezTo>
                <a:lnTo>
                  <a:pt x="695" y="372"/>
                </a:lnTo>
                <a:cubicBezTo>
                  <a:pt x="711" y="372"/>
                  <a:pt x="713" y="353"/>
                  <a:pt x="695" y="348"/>
                </a:cubicBezTo>
                <a:lnTo>
                  <a:pt x="512" y="299"/>
                </a:lnTo>
                <a:cubicBezTo>
                  <a:pt x="499" y="262"/>
                  <a:pt x="474" y="230"/>
                  <a:pt x="440" y="210"/>
                </a:cubicBezTo>
                <a:cubicBezTo>
                  <a:pt x="431" y="206"/>
                  <a:pt x="420" y="208"/>
                  <a:pt x="416" y="217"/>
                </a:cubicBezTo>
                <a:cubicBezTo>
                  <a:pt x="411" y="225"/>
                  <a:pt x="414" y="236"/>
                  <a:pt x="422" y="241"/>
                </a:cubicBezTo>
                <a:cubicBezTo>
                  <a:pt x="447" y="255"/>
                  <a:pt x="466" y="278"/>
                  <a:pt x="476" y="305"/>
                </a:cubicBezTo>
                <a:cubicBezTo>
                  <a:pt x="459" y="317"/>
                  <a:pt x="437" y="323"/>
                  <a:pt x="416" y="324"/>
                </a:cubicBezTo>
                <a:cubicBezTo>
                  <a:pt x="405" y="299"/>
                  <a:pt x="379" y="285"/>
                  <a:pt x="352" y="288"/>
                </a:cubicBezTo>
                <a:lnTo>
                  <a:pt x="213" y="47"/>
                </a:lnTo>
                <a:cubicBezTo>
                  <a:pt x="205" y="32"/>
                  <a:pt x="188" y="40"/>
                  <a:pt x="193" y="58"/>
                </a:cubicBezTo>
                <a:lnTo>
                  <a:pt x="242" y="242"/>
                </a:lnTo>
                <a:cubicBezTo>
                  <a:pt x="215" y="271"/>
                  <a:pt x="200" y="309"/>
                  <a:pt x="200" y="348"/>
                </a:cubicBezTo>
                <a:cubicBezTo>
                  <a:pt x="200" y="358"/>
                  <a:pt x="208" y="366"/>
                  <a:pt x="218" y="366"/>
                </a:cubicBezTo>
                <a:cubicBezTo>
                  <a:pt x="228" y="366"/>
                  <a:pt x="236" y="358"/>
                  <a:pt x="236" y="348"/>
                </a:cubicBezTo>
                <a:cubicBezTo>
                  <a:pt x="236" y="319"/>
                  <a:pt x="246" y="291"/>
                  <a:pt x="264" y="269"/>
                </a:cubicBezTo>
                <a:cubicBezTo>
                  <a:pt x="283" y="279"/>
                  <a:pt x="299" y="295"/>
                  <a:pt x="311" y="312"/>
                </a:cubicBezTo>
                <a:cubicBezTo>
                  <a:pt x="295" y="334"/>
                  <a:pt x="295" y="364"/>
                  <a:pt x="311" y="385"/>
                </a:cubicBezTo>
                <a:lnTo>
                  <a:pt x="172" y="627"/>
                </a:lnTo>
                <a:lnTo>
                  <a:pt x="172" y="627"/>
                </a:lnTo>
              </a:path>
            </a:pathLst>
          </a:custGeom>
          <a:solidFill>
            <a:srgbClr val="BCCF00"/>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68" name="Battery4" descr="{&quot;Key&quot;:&quot;POWER_USER_SHAPE_ICON&quot;,&quot;Value&quot;:&quot;POWER_USER_SHAPE_ICON_STYLE_1&quot;}">
            <a:extLst>
              <a:ext uri="{FF2B5EF4-FFF2-40B4-BE49-F238E27FC236}">
                <a16:creationId xmlns:a16="http://schemas.microsoft.com/office/drawing/2014/main" id="{849B76C3-B1EF-DF26-D840-0279F4AF948E}"/>
              </a:ext>
            </a:extLst>
          </p:cNvPr>
          <p:cNvSpPr>
            <a:spLocks noChangeAspect="1" noEditPoints="1"/>
          </p:cNvSpPr>
          <p:nvPr>
            <p:custDataLst>
              <p:tags r:id="rId7"/>
            </p:custDataLst>
          </p:nvPr>
        </p:nvSpPr>
        <p:spPr bwMode="auto">
          <a:xfrm>
            <a:off x="3778074" y="4165623"/>
            <a:ext cx="153139" cy="262307"/>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BCCF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69" name="Battery4" descr="{&quot;Key&quot;:&quot;POWER_USER_SHAPE_ICON&quot;,&quot;Value&quot;:&quot;POWER_USER_SHAPE_ICON_STYLE_1&quot;}">
            <a:extLst>
              <a:ext uri="{FF2B5EF4-FFF2-40B4-BE49-F238E27FC236}">
                <a16:creationId xmlns:a16="http://schemas.microsoft.com/office/drawing/2014/main" id="{457A7A3C-777B-AF6D-C5BF-7B5A1EB5365C}"/>
              </a:ext>
            </a:extLst>
          </p:cNvPr>
          <p:cNvSpPr>
            <a:spLocks noChangeAspect="1" noEditPoints="1"/>
          </p:cNvSpPr>
          <p:nvPr>
            <p:custDataLst>
              <p:tags r:id="rId8"/>
            </p:custDataLst>
          </p:nvPr>
        </p:nvSpPr>
        <p:spPr bwMode="auto">
          <a:xfrm>
            <a:off x="9668590" y="2813723"/>
            <a:ext cx="232455" cy="398165"/>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BCCF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cxnSp>
        <p:nvCxnSpPr>
          <p:cNvPr id="570" name="Gerade Verbindung mit Pfeil 569">
            <a:extLst>
              <a:ext uri="{FF2B5EF4-FFF2-40B4-BE49-F238E27FC236}">
                <a16:creationId xmlns:a16="http://schemas.microsoft.com/office/drawing/2014/main" id="{05CC5815-7325-FC65-8E85-1D0D3A91D6A6}"/>
              </a:ext>
            </a:extLst>
          </p:cNvPr>
          <p:cNvCxnSpPr>
            <a:cxnSpLocks/>
          </p:cNvCxnSpPr>
          <p:nvPr/>
        </p:nvCxnSpPr>
        <p:spPr>
          <a:xfrm>
            <a:off x="4094653" y="4896396"/>
            <a:ext cx="486016" cy="0"/>
          </a:xfrm>
          <a:prstGeom prst="straightConnector1">
            <a:avLst/>
          </a:prstGeom>
          <a:noFill/>
          <a:ln w="57150" cap="flat" cmpd="sng" algn="ctr">
            <a:solidFill>
              <a:schemeClr val="tx2"/>
            </a:solidFill>
            <a:prstDash val="solid"/>
            <a:miter lim="800000"/>
            <a:tailEnd type="triangle"/>
          </a:ln>
          <a:effectLst/>
        </p:spPr>
      </p:cxnSp>
      <p:cxnSp>
        <p:nvCxnSpPr>
          <p:cNvPr id="571" name="Gerade Verbindung mit Pfeil 570">
            <a:extLst>
              <a:ext uri="{FF2B5EF4-FFF2-40B4-BE49-F238E27FC236}">
                <a16:creationId xmlns:a16="http://schemas.microsoft.com/office/drawing/2014/main" id="{C7F9075C-1095-DFAF-1E1E-EF3D2338E75C}"/>
              </a:ext>
            </a:extLst>
          </p:cNvPr>
          <p:cNvCxnSpPr>
            <a:cxnSpLocks/>
          </p:cNvCxnSpPr>
          <p:nvPr/>
        </p:nvCxnSpPr>
        <p:spPr>
          <a:xfrm>
            <a:off x="4111091" y="6095000"/>
            <a:ext cx="469578" cy="0"/>
          </a:xfrm>
          <a:prstGeom prst="straightConnector1">
            <a:avLst/>
          </a:prstGeom>
          <a:noFill/>
          <a:ln w="57150" cap="flat" cmpd="sng" algn="ctr">
            <a:solidFill>
              <a:schemeClr val="tx2"/>
            </a:solidFill>
            <a:prstDash val="solid"/>
            <a:miter lim="800000"/>
            <a:tailEnd type="triangle"/>
          </a:ln>
          <a:effectLst/>
        </p:spPr>
      </p:cxnSp>
      <p:grpSp>
        <p:nvGrpSpPr>
          <p:cNvPr id="572" name="Gruppieren 571">
            <a:extLst>
              <a:ext uri="{FF2B5EF4-FFF2-40B4-BE49-F238E27FC236}">
                <a16:creationId xmlns:a16="http://schemas.microsoft.com/office/drawing/2014/main" id="{6C52C6A2-E403-26F7-2547-1B6D0BCBD019}"/>
              </a:ext>
            </a:extLst>
          </p:cNvPr>
          <p:cNvGrpSpPr/>
          <p:nvPr/>
        </p:nvGrpSpPr>
        <p:grpSpPr>
          <a:xfrm>
            <a:off x="3694929" y="5220232"/>
            <a:ext cx="448858" cy="473074"/>
            <a:chOff x="8230691" y="575607"/>
            <a:chExt cx="825645" cy="818593"/>
          </a:xfrm>
        </p:grpSpPr>
        <p:sp>
          <p:nvSpPr>
            <p:cNvPr id="573" name="Flussdiagramm: Anzeige 9">
              <a:extLst>
                <a:ext uri="{FF2B5EF4-FFF2-40B4-BE49-F238E27FC236}">
                  <a16:creationId xmlns:a16="http://schemas.microsoft.com/office/drawing/2014/main" id="{77649E92-BB38-E1D6-BE2C-F6A5963DA8A9}"/>
                </a:ext>
              </a:extLst>
            </p:cNvPr>
            <p:cNvSpPr/>
            <p:nvPr/>
          </p:nvSpPr>
          <p:spPr>
            <a:xfrm rot="5400000">
              <a:off x="8234217" y="572081"/>
              <a:ext cx="818593" cy="825645"/>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80000">
                  <a:srgbClr val="F59C00"/>
                </a:gs>
                <a:gs pos="91000">
                  <a:srgbClr val="FFFFFF"/>
                </a:gs>
              </a:gsLst>
              <a:lin ang="10800000" scaled="1"/>
              <a:tileRect/>
            </a:grad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74" name="Car7" descr="{&quot;Key&quot;:&quot;POWER_USER_SHAPE_ICON&quot;,&quot;Value&quot;:&quot;POWER_USER_SHAPE_ICON_STYLE_1&quot;}">
              <a:extLst>
                <a:ext uri="{FF2B5EF4-FFF2-40B4-BE49-F238E27FC236}">
                  <a16:creationId xmlns:a16="http://schemas.microsoft.com/office/drawing/2014/main" id="{41E9C57D-FFDC-EDAA-6E63-DB3D5CDCA1E0}"/>
                </a:ext>
              </a:extLst>
            </p:cNvPr>
            <p:cNvSpPr>
              <a:spLocks noChangeAspect="1" noEditPoints="1"/>
            </p:cNvSpPr>
            <p:nvPr>
              <p:custDataLst>
                <p:tags r:id="rId9"/>
              </p:custDataLst>
            </p:nvPr>
          </p:nvSpPr>
          <p:spPr bwMode="auto">
            <a:xfrm>
              <a:off x="8431470" y="842936"/>
              <a:ext cx="424097" cy="35705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sp>
        <p:nvSpPr>
          <p:cNvPr id="575" name="Textfeld 574">
            <a:extLst>
              <a:ext uri="{FF2B5EF4-FFF2-40B4-BE49-F238E27FC236}">
                <a16:creationId xmlns:a16="http://schemas.microsoft.com/office/drawing/2014/main" id="{586BB548-EBF2-FFA3-BA08-A7964AA70DA8}"/>
              </a:ext>
            </a:extLst>
          </p:cNvPr>
          <p:cNvSpPr txBox="1"/>
          <p:nvPr/>
        </p:nvSpPr>
        <p:spPr>
          <a:xfrm>
            <a:off x="2065437" y="5163764"/>
            <a:ext cx="1538013" cy="369332"/>
          </a:xfrm>
          <a:prstGeom prst="rect">
            <a:avLst/>
          </a:prstGeom>
          <a:noFill/>
        </p:spPr>
        <p:txBody>
          <a:bodyPr wrap="square" rtlCol="0">
            <a:spAutoFit/>
          </a:bodyPr>
          <a:lstStyle/>
          <a:p>
            <a:pPr algn="r">
              <a:defRPr/>
            </a:pPr>
            <a:r>
              <a:rPr lang="en-GB" sz="900" dirty="0">
                <a:solidFill>
                  <a:prstClr val="black"/>
                </a:solidFill>
                <a:latin typeface="Aptos" panose="020B0004020202020204" pitchFamily="34" charset="0"/>
              </a:rPr>
              <a:t>E-Car Maximum </a:t>
            </a:r>
          </a:p>
          <a:p>
            <a:pPr algn="r">
              <a:defRPr/>
            </a:pPr>
            <a:r>
              <a:rPr lang="en-GB" sz="900" dirty="0">
                <a:solidFill>
                  <a:prstClr val="black"/>
                </a:solidFill>
                <a:latin typeface="Aptos" panose="020B0004020202020204" pitchFamily="34" charset="0"/>
              </a:rPr>
              <a:t>Ladezustand</a:t>
            </a:r>
            <a:endParaRPr lang="de-AT" sz="900" dirty="0">
              <a:solidFill>
                <a:prstClr val="black"/>
              </a:solidFill>
              <a:latin typeface="Aptos" panose="020B0004020202020204" pitchFamily="34" charset="0"/>
            </a:endParaRPr>
          </a:p>
        </p:txBody>
      </p:sp>
      <p:sp>
        <p:nvSpPr>
          <p:cNvPr id="576" name="Textfeld 575">
            <a:extLst>
              <a:ext uri="{FF2B5EF4-FFF2-40B4-BE49-F238E27FC236}">
                <a16:creationId xmlns:a16="http://schemas.microsoft.com/office/drawing/2014/main" id="{2C676E81-21BE-17E7-4C94-5740896029EF}"/>
              </a:ext>
            </a:extLst>
          </p:cNvPr>
          <p:cNvSpPr txBox="1"/>
          <p:nvPr/>
        </p:nvSpPr>
        <p:spPr>
          <a:xfrm>
            <a:off x="922021" y="5488453"/>
            <a:ext cx="2696252" cy="369332"/>
          </a:xfrm>
          <a:prstGeom prst="rect">
            <a:avLst/>
          </a:prstGeom>
          <a:noFill/>
        </p:spPr>
        <p:txBody>
          <a:bodyPr wrap="square" rtlCol="0">
            <a:spAutoFit/>
          </a:bodyPr>
          <a:lstStyle/>
          <a:p>
            <a:pPr algn="r">
              <a:defRPr/>
            </a:pPr>
            <a:r>
              <a:rPr lang="en-GB" sz="900" i="1" dirty="0">
                <a:solidFill>
                  <a:prstClr val="black"/>
                </a:solidFill>
                <a:latin typeface="Aptos" panose="020B0004020202020204" pitchFamily="34" charset="0"/>
              </a:rPr>
              <a:t>Electric Vehicle </a:t>
            </a:r>
          </a:p>
          <a:p>
            <a:pPr algn="r">
              <a:defRPr/>
            </a:pPr>
            <a:r>
              <a:rPr lang="en-GB" sz="900" i="1" dirty="0">
                <a:solidFill>
                  <a:prstClr val="black"/>
                </a:solidFill>
                <a:latin typeface="Aptos" panose="020B0004020202020204" pitchFamily="34" charset="0"/>
              </a:rPr>
              <a:t>Maximum Charge</a:t>
            </a:r>
            <a:endParaRPr lang="de-AT" sz="900" i="1" dirty="0">
              <a:solidFill>
                <a:prstClr val="black"/>
              </a:solidFill>
              <a:latin typeface="Aptos" panose="020B0004020202020204" pitchFamily="34" charset="0"/>
            </a:endParaRPr>
          </a:p>
        </p:txBody>
      </p:sp>
      <p:grpSp>
        <p:nvGrpSpPr>
          <p:cNvPr id="577" name="Gruppieren 576">
            <a:extLst>
              <a:ext uri="{FF2B5EF4-FFF2-40B4-BE49-F238E27FC236}">
                <a16:creationId xmlns:a16="http://schemas.microsoft.com/office/drawing/2014/main" id="{AD0693D5-8109-F332-DF64-907FEC5F14EB}"/>
              </a:ext>
            </a:extLst>
          </p:cNvPr>
          <p:cNvGrpSpPr/>
          <p:nvPr/>
        </p:nvGrpSpPr>
        <p:grpSpPr>
          <a:xfrm>
            <a:off x="4816436" y="5338962"/>
            <a:ext cx="1323526" cy="344992"/>
            <a:chOff x="3670846" y="3584184"/>
            <a:chExt cx="1815786" cy="473307"/>
          </a:xfrm>
          <a:solidFill>
            <a:srgbClr val="F59C00"/>
          </a:solidFill>
        </p:grpSpPr>
        <p:sp>
          <p:nvSpPr>
            <p:cNvPr id="578" name="Pfeil: gebogen 577">
              <a:extLst>
                <a:ext uri="{FF2B5EF4-FFF2-40B4-BE49-F238E27FC236}">
                  <a16:creationId xmlns:a16="http://schemas.microsoft.com/office/drawing/2014/main" id="{47446894-C78C-D4F8-B387-7D678BB39CF4}"/>
                </a:ext>
              </a:extLst>
            </p:cNvPr>
            <p:cNvSpPr/>
            <p:nvPr/>
          </p:nvSpPr>
          <p:spPr>
            <a:xfrm rot="5400000" flipH="1">
              <a:off x="3686385" y="3580935"/>
              <a:ext cx="461017" cy="492096"/>
            </a:xfrm>
            <a:prstGeom prst="bentArrow">
              <a:avLst>
                <a:gd name="adj1" fmla="val 30165"/>
                <a:gd name="adj2" fmla="val 25000"/>
                <a:gd name="adj3" fmla="val 25000"/>
                <a:gd name="adj4" fmla="val 64755"/>
              </a:avLst>
            </a:prstGeom>
            <a:grp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sp>
          <p:nvSpPr>
            <p:cNvPr id="579" name="Pfeil: gebogen 578">
              <a:extLst>
                <a:ext uri="{FF2B5EF4-FFF2-40B4-BE49-F238E27FC236}">
                  <a16:creationId xmlns:a16="http://schemas.microsoft.com/office/drawing/2014/main" id="{DC6B4D60-DBFC-33D3-362B-D7DA9E4BE3D7}"/>
                </a:ext>
              </a:extLst>
            </p:cNvPr>
            <p:cNvSpPr/>
            <p:nvPr/>
          </p:nvSpPr>
          <p:spPr>
            <a:xfrm rot="5400000" flipH="1">
              <a:off x="5010075" y="3568645"/>
              <a:ext cx="461017" cy="492096"/>
            </a:xfrm>
            <a:prstGeom prst="bentArrow">
              <a:avLst>
                <a:gd name="adj1" fmla="val 30165"/>
                <a:gd name="adj2" fmla="val 25000"/>
                <a:gd name="adj3" fmla="val 25000"/>
                <a:gd name="adj4" fmla="val 64755"/>
              </a:avLst>
            </a:prstGeom>
            <a:grp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grpSp>
      <p:cxnSp>
        <p:nvCxnSpPr>
          <p:cNvPr id="580" name="Gewinkelter Verbinder 271">
            <a:extLst>
              <a:ext uri="{FF2B5EF4-FFF2-40B4-BE49-F238E27FC236}">
                <a16:creationId xmlns:a16="http://schemas.microsoft.com/office/drawing/2014/main" id="{C9246455-38EF-1690-7FB4-0B9CF8453B98}"/>
              </a:ext>
            </a:extLst>
          </p:cNvPr>
          <p:cNvCxnSpPr>
            <a:cxnSpLocks/>
          </p:cNvCxnSpPr>
          <p:nvPr/>
        </p:nvCxnSpPr>
        <p:spPr>
          <a:xfrm flipH="1">
            <a:off x="4829821" y="4930490"/>
            <a:ext cx="5021070" cy="542851"/>
          </a:xfrm>
          <a:prstGeom prst="bentConnector5">
            <a:avLst>
              <a:gd name="adj1" fmla="val -3319"/>
              <a:gd name="adj2" fmla="val 43954"/>
              <a:gd name="adj3" fmla="val 103319"/>
            </a:avLst>
          </a:prstGeom>
          <a:noFill/>
          <a:ln w="28575" cap="flat" cmpd="sng" algn="ctr">
            <a:solidFill>
              <a:schemeClr val="bg1">
                <a:lumMod val="85000"/>
              </a:schemeClr>
            </a:solidFill>
            <a:prstDash val="sysDot"/>
            <a:miter lim="800000"/>
            <a:tailEnd type="triangle"/>
          </a:ln>
          <a:effectLst/>
        </p:spPr>
      </p:cxnSp>
      <p:cxnSp>
        <p:nvCxnSpPr>
          <p:cNvPr id="581" name="Gerade Verbindung mit Pfeil 580">
            <a:extLst>
              <a:ext uri="{FF2B5EF4-FFF2-40B4-BE49-F238E27FC236}">
                <a16:creationId xmlns:a16="http://schemas.microsoft.com/office/drawing/2014/main" id="{0F6A6983-05D3-1BA9-38B7-741B463BF021}"/>
              </a:ext>
            </a:extLst>
          </p:cNvPr>
          <p:cNvCxnSpPr>
            <a:cxnSpLocks/>
          </p:cNvCxnSpPr>
          <p:nvPr/>
        </p:nvCxnSpPr>
        <p:spPr>
          <a:xfrm>
            <a:off x="5102316" y="5578299"/>
            <a:ext cx="732870" cy="4780"/>
          </a:xfrm>
          <a:prstGeom prst="straightConnector1">
            <a:avLst/>
          </a:prstGeom>
          <a:noFill/>
          <a:ln w="28575" cap="flat" cmpd="sng" algn="ctr">
            <a:solidFill>
              <a:schemeClr val="bg1">
                <a:lumMod val="85000"/>
              </a:schemeClr>
            </a:solidFill>
            <a:prstDash val="sysDot"/>
            <a:miter lim="800000"/>
            <a:tailEnd type="triangle"/>
          </a:ln>
          <a:effectLst/>
        </p:spPr>
      </p:cxnSp>
      <p:sp>
        <p:nvSpPr>
          <p:cNvPr id="582" name="Rechteck 581">
            <a:extLst>
              <a:ext uri="{FF2B5EF4-FFF2-40B4-BE49-F238E27FC236}">
                <a16:creationId xmlns:a16="http://schemas.microsoft.com/office/drawing/2014/main" id="{3904978D-1AD5-A457-A5F7-8313FA9399F9}"/>
              </a:ext>
            </a:extLst>
          </p:cNvPr>
          <p:cNvSpPr/>
          <p:nvPr/>
        </p:nvSpPr>
        <p:spPr>
          <a:xfrm>
            <a:off x="1678877" y="4531084"/>
            <a:ext cx="1087128" cy="601338"/>
          </a:xfrm>
          <a:prstGeom prst="rect">
            <a:avLst/>
          </a:prstGeom>
          <a:solidFill>
            <a:srgbClr val="FFFFFF"/>
          </a:solidFill>
          <a:ln w="28575" cap="flat" cmpd="sng" algn="ctr">
            <a:noFill/>
            <a:prstDash val="dash"/>
            <a:miter lim="800000"/>
          </a:ln>
          <a:effectLst/>
        </p:spPr>
        <p:txBody>
          <a:bodyPr rtlCol="0" anchor="ctr"/>
          <a:lstStyle/>
          <a:p>
            <a:pPr algn="r" defTabSz="914339">
              <a:defRPr/>
            </a:pPr>
            <a:endParaRPr lang="de-AT" sz="1200" kern="0" dirty="0">
              <a:solidFill>
                <a:prstClr val="white"/>
              </a:solidFill>
              <a:latin typeface="Aptos" panose="020B0004020202020204" pitchFamily="34" charset="0"/>
            </a:endParaRPr>
          </a:p>
        </p:txBody>
      </p:sp>
      <p:sp>
        <p:nvSpPr>
          <p:cNvPr id="583" name="Textfeld 582">
            <a:extLst>
              <a:ext uri="{FF2B5EF4-FFF2-40B4-BE49-F238E27FC236}">
                <a16:creationId xmlns:a16="http://schemas.microsoft.com/office/drawing/2014/main" id="{4B728FFC-E252-9BE9-3196-2AB5FD191652}"/>
              </a:ext>
            </a:extLst>
          </p:cNvPr>
          <p:cNvSpPr txBox="1"/>
          <p:nvPr/>
        </p:nvSpPr>
        <p:spPr>
          <a:xfrm>
            <a:off x="1280633" y="4811744"/>
            <a:ext cx="2352870" cy="369332"/>
          </a:xfrm>
          <a:prstGeom prst="rect">
            <a:avLst/>
          </a:prstGeom>
          <a:noFill/>
        </p:spPr>
        <p:txBody>
          <a:bodyPr wrap="square" rtlCol="0">
            <a:spAutoFit/>
          </a:bodyPr>
          <a:lstStyle/>
          <a:p>
            <a:pPr algn="r">
              <a:defRPr/>
            </a:pPr>
            <a:r>
              <a:rPr lang="en-GB" sz="900" i="1" dirty="0">
                <a:solidFill>
                  <a:prstClr val="black"/>
                </a:solidFill>
                <a:latin typeface="Aptos" panose="020B0004020202020204" pitchFamily="34" charset="0"/>
              </a:rPr>
              <a:t>Offsite Renewable Excess</a:t>
            </a:r>
          </a:p>
          <a:p>
            <a:pPr algn="r">
              <a:defRPr/>
            </a:pPr>
            <a:r>
              <a:rPr lang="en-GB" sz="900" i="1" dirty="0">
                <a:solidFill>
                  <a:prstClr val="black"/>
                </a:solidFill>
                <a:latin typeface="Aptos" panose="020B0004020202020204" pitchFamily="34" charset="0"/>
              </a:rPr>
              <a:t>(DSM, Wind Peaks)</a:t>
            </a:r>
            <a:endParaRPr lang="de-AT" sz="900" i="1" dirty="0">
              <a:solidFill>
                <a:prstClr val="black"/>
              </a:solidFill>
              <a:latin typeface="Aptos" panose="020B0004020202020204" pitchFamily="34" charset="0"/>
            </a:endParaRPr>
          </a:p>
        </p:txBody>
      </p:sp>
      <p:sp>
        <p:nvSpPr>
          <p:cNvPr id="584" name="Textfeld 583">
            <a:extLst>
              <a:ext uri="{FF2B5EF4-FFF2-40B4-BE49-F238E27FC236}">
                <a16:creationId xmlns:a16="http://schemas.microsoft.com/office/drawing/2014/main" id="{4A2F7F00-A729-2A15-7182-7BC49D3761D8}"/>
              </a:ext>
            </a:extLst>
          </p:cNvPr>
          <p:cNvSpPr txBox="1"/>
          <p:nvPr/>
        </p:nvSpPr>
        <p:spPr>
          <a:xfrm>
            <a:off x="1625401" y="4514717"/>
            <a:ext cx="1992871" cy="369332"/>
          </a:xfrm>
          <a:prstGeom prst="rect">
            <a:avLst/>
          </a:prstGeom>
          <a:noFill/>
        </p:spPr>
        <p:txBody>
          <a:bodyPr wrap="square" rtlCol="0">
            <a:spAutoFit/>
          </a:bodyPr>
          <a:lstStyle/>
          <a:p>
            <a:pPr algn="r">
              <a:defRPr/>
            </a:pPr>
            <a:r>
              <a:rPr lang="en-GB" sz="900" dirty="0">
                <a:solidFill>
                  <a:prstClr val="black"/>
                </a:solidFill>
                <a:latin typeface="Aptos" panose="020B0004020202020204" pitchFamily="34" charset="0"/>
              </a:rPr>
              <a:t>Externe Erneuerbarer Überschuss</a:t>
            </a:r>
          </a:p>
          <a:p>
            <a:pPr algn="r">
              <a:defRPr/>
            </a:pPr>
            <a:r>
              <a:rPr lang="en-GB" sz="900" dirty="0">
                <a:solidFill>
                  <a:prstClr val="black"/>
                </a:solidFill>
                <a:latin typeface="Aptos" panose="020B0004020202020204" pitchFamily="34" charset="0"/>
              </a:rPr>
              <a:t>(DSM, Wind-Spitzen)</a:t>
            </a:r>
            <a:endParaRPr lang="de-AT" sz="900" dirty="0">
              <a:solidFill>
                <a:prstClr val="black"/>
              </a:solidFill>
              <a:latin typeface="Aptos" panose="020B0004020202020204" pitchFamily="34" charset="0"/>
            </a:endParaRPr>
          </a:p>
        </p:txBody>
      </p:sp>
      <p:sp>
        <p:nvSpPr>
          <p:cNvPr id="9" name="Textfeld 8">
            <a:extLst>
              <a:ext uri="{FF2B5EF4-FFF2-40B4-BE49-F238E27FC236}">
                <a16:creationId xmlns:a16="http://schemas.microsoft.com/office/drawing/2014/main" id="{BBD0178C-CF80-F3E5-647A-26542CD3203A}"/>
              </a:ext>
            </a:extLst>
          </p:cNvPr>
          <p:cNvSpPr txBox="1"/>
          <p:nvPr/>
        </p:nvSpPr>
        <p:spPr>
          <a:xfrm rot="2124747">
            <a:off x="2604687" y="2556663"/>
            <a:ext cx="1686680" cy="461665"/>
          </a:xfrm>
          <a:prstGeom prst="rect">
            <a:avLst/>
          </a:prstGeom>
          <a:noFill/>
        </p:spPr>
        <p:txBody>
          <a:bodyPr wrap="none" rtlCol="0">
            <a:spAutoFit/>
          </a:bodyPr>
          <a:lstStyle/>
          <a:p>
            <a:r>
              <a:rPr lang="de-AT" sz="1200" dirty="0">
                <a:solidFill>
                  <a:schemeClr val="bg1">
                    <a:lumMod val="50000"/>
                  </a:schemeClr>
                </a:solidFill>
                <a:latin typeface="Aptos" panose="020B0004020202020204" pitchFamily="34" charset="0"/>
              </a:rPr>
              <a:t>Deckungs-Reihenfolge</a:t>
            </a:r>
          </a:p>
          <a:p>
            <a:r>
              <a:rPr lang="de-AT" sz="1200" i="1" dirty="0">
                <a:solidFill>
                  <a:schemeClr val="bg1">
                    <a:lumMod val="50000"/>
                  </a:schemeClr>
                </a:solidFill>
                <a:latin typeface="Aptos" panose="020B0004020202020204" pitchFamily="34" charset="0"/>
              </a:rPr>
              <a:t>Dispatch order</a:t>
            </a:r>
          </a:p>
        </p:txBody>
      </p:sp>
    </p:spTree>
    <p:extLst>
      <p:ext uri="{BB962C8B-B14F-4D97-AF65-F5344CB8AC3E}">
        <p14:creationId xmlns:p14="http://schemas.microsoft.com/office/powerpoint/2010/main" val="1120399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D4098B1-3C6E-B548-2231-27EE38DFD9F7}"/>
            </a:ext>
          </a:extLst>
        </p:cNvPr>
        <p:cNvGrpSpPr/>
        <p:nvPr/>
      </p:nvGrpSpPr>
      <p:grpSpPr>
        <a:xfrm>
          <a:off x="0" y="0"/>
          <a:ext cx="0" cy="0"/>
          <a:chOff x="0" y="0"/>
          <a:chExt cx="0" cy="0"/>
        </a:xfrm>
      </p:grpSpPr>
      <p:sp>
        <p:nvSpPr>
          <p:cNvPr id="419" name="Rechteck 418">
            <a:extLst>
              <a:ext uri="{FF2B5EF4-FFF2-40B4-BE49-F238E27FC236}">
                <a16:creationId xmlns:a16="http://schemas.microsoft.com/office/drawing/2014/main" id="{F4669A54-BA4A-2E87-B8F8-3A7FFA53EE06}"/>
              </a:ext>
            </a:extLst>
          </p:cNvPr>
          <p:cNvSpPr/>
          <p:nvPr/>
        </p:nvSpPr>
        <p:spPr>
          <a:xfrm>
            <a:off x="2180590" y="2213310"/>
            <a:ext cx="8312150" cy="3601280"/>
          </a:xfrm>
          <a:prstGeom prst="rect">
            <a:avLst/>
          </a:prstGeom>
          <a:noFill/>
          <a:ln w="28575" cap="flat" cmpd="sng" algn="ctr">
            <a:solidFill>
              <a:srgbClr val="E6EFF3">
                <a:lumMod val="90000"/>
              </a:srgbClr>
            </a:solidFill>
            <a:prstDash val="dash"/>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10" name="Rechteck 9">
            <a:extLst>
              <a:ext uri="{FF2B5EF4-FFF2-40B4-BE49-F238E27FC236}">
                <a16:creationId xmlns:a16="http://schemas.microsoft.com/office/drawing/2014/main" id="{FA0F81CC-3D7F-AE01-34BB-3AF0DB256E24}"/>
              </a:ext>
            </a:extLst>
          </p:cNvPr>
          <p:cNvSpPr/>
          <p:nvPr/>
        </p:nvSpPr>
        <p:spPr>
          <a:xfrm>
            <a:off x="4391024" y="5815655"/>
            <a:ext cx="6101716" cy="671885"/>
          </a:xfrm>
          <a:prstGeom prst="rect">
            <a:avLst/>
          </a:prstGeom>
          <a:noFill/>
          <a:ln w="28575" cap="flat" cmpd="sng" algn="ctr">
            <a:solidFill>
              <a:srgbClr val="E6EFF3">
                <a:lumMod val="90000"/>
              </a:srgbClr>
            </a:solidFill>
            <a:prstDash val="dash"/>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11" name="Rechteck 10">
            <a:extLst>
              <a:ext uri="{FF2B5EF4-FFF2-40B4-BE49-F238E27FC236}">
                <a16:creationId xmlns:a16="http://schemas.microsoft.com/office/drawing/2014/main" id="{77F5DDBB-67F2-54E6-0D1E-3679227A9E69}"/>
              </a:ext>
            </a:extLst>
          </p:cNvPr>
          <p:cNvSpPr/>
          <p:nvPr/>
        </p:nvSpPr>
        <p:spPr>
          <a:xfrm>
            <a:off x="4414836" y="5717410"/>
            <a:ext cx="6049326" cy="226995"/>
          </a:xfrm>
          <a:prstGeom prst="rect">
            <a:avLst/>
          </a:prstGeom>
          <a:solidFill>
            <a:schemeClr val="bg1"/>
          </a:solidFill>
          <a:ln w="28575" cap="flat" cmpd="sng" algn="ctr">
            <a:noFill/>
            <a:prstDash val="dash"/>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3" name="Foliennummernplatzhalter 2">
            <a:extLst>
              <a:ext uri="{FF2B5EF4-FFF2-40B4-BE49-F238E27FC236}">
                <a16:creationId xmlns:a16="http://schemas.microsoft.com/office/drawing/2014/main" id="{4556C3CC-55EE-8626-705B-81027E4F037F}"/>
              </a:ext>
            </a:extLst>
          </p:cNvPr>
          <p:cNvSpPr>
            <a:spLocks noGrp="1"/>
          </p:cNvSpPr>
          <p:nvPr>
            <p:ph type="sldNum" sz="quarter" idx="12"/>
          </p:nvPr>
        </p:nvSpPr>
        <p:spPr/>
        <p:txBody>
          <a:bodyPr/>
          <a:lstStyle/>
          <a:p>
            <a:pPr lvl="0"/>
            <a:endParaRPr lang="de-AT" noProof="0" dirty="0"/>
          </a:p>
          <a:p>
            <a:pPr lvl="0"/>
            <a:fld id="{6DF1416F-3104-4888-B9E3-BED4C99BC5D9}" type="slidenum">
              <a:rPr lang="de-AT" noProof="0" smtClean="0"/>
              <a:pPr lvl="0"/>
              <a:t>17</a:t>
            </a:fld>
            <a:endParaRPr lang="de-AT" noProof="0" dirty="0"/>
          </a:p>
        </p:txBody>
      </p:sp>
      <p:sp>
        <p:nvSpPr>
          <p:cNvPr id="418" name="Rechteck 417">
            <a:extLst>
              <a:ext uri="{FF2B5EF4-FFF2-40B4-BE49-F238E27FC236}">
                <a16:creationId xmlns:a16="http://schemas.microsoft.com/office/drawing/2014/main" id="{62D5D76F-B2FA-6127-D43B-F66E7C65EFB6}"/>
              </a:ext>
            </a:extLst>
          </p:cNvPr>
          <p:cNvSpPr/>
          <p:nvPr/>
        </p:nvSpPr>
        <p:spPr>
          <a:xfrm>
            <a:off x="7398840" y="2212706"/>
            <a:ext cx="2766664" cy="3101701"/>
          </a:xfrm>
          <a:prstGeom prst="rect">
            <a:avLst/>
          </a:prstGeom>
          <a:solidFill>
            <a:srgbClr val="BCCF00">
              <a:lumMod val="20000"/>
              <a:lumOff val="80000"/>
            </a:srgbClr>
          </a:solidFill>
          <a:ln w="12700" cap="flat" cmpd="sng" algn="ctr">
            <a:noFill/>
            <a:prstDash val="solid"/>
            <a:miter lim="800000"/>
          </a:ln>
          <a:effectLst/>
        </p:spPr>
        <p:txBody>
          <a:bodyPr rtlCol="0" anchor="ctr"/>
          <a:lstStyle/>
          <a:p>
            <a:pPr algn="ctr" defTabSz="914339">
              <a:defRPr/>
            </a:pPr>
            <a:endParaRPr lang="de-AT" sz="1200" kern="0" dirty="0">
              <a:solidFill>
                <a:sysClr val="windowText" lastClr="000000"/>
              </a:solidFill>
              <a:latin typeface="Aptos" panose="020B0004020202020204" pitchFamily="34" charset="0"/>
            </a:endParaRPr>
          </a:p>
        </p:txBody>
      </p:sp>
      <p:sp>
        <p:nvSpPr>
          <p:cNvPr id="420" name="Rechteck 419">
            <a:extLst>
              <a:ext uri="{FF2B5EF4-FFF2-40B4-BE49-F238E27FC236}">
                <a16:creationId xmlns:a16="http://schemas.microsoft.com/office/drawing/2014/main" id="{0A533101-6616-712E-9F3C-64567210ACCC}"/>
              </a:ext>
            </a:extLst>
          </p:cNvPr>
          <p:cNvSpPr/>
          <p:nvPr/>
        </p:nvSpPr>
        <p:spPr>
          <a:xfrm>
            <a:off x="2169146" y="4510314"/>
            <a:ext cx="2180168" cy="642878"/>
          </a:xfrm>
          <a:prstGeom prst="rect">
            <a:avLst/>
          </a:prstGeom>
          <a:solidFill>
            <a:srgbClr val="FFFFFF"/>
          </a:solidFill>
          <a:ln w="28575" cap="flat" cmpd="sng" algn="ctr">
            <a:solidFill>
              <a:srgbClr val="E6EFF3">
                <a:lumMod val="90000"/>
              </a:srgbClr>
            </a:solidFill>
            <a:prstDash val="dash"/>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cxnSp>
        <p:nvCxnSpPr>
          <p:cNvPr id="421" name="Gewinkelter Verbinder 283">
            <a:extLst>
              <a:ext uri="{FF2B5EF4-FFF2-40B4-BE49-F238E27FC236}">
                <a16:creationId xmlns:a16="http://schemas.microsoft.com/office/drawing/2014/main" id="{95C394DF-E7F3-53B3-C737-043B9088F7D8}"/>
              </a:ext>
            </a:extLst>
          </p:cNvPr>
          <p:cNvCxnSpPr>
            <a:cxnSpLocks/>
          </p:cNvCxnSpPr>
          <p:nvPr/>
        </p:nvCxnSpPr>
        <p:spPr>
          <a:xfrm rot="5400000" flipH="1" flipV="1">
            <a:off x="9228618" y="2733602"/>
            <a:ext cx="1856147" cy="242225"/>
          </a:xfrm>
          <a:prstGeom prst="bentConnector3">
            <a:avLst>
              <a:gd name="adj1" fmla="val 460"/>
            </a:avLst>
          </a:prstGeom>
          <a:noFill/>
          <a:ln w="76200" cap="flat" cmpd="sng" algn="ctr">
            <a:solidFill>
              <a:srgbClr val="5FB564">
                <a:lumMod val="60000"/>
                <a:lumOff val="40000"/>
              </a:srgbClr>
            </a:solidFill>
            <a:prstDash val="solid"/>
            <a:miter lim="800000"/>
            <a:tailEnd type="triangle"/>
          </a:ln>
          <a:effectLst/>
        </p:spPr>
      </p:cxnSp>
      <p:sp>
        <p:nvSpPr>
          <p:cNvPr id="422" name="Textfeld 421">
            <a:extLst>
              <a:ext uri="{FF2B5EF4-FFF2-40B4-BE49-F238E27FC236}">
                <a16:creationId xmlns:a16="http://schemas.microsoft.com/office/drawing/2014/main" id="{8AC1926F-55F9-9CFA-7739-60CBB44E157F}"/>
              </a:ext>
            </a:extLst>
          </p:cNvPr>
          <p:cNvSpPr txBox="1"/>
          <p:nvPr/>
        </p:nvSpPr>
        <p:spPr>
          <a:xfrm>
            <a:off x="3433542" y="5980392"/>
            <a:ext cx="184730" cy="276999"/>
          </a:xfrm>
          <a:prstGeom prst="rect">
            <a:avLst/>
          </a:prstGeom>
          <a:noFill/>
        </p:spPr>
        <p:txBody>
          <a:bodyPr wrap="none" rtlCol="0">
            <a:spAutoFit/>
          </a:bodyPr>
          <a:lstStyle/>
          <a:p>
            <a:pPr algn="r">
              <a:defRPr/>
            </a:pPr>
            <a:endParaRPr lang="de-AT" sz="1200" dirty="0">
              <a:solidFill>
                <a:prstClr val="black"/>
              </a:solidFill>
              <a:latin typeface="Aptos" panose="020B0004020202020204" pitchFamily="34" charset="0"/>
            </a:endParaRPr>
          </a:p>
        </p:txBody>
      </p:sp>
      <p:sp>
        <p:nvSpPr>
          <p:cNvPr id="423" name="Textfeld 422">
            <a:extLst>
              <a:ext uri="{FF2B5EF4-FFF2-40B4-BE49-F238E27FC236}">
                <a16:creationId xmlns:a16="http://schemas.microsoft.com/office/drawing/2014/main" id="{A867ED45-8E05-430A-CF1C-C6B704D398AD}"/>
              </a:ext>
            </a:extLst>
          </p:cNvPr>
          <p:cNvSpPr txBox="1"/>
          <p:nvPr/>
        </p:nvSpPr>
        <p:spPr>
          <a:xfrm>
            <a:off x="3433542" y="4613967"/>
            <a:ext cx="184730" cy="276999"/>
          </a:xfrm>
          <a:prstGeom prst="rect">
            <a:avLst/>
          </a:prstGeom>
          <a:noFill/>
        </p:spPr>
        <p:txBody>
          <a:bodyPr wrap="none" rtlCol="0">
            <a:spAutoFit/>
          </a:bodyPr>
          <a:lstStyle/>
          <a:p>
            <a:pPr algn="r">
              <a:defRPr/>
            </a:pPr>
            <a:endParaRPr lang="de-AT" sz="1200" dirty="0">
              <a:solidFill>
                <a:prstClr val="black"/>
              </a:solidFill>
              <a:latin typeface="Aptos" panose="020B0004020202020204" pitchFamily="34" charset="0"/>
            </a:endParaRPr>
          </a:p>
        </p:txBody>
      </p:sp>
      <p:sp>
        <p:nvSpPr>
          <p:cNvPr id="424" name="Textfeld 423">
            <a:extLst>
              <a:ext uri="{FF2B5EF4-FFF2-40B4-BE49-F238E27FC236}">
                <a16:creationId xmlns:a16="http://schemas.microsoft.com/office/drawing/2014/main" id="{40F24163-0677-EA87-2DA6-307089ECE56A}"/>
              </a:ext>
            </a:extLst>
          </p:cNvPr>
          <p:cNvSpPr txBox="1"/>
          <p:nvPr/>
        </p:nvSpPr>
        <p:spPr>
          <a:xfrm>
            <a:off x="3433542" y="4056185"/>
            <a:ext cx="184730" cy="276999"/>
          </a:xfrm>
          <a:prstGeom prst="rect">
            <a:avLst/>
          </a:prstGeom>
          <a:noFill/>
        </p:spPr>
        <p:txBody>
          <a:bodyPr wrap="none" rtlCol="0">
            <a:spAutoFit/>
          </a:bodyPr>
          <a:lstStyle/>
          <a:p>
            <a:pPr algn="r">
              <a:defRPr/>
            </a:pPr>
            <a:endParaRPr lang="de-AT" sz="1200" dirty="0">
              <a:solidFill>
                <a:prstClr val="black"/>
              </a:solidFill>
              <a:latin typeface="Aptos" panose="020B0004020202020204" pitchFamily="34" charset="0"/>
            </a:endParaRPr>
          </a:p>
        </p:txBody>
      </p:sp>
      <p:sp>
        <p:nvSpPr>
          <p:cNvPr id="425" name="Solar_panel2" descr="{&quot;Key&quot;:&quot;POWER_USER_SHAPE_ICON&quot;,&quot;Value&quot;:&quot;POWER_USER_SHAPE_ICON_STYLE_1&quot;}">
            <a:extLst>
              <a:ext uri="{FF2B5EF4-FFF2-40B4-BE49-F238E27FC236}">
                <a16:creationId xmlns:a16="http://schemas.microsoft.com/office/drawing/2014/main" id="{9A85135B-58F4-5250-A3C2-F17ADFEE1950}"/>
              </a:ext>
            </a:extLst>
          </p:cNvPr>
          <p:cNvSpPr>
            <a:spLocks noChangeAspect="1" noEditPoints="1"/>
          </p:cNvSpPr>
          <p:nvPr>
            <p:custDataLst>
              <p:tags r:id="rId1"/>
            </p:custDataLst>
          </p:nvPr>
        </p:nvSpPr>
        <p:spPr bwMode="auto">
          <a:xfrm>
            <a:off x="3710350" y="3565255"/>
            <a:ext cx="273134" cy="259627"/>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2000" kern="0" dirty="0">
              <a:solidFill>
                <a:prstClr val="black"/>
              </a:solidFill>
              <a:latin typeface="Aptos" panose="020B0004020202020204" pitchFamily="34" charset="0"/>
            </a:endParaRPr>
          </a:p>
        </p:txBody>
      </p:sp>
      <p:sp>
        <p:nvSpPr>
          <p:cNvPr id="426" name="Textfeld 425">
            <a:extLst>
              <a:ext uri="{FF2B5EF4-FFF2-40B4-BE49-F238E27FC236}">
                <a16:creationId xmlns:a16="http://schemas.microsoft.com/office/drawing/2014/main" id="{12DCD754-165E-0F5F-759F-53CE320AE45C}"/>
              </a:ext>
            </a:extLst>
          </p:cNvPr>
          <p:cNvSpPr txBox="1"/>
          <p:nvPr/>
        </p:nvSpPr>
        <p:spPr>
          <a:xfrm>
            <a:off x="4778724" y="2292302"/>
            <a:ext cx="184731" cy="276999"/>
          </a:xfrm>
          <a:prstGeom prst="rect">
            <a:avLst/>
          </a:prstGeom>
          <a:noFill/>
        </p:spPr>
        <p:txBody>
          <a:bodyPr wrap="none" rtlCol="0">
            <a:spAutoFit/>
          </a:bodyPr>
          <a:lstStyle/>
          <a:p>
            <a:pPr algn="ctr">
              <a:defRPr/>
            </a:pPr>
            <a:endParaRPr lang="de-AT" sz="1200" dirty="0">
              <a:solidFill>
                <a:prstClr val="black"/>
              </a:solidFill>
              <a:latin typeface="Aptos" panose="020B0004020202020204" pitchFamily="34" charset="0"/>
            </a:endParaRPr>
          </a:p>
        </p:txBody>
      </p:sp>
      <p:cxnSp>
        <p:nvCxnSpPr>
          <p:cNvPr id="427" name="Gerade Verbindung mit Pfeil 426">
            <a:extLst>
              <a:ext uri="{FF2B5EF4-FFF2-40B4-BE49-F238E27FC236}">
                <a16:creationId xmlns:a16="http://schemas.microsoft.com/office/drawing/2014/main" id="{0148BC58-7570-C877-B05C-BA25ABAE1A65}"/>
              </a:ext>
            </a:extLst>
          </p:cNvPr>
          <p:cNvCxnSpPr>
            <a:cxnSpLocks/>
          </p:cNvCxnSpPr>
          <p:nvPr/>
        </p:nvCxnSpPr>
        <p:spPr>
          <a:xfrm>
            <a:off x="2827937" y="2352710"/>
            <a:ext cx="1947872" cy="1415047"/>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28" name="Gerade Verbindung mit Pfeil 427">
            <a:extLst>
              <a:ext uri="{FF2B5EF4-FFF2-40B4-BE49-F238E27FC236}">
                <a16:creationId xmlns:a16="http://schemas.microsoft.com/office/drawing/2014/main" id="{A04DFECA-43FC-E489-C058-766AEDD15BA6}"/>
              </a:ext>
            </a:extLst>
          </p:cNvPr>
          <p:cNvCxnSpPr>
            <a:cxnSpLocks/>
          </p:cNvCxnSpPr>
          <p:nvPr/>
        </p:nvCxnSpPr>
        <p:spPr>
          <a:xfrm>
            <a:off x="5003103" y="3751253"/>
            <a:ext cx="732870" cy="478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29" name="Gerade Verbindung mit Pfeil 428">
            <a:extLst>
              <a:ext uri="{FF2B5EF4-FFF2-40B4-BE49-F238E27FC236}">
                <a16:creationId xmlns:a16="http://schemas.microsoft.com/office/drawing/2014/main" id="{AEB62F90-26F8-50A9-F4E5-3679734360E2}"/>
              </a:ext>
            </a:extLst>
          </p:cNvPr>
          <p:cNvCxnSpPr>
            <a:cxnSpLocks/>
          </p:cNvCxnSpPr>
          <p:nvPr/>
        </p:nvCxnSpPr>
        <p:spPr>
          <a:xfrm>
            <a:off x="5990918" y="3767757"/>
            <a:ext cx="688605" cy="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30" name="Gerade Verbindung mit Pfeil 429">
            <a:extLst>
              <a:ext uri="{FF2B5EF4-FFF2-40B4-BE49-F238E27FC236}">
                <a16:creationId xmlns:a16="http://schemas.microsoft.com/office/drawing/2014/main" id="{8C99D190-BCDC-EE68-E246-804658989340}"/>
              </a:ext>
            </a:extLst>
          </p:cNvPr>
          <p:cNvCxnSpPr>
            <a:cxnSpLocks/>
            <a:endCxn id="443" idx="2"/>
          </p:cNvCxnSpPr>
          <p:nvPr/>
        </p:nvCxnSpPr>
        <p:spPr>
          <a:xfrm>
            <a:off x="6981799" y="3771862"/>
            <a:ext cx="685930" cy="10925"/>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31" name="Gerade Verbindung mit Pfeil 430">
            <a:extLst>
              <a:ext uri="{FF2B5EF4-FFF2-40B4-BE49-F238E27FC236}">
                <a16:creationId xmlns:a16="http://schemas.microsoft.com/office/drawing/2014/main" id="{68C54D7D-29DD-8D48-75F1-A23B129F454F}"/>
              </a:ext>
            </a:extLst>
          </p:cNvPr>
          <p:cNvCxnSpPr>
            <a:cxnSpLocks/>
          </p:cNvCxnSpPr>
          <p:nvPr/>
        </p:nvCxnSpPr>
        <p:spPr>
          <a:xfrm>
            <a:off x="7928109" y="3782789"/>
            <a:ext cx="698214" cy="827"/>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32" name="Gerade Verbindung mit Pfeil 431">
            <a:extLst>
              <a:ext uri="{FF2B5EF4-FFF2-40B4-BE49-F238E27FC236}">
                <a16:creationId xmlns:a16="http://schemas.microsoft.com/office/drawing/2014/main" id="{C5445AAE-1685-6027-9F65-5524345ED239}"/>
              </a:ext>
            </a:extLst>
          </p:cNvPr>
          <p:cNvCxnSpPr>
            <a:cxnSpLocks/>
          </p:cNvCxnSpPr>
          <p:nvPr/>
        </p:nvCxnSpPr>
        <p:spPr>
          <a:xfrm flipV="1">
            <a:off x="8877670" y="3767353"/>
            <a:ext cx="748395" cy="587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33" name="Gewinkelter Verbinder 271">
            <a:extLst>
              <a:ext uri="{FF2B5EF4-FFF2-40B4-BE49-F238E27FC236}">
                <a16:creationId xmlns:a16="http://schemas.microsoft.com/office/drawing/2014/main" id="{07EAF754-F663-C8D7-12A7-22E08A8FA89D}"/>
              </a:ext>
            </a:extLst>
          </p:cNvPr>
          <p:cNvCxnSpPr>
            <a:cxnSpLocks/>
          </p:cNvCxnSpPr>
          <p:nvPr/>
        </p:nvCxnSpPr>
        <p:spPr>
          <a:xfrm flipH="1">
            <a:off x="4816437" y="3759684"/>
            <a:ext cx="5021070" cy="542851"/>
          </a:xfrm>
          <a:prstGeom prst="bentConnector5">
            <a:avLst>
              <a:gd name="adj1" fmla="val -3319"/>
              <a:gd name="adj2" fmla="val 43954"/>
              <a:gd name="adj3" fmla="val 103319"/>
            </a:avLst>
          </a:prstGeom>
          <a:noFill/>
          <a:ln w="28575" cap="flat" cmpd="sng" algn="ctr">
            <a:solidFill>
              <a:schemeClr val="bg1">
                <a:lumMod val="85000"/>
              </a:schemeClr>
            </a:solidFill>
            <a:prstDash val="sysDot"/>
            <a:miter lim="800000"/>
            <a:tailEnd type="triangle"/>
          </a:ln>
          <a:effectLst/>
        </p:spPr>
      </p:cxnSp>
      <p:cxnSp>
        <p:nvCxnSpPr>
          <p:cNvPr id="434" name="Gewinkelter Verbinder 274">
            <a:extLst>
              <a:ext uri="{FF2B5EF4-FFF2-40B4-BE49-F238E27FC236}">
                <a16:creationId xmlns:a16="http://schemas.microsoft.com/office/drawing/2014/main" id="{03F178FB-B43C-0A29-18BB-C2A7885B94CF}"/>
              </a:ext>
            </a:extLst>
          </p:cNvPr>
          <p:cNvCxnSpPr>
            <a:cxnSpLocks/>
          </p:cNvCxnSpPr>
          <p:nvPr/>
        </p:nvCxnSpPr>
        <p:spPr>
          <a:xfrm flipH="1">
            <a:off x="4816438" y="4301708"/>
            <a:ext cx="2274654" cy="549447"/>
          </a:xfrm>
          <a:prstGeom prst="bentConnector5">
            <a:avLst>
              <a:gd name="adj1" fmla="val -7325"/>
              <a:gd name="adj2" fmla="val 45150"/>
              <a:gd name="adj3" fmla="val 107325"/>
            </a:avLst>
          </a:prstGeom>
          <a:noFill/>
          <a:ln w="28575" cap="flat" cmpd="sng" algn="ctr">
            <a:solidFill>
              <a:schemeClr val="bg1">
                <a:lumMod val="85000"/>
              </a:schemeClr>
            </a:solidFill>
            <a:prstDash val="sysDot"/>
            <a:miter lim="800000"/>
            <a:tailEnd type="triangle"/>
          </a:ln>
          <a:effectLst/>
        </p:spPr>
      </p:cxnSp>
      <p:cxnSp>
        <p:nvCxnSpPr>
          <p:cNvPr id="435" name="Gewinkelter Verbinder 277">
            <a:extLst>
              <a:ext uri="{FF2B5EF4-FFF2-40B4-BE49-F238E27FC236}">
                <a16:creationId xmlns:a16="http://schemas.microsoft.com/office/drawing/2014/main" id="{63F1CE6E-865B-4428-47DF-B36BE852FC81}"/>
              </a:ext>
            </a:extLst>
          </p:cNvPr>
          <p:cNvCxnSpPr>
            <a:cxnSpLocks/>
            <a:stCxn id="579" idx="0"/>
            <a:endCxn id="459" idx="2"/>
          </p:cNvCxnSpPr>
          <p:nvPr/>
        </p:nvCxnSpPr>
        <p:spPr>
          <a:xfrm flipH="1">
            <a:off x="4775808" y="5422972"/>
            <a:ext cx="1364154" cy="815253"/>
          </a:xfrm>
          <a:prstGeom prst="bentConnector5">
            <a:avLst>
              <a:gd name="adj1" fmla="val -16758"/>
              <a:gd name="adj2" fmla="val 50832"/>
              <a:gd name="adj3" fmla="val 108164"/>
            </a:avLst>
          </a:prstGeom>
          <a:noFill/>
          <a:ln w="28575" cap="flat" cmpd="sng" algn="ctr">
            <a:solidFill>
              <a:schemeClr val="bg1">
                <a:lumMod val="85000"/>
              </a:schemeClr>
            </a:solidFill>
            <a:prstDash val="sysDot"/>
            <a:miter lim="800000"/>
            <a:tailEnd type="triangle"/>
          </a:ln>
          <a:effectLst/>
        </p:spPr>
      </p:cxnSp>
      <p:sp>
        <p:nvSpPr>
          <p:cNvPr id="436" name="Textfeld 435">
            <a:extLst>
              <a:ext uri="{FF2B5EF4-FFF2-40B4-BE49-F238E27FC236}">
                <a16:creationId xmlns:a16="http://schemas.microsoft.com/office/drawing/2014/main" id="{9EC9D9D7-0476-F9CA-CE6C-7186A1B44A35}"/>
              </a:ext>
            </a:extLst>
          </p:cNvPr>
          <p:cNvSpPr txBox="1"/>
          <p:nvPr/>
        </p:nvSpPr>
        <p:spPr>
          <a:xfrm>
            <a:off x="7680870" y="6038918"/>
            <a:ext cx="184731" cy="184666"/>
          </a:xfrm>
          <a:prstGeom prst="rect">
            <a:avLst/>
          </a:prstGeom>
          <a:noFill/>
        </p:spPr>
        <p:txBody>
          <a:bodyPr wrap="none" rtlCol="0">
            <a:spAutoFit/>
          </a:bodyPr>
          <a:lstStyle/>
          <a:p>
            <a:pPr algn="ctr">
              <a:defRPr/>
            </a:pPr>
            <a:endParaRPr lang="de-AT" sz="600" dirty="0">
              <a:solidFill>
                <a:prstClr val="black"/>
              </a:solidFill>
              <a:latin typeface="Aptos" panose="020B0004020202020204" pitchFamily="34" charset="0"/>
            </a:endParaRPr>
          </a:p>
        </p:txBody>
      </p:sp>
      <p:sp>
        <p:nvSpPr>
          <p:cNvPr id="437" name="High_voltage3" descr="{&quot;Key&quot;:&quot;POWER_USER_SHAPE_ICON&quot;,&quot;Value&quot;:&quot;POWER_USER_SHAPE_ICON_STYLE_1&quot;}">
            <a:extLst>
              <a:ext uri="{FF2B5EF4-FFF2-40B4-BE49-F238E27FC236}">
                <a16:creationId xmlns:a16="http://schemas.microsoft.com/office/drawing/2014/main" id="{34A55CFF-F9EC-07F6-38A0-91DB9316F65C}"/>
              </a:ext>
            </a:extLst>
          </p:cNvPr>
          <p:cNvSpPr>
            <a:spLocks noChangeAspect="1" noEditPoints="1"/>
          </p:cNvSpPr>
          <p:nvPr>
            <p:custDataLst>
              <p:tags r:id="rId2"/>
            </p:custDataLst>
          </p:nvPr>
        </p:nvSpPr>
        <p:spPr bwMode="auto">
          <a:xfrm>
            <a:off x="3790942" y="5950809"/>
            <a:ext cx="231331" cy="322083"/>
          </a:xfrm>
          <a:custGeom>
            <a:avLst/>
            <a:gdLst>
              <a:gd name="T0" fmla="*/ 244 w 542"/>
              <a:gd name="T1" fmla="*/ 590 h 753"/>
              <a:gd name="T2" fmla="*/ 181 w 542"/>
              <a:gd name="T3" fmla="*/ 645 h 753"/>
              <a:gd name="T4" fmla="*/ 361 w 542"/>
              <a:gd name="T5" fmla="*/ 645 h 753"/>
              <a:gd name="T6" fmla="*/ 298 w 542"/>
              <a:gd name="T7" fmla="*/ 590 h 753"/>
              <a:gd name="T8" fmla="*/ 376 w 542"/>
              <a:gd name="T9" fmla="*/ 706 h 753"/>
              <a:gd name="T10" fmla="*/ 166 w 542"/>
              <a:gd name="T11" fmla="*/ 706 h 753"/>
              <a:gd name="T12" fmla="*/ 122 w 542"/>
              <a:gd name="T13" fmla="*/ 395 h 753"/>
              <a:gd name="T14" fmla="*/ 204 w 542"/>
              <a:gd name="T15" fmla="*/ 347 h 753"/>
              <a:gd name="T16" fmla="*/ 338 w 542"/>
              <a:gd name="T17" fmla="*/ 347 h 753"/>
              <a:gd name="T18" fmla="*/ 420 w 542"/>
              <a:gd name="T19" fmla="*/ 395 h 753"/>
              <a:gd name="T20" fmla="*/ 219 w 542"/>
              <a:gd name="T21" fmla="*/ 521 h 753"/>
              <a:gd name="T22" fmla="*/ 323 w 542"/>
              <a:gd name="T23" fmla="*/ 521 h 753"/>
              <a:gd name="T24" fmla="*/ 247 w 542"/>
              <a:gd name="T25" fmla="*/ 430 h 753"/>
              <a:gd name="T26" fmla="*/ 251 w 542"/>
              <a:gd name="T27" fmla="*/ 395 h 753"/>
              <a:gd name="T28" fmla="*/ 291 w 542"/>
              <a:gd name="T29" fmla="*/ 331 h 753"/>
              <a:gd name="T30" fmla="*/ 38 w 542"/>
              <a:gd name="T31" fmla="*/ 412 h 753"/>
              <a:gd name="T32" fmla="*/ 204 w 542"/>
              <a:gd name="T33" fmla="*/ 306 h 753"/>
              <a:gd name="T34" fmla="*/ 95 w 542"/>
              <a:gd name="T35" fmla="*/ 231 h 753"/>
              <a:gd name="T36" fmla="*/ 77 w 542"/>
              <a:gd name="T37" fmla="*/ 303 h 753"/>
              <a:gd name="T38" fmla="*/ 60 w 542"/>
              <a:gd name="T39" fmla="*/ 213 h 753"/>
              <a:gd name="T40" fmla="*/ 212 w 542"/>
              <a:gd name="T41" fmla="*/ 115 h 753"/>
              <a:gd name="T42" fmla="*/ 257 w 542"/>
              <a:gd name="T43" fmla="*/ 0 h 753"/>
              <a:gd name="T44" fmla="*/ 303 w 542"/>
              <a:gd name="T45" fmla="*/ 14 h 753"/>
              <a:gd name="T46" fmla="*/ 472 w 542"/>
              <a:gd name="T47" fmla="*/ 197 h 753"/>
              <a:gd name="T48" fmla="*/ 482 w 542"/>
              <a:gd name="T49" fmla="*/ 285 h 753"/>
              <a:gd name="T50" fmla="*/ 447 w 542"/>
              <a:gd name="T51" fmla="*/ 285 h 753"/>
              <a:gd name="T52" fmla="*/ 338 w 542"/>
              <a:gd name="T53" fmla="*/ 231 h 753"/>
              <a:gd name="T54" fmla="*/ 494 w 542"/>
              <a:gd name="T55" fmla="*/ 397 h 753"/>
              <a:gd name="T56" fmla="*/ 504 w 542"/>
              <a:gd name="T57" fmla="*/ 484 h 753"/>
              <a:gd name="T58" fmla="*/ 469 w 542"/>
              <a:gd name="T59" fmla="*/ 484 h 753"/>
              <a:gd name="T60" fmla="*/ 344 w 542"/>
              <a:gd name="T61" fmla="*/ 430 h 753"/>
              <a:gd name="T62" fmla="*/ 519 w 542"/>
              <a:gd name="T63" fmla="*/ 706 h 753"/>
              <a:gd name="T64" fmla="*/ 519 w 542"/>
              <a:gd name="T65" fmla="*/ 753 h 753"/>
              <a:gd name="T66" fmla="*/ 0 w 542"/>
              <a:gd name="T67" fmla="*/ 730 h 753"/>
              <a:gd name="T68" fmla="*/ 114 w 542"/>
              <a:gd name="T69" fmla="*/ 706 h 753"/>
              <a:gd name="T70" fmla="*/ 73 w 542"/>
              <a:gd name="T71" fmla="*/ 430 h 753"/>
              <a:gd name="T72" fmla="*/ 56 w 542"/>
              <a:gd name="T73" fmla="*/ 502 h 753"/>
              <a:gd name="T74" fmla="*/ 38 w 542"/>
              <a:gd name="T75" fmla="*/ 412 h 753"/>
              <a:gd name="T76" fmla="*/ 144 w 542"/>
              <a:gd name="T77" fmla="*/ 195 h 753"/>
              <a:gd name="T78" fmla="*/ 204 w 542"/>
              <a:gd name="T79" fmla="*/ 160 h 753"/>
              <a:gd name="T80" fmla="*/ 338 w 542"/>
              <a:gd name="T81" fmla="*/ 160 h 753"/>
              <a:gd name="T82" fmla="*/ 399 w 542"/>
              <a:gd name="T83" fmla="*/ 195 h 753"/>
              <a:gd name="T84" fmla="*/ 271 w 542"/>
              <a:gd name="T85" fmla="*/ 35 h 753"/>
              <a:gd name="T86" fmla="*/ 291 w 542"/>
              <a:gd name="T87" fmla="*/ 109 h 753"/>
              <a:gd name="T88" fmla="*/ 251 w 542"/>
              <a:gd name="T89" fmla="*/ 296 h 753"/>
              <a:gd name="T90" fmla="*/ 291 w 542"/>
              <a:gd name="T91" fmla="*/ 231 h 753"/>
              <a:gd name="T92" fmla="*/ 251 w 542"/>
              <a:gd name="T93" fmla="*/ 144 h 753"/>
              <a:gd name="T94" fmla="*/ 291 w 542"/>
              <a:gd name="T95" fmla="*/ 195 h 753"/>
              <a:gd name="T96" fmla="*/ 251 w 542"/>
              <a:gd name="T97" fmla="*/ 144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2" h="753">
                <a:moveTo>
                  <a:pt x="181" y="645"/>
                </a:moveTo>
                <a:lnTo>
                  <a:pt x="244" y="590"/>
                </a:lnTo>
                <a:lnTo>
                  <a:pt x="208" y="558"/>
                </a:lnTo>
                <a:lnTo>
                  <a:pt x="181" y="645"/>
                </a:lnTo>
                <a:close/>
                <a:moveTo>
                  <a:pt x="298" y="590"/>
                </a:moveTo>
                <a:lnTo>
                  <a:pt x="361" y="645"/>
                </a:lnTo>
                <a:lnTo>
                  <a:pt x="334" y="558"/>
                </a:lnTo>
                <a:lnTo>
                  <a:pt x="298" y="590"/>
                </a:lnTo>
                <a:close/>
                <a:moveTo>
                  <a:pt x="166" y="706"/>
                </a:moveTo>
                <a:lnTo>
                  <a:pt x="376" y="706"/>
                </a:lnTo>
                <a:lnTo>
                  <a:pt x="271" y="614"/>
                </a:lnTo>
                <a:lnTo>
                  <a:pt x="166" y="706"/>
                </a:lnTo>
                <a:close/>
                <a:moveTo>
                  <a:pt x="204" y="347"/>
                </a:moveTo>
                <a:lnTo>
                  <a:pt x="122" y="395"/>
                </a:lnTo>
                <a:lnTo>
                  <a:pt x="204" y="395"/>
                </a:lnTo>
                <a:lnTo>
                  <a:pt x="204" y="347"/>
                </a:lnTo>
                <a:close/>
                <a:moveTo>
                  <a:pt x="420" y="395"/>
                </a:moveTo>
                <a:lnTo>
                  <a:pt x="338" y="347"/>
                </a:lnTo>
                <a:lnTo>
                  <a:pt x="338" y="395"/>
                </a:lnTo>
                <a:lnTo>
                  <a:pt x="420" y="395"/>
                </a:lnTo>
                <a:close/>
                <a:moveTo>
                  <a:pt x="247" y="430"/>
                </a:moveTo>
                <a:lnTo>
                  <a:pt x="219" y="521"/>
                </a:lnTo>
                <a:lnTo>
                  <a:pt x="271" y="566"/>
                </a:lnTo>
                <a:lnTo>
                  <a:pt x="323" y="521"/>
                </a:lnTo>
                <a:lnTo>
                  <a:pt x="295" y="430"/>
                </a:lnTo>
                <a:lnTo>
                  <a:pt x="247" y="430"/>
                </a:lnTo>
                <a:close/>
                <a:moveTo>
                  <a:pt x="251" y="331"/>
                </a:moveTo>
                <a:lnTo>
                  <a:pt x="251" y="395"/>
                </a:lnTo>
                <a:lnTo>
                  <a:pt x="291" y="395"/>
                </a:lnTo>
                <a:lnTo>
                  <a:pt x="291" y="331"/>
                </a:lnTo>
                <a:lnTo>
                  <a:pt x="251" y="331"/>
                </a:lnTo>
                <a:close/>
                <a:moveTo>
                  <a:pt x="38" y="412"/>
                </a:moveTo>
                <a:cubicBezTo>
                  <a:pt x="38" y="406"/>
                  <a:pt x="41" y="400"/>
                  <a:pt x="47" y="397"/>
                </a:cubicBezTo>
                <a:lnTo>
                  <a:pt x="204" y="306"/>
                </a:lnTo>
                <a:lnTo>
                  <a:pt x="204" y="231"/>
                </a:lnTo>
                <a:lnTo>
                  <a:pt x="95" y="231"/>
                </a:lnTo>
                <a:lnTo>
                  <a:pt x="95" y="285"/>
                </a:lnTo>
                <a:cubicBezTo>
                  <a:pt x="95" y="295"/>
                  <a:pt x="87" y="303"/>
                  <a:pt x="77" y="303"/>
                </a:cubicBezTo>
                <a:cubicBezTo>
                  <a:pt x="68" y="303"/>
                  <a:pt x="60" y="295"/>
                  <a:pt x="60" y="285"/>
                </a:cubicBezTo>
                <a:lnTo>
                  <a:pt x="60" y="213"/>
                </a:lnTo>
                <a:cubicBezTo>
                  <a:pt x="60" y="207"/>
                  <a:pt x="63" y="201"/>
                  <a:pt x="69" y="198"/>
                </a:cubicBezTo>
                <a:lnTo>
                  <a:pt x="212" y="115"/>
                </a:lnTo>
                <a:lnTo>
                  <a:pt x="240" y="13"/>
                </a:lnTo>
                <a:cubicBezTo>
                  <a:pt x="242" y="5"/>
                  <a:pt x="249" y="0"/>
                  <a:pt x="257" y="0"/>
                </a:cubicBezTo>
                <a:lnTo>
                  <a:pt x="285" y="0"/>
                </a:lnTo>
                <a:cubicBezTo>
                  <a:pt x="294" y="0"/>
                  <a:pt x="300" y="6"/>
                  <a:pt x="303" y="14"/>
                </a:cubicBezTo>
                <a:lnTo>
                  <a:pt x="330" y="115"/>
                </a:lnTo>
                <a:lnTo>
                  <a:pt x="472" y="197"/>
                </a:lnTo>
                <a:cubicBezTo>
                  <a:pt x="478" y="200"/>
                  <a:pt x="482" y="206"/>
                  <a:pt x="482" y="213"/>
                </a:cubicBezTo>
                <a:lnTo>
                  <a:pt x="482" y="285"/>
                </a:lnTo>
                <a:cubicBezTo>
                  <a:pt x="482" y="295"/>
                  <a:pt x="474" y="303"/>
                  <a:pt x="465" y="303"/>
                </a:cubicBezTo>
                <a:cubicBezTo>
                  <a:pt x="455" y="303"/>
                  <a:pt x="447" y="295"/>
                  <a:pt x="447" y="285"/>
                </a:cubicBezTo>
                <a:lnTo>
                  <a:pt x="447" y="231"/>
                </a:lnTo>
                <a:lnTo>
                  <a:pt x="338" y="231"/>
                </a:lnTo>
                <a:lnTo>
                  <a:pt x="338" y="306"/>
                </a:lnTo>
                <a:lnTo>
                  <a:pt x="494" y="397"/>
                </a:lnTo>
                <a:cubicBezTo>
                  <a:pt x="500" y="400"/>
                  <a:pt x="504" y="405"/>
                  <a:pt x="504" y="412"/>
                </a:cubicBezTo>
                <a:lnTo>
                  <a:pt x="504" y="484"/>
                </a:lnTo>
                <a:cubicBezTo>
                  <a:pt x="504" y="494"/>
                  <a:pt x="496" y="502"/>
                  <a:pt x="486" y="502"/>
                </a:cubicBezTo>
                <a:cubicBezTo>
                  <a:pt x="477" y="502"/>
                  <a:pt x="469" y="494"/>
                  <a:pt x="469" y="484"/>
                </a:cubicBezTo>
                <a:lnTo>
                  <a:pt x="469" y="430"/>
                </a:lnTo>
                <a:lnTo>
                  <a:pt x="344" y="430"/>
                </a:lnTo>
                <a:lnTo>
                  <a:pt x="428" y="706"/>
                </a:lnTo>
                <a:lnTo>
                  <a:pt x="519" y="706"/>
                </a:lnTo>
                <a:cubicBezTo>
                  <a:pt x="532" y="706"/>
                  <a:pt x="542" y="717"/>
                  <a:pt x="542" y="730"/>
                </a:cubicBezTo>
                <a:cubicBezTo>
                  <a:pt x="542" y="743"/>
                  <a:pt x="532" y="753"/>
                  <a:pt x="519" y="753"/>
                </a:cubicBezTo>
                <a:lnTo>
                  <a:pt x="23" y="753"/>
                </a:lnTo>
                <a:cubicBezTo>
                  <a:pt x="10" y="753"/>
                  <a:pt x="0" y="743"/>
                  <a:pt x="0" y="730"/>
                </a:cubicBezTo>
                <a:cubicBezTo>
                  <a:pt x="0" y="717"/>
                  <a:pt x="10" y="706"/>
                  <a:pt x="23" y="706"/>
                </a:cubicBezTo>
                <a:lnTo>
                  <a:pt x="114" y="706"/>
                </a:lnTo>
                <a:lnTo>
                  <a:pt x="198" y="430"/>
                </a:lnTo>
                <a:lnTo>
                  <a:pt x="73" y="430"/>
                </a:lnTo>
                <a:lnTo>
                  <a:pt x="73" y="484"/>
                </a:lnTo>
                <a:cubicBezTo>
                  <a:pt x="73" y="494"/>
                  <a:pt x="65" y="502"/>
                  <a:pt x="56" y="502"/>
                </a:cubicBezTo>
                <a:cubicBezTo>
                  <a:pt x="46" y="502"/>
                  <a:pt x="38" y="494"/>
                  <a:pt x="38" y="484"/>
                </a:cubicBezTo>
                <a:lnTo>
                  <a:pt x="38" y="412"/>
                </a:lnTo>
                <a:close/>
                <a:moveTo>
                  <a:pt x="204" y="160"/>
                </a:moveTo>
                <a:lnTo>
                  <a:pt x="144" y="195"/>
                </a:lnTo>
                <a:lnTo>
                  <a:pt x="204" y="195"/>
                </a:lnTo>
                <a:lnTo>
                  <a:pt x="204" y="160"/>
                </a:lnTo>
                <a:close/>
                <a:moveTo>
                  <a:pt x="399" y="195"/>
                </a:moveTo>
                <a:lnTo>
                  <a:pt x="338" y="160"/>
                </a:lnTo>
                <a:lnTo>
                  <a:pt x="338" y="195"/>
                </a:lnTo>
                <a:lnTo>
                  <a:pt x="399" y="195"/>
                </a:lnTo>
                <a:close/>
                <a:moveTo>
                  <a:pt x="291" y="109"/>
                </a:moveTo>
                <a:lnTo>
                  <a:pt x="271" y="35"/>
                </a:lnTo>
                <a:lnTo>
                  <a:pt x="251" y="109"/>
                </a:lnTo>
                <a:lnTo>
                  <a:pt x="291" y="109"/>
                </a:lnTo>
                <a:close/>
                <a:moveTo>
                  <a:pt x="251" y="231"/>
                </a:moveTo>
                <a:lnTo>
                  <a:pt x="251" y="296"/>
                </a:lnTo>
                <a:lnTo>
                  <a:pt x="291" y="296"/>
                </a:lnTo>
                <a:lnTo>
                  <a:pt x="291" y="231"/>
                </a:lnTo>
                <a:lnTo>
                  <a:pt x="251" y="231"/>
                </a:lnTo>
                <a:close/>
                <a:moveTo>
                  <a:pt x="251" y="144"/>
                </a:moveTo>
                <a:lnTo>
                  <a:pt x="251" y="195"/>
                </a:lnTo>
                <a:lnTo>
                  <a:pt x="291" y="195"/>
                </a:lnTo>
                <a:lnTo>
                  <a:pt x="291" y="144"/>
                </a:lnTo>
                <a:lnTo>
                  <a:pt x="251" y="144"/>
                </a:lnTo>
                <a:lnTo>
                  <a:pt x="251" y="144"/>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a:defRPr/>
            </a:pPr>
            <a:endParaRPr lang="fr-FR" sz="1200" dirty="0">
              <a:solidFill>
                <a:prstClr val="black"/>
              </a:solidFill>
              <a:latin typeface="Aptos" panose="020B0004020202020204" pitchFamily="34" charset="0"/>
            </a:endParaRPr>
          </a:p>
        </p:txBody>
      </p:sp>
      <p:sp>
        <p:nvSpPr>
          <p:cNvPr id="438" name="Battery4" descr="{&quot;Key&quot;:&quot;POWER_USER_SHAPE_ICON&quot;,&quot;Value&quot;:&quot;POWER_USER_SHAPE_ICON_STYLE_1&quot;}">
            <a:extLst>
              <a:ext uri="{FF2B5EF4-FFF2-40B4-BE49-F238E27FC236}">
                <a16:creationId xmlns:a16="http://schemas.microsoft.com/office/drawing/2014/main" id="{2E60CFF9-C43E-8A9E-497D-74327BDD903D}"/>
              </a:ext>
            </a:extLst>
          </p:cNvPr>
          <p:cNvSpPr>
            <a:spLocks noChangeAspect="1" noEditPoints="1"/>
          </p:cNvSpPr>
          <p:nvPr>
            <p:custDataLst>
              <p:tags r:id="rId3"/>
            </p:custDataLst>
          </p:nvPr>
        </p:nvSpPr>
        <p:spPr bwMode="auto">
          <a:xfrm>
            <a:off x="3778074" y="4165623"/>
            <a:ext cx="153139" cy="262307"/>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grpSp>
        <p:nvGrpSpPr>
          <p:cNvPr id="439" name="Gruppieren 438">
            <a:extLst>
              <a:ext uri="{FF2B5EF4-FFF2-40B4-BE49-F238E27FC236}">
                <a16:creationId xmlns:a16="http://schemas.microsoft.com/office/drawing/2014/main" id="{49723105-7790-5C56-6C89-10D726F5C919}"/>
              </a:ext>
            </a:extLst>
          </p:cNvPr>
          <p:cNvGrpSpPr/>
          <p:nvPr/>
        </p:nvGrpSpPr>
        <p:grpSpPr>
          <a:xfrm>
            <a:off x="4757427" y="3497437"/>
            <a:ext cx="5209197" cy="336038"/>
            <a:chOff x="3757853" y="3521924"/>
            <a:chExt cx="7146658" cy="461020"/>
          </a:xfrm>
          <a:solidFill>
            <a:srgbClr val="5FB564"/>
          </a:solidFill>
        </p:grpSpPr>
        <p:sp>
          <p:nvSpPr>
            <p:cNvPr id="440" name="Pfeil: gebogen 439">
              <a:extLst>
                <a:ext uri="{FF2B5EF4-FFF2-40B4-BE49-F238E27FC236}">
                  <a16:creationId xmlns:a16="http://schemas.microsoft.com/office/drawing/2014/main" id="{E82ABC6E-77C1-A7F5-0025-9818474E1B7B}"/>
                </a:ext>
              </a:extLst>
            </p:cNvPr>
            <p:cNvSpPr/>
            <p:nvPr/>
          </p:nvSpPr>
          <p:spPr>
            <a:xfrm rot="5400000" flipH="1">
              <a:off x="3773393" y="3506384"/>
              <a:ext cx="461015"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1" name="Pfeil: gebogen 440">
              <a:extLst>
                <a:ext uri="{FF2B5EF4-FFF2-40B4-BE49-F238E27FC236}">
                  <a16:creationId xmlns:a16="http://schemas.microsoft.com/office/drawing/2014/main" id="{A38DD7FD-C24D-00FE-1781-67B3490F6B22}"/>
                </a:ext>
              </a:extLst>
            </p:cNvPr>
            <p:cNvSpPr/>
            <p:nvPr/>
          </p:nvSpPr>
          <p:spPr>
            <a:xfrm rot="5400000" flipH="1">
              <a:off x="5104304" y="3506385"/>
              <a:ext cx="461015"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2" name="Pfeil: gebogen 441">
              <a:extLst>
                <a:ext uri="{FF2B5EF4-FFF2-40B4-BE49-F238E27FC236}">
                  <a16:creationId xmlns:a16="http://schemas.microsoft.com/office/drawing/2014/main" id="{B625F50E-77AF-EB14-04C7-EA076206FDB0}"/>
                </a:ext>
              </a:extLst>
            </p:cNvPr>
            <p:cNvSpPr/>
            <p:nvPr/>
          </p:nvSpPr>
          <p:spPr>
            <a:xfrm rot="5400000" flipH="1">
              <a:off x="6435215" y="3506387"/>
              <a:ext cx="461016"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3" name="Pfeil: gebogen 442">
              <a:extLst>
                <a:ext uri="{FF2B5EF4-FFF2-40B4-BE49-F238E27FC236}">
                  <a16:creationId xmlns:a16="http://schemas.microsoft.com/office/drawing/2014/main" id="{29AA7AB8-56D3-E1E9-5F27-3305ACF791A5}"/>
                </a:ext>
              </a:extLst>
            </p:cNvPr>
            <p:cNvSpPr/>
            <p:nvPr/>
          </p:nvSpPr>
          <p:spPr>
            <a:xfrm rot="5400000" flipH="1">
              <a:off x="7766125" y="3506387"/>
              <a:ext cx="461016"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4" name="Pfeil: gebogen 443">
              <a:extLst>
                <a:ext uri="{FF2B5EF4-FFF2-40B4-BE49-F238E27FC236}">
                  <a16:creationId xmlns:a16="http://schemas.microsoft.com/office/drawing/2014/main" id="{9672A510-7CC6-2952-1809-9C10F133932F}"/>
                </a:ext>
              </a:extLst>
            </p:cNvPr>
            <p:cNvSpPr/>
            <p:nvPr/>
          </p:nvSpPr>
          <p:spPr>
            <a:xfrm rot="5400000" flipH="1">
              <a:off x="9097042" y="3506384"/>
              <a:ext cx="461016"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45" name="Pfeil: gebogen 444">
              <a:extLst>
                <a:ext uri="{FF2B5EF4-FFF2-40B4-BE49-F238E27FC236}">
                  <a16:creationId xmlns:a16="http://schemas.microsoft.com/office/drawing/2014/main" id="{EE8E8197-9709-ABF8-6E33-4D559BF0BDCB}"/>
                </a:ext>
              </a:extLst>
            </p:cNvPr>
            <p:cNvSpPr/>
            <p:nvPr/>
          </p:nvSpPr>
          <p:spPr>
            <a:xfrm rot="5400000" flipH="1">
              <a:off x="10427955" y="3506388"/>
              <a:ext cx="461016" cy="492096"/>
            </a:xfrm>
            <a:prstGeom prst="bentArrow">
              <a:avLst>
                <a:gd name="adj1" fmla="val 30165"/>
                <a:gd name="adj2" fmla="val 25000"/>
                <a:gd name="adj3" fmla="val 25000"/>
                <a:gd name="adj4" fmla="val 64755"/>
              </a:avLst>
            </a:prstGeom>
            <a:grp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cxnSp>
        <p:nvCxnSpPr>
          <p:cNvPr id="446" name="Gerade Verbindung mit Pfeil 445">
            <a:extLst>
              <a:ext uri="{FF2B5EF4-FFF2-40B4-BE49-F238E27FC236}">
                <a16:creationId xmlns:a16="http://schemas.microsoft.com/office/drawing/2014/main" id="{0C00CBC4-807E-22FB-6A07-85C0A5854E3E}"/>
              </a:ext>
            </a:extLst>
          </p:cNvPr>
          <p:cNvCxnSpPr>
            <a:cxnSpLocks/>
          </p:cNvCxnSpPr>
          <p:nvPr/>
        </p:nvCxnSpPr>
        <p:spPr>
          <a:xfrm>
            <a:off x="7223121" y="6239840"/>
            <a:ext cx="328683" cy="0"/>
          </a:xfrm>
          <a:prstGeom prst="straightConnector1">
            <a:avLst/>
          </a:prstGeom>
          <a:noFill/>
          <a:ln w="28575" cap="flat" cmpd="sng" algn="ctr">
            <a:solidFill>
              <a:schemeClr val="bg1">
                <a:lumMod val="85000"/>
              </a:schemeClr>
            </a:solidFill>
            <a:prstDash val="sysDot"/>
            <a:miter lim="800000"/>
            <a:tailEnd type="triangle"/>
          </a:ln>
          <a:effectLst/>
        </p:spPr>
      </p:cxnSp>
      <p:grpSp>
        <p:nvGrpSpPr>
          <p:cNvPr id="447" name="Gruppieren 446">
            <a:extLst>
              <a:ext uri="{FF2B5EF4-FFF2-40B4-BE49-F238E27FC236}">
                <a16:creationId xmlns:a16="http://schemas.microsoft.com/office/drawing/2014/main" id="{E63B5F65-CAB9-5851-61EB-1AF2E9C5721D}"/>
              </a:ext>
            </a:extLst>
          </p:cNvPr>
          <p:cNvGrpSpPr/>
          <p:nvPr/>
        </p:nvGrpSpPr>
        <p:grpSpPr>
          <a:xfrm>
            <a:off x="4784620" y="4059244"/>
            <a:ext cx="2298895" cy="336037"/>
            <a:chOff x="3757852" y="3521927"/>
            <a:chExt cx="3153924" cy="461019"/>
          </a:xfrm>
          <a:solidFill>
            <a:srgbClr val="BCCF00"/>
          </a:solidFill>
        </p:grpSpPr>
        <p:sp>
          <p:nvSpPr>
            <p:cNvPr id="448" name="Pfeil: gebogen 447">
              <a:extLst>
                <a:ext uri="{FF2B5EF4-FFF2-40B4-BE49-F238E27FC236}">
                  <a16:creationId xmlns:a16="http://schemas.microsoft.com/office/drawing/2014/main" id="{B32228F2-9782-4209-C843-1260D12DF096}"/>
                </a:ext>
              </a:extLst>
            </p:cNvPr>
            <p:cNvSpPr/>
            <p:nvPr/>
          </p:nvSpPr>
          <p:spPr>
            <a:xfrm rot="5400000" flipH="1">
              <a:off x="3773392" y="3506387"/>
              <a:ext cx="461016" cy="492096"/>
            </a:xfrm>
            <a:prstGeom prst="bentArrow">
              <a:avLst>
                <a:gd name="adj1" fmla="val 30165"/>
                <a:gd name="adj2" fmla="val 25000"/>
                <a:gd name="adj3" fmla="val 25000"/>
                <a:gd name="adj4" fmla="val 64755"/>
              </a:avLst>
            </a:prstGeom>
            <a:grp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sp>
          <p:nvSpPr>
            <p:cNvPr id="449" name="Pfeil: gebogen 448">
              <a:extLst>
                <a:ext uri="{FF2B5EF4-FFF2-40B4-BE49-F238E27FC236}">
                  <a16:creationId xmlns:a16="http://schemas.microsoft.com/office/drawing/2014/main" id="{624913E5-E868-1241-6D63-A5DEC1AE78E9}"/>
                </a:ext>
              </a:extLst>
            </p:cNvPr>
            <p:cNvSpPr/>
            <p:nvPr/>
          </p:nvSpPr>
          <p:spPr>
            <a:xfrm rot="5400000" flipH="1">
              <a:off x="5104307" y="3506390"/>
              <a:ext cx="461016" cy="492096"/>
            </a:xfrm>
            <a:prstGeom prst="bentArrow">
              <a:avLst>
                <a:gd name="adj1" fmla="val 30165"/>
                <a:gd name="adj2" fmla="val 25000"/>
                <a:gd name="adj3" fmla="val 25000"/>
                <a:gd name="adj4" fmla="val 64755"/>
              </a:avLst>
            </a:prstGeom>
            <a:grp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sp>
          <p:nvSpPr>
            <p:cNvPr id="450" name="Pfeil: gebogen 449">
              <a:extLst>
                <a:ext uri="{FF2B5EF4-FFF2-40B4-BE49-F238E27FC236}">
                  <a16:creationId xmlns:a16="http://schemas.microsoft.com/office/drawing/2014/main" id="{6EA02DB2-1BBF-9FBF-2C3C-A94B06DF44E8}"/>
                </a:ext>
              </a:extLst>
            </p:cNvPr>
            <p:cNvSpPr/>
            <p:nvPr/>
          </p:nvSpPr>
          <p:spPr>
            <a:xfrm rot="5400000" flipH="1">
              <a:off x="6435220" y="3506388"/>
              <a:ext cx="461016" cy="492096"/>
            </a:xfrm>
            <a:prstGeom prst="bentArrow">
              <a:avLst>
                <a:gd name="adj1" fmla="val 30165"/>
                <a:gd name="adj2" fmla="val 25000"/>
                <a:gd name="adj3" fmla="val 25000"/>
                <a:gd name="adj4" fmla="val 64755"/>
              </a:avLst>
            </a:prstGeom>
            <a:grp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grpSp>
      <p:grpSp>
        <p:nvGrpSpPr>
          <p:cNvPr id="451" name="Gruppieren 450">
            <a:extLst>
              <a:ext uri="{FF2B5EF4-FFF2-40B4-BE49-F238E27FC236}">
                <a16:creationId xmlns:a16="http://schemas.microsoft.com/office/drawing/2014/main" id="{F953C5D1-AE89-AA1C-DE82-9514EB9FAB1C}"/>
              </a:ext>
            </a:extLst>
          </p:cNvPr>
          <p:cNvGrpSpPr/>
          <p:nvPr/>
        </p:nvGrpSpPr>
        <p:grpSpPr>
          <a:xfrm>
            <a:off x="4803764" y="4636184"/>
            <a:ext cx="5209197" cy="336038"/>
            <a:chOff x="3757853" y="3521924"/>
            <a:chExt cx="7146658" cy="461020"/>
          </a:xfrm>
          <a:solidFill>
            <a:srgbClr val="BCCF00">
              <a:lumMod val="60000"/>
              <a:lumOff val="40000"/>
            </a:srgbClr>
          </a:solidFill>
        </p:grpSpPr>
        <p:sp>
          <p:nvSpPr>
            <p:cNvPr id="452" name="Pfeil: gebogen 451">
              <a:extLst>
                <a:ext uri="{FF2B5EF4-FFF2-40B4-BE49-F238E27FC236}">
                  <a16:creationId xmlns:a16="http://schemas.microsoft.com/office/drawing/2014/main" id="{FB2A74EC-B8A3-6173-E1E4-09E1D787CCBD}"/>
                </a:ext>
              </a:extLst>
            </p:cNvPr>
            <p:cNvSpPr/>
            <p:nvPr/>
          </p:nvSpPr>
          <p:spPr>
            <a:xfrm rot="5400000" flipH="1">
              <a:off x="3773393" y="3506384"/>
              <a:ext cx="461015"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3" name="Pfeil: gebogen 452">
              <a:extLst>
                <a:ext uri="{FF2B5EF4-FFF2-40B4-BE49-F238E27FC236}">
                  <a16:creationId xmlns:a16="http://schemas.microsoft.com/office/drawing/2014/main" id="{FFE10545-0A7B-2DD8-FCE9-DE327B5FF315}"/>
                </a:ext>
              </a:extLst>
            </p:cNvPr>
            <p:cNvSpPr/>
            <p:nvPr/>
          </p:nvSpPr>
          <p:spPr>
            <a:xfrm rot="5400000" flipH="1">
              <a:off x="5104304" y="3506385"/>
              <a:ext cx="461015"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4" name="Pfeil: gebogen 453">
              <a:extLst>
                <a:ext uri="{FF2B5EF4-FFF2-40B4-BE49-F238E27FC236}">
                  <a16:creationId xmlns:a16="http://schemas.microsoft.com/office/drawing/2014/main" id="{90A5DD44-69ED-E4EB-5ED7-F62C43F9EA4D}"/>
                </a:ext>
              </a:extLst>
            </p:cNvPr>
            <p:cNvSpPr/>
            <p:nvPr/>
          </p:nvSpPr>
          <p:spPr>
            <a:xfrm rot="5400000" flipH="1">
              <a:off x="6435215" y="3506387"/>
              <a:ext cx="461016"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5" name="Pfeil: gebogen 454">
              <a:extLst>
                <a:ext uri="{FF2B5EF4-FFF2-40B4-BE49-F238E27FC236}">
                  <a16:creationId xmlns:a16="http://schemas.microsoft.com/office/drawing/2014/main" id="{36DC7D3D-187F-46E5-3513-F47BE365F8FD}"/>
                </a:ext>
              </a:extLst>
            </p:cNvPr>
            <p:cNvSpPr/>
            <p:nvPr/>
          </p:nvSpPr>
          <p:spPr>
            <a:xfrm rot="5400000" flipH="1">
              <a:off x="7766125" y="3506387"/>
              <a:ext cx="461016"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6" name="Pfeil: gebogen 455">
              <a:extLst>
                <a:ext uri="{FF2B5EF4-FFF2-40B4-BE49-F238E27FC236}">
                  <a16:creationId xmlns:a16="http://schemas.microsoft.com/office/drawing/2014/main" id="{C19EAAA4-5AC9-6155-8BF8-CA174E1E6C40}"/>
                </a:ext>
              </a:extLst>
            </p:cNvPr>
            <p:cNvSpPr/>
            <p:nvPr/>
          </p:nvSpPr>
          <p:spPr>
            <a:xfrm rot="5400000" flipH="1">
              <a:off x="9097042" y="3506384"/>
              <a:ext cx="461016"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57" name="Pfeil: gebogen 456">
              <a:extLst>
                <a:ext uri="{FF2B5EF4-FFF2-40B4-BE49-F238E27FC236}">
                  <a16:creationId xmlns:a16="http://schemas.microsoft.com/office/drawing/2014/main" id="{6AB4B302-9FB0-0ABF-0AE6-C837D37A2728}"/>
                </a:ext>
              </a:extLst>
            </p:cNvPr>
            <p:cNvSpPr/>
            <p:nvPr/>
          </p:nvSpPr>
          <p:spPr>
            <a:xfrm rot="5400000" flipH="1">
              <a:off x="10427955" y="3506388"/>
              <a:ext cx="461016" cy="492096"/>
            </a:xfrm>
            <a:prstGeom prst="bentArrow">
              <a:avLst>
                <a:gd name="adj1" fmla="val 30165"/>
                <a:gd name="adj2" fmla="val 25000"/>
                <a:gd name="adj3" fmla="val 25000"/>
                <a:gd name="adj4" fmla="val 64755"/>
              </a:avLst>
            </a:prstGeom>
            <a:grpFill/>
            <a:ln w="12700" cap="flat" cmpd="sng" algn="ctr">
              <a:solidFill>
                <a:srgbClr val="BCCF00"/>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grpSp>
      <p:grpSp>
        <p:nvGrpSpPr>
          <p:cNvPr id="458" name="Gruppieren 457">
            <a:extLst>
              <a:ext uri="{FF2B5EF4-FFF2-40B4-BE49-F238E27FC236}">
                <a16:creationId xmlns:a16="http://schemas.microsoft.com/office/drawing/2014/main" id="{B292F144-745B-EE82-1D68-B5ACE3C98608}"/>
              </a:ext>
            </a:extLst>
          </p:cNvPr>
          <p:cNvGrpSpPr/>
          <p:nvPr/>
        </p:nvGrpSpPr>
        <p:grpSpPr>
          <a:xfrm>
            <a:off x="4775809" y="5952872"/>
            <a:ext cx="2298895" cy="336037"/>
            <a:chOff x="3757852" y="3521927"/>
            <a:chExt cx="3153924" cy="461019"/>
          </a:xfrm>
          <a:solidFill>
            <a:srgbClr val="950F53"/>
          </a:solidFill>
        </p:grpSpPr>
        <p:sp>
          <p:nvSpPr>
            <p:cNvPr id="459" name="Pfeil: gebogen 458">
              <a:extLst>
                <a:ext uri="{FF2B5EF4-FFF2-40B4-BE49-F238E27FC236}">
                  <a16:creationId xmlns:a16="http://schemas.microsoft.com/office/drawing/2014/main" id="{C14A01B7-28C0-B9BA-79D7-7B321A14CA53}"/>
                </a:ext>
              </a:extLst>
            </p:cNvPr>
            <p:cNvSpPr/>
            <p:nvPr/>
          </p:nvSpPr>
          <p:spPr>
            <a:xfrm rot="5400000" flipH="1">
              <a:off x="3773392" y="3506387"/>
              <a:ext cx="461016" cy="492096"/>
            </a:xfrm>
            <a:prstGeom prst="bentArrow">
              <a:avLst>
                <a:gd name="adj1" fmla="val 30165"/>
                <a:gd name="adj2" fmla="val 25000"/>
                <a:gd name="adj3" fmla="val 25000"/>
                <a:gd name="adj4" fmla="val 64755"/>
              </a:avLst>
            </a:prstGeom>
            <a:grpFill/>
            <a:ln w="12700" cap="flat" cmpd="sng" algn="ctr">
              <a:solidFill>
                <a:srgbClr val="950F53">
                  <a:lumMod val="75000"/>
                </a:srgbClr>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60" name="Pfeil: gebogen 459">
              <a:extLst>
                <a:ext uri="{FF2B5EF4-FFF2-40B4-BE49-F238E27FC236}">
                  <a16:creationId xmlns:a16="http://schemas.microsoft.com/office/drawing/2014/main" id="{0DE9D2D5-382F-514D-34A0-D9AB50836C8A}"/>
                </a:ext>
              </a:extLst>
            </p:cNvPr>
            <p:cNvSpPr/>
            <p:nvPr/>
          </p:nvSpPr>
          <p:spPr>
            <a:xfrm rot="5400000" flipH="1">
              <a:off x="5104307" y="3506390"/>
              <a:ext cx="461016" cy="492096"/>
            </a:xfrm>
            <a:prstGeom prst="bentArrow">
              <a:avLst>
                <a:gd name="adj1" fmla="val 30165"/>
                <a:gd name="adj2" fmla="val 25000"/>
                <a:gd name="adj3" fmla="val 25000"/>
                <a:gd name="adj4" fmla="val 64755"/>
              </a:avLst>
            </a:prstGeom>
            <a:grpFill/>
            <a:ln w="12700" cap="flat" cmpd="sng" algn="ctr">
              <a:solidFill>
                <a:srgbClr val="950F53">
                  <a:lumMod val="75000"/>
                </a:srgbClr>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sp>
          <p:nvSpPr>
            <p:cNvPr id="461" name="Pfeil: gebogen 460">
              <a:extLst>
                <a:ext uri="{FF2B5EF4-FFF2-40B4-BE49-F238E27FC236}">
                  <a16:creationId xmlns:a16="http://schemas.microsoft.com/office/drawing/2014/main" id="{9FE99E38-1995-FC04-0CA6-B3F4320F321F}"/>
                </a:ext>
              </a:extLst>
            </p:cNvPr>
            <p:cNvSpPr/>
            <p:nvPr/>
          </p:nvSpPr>
          <p:spPr>
            <a:xfrm rot="5400000" flipH="1">
              <a:off x="6435220" y="3506388"/>
              <a:ext cx="461016" cy="492096"/>
            </a:xfrm>
            <a:prstGeom prst="bentArrow">
              <a:avLst>
                <a:gd name="adj1" fmla="val 30165"/>
                <a:gd name="adj2" fmla="val 25000"/>
                <a:gd name="adj3" fmla="val 25000"/>
                <a:gd name="adj4" fmla="val 64755"/>
              </a:avLst>
            </a:prstGeom>
            <a:grpFill/>
            <a:ln w="12700" cap="flat" cmpd="sng" algn="ctr">
              <a:solidFill>
                <a:srgbClr val="950F53">
                  <a:lumMod val="75000"/>
                </a:srgbClr>
              </a:solidFill>
              <a:prstDash val="solid"/>
              <a:miter lim="800000"/>
            </a:ln>
            <a:effectLst/>
          </p:spPr>
          <p:txBody>
            <a:bodyPr rtlCol="0" anchor="ctr"/>
            <a:lstStyle/>
            <a:p>
              <a:pPr algn="ctr" defTabSz="914339">
                <a:defRPr/>
              </a:pPr>
              <a:endParaRPr lang="de-AT" sz="2000" kern="0" dirty="0">
                <a:solidFill>
                  <a:prstClr val="white"/>
                </a:solidFill>
                <a:latin typeface="Aptos" panose="020B0004020202020204" pitchFamily="34" charset="0"/>
              </a:endParaRPr>
            </a:p>
          </p:txBody>
        </p:sp>
      </p:grpSp>
      <p:cxnSp>
        <p:nvCxnSpPr>
          <p:cNvPr id="462" name="Gerade Verbindung mit Pfeil 461">
            <a:extLst>
              <a:ext uri="{FF2B5EF4-FFF2-40B4-BE49-F238E27FC236}">
                <a16:creationId xmlns:a16="http://schemas.microsoft.com/office/drawing/2014/main" id="{A2573807-EB73-FDE4-B19F-04A4075B16A7}"/>
              </a:ext>
            </a:extLst>
          </p:cNvPr>
          <p:cNvCxnSpPr>
            <a:cxnSpLocks/>
          </p:cNvCxnSpPr>
          <p:nvPr/>
        </p:nvCxnSpPr>
        <p:spPr>
          <a:xfrm>
            <a:off x="5048404" y="4317538"/>
            <a:ext cx="732870" cy="478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3" name="Gerade Verbindung mit Pfeil 462">
            <a:extLst>
              <a:ext uri="{FF2B5EF4-FFF2-40B4-BE49-F238E27FC236}">
                <a16:creationId xmlns:a16="http://schemas.microsoft.com/office/drawing/2014/main" id="{B064BD3A-70EE-C5B6-981E-394E6ECBCBEB}"/>
              </a:ext>
            </a:extLst>
          </p:cNvPr>
          <p:cNvCxnSpPr>
            <a:cxnSpLocks/>
          </p:cNvCxnSpPr>
          <p:nvPr/>
        </p:nvCxnSpPr>
        <p:spPr>
          <a:xfrm>
            <a:off x="6036218" y="4334043"/>
            <a:ext cx="688605" cy="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4" name="Gerade Verbindung mit Pfeil 463">
            <a:extLst>
              <a:ext uri="{FF2B5EF4-FFF2-40B4-BE49-F238E27FC236}">
                <a16:creationId xmlns:a16="http://schemas.microsoft.com/office/drawing/2014/main" id="{0B2E904A-A271-EDF8-9D59-AD0E451418E4}"/>
              </a:ext>
            </a:extLst>
          </p:cNvPr>
          <p:cNvCxnSpPr>
            <a:cxnSpLocks/>
          </p:cNvCxnSpPr>
          <p:nvPr/>
        </p:nvCxnSpPr>
        <p:spPr>
          <a:xfrm>
            <a:off x="5102316" y="4897899"/>
            <a:ext cx="732870" cy="478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5" name="Gerade Verbindung mit Pfeil 464">
            <a:extLst>
              <a:ext uri="{FF2B5EF4-FFF2-40B4-BE49-F238E27FC236}">
                <a16:creationId xmlns:a16="http://schemas.microsoft.com/office/drawing/2014/main" id="{F6C1E0D1-44F1-0575-DA4A-8A608B7801DB}"/>
              </a:ext>
            </a:extLst>
          </p:cNvPr>
          <p:cNvCxnSpPr>
            <a:cxnSpLocks/>
          </p:cNvCxnSpPr>
          <p:nvPr/>
        </p:nvCxnSpPr>
        <p:spPr>
          <a:xfrm>
            <a:off x="6090130" y="4914403"/>
            <a:ext cx="688605" cy="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6" name="Gerade Verbindung mit Pfeil 465">
            <a:extLst>
              <a:ext uri="{FF2B5EF4-FFF2-40B4-BE49-F238E27FC236}">
                <a16:creationId xmlns:a16="http://schemas.microsoft.com/office/drawing/2014/main" id="{BF0EC136-EFCE-82C5-C24B-8384BFED6040}"/>
              </a:ext>
            </a:extLst>
          </p:cNvPr>
          <p:cNvCxnSpPr>
            <a:cxnSpLocks/>
          </p:cNvCxnSpPr>
          <p:nvPr/>
        </p:nvCxnSpPr>
        <p:spPr>
          <a:xfrm>
            <a:off x="5055171" y="6230062"/>
            <a:ext cx="732870" cy="478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7" name="Gerade Verbindung mit Pfeil 466">
            <a:extLst>
              <a:ext uri="{FF2B5EF4-FFF2-40B4-BE49-F238E27FC236}">
                <a16:creationId xmlns:a16="http://schemas.microsoft.com/office/drawing/2014/main" id="{84F9204D-370E-9FF2-4D6D-D273F0F554DD}"/>
              </a:ext>
            </a:extLst>
          </p:cNvPr>
          <p:cNvCxnSpPr>
            <a:cxnSpLocks/>
          </p:cNvCxnSpPr>
          <p:nvPr/>
        </p:nvCxnSpPr>
        <p:spPr>
          <a:xfrm>
            <a:off x="6042985" y="6246566"/>
            <a:ext cx="688605" cy="0"/>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8" name="Gerade Verbindung mit Pfeil 467">
            <a:extLst>
              <a:ext uri="{FF2B5EF4-FFF2-40B4-BE49-F238E27FC236}">
                <a16:creationId xmlns:a16="http://schemas.microsoft.com/office/drawing/2014/main" id="{B3AE790A-2B54-F0E8-5014-C144B6056D77}"/>
              </a:ext>
            </a:extLst>
          </p:cNvPr>
          <p:cNvCxnSpPr>
            <a:cxnSpLocks/>
          </p:cNvCxnSpPr>
          <p:nvPr/>
        </p:nvCxnSpPr>
        <p:spPr>
          <a:xfrm>
            <a:off x="7040730" y="4901318"/>
            <a:ext cx="685930" cy="10925"/>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69" name="Gerade Verbindung mit Pfeil 468">
            <a:extLst>
              <a:ext uri="{FF2B5EF4-FFF2-40B4-BE49-F238E27FC236}">
                <a16:creationId xmlns:a16="http://schemas.microsoft.com/office/drawing/2014/main" id="{93B7917A-2256-6DDA-A177-D8848CAB4760}"/>
              </a:ext>
            </a:extLst>
          </p:cNvPr>
          <p:cNvCxnSpPr>
            <a:cxnSpLocks/>
          </p:cNvCxnSpPr>
          <p:nvPr/>
        </p:nvCxnSpPr>
        <p:spPr>
          <a:xfrm>
            <a:off x="7987040" y="4912244"/>
            <a:ext cx="698214" cy="827"/>
          </a:xfrm>
          <a:prstGeom prst="straightConnector1">
            <a:avLst/>
          </a:prstGeom>
          <a:noFill/>
          <a:ln w="28575" cap="flat" cmpd="sng" algn="ctr">
            <a:solidFill>
              <a:schemeClr val="bg1">
                <a:lumMod val="85000"/>
              </a:schemeClr>
            </a:solidFill>
            <a:prstDash val="sysDot"/>
            <a:miter lim="800000"/>
            <a:tailEnd type="triangle"/>
          </a:ln>
          <a:effectLst/>
        </p:spPr>
      </p:cxnSp>
      <p:cxnSp>
        <p:nvCxnSpPr>
          <p:cNvPr id="470" name="Gerade Verbindung mit Pfeil 469">
            <a:extLst>
              <a:ext uri="{FF2B5EF4-FFF2-40B4-BE49-F238E27FC236}">
                <a16:creationId xmlns:a16="http://schemas.microsoft.com/office/drawing/2014/main" id="{E38ADB12-A47C-199D-04CA-D9E806DCFFF9}"/>
              </a:ext>
            </a:extLst>
          </p:cNvPr>
          <p:cNvCxnSpPr>
            <a:cxnSpLocks/>
          </p:cNvCxnSpPr>
          <p:nvPr/>
        </p:nvCxnSpPr>
        <p:spPr>
          <a:xfrm flipV="1">
            <a:off x="8936601" y="4896808"/>
            <a:ext cx="748395" cy="5870"/>
          </a:xfrm>
          <a:prstGeom prst="straightConnector1">
            <a:avLst/>
          </a:prstGeom>
          <a:noFill/>
          <a:ln w="28575" cap="flat" cmpd="sng" algn="ctr">
            <a:solidFill>
              <a:schemeClr val="bg1">
                <a:lumMod val="85000"/>
              </a:schemeClr>
            </a:solidFill>
            <a:prstDash val="sysDot"/>
            <a:miter lim="800000"/>
            <a:tailEnd type="triangle"/>
          </a:ln>
          <a:effectLst/>
        </p:spPr>
      </p:cxnSp>
      <p:sp>
        <p:nvSpPr>
          <p:cNvPr id="471" name="Ellipse 470">
            <a:extLst>
              <a:ext uri="{FF2B5EF4-FFF2-40B4-BE49-F238E27FC236}">
                <a16:creationId xmlns:a16="http://schemas.microsoft.com/office/drawing/2014/main" id="{5B95B3DB-D644-61E5-2C95-04633B1C863E}"/>
              </a:ext>
            </a:extLst>
          </p:cNvPr>
          <p:cNvSpPr/>
          <p:nvPr/>
        </p:nvSpPr>
        <p:spPr>
          <a:xfrm>
            <a:off x="3691199" y="5896316"/>
            <a:ext cx="419893" cy="419893"/>
          </a:xfrm>
          <a:prstGeom prst="ellipse">
            <a:avLst/>
          </a:prstGeom>
          <a:solidFill>
            <a:srgbClr val="950F53"/>
          </a:solidFill>
          <a:ln w="12700" cap="flat" cmpd="sng" algn="ctr">
            <a:solidFill>
              <a:srgbClr val="950F53">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73" name="Textfeld 472">
            <a:extLst>
              <a:ext uri="{FF2B5EF4-FFF2-40B4-BE49-F238E27FC236}">
                <a16:creationId xmlns:a16="http://schemas.microsoft.com/office/drawing/2014/main" id="{409B45AB-CFCA-EC41-84B6-5809A68F6F0B}"/>
              </a:ext>
            </a:extLst>
          </p:cNvPr>
          <p:cNvSpPr txBox="1"/>
          <p:nvPr/>
        </p:nvSpPr>
        <p:spPr>
          <a:xfrm>
            <a:off x="2664765" y="5994677"/>
            <a:ext cx="914032" cy="230832"/>
          </a:xfrm>
          <a:prstGeom prst="rect">
            <a:avLst/>
          </a:prstGeom>
          <a:noFill/>
        </p:spPr>
        <p:txBody>
          <a:bodyPr wrap="none" rtlCol="0">
            <a:spAutoFit/>
          </a:bodyPr>
          <a:lstStyle/>
          <a:p>
            <a:pPr algn="r">
              <a:defRPr/>
            </a:pPr>
            <a:r>
              <a:rPr lang="en-GB" sz="900" dirty="0">
                <a:solidFill>
                  <a:prstClr val="black"/>
                </a:solidFill>
                <a:latin typeface="Aptos" panose="020B0004020202020204" pitchFamily="34" charset="0"/>
              </a:rPr>
              <a:t>Electricity Grid</a:t>
            </a:r>
            <a:endParaRPr lang="de-AT" sz="900" dirty="0">
              <a:solidFill>
                <a:prstClr val="black"/>
              </a:solidFill>
              <a:latin typeface="Aptos" panose="020B0004020202020204" pitchFamily="34" charset="0"/>
            </a:endParaRPr>
          </a:p>
        </p:txBody>
      </p:sp>
      <p:sp>
        <p:nvSpPr>
          <p:cNvPr id="474" name="Ellipse 473">
            <a:extLst>
              <a:ext uri="{FF2B5EF4-FFF2-40B4-BE49-F238E27FC236}">
                <a16:creationId xmlns:a16="http://schemas.microsoft.com/office/drawing/2014/main" id="{4B521082-D9E2-1566-7391-A79136063B00}"/>
              </a:ext>
            </a:extLst>
          </p:cNvPr>
          <p:cNvSpPr/>
          <p:nvPr/>
        </p:nvSpPr>
        <p:spPr>
          <a:xfrm>
            <a:off x="3674761" y="4696130"/>
            <a:ext cx="419893" cy="419893"/>
          </a:xfrm>
          <a:prstGeom prst="ellipse">
            <a:avLst/>
          </a:prstGeom>
          <a:solidFill>
            <a:srgbClr val="BCCF00">
              <a:lumMod val="60000"/>
              <a:lumOff val="40000"/>
            </a:srgbClr>
          </a:solidFill>
          <a:ln w="12700" cap="flat" cmpd="sng" algn="ctr">
            <a:solidFill>
              <a:srgbClr val="BCCF00"/>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75" name="Flussdiagramm: Anzeige 9">
            <a:extLst>
              <a:ext uri="{FF2B5EF4-FFF2-40B4-BE49-F238E27FC236}">
                <a16:creationId xmlns:a16="http://schemas.microsoft.com/office/drawing/2014/main" id="{20C49DF8-0E11-940C-DA03-ECA7869335EB}"/>
              </a:ext>
            </a:extLst>
          </p:cNvPr>
          <p:cNvSpPr/>
          <p:nvPr/>
        </p:nvSpPr>
        <p:spPr>
          <a:xfrm rot="5400000">
            <a:off x="3645706" y="4053221"/>
            <a:ext cx="416306" cy="419893"/>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BCCF00"/>
          </a:solid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477" name="Textfeld 476">
            <a:extLst>
              <a:ext uri="{FF2B5EF4-FFF2-40B4-BE49-F238E27FC236}">
                <a16:creationId xmlns:a16="http://schemas.microsoft.com/office/drawing/2014/main" id="{24BFB16B-5E2C-BA0D-4F16-EE31C3A64501}"/>
              </a:ext>
            </a:extLst>
          </p:cNvPr>
          <p:cNvSpPr txBox="1"/>
          <p:nvPr/>
        </p:nvSpPr>
        <p:spPr>
          <a:xfrm>
            <a:off x="3079342" y="4206612"/>
            <a:ext cx="538930" cy="230832"/>
          </a:xfrm>
          <a:prstGeom prst="rect">
            <a:avLst/>
          </a:prstGeom>
          <a:noFill/>
        </p:spPr>
        <p:txBody>
          <a:bodyPr wrap="none" rtlCol="0">
            <a:spAutoFit/>
          </a:bodyPr>
          <a:lstStyle/>
          <a:p>
            <a:pPr algn="r">
              <a:defRPr/>
            </a:pPr>
            <a:r>
              <a:rPr lang="en-GB" sz="900" dirty="0">
                <a:solidFill>
                  <a:prstClr val="black"/>
                </a:solidFill>
                <a:latin typeface="Aptos" panose="020B0004020202020204" pitchFamily="34" charset="0"/>
              </a:rPr>
              <a:t>Battery</a:t>
            </a:r>
            <a:endParaRPr lang="de-AT" sz="900" dirty="0">
              <a:solidFill>
                <a:prstClr val="black"/>
              </a:solidFill>
              <a:latin typeface="Aptos" panose="020B0004020202020204" pitchFamily="34" charset="0"/>
            </a:endParaRPr>
          </a:p>
        </p:txBody>
      </p:sp>
      <p:sp>
        <p:nvSpPr>
          <p:cNvPr id="478" name="Ellipse 477">
            <a:extLst>
              <a:ext uri="{FF2B5EF4-FFF2-40B4-BE49-F238E27FC236}">
                <a16:creationId xmlns:a16="http://schemas.microsoft.com/office/drawing/2014/main" id="{AE703D21-9FF1-CB69-91C3-EA9EA074257C}"/>
              </a:ext>
            </a:extLst>
          </p:cNvPr>
          <p:cNvSpPr/>
          <p:nvPr/>
        </p:nvSpPr>
        <p:spPr>
          <a:xfrm>
            <a:off x="3636971" y="3493128"/>
            <a:ext cx="419893" cy="419893"/>
          </a:xfrm>
          <a:prstGeom prst="ellipse">
            <a:avLst/>
          </a:prstGeom>
          <a:solidFill>
            <a:srgbClr val="5FB564"/>
          </a:solidFill>
          <a:ln w="12700" cap="flat" cmpd="sng" algn="ctr">
            <a:solidFill>
              <a:srgbClr val="5FB564">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80" name="Textfeld 479">
            <a:extLst>
              <a:ext uri="{FF2B5EF4-FFF2-40B4-BE49-F238E27FC236}">
                <a16:creationId xmlns:a16="http://schemas.microsoft.com/office/drawing/2014/main" id="{7FF7DE61-0F9F-D717-683A-B9227461EF80}"/>
              </a:ext>
            </a:extLst>
          </p:cNvPr>
          <p:cNvSpPr txBox="1"/>
          <p:nvPr/>
        </p:nvSpPr>
        <p:spPr>
          <a:xfrm>
            <a:off x="2430126" y="3702100"/>
            <a:ext cx="1188146" cy="230832"/>
          </a:xfrm>
          <a:prstGeom prst="rect">
            <a:avLst/>
          </a:prstGeom>
          <a:noFill/>
        </p:spPr>
        <p:txBody>
          <a:bodyPr wrap="none" rtlCol="0">
            <a:spAutoFit/>
          </a:bodyPr>
          <a:lstStyle/>
          <a:p>
            <a:pPr algn="r">
              <a:defRPr/>
            </a:pPr>
            <a:r>
              <a:rPr lang="en-GB" sz="900" dirty="0">
                <a:solidFill>
                  <a:prstClr val="black"/>
                </a:solidFill>
                <a:latin typeface="Aptos" panose="020B0004020202020204" pitchFamily="34" charset="0"/>
              </a:rPr>
              <a:t>Local PV production</a:t>
            </a:r>
            <a:endParaRPr lang="de-AT" sz="900" dirty="0">
              <a:solidFill>
                <a:prstClr val="black"/>
              </a:solidFill>
              <a:latin typeface="Aptos" panose="020B0004020202020204" pitchFamily="34" charset="0"/>
            </a:endParaRPr>
          </a:p>
        </p:txBody>
      </p:sp>
      <p:sp>
        <p:nvSpPr>
          <p:cNvPr id="481" name="Solar_panel2" descr="{&quot;Key&quot;:&quot;POWER_USER_SHAPE_ICON&quot;,&quot;Value&quot;:&quot;POWER_USER_SHAPE_ICON_STYLE_1&quot;}">
            <a:extLst>
              <a:ext uri="{FF2B5EF4-FFF2-40B4-BE49-F238E27FC236}">
                <a16:creationId xmlns:a16="http://schemas.microsoft.com/office/drawing/2014/main" id="{881B1C76-43AC-EB20-8028-69C8935CDBC6}"/>
              </a:ext>
            </a:extLst>
          </p:cNvPr>
          <p:cNvSpPr>
            <a:spLocks noChangeAspect="1" noEditPoints="1"/>
          </p:cNvSpPr>
          <p:nvPr>
            <p:custDataLst>
              <p:tags r:id="rId4"/>
            </p:custDataLst>
          </p:nvPr>
        </p:nvSpPr>
        <p:spPr bwMode="auto">
          <a:xfrm>
            <a:off x="3710350" y="3565255"/>
            <a:ext cx="273134" cy="259627"/>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5FB564">
              <a:lumMod val="20000"/>
              <a:lumOff val="80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482" name="Flussdiagramm: Anzeige 9">
            <a:extLst>
              <a:ext uri="{FF2B5EF4-FFF2-40B4-BE49-F238E27FC236}">
                <a16:creationId xmlns:a16="http://schemas.microsoft.com/office/drawing/2014/main" id="{D11BAE04-E633-78D9-176A-790EB2EDD6A7}"/>
              </a:ext>
            </a:extLst>
          </p:cNvPr>
          <p:cNvSpPr/>
          <p:nvPr/>
        </p:nvSpPr>
        <p:spPr>
          <a:xfrm rot="5400000">
            <a:off x="9443880" y="2629742"/>
            <a:ext cx="670990" cy="676770"/>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solidFill>
            <a:srgbClr val="BCCF00"/>
          </a:solidFill>
          <a:ln w="12700" cap="flat" cmpd="sng" algn="ctr">
            <a:solidFill>
              <a:srgbClr val="BCCF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grpSp>
        <p:nvGrpSpPr>
          <p:cNvPr id="483" name="Gruppieren 482">
            <a:extLst>
              <a:ext uri="{FF2B5EF4-FFF2-40B4-BE49-F238E27FC236}">
                <a16:creationId xmlns:a16="http://schemas.microsoft.com/office/drawing/2014/main" id="{0B066BBD-179D-DCA1-5824-95AB15F6E963}"/>
              </a:ext>
            </a:extLst>
          </p:cNvPr>
          <p:cNvGrpSpPr/>
          <p:nvPr/>
        </p:nvGrpSpPr>
        <p:grpSpPr>
          <a:xfrm>
            <a:off x="4511854" y="2319125"/>
            <a:ext cx="775219" cy="1011320"/>
            <a:chOff x="3704081" y="1600595"/>
            <a:chExt cx="1063547" cy="1387460"/>
          </a:xfrm>
        </p:grpSpPr>
        <p:grpSp>
          <p:nvGrpSpPr>
            <p:cNvPr id="484" name="Gruppieren 483">
              <a:extLst>
                <a:ext uri="{FF2B5EF4-FFF2-40B4-BE49-F238E27FC236}">
                  <a16:creationId xmlns:a16="http://schemas.microsoft.com/office/drawing/2014/main" id="{AE2EF61B-C726-5E10-0E48-B1DF7CFA96FD}"/>
                </a:ext>
              </a:extLst>
            </p:cNvPr>
            <p:cNvGrpSpPr/>
            <p:nvPr/>
          </p:nvGrpSpPr>
          <p:grpSpPr>
            <a:xfrm>
              <a:off x="3742314" y="2104165"/>
              <a:ext cx="1025314" cy="883890"/>
              <a:chOff x="2451143" y="538602"/>
              <a:chExt cx="1297164" cy="1118244"/>
            </a:xfrm>
          </p:grpSpPr>
          <p:sp>
            <p:nvSpPr>
              <p:cNvPr id="487" name="Sechseck 486">
                <a:extLst>
                  <a:ext uri="{FF2B5EF4-FFF2-40B4-BE49-F238E27FC236}">
                    <a16:creationId xmlns:a16="http://schemas.microsoft.com/office/drawing/2014/main" id="{4FE04109-AE3A-C0BE-8CF7-2D5E4465CBE9}"/>
                  </a:ext>
                </a:extLst>
              </p:cNvPr>
              <p:cNvSpPr/>
              <p:nvPr/>
            </p:nvSpPr>
            <p:spPr>
              <a:xfrm>
                <a:off x="2451143" y="538602"/>
                <a:ext cx="1297164" cy="1118244"/>
              </a:xfrm>
              <a:prstGeom prst="hexagon">
                <a:avLst>
                  <a:gd name="adj" fmla="val 30979"/>
                  <a:gd name="vf" fmla="val 115470"/>
                </a:avLst>
              </a:prstGeom>
              <a:solidFill>
                <a:srgbClr val="950F53">
                  <a:lumMod val="60000"/>
                  <a:lumOff val="40000"/>
                </a:srgbClr>
              </a:solidFill>
              <a:ln w="12700" cap="flat" cmpd="sng" algn="ctr">
                <a:solidFill>
                  <a:srgbClr val="950F53">
                    <a:lumMod val="75000"/>
                  </a:srgbClr>
                </a:solid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488" name="Gruppieren 487" descr="{&quot;Key&quot;:&quot;POWER_USER_SHAPE_ICON&quot;,&quot;Value&quot;:&quot;POWER_USER_SHAPE_ICON_STYLE_2&quot;}">
                <a:extLst>
                  <a:ext uri="{FF2B5EF4-FFF2-40B4-BE49-F238E27FC236}">
                    <a16:creationId xmlns:a16="http://schemas.microsoft.com/office/drawing/2014/main" id="{6D176E40-6449-454A-92FB-4CEF35A04D8F}"/>
                  </a:ext>
                </a:extLst>
              </p:cNvPr>
              <p:cNvGrpSpPr>
                <a:grpSpLocks noChangeAspect="1"/>
              </p:cNvGrpSpPr>
              <p:nvPr/>
            </p:nvGrpSpPr>
            <p:grpSpPr>
              <a:xfrm>
                <a:off x="2579006" y="745618"/>
                <a:ext cx="472397" cy="472397"/>
                <a:chOff x="-151229" y="3030538"/>
                <a:chExt cx="762000" cy="762000"/>
              </a:xfrm>
            </p:grpSpPr>
            <p:sp>
              <p:nvSpPr>
                <p:cNvPr id="498" name="POWER_USER_SHAPE_ICON_STYLE_2">
                  <a:extLst>
                    <a:ext uri="{FF2B5EF4-FFF2-40B4-BE49-F238E27FC236}">
                      <a16:creationId xmlns:a16="http://schemas.microsoft.com/office/drawing/2014/main" id="{84B7797A-D1A3-5851-86A4-33E013B5152B}"/>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499" name="Gruppieren 498">
                  <a:extLst>
                    <a:ext uri="{FF2B5EF4-FFF2-40B4-BE49-F238E27FC236}">
                      <a16:creationId xmlns:a16="http://schemas.microsoft.com/office/drawing/2014/main" id="{2DEA9874-A5A4-B5F2-05C1-00064AE6E602}"/>
                    </a:ext>
                  </a:extLst>
                </p:cNvPr>
                <p:cNvGrpSpPr>
                  <a:grpSpLocks noChangeAspect="1"/>
                </p:cNvGrpSpPr>
                <p:nvPr/>
              </p:nvGrpSpPr>
              <p:grpSpPr>
                <a:xfrm>
                  <a:off x="1" y="3157538"/>
                  <a:ext cx="459541" cy="508000"/>
                  <a:chOff x="0" y="3157538"/>
                  <a:chExt cx="491134" cy="542925"/>
                </a:xfrm>
              </p:grpSpPr>
              <p:sp>
                <p:nvSpPr>
                  <p:cNvPr id="500" name="Crowdsourcing2">
                    <a:extLst>
                      <a:ext uri="{FF2B5EF4-FFF2-40B4-BE49-F238E27FC236}">
                        <a16:creationId xmlns:a16="http://schemas.microsoft.com/office/drawing/2014/main" id="{80D3FCD0-90CB-4482-5237-4DB989C62001}"/>
                      </a:ext>
                    </a:extLst>
                  </p:cNvPr>
                  <p:cNvSpPr>
                    <a:spLocks/>
                  </p:cNvSpPr>
                  <p:nvPr>
                    <p:custDataLst>
                      <p:tags r:id="rId15"/>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1" name="Crowdsourcing2">
                    <a:extLst>
                      <a:ext uri="{FF2B5EF4-FFF2-40B4-BE49-F238E27FC236}">
                        <a16:creationId xmlns:a16="http://schemas.microsoft.com/office/drawing/2014/main" id="{83BA88B0-D71E-08B8-5DDA-9985C42DB543}"/>
                      </a:ext>
                    </a:extLst>
                  </p:cNvPr>
                  <p:cNvSpPr>
                    <a:spLocks/>
                  </p:cNvSpPr>
                  <p:nvPr>
                    <p:custDataLst>
                      <p:tags r:id="rId16"/>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2" name="Crowdsourcing2">
                    <a:extLst>
                      <a:ext uri="{FF2B5EF4-FFF2-40B4-BE49-F238E27FC236}">
                        <a16:creationId xmlns:a16="http://schemas.microsoft.com/office/drawing/2014/main" id="{8F2073CE-EE02-611F-4BEF-A8D22B723579}"/>
                      </a:ext>
                    </a:extLst>
                  </p:cNvPr>
                  <p:cNvSpPr>
                    <a:spLocks/>
                  </p:cNvSpPr>
                  <p:nvPr>
                    <p:custDataLst>
                      <p:tags r:id="rId17"/>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3" name="Crowdsourcing2">
                    <a:extLst>
                      <a:ext uri="{FF2B5EF4-FFF2-40B4-BE49-F238E27FC236}">
                        <a16:creationId xmlns:a16="http://schemas.microsoft.com/office/drawing/2014/main" id="{695CB6B4-059A-9329-9A2D-2BA697C3B241}"/>
                      </a:ext>
                    </a:extLst>
                  </p:cNvPr>
                  <p:cNvSpPr>
                    <a:spLocks/>
                  </p:cNvSpPr>
                  <p:nvPr>
                    <p:custDataLst>
                      <p:tags r:id="rId18"/>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4" name="Crowdsourcing2">
                    <a:extLst>
                      <a:ext uri="{FF2B5EF4-FFF2-40B4-BE49-F238E27FC236}">
                        <a16:creationId xmlns:a16="http://schemas.microsoft.com/office/drawing/2014/main" id="{83B61B97-E25E-D943-ADA5-0B436C67624D}"/>
                      </a:ext>
                    </a:extLst>
                  </p:cNvPr>
                  <p:cNvSpPr>
                    <a:spLocks/>
                  </p:cNvSpPr>
                  <p:nvPr>
                    <p:custDataLst>
                      <p:tags r:id="rId19"/>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5" name="Crowdsourcing2">
                    <a:extLst>
                      <a:ext uri="{FF2B5EF4-FFF2-40B4-BE49-F238E27FC236}">
                        <a16:creationId xmlns:a16="http://schemas.microsoft.com/office/drawing/2014/main" id="{7DA9E069-62D5-9C1D-8076-D2C4A01E87D0}"/>
                      </a:ext>
                    </a:extLst>
                  </p:cNvPr>
                  <p:cNvSpPr>
                    <a:spLocks/>
                  </p:cNvSpPr>
                  <p:nvPr>
                    <p:custDataLst>
                      <p:tags r:id="rId20"/>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6" name="Crowdsourcing2">
                    <a:extLst>
                      <a:ext uri="{FF2B5EF4-FFF2-40B4-BE49-F238E27FC236}">
                        <a16:creationId xmlns:a16="http://schemas.microsoft.com/office/drawing/2014/main" id="{D17B1DAE-B573-3E1A-B994-86F773DB4635}"/>
                      </a:ext>
                    </a:extLst>
                  </p:cNvPr>
                  <p:cNvSpPr>
                    <a:spLocks/>
                  </p:cNvSpPr>
                  <p:nvPr>
                    <p:custDataLst>
                      <p:tags r:id="rId21"/>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07" name="Crowdsourcing2">
                    <a:extLst>
                      <a:ext uri="{FF2B5EF4-FFF2-40B4-BE49-F238E27FC236}">
                        <a16:creationId xmlns:a16="http://schemas.microsoft.com/office/drawing/2014/main" id="{4BE43BA9-FDD2-B30A-F7E9-E291336B7E91}"/>
                      </a:ext>
                    </a:extLst>
                  </p:cNvPr>
                  <p:cNvSpPr>
                    <a:spLocks/>
                  </p:cNvSpPr>
                  <p:nvPr>
                    <p:custDataLst>
                      <p:tags r:id="rId22"/>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grpSp>
          <p:grpSp>
            <p:nvGrpSpPr>
              <p:cNvPr id="489" name="Gruppieren 488" descr="{&quot;Key&quot;:&quot;POWER_USER_SHAPE_ICON&quot;,&quot;Value&quot;:&quot;POWER_USER_SHAPE_ICON_STYLE_2&quot;}">
                <a:extLst>
                  <a:ext uri="{FF2B5EF4-FFF2-40B4-BE49-F238E27FC236}">
                    <a16:creationId xmlns:a16="http://schemas.microsoft.com/office/drawing/2014/main" id="{054C9D67-7244-F94C-076A-45DED5C3349F}"/>
                  </a:ext>
                </a:extLst>
              </p:cNvPr>
              <p:cNvGrpSpPr>
                <a:grpSpLocks noChangeAspect="1"/>
              </p:cNvGrpSpPr>
              <p:nvPr/>
            </p:nvGrpSpPr>
            <p:grpSpPr>
              <a:xfrm>
                <a:off x="2876978" y="1126671"/>
                <a:ext cx="530175" cy="530175"/>
                <a:chOff x="-218067" y="3030540"/>
                <a:chExt cx="762000" cy="762000"/>
              </a:xfrm>
            </p:grpSpPr>
            <p:sp>
              <p:nvSpPr>
                <p:cNvPr id="493" name="POWER_USER_SHAPE_ICON_STYLE_2">
                  <a:extLst>
                    <a:ext uri="{FF2B5EF4-FFF2-40B4-BE49-F238E27FC236}">
                      <a16:creationId xmlns:a16="http://schemas.microsoft.com/office/drawing/2014/main" id="{3717C8A6-E831-4580-2F7D-00C61425F224}"/>
                    </a:ext>
                  </a:extLst>
                </p:cNvPr>
                <p:cNvSpPr/>
                <p:nvPr/>
              </p:nvSpPr>
              <p:spPr>
                <a:xfrm>
                  <a:off x="-218067" y="3030540"/>
                  <a:ext cx="762000" cy="762000"/>
                </a:xfrm>
                <a:prstGeom prst="ellipse">
                  <a:avLst/>
                </a:prstGeom>
                <a:solidFill>
                  <a:srgbClr val="5B9BD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494" name="Gruppieren 493">
                  <a:extLst>
                    <a:ext uri="{FF2B5EF4-FFF2-40B4-BE49-F238E27FC236}">
                      <a16:creationId xmlns:a16="http://schemas.microsoft.com/office/drawing/2014/main" id="{A19CFBA4-761A-B5D6-6620-915320AC7A63}"/>
                    </a:ext>
                  </a:extLst>
                </p:cNvPr>
                <p:cNvGrpSpPr>
                  <a:grpSpLocks noChangeAspect="1"/>
                </p:cNvGrpSpPr>
                <p:nvPr/>
              </p:nvGrpSpPr>
              <p:grpSpPr>
                <a:xfrm>
                  <a:off x="1" y="3157538"/>
                  <a:ext cx="325860" cy="508000"/>
                  <a:chOff x="0" y="3157538"/>
                  <a:chExt cx="348263" cy="542925"/>
                </a:xfrm>
              </p:grpSpPr>
              <p:sp>
                <p:nvSpPr>
                  <p:cNvPr id="495" name="Freeform 10">
                    <a:extLst>
                      <a:ext uri="{FF2B5EF4-FFF2-40B4-BE49-F238E27FC236}">
                        <a16:creationId xmlns:a16="http://schemas.microsoft.com/office/drawing/2014/main" id="{3C63CFC6-1615-4807-4890-2B7588BEFE23}"/>
                      </a:ext>
                    </a:extLst>
                  </p:cNvPr>
                  <p:cNvSpPr>
                    <a:spLocks noEditPoints="1"/>
                  </p:cNvSpPr>
                  <p:nvPr/>
                </p:nvSpPr>
                <p:spPr bwMode="auto">
                  <a:xfrm>
                    <a:off x="80651" y="3560424"/>
                    <a:ext cx="187696" cy="92015"/>
                  </a:xfrm>
                  <a:custGeom>
                    <a:avLst/>
                    <a:gdLst>
                      <a:gd name="T0" fmla="*/ 440 w 440"/>
                      <a:gd name="T1" fmla="*/ 0 h 215"/>
                      <a:gd name="T2" fmla="*/ 392 w 440"/>
                      <a:gd name="T3" fmla="*/ 0 h 215"/>
                      <a:gd name="T4" fmla="*/ 392 w 440"/>
                      <a:gd name="T5" fmla="*/ 182 h 215"/>
                      <a:gd name="T6" fmla="*/ 440 w 440"/>
                      <a:gd name="T7" fmla="*/ 182 h 215"/>
                      <a:gd name="T8" fmla="*/ 440 w 440"/>
                      <a:gd name="T9" fmla="*/ 0 h 215"/>
                      <a:gd name="T10" fmla="*/ 386 w 440"/>
                      <a:gd name="T11" fmla="*/ 0 h 215"/>
                      <a:gd name="T12" fmla="*/ 338 w 440"/>
                      <a:gd name="T13" fmla="*/ 0 h 215"/>
                      <a:gd name="T14" fmla="*/ 338 w 440"/>
                      <a:gd name="T15" fmla="*/ 182 h 215"/>
                      <a:gd name="T16" fmla="*/ 386 w 440"/>
                      <a:gd name="T17" fmla="*/ 182 h 215"/>
                      <a:gd name="T18" fmla="*/ 386 w 440"/>
                      <a:gd name="T19" fmla="*/ 0 h 215"/>
                      <a:gd name="T20" fmla="*/ 271 w 440"/>
                      <a:gd name="T21" fmla="*/ 0 h 215"/>
                      <a:gd name="T22" fmla="*/ 223 w 440"/>
                      <a:gd name="T23" fmla="*/ 0 h 215"/>
                      <a:gd name="T24" fmla="*/ 223 w 440"/>
                      <a:gd name="T25" fmla="*/ 182 h 215"/>
                      <a:gd name="T26" fmla="*/ 271 w 440"/>
                      <a:gd name="T27" fmla="*/ 182 h 215"/>
                      <a:gd name="T28" fmla="*/ 271 w 440"/>
                      <a:gd name="T29" fmla="*/ 0 h 215"/>
                      <a:gd name="T30" fmla="*/ 216 w 440"/>
                      <a:gd name="T31" fmla="*/ 0 h 215"/>
                      <a:gd name="T32" fmla="*/ 169 w 440"/>
                      <a:gd name="T33" fmla="*/ 0 h 215"/>
                      <a:gd name="T34" fmla="*/ 169 w 440"/>
                      <a:gd name="T35" fmla="*/ 182 h 215"/>
                      <a:gd name="T36" fmla="*/ 216 w 440"/>
                      <a:gd name="T37" fmla="*/ 182 h 215"/>
                      <a:gd name="T38" fmla="*/ 216 w 440"/>
                      <a:gd name="T39" fmla="*/ 0 h 215"/>
                      <a:gd name="T40" fmla="*/ 101 w 440"/>
                      <a:gd name="T41" fmla="*/ 0 h 215"/>
                      <a:gd name="T42" fmla="*/ 54 w 440"/>
                      <a:gd name="T43" fmla="*/ 0 h 215"/>
                      <a:gd name="T44" fmla="*/ 54 w 440"/>
                      <a:gd name="T45" fmla="*/ 182 h 215"/>
                      <a:gd name="T46" fmla="*/ 101 w 440"/>
                      <a:gd name="T47" fmla="*/ 182 h 215"/>
                      <a:gd name="T48" fmla="*/ 101 w 440"/>
                      <a:gd name="T49" fmla="*/ 0 h 215"/>
                      <a:gd name="T50" fmla="*/ 47 w 440"/>
                      <a:gd name="T51" fmla="*/ 0 h 215"/>
                      <a:gd name="T52" fmla="*/ 0 w 440"/>
                      <a:gd name="T53" fmla="*/ 0 h 215"/>
                      <a:gd name="T54" fmla="*/ 0 w 440"/>
                      <a:gd name="T55" fmla="*/ 182 h 215"/>
                      <a:gd name="T56" fmla="*/ 47 w 440"/>
                      <a:gd name="T57" fmla="*/ 182 h 215"/>
                      <a:gd name="T58" fmla="*/ 47 w 440"/>
                      <a:gd name="T5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40" h="215">
                        <a:moveTo>
                          <a:pt x="440" y="0"/>
                        </a:moveTo>
                        <a:lnTo>
                          <a:pt x="392" y="0"/>
                        </a:lnTo>
                        <a:lnTo>
                          <a:pt x="392" y="182"/>
                        </a:lnTo>
                        <a:cubicBezTo>
                          <a:pt x="393" y="215"/>
                          <a:pt x="440" y="215"/>
                          <a:pt x="440" y="182"/>
                        </a:cubicBezTo>
                        <a:lnTo>
                          <a:pt x="440" y="0"/>
                        </a:lnTo>
                        <a:close/>
                        <a:moveTo>
                          <a:pt x="386" y="0"/>
                        </a:moveTo>
                        <a:lnTo>
                          <a:pt x="338" y="0"/>
                        </a:lnTo>
                        <a:lnTo>
                          <a:pt x="338" y="182"/>
                        </a:lnTo>
                        <a:cubicBezTo>
                          <a:pt x="338" y="214"/>
                          <a:pt x="386" y="214"/>
                          <a:pt x="386" y="182"/>
                        </a:cubicBezTo>
                        <a:lnTo>
                          <a:pt x="386" y="0"/>
                        </a:lnTo>
                        <a:close/>
                        <a:moveTo>
                          <a:pt x="271" y="0"/>
                        </a:moveTo>
                        <a:lnTo>
                          <a:pt x="223" y="0"/>
                        </a:lnTo>
                        <a:lnTo>
                          <a:pt x="223" y="182"/>
                        </a:lnTo>
                        <a:cubicBezTo>
                          <a:pt x="223" y="215"/>
                          <a:pt x="271" y="215"/>
                          <a:pt x="271" y="182"/>
                        </a:cubicBezTo>
                        <a:lnTo>
                          <a:pt x="271" y="0"/>
                        </a:lnTo>
                        <a:close/>
                        <a:moveTo>
                          <a:pt x="216" y="0"/>
                        </a:moveTo>
                        <a:lnTo>
                          <a:pt x="169" y="0"/>
                        </a:lnTo>
                        <a:lnTo>
                          <a:pt x="169" y="182"/>
                        </a:lnTo>
                        <a:cubicBezTo>
                          <a:pt x="169" y="214"/>
                          <a:pt x="216" y="214"/>
                          <a:pt x="216" y="182"/>
                        </a:cubicBezTo>
                        <a:lnTo>
                          <a:pt x="216" y="0"/>
                        </a:lnTo>
                        <a:close/>
                        <a:moveTo>
                          <a:pt x="101" y="0"/>
                        </a:moveTo>
                        <a:lnTo>
                          <a:pt x="54" y="0"/>
                        </a:lnTo>
                        <a:lnTo>
                          <a:pt x="54" y="182"/>
                        </a:lnTo>
                        <a:cubicBezTo>
                          <a:pt x="54" y="215"/>
                          <a:pt x="101" y="215"/>
                          <a:pt x="101" y="182"/>
                        </a:cubicBezTo>
                        <a:lnTo>
                          <a:pt x="101" y="0"/>
                        </a:lnTo>
                        <a:close/>
                        <a:moveTo>
                          <a:pt x="47" y="0"/>
                        </a:moveTo>
                        <a:lnTo>
                          <a:pt x="0" y="0"/>
                        </a:lnTo>
                        <a:lnTo>
                          <a:pt x="0" y="182"/>
                        </a:lnTo>
                        <a:cubicBezTo>
                          <a:pt x="0" y="214"/>
                          <a:pt x="47" y="214"/>
                          <a:pt x="47" y="182"/>
                        </a:cubicBezTo>
                        <a:lnTo>
                          <a:pt x="47"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496" name="Freeform 933">
                    <a:extLst>
                      <a:ext uri="{FF2B5EF4-FFF2-40B4-BE49-F238E27FC236}">
                        <a16:creationId xmlns:a16="http://schemas.microsoft.com/office/drawing/2014/main" id="{25B246D2-6030-51A9-6ADB-4C50912C8800}"/>
                      </a:ext>
                    </a:extLst>
                  </p:cNvPr>
                  <p:cNvSpPr>
                    <a:spLocks noEditPoints="1"/>
                  </p:cNvSpPr>
                  <p:nvPr/>
                </p:nvSpPr>
                <p:spPr bwMode="auto">
                  <a:xfrm>
                    <a:off x="0" y="3157538"/>
                    <a:ext cx="348263" cy="542925"/>
                  </a:xfrm>
                  <a:custGeom>
                    <a:avLst/>
                    <a:gdLst>
                      <a:gd name="T0" fmla="*/ 689 w 816"/>
                      <a:gd name="T1" fmla="*/ 507 h 1269"/>
                      <a:gd name="T2" fmla="*/ 129 w 816"/>
                      <a:gd name="T3" fmla="*/ 507 h 1269"/>
                      <a:gd name="T4" fmla="*/ 27 w 816"/>
                      <a:gd name="T5" fmla="*/ 609 h 1269"/>
                      <a:gd name="T6" fmla="*/ 27 w 816"/>
                      <a:gd name="T7" fmla="*/ 1168 h 1269"/>
                      <a:gd name="T8" fmla="*/ 129 w 816"/>
                      <a:gd name="T9" fmla="*/ 1269 h 1269"/>
                      <a:gd name="T10" fmla="*/ 690 w 816"/>
                      <a:gd name="T11" fmla="*/ 1269 h 1269"/>
                      <a:gd name="T12" fmla="*/ 791 w 816"/>
                      <a:gd name="T13" fmla="*/ 1168 h 1269"/>
                      <a:gd name="T14" fmla="*/ 791 w 816"/>
                      <a:gd name="T15" fmla="*/ 609 h 1269"/>
                      <a:gd name="T16" fmla="*/ 689 w 816"/>
                      <a:gd name="T17" fmla="*/ 507 h 1269"/>
                      <a:gd name="T18" fmla="*/ 685 w 816"/>
                      <a:gd name="T19" fmla="*/ 1163 h 1269"/>
                      <a:gd name="T20" fmla="*/ 132 w 816"/>
                      <a:gd name="T21" fmla="*/ 1163 h 1269"/>
                      <a:gd name="T22" fmla="*/ 132 w 816"/>
                      <a:gd name="T23" fmla="*/ 614 h 1269"/>
                      <a:gd name="T24" fmla="*/ 685 w 816"/>
                      <a:gd name="T25" fmla="*/ 614 h 1269"/>
                      <a:gd name="T26" fmla="*/ 685 w 816"/>
                      <a:gd name="T27" fmla="*/ 1163 h 1269"/>
                      <a:gd name="T28" fmla="*/ 547 w 816"/>
                      <a:gd name="T29" fmla="*/ 74 h 1269"/>
                      <a:gd name="T30" fmla="*/ 653 w 816"/>
                      <a:gd name="T31" fmla="*/ 74 h 1269"/>
                      <a:gd name="T32" fmla="*/ 651 w 816"/>
                      <a:gd name="T33" fmla="*/ 296 h 1269"/>
                      <a:gd name="T34" fmla="*/ 708 w 816"/>
                      <a:gd name="T35" fmla="*/ 227 h 1269"/>
                      <a:gd name="T36" fmla="*/ 774 w 816"/>
                      <a:gd name="T37" fmla="*/ 292 h 1269"/>
                      <a:gd name="T38" fmla="*/ 636 w 816"/>
                      <a:gd name="T39" fmla="*/ 456 h 1269"/>
                      <a:gd name="T40" fmla="*/ 564 w 816"/>
                      <a:gd name="T41" fmla="*/ 456 h 1269"/>
                      <a:gd name="T42" fmla="*/ 427 w 816"/>
                      <a:gd name="T43" fmla="*/ 291 h 1269"/>
                      <a:gd name="T44" fmla="*/ 492 w 816"/>
                      <a:gd name="T45" fmla="*/ 226 h 1269"/>
                      <a:gd name="T46" fmla="*/ 549 w 816"/>
                      <a:gd name="T47" fmla="*/ 296 h 1269"/>
                      <a:gd name="T48" fmla="*/ 547 w 816"/>
                      <a:gd name="T49" fmla="*/ 74 h 1269"/>
                      <a:gd name="T50" fmla="*/ 163 w 816"/>
                      <a:gd name="T51" fmla="*/ 418 h 1269"/>
                      <a:gd name="T52" fmla="*/ 269 w 816"/>
                      <a:gd name="T53" fmla="*/ 418 h 1269"/>
                      <a:gd name="T54" fmla="*/ 268 w 816"/>
                      <a:gd name="T55" fmla="*/ 196 h 1269"/>
                      <a:gd name="T56" fmla="*/ 324 w 816"/>
                      <a:gd name="T57" fmla="*/ 266 h 1269"/>
                      <a:gd name="T58" fmla="*/ 390 w 816"/>
                      <a:gd name="T59" fmla="*/ 200 h 1269"/>
                      <a:gd name="T60" fmla="*/ 252 w 816"/>
                      <a:gd name="T61" fmla="*/ 36 h 1269"/>
                      <a:gd name="T62" fmla="*/ 180 w 816"/>
                      <a:gd name="T63" fmla="*/ 36 h 1269"/>
                      <a:gd name="T64" fmla="*/ 43 w 816"/>
                      <a:gd name="T65" fmla="*/ 201 h 1269"/>
                      <a:gd name="T66" fmla="*/ 108 w 816"/>
                      <a:gd name="T67" fmla="*/ 267 h 1269"/>
                      <a:gd name="T68" fmla="*/ 165 w 816"/>
                      <a:gd name="T69" fmla="*/ 196 h 1269"/>
                      <a:gd name="T70" fmla="*/ 163 w 816"/>
                      <a:gd name="T71" fmla="*/ 418 h 1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6" h="1269">
                        <a:moveTo>
                          <a:pt x="689" y="507"/>
                        </a:moveTo>
                        <a:lnTo>
                          <a:pt x="129" y="507"/>
                        </a:lnTo>
                        <a:cubicBezTo>
                          <a:pt x="70" y="507"/>
                          <a:pt x="27" y="553"/>
                          <a:pt x="27" y="609"/>
                        </a:cubicBezTo>
                        <a:lnTo>
                          <a:pt x="27" y="1168"/>
                        </a:lnTo>
                        <a:cubicBezTo>
                          <a:pt x="27" y="1225"/>
                          <a:pt x="73" y="1269"/>
                          <a:pt x="129" y="1269"/>
                        </a:cubicBezTo>
                        <a:lnTo>
                          <a:pt x="690" y="1269"/>
                        </a:lnTo>
                        <a:cubicBezTo>
                          <a:pt x="745" y="1269"/>
                          <a:pt x="791" y="1227"/>
                          <a:pt x="791" y="1168"/>
                        </a:cubicBezTo>
                        <a:lnTo>
                          <a:pt x="791" y="609"/>
                        </a:lnTo>
                        <a:cubicBezTo>
                          <a:pt x="791" y="552"/>
                          <a:pt x="745" y="506"/>
                          <a:pt x="689" y="507"/>
                        </a:cubicBezTo>
                        <a:close/>
                        <a:moveTo>
                          <a:pt x="685" y="1163"/>
                        </a:moveTo>
                        <a:lnTo>
                          <a:pt x="132" y="1163"/>
                        </a:lnTo>
                        <a:lnTo>
                          <a:pt x="132" y="614"/>
                        </a:lnTo>
                        <a:lnTo>
                          <a:pt x="685" y="614"/>
                        </a:lnTo>
                        <a:lnTo>
                          <a:pt x="685" y="1163"/>
                        </a:lnTo>
                        <a:close/>
                        <a:moveTo>
                          <a:pt x="547" y="74"/>
                        </a:moveTo>
                        <a:cubicBezTo>
                          <a:pt x="546" y="1"/>
                          <a:pt x="652" y="0"/>
                          <a:pt x="653" y="74"/>
                        </a:cubicBezTo>
                        <a:lnTo>
                          <a:pt x="651" y="296"/>
                        </a:lnTo>
                        <a:lnTo>
                          <a:pt x="708" y="227"/>
                        </a:lnTo>
                        <a:cubicBezTo>
                          <a:pt x="747" y="183"/>
                          <a:pt x="816" y="243"/>
                          <a:pt x="774" y="292"/>
                        </a:cubicBezTo>
                        <a:lnTo>
                          <a:pt x="636" y="456"/>
                        </a:lnTo>
                        <a:cubicBezTo>
                          <a:pt x="614" y="478"/>
                          <a:pt x="586" y="478"/>
                          <a:pt x="564" y="456"/>
                        </a:cubicBezTo>
                        <a:lnTo>
                          <a:pt x="427" y="291"/>
                        </a:lnTo>
                        <a:cubicBezTo>
                          <a:pt x="384" y="243"/>
                          <a:pt x="454" y="182"/>
                          <a:pt x="492" y="226"/>
                        </a:cubicBezTo>
                        <a:lnTo>
                          <a:pt x="549" y="296"/>
                        </a:lnTo>
                        <a:lnTo>
                          <a:pt x="547" y="74"/>
                        </a:lnTo>
                        <a:close/>
                        <a:moveTo>
                          <a:pt x="163" y="418"/>
                        </a:moveTo>
                        <a:cubicBezTo>
                          <a:pt x="163" y="491"/>
                          <a:pt x="268" y="492"/>
                          <a:pt x="269" y="418"/>
                        </a:cubicBezTo>
                        <a:lnTo>
                          <a:pt x="268" y="196"/>
                        </a:lnTo>
                        <a:lnTo>
                          <a:pt x="324" y="266"/>
                        </a:lnTo>
                        <a:cubicBezTo>
                          <a:pt x="363" y="309"/>
                          <a:pt x="433" y="249"/>
                          <a:pt x="390" y="200"/>
                        </a:cubicBezTo>
                        <a:lnTo>
                          <a:pt x="252" y="36"/>
                        </a:lnTo>
                        <a:cubicBezTo>
                          <a:pt x="230" y="14"/>
                          <a:pt x="202" y="14"/>
                          <a:pt x="180" y="36"/>
                        </a:cubicBezTo>
                        <a:lnTo>
                          <a:pt x="43" y="201"/>
                        </a:lnTo>
                        <a:cubicBezTo>
                          <a:pt x="0" y="249"/>
                          <a:pt x="70" y="310"/>
                          <a:pt x="108" y="267"/>
                        </a:cubicBezTo>
                        <a:lnTo>
                          <a:pt x="165" y="196"/>
                        </a:lnTo>
                        <a:lnTo>
                          <a:pt x="163" y="418"/>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497" name="Freeform 934">
                    <a:extLst>
                      <a:ext uri="{FF2B5EF4-FFF2-40B4-BE49-F238E27FC236}">
                        <a16:creationId xmlns:a16="http://schemas.microsoft.com/office/drawing/2014/main" id="{F2EA8A3C-3791-1A85-92D8-96171BAD72E9}"/>
                      </a:ext>
                    </a:extLst>
                  </p:cNvPr>
                  <p:cNvSpPr>
                    <a:spLocks noEditPoints="1"/>
                  </p:cNvSpPr>
                  <p:nvPr/>
                </p:nvSpPr>
                <p:spPr bwMode="auto">
                  <a:xfrm>
                    <a:off x="67820" y="3450813"/>
                    <a:ext cx="213358" cy="111811"/>
                  </a:xfrm>
                  <a:custGeom>
                    <a:avLst/>
                    <a:gdLst>
                      <a:gd name="T0" fmla="*/ 500 w 500"/>
                      <a:gd name="T1" fmla="*/ 243 h 261"/>
                      <a:gd name="T2" fmla="*/ 481 w 500"/>
                      <a:gd name="T3" fmla="*/ 261 h 261"/>
                      <a:gd name="T4" fmla="*/ 357 w 500"/>
                      <a:gd name="T5" fmla="*/ 261 h 261"/>
                      <a:gd name="T6" fmla="*/ 339 w 500"/>
                      <a:gd name="T7" fmla="*/ 243 h 261"/>
                      <a:gd name="T8" fmla="*/ 339 w 500"/>
                      <a:gd name="T9" fmla="*/ 108 h 261"/>
                      <a:gd name="T10" fmla="*/ 364 w 500"/>
                      <a:gd name="T11" fmla="*/ 82 h 261"/>
                      <a:gd name="T12" fmla="*/ 474 w 500"/>
                      <a:gd name="T13" fmla="*/ 82 h 261"/>
                      <a:gd name="T14" fmla="*/ 500 w 500"/>
                      <a:gd name="T15" fmla="*/ 108 h 261"/>
                      <a:gd name="T16" fmla="*/ 500 w 500"/>
                      <a:gd name="T17" fmla="*/ 243 h 261"/>
                      <a:gd name="T18" fmla="*/ 420 w 500"/>
                      <a:gd name="T19" fmla="*/ 71 h 261"/>
                      <a:gd name="T20" fmla="*/ 455 w 500"/>
                      <a:gd name="T21" fmla="*/ 36 h 261"/>
                      <a:gd name="T22" fmla="*/ 420 w 500"/>
                      <a:gd name="T23" fmla="*/ 0 h 261"/>
                      <a:gd name="T24" fmla="*/ 384 w 500"/>
                      <a:gd name="T25" fmla="*/ 36 h 261"/>
                      <a:gd name="T26" fmla="*/ 420 w 500"/>
                      <a:gd name="T27" fmla="*/ 71 h 261"/>
                      <a:gd name="T28" fmla="*/ 331 w 500"/>
                      <a:gd name="T29" fmla="*/ 243 h 261"/>
                      <a:gd name="T30" fmla="*/ 312 w 500"/>
                      <a:gd name="T31" fmla="*/ 261 h 261"/>
                      <a:gd name="T32" fmla="*/ 188 w 500"/>
                      <a:gd name="T33" fmla="*/ 261 h 261"/>
                      <a:gd name="T34" fmla="*/ 170 w 500"/>
                      <a:gd name="T35" fmla="*/ 243 h 261"/>
                      <a:gd name="T36" fmla="*/ 170 w 500"/>
                      <a:gd name="T37" fmla="*/ 108 h 261"/>
                      <a:gd name="T38" fmla="*/ 195 w 500"/>
                      <a:gd name="T39" fmla="*/ 82 h 261"/>
                      <a:gd name="T40" fmla="*/ 305 w 500"/>
                      <a:gd name="T41" fmla="*/ 82 h 261"/>
                      <a:gd name="T42" fmla="*/ 331 w 500"/>
                      <a:gd name="T43" fmla="*/ 108 h 261"/>
                      <a:gd name="T44" fmla="*/ 331 w 500"/>
                      <a:gd name="T45" fmla="*/ 243 h 261"/>
                      <a:gd name="T46" fmla="*/ 251 w 500"/>
                      <a:gd name="T47" fmla="*/ 71 h 261"/>
                      <a:gd name="T48" fmla="*/ 286 w 500"/>
                      <a:gd name="T49" fmla="*/ 36 h 261"/>
                      <a:gd name="T50" fmla="*/ 251 w 500"/>
                      <a:gd name="T51" fmla="*/ 0 h 261"/>
                      <a:gd name="T52" fmla="*/ 215 w 500"/>
                      <a:gd name="T53" fmla="*/ 36 h 261"/>
                      <a:gd name="T54" fmla="*/ 251 w 500"/>
                      <a:gd name="T55" fmla="*/ 71 h 261"/>
                      <a:gd name="T56" fmla="*/ 162 w 500"/>
                      <a:gd name="T57" fmla="*/ 243 h 261"/>
                      <a:gd name="T58" fmla="*/ 143 w 500"/>
                      <a:gd name="T59" fmla="*/ 261 h 261"/>
                      <a:gd name="T60" fmla="*/ 19 w 500"/>
                      <a:gd name="T61" fmla="*/ 261 h 261"/>
                      <a:gd name="T62" fmla="*/ 0 w 500"/>
                      <a:gd name="T63" fmla="*/ 243 h 261"/>
                      <a:gd name="T64" fmla="*/ 0 w 500"/>
                      <a:gd name="T65" fmla="*/ 108 h 261"/>
                      <a:gd name="T66" fmla="*/ 26 w 500"/>
                      <a:gd name="T67" fmla="*/ 82 h 261"/>
                      <a:gd name="T68" fmla="*/ 136 w 500"/>
                      <a:gd name="T69" fmla="*/ 82 h 261"/>
                      <a:gd name="T70" fmla="*/ 162 w 500"/>
                      <a:gd name="T71" fmla="*/ 108 h 261"/>
                      <a:gd name="T72" fmla="*/ 162 w 500"/>
                      <a:gd name="T73" fmla="*/ 243 h 261"/>
                      <a:gd name="T74" fmla="*/ 81 w 500"/>
                      <a:gd name="T75" fmla="*/ 71 h 261"/>
                      <a:gd name="T76" fmla="*/ 117 w 500"/>
                      <a:gd name="T77" fmla="*/ 36 h 261"/>
                      <a:gd name="T78" fmla="*/ 82 w 500"/>
                      <a:gd name="T79" fmla="*/ 0 h 261"/>
                      <a:gd name="T80" fmla="*/ 46 w 500"/>
                      <a:gd name="T81" fmla="*/ 36 h 261"/>
                      <a:gd name="T82" fmla="*/ 82 w 500"/>
                      <a:gd name="T83" fmla="*/ 71 h 261"/>
                      <a:gd name="T84" fmla="*/ 81 w 500"/>
                      <a:gd name="T85" fmla="*/ 71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0" h="261">
                        <a:moveTo>
                          <a:pt x="500" y="243"/>
                        </a:moveTo>
                        <a:cubicBezTo>
                          <a:pt x="500" y="253"/>
                          <a:pt x="492" y="261"/>
                          <a:pt x="481" y="261"/>
                        </a:cubicBezTo>
                        <a:cubicBezTo>
                          <a:pt x="481" y="261"/>
                          <a:pt x="358" y="261"/>
                          <a:pt x="357" y="261"/>
                        </a:cubicBezTo>
                        <a:cubicBezTo>
                          <a:pt x="347" y="261"/>
                          <a:pt x="339" y="253"/>
                          <a:pt x="339" y="243"/>
                        </a:cubicBezTo>
                        <a:lnTo>
                          <a:pt x="339" y="108"/>
                        </a:lnTo>
                        <a:cubicBezTo>
                          <a:pt x="338" y="94"/>
                          <a:pt x="350" y="82"/>
                          <a:pt x="364" y="82"/>
                        </a:cubicBezTo>
                        <a:cubicBezTo>
                          <a:pt x="364" y="82"/>
                          <a:pt x="474" y="82"/>
                          <a:pt x="474" y="82"/>
                        </a:cubicBezTo>
                        <a:cubicBezTo>
                          <a:pt x="488" y="82"/>
                          <a:pt x="500" y="94"/>
                          <a:pt x="500" y="108"/>
                        </a:cubicBezTo>
                        <a:lnTo>
                          <a:pt x="500" y="243"/>
                        </a:lnTo>
                        <a:close/>
                        <a:moveTo>
                          <a:pt x="420" y="71"/>
                        </a:moveTo>
                        <a:cubicBezTo>
                          <a:pt x="439" y="71"/>
                          <a:pt x="455" y="55"/>
                          <a:pt x="455" y="36"/>
                        </a:cubicBezTo>
                        <a:cubicBezTo>
                          <a:pt x="455" y="16"/>
                          <a:pt x="440" y="0"/>
                          <a:pt x="420" y="0"/>
                        </a:cubicBezTo>
                        <a:cubicBezTo>
                          <a:pt x="400" y="0"/>
                          <a:pt x="384" y="16"/>
                          <a:pt x="384" y="36"/>
                        </a:cubicBezTo>
                        <a:cubicBezTo>
                          <a:pt x="385" y="56"/>
                          <a:pt x="400" y="71"/>
                          <a:pt x="420" y="71"/>
                        </a:cubicBezTo>
                        <a:close/>
                        <a:moveTo>
                          <a:pt x="331" y="243"/>
                        </a:moveTo>
                        <a:cubicBezTo>
                          <a:pt x="331" y="253"/>
                          <a:pt x="323" y="261"/>
                          <a:pt x="312" y="261"/>
                        </a:cubicBezTo>
                        <a:cubicBezTo>
                          <a:pt x="312" y="261"/>
                          <a:pt x="188" y="261"/>
                          <a:pt x="188" y="261"/>
                        </a:cubicBezTo>
                        <a:cubicBezTo>
                          <a:pt x="178" y="261"/>
                          <a:pt x="169" y="253"/>
                          <a:pt x="170" y="243"/>
                        </a:cubicBezTo>
                        <a:lnTo>
                          <a:pt x="170" y="108"/>
                        </a:lnTo>
                        <a:cubicBezTo>
                          <a:pt x="169" y="94"/>
                          <a:pt x="181" y="82"/>
                          <a:pt x="195" y="82"/>
                        </a:cubicBezTo>
                        <a:cubicBezTo>
                          <a:pt x="195" y="82"/>
                          <a:pt x="305" y="82"/>
                          <a:pt x="305" y="82"/>
                        </a:cubicBezTo>
                        <a:cubicBezTo>
                          <a:pt x="319" y="82"/>
                          <a:pt x="331" y="94"/>
                          <a:pt x="331" y="108"/>
                        </a:cubicBezTo>
                        <a:lnTo>
                          <a:pt x="331" y="243"/>
                        </a:lnTo>
                        <a:close/>
                        <a:moveTo>
                          <a:pt x="251" y="71"/>
                        </a:moveTo>
                        <a:cubicBezTo>
                          <a:pt x="270" y="71"/>
                          <a:pt x="286" y="55"/>
                          <a:pt x="286" y="36"/>
                        </a:cubicBezTo>
                        <a:cubicBezTo>
                          <a:pt x="286" y="16"/>
                          <a:pt x="270" y="0"/>
                          <a:pt x="251" y="0"/>
                        </a:cubicBezTo>
                        <a:cubicBezTo>
                          <a:pt x="231" y="0"/>
                          <a:pt x="215" y="16"/>
                          <a:pt x="215" y="36"/>
                        </a:cubicBezTo>
                        <a:cubicBezTo>
                          <a:pt x="215" y="55"/>
                          <a:pt x="231" y="71"/>
                          <a:pt x="251" y="71"/>
                        </a:cubicBezTo>
                        <a:close/>
                        <a:moveTo>
                          <a:pt x="162" y="243"/>
                        </a:moveTo>
                        <a:cubicBezTo>
                          <a:pt x="162" y="253"/>
                          <a:pt x="153" y="261"/>
                          <a:pt x="143" y="261"/>
                        </a:cubicBezTo>
                        <a:cubicBezTo>
                          <a:pt x="143" y="261"/>
                          <a:pt x="19" y="261"/>
                          <a:pt x="19" y="261"/>
                        </a:cubicBezTo>
                        <a:cubicBezTo>
                          <a:pt x="9" y="261"/>
                          <a:pt x="0" y="253"/>
                          <a:pt x="0" y="243"/>
                        </a:cubicBezTo>
                        <a:lnTo>
                          <a:pt x="0" y="108"/>
                        </a:lnTo>
                        <a:cubicBezTo>
                          <a:pt x="0" y="94"/>
                          <a:pt x="12" y="82"/>
                          <a:pt x="26" y="82"/>
                        </a:cubicBezTo>
                        <a:cubicBezTo>
                          <a:pt x="26" y="82"/>
                          <a:pt x="136" y="82"/>
                          <a:pt x="136" y="82"/>
                        </a:cubicBezTo>
                        <a:cubicBezTo>
                          <a:pt x="150" y="82"/>
                          <a:pt x="162" y="94"/>
                          <a:pt x="162" y="108"/>
                        </a:cubicBezTo>
                        <a:lnTo>
                          <a:pt x="162" y="243"/>
                        </a:lnTo>
                        <a:close/>
                        <a:moveTo>
                          <a:pt x="81" y="71"/>
                        </a:moveTo>
                        <a:cubicBezTo>
                          <a:pt x="101" y="71"/>
                          <a:pt x="117" y="55"/>
                          <a:pt x="117" y="36"/>
                        </a:cubicBezTo>
                        <a:cubicBezTo>
                          <a:pt x="117" y="16"/>
                          <a:pt x="101" y="0"/>
                          <a:pt x="82" y="0"/>
                        </a:cubicBezTo>
                        <a:cubicBezTo>
                          <a:pt x="62" y="0"/>
                          <a:pt x="46" y="16"/>
                          <a:pt x="46" y="36"/>
                        </a:cubicBezTo>
                        <a:cubicBezTo>
                          <a:pt x="46" y="56"/>
                          <a:pt x="62" y="71"/>
                          <a:pt x="82" y="71"/>
                        </a:cubicBezTo>
                        <a:lnTo>
                          <a:pt x="81" y="7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grpSp>
          <p:grpSp>
            <p:nvGrpSpPr>
              <p:cNvPr id="490" name="Gruppieren 489">
                <a:extLst>
                  <a:ext uri="{FF2B5EF4-FFF2-40B4-BE49-F238E27FC236}">
                    <a16:creationId xmlns:a16="http://schemas.microsoft.com/office/drawing/2014/main" id="{D1DC3180-EF8C-608B-64E4-4CBD259DD5CF}"/>
                  </a:ext>
                </a:extLst>
              </p:cNvPr>
              <p:cNvGrpSpPr/>
              <p:nvPr/>
            </p:nvGrpSpPr>
            <p:grpSpPr>
              <a:xfrm>
                <a:off x="3045869" y="622757"/>
                <a:ext cx="522635" cy="522635"/>
                <a:chOff x="-19101" y="2381281"/>
                <a:chExt cx="699820" cy="699820"/>
              </a:xfrm>
            </p:grpSpPr>
            <p:sp>
              <p:nvSpPr>
                <p:cNvPr id="491" name="Ellipse 490">
                  <a:extLst>
                    <a:ext uri="{FF2B5EF4-FFF2-40B4-BE49-F238E27FC236}">
                      <a16:creationId xmlns:a16="http://schemas.microsoft.com/office/drawing/2014/main" id="{6AE3E473-CF60-CAF4-C3DF-D1BAB260DB29}"/>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492" name="Plug" descr="{&quot;Key&quot;:&quot;POWER_USER_SHAPE_ICON&quot;,&quot;Value&quot;:&quot;POWER_USER_SHAPE_ICON_STYLE_1&quot;}">
                  <a:extLst>
                    <a:ext uri="{FF2B5EF4-FFF2-40B4-BE49-F238E27FC236}">
                      <a16:creationId xmlns:a16="http://schemas.microsoft.com/office/drawing/2014/main" id="{527B97E1-9B35-9735-A167-C46615895CDF}"/>
                    </a:ext>
                  </a:extLst>
                </p:cNvPr>
                <p:cNvSpPr>
                  <a:spLocks noChangeAspect="1" noEditPoints="1"/>
                </p:cNvSpPr>
                <p:nvPr>
                  <p:custDataLst>
                    <p:tags r:id="rId14"/>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grpSp>
        </p:grpSp>
        <p:sp>
          <p:nvSpPr>
            <p:cNvPr id="485" name="Textfeld 484">
              <a:extLst>
                <a:ext uri="{FF2B5EF4-FFF2-40B4-BE49-F238E27FC236}">
                  <a16:creationId xmlns:a16="http://schemas.microsoft.com/office/drawing/2014/main" id="{68DFB6ED-C1C6-A578-9C7D-8CD6D2339930}"/>
                </a:ext>
              </a:extLst>
            </p:cNvPr>
            <p:cNvSpPr txBox="1"/>
            <p:nvPr/>
          </p:nvSpPr>
          <p:spPr>
            <a:xfrm>
              <a:off x="3704081" y="1600595"/>
              <a:ext cx="985685" cy="696708"/>
            </a:xfrm>
            <a:prstGeom prst="rect">
              <a:avLst/>
            </a:prstGeom>
            <a:noFill/>
          </p:spPr>
          <p:txBody>
            <a:bodyPr wrap="none" rtlCol="0">
              <a:spAutoFit/>
            </a:bodyPr>
            <a:lstStyle/>
            <a:p>
              <a:pPr algn="ctr">
                <a:defRPr/>
              </a:pPr>
              <a:br>
                <a:rPr lang="en-GB" sz="900" kern="0" dirty="0">
                  <a:solidFill>
                    <a:prstClr val="black"/>
                  </a:solidFill>
                  <a:latin typeface="Aptos" panose="020B0004020202020204" pitchFamily="34" charset="0"/>
                </a:rPr>
              </a:br>
              <a:r>
                <a:rPr lang="en-GB" sz="900" kern="0" dirty="0">
                  <a:solidFill>
                    <a:prstClr val="black"/>
                  </a:solidFill>
                  <a:latin typeface="Aptos" panose="020B0004020202020204" pitchFamily="34" charset="0"/>
                </a:rPr>
                <a:t>Plug-loads</a:t>
              </a:r>
              <a:endParaRPr lang="de-AT" sz="900" kern="0" dirty="0">
                <a:solidFill>
                  <a:prstClr val="black"/>
                </a:solidFill>
                <a:latin typeface="Aptos" panose="020B0004020202020204" pitchFamily="34" charset="0"/>
              </a:endParaRPr>
            </a:p>
            <a:p>
              <a:pPr algn="ctr" defTabSz="914339">
                <a:defRPr/>
              </a:pPr>
              <a:endParaRPr lang="de-AT" sz="900" kern="0" dirty="0">
                <a:solidFill>
                  <a:prstClr val="black"/>
                </a:solidFill>
                <a:latin typeface="Aptos" panose="020B0004020202020204" pitchFamily="34" charset="0"/>
              </a:endParaRPr>
            </a:p>
          </p:txBody>
        </p:sp>
        <p:sp>
          <p:nvSpPr>
            <p:cNvPr id="486" name="Textfeld 485">
              <a:extLst>
                <a:ext uri="{FF2B5EF4-FFF2-40B4-BE49-F238E27FC236}">
                  <a16:creationId xmlns:a16="http://schemas.microsoft.com/office/drawing/2014/main" id="{B5C10D39-D5FC-A368-78DC-7E615D4A7404}"/>
                </a:ext>
              </a:extLst>
            </p:cNvPr>
            <p:cNvSpPr txBox="1"/>
            <p:nvPr/>
          </p:nvSpPr>
          <p:spPr>
            <a:xfrm>
              <a:off x="4067477" y="1800591"/>
              <a:ext cx="253438" cy="316685"/>
            </a:xfrm>
            <a:prstGeom prst="rect">
              <a:avLst/>
            </a:prstGeom>
            <a:noFill/>
          </p:spPr>
          <p:txBody>
            <a:bodyPr wrap="none" rtlCol="0">
              <a:spAutoFit/>
            </a:bodyPr>
            <a:lstStyle/>
            <a:p>
              <a:pPr algn="ctr" defTabSz="914339">
                <a:defRPr/>
              </a:pPr>
              <a:endParaRPr lang="de-AT" sz="900" kern="0" dirty="0">
                <a:solidFill>
                  <a:prstClr val="black"/>
                </a:solidFill>
                <a:latin typeface="Aptos" panose="020B0004020202020204" pitchFamily="34" charset="0"/>
              </a:endParaRPr>
            </a:p>
          </p:txBody>
        </p:sp>
      </p:grpSp>
      <p:grpSp>
        <p:nvGrpSpPr>
          <p:cNvPr id="508" name="Gruppieren 507">
            <a:extLst>
              <a:ext uri="{FF2B5EF4-FFF2-40B4-BE49-F238E27FC236}">
                <a16:creationId xmlns:a16="http://schemas.microsoft.com/office/drawing/2014/main" id="{FBBA2750-DCB8-AE40-9420-882959155CB2}"/>
              </a:ext>
            </a:extLst>
          </p:cNvPr>
          <p:cNvGrpSpPr/>
          <p:nvPr/>
        </p:nvGrpSpPr>
        <p:grpSpPr>
          <a:xfrm>
            <a:off x="5566744" y="2286139"/>
            <a:ext cx="1095173" cy="1071028"/>
            <a:chOff x="5151323" y="1555343"/>
            <a:chExt cx="1502502" cy="1469377"/>
          </a:xfrm>
        </p:grpSpPr>
        <p:grpSp>
          <p:nvGrpSpPr>
            <p:cNvPr id="509" name="Gruppieren 508">
              <a:extLst>
                <a:ext uri="{FF2B5EF4-FFF2-40B4-BE49-F238E27FC236}">
                  <a16:creationId xmlns:a16="http://schemas.microsoft.com/office/drawing/2014/main" id="{64E90362-AB4B-68BE-06CE-A2278DF637CA}"/>
                </a:ext>
              </a:extLst>
            </p:cNvPr>
            <p:cNvGrpSpPr/>
            <p:nvPr/>
          </p:nvGrpSpPr>
          <p:grpSpPr>
            <a:xfrm>
              <a:off x="5383486" y="2104169"/>
              <a:ext cx="928483" cy="920551"/>
              <a:chOff x="4244137" y="647742"/>
              <a:chExt cx="928483" cy="920551"/>
            </a:xfrm>
          </p:grpSpPr>
          <p:sp>
            <p:nvSpPr>
              <p:cNvPr id="512" name="Flussdiagramm: Anzeige 9">
                <a:extLst>
                  <a:ext uri="{FF2B5EF4-FFF2-40B4-BE49-F238E27FC236}">
                    <a16:creationId xmlns:a16="http://schemas.microsoft.com/office/drawing/2014/main" id="{56B39C09-D18A-7459-E5C0-E274CA1C411B}"/>
                  </a:ext>
                </a:extLst>
              </p:cNvPr>
              <p:cNvSpPr/>
              <p:nvPr/>
            </p:nvSpPr>
            <p:spPr>
              <a:xfrm rot="5400000">
                <a:off x="4248103" y="643776"/>
                <a:ext cx="920551" cy="928483"/>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7000">
                    <a:srgbClr val="950F53">
                      <a:lumMod val="60000"/>
                      <a:lumOff val="40000"/>
                    </a:srgbClr>
                  </a:gs>
                  <a:gs pos="11000">
                    <a:srgbClr val="FFFFFF"/>
                  </a:gs>
                </a:gsLst>
                <a:lin ang="10800000" scaled="1"/>
                <a:tileRect/>
              </a:gradFill>
              <a:ln w="12700" cap="flat" cmpd="sng" algn="ctr">
                <a:solidFill>
                  <a:srgbClr val="950F53"/>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13" name="POWER_USER_SHAPE_ICON_STYLE_2">
                <a:extLst>
                  <a:ext uri="{FF2B5EF4-FFF2-40B4-BE49-F238E27FC236}">
                    <a16:creationId xmlns:a16="http://schemas.microsoft.com/office/drawing/2014/main" id="{FE5A59A5-F373-8E1B-79D9-967D88F61044}"/>
                  </a:ext>
                </a:extLst>
              </p:cNvPr>
              <p:cNvSpPr/>
              <p:nvPr/>
            </p:nvSpPr>
            <p:spPr>
              <a:xfrm>
                <a:off x="4505588" y="836756"/>
                <a:ext cx="423227" cy="423227"/>
              </a:xfrm>
              <a:prstGeom prst="ellipse">
                <a:avLst/>
              </a:prstGeom>
              <a:solidFill>
                <a:srgbClr val="0000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514" name="Snowflake2" descr="{&quot;Key&quot;:&quot;POWER_USER_SHAPE_ICON&quot;,&quot;Value&quot;:&quot;POWER_USER_SHAPE_ICON_STYLE_1&quot;}">
                <a:extLst>
                  <a:ext uri="{FF2B5EF4-FFF2-40B4-BE49-F238E27FC236}">
                    <a16:creationId xmlns:a16="http://schemas.microsoft.com/office/drawing/2014/main" id="{6CE7E931-51A0-0144-8314-A3E2CC363679}"/>
                  </a:ext>
                </a:extLst>
              </p:cNvPr>
              <p:cNvSpPr>
                <a:spLocks noChangeAspect="1"/>
              </p:cNvSpPr>
              <p:nvPr/>
            </p:nvSpPr>
            <p:spPr bwMode="auto">
              <a:xfrm>
                <a:off x="4587300" y="907294"/>
                <a:ext cx="259803" cy="282151"/>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15" name="POWER_USER_SHAPE_ICON_STYLE_2">
                <a:extLst>
                  <a:ext uri="{FF2B5EF4-FFF2-40B4-BE49-F238E27FC236}">
                    <a16:creationId xmlns:a16="http://schemas.microsoft.com/office/drawing/2014/main" id="{AB702CB6-FA2C-2A90-0B8A-33DC4B4AFCFE}"/>
                  </a:ext>
                </a:extLst>
              </p:cNvPr>
              <p:cNvSpPr/>
              <p:nvPr/>
            </p:nvSpPr>
            <p:spPr>
              <a:xfrm>
                <a:off x="4283906" y="1080852"/>
                <a:ext cx="426100" cy="4261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516" name="Flame3" descr="{&quot;Key&quot;:&quot;POWER_USER_SHAPE_ICON&quot;,&quot;Value&quot;:&quot;POWER_USER_SHAPE_ICON_STYLE_1&quot;}">
                <a:extLst>
                  <a:ext uri="{FF2B5EF4-FFF2-40B4-BE49-F238E27FC236}">
                    <a16:creationId xmlns:a16="http://schemas.microsoft.com/office/drawing/2014/main" id="{06C98DFD-8CA6-6CC7-1903-19E70590B14F}"/>
                  </a:ext>
                </a:extLst>
              </p:cNvPr>
              <p:cNvSpPr>
                <a:spLocks noChangeAspect="1"/>
              </p:cNvSpPr>
              <p:nvPr>
                <p:custDataLst>
                  <p:tags r:id="rId13"/>
                </p:custDataLst>
              </p:nvPr>
            </p:nvSpPr>
            <p:spPr bwMode="auto">
              <a:xfrm>
                <a:off x="4372468" y="1151869"/>
                <a:ext cx="248976" cy="284067"/>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17" name="POWER_USER_SHAPE_ICON_STYLE_2">
                <a:extLst>
                  <a:ext uri="{FF2B5EF4-FFF2-40B4-BE49-F238E27FC236}">
                    <a16:creationId xmlns:a16="http://schemas.microsoft.com/office/drawing/2014/main" id="{F1641278-49D9-9804-4DDF-504B29608EBF}"/>
                  </a:ext>
                </a:extLst>
              </p:cNvPr>
              <p:cNvSpPr/>
              <p:nvPr/>
            </p:nvSpPr>
            <p:spPr>
              <a:xfrm>
                <a:off x="4755210" y="1116281"/>
                <a:ext cx="398920" cy="39892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518" name="Gruppieren 517">
                <a:extLst>
                  <a:ext uri="{FF2B5EF4-FFF2-40B4-BE49-F238E27FC236}">
                    <a16:creationId xmlns:a16="http://schemas.microsoft.com/office/drawing/2014/main" id="{150275FE-DC7A-B53C-309A-738184957E85}"/>
                  </a:ext>
                </a:extLst>
              </p:cNvPr>
              <p:cNvGrpSpPr>
                <a:grpSpLocks noChangeAspect="1"/>
              </p:cNvGrpSpPr>
              <p:nvPr/>
            </p:nvGrpSpPr>
            <p:grpSpPr>
              <a:xfrm>
                <a:off x="4821697" y="1208989"/>
                <a:ext cx="265947" cy="213504"/>
                <a:chOff x="0" y="3157538"/>
                <a:chExt cx="676283" cy="542925"/>
              </a:xfrm>
            </p:grpSpPr>
            <p:sp>
              <p:nvSpPr>
                <p:cNvPr id="519" name="Freeform 284">
                  <a:extLst>
                    <a:ext uri="{FF2B5EF4-FFF2-40B4-BE49-F238E27FC236}">
                      <a16:creationId xmlns:a16="http://schemas.microsoft.com/office/drawing/2014/main" id="{564E916E-3961-575E-5E9F-EE96E748B0CC}"/>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20" name="Freeform 285">
                  <a:extLst>
                    <a:ext uri="{FF2B5EF4-FFF2-40B4-BE49-F238E27FC236}">
                      <a16:creationId xmlns:a16="http://schemas.microsoft.com/office/drawing/2014/main" id="{BD11ED93-DACF-08EA-7281-07826147C79C}"/>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21" name="Freeform 286">
                  <a:extLst>
                    <a:ext uri="{FF2B5EF4-FFF2-40B4-BE49-F238E27FC236}">
                      <a16:creationId xmlns:a16="http://schemas.microsoft.com/office/drawing/2014/main" id="{D69B13F4-CECE-0F08-7916-974041D0142D}"/>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grpSp>
        <p:sp>
          <p:nvSpPr>
            <p:cNvPr id="511" name="Textfeld 510">
              <a:extLst>
                <a:ext uri="{FF2B5EF4-FFF2-40B4-BE49-F238E27FC236}">
                  <a16:creationId xmlns:a16="http://schemas.microsoft.com/office/drawing/2014/main" id="{8A4469C6-2328-CFEA-6EBB-44504A06B6B6}"/>
                </a:ext>
              </a:extLst>
            </p:cNvPr>
            <p:cNvSpPr txBox="1"/>
            <p:nvPr/>
          </p:nvSpPr>
          <p:spPr>
            <a:xfrm>
              <a:off x="5151323" y="1555343"/>
              <a:ext cx="1502502" cy="506698"/>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HVAC &amp; DHW </a:t>
              </a:r>
              <a:br>
                <a:rPr lang="en-GB" sz="900" kern="0" dirty="0">
                  <a:solidFill>
                    <a:prstClr val="black"/>
                  </a:solidFill>
                  <a:latin typeface="Aptos" panose="020B0004020202020204" pitchFamily="34" charset="0"/>
                </a:rPr>
              </a:br>
              <a:r>
                <a:rPr lang="en-GB" sz="900" kern="0" dirty="0">
                  <a:solidFill>
                    <a:prstClr val="black"/>
                  </a:solidFill>
                  <a:latin typeface="Aptos" panose="020B0004020202020204" pitchFamily="34" charset="0"/>
                </a:rPr>
                <a:t>Minimum demand</a:t>
              </a:r>
              <a:endParaRPr lang="de-AT" sz="900" kern="0" dirty="0">
                <a:solidFill>
                  <a:prstClr val="black"/>
                </a:solidFill>
                <a:latin typeface="Aptos" panose="020B0004020202020204" pitchFamily="34" charset="0"/>
              </a:endParaRPr>
            </a:p>
          </p:txBody>
        </p:sp>
      </p:grpSp>
      <p:grpSp>
        <p:nvGrpSpPr>
          <p:cNvPr id="522" name="Gruppieren 521">
            <a:extLst>
              <a:ext uri="{FF2B5EF4-FFF2-40B4-BE49-F238E27FC236}">
                <a16:creationId xmlns:a16="http://schemas.microsoft.com/office/drawing/2014/main" id="{B1311CE1-EDD9-4D5D-2AAD-CF427BB09F37}"/>
              </a:ext>
            </a:extLst>
          </p:cNvPr>
          <p:cNvGrpSpPr/>
          <p:nvPr/>
        </p:nvGrpSpPr>
        <p:grpSpPr>
          <a:xfrm>
            <a:off x="7483531" y="2461801"/>
            <a:ext cx="885179" cy="895366"/>
            <a:chOff x="7781021" y="1796340"/>
            <a:chExt cx="1214405" cy="1228381"/>
          </a:xfrm>
        </p:grpSpPr>
        <p:grpSp>
          <p:nvGrpSpPr>
            <p:cNvPr id="523" name="Gruppieren 522">
              <a:extLst>
                <a:ext uri="{FF2B5EF4-FFF2-40B4-BE49-F238E27FC236}">
                  <a16:creationId xmlns:a16="http://schemas.microsoft.com/office/drawing/2014/main" id="{940DAF84-9A38-5ABD-B58F-59EAAC2BD54E}"/>
                </a:ext>
              </a:extLst>
            </p:cNvPr>
            <p:cNvGrpSpPr/>
            <p:nvPr/>
          </p:nvGrpSpPr>
          <p:grpSpPr>
            <a:xfrm>
              <a:off x="7926511" y="2104170"/>
              <a:ext cx="928483" cy="920551"/>
              <a:chOff x="6842036" y="647742"/>
              <a:chExt cx="928484" cy="920551"/>
            </a:xfrm>
          </p:grpSpPr>
          <p:sp>
            <p:nvSpPr>
              <p:cNvPr id="526" name="Flussdiagramm: Anzeige 9">
                <a:extLst>
                  <a:ext uri="{FF2B5EF4-FFF2-40B4-BE49-F238E27FC236}">
                    <a16:creationId xmlns:a16="http://schemas.microsoft.com/office/drawing/2014/main" id="{5AE59A9D-920B-8709-E9CD-729F4D72A368}"/>
                  </a:ext>
                </a:extLst>
              </p:cNvPr>
              <p:cNvSpPr/>
              <p:nvPr/>
            </p:nvSpPr>
            <p:spPr>
              <a:xfrm rot="5400000">
                <a:off x="6846002" y="643776"/>
                <a:ext cx="920551" cy="928484"/>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81000">
                    <a:srgbClr val="950F53">
                      <a:lumMod val="60000"/>
                      <a:lumOff val="40000"/>
                    </a:srgbClr>
                  </a:gs>
                  <a:gs pos="90000">
                    <a:srgbClr val="FFFFFF"/>
                  </a:gs>
                </a:gsLst>
                <a:lin ang="10800000" scaled="1"/>
                <a:tileRect/>
              </a:gradFill>
              <a:ln w="12700" cap="flat" cmpd="sng" algn="ctr">
                <a:solidFill>
                  <a:srgbClr val="950F53"/>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27" name="POWER_USER_SHAPE_ICON_STYLE_2">
                <a:extLst>
                  <a:ext uri="{FF2B5EF4-FFF2-40B4-BE49-F238E27FC236}">
                    <a16:creationId xmlns:a16="http://schemas.microsoft.com/office/drawing/2014/main" id="{C7E95A0F-158F-AD9A-BF09-95807EA4D2F6}"/>
                  </a:ext>
                </a:extLst>
              </p:cNvPr>
              <p:cNvSpPr/>
              <p:nvPr/>
            </p:nvSpPr>
            <p:spPr>
              <a:xfrm>
                <a:off x="7103481" y="836756"/>
                <a:ext cx="423227" cy="423227"/>
              </a:xfrm>
              <a:prstGeom prst="ellipse">
                <a:avLst/>
              </a:prstGeom>
              <a:solidFill>
                <a:srgbClr val="0000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528" name="Snowflake2" descr="{&quot;Key&quot;:&quot;POWER_USER_SHAPE_ICON&quot;,&quot;Value&quot;:&quot;POWER_USER_SHAPE_ICON_STYLE_1&quot;}">
                <a:extLst>
                  <a:ext uri="{FF2B5EF4-FFF2-40B4-BE49-F238E27FC236}">
                    <a16:creationId xmlns:a16="http://schemas.microsoft.com/office/drawing/2014/main" id="{8F8B662C-FEA3-0CA9-ADB6-4EBFD78C4E96}"/>
                  </a:ext>
                </a:extLst>
              </p:cNvPr>
              <p:cNvSpPr>
                <a:spLocks noChangeAspect="1"/>
              </p:cNvSpPr>
              <p:nvPr/>
            </p:nvSpPr>
            <p:spPr bwMode="auto">
              <a:xfrm>
                <a:off x="7185193" y="907294"/>
                <a:ext cx="259803" cy="282151"/>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29" name="POWER_USER_SHAPE_ICON_STYLE_2">
                <a:extLst>
                  <a:ext uri="{FF2B5EF4-FFF2-40B4-BE49-F238E27FC236}">
                    <a16:creationId xmlns:a16="http://schemas.microsoft.com/office/drawing/2014/main" id="{AC331E4C-5FBA-F73E-ED27-D40442B8DDC3}"/>
                  </a:ext>
                </a:extLst>
              </p:cNvPr>
              <p:cNvSpPr/>
              <p:nvPr/>
            </p:nvSpPr>
            <p:spPr>
              <a:xfrm>
                <a:off x="6881799" y="1080852"/>
                <a:ext cx="426100" cy="4261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sp>
            <p:nvSpPr>
              <p:cNvPr id="530" name="Flame3" descr="{&quot;Key&quot;:&quot;POWER_USER_SHAPE_ICON&quot;,&quot;Value&quot;:&quot;POWER_USER_SHAPE_ICON_STYLE_1&quot;}">
                <a:extLst>
                  <a:ext uri="{FF2B5EF4-FFF2-40B4-BE49-F238E27FC236}">
                    <a16:creationId xmlns:a16="http://schemas.microsoft.com/office/drawing/2014/main" id="{9062ED2D-ACAD-0AD5-685D-FADE58641F10}"/>
                  </a:ext>
                </a:extLst>
              </p:cNvPr>
              <p:cNvSpPr>
                <a:spLocks noChangeAspect="1"/>
              </p:cNvSpPr>
              <p:nvPr>
                <p:custDataLst>
                  <p:tags r:id="rId12"/>
                </p:custDataLst>
              </p:nvPr>
            </p:nvSpPr>
            <p:spPr bwMode="auto">
              <a:xfrm>
                <a:off x="6970361" y="1151869"/>
                <a:ext cx="248976" cy="284067"/>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31" name="POWER_USER_SHAPE_ICON_STYLE_2">
                <a:extLst>
                  <a:ext uri="{FF2B5EF4-FFF2-40B4-BE49-F238E27FC236}">
                    <a16:creationId xmlns:a16="http://schemas.microsoft.com/office/drawing/2014/main" id="{024AB04B-2D54-47A0-BA93-BA50487C83E9}"/>
                  </a:ext>
                </a:extLst>
              </p:cNvPr>
              <p:cNvSpPr/>
              <p:nvPr/>
            </p:nvSpPr>
            <p:spPr>
              <a:xfrm>
                <a:off x="7353103" y="1116281"/>
                <a:ext cx="398920" cy="39892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914339">
                  <a:defRPr/>
                </a:pPr>
                <a:endParaRPr lang="de-AT" sz="1200" kern="0" dirty="0">
                  <a:solidFill>
                    <a:prstClr val="white"/>
                  </a:solidFill>
                  <a:latin typeface="Aptos" panose="020B0004020202020204" pitchFamily="34" charset="0"/>
                </a:endParaRPr>
              </a:p>
            </p:txBody>
          </p:sp>
          <p:grpSp>
            <p:nvGrpSpPr>
              <p:cNvPr id="532" name="Gruppieren 531">
                <a:extLst>
                  <a:ext uri="{FF2B5EF4-FFF2-40B4-BE49-F238E27FC236}">
                    <a16:creationId xmlns:a16="http://schemas.microsoft.com/office/drawing/2014/main" id="{C1A4C416-3756-0B51-2E34-50EB34D7A695}"/>
                  </a:ext>
                </a:extLst>
              </p:cNvPr>
              <p:cNvGrpSpPr>
                <a:grpSpLocks noChangeAspect="1"/>
              </p:cNvGrpSpPr>
              <p:nvPr/>
            </p:nvGrpSpPr>
            <p:grpSpPr>
              <a:xfrm>
                <a:off x="7419590" y="1208989"/>
                <a:ext cx="265947" cy="213504"/>
                <a:chOff x="0" y="3157538"/>
                <a:chExt cx="676283" cy="542925"/>
              </a:xfrm>
            </p:grpSpPr>
            <p:sp>
              <p:nvSpPr>
                <p:cNvPr id="533" name="Freeform 284">
                  <a:extLst>
                    <a:ext uri="{FF2B5EF4-FFF2-40B4-BE49-F238E27FC236}">
                      <a16:creationId xmlns:a16="http://schemas.microsoft.com/office/drawing/2014/main" id="{3E2F6525-2C73-8CE3-A996-CC35F2897B81}"/>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34" name="Freeform 285">
                  <a:extLst>
                    <a:ext uri="{FF2B5EF4-FFF2-40B4-BE49-F238E27FC236}">
                      <a16:creationId xmlns:a16="http://schemas.microsoft.com/office/drawing/2014/main" id="{B6AA4327-CC97-B841-F4FE-C88219093E91}"/>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sp>
              <p:nvSpPr>
                <p:cNvPr id="535" name="Freeform 286">
                  <a:extLst>
                    <a:ext uri="{FF2B5EF4-FFF2-40B4-BE49-F238E27FC236}">
                      <a16:creationId xmlns:a16="http://schemas.microsoft.com/office/drawing/2014/main" id="{232809A2-FFA6-F6F2-483E-568B789A91EF}"/>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grpSp>
        <p:sp>
          <p:nvSpPr>
            <p:cNvPr id="525" name="Textfeld 524">
              <a:extLst>
                <a:ext uri="{FF2B5EF4-FFF2-40B4-BE49-F238E27FC236}">
                  <a16:creationId xmlns:a16="http://schemas.microsoft.com/office/drawing/2014/main" id="{BDCD735A-E239-8A0C-0761-1A6E9C6AD3AB}"/>
                </a:ext>
              </a:extLst>
            </p:cNvPr>
            <p:cNvSpPr txBox="1"/>
            <p:nvPr/>
          </p:nvSpPr>
          <p:spPr>
            <a:xfrm>
              <a:off x="7781021" y="1796340"/>
              <a:ext cx="1214405" cy="506698"/>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HVAC &amp; DHW </a:t>
              </a:r>
            </a:p>
            <a:p>
              <a:pPr algn="ctr" defTabSz="914339">
                <a:defRPr/>
              </a:pPr>
              <a:r>
                <a:rPr lang="en-GB" sz="900" kern="0" dirty="0">
                  <a:solidFill>
                    <a:prstClr val="black"/>
                  </a:solidFill>
                  <a:latin typeface="Aptos" panose="020B0004020202020204" pitchFamily="34" charset="0"/>
                </a:rPr>
                <a:t>Maximum</a:t>
              </a:r>
              <a:endParaRPr lang="de-AT" sz="900" kern="0" dirty="0">
                <a:solidFill>
                  <a:prstClr val="black"/>
                </a:solidFill>
                <a:latin typeface="Aptos" panose="020B0004020202020204" pitchFamily="34" charset="0"/>
              </a:endParaRPr>
            </a:p>
          </p:txBody>
        </p:sp>
      </p:grpSp>
      <p:grpSp>
        <p:nvGrpSpPr>
          <p:cNvPr id="536" name="Gruppieren 535">
            <a:extLst>
              <a:ext uri="{FF2B5EF4-FFF2-40B4-BE49-F238E27FC236}">
                <a16:creationId xmlns:a16="http://schemas.microsoft.com/office/drawing/2014/main" id="{879CAE3A-B747-E350-B67C-99CC0D9A802A}"/>
              </a:ext>
            </a:extLst>
          </p:cNvPr>
          <p:cNvGrpSpPr/>
          <p:nvPr/>
        </p:nvGrpSpPr>
        <p:grpSpPr>
          <a:xfrm>
            <a:off x="6494751" y="2319123"/>
            <a:ext cx="1039067" cy="1045777"/>
            <a:chOff x="6335758" y="1600595"/>
            <a:chExt cx="1425528" cy="1434736"/>
          </a:xfrm>
        </p:grpSpPr>
        <p:grpSp>
          <p:nvGrpSpPr>
            <p:cNvPr id="537" name="Gruppieren 536">
              <a:extLst>
                <a:ext uri="{FF2B5EF4-FFF2-40B4-BE49-F238E27FC236}">
                  <a16:creationId xmlns:a16="http://schemas.microsoft.com/office/drawing/2014/main" id="{C2662DB4-6035-298A-4BCC-A3B458B35625}"/>
                </a:ext>
              </a:extLst>
            </p:cNvPr>
            <p:cNvGrpSpPr/>
            <p:nvPr/>
          </p:nvGrpSpPr>
          <p:grpSpPr>
            <a:xfrm>
              <a:off x="6586091" y="2104170"/>
              <a:ext cx="939183" cy="931161"/>
              <a:chOff x="5556175" y="562911"/>
              <a:chExt cx="839437" cy="832266"/>
            </a:xfrm>
          </p:grpSpPr>
          <p:sp>
            <p:nvSpPr>
              <p:cNvPr id="540" name="Flussdiagramm: Anzeige 9">
                <a:extLst>
                  <a:ext uri="{FF2B5EF4-FFF2-40B4-BE49-F238E27FC236}">
                    <a16:creationId xmlns:a16="http://schemas.microsoft.com/office/drawing/2014/main" id="{03A74BD6-F677-ABAC-BF79-31A4A812FEBF}"/>
                  </a:ext>
                </a:extLst>
              </p:cNvPr>
              <p:cNvSpPr/>
              <p:nvPr/>
            </p:nvSpPr>
            <p:spPr>
              <a:xfrm rot="5400000">
                <a:off x="5559761" y="559325"/>
                <a:ext cx="832266" cy="839437"/>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43000">
                    <a:srgbClr val="F59C00"/>
                  </a:gs>
                  <a:gs pos="49000">
                    <a:srgbClr val="FFFFFF"/>
                  </a:gs>
                </a:gsLst>
                <a:lin ang="10800000" scaled="1"/>
                <a:tileRect/>
              </a:grad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41" name="Car7" descr="{&quot;Key&quot;:&quot;POWER_USER_SHAPE_ICON&quot;,&quot;Value&quot;:&quot;POWER_USER_SHAPE_ICON_STYLE_1&quot;}">
                <a:extLst>
                  <a:ext uri="{FF2B5EF4-FFF2-40B4-BE49-F238E27FC236}">
                    <a16:creationId xmlns:a16="http://schemas.microsoft.com/office/drawing/2014/main" id="{F58F139C-3EED-5C8C-5E7B-B1DDEC36E3E3}"/>
                  </a:ext>
                </a:extLst>
              </p:cNvPr>
              <p:cNvSpPr>
                <a:spLocks noChangeAspect="1" noEditPoints="1"/>
              </p:cNvSpPr>
              <p:nvPr>
                <p:custDataLst>
                  <p:tags r:id="rId11"/>
                </p:custDataLst>
              </p:nvPr>
            </p:nvSpPr>
            <p:spPr bwMode="auto">
              <a:xfrm>
                <a:off x="5760303" y="834706"/>
                <a:ext cx="431182" cy="363022"/>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sp>
          <p:nvSpPr>
            <p:cNvPr id="538" name="Textfeld 537">
              <a:extLst>
                <a:ext uri="{FF2B5EF4-FFF2-40B4-BE49-F238E27FC236}">
                  <a16:creationId xmlns:a16="http://schemas.microsoft.com/office/drawing/2014/main" id="{7466965F-B0D3-F413-A107-75F2648D55F4}"/>
                </a:ext>
              </a:extLst>
            </p:cNvPr>
            <p:cNvSpPr txBox="1"/>
            <p:nvPr/>
          </p:nvSpPr>
          <p:spPr>
            <a:xfrm>
              <a:off x="6916797" y="1600595"/>
              <a:ext cx="253437" cy="316686"/>
            </a:xfrm>
            <a:prstGeom prst="rect">
              <a:avLst/>
            </a:prstGeom>
            <a:noFill/>
          </p:spPr>
          <p:txBody>
            <a:bodyPr wrap="none" rtlCol="0">
              <a:spAutoFit/>
            </a:bodyPr>
            <a:lstStyle/>
            <a:p>
              <a:pPr algn="ctr" defTabSz="914339">
                <a:defRPr/>
              </a:pPr>
              <a:endParaRPr lang="de-AT" sz="900" kern="0" dirty="0">
                <a:solidFill>
                  <a:prstClr val="black"/>
                </a:solidFill>
                <a:latin typeface="Aptos" panose="020B0004020202020204" pitchFamily="34" charset="0"/>
              </a:endParaRPr>
            </a:p>
          </p:txBody>
        </p:sp>
        <p:sp>
          <p:nvSpPr>
            <p:cNvPr id="539" name="Textfeld 538">
              <a:extLst>
                <a:ext uri="{FF2B5EF4-FFF2-40B4-BE49-F238E27FC236}">
                  <a16:creationId xmlns:a16="http://schemas.microsoft.com/office/drawing/2014/main" id="{D064773C-C283-963A-4D18-3AB922E5CDA4}"/>
                </a:ext>
              </a:extLst>
            </p:cNvPr>
            <p:cNvSpPr txBox="1"/>
            <p:nvPr/>
          </p:nvSpPr>
          <p:spPr>
            <a:xfrm>
              <a:off x="6335758" y="1602925"/>
              <a:ext cx="1425528" cy="506699"/>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Electric Vehicle </a:t>
              </a:r>
            </a:p>
            <a:p>
              <a:pPr algn="ctr" defTabSz="914339">
                <a:defRPr/>
              </a:pPr>
              <a:r>
                <a:rPr lang="en-GB" sz="900" kern="0" dirty="0">
                  <a:solidFill>
                    <a:prstClr val="black"/>
                  </a:solidFill>
                  <a:latin typeface="Aptos" panose="020B0004020202020204" pitchFamily="34" charset="0"/>
                </a:rPr>
                <a:t>Minimum Charge</a:t>
              </a:r>
              <a:endParaRPr lang="de-AT" sz="900" kern="0" dirty="0">
                <a:solidFill>
                  <a:prstClr val="black"/>
                </a:solidFill>
                <a:latin typeface="Aptos" panose="020B0004020202020204" pitchFamily="34" charset="0"/>
              </a:endParaRPr>
            </a:p>
          </p:txBody>
        </p:sp>
      </p:grpSp>
      <p:sp>
        <p:nvSpPr>
          <p:cNvPr id="544" name="Textfeld 543">
            <a:extLst>
              <a:ext uri="{FF2B5EF4-FFF2-40B4-BE49-F238E27FC236}">
                <a16:creationId xmlns:a16="http://schemas.microsoft.com/office/drawing/2014/main" id="{2CF57173-2D11-B4B1-4A7A-2CD326321584}"/>
              </a:ext>
            </a:extLst>
          </p:cNvPr>
          <p:cNvSpPr txBox="1"/>
          <p:nvPr/>
        </p:nvSpPr>
        <p:spPr>
          <a:xfrm>
            <a:off x="9472505" y="2596574"/>
            <a:ext cx="538929" cy="230832"/>
          </a:xfrm>
          <a:prstGeom prst="rect">
            <a:avLst/>
          </a:prstGeom>
          <a:noFill/>
        </p:spPr>
        <p:txBody>
          <a:bodyPr wrap="none" rtlCol="0">
            <a:spAutoFit/>
          </a:bodyPr>
          <a:lstStyle/>
          <a:p>
            <a:pPr algn="ctr">
              <a:defRPr/>
            </a:pPr>
            <a:r>
              <a:rPr lang="en-GB" sz="900" dirty="0">
                <a:solidFill>
                  <a:prstClr val="black"/>
                </a:solidFill>
                <a:latin typeface="Aptos" panose="020B0004020202020204" pitchFamily="34" charset="0"/>
              </a:rPr>
              <a:t>Battery</a:t>
            </a:r>
            <a:endParaRPr lang="de-AT" sz="900" dirty="0">
              <a:solidFill>
                <a:prstClr val="black"/>
              </a:solidFill>
              <a:latin typeface="Aptos" panose="020B0004020202020204" pitchFamily="34" charset="0"/>
            </a:endParaRPr>
          </a:p>
        </p:txBody>
      </p:sp>
      <p:grpSp>
        <p:nvGrpSpPr>
          <p:cNvPr id="545" name="Gruppieren 544">
            <a:extLst>
              <a:ext uri="{FF2B5EF4-FFF2-40B4-BE49-F238E27FC236}">
                <a16:creationId xmlns:a16="http://schemas.microsoft.com/office/drawing/2014/main" id="{5A56445F-750C-FE06-CA79-7D6DE77800D1}"/>
              </a:ext>
            </a:extLst>
          </p:cNvPr>
          <p:cNvGrpSpPr/>
          <p:nvPr/>
        </p:nvGrpSpPr>
        <p:grpSpPr>
          <a:xfrm>
            <a:off x="8294721" y="2578442"/>
            <a:ext cx="1059907" cy="803243"/>
            <a:chOff x="8893901" y="1956361"/>
            <a:chExt cx="1454119" cy="1101994"/>
          </a:xfrm>
        </p:grpSpPr>
        <p:grpSp>
          <p:nvGrpSpPr>
            <p:cNvPr id="546" name="Gruppieren 545">
              <a:extLst>
                <a:ext uri="{FF2B5EF4-FFF2-40B4-BE49-F238E27FC236}">
                  <a16:creationId xmlns:a16="http://schemas.microsoft.com/office/drawing/2014/main" id="{1FBF5D19-623B-8AAB-6168-31BEBBF25F9D}"/>
                </a:ext>
              </a:extLst>
            </p:cNvPr>
            <p:cNvGrpSpPr/>
            <p:nvPr/>
          </p:nvGrpSpPr>
          <p:grpSpPr>
            <a:xfrm>
              <a:off x="9151817" y="2104167"/>
              <a:ext cx="962410" cy="954188"/>
              <a:chOff x="8230696" y="575606"/>
              <a:chExt cx="825646" cy="818592"/>
            </a:xfrm>
          </p:grpSpPr>
          <p:sp>
            <p:nvSpPr>
              <p:cNvPr id="549" name="Flussdiagramm: Anzeige 9">
                <a:extLst>
                  <a:ext uri="{FF2B5EF4-FFF2-40B4-BE49-F238E27FC236}">
                    <a16:creationId xmlns:a16="http://schemas.microsoft.com/office/drawing/2014/main" id="{EC7FD144-EA50-7F2E-E465-FA7B49085B4D}"/>
                  </a:ext>
                </a:extLst>
              </p:cNvPr>
              <p:cNvSpPr/>
              <p:nvPr/>
            </p:nvSpPr>
            <p:spPr>
              <a:xfrm rot="5400000">
                <a:off x="8234223" y="572079"/>
                <a:ext cx="818592" cy="825646"/>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80000">
                    <a:srgbClr val="F59C00"/>
                  </a:gs>
                  <a:gs pos="91000">
                    <a:srgbClr val="FFFFFF"/>
                  </a:gs>
                </a:gsLst>
                <a:lin ang="10800000" scaled="1"/>
                <a:tileRect/>
              </a:grad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50" name="Car7" descr="{&quot;Key&quot;:&quot;POWER_USER_SHAPE_ICON&quot;,&quot;Value&quot;:&quot;POWER_USER_SHAPE_ICON_STYLE_1&quot;}">
                <a:extLst>
                  <a:ext uri="{FF2B5EF4-FFF2-40B4-BE49-F238E27FC236}">
                    <a16:creationId xmlns:a16="http://schemas.microsoft.com/office/drawing/2014/main" id="{A5E9B80A-4A9A-50E2-BC70-4385B9191542}"/>
                  </a:ext>
                </a:extLst>
              </p:cNvPr>
              <p:cNvSpPr>
                <a:spLocks noChangeAspect="1" noEditPoints="1"/>
              </p:cNvSpPr>
              <p:nvPr>
                <p:custDataLst>
                  <p:tags r:id="rId10"/>
                </p:custDataLst>
              </p:nvPr>
            </p:nvSpPr>
            <p:spPr bwMode="auto">
              <a:xfrm>
                <a:off x="8431470" y="842936"/>
                <a:ext cx="424098" cy="35705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sp>
          <p:nvSpPr>
            <p:cNvPr id="548" name="Textfeld 547">
              <a:extLst>
                <a:ext uri="{FF2B5EF4-FFF2-40B4-BE49-F238E27FC236}">
                  <a16:creationId xmlns:a16="http://schemas.microsoft.com/office/drawing/2014/main" id="{75449DC5-EB83-ADF1-DD72-524B090F2B69}"/>
                </a:ext>
              </a:extLst>
            </p:cNvPr>
            <p:cNvSpPr txBox="1"/>
            <p:nvPr/>
          </p:nvSpPr>
          <p:spPr>
            <a:xfrm>
              <a:off x="8893901" y="1956361"/>
              <a:ext cx="1454119" cy="506698"/>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Electric Vehicle </a:t>
              </a:r>
            </a:p>
            <a:p>
              <a:pPr algn="ctr" defTabSz="914339">
                <a:defRPr/>
              </a:pPr>
              <a:r>
                <a:rPr lang="en-GB" sz="900" kern="0" dirty="0">
                  <a:solidFill>
                    <a:prstClr val="black"/>
                  </a:solidFill>
                  <a:latin typeface="Aptos" panose="020B0004020202020204" pitchFamily="34" charset="0"/>
                </a:rPr>
                <a:t>Maximum Charge</a:t>
              </a:r>
              <a:endParaRPr lang="de-AT" sz="900" kern="0" dirty="0">
                <a:solidFill>
                  <a:prstClr val="black"/>
                </a:solidFill>
                <a:latin typeface="Aptos" panose="020B0004020202020204" pitchFamily="34" charset="0"/>
              </a:endParaRPr>
            </a:p>
          </p:txBody>
        </p:sp>
      </p:grpSp>
      <p:sp>
        <p:nvSpPr>
          <p:cNvPr id="551" name="Textfeld 550">
            <a:extLst>
              <a:ext uri="{FF2B5EF4-FFF2-40B4-BE49-F238E27FC236}">
                <a16:creationId xmlns:a16="http://schemas.microsoft.com/office/drawing/2014/main" id="{51D2A033-A6BD-7A6F-8E74-EACA543D7C1C}"/>
              </a:ext>
            </a:extLst>
          </p:cNvPr>
          <p:cNvSpPr txBox="1"/>
          <p:nvPr/>
        </p:nvSpPr>
        <p:spPr>
          <a:xfrm>
            <a:off x="3036061" y="3216366"/>
            <a:ext cx="582211" cy="253916"/>
          </a:xfrm>
          <a:prstGeom prst="rect">
            <a:avLst/>
          </a:prstGeom>
          <a:noFill/>
        </p:spPr>
        <p:txBody>
          <a:bodyPr wrap="none" rtlCol="0">
            <a:spAutoFit/>
          </a:bodyPr>
          <a:lstStyle/>
          <a:p>
            <a:pPr algn="r">
              <a:defRPr/>
            </a:pPr>
            <a:r>
              <a:rPr lang="en-GB" sz="1050" dirty="0">
                <a:solidFill>
                  <a:prstClr val="black"/>
                </a:solidFill>
                <a:latin typeface="Aptos" panose="020B0004020202020204" pitchFamily="34" charset="0"/>
              </a:rPr>
              <a:t>Supply</a:t>
            </a:r>
            <a:endParaRPr lang="de-AT" sz="1050" dirty="0">
              <a:solidFill>
                <a:prstClr val="black"/>
              </a:solidFill>
              <a:latin typeface="Aptos" panose="020B0004020202020204" pitchFamily="34" charset="0"/>
            </a:endParaRPr>
          </a:p>
        </p:txBody>
      </p:sp>
      <p:sp>
        <p:nvSpPr>
          <p:cNvPr id="552" name="Textfeld 551">
            <a:extLst>
              <a:ext uri="{FF2B5EF4-FFF2-40B4-BE49-F238E27FC236}">
                <a16:creationId xmlns:a16="http://schemas.microsoft.com/office/drawing/2014/main" id="{DF3C81E5-9512-BB9D-A72E-30C5170D08FD}"/>
              </a:ext>
            </a:extLst>
          </p:cNvPr>
          <p:cNvSpPr txBox="1"/>
          <p:nvPr/>
        </p:nvSpPr>
        <p:spPr>
          <a:xfrm>
            <a:off x="3094191" y="2304730"/>
            <a:ext cx="1439804" cy="415498"/>
          </a:xfrm>
          <a:prstGeom prst="rect">
            <a:avLst/>
          </a:prstGeom>
          <a:noFill/>
        </p:spPr>
        <p:txBody>
          <a:bodyPr wrap="square" rtlCol="0">
            <a:spAutoFit/>
          </a:bodyPr>
          <a:lstStyle/>
          <a:p>
            <a:pPr algn="r">
              <a:defRPr/>
            </a:pPr>
            <a:r>
              <a:rPr lang="en-GB" sz="1050" b="1" dirty="0">
                <a:solidFill>
                  <a:prstClr val="black"/>
                </a:solidFill>
                <a:latin typeface="Aptos" panose="020B0004020202020204" pitchFamily="34" charset="0"/>
              </a:rPr>
              <a:t>  </a:t>
            </a:r>
            <a:br>
              <a:rPr lang="en-GB" sz="1050" b="1" dirty="0">
                <a:solidFill>
                  <a:prstClr val="black"/>
                </a:solidFill>
                <a:latin typeface="Aptos" panose="020B0004020202020204" pitchFamily="34" charset="0"/>
              </a:rPr>
            </a:br>
            <a:r>
              <a:rPr lang="en-GB" sz="1050" dirty="0">
                <a:solidFill>
                  <a:prstClr val="black"/>
                </a:solidFill>
                <a:latin typeface="Aptos" panose="020B0004020202020204" pitchFamily="34" charset="0"/>
              </a:rPr>
              <a:t>Demand</a:t>
            </a:r>
            <a:endParaRPr lang="de-AT" sz="1050" dirty="0">
              <a:solidFill>
                <a:prstClr val="black"/>
              </a:solidFill>
              <a:latin typeface="Aptos" panose="020B0004020202020204" pitchFamily="34" charset="0"/>
            </a:endParaRPr>
          </a:p>
        </p:txBody>
      </p:sp>
      <p:sp>
        <p:nvSpPr>
          <p:cNvPr id="554" name="Textfeld 553">
            <a:extLst>
              <a:ext uri="{FF2B5EF4-FFF2-40B4-BE49-F238E27FC236}">
                <a16:creationId xmlns:a16="http://schemas.microsoft.com/office/drawing/2014/main" id="{8850030B-CC45-560B-593D-ED9421A1BB04}"/>
              </a:ext>
            </a:extLst>
          </p:cNvPr>
          <p:cNvSpPr txBox="1"/>
          <p:nvPr/>
        </p:nvSpPr>
        <p:spPr>
          <a:xfrm>
            <a:off x="7554523" y="6101259"/>
            <a:ext cx="1563248" cy="253916"/>
          </a:xfrm>
          <a:prstGeom prst="rect">
            <a:avLst/>
          </a:prstGeom>
          <a:noFill/>
        </p:spPr>
        <p:txBody>
          <a:bodyPr wrap="none" rtlCol="0">
            <a:spAutoFit/>
          </a:bodyPr>
          <a:lstStyle/>
          <a:p>
            <a:pPr algn="ctr">
              <a:defRPr/>
            </a:pPr>
            <a:r>
              <a:rPr lang="en-GB" sz="1050" dirty="0">
                <a:solidFill>
                  <a:prstClr val="black"/>
                </a:solidFill>
                <a:latin typeface="Aptos" panose="020B0004020202020204" pitchFamily="34" charset="0"/>
              </a:rPr>
              <a:t>Minimum demands met</a:t>
            </a:r>
            <a:endParaRPr lang="de-AT" sz="1050" dirty="0">
              <a:solidFill>
                <a:prstClr val="black"/>
              </a:solidFill>
              <a:latin typeface="Aptos" panose="020B0004020202020204" pitchFamily="34" charset="0"/>
            </a:endParaRPr>
          </a:p>
        </p:txBody>
      </p:sp>
      <p:sp>
        <p:nvSpPr>
          <p:cNvPr id="556" name="Textfeld 555">
            <a:extLst>
              <a:ext uri="{FF2B5EF4-FFF2-40B4-BE49-F238E27FC236}">
                <a16:creationId xmlns:a16="http://schemas.microsoft.com/office/drawing/2014/main" id="{02AE3A05-47BE-0D91-CF0D-95FFF83DF134}"/>
              </a:ext>
            </a:extLst>
          </p:cNvPr>
          <p:cNvSpPr txBox="1"/>
          <p:nvPr/>
        </p:nvSpPr>
        <p:spPr>
          <a:xfrm>
            <a:off x="9492464" y="1839394"/>
            <a:ext cx="713657" cy="369332"/>
          </a:xfrm>
          <a:prstGeom prst="rect">
            <a:avLst/>
          </a:prstGeom>
          <a:noFill/>
        </p:spPr>
        <p:txBody>
          <a:bodyPr wrap="none" rtlCol="0">
            <a:spAutoFit/>
          </a:bodyPr>
          <a:lstStyle/>
          <a:p>
            <a:pPr algn="r">
              <a:defRPr/>
            </a:pPr>
            <a:r>
              <a:rPr lang="en-GB" sz="900" dirty="0">
                <a:solidFill>
                  <a:prstClr val="black"/>
                </a:solidFill>
                <a:latin typeface="Aptos" panose="020B0004020202020204" pitchFamily="34" charset="0"/>
              </a:rPr>
              <a:t>PV Excess </a:t>
            </a:r>
          </a:p>
          <a:p>
            <a:pPr algn="r">
              <a:defRPr/>
            </a:pPr>
            <a:r>
              <a:rPr lang="en-GB" sz="900" dirty="0">
                <a:solidFill>
                  <a:prstClr val="black"/>
                </a:solidFill>
                <a:latin typeface="Aptos" panose="020B0004020202020204" pitchFamily="34" charset="0"/>
              </a:rPr>
              <a:t>Export</a:t>
            </a:r>
            <a:endParaRPr lang="de-AT" sz="900" dirty="0">
              <a:solidFill>
                <a:prstClr val="black"/>
              </a:solidFill>
              <a:latin typeface="Aptos" panose="020B0004020202020204" pitchFamily="34" charset="0"/>
            </a:endParaRPr>
          </a:p>
        </p:txBody>
      </p:sp>
      <p:grpSp>
        <p:nvGrpSpPr>
          <p:cNvPr id="557" name="Gruppieren 556">
            <a:extLst>
              <a:ext uri="{FF2B5EF4-FFF2-40B4-BE49-F238E27FC236}">
                <a16:creationId xmlns:a16="http://schemas.microsoft.com/office/drawing/2014/main" id="{89146776-2EAF-5F9A-98A3-75FB17BA6C4A}"/>
              </a:ext>
            </a:extLst>
          </p:cNvPr>
          <p:cNvGrpSpPr/>
          <p:nvPr/>
        </p:nvGrpSpPr>
        <p:grpSpPr>
          <a:xfrm>
            <a:off x="5537533" y="1790144"/>
            <a:ext cx="906769" cy="242323"/>
            <a:chOff x="783684" y="1118083"/>
            <a:chExt cx="1244026" cy="332450"/>
          </a:xfrm>
        </p:grpSpPr>
        <p:cxnSp>
          <p:nvCxnSpPr>
            <p:cNvPr id="558" name="Gerade Verbindung mit Pfeil 557">
              <a:extLst>
                <a:ext uri="{FF2B5EF4-FFF2-40B4-BE49-F238E27FC236}">
                  <a16:creationId xmlns:a16="http://schemas.microsoft.com/office/drawing/2014/main" id="{2D2D8CBA-2536-C4E8-4BFB-EEF3088A1937}"/>
                </a:ext>
              </a:extLst>
            </p:cNvPr>
            <p:cNvCxnSpPr/>
            <p:nvPr/>
          </p:nvCxnSpPr>
          <p:spPr>
            <a:xfrm>
              <a:off x="783684" y="1118083"/>
              <a:ext cx="1244026" cy="0"/>
            </a:xfrm>
            <a:prstGeom prst="straightConnector1">
              <a:avLst/>
            </a:prstGeom>
            <a:noFill/>
            <a:ln w="28575" cap="flat" cmpd="sng" algn="ctr">
              <a:solidFill>
                <a:srgbClr val="5FB564">
                  <a:lumMod val="60000"/>
                  <a:lumOff val="40000"/>
                </a:srgbClr>
              </a:solidFill>
              <a:prstDash val="solid"/>
              <a:miter lim="800000"/>
              <a:tailEnd type="triangle"/>
            </a:ln>
            <a:effectLst/>
          </p:spPr>
        </p:cxnSp>
        <p:sp>
          <p:nvSpPr>
            <p:cNvPr id="559" name="Textfeld 558">
              <a:extLst>
                <a:ext uri="{FF2B5EF4-FFF2-40B4-BE49-F238E27FC236}">
                  <a16:creationId xmlns:a16="http://schemas.microsoft.com/office/drawing/2014/main" id="{9812F00A-F412-A5A7-5CC8-0DDBF0831C8D}"/>
                </a:ext>
              </a:extLst>
            </p:cNvPr>
            <p:cNvSpPr txBox="1"/>
            <p:nvPr/>
          </p:nvSpPr>
          <p:spPr>
            <a:xfrm>
              <a:off x="1030123" y="1133848"/>
              <a:ext cx="690993" cy="316685"/>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Export</a:t>
              </a:r>
              <a:endParaRPr lang="de-AT" sz="900" kern="0" dirty="0">
                <a:solidFill>
                  <a:prstClr val="black"/>
                </a:solidFill>
                <a:latin typeface="Aptos" panose="020B0004020202020204" pitchFamily="34" charset="0"/>
              </a:endParaRPr>
            </a:p>
          </p:txBody>
        </p:sp>
      </p:grpSp>
      <p:grpSp>
        <p:nvGrpSpPr>
          <p:cNvPr id="560" name="Gruppieren 559">
            <a:extLst>
              <a:ext uri="{FF2B5EF4-FFF2-40B4-BE49-F238E27FC236}">
                <a16:creationId xmlns:a16="http://schemas.microsoft.com/office/drawing/2014/main" id="{DBE32434-3462-6B30-8C62-8AE3AA3F46BE}"/>
              </a:ext>
            </a:extLst>
          </p:cNvPr>
          <p:cNvGrpSpPr/>
          <p:nvPr/>
        </p:nvGrpSpPr>
        <p:grpSpPr>
          <a:xfrm>
            <a:off x="4422142" y="1788357"/>
            <a:ext cx="906769" cy="242323"/>
            <a:chOff x="783683" y="1118083"/>
            <a:chExt cx="1244025" cy="332450"/>
          </a:xfrm>
        </p:grpSpPr>
        <p:cxnSp>
          <p:nvCxnSpPr>
            <p:cNvPr id="561" name="Gerade Verbindung mit Pfeil 560">
              <a:extLst>
                <a:ext uri="{FF2B5EF4-FFF2-40B4-BE49-F238E27FC236}">
                  <a16:creationId xmlns:a16="http://schemas.microsoft.com/office/drawing/2014/main" id="{280084E7-F446-1238-3331-4D7560FB18EB}"/>
                </a:ext>
              </a:extLst>
            </p:cNvPr>
            <p:cNvCxnSpPr/>
            <p:nvPr/>
          </p:nvCxnSpPr>
          <p:spPr>
            <a:xfrm>
              <a:off x="783683" y="1118083"/>
              <a:ext cx="1244025" cy="0"/>
            </a:xfrm>
            <a:prstGeom prst="straightConnector1">
              <a:avLst/>
            </a:prstGeom>
            <a:noFill/>
            <a:ln w="28575" cap="flat" cmpd="sng" algn="ctr">
              <a:solidFill>
                <a:srgbClr val="FF0000"/>
              </a:solidFill>
              <a:prstDash val="solid"/>
              <a:miter lim="800000"/>
              <a:tailEnd type="triangle"/>
            </a:ln>
            <a:effectLst/>
          </p:spPr>
        </p:cxnSp>
        <p:sp>
          <p:nvSpPr>
            <p:cNvPr id="562" name="Textfeld 561">
              <a:extLst>
                <a:ext uri="{FF2B5EF4-FFF2-40B4-BE49-F238E27FC236}">
                  <a16:creationId xmlns:a16="http://schemas.microsoft.com/office/drawing/2014/main" id="{B030D672-16B2-6CD5-7E0A-229A30903F11}"/>
                </a:ext>
              </a:extLst>
            </p:cNvPr>
            <p:cNvSpPr txBox="1"/>
            <p:nvPr/>
          </p:nvSpPr>
          <p:spPr>
            <a:xfrm>
              <a:off x="1021325" y="1133848"/>
              <a:ext cx="708586" cy="316685"/>
            </a:xfrm>
            <a:prstGeom prst="rect">
              <a:avLst/>
            </a:prstGeom>
            <a:noFill/>
          </p:spPr>
          <p:txBody>
            <a:bodyPr wrap="none" rtlCol="0">
              <a:spAutoFit/>
            </a:bodyPr>
            <a:lstStyle/>
            <a:p>
              <a:pPr algn="ctr" defTabSz="914339">
                <a:defRPr/>
              </a:pPr>
              <a:r>
                <a:rPr lang="en-GB" sz="900" kern="0" dirty="0">
                  <a:solidFill>
                    <a:prstClr val="black"/>
                  </a:solidFill>
                  <a:latin typeface="Aptos" panose="020B0004020202020204" pitchFamily="34" charset="0"/>
                </a:rPr>
                <a:t>Import</a:t>
              </a:r>
              <a:endParaRPr lang="de-AT" sz="900" kern="0" dirty="0">
                <a:solidFill>
                  <a:prstClr val="black"/>
                </a:solidFill>
                <a:latin typeface="Aptos" panose="020B0004020202020204" pitchFamily="34" charset="0"/>
              </a:endParaRPr>
            </a:p>
          </p:txBody>
        </p:sp>
      </p:grpSp>
      <p:sp>
        <p:nvSpPr>
          <p:cNvPr id="563" name="Textfeld 562">
            <a:extLst>
              <a:ext uri="{FF2B5EF4-FFF2-40B4-BE49-F238E27FC236}">
                <a16:creationId xmlns:a16="http://schemas.microsoft.com/office/drawing/2014/main" id="{C7FA24C3-5A0C-50DA-442A-C86196ACD2B3}"/>
              </a:ext>
            </a:extLst>
          </p:cNvPr>
          <p:cNvSpPr txBox="1"/>
          <p:nvPr/>
        </p:nvSpPr>
        <p:spPr>
          <a:xfrm>
            <a:off x="4692570" y="1506188"/>
            <a:ext cx="1466914" cy="253916"/>
          </a:xfrm>
          <a:prstGeom prst="rect">
            <a:avLst/>
          </a:prstGeom>
          <a:noFill/>
        </p:spPr>
        <p:txBody>
          <a:bodyPr wrap="square" rtlCol="0">
            <a:spAutoFit/>
          </a:bodyPr>
          <a:lstStyle/>
          <a:p>
            <a:pPr>
              <a:defRPr/>
            </a:pPr>
            <a:r>
              <a:rPr lang="en-GB" sz="1050" dirty="0">
                <a:solidFill>
                  <a:prstClr val="black"/>
                </a:solidFill>
                <a:latin typeface="Aptos" panose="020B0004020202020204" pitchFamily="34" charset="0"/>
              </a:rPr>
              <a:t>Balancing</a:t>
            </a:r>
            <a:endParaRPr lang="de-AT" sz="1050" dirty="0">
              <a:solidFill>
                <a:prstClr val="black"/>
              </a:solidFill>
              <a:latin typeface="Aptos" panose="020B0004020202020204" pitchFamily="34" charset="0"/>
            </a:endParaRPr>
          </a:p>
        </p:txBody>
      </p:sp>
      <p:sp>
        <p:nvSpPr>
          <p:cNvPr id="565" name="Rechteck 564">
            <a:extLst>
              <a:ext uri="{FF2B5EF4-FFF2-40B4-BE49-F238E27FC236}">
                <a16:creationId xmlns:a16="http://schemas.microsoft.com/office/drawing/2014/main" id="{6ED86410-6CF5-702D-77D2-A4C612CB1AE0}"/>
              </a:ext>
            </a:extLst>
          </p:cNvPr>
          <p:cNvSpPr/>
          <p:nvPr/>
        </p:nvSpPr>
        <p:spPr>
          <a:xfrm>
            <a:off x="2267740" y="1682803"/>
            <a:ext cx="1466914" cy="430887"/>
          </a:xfrm>
          <a:prstGeom prst="rect">
            <a:avLst/>
          </a:prstGeom>
        </p:spPr>
        <p:txBody>
          <a:bodyPr wrap="square">
            <a:spAutoFit/>
          </a:bodyPr>
          <a:lstStyle/>
          <a:p>
            <a:pPr>
              <a:defRPr/>
            </a:pPr>
            <a:r>
              <a:rPr lang="en-GB" sz="1100" b="1" dirty="0">
                <a:solidFill>
                  <a:srgbClr val="E6EFF3">
                    <a:lumMod val="50000"/>
                  </a:srgbClr>
                </a:solidFill>
                <a:latin typeface="Aptos" panose="020B0004020202020204" pitchFamily="34" charset="0"/>
              </a:rPr>
              <a:t> </a:t>
            </a:r>
          </a:p>
          <a:p>
            <a:pPr>
              <a:defRPr/>
            </a:pPr>
            <a:r>
              <a:rPr lang="en-GB" sz="1100" b="1" dirty="0">
                <a:solidFill>
                  <a:srgbClr val="E6EFF3">
                    <a:lumMod val="50000"/>
                  </a:srgbClr>
                </a:solidFill>
                <a:latin typeface="Aptos" panose="020B0004020202020204" pitchFamily="34" charset="0"/>
              </a:rPr>
              <a:t>System Boundary</a:t>
            </a:r>
          </a:p>
        </p:txBody>
      </p:sp>
      <p:sp>
        <p:nvSpPr>
          <p:cNvPr id="566" name="High_voltage3" descr="{&quot;Key&quot;:&quot;POWER_USER_SHAPE_ICON&quot;,&quot;Value&quot;:&quot;POWER_USER_SHAPE_ICON_STYLE_1&quot;}">
            <a:extLst>
              <a:ext uri="{FF2B5EF4-FFF2-40B4-BE49-F238E27FC236}">
                <a16:creationId xmlns:a16="http://schemas.microsoft.com/office/drawing/2014/main" id="{8A315F42-DBDA-EA09-ADA2-0D981F1A3C6D}"/>
              </a:ext>
            </a:extLst>
          </p:cNvPr>
          <p:cNvSpPr>
            <a:spLocks noChangeAspect="1" noEditPoints="1"/>
          </p:cNvSpPr>
          <p:nvPr>
            <p:custDataLst>
              <p:tags r:id="rId5"/>
            </p:custDataLst>
          </p:nvPr>
        </p:nvSpPr>
        <p:spPr bwMode="auto">
          <a:xfrm>
            <a:off x="3790942" y="5950809"/>
            <a:ext cx="231331" cy="322083"/>
          </a:xfrm>
          <a:custGeom>
            <a:avLst/>
            <a:gdLst>
              <a:gd name="T0" fmla="*/ 244 w 542"/>
              <a:gd name="T1" fmla="*/ 590 h 753"/>
              <a:gd name="T2" fmla="*/ 181 w 542"/>
              <a:gd name="T3" fmla="*/ 645 h 753"/>
              <a:gd name="T4" fmla="*/ 361 w 542"/>
              <a:gd name="T5" fmla="*/ 645 h 753"/>
              <a:gd name="T6" fmla="*/ 298 w 542"/>
              <a:gd name="T7" fmla="*/ 590 h 753"/>
              <a:gd name="T8" fmla="*/ 376 w 542"/>
              <a:gd name="T9" fmla="*/ 706 h 753"/>
              <a:gd name="T10" fmla="*/ 166 w 542"/>
              <a:gd name="T11" fmla="*/ 706 h 753"/>
              <a:gd name="T12" fmla="*/ 122 w 542"/>
              <a:gd name="T13" fmla="*/ 395 h 753"/>
              <a:gd name="T14" fmla="*/ 204 w 542"/>
              <a:gd name="T15" fmla="*/ 347 h 753"/>
              <a:gd name="T16" fmla="*/ 338 w 542"/>
              <a:gd name="T17" fmla="*/ 347 h 753"/>
              <a:gd name="T18" fmla="*/ 420 w 542"/>
              <a:gd name="T19" fmla="*/ 395 h 753"/>
              <a:gd name="T20" fmla="*/ 219 w 542"/>
              <a:gd name="T21" fmla="*/ 521 h 753"/>
              <a:gd name="T22" fmla="*/ 323 w 542"/>
              <a:gd name="T23" fmla="*/ 521 h 753"/>
              <a:gd name="T24" fmla="*/ 247 w 542"/>
              <a:gd name="T25" fmla="*/ 430 h 753"/>
              <a:gd name="T26" fmla="*/ 251 w 542"/>
              <a:gd name="T27" fmla="*/ 395 h 753"/>
              <a:gd name="T28" fmla="*/ 291 w 542"/>
              <a:gd name="T29" fmla="*/ 331 h 753"/>
              <a:gd name="T30" fmla="*/ 38 w 542"/>
              <a:gd name="T31" fmla="*/ 412 h 753"/>
              <a:gd name="T32" fmla="*/ 204 w 542"/>
              <a:gd name="T33" fmla="*/ 306 h 753"/>
              <a:gd name="T34" fmla="*/ 95 w 542"/>
              <a:gd name="T35" fmla="*/ 231 h 753"/>
              <a:gd name="T36" fmla="*/ 77 w 542"/>
              <a:gd name="T37" fmla="*/ 303 h 753"/>
              <a:gd name="T38" fmla="*/ 60 w 542"/>
              <a:gd name="T39" fmla="*/ 213 h 753"/>
              <a:gd name="T40" fmla="*/ 212 w 542"/>
              <a:gd name="T41" fmla="*/ 115 h 753"/>
              <a:gd name="T42" fmla="*/ 257 w 542"/>
              <a:gd name="T43" fmla="*/ 0 h 753"/>
              <a:gd name="T44" fmla="*/ 303 w 542"/>
              <a:gd name="T45" fmla="*/ 14 h 753"/>
              <a:gd name="T46" fmla="*/ 472 w 542"/>
              <a:gd name="T47" fmla="*/ 197 h 753"/>
              <a:gd name="T48" fmla="*/ 482 w 542"/>
              <a:gd name="T49" fmla="*/ 285 h 753"/>
              <a:gd name="T50" fmla="*/ 447 w 542"/>
              <a:gd name="T51" fmla="*/ 285 h 753"/>
              <a:gd name="T52" fmla="*/ 338 w 542"/>
              <a:gd name="T53" fmla="*/ 231 h 753"/>
              <a:gd name="T54" fmla="*/ 494 w 542"/>
              <a:gd name="T55" fmla="*/ 397 h 753"/>
              <a:gd name="T56" fmla="*/ 504 w 542"/>
              <a:gd name="T57" fmla="*/ 484 h 753"/>
              <a:gd name="T58" fmla="*/ 469 w 542"/>
              <a:gd name="T59" fmla="*/ 484 h 753"/>
              <a:gd name="T60" fmla="*/ 344 w 542"/>
              <a:gd name="T61" fmla="*/ 430 h 753"/>
              <a:gd name="T62" fmla="*/ 519 w 542"/>
              <a:gd name="T63" fmla="*/ 706 h 753"/>
              <a:gd name="T64" fmla="*/ 519 w 542"/>
              <a:gd name="T65" fmla="*/ 753 h 753"/>
              <a:gd name="T66" fmla="*/ 0 w 542"/>
              <a:gd name="T67" fmla="*/ 730 h 753"/>
              <a:gd name="T68" fmla="*/ 114 w 542"/>
              <a:gd name="T69" fmla="*/ 706 h 753"/>
              <a:gd name="T70" fmla="*/ 73 w 542"/>
              <a:gd name="T71" fmla="*/ 430 h 753"/>
              <a:gd name="T72" fmla="*/ 56 w 542"/>
              <a:gd name="T73" fmla="*/ 502 h 753"/>
              <a:gd name="T74" fmla="*/ 38 w 542"/>
              <a:gd name="T75" fmla="*/ 412 h 753"/>
              <a:gd name="T76" fmla="*/ 144 w 542"/>
              <a:gd name="T77" fmla="*/ 195 h 753"/>
              <a:gd name="T78" fmla="*/ 204 w 542"/>
              <a:gd name="T79" fmla="*/ 160 h 753"/>
              <a:gd name="T80" fmla="*/ 338 w 542"/>
              <a:gd name="T81" fmla="*/ 160 h 753"/>
              <a:gd name="T82" fmla="*/ 399 w 542"/>
              <a:gd name="T83" fmla="*/ 195 h 753"/>
              <a:gd name="T84" fmla="*/ 271 w 542"/>
              <a:gd name="T85" fmla="*/ 35 h 753"/>
              <a:gd name="T86" fmla="*/ 291 w 542"/>
              <a:gd name="T87" fmla="*/ 109 h 753"/>
              <a:gd name="T88" fmla="*/ 251 w 542"/>
              <a:gd name="T89" fmla="*/ 296 h 753"/>
              <a:gd name="T90" fmla="*/ 291 w 542"/>
              <a:gd name="T91" fmla="*/ 231 h 753"/>
              <a:gd name="T92" fmla="*/ 251 w 542"/>
              <a:gd name="T93" fmla="*/ 144 h 753"/>
              <a:gd name="T94" fmla="*/ 291 w 542"/>
              <a:gd name="T95" fmla="*/ 195 h 753"/>
              <a:gd name="T96" fmla="*/ 251 w 542"/>
              <a:gd name="T97" fmla="*/ 144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2" h="753">
                <a:moveTo>
                  <a:pt x="181" y="645"/>
                </a:moveTo>
                <a:lnTo>
                  <a:pt x="244" y="590"/>
                </a:lnTo>
                <a:lnTo>
                  <a:pt x="208" y="558"/>
                </a:lnTo>
                <a:lnTo>
                  <a:pt x="181" y="645"/>
                </a:lnTo>
                <a:close/>
                <a:moveTo>
                  <a:pt x="298" y="590"/>
                </a:moveTo>
                <a:lnTo>
                  <a:pt x="361" y="645"/>
                </a:lnTo>
                <a:lnTo>
                  <a:pt x="334" y="558"/>
                </a:lnTo>
                <a:lnTo>
                  <a:pt x="298" y="590"/>
                </a:lnTo>
                <a:close/>
                <a:moveTo>
                  <a:pt x="166" y="706"/>
                </a:moveTo>
                <a:lnTo>
                  <a:pt x="376" y="706"/>
                </a:lnTo>
                <a:lnTo>
                  <a:pt x="271" y="614"/>
                </a:lnTo>
                <a:lnTo>
                  <a:pt x="166" y="706"/>
                </a:lnTo>
                <a:close/>
                <a:moveTo>
                  <a:pt x="204" y="347"/>
                </a:moveTo>
                <a:lnTo>
                  <a:pt x="122" y="395"/>
                </a:lnTo>
                <a:lnTo>
                  <a:pt x="204" y="395"/>
                </a:lnTo>
                <a:lnTo>
                  <a:pt x="204" y="347"/>
                </a:lnTo>
                <a:close/>
                <a:moveTo>
                  <a:pt x="420" y="395"/>
                </a:moveTo>
                <a:lnTo>
                  <a:pt x="338" y="347"/>
                </a:lnTo>
                <a:lnTo>
                  <a:pt x="338" y="395"/>
                </a:lnTo>
                <a:lnTo>
                  <a:pt x="420" y="395"/>
                </a:lnTo>
                <a:close/>
                <a:moveTo>
                  <a:pt x="247" y="430"/>
                </a:moveTo>
                <a:lnTo>
                  <a:pt x="219" y="521"/>
                </a:lnTo>
                <a:lnTo>
                  <a:pt x="271" y="566"/>
                </a:lnTo>
                <a:lnTo>
                  <a:pt x="323" y="521"/>
                </a:lnTo>
                <a:lnTo>
                  <a:pt x="295" y="430"/>
                </a:lnTo>
                <a:lnTo>
                  <a:pt x="247" y="430"/>
                </a:lnTo>
                <a:close/>
                <a:moveTo>
                  <a:pt x="251" y="331"/>
                </a:moveTo>
                <a:lnTo>
                  <a:pt x="251" y="395"/>
                </a:lnTo>
                <a:lnTo>
                  <a:pt x="291" y="395"/>
                </a:lnTo>
                <a:lnTo>
                  <a:pt x="291" y="331"/>
                </a:lnTo>
                <a:lnTo>
                  <a:pt x="251" y="331"/>
                </a:lnTo>
                <a:close/>
                <a:moveTo>
                  <a:pt x="38" y="412"/>
                </a:moveTo>
                <a:cubicBezTo>
                  <a:pt x="38" y="406"/>
                  <a:pt x="41" y="400"/>
                  <a:pt x="47" y="397"/>
                </a:cubicBezTo>
                <a:lnTo>
                  <a:pt x="204" y="306"/>
                </a:lnTo>
                <a:lnTo>
                  <a:pt x="204" y="231"/>
                </a:lnTo>
                <a:lnTo>
                  <a:pt x="95" y="231"/>
                </a:lnTo>
                <a:lnTo>
                  <a:pt x="95" y="285"/>
                </a:lnTo>
                <a:cubicBezTo>
                  <a:pt x="95" y="295"/>
                  <a:pt x="87" y="303"/>
                  <a:pt x="77" y="303"/>
                </a:cubicBezTo>
                <a:cubicBezTo>
                  <a:pt x="68" y="303"/>
                  <a:pt x="60" y="295"/>
                  <a:pt x="60" y="285"/>
                </a:cubicBezTo>
                <a:lnTo>
                  <a:pt x="60" y="213"/>
                </a:lnTo>
                <a:cubicBezTo>
                  <a:pt x="60" y="207"/>
                  <a:pt x="63" y="201"/>
                  <a:pt x="69" y="198"/>
                </a:cubicBezTo>
                <a:lnTo>
                  <a:pt x="212" y="115"/>
                </a:lnTo>
                <a:lnTo>
                  <a:pt x="240" y="13"/>
                </a:lnTo>
                <a:cubicBezTo>
                  <a:pt x="242" y="5"/>
                  <a:pt x="249" y="0"/>
                  <a:pt x="257" y="0"/>
                </a:cubicBezTo>
                <a:lnTo>
                  <a:pt x="285" y="0"/>
                </a:lnTo>
                <a:cubicBezTo>
                  <a:pt x="294" y="0"/>
                  <a:pt x="300" y="6"/>
                  <a:pt x="303" y="14"/>
                </a:cubicBezTo>
                <a:lnTo>
                  <a:pt x="330" y="115"/>
                </a:lnTo>
                <a:lnTo>
                  <a:pt x="472" y="197"/>
                </a:lnTo>
                <a:cubicBezTo>
                  <a:pt x="478" y="200"/>
                  <a:pt x="482" y="206"/>
                  <a:pt x="482" y="213"/>
                </a:cubicBezTo>
                <a:lnTo>
                  <a:pt x="482" y="285"/>
                </a:lnTo>
                <a:cubicBezTo>
                  <a:pt x="482" y="295"/>
                  <a:pt x="474" y="303"/>
                  <a:pt x="465" y="303"/>
                </a:cubicBezTo>
                <a:cubicBezTo>
                  <a:pt x="455" y="303"/>
                  <a:pt x="447" y="295"/>
                  <a:pt x="447" y="285"/>
                </a:cubicBezTo>
                <a:lnTo>
                  <a:pt x="447" y="231"/>
                </a:lnTo>
                <a:lnTo>
                  <a:pt x="338" y="231"/>
                </a:lnTo>
                <a:lnTo>
                  <a:pt x="338" y="306"/>
                </a:lnTo>
                <a:lnTo>
                  <a:pt x="494" y="397"/>
                </a:lnTo>
                <a:cubicBezTo>
                  <a:pt x="500" y="400"/>
                  <a:pt x="504" y="405"/>
                  <a:pt x="504" y="412"/>
                </a:cubicBezTo>
                <a:lnTo>
                  <a:pt x="504" y="484"/>
                </a:lnTo>
                <a:cubicBezTo>
                  <a:pt x="504" y="494"/>
                  <a:pt x="496" y="502"/>
                  <a:pt x="486" y="502"/>
                </a:cubicBezTo>
                <a:cubicBezTo>
                  <a:pt x="477" y="502"/>
                  <a:pt x="469" y="494"/>
                  <a:pt x="469" y="484"/>
                </a:cubicBezTo>
                <a:lnTo>
                  <a:pt x="469" y="430"/>
                </a:lnTo>
                <a:lnTo>
                  <a:pt x="344" y="430"/>
                </a:lnTo>
                <a:lnTo>
                  <a:pt x="428" y="706"/>
                </a:lnTo>
                <a:lnTo>
                  <a:pt x="519" y="706"/>
                </a:lnTo>
                <a:cubicBezTo>
                  <a:pt x="532" y="706"/>
                  <a:pt x="542" y="717"/>
                  <a:pt x="542" y="730"/>
                </a:cubicBezTo>
                <a:cubicBezTo>
                  <a:pt x="542" y="743"/>
                  <a:pt x="532" y="753"/>
                  <a:pt x="519" y="753"/>
                </a:cubicBezTo>
                <a:lnTo>
                  <a:pt x="23" y="753"/>
                </a:lnTo>
                <a:cubicBezTo>
                  <a:pt x="10" y="753"/>
                  <a:pt x="0" y="743"/>
                  <a:pt x="0" y="730"/>
                </a:cubicBezTo>
                <a:cubicBezTo>
                  <a:pt x="0" y="717"/>
                  <a:pt x="10" y="706"/>
                  <a:pt x="23" y="706"/>
                </a:cubicBezTo>
                <a:lnTo>
                  <a:pt x="114" y="706"/>
                </a:lnTo>
                <a:lnTo>
                  <a:pt x="198" y="430"/>
                </a:lnTo>
                <a:lnTo>
                  <a:pt x="73" y="430"/>
                </a:lnTo>
                <a:lnTo>
                  <a:pt x="73" y="484"/>
                </a:lnTo>
                <a:cubicBezTo>
                  <a:pt x="73" y="494"/>
                  <a:pt x="65" y="502"/>
                  <a:pt x="56" y="502"/>
                </a:cubicBezTo>
                <a:cubicBezTo>
                  <a:pt x="46" y="502"/>
                  <a:pt x="38" y="494"/>
                  <a:pt x="38" y="484"/>
                </a:cubicBezTo>
                <a:lnTo>
                  <a:pt x="38" y="412"/>
                </a:lnTo>
                <a:close/>
                <a:moveTo>
                  <a:pt x="204" y="160"/>
                </a:moveTo>
                <a:lnTo>
                  <a:pt x="144" y="195"/>
                </a:lnTo>
                <a:lnTo>
                  <a:pt x="204" y="195"/>
                </a:lnTo>
                <a:lnTo>
                  <a:pt x="204" y="160"/>
                </a:lnTo>
                <a:close/>
                <a:moveTo>
                  <a:pt x="399" y="195"/>
                </a:moveTo>
                <a:lnTo>
                  <a:pt x="338" y="160"/>
                </a:lnTo>
                <a:lnTo>
                  <a:pt x="338" y="195"/>
                </a:lnTo>
                <a:lnTo>
                  <a:pt x="399" y="195"/>
                </a:lnTo>
                <a:close/>
                <a:moveTo>
                  <a:pt x="291" y="109"/>
                </a:moveTo>
                <a:lnTo>
                  <a:pt x="271" y="35"/>
                </a:lnTo>
                <a:lnTo>
                  <a:pt x="251" y="109"/>
                </a:lnTo>
                <a:lnTo>
                  <a:pt x="291" y="109"/>
                </a:lnTo>
                <a:close/>
                <a:moveTo>
                  <a:pt x="251" y="231"/>
                </a:moveTo>
                <a:lnTo>
                  <a:pt x="251" y="296"/>
                </a:lnTo>
                <a:lnTo>
                  <a:pt x="291" y="296"/>
                </a:lnTo>
                <a:lnTo>
                  <a:pt x="291" y="231"/>
                </a:lnTo>
                <a:lnTo>
                  <a:pt x="251" y="231"/>
                </a:lnTo>
                <a:close/>
                <a:moveTo>
                  <a:pt x="251" y="144"/>
                </a:moveTo>
                <a:lnTo>
                  <a:pt x="251" y="195"/>
                </a:lnTo>
                <a:lnTo>
                  <a:pt x="291" y="195"/>
                </a:lnTo>
                <a:lnTo>
                  <a:pt x="291" y="144"/>
                </a:lnTo>
                <a:lnTo>
                  <a:pt x="251" y="144"/>
                </a:lnTo>
                <a:lnTo>
                  <a:pt x="251" y="144"/>
                </a:lnTo>
                <a:close/>
              </a:path>
            </a:pathLst>
          </a:custGeom>
          <a:solidFill>
            <a:srgbClr val="950F53">
              <a:lumMod val="50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67" name="Windmill3" descr="{&quot;Key&quot;:&quot;POWER_USER_SHAPE_ICON&quot;,&quot;Value&quot;:&quot;POWER_USER_SHAPE_ICON_STYLE_1&quot;}">
            <a:extLst>
              <a:ext uri="{FF2B5EF4-FFF2-40B4-BE49-F238E27FC236}">
                <a16:creationId xmlns:a16="http://schemas.microsoft.com/office/drawing/2014/main" id="{F0DB6904-8A88-AFAD-FC62-4A5E3F6532E0}"/>
              </a:ext>
            </a:extLst>
          </p:cNvPr>
          <p:cNvSpPr>
            <a:spLocks noChangeAspect="1" noEditPoints="1"/>
          </p:cNvSpPr>
          <p:nvPr>
            <p:custDataLst>
              <p:tags r:id="rId6"/>
            </p:custDataLst>
          </p:nvPr>
        </p:nvSpPr>
        <p:spPr bwMode="auto">
          <a:xfrm>
            <a:off x="3734654" y="4755308"/>
            <a:ext cx="296016" cy="335829"/>
          </a:xfrm>
          <a:custGeom>
            <a:avLst/>
            <a:gdLst>
              <a:gd name="T0" fmla="*/ 360 w 713"/>
              <a:gd name="T1" fmla="*/ 374 h 808"/>
              <a:gd name="T2" fmla="*/ 360 w 713"/>
              <a:gd name="T3" fmla="*/ 323 h 808"/>
              <a:gd name="T4" fmla="*/ 149 w 713"/>
              <a:gd name="T5" fmla="*/ 405 h 808"/>
              <a:gd name="T6" fmla="*/ 115 w 713"/>
              <a:gd name="T7" fmla="*/ 414 h 808"/>
              <a:gd name="T8" fmla="*/ 164 w 713"/>
              <a:gd name="T9" fmla="*/ 215 h 808"/>
              <a:gd name="T10" fmla="*/ 149 w 713"/>
              <a:gd name="T11" fmla="*/ 405 h 808"/>
              <a:gd name="T12" fmla="*/ 82 w 713"/>
              <a:gd name="T13" fmla="*/ 529 h 808"/>
              <a:gd name="T14" fmla="*/ 23 w 713"/>
              <a:gd name="T15" fmla="*/ 258 h 808"/>
              <a:gd name="T16" fmla="*/ 58 w 713"/>
              <a:gd name="T17" fmla="*/ 267 h 808"/>
              <a:gd name="T18" fmla="*/ 417 w 713"/>
              <a:gd name="T19" fmla="*/ 137 h 808"/>
              <a:gd name="T20" fmla="*/ 426 w 713"/>
              <a:gd name="T21" fmla="*/ 103 h 808"/>
              <a:gd name="T22" fmla="*/ 573 w 713"/>
              <a:gd name="T23" fmla="*/ 246 h 808"/>
              <a:gd name="T24" fmla="*/ 417 w 713"/>
              <a:gd name="T25" fmla="*/ 137 h 808"/>
              <a:gd name="T26" fmla="*/ 342 w 713"/>
              <a:gd name="T27" fmla="*/ 18 h 808"/>
              <a:gd name="T28" fmla="*/ 606 w 713"/>
              <a:gd name="T29" fmla="*/ 102 h 808"/>
              <a:gd name="T30" fmla="*/ 581 w 713"/>
              <a:gd name="T31" fmla="*/ 127 h 808"/>
              <a:gd name="T32" fmla="*/ 631 w 713"/>
              <a:gd name="T33" fmla="*/ 505 h 808"/>
              <a:gd name="T34" fmla="*/ 662 w 713"/>
              <a:gd name="T35" fmla="*/ 523 h 808"/>
              <a:gd name="T36" fmla="*/ 428 w 713"/>
              <a:gd name="T37" fmla="*/ 672 h 808"/>
              <a:gd name="T38" fmla="*/ 631 w 713"/>
              <a:gd name="T39" fmla="*/ 505 h 808"/>
              <a:gd name="T40" fmla="*/ 193 w 713"/>
              <a:gd name="T41" fmla="*/ 638 h 808"/>
              <a:gd name="T42" fmla="*/ 330 w 713"/>
              <a:gd name="T43" fmla="*/ 761 h 808"/>
              <a:gd name="T44" fmla="*/ 172 w 713"/>
              <a:gd name="T45" fmla="*/ 784 h 808"/>
              <a:gd name="T46" fmla="*/ 524 w 713"/>
              <a:gd name="T47" fmla="*/ 808 h 808"/>
              <a:gd name="T48" fmla="*/ 524 w 713"/>
              <a:gd name="T49" fmla="*/ 761 h 808"/>
              <a:gd name="T50" fmla="*/ 389 w 713"/>
              <a:gd name="T51" fmla="*/ 601 h 808"/>
              <a:gd name="T52" fmla="*/ 539 w 713"/>
              <a:gd name="T53" fmla="*/ 503 h 808"/>
              <a:gd name="T54" fmla="*/ 389 w 713"/>
              <a:gd name="T55" fmla="*/ 565 h 808"/>
              <a:gd name="T56" fmla="*/ 440 w 713"/>
              <a:gd name="T57" fmla="*/ 486 h 808"/>
              <a:gd name="T58" fmla="*/ 422 w 713"/>
              <a:gd name="T59" fmla="*/ 456 h 808"/>
              <a:gd name="T60" fmla="*/ 389 w 713"/>
              <a:gd name="T61" fmla="*/ 402 h 808"/>
              <a:gd name="T62" fmla="*/ 695 w 713"/>
              <a:gd name="T63" fmla="*/ 372 h 808"/>
              <a:gd name="T64" fmla="*/ 512 w 713"/>
              <a:gd name="T65" fmla="*/ 299 h 808"/>
              <a:gd name="T66" fmla="*/ 416 w 713"/>
              <a:gd name="T67" fmla="*/ 217 h 808"/>
              <a:gd name="T68" fmla="*/ 476 w 713"/>
              <a:gd name="T69" fmla="*/ 305 h 808"/>
              <a:gd name="T70" fmla="*/ 352 w 713"/>
              <a:gd name="T71" fmla="*/ 288 h 808"/>
              <a:gd name="T72" fmla="*/ 193 w 713"/>
              <a:gd name="T73" fmla="*/ 58 h 808"/>
              <a:gd name="T74" fmla="*/ 200 w 713"/>
              <a:gd name="T75" fmla="*/ 348 h 808"/>
              <a:gd name="T76" fmla="*/ 236 w 713"/>
              <a:gd name="T77" fmla="*/ 348 h 808"/>
              <a:gd name="T78" fmla="*/ 311 w 713"/>
              <a:gd name="T79" fmla="*/ 312 h 808"/>
              <a:gd name="T80" fmla="*/ 172 w 713"/>
              <a:gd name="T81" fmla="*/ 627 h 8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13" h="808">
                <a:moveTo>
                  <a:pt x="386" y="348"/>
                </a:moveTo>
                <a:cubicBezTo>
                  <a:pt x="386" y="362"/>
                  <a:pt x="374" y="374"/>
                  <a:pt x="360" y="374"/>
                </a:cubicBezTo>
                <a:cubicBezTo>
                  <a:pt x="346" y="374"/>
                  <a:pt x="334" y="362"/>
                  <a:pt x="334" y="348"/>
                </a:cubicBezTo>
                <a:cubicBezTo>
                  <a:pt x="334" y="334"/>
                  <a:pt x="346" y="323"/>
                  <a:pt x="360" y="323"/>
                </a:cubicBezTo>
                <a:cubicBezTo>
                  <a:pt x="374" y="323"/>
                  <a:pt x="386" y="334"/>
                  <a:pt x="386" y="348"/>
                </a:cubicBezTo>
                <a:close/>
                <a:moveTo>
                  <a:pt x="149" y="405"/>
                </a:moveTo>
                <a:cubicBezTo>
                  <a:pt x="151" y="414"/>
                  <a:pt x="146" y="424"/>
                  <a:pt x="136" y="427"/>
                </a:cubicBezTo>
                <a:cubicBezTo>
                  <a:pt x="127" y="429"/>
                  <a:pt x="117" y="424"/>
                  <a:pt x="115" y="414"/>
                </a:cubicBezTo>
                <a:cubicBezTo>
                  <a:pt x="97" y="349"/>
                  <a:pt x="106" y="280"/>
                  <a:pt x="140" y="221"/>
                </a:cubicBezTo>
                <a:cubicBezTo>
                  <a:pt x="145" y="213"/>
                  <a:pt x="156" y="210"/>
                  <a:pt x="164" y="215"/>
                </a:cubicBezTo>
                <a:cubicBezTo>
                  <a:pt x="173" y="220"/>
                  <a:pt x="176" y="231"/>
                  <a:pt x="171" y="239"/>
                </a:cubicBezTo>
                <a:cubicBezTo>
                  <a:pt x="142" y="289"/>
                  <a:pt x="134" y="349"/>
                  <a:pt x="149" y="405"/>
                </a:cubicBezTo>
                <a:close/>
                <a:moveTo>
                  <a:pt x="89" y="505"/>
                </a:moveTo>
                <a:cubicBezTo>
                  <a:pt x="94" y="513"/>
                  <a:pt x="91" y="524"/>
                  <a:pt x="82" y="529"/>
                </a:cubicBezTo>
                <a:cubicBezTo>
                  <a:pt x="74" y="534"/>
                  <a:pt x="63" y="531"/>
                  <a:pt x="58" y="523"/>
                </a:cubicBezTo>
                <a:cubicBezTo>
                  <a:pt x="12" y="443"/>
                  <a:pt x="0" y="347"/>
                  <a:pt x="23" y="258"/>
                </a:cubicBezTo>
                <a:cubicBezTo>
                  <a:pt x="26" y="249"/>
                  <a:pt x="36" y="243"/>
                  <a:pt x="45" y="246"/>
                </a:cubicBezTo>
                <a:cubicBezTo>
                  <a:pt x="55" y="248"/>
                  <a:pt x="60" y="258"/>
                  <a:pt x="58" y="267"/>
                </a:cubicBezTo>
                <a:cubicBezTo>
                  <a:pt x="36" y="348"/>
                  <a:pt x="47" y="433"/>
                  <a:pt x="89" y="505"/>
                </a:cubicBezTo>
                <a:close/>
                <a:moveTo>
                  <a:pt x="417" y="137"/>
                </a:moveTo>
                <a:cubicBezTo>
                  <a:pt x="407" y="135"/>
                  <a:pt x="401" y="125"/>
                  <a:pt x="404" y="116"/>
                </a:cubicBezTo>
                <a:cubicBezTo>
                  <a:pt x="407" y="106"/>
                  <a:pt x="416" y="101"/>
                  <a:pt x="426" y="103"/>
                </a:cubicBezTo>
                <a:cubicBezTo>
                  <a:pt x="491" y="121"/>
                  <a:pt x="546" y="163"/>
                  <a:pt x="580" y="222"/>
                </a:cubicBezTo>
                <a:cubicBezTo>
                  <a:pt x="585" y="230"/>
                  <a:pt x="582" y="241"/>
                  <a:pt x="573" y="246"/>
                </a:cubicBezTo>
                <a:cubicBezTo>
                  <a:pt x="565" y="250"/>
                  <a:pt x="554" y="248"/>
                  <a:pt x="549" y="239"/>
                </a:cubicBezTo>
                <a:cubicBezTo>
                  <a:pt x="520" y="189"/>
                  <a:pt x="472" y="152"/>
                  <a:pt x="417" y="137"/>
                </a:cubicBezTo>
                <a:close/>
                <a:moveTo>
                  <a:pt x="360" y="35"/>
                </a:moveTo>
                <a:cubicBezTo>
                  <a:pt x="350" y="35"/>
                  <a:pt x="342" y="27"/>
                  <a:pt x="342" y="18"/>
                </a:cubicBezTo>
                <a:cubicBezTo>
                  <a:pt x="342" y="8"/>
                  <a:pt x="350" y="0"/>
                  <a:pt x="360" y="0"/>
                </a:cubicBezTo>
                <a:cubicBezTo>
                  <a:pt x="452" y="0"/>
                  <a:pt x="541" y="37"/>
                  <a:pt x="606" y="102"/>
                </a:cubicBezTo>
                <a:cubicBezTo>
                  <a:pt x="613" y="109"/>
                  <a:pt x="613" y="120"/>
                  <a:pt x="606" y="127"/>
                </a:cubicBezTo>
                <a:cubicBezTo>
                  <a:pt x="599" y="134"/>
                  <a:pt x="588" y="134"/>
                  <a:pt x="581" y="127"/>
                </a:cubicBezTo>
                <a:cubicBezTo>
                  <a:pt x="522" y="68"/>
                  <a:pt x="443" y="35"/>
                  <a:pt x="360" y="35"/>
                </a:cubicBezTo>
                <a:close/>
                <a:moveTo>
                  <a:pt x="631" y="505"/>
                </a:moveTo>
                <a:cubicBezTo>
                  <a:pt x="636" y="497"/>
                  <a:pt x="647" y="494"/>
                  <a:pt x="655" y="498"/>
                </a:cubicBezTo>
                <a:cubicBezTo>
                  <a:pt x="664" y="503"/>
                  <a:pt x="667" y="514"/>
                  <a:pt x="662" y="523"/>
                </a:cubicBezTo>
                <a:cubicBezTo>
                  <a:pt x="615" y="603"/>
                  <a:pt x="539" y="661"/>
                  <a:pt x="450" y="685"/>
                </a:cubicBezTo>
                <a:cubicBezTo>
                  <a:pt x="441" y="687"/>
                  <a:pt x="431" y="682"/>
                  <a:pt x="428" y="672"/>
                </a:cubicBezTo>
                <a:cubicBezTo>
                  <a:pt x="426" y="663"/>
                  <a:pt x="432" y="653"/>
                  <a:pt x="441" y="651"/>
                </a:cubicBezTo>
                <a:cubicBezTo>
                  <a:pt x="521" y="629"/>
                  <a:pt x="590" y="577"/>
                  <a:pt x="631" y="505"/>
                </a:cubicBezTo>
                <a:close/>
                <a:moveTo>
                  <a:pt x="172" y="627"/>
                </a:moveTo>
                <a:cubicBezTo>
                  <a:pt x="164" y="641"/>
                  <a:pt x="179" y="652"/>
                  <a:pt x="193" y="638"/>
                </a:cubicBezTo>
                <a:lnTo>
                  <a:pt x="330" y="501"/>
                </a:lnTo>
                <a:lnTo>
                  <a:pt x="330" y="761"/>
                </a:lnTo>
                <a:lnTo>
                  <a:pt x="196" y="761"/>
                </a:lnTo>
                <a:cubicBezTo>
                  <a:pt x="183" y="761"/>
                  <a:pt x="172" y="771"/>
                  <a:pt x="172" y="784"/>
                </a:cubicBezTo>
                <a:cubicBezTo>
                  <a:pt x="172" y="797"/>
                  <a:pt x="183" y="808"/>
                  <a:pt x="196" y="808"/>
                </a:cubicBezTo>
                <a:lnTo>
                  <a:pt x="524" y="808"/>
                </a:lnTo>
                <a:cubicBezTo>
                  <a:pt x="537" y="808"/>
                  <a:pt x="548" y="797"/>
                  <a:pt x="548" y="784"/>
                </a:cubicBezTo>
                <a:cubicBezTo>
                  <a:pt x="548" y="771"/>
                  <a:pt x="537" y="761"/>
                  <a:pt x="524" y="761"/>
                </a:cubicBezTo>
                <a:lnTo>
                  <a:pt x="389" y="761"/>
                </a:lnTo>
                <a:lnTo>
                  <a:pt x="389" y="601"/>
                </a:lnTo>
                <a:cubicBezTo>
                  <a:pt x="446" y="594"/>
                  <a:pt x="499" y="568"/>
                  <a:pt x="539" y="528"/>
                </a:cubicBezTo>
                <a:cubicBezTo>
                  <a:pt x="546" y="521"/>
                  <a:pt x="546" y="510"/>
                  <a:pt x="539" y="503"/>
                </a:cubicBezTo>
                <a:cubicBezTo>
                  <a:pt x="533" y="496"/>
                  <a:pt x="521" y="496"/>
                  <a:pt x="514" y="503"/>
                </a:cubicBezTo>
                <a:cubicBezTo>
                  <a:pt x="481" y="537"/>
                  <a:pt x="437" y="559"/>
                  <a:pt x="389" y="565"/>
                </a:cubicBezTo>
                <a:lnTo>
                  <a:pt x="389" y="505"/>
                </a:lnTo>
                <a:cubicBezTo>
                  <a:pt x="407" y="502"/>
                  <a:pt x="424" y="496"/>
                  <a:pt x="440" y="486"/>
                </a:cubicBezTo>
                <a:cubicBezTo>
                  <a:pt x="448" y="482"/>
                  <a:pt x="451" y="471"/>
                  <a:pt x="446" y="462"/>
                </a:cubicBezTo>
                <a:cubicBezTo>
                  <a:pt x="441" y="454"/>
                  <a:pt x="430" y="451"/>
                  <a:pt x="422" y="456"/>
                </a:cubicBezTo>
                <a:cubicBezTo>
                  <a:pt x="412" y="462"/>
                  <a:pt x="401" y="466"/>
                  <a:pt x="389" y="469"/>
                </a:cubicBezTo>
                <a:lnTo>
                  <a:pt x="389" y="402"/>
                </a:lnTo>
                <a:cubicBezTo>
                  <a:pt x="401" y="395"/>
                  <a:pt x="411" y="385"/>
                  <a:pt x="416" y="372"/>
                </a:cubicBezTo>
                <a:lnTo>
                  <a:pt x="695" y="372"/>
                </a:lnTo>
                <a:cubicBezTo>
                  <a:pt x="711" y="372"/>
                  <a:pt x="713" y="353"/>
                  <a:pt x="695" y="348"/>
                </a:cubicBezTo>
                <a:lnTo>
                  <a:pt x="512" y="299"/>
                </a:lnTo>
                <a:cubicBezTo>
                  <a:pt x="499" y="262"/>
                  <a:pt x="474" y="230"/>
                  <a:pt x="440" y="210"/>
                </a:cubicBezTo>
                <a:cubicBezTo>
                  <a:pt x="431" y="206"/>
                  <a:pt x="420" y="208"/>
                  <a:pt x="416" y="217"/>
                </a:cubicBezTo>
                <a:cubicBezTo>
                  <a:pt x="411" y="225"/>
                  <a:pt x="414" y="236"/>
                  <a:pt x="422" y="241"/>
                </a:cubicBezTo>
                <a:cubicBezTo>
                  <a:pt x="447" y="255"/>
                  <a:pt x="466" y="278"/>
                  <a:pt x="476" y="305"/>
                </a:cubicBezTo>
                <a:cubicBezTo>
                  <a:pt x="459" y="317"/>
                  <a:pt x="437" y="323"/>
                  <a:pt x="416" y="324"/>
                </a:cubicBezTo>
                <a:cubicBezTo>
                  <a:pt x="405" y="299"/>
                  <a:pt x="379" y="285"/>
                  <a:pt x="352" y="288"/>
                </a:cubicBezTo>
                <a:lnTo>
                  <a:pt x="213" y="47"/>
                </a:lnTo>
                <a:cubicBezTo>
                  <a:pt x="205" y="32"/>
                  <a:pt x="188" y="40"/>
                  <a:pt x="193" y="58"/>
                </a:cubicBezTo>
                <a:lnTo>
                  <a:pt x="242" y="242"/>
                </a:lnTo>
                <a:cubicBezTo>
                  <a:pt x="215" y="271"/>
                  <a:pt x="200" y="309"/>
                  <a:pt x="200" y="348"/>
                </a:cubicBezTo>
                <a:cubicBezTo>
                  <a:pt x="200" y="358"/>
                  <a:pt x="208" y="366"/>
                  <a:pt x="218" y="366"/>
                </a:cubicBezTo>
                <a:cubicBezTo>
                  <a:pt x="228" y="366"/>
                  <a:pt x="236" y="358"/>
                  <a:pt x="236" y="348"/>
                </a:cubicBezTo>
                <a:cubicBezTo>
                  <a:pt x="236" y="319"/>
                  <a:pt x="246" y="291"/>
                  <a:pt x="264" y="269"/>
                </a:cubicBezTo>
                <a:cubicBezTo>
                  <a:pt x="283" y="279"/>
                  <a:pt x="299" y="295"/>
                  <a:pt x="311" y="312"/>
                </a:cubicBezTo>
                <a:cubicBezTo>
                  <a:pt x="295" y="334"/>
                  <a:pt x="295" y="364"/>
                  <a:pt x="311" y="385"/>
                </a:cubicBezTo>
                <a:lnTo>
                  <a:pt x="172" y="627"/>
                </a:lnTo>
                <a:lnTo>
                  <a:pt x="172" y="627"/>
                </a:lnTo>
              </a:path>
            </a:pathLst>
          </a:custGeom>
          <a:solidFill>
            <a:srgbClr val="BCCF00"/>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68" name="Battery4" descr="{&quot;Key&quot;:&quot;POWER_USER_SHAPE_ICON&quot;,&quot;Value&quot;:&quot;POWER_USER_SHAPE_ICON_STYLE_1&quot;}">
            <a:extLst>
              <a:ext uri="{FF2B5EF4-FFF2-40B4-BE49-F238E27FC236}">
                <a16:creationId xmlns:a16="http://schemas.microsoft.com/office/drawing/2014/main" id="{BB53408D-C0F8-E43C-6A94-7117861FD41C}"/>
              </a:ext>
            </a:extLst>
          </p:cNvPr>
          <p:cNvSpPr>
            <a:spLocks noChangeAspect="1" noEditPoints="1"/>
          </p:cNvSpPr>
          <p:nvPr>
            <p:custDataLst>
              <p:tags r:id="rId7"/>
            </p:custDataLst>
          </p:nvPr>
        </p:nvSpPr>
        <p:spPr bwMode="auto">
          <a:xfrm>
            <a:off x="3778074" y="4165623"/>
            <a:ext cx="153139" cy="262307"/>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BCCF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sp>
        <p:nvSpPr>
          <p:cNvPr id="569" name="Battery4" descr="{&quot;Key&quot;:&quot;POWER_USER_SHAPE_ICON&quot;,&quot;Value&quot;:&quot;POWER_USER_SHAPE_ICON_STYLE_1&quot;}">
            <a:extLst>
              <a:ext uri="{FF2B5EF4-FFF2-40B4-BE49-F238E27FC236}">
                <a16:creationId xmlns:a16="http://schemas.microsoft.com/office/drawing/2014/main" id="{D2DCD6E5-704A-3D92-EB4E-DBD7FC845C88}"/>
              </a:ext>
            </a:extLst>
          </p:cNvPr>
          <p:cNvSpPr>
            <a:spLocks noChangeAspect="1" noEditPoints="1"/>
          </p:cNvSpPr>
          <p:nvPr>
            <p:custDataLst>
              <p:tags r:id="rId8"/>
            </p:custDataLst>
          </p:nvPr>
        </p:nvSpPr>
        <p:spPr bwMode="auto">
          <a:xfrm>
            <a:off x="9668590" y="2813723"/>
            <a:ext cx="232455" cy="398165"/>
          </a:xfrm>
          <a:custGeom>
            <a:avLst/>
            <a:gdLst>
              <a:gd name="T0" fmla="*/ 373 w 420"/>
              <a:gd name="T1" fmla="*/ 106 h 720"/>
              <a:gd name="T2" fmla="*/ 47 w 420"/>
              <a:gd name="T3" fmla="*/ 106 h 720"/>
              <a:gd name="T4" fmla="*/ 47 w 420"/>
              <a:gd name="T5" fmla="*/ 673 h 720"/>
              <a:gd name="T6" fmla="*/ 373 w 420"/>
              <a:gd name="T7" fmla="*/ 673 h 720"/>
              <a:gd name="T8" fmla="*/ 373 w 420"/>
              <a:gd name="T9" fmla="*/ 106 h 720"/>
              <a:gd name="T10" fmla="*/ 82 w 420"/>
              <a:gd name="T11" fmla="*/ 637 h 720"/>
              <a:gd name="T12" fmla="*/ 337 w 420"/>
              <a:gd name="T13" fmla="*/ 637 h 720"/>
              <a:gd name="T14" fmla="*/ 337 w 420"/>
              <a:gd name="T15" fmla="*/ 566 h 720"/>
              <a:gd name="T16" fmla="*/ 82 w 420"/>
              <a:gd name="T17" fmla="*/ 566 h 720"/>
              <a:gd name="T18" fmla="*/ 82 w 420"/>
              <a:gd name="T19" fmla="*/ 637 h 720"/>
              <a:gd name="T20" fmla="*/ 82 w 420"/>
              <a:gd name="T21" fmla="*/ 460 h 720"/>
              <a:gd name="T22" fmla="*/ 82 w 420"/>
              <a:gd name="T23" fmla="*/ 531 h 720"/>
              <a:gd name="T24" fmla="*/ 337 w 420"/>
              <a:gd name="T25" fmla="*/ 531 h 720"/>
              <a:gd name="T26" fmla="*/ 337 w 420"/>
              <a:gd name="T27" fmla="*/ 460 h 720"/>
              <a:gd name="T28" fmla="*/ 82 w 420"/>
              <a:gd name="T29" fmla="*/ 460 h 720"/>
              <a:gd name="T30" fmla="*/ 82 w 420"/>
              <a:gd name="T31" fmla="*/ 425 h 720"/>
              <a:gd name="T32" fmla="*/ 337 w 420"/>
              <a:gd name="T33" fmla="*/ 425 h 720"/>
              <a:gd name="T34" fmla="*/ 337 w 420"/>
              <a:gd name="T35" fmla="*/ 354 h 720"/>
              <a:gd name="T36" fmla="*/ 82 w 420"/>
              <a:gd name="T37" fmla="*/ 354 h 720"/>
              <a:gd name="T38" fmla="*/ 82 w 420"/>
              <a:gd name="T39" fmla="*/ 425 h 720"/>
              <a:gd name="T40" fmla="*/ 23 w 420"/>
              <a:gd name="T41" fmla="*/ 59 h 720"/>
              <a:gd name="T42" fmla="*/ 125 w 420"/>
              <a:gd name="T43" fmla="*/ 59 h 720"/>
              <a:gd name="T44" fmla="*/ 125 w 420"/>
              <a:gd name="T45" fmla="*/ 33 h 720"/>
              <a:gd name="T46" fmla="*/ 158 w 420"/>
              <a:gd name="T47" fmla="*/ 0 h 720"/>
              <a:gd name="T48" fmla="*/ 262 w 420"/>
              <a:gd name="T49" fmla="*/ 0 h 720"/>
              <a:gd name="T50" fmla="*/ 295 w 420"/>
              <a:gd name="T51" fmla="*/ 33 h 720"/>
              <a:gd name="T52" fmla="*/ 295 w 420"/>
              <a:gd name="T53" fmla="*/ 59 h 720"/>
              <a:gd name="T54" fmla="*/ 397 w 420"/>
              <a:gd name="T55" fmla="*/ 59 h 720"/>
              <a:gd name="T56" fmla="*/ 420 w 420"/>
              <a:gd name="T57" fmla="*/ 82 h 720"/>
              <a:gd name="T58" fmla="*/ 420 w 420"/>
              <a:gd name="T59" fmla="*/ 696 h 720"/>
              <a:gd name="T60" fmla="*/ 397 w 420"/>
              <a:gd name="T61" fmla="*/ 720 h 720"/>
              <a:gd name="T62" fmla="*/ 23 w 420"/>
              <a:gd name="T63" fmla="*/ 720 h 720"/>
              <a:gd name="T64" fmla="*/ 0 w 420"/>
              <a:gd name="T65" fmla="*/ 696 h 720"/>
              <a:gd name="T66" fmla="*/ 0 w 420"/>
              <a:gd name="T67" fmla="*/ 82 h 720"/>
              <a:gd name="T68" fmla="*/ 23 w 420"/>
              <a:gd name="T69" fmla="*/ 59 h 720"/>
              <a:gd name="T70" fmla="*/ 23 w 420"/>
              <a:gd name="T71" fmla="*/ 59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0" h="720">
                <a:moveTo>
                  <a:pt x="373" y="106"/>
                </a:moveTo>
                <a:lnTo>
                  <a:pt x="47" y="106"/>
                </a:lnTo>
                <a:lnTo>
                  <a:pt x="47" y="673"/>
                </a:lnTo>
                <a:lnTo>
                  <a:pt x="373" y="673"/>
                </a:lnTo>
                <a:lnTo>
                  <a:pt x="373" y="106"/>
                </a:lnTo>
                <a:close/>
                <a:moveTo>
                  <a:pt x="82" y="637"/>
                </a:moveTo>
                <a:lnTo>
                  <a:pt x="337" y="637"/>
                </a:lnTo>
                <a:lnTo>
                  <a:pt x="337" y="566"/>
                </a:lnTo>
                <a:lnTo>
                  <a:pt x="82" y="566"/>
                </a:lnTo>
                <a:lnTo>
                  <a:pt x="82" y="637"/>
                </a:lnTo>
                <a:close/>
                <a:moveTo>
                  <a:pt x="82" y="460"/>
                </a:moveTo>
                <a:lnTo>
                  <a:pt x="82" y="531"/>
                </a:lnTo>
                <a:lnTo>
                  <a:pt x="337" y="531"/>
                </a:lnTo>
                <a:lnTo>
                  <a:pt x="337" y="460"/>
                </a:lnTo>
                <a:lnTo>
                  <a:pt x="82" y="460"/>
                </a:lnTo>
                <a:close/>
                <a:moveTo>
                  <a:pt x="82" y="425"/>
                </a:moveTo>
                <a:lnTo>
                  <a:pt x="337" y="425"/>
                </a:lnTo>
                <a:lnTo>
                  <a:pt x="337" y="354"/>
                </a:lnTo>
                <a:lnTo>
                  <a:pt x="82" y="354"/>
                </a:lnTo>
                <a:lnTo>
                  <a:pt x="82" y="425"/>
                </a:lnTo>
                <a:close/>
                <a:moveTo>
                  <a:pt x="23" y="59"/>
                </a:moveTo>
                <a:lnTo>
                  <a:pt x="125" y="59"/>
                </a:lnTo>
                <a:lnTo>
                  <a:pt x="125" y="33"/>
                </a:lnTo>
                <a:cubicBezTo>
                  <a:pt x="125" y="14"/>
                  <a:pt x="140" y="0"/>
                  <a:pt x="158" y="0"/>
                </a:cubicBezTo>
                <a:lnTo>
                  <a:pt x="262" y="0"/>
                </a:lnTo>
                <a:cubicBezTo>
                  <a:pt x="280" y="0"/>
                  <a:pt x="295" y="14"/>
                  <a:pt x="295" y="33"/>
                </a:cubicBezTo>
                <a:lnTo>
                  <a:pt x="295" y="59"/>
                </a:lnTo>
                <a:lnTo>
                  <a:pt x="397" y="59"/>
                </a:lnTo>
                <a:cubicBezTo>
                  <a:pt x="410" y="59"/>
                  <a:pt x="420" y="69"/>
                  <a:pt x="420" y="82"/>
                </a:cubicBezTo>
                <a:lnTo>
                  <a:pt x="420" y="696"/>
                </a:lnTo>
                <a:cubicBezTo>
                  <a:pt x="420" y="709"/>
                  <a:pt x="410" y="720"/>
                  <a:pt x="397" y="720"/>
                </a:cubicBezTo>
                <a:lnTo>
                  <a:pt x="23" y="720"/>
                </a:lnTo>
                <a:cubicBezTo>
                  <a:pt x="10" y="720"/>
                  <a:pt x="0" y="709"/>
                  <a:pt x="0" y="696"/>
                </a:cubicBezTo>
                <a:lnTo>
                  <a:pt x="0" y="82"/>
                </a:lnTo>
                <a:cubicBezTo>
                  <a:pt x="0" y="69"/>
                  <a:pt x="10" y="59"/>
                  <a:pt x="23" y="59"/>
                </a:cubicBezTo>
                <a:lnTo>
                  <a:pt x="23" y="59"/>
                </a:lnTo>
                <a:close/>
              </a:path>
            </a:pathLst>
          </a:custGeom>
          <a:solidFill>
            <a:srgbClr val="BCCF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fr-FR" sz="1200" kern="0" dirty="0">
              <a:solidFill>
                <a:prstClr val="black"/>
              </a:solidFill>
              <a:latin typeface="Aptos" panose="020B0004020202020204" pitchFamily="34" charset="0"/>
            </a:endParaRPr>
          </a:p>
        </p:txBody>
      </p:sp>
      <p:cxnSp>
        <p:nvCxnSpPr>
          <p:cNvPr id="570" name="Gerade Verbindung mit Pfeil 569">
            <a:extLst>
              <a:ext uri="{FF2B5EF4-FFF2-40B4-BE49-F238E27FC236}">
                <a16:creationId xmlns:a16="http://schemas.microsoft.com/office/drawing/2014/main" id="{D7F0BA69-9F34-7E88-F893-0EBBF6B49CDF}"/>
              </a:ext>
            </a:extLst>
          </p:cNvPr>
          <p:cNvCxnSpPr>
            <a:cxnSpLocks/>
          </p:cNvCxnSpPr>
          <p:nvPr/>
        </p:nvCxnSpPr>
        <p:spPr>
          <a:xfrm>
            <a:off x="4094653" y="4896396"/>
            <a:ext cx="486016" cy="0"/>
          </a:xfrm>
          <a:prstGeom prst="straightConnector1">
            <a:avLst/>
          </a:prstGeom>
          <a:noFill/>
          <a:ln w="57150" cap="flat" cmpd="sng" algn="ctr">
            <a:solidFill>
              <a:srgbClr val="FF0000"/>
            </a:solidFill>
            <a:prstDash val="solid"/>
            <a:miter lim="800000"/>
            <a:tailEnd type="triangle"/>
          </a:ln>
          <a:effectLst/>
        </p:spPr>
      </p:cxnSp>
      <p:cxnSp>
        <p:nvCxnSpPr>
          <p:cNvPr id="571" name="Gerade Verbindung mit Pfeil 570">
            <a:extLst>
              <a:ext uri="{FF2B5EF4-FFF2-40B4-BE49-F238E27FC236}">
                <a16:creationId xmlns:a16="http://schemas.microsoft.com/office/drawing/2014/main" id="{580155C1-75B5-6B83-2057-DCAD183745C2}"/>
              </a:ext>
            </a:extLst>
          </p:cNvPr>
          <p:cNvCxnSpPr>
            <a:cxnSpLocks/>
          </p:cNvCxnSpPr>
          <p:nvPr/>
        </p:nvCxnSpPr>
        <p:spPr>
          <a:xfrm>
            <a:off x="4111091" y="6095000"/>
            <a:ext cx="469578" cy="0"/>
          </a:xfrm>
          <a:prstGeom prst="straightConnector1">
            <a:avLst/>
          </a:prstGeom>
          <a:noFill/>
          <a:ln w="57150" cap="flat" cmpd="sng" algn="ctr">
            <a:solidFill>
              <a:srgbClr val="FF0000"/>
            </a:solidFill>
            <a:prstDash val="solid"/>
            <a:miter lim="800000"/>
            <a:tailEnd type="triangle"/>
          </a:ln>
          <a:effectLst/>
        </p:spPr>
      </p:cxnSp>
      <p:grpSp>
        <p:nvGrpSpPr>
          <p:cNvPr id="572" name="Gruppieren 571">
            <a:extLst>
              <a:ext uri="{FF2B5EF4-FFF2-40B4-BE49-F238E27FC236}">
                <a16:creationId xmlns:a16="http://schemas.microsoft.com/office/drawing/2014/main" id="{F66CD855-5976-027C-43C4-588185285771}"/>
              </a:ext>
            </a:extLst>
          </p:cNvPr>
          <p:cNvGrpSpPr/>
          <p:nvPr/>
        </p:nvGrpSpPr>
        <p:grpSpPr>
          <a:xfrm>
            <a:off x="3694929" y="5220232"/>
            <a:ext cx="448858" cy="473074"/>
            <a:chOff x="8230691" y="575607"/>
            <a:chExt cx="825645" cy="818593"/>
          </a:xfrm>
        </p:grpSpPr>
        <p:sp>
          <p:nvSpPr>
            <p:cNvPr id="573" name="Flussdiagramm: Anzeige 9">
              <a:extLst>
                <a:ext uri="{FF2B5EF4-FFF2-40B4-BE49-F238E27FC236}">
                  <a16:creationId xmlns:a16="http://schemas.microsoft.com/office/drawing/2014/main" id="{B88FE01C-DC14-FB89-839B-9F04BA3C6ABA}"/>
                </a:ext>
              </a:extLst>
            </p:cNvPr>
            <p:cNvSpPr/>
            <p:nvPr/>
          </p:nvSpPr>
          <p:spPr>
            <a:xfrm rot="5400000">
              <a:off x="8234217" y="572081"/>
              <a:ext cx="818593" cy="825645"/>
            </a:xfrm>
            <a:custGeom>
              <a:avLst/>
              <a:gdLst>
                <a:gd name="connsiteX0" fmla="*/ 0 w 10000"/>
                <a:gd name="connsiteY0" fmla="*/ 5000 h 10000"/>
                <a:gd name="connsiteX1" fmla="*/ 1667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0000"/>
                <a:gd name="connsiteY0" fmla="*/ 5000 h 10000"/>
                <a:gd name="connsiteX1" fmla="*/ 3819 w 10000"/>
                <a:gd name="connsiteY1" fmla="*/ 0 h 10000"/>
                <a:gd name="connsiteX2" fmla="*/ 8333 w 10000"/>
                <a:gd name="connsiteY2" fmla="*/ 0 h 10000"/>
                <a:gd name="connsiteX3" fmla="*/ 10000 w 10000"/>
                <a:gd name="connsiteY3" fmla="*/ 5000 h 10000"/>
                <a:gd name="connsiteX4" fmla="*/ 8333 w 10000"/>
                <a:gd name="connsiteY4" fmla="*/ 10000 h 10000"/>
                <a:gd name="connsiteX5" fmla="*/ 1667 w 10000"/>
                <a:gd name="connsiteY5" fmla="*/ 10000 h 10000"/>
                <a:gd name="connsiteX6" fmla="*/ 0 w 10000"/>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1667 w 11407"/>
                <a:gd name="connsiteY5" fmla="*/ 10000 h 10000"/>
                <a:gd name="connsiteX6" fmla="*/ 0 w 11407"/>
                <a:gd name="connsiteY6" fmla="*/ 5000 h 10000"/>
                <a:gd name="connsiteX0" fmla="*/ 0 w 11407"/>
                <a:gd name="connsiteY0" fmla="*/ 5000 h 10000"/>
                <a:gd name="connsiteX1" fmla="*/ 3819 w 11407"/>
                <a:gd name="connsiteY1" fmla="*/ 0 h 10000"/>
                <a:gd name="connsiteX2" fmla="*/ 8333 w 11407"/>
                <a:gd name="connsiteY2" fmla="*/ 0 h 10000"/>
                <a:gd name="connsiteX3" fmla="*/ 11407 w 11407"/>
                <a:gd name="connsiteY3" fmla="*/ 5000 h 10000"/>
                <a:gd name="connsiteX4" fmla="*/ 8333 w 11407"/>
                <a:gd name="connsiteY4" fmla="*/ 10000 h 10000"/>
                <a:gd name="connsiteX5" fmla="*/ 3902 w 11407"/>
                <a:gd name="connsiteY5" fmla="*/ 10000 h 10000"/>
                <a:gd name="connsiteX6" fmla="*/ 0 w 11407"/>
                <a:gd name="connsiteY6"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 h="10000">
                  <a:moveTo>
                    <a:pt x="0" y="5000"/>
                  </a:moveTo>
                  <a:lnTo>
                    <a:pt x="3819" y="0"/>
                  </a:lnTo>
                  <a:lnTo>
                    <a:pt x="8333" y="0"/>
                  </a:lnTo>
                  <a:cubicBezTo>
                    <a:pt x="9254" y="0"/>
                    <a:pt x="11407" y="2239"/>
                    <a:pt x="11407" y="5000"/>
                  </a:cubicBezTo>
                  <a:cubicBezTo>
                    <a:pt x="11407" y="7761"/>
                    <a:pt x="9254" y="10000"/>
                    <a:pt x="8333" y="10000"/>
                  </a:cubicBezTo>
                  <a:lnTo>
                    <a:pt x="3902" y="10000"/>
                  </a:lnTo>
                  <a:lnTo>
                    <a:pt x="0" y="5000"/>
                  </a:lnTo>
                  <a:close/>
                </a:path>
              </a:pathLst>
            </a:custGeom>
            <a:gradFill flip="none" rotWithShape="1">
              <a:gsLst>
                <a:gs pos="80000">
                  <a:srgbClr val="F59C00"/>
                </a:gs>
                <a:gs pos="91000">
                  <a:srgbClr val="FFFFFF"/>
                </a:gs>
              </a:gsLst>
              <a:lin ang="10800000" scaled="1"/>
              <a:tileRect/>
            </a:grad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900" kern="0" dirty="0">
                <a:solidFill>
                  <a:prstClr val="white"/>
                </a:solidFill>
                <a:latin typeface="Aptos" panose="020B0004020202020204" pitchFamily="34" charset="0"/>
              </a:endParaRPr>
            </a:p>
          </p:txBody>
        </p:sp>
        <p:sp>
          <p:nvSpPr>
            <p:cNvPr id="574" name="Car7" descr="{&quot;Key&quot;:&quot;POWER_USER_SHAPE_ICON&quot;,&quot;Value&quot;:&quot;POWER_USER_SHAPE_ICON_STYLE_1&quot;}">
              <a:extLst>
                <a:ext uri="{FF2B5EF4-FFF2-40B4-BE49-F238E27FC236}">
                  <a16:creationId xmlns:a16="http://schemas.microsoft.com/office/drawing/2014/main" id="{D83EB674-FE04-D5D3-F8E3-8EBD23691484}"/>
                </a:ext>
              </a:extLst>
            </p:cNvPr>
            <p:cNvSpPr>
              <a:spLocks noChangeAspect="1" noEditPoints="1"/>
            </p:cNvSpPr>
            <p:nvPr>
              <p:custDataLst>
                <p:tags r:id="rId9"/>
              </p:custDataLst>
            </p:nvPr>
          </p:nvSpPr>
          <p:spPr bwMode="auto">
            <a:xfrm>
              <a:off x="8431470" y="842936"/>
              <a:ext cx="424097" cy="35705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59C00">
                <a:lumMod val="7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en-US" sz="1200" kern="0" dirty="0">
                <a:solidFill>
                  <a:prstClr val="black"/>
                </a:solidFill>
                <a:latin typeface="Aptos" panose="020B0004020202020204" pitchFamily="34" charset="0"/>
              </a:endParaRPr>
            </a:p>
          </p:txBody>
        </p:sp>
      </p:grpSp>
      <p:sp>
        <p:nvSpPr>
          <p:cNvPr id="576" name="Textfeld 575">
            <a:extLst>
              <a:ext uri="{FF2B5EF4-FFF2-40B4-BE49-F238E27FC236}">
                <a16:creationId xmlns:a16="http://schemas.microsoft.com/office/drawing/2014/main" id="{C265319E-172F-A0B9-98E9-7B0080A11486}"/>
              </a:ext>
            </a:extLst>
          </p:cNvPr>
          <p:cNvSpPr txBox="1"/>
          <p:nvPr/>
        </p:nvSpPr>
        <p:spPr>
          <a:xfrm>
            <a:off x="940719" y="5294559"/>
            <a:ext cx="2696252" cy="369332"/>
          </a:xfrm>
          <a:prstGeom prst="rect">
            <a:avLst/>
          </a:prstGeom>
          <a:noFill/>
        </p:spPr>
        <p:txBody>
          <a:bodyPr wrap="square" rtlCol="0">
            <a:spAutoFit/>
          </a:bodyPr>
          <a:lstStyle/>
          <a:p>
            <a:pPr algn="r">
              <a:defRPr/>
            </a:pPr>
            <a:r>
              <a:rPr lang="en-GB" sz="900" dirty="0">
                <a:solidFill>
                  <a:prstClr val="black"/>
                </a:solidFill>
                <a:latin typeface="Aptos" panose="020B0004020202020204" pitchFamily="34" charset="0"/>
              </a:rPr>
              <a:t>Electric Vehicle </a:t>
            </a:r>
          </a:p>
          <a:p>
            <a:pPr algn="r">
              <a:defRPr/>
            </a:pPr>
            <a:r>
              <a:rPr lang="en-GB" sz="900" dirty="0">
                <a:solidFill>
                  <a:prstClr val="black"/>
                </a:solidFill>
                <a:latin typeface="Aptos" panose="020B0004020202020204" pitchFamily="34" charset="0"/>
              </a:rPr>
              <a:t>Maximum Charge</a:t>
            </a:r>
            <a:endParaRPr lang="de-AT" sz="900" dirty="0">
              <a:solidFill>
                <a:prstClr val="black"/>
              </a:solidFill>
              <a:latin typeface="Aptos" panose="020B0004020202020204" pitchFamily="34" charset="0"/>
            </a:endParaRPr>
          </a:p>
        </p:txBody>
      </p:sp>
      <p:grpSp>
        <p:nvGrpSpPr>
          <p:cNvPr id="577" name="Gruppieren 576">
            <a:extLst>
              <a:ext uri="{FF2B5EF4-FFF2-40B4-BE49-F238E27FC236}">
                <a16:creationId xmlns:a16="http://schemas.microsoft.com/office/drawing/2014/main" id="{4CDA2660-1059-2E51-42FD-485BDBA82956}"/>
              </a:ext>
            </a:extLst>
          </p:cNvPr>
          <p:cNvGrpSpPr/>
          <p:nvPr/>
        </p:nvGrpSpPr>
        <p:grpSpPr>
          <a:xfrm>
            <a:off x="4816436" y="5338962"/>
            <a:ext cx="1323526" cy="344992"/>
            <a:chOff x="3670846" y="3584184"/>
            <a:chExt cx="1815786" cy="473307"/>
          </a:xfrm>
          <a:solidFill>
            <a:srgbClr val="F59C00"/>
          </a:solidFill>
        </p:grpSpPr>
        <p:sp>
          <p:nvSpPr>
            <p:cNvPr id="578" name="Pfeil: gebogen 577">
              <a:extLst>
                <a:ext uri="{FF2B5EF4-FFF2-40B4-BE49-F238E27FC236}">
                  <a16:creationId xmlns:a16="http://schemas.microsoft.com/office/drawing/2014/main" id="{667A4A4D-163D-F5FF-90F1-E7545B4E6CDE}"/>
                </a:ext>
              </a:extLst>
            </p:cNvPr>
            <p:cNvSpPr/>
            <p:nvPr/>
          </p:nvSpPr>
          <p:spPr>
            <a:xfrm rot="5400000" flipH="1">
              <a:off x="3686385" y="3580935"/>
              <a:ext cx="461017" cy="492096"/>
            </a:xfrm>
            <a:prstGeom prst="bentArrow">
              <a:avLst>
                <a:gd name="adj1" fmla="val 30165"/>
                <a:gd name="adj2" fmla="val 25000"/>
                <a:gd name="adj3" fmla="val 25000"/>
                <a:gd name="adj4" fmla="val 64755"/>
              </a:avLst>
            </a:prstGeom>
            <a:grp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sp>
          <p:nvSpPr>
            <p:cNvPr id="579" name="Pfeil: gebogen 578">
              <a:extLst>
                <a:ext uri="{FF2B5EF4-FFF2-40B4-BE49-F238E27FC236}">
                  <a16:creationId xmlns:a16="http://schemas.microsoft.com/office/drawing/2014/main" id="{31C7BFE3-3B1F-CCBA-1843-1209EE3E3D27}"/>
                </a:ext>
              </a:extLst>
            </p:cNvPr>
            <p:cNvSpPr/>
            <p:nvPr/>
          </p:nvSpPr>
          <p:spPr>
            <a:xfrm rot="5400000" flipH="1">
              <a:off x="5010075" y="3568645"/>
              <a:ext cx="461017" cy="492096"/>
            </a:xfrm>
            <a:prstGeom prst="bentArrow">
              <a:avLst>
                <a:gd name="adj1" fmla="val 30165"/>
                <a:gd name="adj2" fmla="val 25000"/>
                <a:gd name="adj3" fmla="val 25000"/>
                <a:gd name="adj4" fmla="val 64755"/>
              </a:avLst>
            </a:prstGeom>
            <a:grpFill/>
            <a:ln w="12700" cap="flat" cmpd="sng" algn="ctr">
              <a:solidFill>
                <a:srgbClr val="F59C00">
                  <a:lumMod val="75000"/>
                </a:srgbClr>
              </a:solidFill>
              <a:prstDash val="solid"/>
              <a:miter lim="800000"/>
            </a:ln>
            <a:effectLst/>
          </p:spPr>
          <p:txBody>
            <a:bodyPr vert="vert270" rtlCol="0" anchor="ctr"/>
            <a:lstStyle/>
            <a:p>
              <a:pPr algn="ctr" defTabSz="914339">
                <a:defRPr/>
              </a:pPr>
              <a:endParaRPr lang="de-AT" sz="1200" kern="0" dirty="0">
                <a:solidFill>
                  <a:prstClr val="white"/>
                </a:solidFill>
                <a:latin typeface="Aptos" panose="020B0004020202020204" pitchFamily="34" charset="0"/>
              </a:endParaRPr>
            </a:p>
          </p:txBody>
        </p:sp>
      </p:grpSp>
      <p:cxnSp>
        <p:nvCxnSpPr>
          <p:cNvPr id="580" name="Gewinkelter Verbinder 271">
            <a:extLst>
              <a:ext uri="{FF2B5EF4-FFF2-40B4-BE49-F238E27FC236}">
                <a16:creationId xmlns:a16="http://schemas.microsoft.com/office/drawing/2014/main" id="{2EEA6F15-81A8-8787-EB24-F4814E6F95C0}"/>
              </a:ext>
            </a:extLst>
          </p:cNvPr>
          <p:cNvCxnSpPr>
            <a:cxnSpLocks/>
          </p:cNvCxnSpPr>
          <p:nvPr/>
        </p:nvCxnSpPr>
        <p:spPr>
          <a:xfrm flipH="1">
            <a:off x="4829821" y="4930490"/>
            <a:ext cx="5021070" cy="542851"/>
          </a:xfrm>
          <a:prstGeom prst="bentConnector5">
            <a:avLst>
              <a:gd name="adj1" fmla="val -3319"/>
              <a:gd name="adj2" fmla="val 43954"/>
              <a:gd name="adj3" fmla="val 103319"/>
            </a:avLst>
          </a:prstGeom>
          <a:noFill/>
          <a:ln w="28575" cap="flat" cmpd="sng" algn="ctr">
            <a:solidFill>
              <a:schemeClr val="bg1">
                <a:lumMod val="85000"/>
              </a:schemeClr>
            </a:solidFill>
            <a:prstDash val="sysDot"/>
            <a:miter lim="800000"/>
            <a:tailEnd type="triangle"/>
          </a:ln>
          <a:effectLst/>
        </p:spPr>
      </p:cxnSp>
      <p:cxnSp>
        <p:nvCxnSpPr>
          <p:cNvPr id="581" name="Gerade Verbindung mit Pfeil 580">
            <a:extLst>
              <a:ext uri="{FF2B5EF4-FFF2-40B4-BE49-F238E27FC236}">
                <a16:creationId xmlns:a16="http://schemas.microsoft.com/office/drawing/2014/main" id="{A81A2C16-6062-3B0A-7E65-867237D46856}"/>
              </a:ext>
            </a:extLst>
          </p:cNvPr>
          <p:cNvCxnSpPr>
            <a:cxnSpLocks/>
          </p:cNvCxnSpPr>
          <p:nvPr/>
        </p:nvCxnSpPr>
        <p:spPr>
          <a:xfrm>
            <a:off x="5102316" y="5578299"/>
            <a:ext cx="732870" cy="4780"/>
          </a:xfrm>
          <a:prstGeom prst="straightConnector1">
            <a:avLst/>
          </a:prstGeom>
          <a:noFill/>
          <a:ln w="28575" cap="flat" cmpd="sng" algn="ctr">
            <a:solidFill>
              <a:schemeClr val="bg1">
                <a:lumMod val="85000"/>
              </a:schemeClr>
            </a:solidFill>
            <a:prstDash val="sysDot"/>
            <a:miter lim="800000"/>
            <a:tailEnd type="triangle"/>
          </a:ln>
          <a:effectLst/>
        </p:spPr>
      </p:cxnSp>
      <p:sp>
        <p:nvSpPr>
          <p:cNvPr id="582" name="Rechteck 581">
            <a:extLst>
              <a:ext uri="{FF2B5EF4-FFF2-40B4-BE49-F238E27FC236}">
                <a16:creationId xmlns:a16="http://schemas.microsoft.com/office/drawing/2014/main" id="{7E849538-D2E8-8375-8A0B-470801351CB2}"/>
              </a:ext>
            </a:extLst>
          </p:cNvPr>
          <p:cNvSpPr/>
          <p:nvPr/>
        </p:nvSpPr>
        <p:spPr>
          <a:xfrm>
            <a:off x="1678877" y="4531084"/>
            <a:ext cx="1087128" cy="601338"/>
          </a:xfrm>
          <a:prstGeom prst="rect">
            <a:avLst/>
          </a:prstGeom>
          <a:solidFill>
            <a:srgbClr val="FFFFFF"/>
          </a:solidFill>
          <a:ln w="28575" cap="flat" cmpd="sng" algn="ctr">
            <a:noFill/>
            <a:prstDash val="dash"/>
            <a:miter lim="800000"/>
          </a:ln>
          <a:effectLst/>
        </p:spPr>
        <p:txBody>
          <a:bodyPr rtlCol="0" anchor="ctr"/>
          <a:lstStyle/>
          <a:p>
            <a:pPr algn="r" defTabSz="914339">
              <a:defRPr/>
            </a:pPr>
            <a:endParaRPr lang="de-AT" sz="1200" kern="0" dirty="0">
              <a:solidFill>
                <a:prstClr val="white"/>
              </a:solidFill>
              <a:latin typeface="Aptos" panose="020B0004020202020204" pitchFamily="34" charset="0"/>
            </a:endParaRPr>
          </a:p>
        </p:txBody>
      </p:sp>
      <p:sp>
        <p:nvSpPr>
          <p:cNvPr id="583" name="Textfeld 582">
            <a:extLst>
              <a:ext uri="{FF2B5EF4-FFF2-40B4-BE49-F238E27FC236}">
                <a16:creationId xmlns:a16="http://schemas.microsoft.com/office/drawing/2014/main" id="{440457AC-C878-66E8-D6F6-80471B408D6E}"/>
              </a:ext>
            </a:extLst>
          </p:cNvPr>
          <p:cNvSpPr txBox="1"/>
          <p:nvPr/>
        </p:nvSpPr>
        <p:spPr>
          <a:xfrm>
            <a:off x="1288385" y="4615446"/>
            <a:ext cx="2352870" cy="369332"/>
          </a:xfrm>
          <a:prstGeom prst="rect">
            <a:avLst/>
          </a:prstGeom>
          <a:noFill/>
        </p:spPr>
        <p:txBody>
          <a:bodyPr wrap="square" rtlCol="0">
            <a:spAutoFit/>
          </a:bodyPr>
          <a:lstStyle/>
          <a:p>
            <a:pPr algn="r">
              <a:defRPr/>
            </a:pPr>
            <a:r>
              <a:rPr lang="en-GB" sz="900" dirty="0">
                <a:solidFill>
                  <a:prstClr val="black"/>
                </a:solidFill>
                <a:latin typeface="Aptos" panose="020B0004020202020204" pitchFamily="34" charset="0"/>
              </a:rPr>
              <a:t>Offsite Renewable Excess</a:t>
            </a:r>
          </a:p>
          <a:p>
            <a:pPr algn="r">
              <a:defRPr/>
            </a:pPr>
            <a:r>
              <a:rPr lang="en-GB" sz="900" dirty="0">
                <a:solidFill>
                  <a:prstClr val="black"/>
                </a:solidFill>
                <a:latin typeface="Aptos" panose="020B0004020202020204" pitchFamily="34" charset="0"/>
              </a:rPr>
              <a:t>(DSM, Wind Peaks)</a:t>
            </a:r>
            <a:endParaRPr lang="de-AT" sz="900" dirty="0">
              <a:solidFill>
                <a:prstClr val="black"/>
              </a:solidFill>
              <a:latin typeface="Aptos" panose="020B0004020202020204" pitchFamily="34" charset="0"/>
            </a:endParaRPr>
          </a:p>
        </p:txBody>
      </p:sp>
      <p:sp>
        <p:nvSpPr>
          <p:cNvPr id="9" name="Textfeld 8">
            <a:extLst>
              <a:ext uri="{FF2B5EF4-FFF2-40B4-BE49-F238E27FC236}">
                <a16:creationId xmlns:a16="http://schemas.microsoft.com/office/drawing/2014/main" id="{A952B41D-3DED-EAD2-87DD-643B114AA064}"/>
              </a:ext>
            </a:extLst>
          </p:cNvPr>
          <p:cNvSpPr txBox="1"/>
          <p:nvPr/>
        </p:nvSpPr>
        <p:spPr>
          <a:xfrm rot="2124747">
            <a:off x="2937202" y="2561254"/>
            <a:ext cx="1168077" cy="276999"/>
          </a:xfrm>
          <a:prstGeom prst="rect">
            <a:avLst/>
          </a:prstGeom>
          <a:noFill/>
        </p:spPr>
        <p:txBody>
          <a:bodyPr wrap="none" rtlCol="0">
            <a:spAutoFit/>
          </a:bodyPr>
          <a:lstStyle/>
          <a:p>
            <a:r>
              <a:rPr lang="de-AT" sz="1200" dirty="0">
                <a:solidFill>
                  <a:schemeClr val="bg1">
                    <a:lumMod val="50000"/>
                  </a:schemeClr>
                </a:solidFill>
                <a:latin typeface="Aptos" panose="020B0004020202020204" pitchFamily="34" charset="0"/>
              </a:rPr>
              <a:t>Dispatch order</a:t>
            </a:r>
          </a:p>
        </p:txBody>
      </p:sp>
    </p:spTree>
    <p:extLst>
      <p:ext uri="{BB962C8B-B14F-4D97-AF65-F5344CB8AC3E}">
        <p14:creationId xmlns:p14="http://schemas.microsoft.com/office/powerpoint/2010/main" val="2283873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703F-C46A-DA28-AE94-2EBF3306D72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8BCB60D-05A1-AEBE-FF19-B55EF57A4847}"/>
              </a:ext>
            </a:extLst>
          </p:cNvPr>
          <p:cNvSpPr>
            <a:spLocks noGrp="1"/>
          </p:cNvSpPr>
          <p:nvPr>
            <p:ph type="title"/>
          </p:nvPr>
        </p:nvSpPr>
        <p:spPr/>
        <p:txBody>
          <a:bodyPr/>
          <a:lstStyle/>
          <a:p>
            <a:r>
              <a:rPr lang="de-DE" dirty="0"/>
              <a:t>🚗Mobilität: Standort und EV Anteil sind kritisch</a:t>
            </a:r>
          </a:p>
        </p:txBody>
      </p:sp>
      <p:sp>
        <p:nvSpPr>
          <p:cNvPr id="3" name="Textplatzhalter 2">
            <a:extLst>
              <a:ext uri="{FF2B5EF4-FFF2-40B4-BE49-F238E27FC236}">
                <a16:creationId xmlns:a16="http://schemas.microsoft.com/office/drawing/2014/main" id="{1740A30A-50DB-1B1B-9CA2-408EC7C4BDDC}"/>
              </a:ext>
            </a:extLst>
          </p:cNvPr>
          <p:cNvSpPr>
            <a:spLocks noGrp="1"/>
          </p:cNvSpPr>
          <p:nvPr>
            <p:ph type="body" sz="quarter" idx="13"/>
          </p:nvPr>
        </p:nvSpPr>
        <p:spPr>
          <a:xfrm>
            <a:off x="719669" y="2164801"/>
            <a:ext cx="7742328" cy="3977767"/>
          </a:xfrm>
        </p:spPr>
        <p:txBody>
          <a:bodyPr>
            <a:normAutofit/>
          </a:bodyPr>
          <a:lstStyle/>
          <a:p>
            <a:pPr marL="0" indent="0">
              <a:buNone/>
            </a:pPr>
            <a:r>
              <a:rPr lang="de-DE" dirty="0"/>
              <a:t>Verantwortung ⚖️ Einflussmöglichkeiten:</a:t>
            </a:r>
            <a:br>
              <a:rPr lang="de-DE" dirty="0"/>
            </a:br>
            <a:r>
              <a:rPr lang="de-DE" dirty="0"/>
              <a:t>🚉Öffentlicher Verkehr wird nicht berücksichtigt</a:t>
            </a:r>
          </a:p>
          <a:p>
            <a:pPr marL="0" indent="0">
              <a:buNone/>
            </a:pPr>
            <a:r>
              <a:rPr lang="de-DE" dirty="0"/>
              <a:t>🚗Motorisierter Individualverkehr dominiert Emissionsbilanz</a:t>
            </a:r>
          </a:p>
          <a:p>
            <a:pPr marL="0" indent="0">
              <a:buNone/>
            </a:pPr>
            <a:r>
              <a:rPr lang="de-DE" dirty="0"/>
              <a:t>🔧Mittelbare Einflussnahme durch bauliche Maßnahmen:</a:t>
            </a:r>
          </a:p>
          <a:p>
            <a:r>
              <a:rPr lang="de-DE" dirty="0"/>
              <a:t>🛣️Standort</a:t>
            </a:r>
          </a:p>
          <a:p>
            <a:r>
              <a:rPr lang="de-DE" dirty="0"/>
              <a:t>🅿️Stellplätze</a:t>
            </a:r>
          </a:p>
          <a:p>
            <a:r>
              <a:rPr lang="de-DE" dirty="0"/>
              <a:t>🚲Alternativen (Infrastruktur, Sharing Angebote)</a:t>
            </a:r>
          </a:p>
          <a:p>
            <a:r>
              <a:rPr lang="de-DE" dirty="0"/>
              <a:t>🔌EV-Anschlüsse und Leer-Verrohrungen</a:t>
            </a:r>
          </a:p>
          <a:p>
            <a:r>
              <a:rPr lang="de-DE" dirty="0"/>
              <a:t>🔋Mehr und flexiblere Nutzung Erneuerbarer Energie</a:t>
            </a:r>
          </a:p>
          <a:p>
            <a:endParaRPr lang="de-DE" dirty="0"/>
          </a:p>
          <a:p>
            <a:r>
              <a:rPr lang="de-DE" dirty="0"/>
              <a:t>Energieversorgung </a:t>
            </a:r>
          </a:p>
        </p:txBody>
      </p:sp>
      <p:sp>
        <p:nvSpPr>
          <p:cNvPr id="5" name="Foliennummernplatzhalter 4">
            <a:extLst>
              <a:ext uri="{FF2B5EF4-FFF2-40B4-BE49-F238E27FC236}">
                <a16:creationId xmlns:a16="http://schemas.microsoft.com/office/drawing/2014/main" id="{F97F2426-89EF-CEA3-08EE-B53B237139CF}"/>
              </a:ext>
            </a:extLst>
          </p:cNvPr>
          <p:cNvSpPr>
            <a:spLocks noGrp="1"/>
          </p:cNvSpPr>
          <p:nvPr>
            <p:ph type="sldNum" sz="quarter" idx="12"/>
          </p:nvPr>
        </p:nvSpPr>
        <p:spPr/>
        <p:txBody>
          <a:bodyPr/>
          <a:lstStyle/>
          <a:p>
            <a:fld id="{1206269C-C24E-4E80-9A4B-E7E19BB59A67}" type="slidenum">
              <a:rPr lang="de-AT" smtClean="0"/>
              <a:pPr/>
              <a:t>18</a:t>
            </a:fld>
            <a:endParaRPr lang="de-AT" dirty="0"/>
          </a:p>
        </p:txBody>
      </p:sp>
      <p:sp>
        <p:nvSpPr>
          <p:cNvPr id="105" name="Band: nach unten gekippt 104">
            <a:extLst>
              <a:ext uri="{FF2B5EF4-FFF2-40B4-BE49-F238E27FC236}">
                <a16:creationId xmlns:a16="http://schemas.microsoft.com/office/drawing/2014/main" id="{B718C7E5-3E2F-2C65-88C7-3A1584835539}"/>
              </a:ext>
            </a:extLst>
          </p:cNvPr>
          <p:cNvSpPr/>
          <p:nvPr/>
        </p:nvSpPr>
        <p:spPr bwMode="auto">
          <a:xfrm>
            <a:off x="9000288" y="2480416"/>
            <a:ext cx="1775199" cy="540000"/>
          </a:xfrm>
          <a:prstGeom prst="ribbon">
            <a:avLst>
              <a:gd name="adj1" fmla="val 19017"/>
              <a:gd name="adj2" fmla="val 75000"/>
            </a:avLst>
          </a:prstGeom>
          <a:solidFill>
            <a:srgbClr val="F59C00">
              <a:lumMod val="60000"/>
              <a:lumOff val="40000"/>
            </a:srgbClr>
          </a:solidFill>
          <a:ln w="6350" cap="flat" cmpd="sng" algn="ctr">
            <a:noFill/>
            <a:prstDash val="solid"/>
            <a:miter lim="800000"/>
          </a:ln>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106" name="Rechteck 105">
            <a:extLst>
              <a:ext uri="{FF2B5EF4-FFF2-40B4-BE49-F238E27FC236}">
                <a16:creationId xmlns:a16="http://schemas.microsoft.com/office/drawing/2014/main" id="{CB22965F-37A1-A6FA-3877-17F5CA8A7571}"/>
              </a:ext>
            </a:extLst>
          </p:cNvPr>
          <p:cNvSpPr/>
          <p:nvPr/>
        </p:nvSpPr>
        <p:spPr bwMode="auto">
          <a:xfrm>
            <a:off x="9063238" y="2633902"/>
            <a:ext cx="1784392" cy="415498"/>
          </a:xfrm>
          <a:prstGeom prst="rect">
            <a:avLst/>
          </a:prstGeom>
        </p:spPr>
        <p:txBody>
          <a:bodyPr wrap="square">
            <a:spAutoFit/>
          </a:bodyPr>
          <a:lstStyle/>
          <a:p>
            <a:pPr algn="ctr" defTabSz="914316">
              <a:defRPr/>
            </a:pPr>
            <a:r>
              <a:rPr lang="de-DE" sz="1050" b="1" noProof="1">
                <a:solidFill>
                  <a:prstClr val="black"/>
                </a:solidFill>
                <a:latin typeface="Bahnschrift" panose="020B0502040204020203" pitchFamily="34" charset="0"/>
              </a:rPr>
              <a:t>Plus-Energie-Quartier</a:t>
            </a:r>
          </a:p>
          <a:p>
            <a:pPr algn="ctr" defTabSz="914316">
              <a:defRPr/>
            </a:pPr>
            <a:r>
              <a:rPr lang="de-DE" sz="1050" b="1" noProof="1">
                <a:solidFill>
                  <a:prstClr val="black"/>
                </a:solidFill>
                <a:latin typeface="Bahnschrift" panose="020B0502040204020203" pitchFamily="34" charset="0"/>
              </a:rPr>
              <a:t>Mit Mobilität</a:t>
            </a:r>
          </a:p>
        </p:txBody>
      </p:sp>
      <p:grpSp>
        <p:nvGrpSpPr>
          <p:cNvPr id="107" name="Gruppieren 106">
            <a:extLst>
              <a:ext uri="{FF2B5EF4-FFF2-40B4-BE49-F238E27FC236}">
                <a16:creationId xmlns:a16="http://schemas.microsoft.com/office/drawing/2014/main" id="{D16E3785-6979-439C-089D-DBB5ED9AF0B6}"/>
              </a:ext>
            </a:extLst>
          </p:cNvPr>
          <p:cNvGrpSpPr/>
          <p:nvPr/>
        </p:nvGrpSpPr>
        <p:grpSpPr>
          <a:xfrm>
            <a:off x="9537095" y="1955182"/>
            <a:ext cx="700101" cy="694145"/>
            <a:chOff x="4399640" y="1143095"/>
            <a:chExt cx="785172" cy="778492"/>
          </a:xfrm>
          <a:solidFill>
            <a:srgbClr val="F59C00"/>
          </a:solidFill>
          <a:effectLst>
            <a:outerShdw blurRad="50800" dist="38100" dir="2700000" algn="tl" rotWithShape="0">
              <a:prstClr val="black">
                <a:alpha val="40000"/>
              </a:prstClr>
            </a:outerShdw>
          </a:effectLst>
        </p:grpSpPr>
        <p:sp>
          <p:nvSpPr>
            <p:cNvPr id="108" name="Stern: 10 Zacken 107">
              <a:extLst>
                <a:ext uri="{FF2B5EF4-FFF2-40B4-BE49-F238E27FC236}">
                  <a16:creationId xmlns:a16="http://schemas.microsoft.com/office/drawing/2014/main" id="{66525E21-8F24-810C-0ECB-1F07D94E8617}"/>
                </a:ext>
              </a:extLst>
            </p:cNvPr>
            <p:cNvSpPr/>
            <p:nvPr/>
          </p:nvSpPr>
          <p:spPr>
            <a:xfrm>
              <a:off x="4399640" y="1143095"/>
              <a:ext cx="785172" cy="778492"/>
            </a:xfrm>
            <a:prstGeom prst="star10">
              <a:avLst>
                <a:gd name="adj" fmla="val 44491"/>
                <a:gd name="hf" fmla="val 105146"/>
              </a:avLst>
            </a:prstGeom>
            <a:grpFill/>
            <a:ln w="19050" cap="flat" cmpd="sng" algn="ctr">
              <a:solidFill>
                <a:srgbClr val="F59C00"/>
              </a:solidFill>
              <a:prstDash val="solid"/>
              <a:miter lim="800000"/>
            </a:ln>
            <a:effectLst>
              <a:innerShdw blurRad="63500" dist="50800" dir="13500000">
                <a:srgbClr val="F59C00">
                  <a:alpha val="77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109" name="Zehneck 108">
              <a:extLst>
                <a:ext uri="{FF2B5EF4-FFF2-40B4-BE49-F238E27FC236}">
                  <a16:creationId xmlns:a16="http://schemas.microsoft.com/office/drawing/2014/main" id="{CD5E7239-403A-7489-7A65-90E25324A5DA}"/>
                </a:ext>
              </a:extLst>
            </p:cNvPr>
            <p:cNvSpPr/>
            <p:nvPr/>
          </p:nvSpPr>
          <p:spPr>
            <a:xfrm>
              <a:off x="4476265" y="1217862"/>
              <a:ext cx="620528" cy="620529"/>
            </a:xfrm>
            <a:prstGeom prst="decagon">
              <a:avLst/>
            </a:prstGeom>
            <a:solidFill>
              <a:srgbClr val="950F53"/>
            </a:solidFill>
            <a:ln w="12700" cap="flat" cmpd="sng" algn="ctr">
              <a:solidFill>
                <a:srgbClr val="950F53"/>
              </a:solidFill>
              <a:prstDash val="solid"/>
              <a:miter lim="800000"/>
            </a:ln>
            <a:effectLst>
              <a:innerShdw blurRad="63500" dist="50800" dir="13500000">
                <a:srgbClr val="F59C00">
                  <a:lumMod val="20000"/>
                  <a:lumOff val="80000"/>
                  <a:alpha val="72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110" name="Building5" descr="{&quot;Key&quot;:&quot;POWER_USER_SHAPE_ICON&quot;,&quot;Value&quot;:&quot;POWER_USER_SHAPE_ICON_STYLE_1&quot;}">
              <a:extLst>
                <a:ext uri="{FF2B5EF4-FFF2-40B4-BE49-F238E27FC236}">
                  <a16:creationId xmlns:a16="http://schemas.microsoft.com/office/drawing/2014/main" id="{72224AEA-DC19-61ED-65D1-B70A2153D34F}"/>
                </a:ext>
              </a:extLst>
            </p:cNvPr>
            <p:cNvSpPr>
              <a:spLocks noChangeAspect="1" noEditPoints="1"/>
            </p:cNvSpPr>
            <p:nvPr>
              <p:custDataLst>
                <p:tags r:id="rId1"/>
              </p:custDataLst>
            </p:nvPr>
          </p:nvSpPr>
          <p:spPr bwMode="auto">
            <a:xfrm>
              <a:off x="4550947" y="1301271"/>
              <a:ext cx="461320" cy="410937"/>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59C00"/>
            </a:solidFill>
            <a:ln>
              <a:noFill/>
            </a:ln>
            <a:effectLst>
              <a:glow rad="76200">
                <a:srgbClr val="F59C00">
                  <a:lumMod val="20000"/>
                  <a:lumOff val="80000"/>
                  <a:alpha val="88000"/>
                </a:srgbClr>
              </a:glow>
            </a:effectLst>
          </p:spPr>
          <p:txBody>
            <a:bodyPr vert="horz" wrap="square" lIns="91440" tIns="45720" rIns="91440" bIns="45720" numCol="1" anchor="t" anchorCtr="0" compatLnSpc="1">
              <a:prstTxWarp prst="textNoShape">
                <a:avLst/>
              </a:prstTxWarp>
            </a:bodyPr>
            <a:lstStyle/>
            <a:p>
              <a:pPr defTabSz="914316">
                <a:defRPr/>
              </a:pPr>
              <a:endParaRPr lang="de-DE" sz="1200" kern="0" noProof="1">
                <a:solidFill>
                  <a:prstClr val="black"/>
                </a:solidFill>
                <a:latin typeface="Calibri" panose="020F0502020204030204"/>
              </a:endParaRPr>
            </a:p>
          </p:txBody>
        </p:sp>
      </p:grpSp>
      <p:sp>
        <p:nvSpPr>
          <p:cNvPr id="116" name="Fußzeilenplatzhalter 12">
            <a:extLst>
              <a:ext uri="{FF2B5EF4-FFF2-40B4-BE49-F238E27FC236}">
                <a16:creationId xmlns:a16="http://schemas.microsoft.com/office/drawing/2014/main" id="{F1F3D7BC-179D-A9DF-CE8E-B619FC628837}"/>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1333851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1757C6E2-D183-7A1B-3298-E4A6B15154BA}"/>
              </a:ext>
            </a:extLst>
          </p:cNvPr>
          <p:cNvPicPr>
            <a:picLocks noChangeAspect="1"/>
          </p:cNvPicPr>
          <p:nvPr/>
        </p:nvPicPr>
        <p:blipFill>
          <a:blip r:embed="rId3"/>
          <a:stretch>
            <a:fillRect/>
          </a:stretch>
        </p:blipFill>
        <p:spPr>
          <a:xfrm>
            <a:off x="4802589" y="3117584"/>
            <a:ext cx="6254276" cy="3536120"/>
          </a:xfrm>
          <a:prstGeom prst="rect">
            <a:avLst/>
          </a:prstGeom>
        </p:spPr>
      </p:pic>
      <p:sp>
        <p:nvSpPr>
          <p:cNvPr id="2" name="Titel 1">
            <a:extLst>
              <a:ext uri="{FF2B5EF4-FFF2-40B4-BE49-F238E27FC236}">
                <a16:creationId xmlns:a16="http://schemas.microsoft.com/office/drawing/2014/main" id="{42CBFA95-1523-7B0F-96A2-2C2AABE48C7C}"/>
              </a:ext>
            </a:extLst>
          </p:cNvPr>
          <p:cNvSpPr>
            <a:spLocks noGrp="1"/>
          </p:cNvSpPr>
          <p:nvPr>
            <p:ph type="title"/>
          </p:nvPr>
        </p:nvSpPr>
        <p:spPr/>
        <p:txBody>
          <a:bodyPr/>
          <a:lstStyle/>
          <a:p>
            <a:r>
              <a:rPr lang="de-AT" dirty="0"/>
              <a:t>Mobilität: Inkludiert und budgetiert</a:t>
            </a:r>
          </a:p>
        </p:txBody>
      </p:sp>
      <p:sp>
        <p:nvSpPr>
          <p:cNvPr id="3" name="Textplatzhalter 2">
            <a:extLst>
              <a:ext uri="{FF2B5EF4-FFF2-40B4-BE49-F238E27FC236}">
                <a16:creationId xmlns:a16="http://schemas.microsoft.com/office/drawing/2014/main" id="{6E3BFFDC-67A1-6282-2D0D-AC02812434F1}"/>
              </a:ext>
            </a:extLst>
          </p:cNvPr>
          <p:cNvSpPr>
            <a:spLocks noGrp="1"/>
          </p:cNvSpPr>
          <p:nvPr>
            <p:ph type="body" sz="quarter" idx="13"/>
          </p:nvPr>
        </p:nvSpPr>
        <p:spPr>
          <a:xfrm>
            <a:off x="719670" y="2164801"/>
            <a:ext cx="7691086" cy="3977767"/>
          </a:xfrm>
        </p:spPr>
        <p:txBody>
          <a:bodyPr/>
          <a:lstStyle/>
          <a:p>
            <a:r>
              <a:rPr lang="de-AT" dirty="0"/>
              <a:t>Bilanzierung des durch das Quartier verursachten MIVs</a:t>
            </a:r>
          </a:p>
          <a:p>
            <a:r>
              <a:rPr lang="de-AT" dirty="0"/>
              <a:t>Abhängig vom Standort</a:t>
            </a:r>
          </a:p>
          <a:p>
            <a:r>
              <a:rPr lang="de-AT" dirty="0"/>
              <a:t>Ausgleich: Nationales Budget, gleichverteilt </a:t>
            </a:r>
            <a:br>
              <a:rPr lang="de-AT" dirty="0"/>
            </a:br>
            <a:r>
              <a:rPr lang="de-AT" dirty="0"/>
              <a:t>pro Person</a:t>
            </a:r>
          </a:p>
          <a:p>
            <a:r>
              <a:rPr lang="de-AT" dirty="0"/>
              <a:t>Mobilitäts-Maßnahmen verbessern </a:t>
            </a:r>
            <a:br>
              <a:rPr lang="de-AT" dirty="0"/>
            </a:br>
            <a:r>
              <a:rPr lang="de-AT" dirty="0"/>
              <a:t>Quartiersbilanz</a:t>
            </a:r>
          </a:p>
        </p:txBody>
      </p:sp>
      <p:sp>
        <p:nvSpPr>
          <p:cNvPr id="5" name="Foliennummernplatzhalter 4">
            <a:extLst>
              <a:ext uri="{FF2B5EF4-FFF2-40B4-BE49-F238E27FC236}">
                <a16:creationId xmlns:a16="http://schemas.microsoft.com/office/drawing/2014/main" id="{4B5A7111-3F4E-BF6A-D3E8-55A858ED2A00}"/>
              </a:ext>
            </a:extLst>
          </p:cNvPr>
          <p:cNvSpPr>
            <a:spLocks noGrp="1"/>
          </p:cNvSpPr>
          <p:nvPr>
            <p:ph type="sldNum" sz="quarter" idx="12"/>
          </p:nvPr>
        </p:nvSpPr>
        <p:spPr/>
        <p:txBody>
          <a:bodyPr/>
          <a:lstStyle/>
          <a:p>
            <a:pPr defTabSz="914339">
              <a:defRPr/>
            </a:pPr>
            <a:fld id="{1206269C-C24E-4E80-9A4B-E7E19BB59A67}" type="slidenum">
              <a:rPr lang="de-AT">
                <a:solidFill>
                  <a:srgbClr val="000000"/>
                </a:solidFill>
                <a:latin typeface="Calibri" panose="020F0502020204030204"/>
              </a:rPr>
              <a:pPr defTabSz="914339">
                <a:defRPr/>
              </a:pPr>
              <a:t>19</a:t>
            </a:fld>
            <a:endParaRPr lang="de-AT" dirty="0">
              <a:solidFill>
                <a:srgbClr val="000000"/>
              </a:solidFill>
              <a:latin typeface="Calibri" panose="020F0502020204030204"/>
            </a:endParaRPr>
          </a:p>
        </p:txBody>
      </p:sp>
      <p:graphicFrame>
        <p:nvGraphicFramePr>
          <p:cNvPr id="7" name="Diagramm 6">
            <a:extLst>
              <a:ext uri="{FF2B5EF4-FFF2-40B4-BE49-F238E27FC236}">
                <a16:creationId xmlns:a16="http://schemas.microsoft.com/office/drawing/2014/main" id="{7A2F00CD-EB22-7A24-CEE9-4BCDF1B83429}"/>
              </a:ext>
            </a:extLst>
          </p:cNvPr>
          <p:cNvGraphicFramePr>
            <a:graphicFrameLocks/>
          </p:cNvGraphicFramePr>
          <p:nvPr>
            <p:extLst>
              <p:ext uri="{D42A27DB-BD31-4B8C-83A1-F6EECF244321}">
                <p14:modId xmlns:p14="http://schemas.microsoft.com/office/powerpoint/2010/main" val="2318636512"/>
              </p:ext>
            </p:extLst>
          </p:nvPr>
        </p:nvGraphicFramePr>
        <p:xfrm>
          <a:off x="7641372" y="519719"/>
          <a:ext cx="5672040" cy="2801295"/>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feld 9">
            <a:extLst>
              <a:ext uri="{FF2B5EF4-FFF2-40B4-BE49-F238E27FC236}">
                <a16:creationId xmlns:a16="http://schemas.microsoft.com/office/drawing/2014/main" id="{CADC9B48-4CD9-B7D3-1B77-0E7BCC63D134}"/>
              </a:ext>
            </a:extLst>
          </p:cNvPr>
          <p:cNvSpPr txBox="1"/>
          <p:nvPr/>
        </p:nvSpPr>
        <p:spPr>
          <a:xfrm>
            <a:off x="184043" y="5987181"/>
            <a:ext cx="6675894" cy="369332"/>
          </a:xfrm>
          <a:prstGeom prst="rect">
            <a:avLst/>
          </a:prstGeom>
          <a:noFill/>
        </p:spPr>
        <p:txBody>
          <a:bodyPr wrap="square">
            <a:spAutoFit/>
          </a:bodyPr>
          <a:lstStyle/>
          <a:p>
            <a:pPr marL="457170" lvl="1" defTabSz="914339">
              <a:defRPr/>
            </a:pPr>
            <a:r>
              <a:rPr lang="de-AT" dirty="0">
                <a:solidFill>
                  <a:srgbClr val="000000"/>
                </a:solidFill>
                <a:latin typeface="Calibri" panose="020F0502020204030204"/>
              </a:rPr>
              <a:t>Datenbasis Österreich Unterwegs 2014</a:t>
            </a:r>
          </a:p>
        </p:txBody>
      </p:sp>
      <p:sp>
        <p:nvSpPr>
          <p:cNvPr id="9" name="Fußzeilenplatzhalter 12">
            <a:extLst>
              <a:ext uri="{FF2B5EF4-FFF2-40B4-BE49-F238E27FC236}">
                <a16:creationId xmlns:a16="http://schemas.microsoft.com/office/drawing/2014/main" id="{CA0DA69B-C133-9D94-C9A2-088BED4F0589}"/>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
        <p:nvSpPr>
          <p:cNvPr id="15" name="Freeform 203">
            <a:extLst>
              <a:ext uri="{FF2B5EF4-FFF2-40B4-BE49-F238E27FC236}">
                <a16:creationId xmlns:a16="http://schemas.microsoft.com/office/drawing/2014/main" id="{F7B26ADE-49AB-E42C-DEFB-92FFDF5D8541}"/>
              </a:ext>
            </a:extLst>
          </p:cNvPr>
          <p:cNvSpPr>
            <a:spLocks/>
          </p:cNvSpPr>
          <p:nvPr/>
        </p:nvSpPr>
        <p:spPr bwMode="auto">
          <a:xfrm>
            <a:off x="638552" y="3004688"/>
            <a:ext cx="253284" cy="139494"/>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solidFill>
            <a:srgbClr val="0070C0"/>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16" name="Freeform 204">
            <a:extLst>
              <a:ext uri="{FF2B5EF4-FFF2-40B4-BE49-F238E27FC236}">
                <a16:creationId xmlns:a16="http://schemas.microsoft.com/office/drawing/2014/main" id="{7A960EB9-E021-EE8F-9FCB-8D668393C9C7}"/>
              </a:ext>
            </a:extLst>
          </p:cNvPr>
          <p:cNvSpPr>
            <a:spLocks noEditPoints="1"/>
          </p:cNvSpPr>
          <p:nvPr/>
        </p:nvSpPr>
        <p:spPr bwMode="auto">
          <a:xfrm>
            <a:off x="594360" y="3081258"/>
            <a:ext cx="102237" cy="116751"/>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solidFill>
            <a:srgbClr val="0070C0"/>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17" name="POWER_USER_SHAPE_ICON_STYLE_2">
            <a:extLst>
              <a:ext uri="{FF2B5EF4-FFF2-40B4-BE49-F238E27FC236}">
                <a16:creationId xmlns:a16="http://schemas.microsoft.com/office/drawing/2014/main" id="{DE984F7B-DEC7-A1FE-1EC3-AACC8D100D29}"/>
              </a:ext>
            </a:extLst>
          </p:cNvPr>
          <p:cNvSpPr/>
          <p:nvPr/>
        </p:nvSpPr>
        <p:spPr>
          <a:xfrm>
            <a:off x="650732" y="2807174"/>
            <a:ext cx="215474" cy="215476"/>
          </a:xfrm>
          <a:prstGeom prst="ellipse">
            <a:avLst/>
          </a:prstGeom>
          <a:solidFill>
            <a:sysClr val="window" lastClr="FFFFFF"/>
          </a:solidFill>
          <a:ln w="28575" cap="flat" cmpd="sng" algn="ctr">
            <a:solidFill>
              <a:srgbClr val="0070C0"/>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sp>
        <p:nvSpPr>
          <p:cNvPr id="18" name="Car7" descr="{&quot;Key&quot;:&quot;POWER_USER_SHAPE_ICON&quot;,&quot;Value&quot;:&quot;POWER_USER_SHAPE_ICON_STYLE_1&quot;}">
            <a:extLst>
              <a:ext uri="{FF2B5EF4-FFF2-40B4-BE49-F238E27FC236}">
                <a16:creationId xmlns:a16="http://schemas.microsoft.com/office/drawing/2014/main" id="{5DA944D6-6966-85C0-46A6-523BD4ECA755}"/>
              </a:ext>
            </a:extLst>
          </p:cNvPr>
          <p:cNvSpPr>
            <a:spLocks noChangeAspect="1" noEditPoints="1"/>
          </p:cNvSpPr>
          <p:nvPr>
            <p:custDataLst>
              <p:tags r:id="rId1"/>
            </p:custDataLst>
          </p:nvPr>
        </p:nvSpPr>
        <p:spPr bwMode="auto">
          <a:xfrm>
            <a:off x="680968" y="2849661"/>
            <a:ext cx="155002" cy="130501"/>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spTree>
    <p:extLst>
      <p:ext uri="{BB962C8B-B14F-4D97-AF65-F5344CB8AC3E}">
        <p14:creationId xmlns:p14="http://schemas.microsoft.com/office/powerpoint/2010/main" val="36192838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3B53CC-87E0-8B5F-F409-67FEE3074DDF}"/>
              </a:ext>
            </a:extLst>
          </p:cNvPr>
          <p:cNvSpPr>
            <a:spLocks noGrp="1"/>
          </p:cNvSpPr>
          <p:nvPr>
            <p:ph type="title"/>
          </p:nvPr>
        </p:nvSpPr>
        <p:spPr>
          <a:xfrm>
            <a:off x="594361" y="1406526"/>
            <a:ext cx="4152900" cy="829455"/>
          </a:xfrm>
        </p:spPr>
        <p:txBody>
          <a:bodyPr/>
          <a:lstStyle/>
          <a:p>
            <a:r>
              <a:rPr lang="de-DE" dirty="0"/>
              <a:t>🚗Mobilitäts-Bilanz x2</a:t>
            </a:r>
          </a:p>
        </p:txBody>
      </p:sp>
      <p:sp>
        <p:nvSpPr>
          <p:cNvPr id="3" name="Textplatzhalter 2">
            <a:extLst>
              <a:ext uri="{FF2B5EF4-FFF2-40B4-BE49-F238E27FC236}">
                <a16:creationId xmlns:a16="http://schemas.microsoft.com/office/drawing/2014/main" id="{B5EF41C1-936C-C8CE-D29A-292A9B7BBC93}"/>
              </a:ext>
            </a:extLst>
          </p:cNvPr>
          <p:cNvSpPr>
            <a:spLocks noGrp="1"/>
          </p:cNvSpPr>
          <p:nvPr>
            <p:ph type="body" sz="quarter" idx="13"/>
          </p:nvPr>
        </p:nvSpPr>
        <p:spPr>
          <a:xfrm>
            <a:off x="719670" y="2164801"/>
            <a:ext cx="4279920" cy="3977767"/>
          </a:xfrm>
        </p:spPr>
        <p:txBody>
          <a:bodyPr>
            <a:normAutofit/>
          </a:bodyPr>
          <a:lstStyle/>
          <a:p>
            <a:pPr marL="0" indent="0">
              <a:buNone/>
            </a:pPr>
            <a:r>
              <a:rPr lang="de-DE" sz="1200" dirty="0"/>
              <a:t>Gemäß Definition wird in PEQ+M und knPEQ </a:t>
            </a:r>
            <a:r>
              <a:rPr lang="de-DE" sz="1200" b="1" dirty="0"/>
              <a:t>nur der motorisierte Individualverkehr </a:t>
            </a:r>
            <a:r>
              <a:rPr lang="de-DE" sz="1200" dirty="0"/>
              <a:t>(MIV) berücksichtigt, allerdings muss dabei unterschieden werden:</a:t>
            </a:r>
          </a:p>
          <a:p>
            <a:pPr>
              <a:buFont typeface="+mj-lt"/>
              <a:buAutoNum type="arabicPeriod"/>
            </a:pPr>
            <a:r>
              <a:rPr lang="de-DE" sz="1200" b="1" dirty="0"/>
              <a:t>Reale Potential-Nutzung: </a:t>
            </a:r>
            <a:r>
              <a:rPr lang="de-DE" sz="1200" dirty="0"/>
              <a:t>Zur Abbildung der real flexibilisierbaren Lastflüsse werden </a:t>
            </a:r>
            <a:r>
              <a:rPr lang="de-DE" sz="1200" b="1" dirty="0"/>
              <a:t>Alle</a:t>
            </a:r>
            <a:r>
              <a:rPr lang="de-DE" sz="1200" dirty="0"/>
              <a:t> im Quartier verkehrenden ⚡E-Autos und Ihre gesamte Ladung (Ziel- und Quellverkehr) innerhalb und außerhalb des Quartiers modelliert</a:t>
            </a:r>
          </a:p>
          <a:p>
            <a:pPr lvl="1"/>
            <a:r>
              <a:rPr lang="de-DE" sz="1200" dirty="0"/>
              <a:t>Das Quartier kann damit „fremdes“ Verkehrsaufkommen mitdecken, und so grünen Strom exportieren (z.B. Supermärte und Büros als eTankstellen)</a:t>
            </a:r>
          </a:p>
          <a:p>
            <a:pPr lvl="1"/>
            <a:r>
              <a:rPr lang="de-DE" sz="1200" dirty="0"/>
              <a:t>Bi-Direktionales Laden erhöht Speicherkapazität</a:t>
            </a:r>
          </a:p>
          <a:p>
            <a:pPr>
              <a:buFont typeface="+mj-lt"/>
              <a:buAutoNum type="arabicPeriod"/>
            </a:pPr>
            <a:r>
              <a:rPr lang="de-DE" sz="1200" b="1" dirty="0"/>
              <a:t>Verursacher-Verantwortung: </a:t>
            </a:r>
            <a:r>
              <a:rPr lang="de-DE" sz="1200" dirty="0"/>
              <a:t>Hier wird jahresbilanziell der 🎯</a:t>
            </a:r>
            <a:r>
              <a:rPr lang="de-DE" sz="1200" b="1" dirty="0"/>
              <a:t>Zielverkehr</a:t>
            </a:r>
            <a:r>
              <a:rPr lang="de-DE" sz="1200" dirty="0"/>
              <a:t> zum Quartier, sowohl ⚡</a:t>
            </a:r>
            <a:r>
              <a:rPr lang="de-DE" sz="1200" b="1" dirty="0"/>
              <a:t>elektrisch</a:t>
            </a:r>
            <a:r>
              <a:rPr lang="de-DE" sz="1200" dirty="0"/>
              <a:t> als auch 🛢</a:t>
            </a:r>
            <a:r>
              <a:rPr lang="de-DE" sz="1200" b="1" dirty="0"/>
              <a:t>fossil</a:t>
            </a:r>
            <a:r>
              <a:rPr lang="de-DE" sz="1200" dirty="0"/>
              <a:t> als Bedarf berücksichtigt. Der Quellverkehr ist der Zielverkehr des anderen Quartiers.</a:t>
            </a:r>
          </a:p>
          <a:p>
            <a:pPr lvl="1"/>
            <a:r>
              <a:rPr lang="de-DE" sz="1200" dirty="0"/>
              <a:t>Hier wird die nationale Gutschrift für erneuerbare Deckung des MIV berücksichtigt</a:t>
            </a:r>
          </a:p>
        </p:txBody>
      </p:sp>
      <p:sp>
        <p:nvSpPr>
          <p:cNvPr id="5" name="Foliennummernplatzhalter 4">
            <a:extLst>
              <a:ext uri="{FF2B5EF4-FFF2-40B4-BE49-F238E27FC236}">
                <a16:creationId xmlns:a16="http://schemas.microsoft.com/office/drawing/2014/main" id="{54FDB4CA-EAD1-92F5-CFAA-D01D490F1F87}"/>
              </a:ext>
            </a:extLst>
          </p:cNvPr>
          <p:cNvSpPr>
            <a:spLocks noGrp="1"/>
          </p:cNvSpPr>
          <p:nvPr>
            <p:ph type="sldNum" sz="quarter" idx="12"/>
          </p:nvPr>
        </p:nvSpPr>
        <p:spPr/>
        <p:txBody>
          <a:bodyPr/>
          <a:lstStyle/>
          <a:p>
            <a:fld id="{1206269C-C24E-4E80-9A4B-E7E19BB59A67}" type="slidenum">
              <a:rPr lang="de-AT" smtClean="0"/>
              <a:pPr/>
              <a:t>20</a:t>
            </a:fld>
            <a:endParaRPr lang="de-AT" dirty="0"/>
          </a:p>
        </p:txBody>
      </p:sp>
      <p:sp>
        <p:nvSpPr>
          <p:cNvPr id="116" name="Fußzeilenplatzhalter 12">
            <a:extLst>
              <a:ext uri="{FF2B5EF4-FFF2-40B4-BE49-F238E27FC236}">
                <a16:creationId xmlns:a16="http://schemas.microsoft.com/office/drawing/2014/main" id="{BEE0F06F-FD1E-6868-8C03-7C403AAF33B8}"/>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pic>
        <p:nvPicPr>
          <p:cNvPr id="13" name="Grafik 12" descr="Ein Bild, das Text, Reihe, Diagramm, Screenshot enthält.&#10;&#10;KI-generierte Inhalte können fehlerhaft sein.">
            <a:extLst>
              <a:ext uri="{FF2B5EF4-FFF2-40B4-BE49-F238E27FC236}">
                <a16:creationId xmlns:a16="http://schemas.microsoft.com/office/drawing/2014/main" id="{8A1290E2-9961-3412-8B8F-67C8A1BB3D1F}"/>
              </a:ext>
            </a:extLst>
          </p:cNvPr>
          <p:cNvPicPr>
            <a:picLocks noChangeAspect="1"/>
          </p:cNvPicPr>
          <p:nvPr/>
        </p:nvPicPr>
        <p:blipFill>
          <a:blip r:embed="rId11"/>
          <a:stretch>
            <a:fillRect/>
          </a:stretch>
        </p:blipFill>
        <p:spPr>
          <a:xfrm>
            <a:off x="5075972" y="4713005"/>
            <a:ext cx="4444163" cy="1672958"/>
          </a:xfrm>
          <a:prstGeom prst="rect">
            <a:avLst/>
          </a:prstGeom>
        </p:spPr>
      </p:pic>
      <p:grpSp>
        <p:nvGrpSpPr>
          <p:cNvPr id="15" name="Gruppieren 14" descr="{&quot;Key&quot;:&quot;POWER_USER_SHAPE_ICON&quot;,&quot;Value&quot;:&quot;POWER_USER_SHAPE_ICON_STYLE_2&quot;}">
            <a:extLst>
              <a:ext uri="{FF2B5EF4-FFF2-40B4-BE49-F238E27FC236}">
                <a16:creationId xmlns:a16="http://schemas.microsoft.com/office/drawing/2014/main" id="{6214A66F-78E1-2864-C03F-5E6C9265C16D}"/>
              </a:ext>
            </a:extLst>
          </p:cNvPr>
          <p:cNvGrpSpPr>
            <a:grpSpLocks noChangeAspect="1"/>
          </p:cNvGrpSpPr>
          <p:nvPr/>
        </p:nvGrpSpPr>
        <p:grpSpPr>
          <a:xfrm>
            <a:off x="457531" y="2762797"/>
            <a:ext cx="515707" cy="515706"/>
            <a:chOff x="288345" y="3340831"/>
            <a:chExt cx="762000" cy="762000"/>
          </a:xfrm>
        </p:grpSpPr>
        <p:sp>
          <p:nvSpPr>
            <p:cNvPr id="16" name="POWER_USER_SHAPE_ICON_STYLE_2">
              <a:extLst>
                <a:ext uri="{FF2B5EF4-FFF2-40B4-BE49-F238E27FC236}">
                  <a16:creationId xmlns:a16="http://schemas.microsoft.com/office/drawing/2014/main" id="{39667E23-A5BD-102B-4641-EE29EE494E9C}"/>
                </a:ext>
              </a:extLst>
            </p:cNvPr>
            <p:cNvSpPr/>
            <p:nvPr/>
          </p:nvSpPr>
          <p:spPr>
            <a:xfrm>
              <a:off x="288345" y="3340831"/>
              <a:ext cx="762000" cy="762000"/>
            </a:xfrm>
            <a:prstGeom prst="ellipse">
              <a:avLst/>
            </a:prstGeom>
            <a:solidFill>
              <a:srgbClr val="007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AT" sz="1200" kern="0" dirty="0">
                <a:solidFill>
                  <a:prstClr val="white"/>
                </a:solidFill>
                <a:latin typeface="Calibri" panose="020F0502020204030204"/>
              </a:endParaRPr>
            </a:p>
          </p:txBody>
        </p:sp>
        <p:sp>
          <p:nvSpPr>
            <p:cNvPr id="17" name="Electric_Car" descr="{&quot;Key&quot;:&quot;POWER_USER_SHAPE_ICON&quot;,&quot;Value&quot;:&quot;POWER_USER_SHAPE_ICON_STYLE_1&quot;}">
              <a:extLst>
                <a:ext uri="{FF2B5EF4-FFF2-40B4-BE49-F238E27FC236}">
                  <a16:creationId xmlns:a16="http://schemas.microsoft.com/office/drawing/2014/main" id="{549CC841-5703-C3E9-69A4-2E238A5D338D}"/>
                </a:ext>
              </a:extLst>
            </p:cNvPr>
            <p:cNvSpPr>
              <a:spLocks noChangeAspect="1" noEditPoints="1"/>
            </p:cNvSpPr>
            <p:nvPr>
              <p:custDataLst>
                <p:tags r:id="rId9"/>
              </p:custDataLst>
            </p:nvPr>
          </p:nvSpPr>
          <p:spPr bwMode="auto">
            <a:xfrm>
              <a:off x="415345" y="3593005"/>
              <a:ext cx="508000" cy="257651"/>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en-US" sz="1200" kern="0" dirty="0">
                <a:solidFill>
                  <a:prstClr val="black"/>
                </a:solidFill>
              </a:endParaRPr>
            </a:p>
          </p:txBody>
        </p:sp>
      </p:grpSp>
      <p:grpSp>
        <p:nvGrpSpPr>
          <p:cNvPr id="30" name="Gruppieren 29">
            <a:extLst>
              <a:ext uri="{FF2B5EF4-FFF2-40B4-BE49-F238E27FC236}">
                <a16:creationId xmlns:a16="http://schemas.microsoft.com/office/drawing/2014/main" id="{BC2FC9F6-A3F7-5FF4-5874-7178662A41A2}"/>
              </a:ext>
            </a:extLst>
          </p:cNvPr>
          <p:cNvGrpSpPr/>
          <p:nvPr/>
        </p:nvGrpSpPr>
        <p:grpSpPr>
          <a:xfrm>
            <a:off x="487341" y="4603926"/>
            <a:ext cx="515707" cy="515706"/>
            <a:chOff x="335997" y="3888357"/>
            <a:chExt cx="515707" cy="515706"/>
          </a:xfrm>
        </p:grpSpPr>
        <p:sp>
          <p:nvSpPr>
            <p:cNvPr id="25" name="POWER_USER_SHAPE_ICON_STYLE_2">
              <a:extLst>
                <a:ext uri="{FF2B5EF4-FFF2-40B4-BE49-F238E27FC236}">
                  <a16:creationId xmlns:a16="http://schemas.microsoft.com/office/drawing/2014/main" id="{59F9F698-3541-D274-A2BC-DBF164E9CF75}"/>
                </a:ext>
              </a:extLst>
            </p:cNvPr>
            <p:cNvSpPr/>
            <p:nvPr/>
          </p:nvSpPr>
          <p:spPr>
            <a:xfrm>
              <a:off x="335997" y="3888357"/>
              <a:ext cx="515707" cy="515706"/>
            </a:xfrm>
            <a:prstGeom prst="ellipse">
              <a:avLst/>
            </a:prstGeom>
            <a:solidFill>
              <a:schemeClr val="tx2"/>
            </a:solidFill>
            <a:ln w="12700" cap="flat" cmpd="sng" algn="ctr">
              <a:noFill/>
              <a:prstDash val="solid"/>
              <a:miter lim="800000"/>
            </a:ln>
            <a:effectLst/>
          </p:spPr>
          <p:txBody>
            <a:bodyPr rtlCol="0" anchor="ctr"/>
            <a:lstStyle/>
            <a:p>
              <a:pPr algn="ctr" defTabSz="685754">
                <a:defRPr/>
              </a:pPr>
              <a:endParaRPr lang="de-AT" sz="1200" kern="0" dirty="0">
                <a:solidFill>
                  <a:prstClr val="white"/>
                </a:solidFill>
                <a:latin typeface="Calibri" panose="020F0502020204030204"/>
              </a:endParaRPr>
            </a:p>
          </p:txBody>
        </p:sp>
        <p:pic>
          <p:nvPicPr>
            <p:cNvPr id="19" name="Grafik 18" descr="Gewichte ungleich mit einfarbiger Füllung">
              <a:extLst>
                <a:ext uri="{FF2B5EF4-FFF2-40B4-BE49-F238E27FC236}">
                  <a16:creationId xmlns:a16="http://schemas.microsoft.com/office/drawing/2014/main" id="{9F2EDC0D-ED47-A623-F0AD-7A0BCBB664C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66074" y="3921928"/>
              <a:ext cx="442554" cy="442554"/>
            </a:xfrm>
            <a:prstGeom prst="rect">
              <a:avLst/>
            </a:prstGeom>
          </p:spPr>
        </p:pic>
      </p:grpSp>
      <p:grpSp>
        <p:nvGrpSpPr>
          <p:cNvPr id="32" name="Gruppieren 31">
            <a:extLst>
              <a:ext uri="{FF2B5EF4-FFF2-40B4-BE49-F238E27FC236}">
                <a16:creationId xmlns:a16="http://schemas.microsoft.com/office/drawing/2014/main" id="{EB3CE0B5-B474-14CB-1CEE-0A4118E2B495}"/>
              </a:ext>
            </a:extLst>
          </p:cNvPr>
          <p:cNvGrpSpPr/>
          <p:nvPr/>
        </p:nvGrpSpPr>
        <p:grpSpPr>
          <a:xfrm>
            <a:off x="887287" y="5451474"/>
            <a:ext cx="297476" cy="390835"/>
            <a:chOff x="680870" y="5451474"/>
            <a:chExt cx="297476" cy="390835"/>
          </a:xfrm>
        </p:grpSpPr>
        <p:sp>
          <p:nvSpPr>
            <p:cNvPr id="28" name="POWER_USER_SHAPE_ICON_STYLE_2">
              <a:extLst>
                <a:ext uri="{FF2B5EF4-FFF2-40B4-BE49-F238E27FC236}">
                  <a16:creationId xmlns:a16="http://schemas.microsoft.com/office/drawing/2014/main" id="{AB04A22A-F7CB-ADDF-D56B-2CC098E32B7E}"/>
                </a:ext>
              </a:extLst>
            </p:cNvPr>
            <p:cNvSpPr/>
            <p:nvPr/>
          </p:nvSpPr>
          <p:spPr>
            <a:xfrm>
              <a:off x="737242" y="5451474"/>
              <a:ext cx="215474" cy="215476"/>
            </a:xfrm>
            <a:prstGeom prst="ellipse">
              <a:avLst/>
            </a:prstGeom>
            <a:solidFill>
              <a:sysClr val="window" lastClr="FFFFFF"/>
            </a:solidFill>
            <a:ln w="28575" cap="flat" cmpd="sng" algn="ctr">
              <a:solidFill>
                <a:srgbClr val="0070C0"/>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grpSp>
          <p:nvGrpSpPr>
            <p:cNvPr id="31" name="Gruppieren 30">
              <a:extLst>
                <a:ext uri="{FF2B5EF4-FFF2-40B4-BE49-F238E27FC236}">
                  <a16:creationId xmlns:a16="http://schemas.microsoft.com/office/drawing/2014/main" id="{555F7FEB-2607-96D9-F14E-7AD5A49F7E9B}"/>
                </a:ext>
              </a:extLst>
            </p:cNvPr>
            <p:cNvGrpSpPr/>
            <p:nvPr/>
          </p:nvGrpSpPr>
          <p:grpSpPr>
            <a:xfrm>
              <a:off x="680870" y="5493961"/>
              <a:ext cx="297476" cy="348348"/>
              <a:chOff x="680870" y="5493961"/>
              <a:chExt cx="297476" cy="348348"/>
            </a:xfrm>
          </p:grpSpPr>
          <p:sp>
            <p:nvSpPr>
              <p:cNvPr id="26" name="Freeform 203">
                <a:extLst>
                  <a:ext uri="{FF2B5EF4-FFF2-40B4-BE49-F238E27FC236}">
                    <a16:creationId xmlns:a16="http://schemas.microsoft.com/office/drawing/2014/main" id="{37175E62-D2D4-E6BC-D996-39E24C2BA659}"/>
                  </a:ext>
                </a:extLst>
              </p:cNvPr>
              <p:cNvSpPr>
                <a:spLocks/>
              </p:cNvSpPr>
              <p:nvPr/>
            </p:nvSpPr>
            <p:spPr bwMode="auto">
              <a:xfrm>
                <a:off x="725062" y="5648988"/>
                <a:ext cx="253284" cy="139494"/>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solidFill>
                <a:srgbClr val="0070C0"/>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27" name="Freeform 204">
                <a:extLst>
                  <a:ext uri="{FF2B5EF4-FFF2-40B4-BE49-F238E27FC236}">
                    <a16:creationId xmlns:a16="http://schemas.microsoft.com/office/drawing/2014/main" id="{2FBD2AAB-1047-4225-20FE-1794B6FD48B7}"/>
                  </a:ext>
                </a:extLst>
              </p:cNvPr>
              <p:cNvSpPr>
                <a:spLocks noEditPoints="1"/>
              </p:cNvSpPr>
              <p:nvPr/>
            </p:nvSpPr>
            <p:spPr bwMode="auto">
              <a:xfrm>
                <a:off x="680870" y="5725558"/>
                <a:ext cx="102237" cy="116751"/>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solidFill>
                <a:srgbClr val="0070C0"/>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29" name="Car7" descr="{&quot;Key&quot;:&quot;POWER_USER_SHAPE_ICON&quot;,&quot;Value&quot;:&quot;POWER_USER_SHAPE_ICON_STYLE_1&quot;}">
                <a:extLst>
                  <a:ext uri="{FF2B5EF4-FFF2-40B4-BE49-F238E27FC236}">
                    <a16:creationId xmlns:a16="http://schemas.microsoft.com/office/drawing/2014/main" id="{DB10FB5A-9325-F794-1062-7245FD5C9FB8}"/>
                  </a:ext>
                </a:extLst>
              </p:cNvPr>
              <p:cNvSpPr>
                <a:spLocks noChangeAspect="1" noEditPoints="1"/>
              </p:cNvSpPr>
              <p:nvPr>
                <p:custDataLst>
                  <p:tags r:id="rId8"/>
                </p:custDataLst>
              </p:nvPr>
            </p:nvSpPr>
            <p:spPr bwMode="auto">
              <a:xfrm>
                <a:off x="767478" y="5493961"/>
                <a:ext cx="155002" cy="130501"/>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grpSp>
      </p:grpSp>
      <p:sp>
        <p:nvSpPr>
          <p:cNvPr id="11" name="Textfeld 10">
            <a:extLst>
              <a:ext uri="{FF2B5EF4-FFF2-40B4-BE49-F238E27FC236}">
                <a16:creationId xmlns:a16="http://schemas.microsoft.com/office/drawing/2014/main" id="{ADFC5EE9-E132-513F-AD22-3B748C2D7F07}"/>
              </a:ext>
            </a:extLst>
          </p:cNvPr>
          <p:cNvSpPr txBox="1"/>
          <p:nvPr/>
        </p:nvSpPr>
        <p:spPr>
          <a:xfrm>
            <a:off x="5222833" y="4581609"/>
            <a:ext cx="3359065" cy="261610"/>
          </a:xfrm>
          <a:prstGeom prst="rect">
            <a:avLst/>
          </a:prstGeom>
          <a:noFill/>
        </p:spPr>
        <p:txBody>
          <a:bodyPr wrap="square">
            <a:spAutoFit/>
          </a:bodyPr>
          <a:lstStyle/>
          <a:p>
            <a:pPr defTabSz="914339">
              <a:defRPr/>
            </a:pPr>
            <a:r>
              <a:rPr lang="de-AT" sz="1100" kern="0" dirty="0">
                <a:solidFill>
                  <a:srgbClr val="000000"/>
                </a:solidFill>
              </a:rPr>
              <a:t>Standzeiten im Quartier im Wochenverlauf</a:t>
            </a:r>
          </a:p>
        </p:txBody>
      </p:sp>
      <p:pic>
        <p:nvPicPr>
          <p:cNvPr id="40" name="Grafik 39" descr="Ein Bild, das Text, Screenshot, Diagramm, Schrift enthält.&#10;&#10;KI-generierte Inhalte können fehlerhaft sein.">
            <a:extLst>
              <a:ext uri="{FF2B5EF4-FFF2-40B4-BE49-F238E27FC236}">
                <a16:creationId xmlns:a16="http://schemas.microsoft.com/office/drawing/2014/main" id="{47AB168E-CA57-3B30-7A78-ACDFCEA66C11}"/>
              </a:ext>
            </a:extLst>
          </p:cNvPr>
          <p:cNvPicPr>
            <a:picLocks noChangeAspect="1"/>
          </p:cNvPicPr>
          <p:nvPr/>
        </p:nvPicPr>
        <p:blipFill>
          <a:blip r:embed="rId13"/>
          <a:stretch>
            <a:fillRect/>
          </a:stretch>
        </p:blipFill>
        <p:spPr>
          <a:xfrm>
            <a:off x="9443118" y="1951909"/>
            <a:ext cx="2543578" cy="2773950"/>
          </a:xfrm>
          <a:prstGeom prst="rect">
            <a:avLst/>
          </a:prstGeom>
        </p:spPr>
      </p:pic>
      <p:grpSp>
        <p:nvGrpSpPr>
          <p:cNvPr id="90" name="Gruppieren 89">
            <a:extLst>
              <a:ext uri="{FF2B5EF4-FFF2-40B4-BE49-F238E27FC236}">
                <a16:creationId xmlns:a16="http://schemas.microsoft.com/office/drawing/2014/main" id="{F3D872D6-211E-DE5D-1D36-A87322219192}"/>
              </a:ext>
            </a:extLst>
          </p:cNvPr>
          <p:cNvGrpSpPr/>
          <p:nvPr/>
        </p:nvGrpSpPr>
        <p:grpSpPr>
          <a:xfrm>
            <a:off x="4999591" y="1547853"/>
            <a:ext cx="4257613" cy="2376114"/>
            <a:chOff x="5231919" y="1821940"/>
            <a:chExt cx="4257613" cy="2376114"/>
          </a:xfrm>
        </p:grpSpPr>
        <p:grpSp>
          <p:nvGrpSpPr>
            <p:cNvPr id="89" name="Gruppieren 88">
              <a:extLst>
                <a:ext uri="{FF2B5EF4-FFF2-40B4-BE49-F238E27FC236}">
                  <a16:creationId xmlns:a16="http://schemas.microsoft.com/office/drawing/2014/main" id="{F5092D3C-BFC6-FE6F-F4FC-A48D4396ECC8}"/>
                </a:ext>
              </a:extLst>
            </p:cNvPr>
            <p:cNvGrpSpPr/>
            <p:nvPr/>
          </p:nvGrpSpPr>
          <p:grpSpPr>
            <a:xfrm>
              <a:off x="5231919" y="1821940"/>
              <a:ext cx="4257613" cy="2376114"/>
              <a:chOff x="5231919" y="1821940"/>
              <a:chExt cx="4257613" cy="2376114"/>
            </a:xfrm>
          </p:grpSpPr>
          <p:grpSp>
            <p:nvGrpSpPr>
              <p:cNvPr id="44" name="Gruppieren 43">
                <a:extLst>
                  <a:ext uri="{FF2B5EF4-FFF2-40B4-BE49-F238E27FC236}">
                    <a16:creationId xmlns:a16="http://schemas.microsoft.com/office/drawing/2014/main" id="{435D4AE9-E4B1-3C98-24E0-12571856AA6D}"/>
                  </a:ext>
                </a:extLst>
              </p:cNvPr>
              <p:cNvGrpSpPr/>
              <p:nvPr/>
            </p:nvGrpSpPr>
            <p:grpSpPr>
              <a:xfrm>
                <a:off x="5489663" y="2327323"/>
                <a:ext cx="3866411" cy="1870731"/>
                <a:chOff x="9229878" y="1316444"/>
                <a:chExt cx="1556930" cy="2249048"/>
              </a:xfrm>
            </p:grpSpPr>
            <p:sp>
              <p:nvSpPr>
                <p:cNvPr id="45" name="Rechteck 44">
                  <a:extLst>
                    <a:ext uri="{FF2B5EF4-FFF2-40B4-BE49-F238E27FC236}">
                      <a16:creationId xmlns:a16="http://schemas.microsoft.com/office/drawing/2014/main" id="{C27EE8AD-35BD-6D9D-7850-29283B1F79DF}"/>
                    </a:ext>
                  </a:extLst>
                </p:cNvPr>
                <p:cNvSpPr/>
                <p:nvPr/>
              </p:nvSpPr>
              <p:spPr>
                <a:xfrm>
                  <a:off x="9229878" y="3438222"/>
                  <a:ext cx="955192" cy="111544"/>
                </a:xfrm>
                <a:prstGeom prst="rect">
                  <a:avLst/>
                </a:prstGeom>
                <a:solidFill>
                  <a:srgbClr val="D8D7B7"/>
                </a:solidFill>
                <a:ln w="28575" cap="flat" cmpd="sng" algn="ctr">
                  <a:noFill/>
                  <a:prstDash val="dash"/>
                  <a:miter lim="800000"/>
                </a:ln>
                <a:effectLst/>
              </p:spPr>
              <p:txBody>
                <a:bodyPr rtlCol="0" anchor="ctr"/>
                <a:lstStyle/>
                <a:p>
                  <a:pPr algn="ctr" defTabSz="685754">
                    <a:defRPr/>
                  </a:pPr>
                  <a:endParaRPr lang="de-AT" sz="1200" kern="0" dirty="0">
                    <a:solidFill>
                      <a:prstClr val="white"/>
                    </a:solidFill>
                    <a:latin typeface="Calibri" panose="020F0502020204030204"/>
                  </a:endParaRPr>
                </a:p>
              </p:txBody>
            </p:sp>
            <p:sp>
              <p:nvSpPr>
                <p:cNvPr id="46" name="Building5" descr="{&quot;Key&quot;:&quot;POWER_USER_SHAPE_ICON&quot;,&quot;Value&quot;:&quot;POWER_USER_SHAPE_ICON_STYLE_1&quot;}">
                  <a:extLst>
                    <a:ext uri="{FF2B5EF4-FFF2-40B4-BE49-F238E27FC236}">
                      <a16:creationId xmlns:a16="http://schemas.microsoft.com/office/drawing/2014/main" id="{D5500C0C-BAFD-3C7D-BC4E-63742D982A95}"/>
                    </a:ext>
                  </a:extLst>
                </p:cNvPr>
                <p:cNvSpPr>
                  <a:spLocks noChangeAspect="1" noEditPoints="1"/>
                </p:cNvSpPr>
                <p:nvPr>
                  <p:custDataLst>
                    <p:tags r:id="rId7"/>
                  </p:custDataLst>
                </p:nvPr>
              </p:nvSpPr>
              <p:spPr bwMode="auto">
                <a:xfrm>
                  <a:off x="9310742" y="1372156"/>
                  <a:ext cx="872049" cy="2089104"/>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68580" tIns="34290" rIns="68580" bIns="34290" numCol="1" anchor="t" anchorCtr="0" compatLnSpc="1">
                  <a:prstTxWarp prst="textNoShape">
                    <a:avLst/>
                  </a:prstTxWarp>
                </a:bodyPr>
                <a:lstStyle/>
                <a:p>
                  <a:pPr defTabSz="685754">
                    <a:defRPr/>
                  </a:pPr>
                  <a:endParaRPr lang="en-US" sz="1200" kern="0" dirty="0">
                    <a:solidFill>
                      <a:prstClr val="black"/>
                    </a:solidFill>
                  </a:endParaRPr>
                </a:p>
              </p:txBody>
            </p:sp>
            <p:sp>
              <p:nvSpPr>
                <p:cNvPr id="47" name="Rechteck 46">
                  <a:extLst>
                    <a:ext uri="{FF2B5EF4-FFF2-40B4-BE49-F238E27FC236}">
                      <a16:creationId xmlns:a16="http://schemas.microsoft.com/office/drawing/2014/main" id="{3CD592CB-7BAF-637A-C1B5-AD9ABED12762}"/>
                    </a:ext>
                  </a:extLst>
                </p:cNvPr>
                <p:cNvSpPr/>
                <p:nvPr/>
              </p:nvSpPr>
              <p:spPr>
                <a:xfrm>
                  <a:off x="9620504" y="1316444"/>
                  <a:ext cx="1166304" cy="2249048"/>
                </a:xfrm>
                <a:prstGeom prst="rect">
                  <a:avLst/>
                </a:prstGeom>
                <a:noFill/>
                <a:ln w="12700" cap="flat" cmpd="sng" algn="ctr">
                  <a:solidFill>
                    <a:srgbClr val="0070C0"/>
                  </a:solidFill>
                  <a:prstDash val="solid"/>
                  <a:miter lim="800000"/>
                </a:ln>
                <a:effectLst/>
              </p:spPr>
              <p:txBody>
                <a:bodyPr rtlCol="0" anchor="ctr"/>
                <a:lstStyle/>
                <a:p>
                  <a:pPr algn="ctr" defTabSz="685754">
                    <a:defRPr/>
                  </a:pPr>
                  <a:endParaRPr lang="de-AT" sz="1200" kern="0" dirty="0">
                    <a:solidFill>
                      <a:prstClr val="white"/>
                    </a:solidFill>
                    <a:latin typeface="Calibri" panose="020F0502020204030204"/>
                  </a:endParaRPr>
                </a:p>
              </p:txBody>
            </p:sp>
          </p:grpSp>
          <p:grpSp>
            <p:nvGrpSpPr>
              <p:cNvPr id="55" name="Gruppieren 54" descr="{&quot;Key&quot;:&quot;POWER_USER_SHAPE_ICON&quot;,&quot;Value&quot;:&quot;POWER_USER_SHAPE_ICON_STYLE_2&quot;}">
                <a:extLst>
                  <a:ext uri="{FF2B5EF4-FFF2-40B4-BE49-F238E27FC236}">
                    <a16:creationId xmlns:a16="http://schemas.microsoft.com/office/drawing/2014/main" id="{494AA765-2044-6A8F-704E-7FFE967DFC07}"/>
                  </a:ext>
                </a:extLst>
              </p:cNvPr>
              <p:cNvGrpSpPr>
                <a:grpSpLocks noChangeAspect="1"/>
              </p:cNvGrpSpPr>
              <p:nvPr/>
            </p:nvGrpSpPr>
            <p:grpSpPr>
              <a:xfrm>
                <a:off x="6585308" y="3569920"/>
                <a:ext cx="395675" cy="364530"/>
                <a:chOff x="-127000" y="2990387"/>
                <a:chExt cx="762000" cy="762000"/>
              </a:xfrm>
            </p:grpSpPr>
            <p:sp>
              <p:nvSpPr>
                <p:cNvPr id="56" name="POWER_USER_SHAPE_ICON_STYLE_2">
                  <a:extLst>
                    <a:ext uri="{FF2B5EF4-FFF2-40B4-BE49-F238E27FC236}">
                      <a16:creationId xmlns:a16="http://schemas.microsoft.com/office/drawing/2014/main" id="{0AD50B72-F3DC-CFB0-6B92-401853A2356A}"/>
                    </a:ext>
                  </a:extLst>
                </p:cNvPr>
                <p:cNvSpPr/>
                <p:nvPr/>
              </p:nvSpPr>
              <p:spPr>
                <a:xfrm>
                  <a:off x="-127000" y="2990387"/>
                  <a:ext cx="762000" cy="762000"/>
                </a:xfrm>
                <a:prstGeom prst="ellipse">
                  <a:avLst/>
                </a:prstGeom>
                <a:solidFill>
                  <a:srgbClr val="BCCF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AT" sz="1200" kern="0" dirty="0">
                    <a:solidFill>
                      <a:prstClr val="white"/>
                    </a:solidFill>
                  </a:endParaRPr>
                </a:p>
              </p:txBody>
            </p:sp>
            <p:sp>
              <p:nvSpPr>
                <p:cNvPr id="57" name="Car7" descr="{&quot;Key&quot;:&quot;POWER_USER_SHAPE_ICON&quot;,&quot;Value&quot;:&quot;POWER_USER_SHAPE_ICON_STYLE_1&quot;}">
                  <a:extLst>
                    <a:ext uri="{FF2B5EF4-FFF2-40B4-BE49-F238E27FC236}">
                      <a16:creationId xmlns:a16="http://schemas.microsoft.com/office/drawing/2014/main" id="{6BAE9DAF-AD5D-8529-F853-B4FC2CB3FB0F}"/>
                    </a:ext>
                  </a:extLst>
                </p:cNvPr>
                <p:cNvSpPr>
                  <a:spLocks noChangeAspect="1" noEditPoints="1"/>
                </p:cNvSpPr>
                <p:nvPr>
                  <p:custDataLst>
                    <p:tags r:id="rId6"/>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en-US" sz="1200" kern="0" dirty="0">
                    <a:solidFill>
                      <a:prstClr val="black"/>
                    </a:solidFill>
                  </a:endParaRPr>
                </a:p>
              </p:txBody>
            </p:sp>
          </p:grpSp>
          <p:grpSp>
            <p:nvGrpSpPr>
              <p:cNvPr id="58" name="Gruppieren 57" descr="{&quot;Key&quot;:&quot;POWER_USER_SHAPE_ICON&quot;,&quot;Value&quot;:&quot;POWER_USER_SHAPE_ICON_STYLE_2&quot;}">
                <a:extLst>
                  <a:ext uri="{FF2B5EF4-FFF2-40B4-BE49-F238E27FC236}">
                    <a16:creationId xmlns:a16="http://schemas.microsoft.com/office/drawing/2014/main" id="{A6320774-828C-960E-EA66-A3AFB1225E48}"/>
                  </a:ext>
                </a:extLst>
              </p:cNvPr>
              <p:cNvGrpSpPr>
                <a:grpSpLocks noChangeAspect="1"/>
              </p:cNvGrpSpPr>
              <p:nvPr/>
            </p:nvGrpSpPr>
            <p:grpSpPr>
              <a:xfrm>
                <a:off x="6585308" y="2488497"/>
                <a:ext cx="395675" cy="364530"/>
                <a:chOff x="-126995" y="2990392"/>
                <a:chExt cx="762000" cy="762000"/>
              </a:xfrm>
            </p:grpSpPr>
            <p:sp>
              <p:nvSpPr>
                <p:cNvPr id="59" name="POWER_USER_SHAPE_ICON_STYLE_2">
                  <a:extLst>
                    <a:ext uri="{FF2B5EF4-FFF2-40B4-BE49-F238E27FC236}">
                      <a16:creationId xmlns:a16="http://schemas.microsoft.com/office/drawing/2014/main" id="{14B022EA-22B0-ED06-86DC-8F900DF24958}"/>
                    </a:ext>
                  </a:extLst>
                </p:cNvPr>
                <p:cNvSpPr/>
                <p:nvPr/>
              </p:nvSpPr>
              <p:spPr>
                <a:xfrm>
                  <a:off x="-126995" y="2990392"/>
                  <a:ext cx="762000" cy="762000"/>
                </a:xfrm>
                <a:prstGeom prst="ellipse">
                  <a:avLst/>
                </a:prstGeom>
                <a:solidFill>
                  <a:srgbClr val="F59C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AT" sz="1200" kern="0" dirty="0">
                    <a:solidFill>
                      <a:prstClr val="white"/>
                    </a:solidFill>
                  </a:endParaRPr>
                </a:p>
              </p:txBody>
            </p:sp>
            <p:sp>
              <p:nvSpPr>
                <p:cNvPr id="60" name="Car7" descr="{&quot;Key&quot;:&quot;POWER_USER_SHAPE_ICON&quot;,&quot;Value&quot;:&quot;POWER_USER_SHAPE_ICON_STYLE_1&quot;}">
                  <a:extLst>
                    <a:ext uri="{FF2B5EF4-FFF2-40B4-BE49-F238E27FC236}">
                      <a16:creationId xmlns:a16="http://schemas.microsoft.com/office/drawing/2014/main" id="{EC6F2AE9-A1B2-CEA6-E6BC-BA5F3B04ECB8}"/>
                    </a:ext>
                  </a:extLst>
                </p:cNvPr>
                <p:cNvSpPr>
                  <a:spLocks noChangeAspect="1" noEditPoints="1"/>
                </p:cNvSpPr>
                <p:nvPr>
                  <p:custDataLst>
                    <p:tags r:id="rId5"/>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en-US" sz="1200" kern="0" dirty="0">
                    <a:solidFill>
                      <a:prstClr val="black"/>
                    </a:solidFill>
                  </a:endParaRPr>
                </a:p>
              </p:txBody>
            </p:sp>
          </p:grpSp>
          <p:grpSp>
            <p:nvGrpSpPr>
              <p:cNvPr id="61" name="Gruppieren 60" descr="{&quot;Key&quot;:&quot;POWER_USER_SHAPE_ICON&quot;,&quot;Value&quot;:&quot;POWER_USER_SHAPE_ICON_STYLE_2&quot;}">
                <a:extLst>
                  <a:ext uri="{FF2B5EF4-FFF2-40B4-BE49-F238E27FC236}">
                    <a16:creationId xmlns:a16="http://schemas.microsoft.com/office/drawing/2014/main" id="{D35A681C-D64F-55F6-DC40-2952497BFD42}"/>
                  </a:ext>
                </a:extLst>
              </p:cNvPr>
              <p:cNvGrpSpPr>
                <a:grpSpLocks noChangeAspect="1"/>
              </p:cNvGrpSpPr>
              <p:nvPr/>
            </p:nvGrpSpPr>
            <p:grpSpPr>
              <a:xfrm>
                <a:off x="6585308" y="2848946"/>
                <a:ext cx="395675" cy="364530"/>
                <a:chOff x="-127000" y="2990387"/>
                <a:chExt cx="762000" cy="762000"/>
              </a:xfrm>
            </p:grpSpPr>
            <p:sp>
              <p:nvSpPr>
                <p:cNvPr id="62" name="POWER_USER_SHAPE_ICON_STYLE_2">
                  <a:extLst>
                    <a:ext uri="{FF2B5EF4-FFF2-40B4-BE49-F238E27FC236}">
                      <a16:creationId xmlns:a16="http://schemas.microsoft.com/office/drawing/2014/main" id="{02BB6592-9A57-C809-F734-88FF6D51CE7F}"/>
                    </a:ext>
                  </a:extLst>
                </p:cNvPr>
                <p:cNvSpPr/>
                <p:nvPr/>
              </p:nvSpPr>
              <p:spPr>
                <a:xfrm>
                  <a:off x="-127000" y="2990387"/>
                  <a:ext cx="762000" cy="762000"/>
                </a:xfrm>
                <a:prstGeom prst="ellipse">
                  <a:avLst/>
                </a:prstGeom>
                <a:solidFill>
                  <a:srgbClr val="00B0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AT" sz="1200" kern="0" dirty="0">
                    <a:solidFill>
                      <a:prstClr val="white"/>
                    </a:solidFill>
                  </a:endParaRPr>
                </a:p>
              </p:txBody>
            </p:sp>
            <p:sp>
              <p:nvSpPr>
                <p:cNvPr id="63" name="Car7" descr="{&quot;Key&quot;:&quot;POWER_USER_SHAPE_ICON&quot;,&quot;Value&quot;:&quot;POWER_USER_SHAPE_ICON_STYLE_1&quot;}">
                  <a:extLst>
                    <a:ext uri="{FF2B5EF4-FFF2-40B4-BE49-F238E27FC236}">
                      <a16:creationId xmlns:a16="http://schemas.microsoft.com/office/drawing/2014/main" id="{BAB208D2-EBE7-539B-AAF3-4CC18D8D9364}"/>
                    </a:ext>
                  </a:extLst>
                </p:cNvPr>
                <p:cNvSpPr>
                  <a:spLocks noChangeAspect="1" noEditPoints="1"/>
                </p:cNvSpPr>
                <p:nvPr>
                  <p:custDataLst>
                    <p:tags r:id="rId4"/>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en-US" sz="1200" kern="0" dirty="0">
                    <a:solidFill>
                      <a:prstClr val="black"/>
                    </a:solidFill>
                  </a:endParaRPr>
                </a:p>
              </p:txBody>
            </p:sp>
          </p:grpSp>
          <p:grpSp>
            <p:nvGrpSpPr>
              <p:cNvPr id="64" name="Gruppieren 63" descr="{&quot;Key&quot;:&quot;POWER_USER_SHAPE_ICON&quot;,&quot;Value&quot;:&quot;POWER_USER_SHAPE_ICON_STYLE_2&quot;}">
                <a:extLst>
                  <a:ext uri="{FF2B5EF4-FFF2-40B4-BE49-F238E27FC236}">
                    <a16:creationId xmlns:a16="http://schemas.microsoft.com/office/drawing/2014/main" id="{8E1E7B8F-CF41-DACC-AB51-17D032B4FECA}"/>
                  </a:ext>
                </a:extLst>
              </p:cNvPr>
              <p:cNvGrpSpPr>
                <a:grpSpLocks noChangeAspect="1"/>
              </p:cNvGrpSpPr>
              <p:nvPr/>
            </p:nvGrpSpPr>
            <p:grpSpPr>
              <a:xfrm>
                <a:off x="6585308" y="3209433"/>
                <a:ext cx="395675" cy="364530"/>
                <a:chOff x="-127000" y="2990387"/>
                <a:chExt cx="762000" cy="762000"/>
              </a:xfrm>
            </p:grpSpPr>
            <p:sp>
              <p:nvSpPr>
                <p:cNvPr id="65" name="POWER_USER_SHAPE_ICON_STYLE_2">
                  <a:extLst>
                    <a:ext uri="{FF2B5EF4-FFF2-40B4-BE49-F238E27FC236}">
                      <a16:creationId xmlns:a16="http://schemas.microsoft.com/office/drawing/2014/main" id="{6DEFBDAA-1FEB-2092-07C2-A30D69D162FA}"/>
                    </a:ext>
                  </a:extLst>
                </p:cNvPr>
                <p:cNvSpPr/>
                <p:nvPr/>
              </p:nvSpPr>
              <p:spPr>
                <a:xfrm>
                  <a:off x="-127000" y="2990387"/>
                  <a:ext cx="762000" cy="762000"/>
                </a:xfrm>
                <a:prstGeom prst="ellipse">
                  <a:avLst/>
                </a:prstGeom>
                <a:solidFill>
                  <a:srgbClr val="E1320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AT" sz="1200" kern="0" dirty="0">
                    <a:solidFill>
                      <a:prstClr val="white"/>
                    </a:solidFill>
                  </a:endParaRPr>
                </a:p>
              </p:txBody>
            </p:sp>
            <p:sp>
              <p:nvSpPr>
                <p:cNvPr id="66" name="Car7" descr="{&quot;Key&quot;:&quot;POWER_USER_SHAPE_ICON&quot;,&quot;Value&quot;:&quot;POWER_USER_SHAPE_ICON_STYLE_1&quot;}">
                  <a:extLst>
                    <a:ext uri="{FF2B5EF4-FFF2-40B4-BE49-F238E27FC236}">
                      <a16:creationId xmlns:a16="http://schemas.microsoft.com/office/drawing/2014/main" id="{B42DEFED-A813-1F10-D854-57E94A2E93CE}"/>
                    </a:ext>
                  </a:extLst>
                </p:cNvPr>
                <p:cNvSpPr>
                  <a:spLocks noChangeAspect="1" noEditPoints="1"/>
                </p:cNvSpPr>
                <p:nvPr>
                  <p:custDataLst>
                    <p:tags r:id="rId3"/>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en-US" sz="1200" kern="0" dirty="0">
                    <a:solidFill>
                      <a:prstClr val="black"/>
                    </a:solidFill>
                  </a:endParaRPr>
                </a:p>
              </p:txBody>
            </p:sp>
          </p:grpSp>
          <p:sp>
            <p:nvSpPr>
              <p:cNvPr id="69" name="Rechteck 68">
                <a:extLst>
                  <a:ext uri="{FF2B5EF4-FFF2-40B4-BE49-F238E27FC236}">
                    <a16:creationId xmlns:a16="http://schemas.microsoft.com/office/drawing/2014/main" id="{A74D4F04-77EF-5224-0CCA-1D3079B000B2}"/>
                  </a:ext>
                </a:extLst>
              </p:cNvPr>
              <p:cNvSpPr/>
              <p:nvPr/>
            </p:nvSpPr>
            <p:spPr>
              <a:xfrm>
                <a:off x="7077715" y="2561158"/>
                <a:ext cx="581920" cy="219208"/>
              </a:xfrm>
              <a:prstGeom prst="rect">
                <a:avLst/>
              </a:prstGeom>
              <a:solidFill>
                <a:srgbClr val="F59C00"/>
              </a:solidFill>
              <a:ln w="12700" cap="flat" cmpd="sng" algn="ctr">
                <a:solidFill>
                  <a:srgbClr val="F59C00">
                    <a:shade val="15000"/>
                  </a:srgbClr>
                </a:solidFill>
                <a:prstDash val="solid"/>
                <a:miter lim="800000"/>
              </a:ln>
              <a:effectLst/>
            </p:spPr>
            <p:txBody>
              <a:bodyPr rtlCol="0" anchor="ctr"/>
              <a:lstStyle/>
              <a:p>
                <a:pPr algn="ctr" defTabSz="914339">
                  <a:defRPr/>
                </a:pPr>
                <a:endParaRPr lang="de-AT" sz="1600" kern="0" dirty="0">
                  <a:solidFill>
                    <a:srgbClr val="FFFFFF"/>
                  </a:solidFill>
                  <a:latin typeface="Calibri" panose="020F0502020204030204"/>
                </a:endParaRPr>
              </a:p>
            </p:txBody>
          </p:sp>
          <p:sp>
            <p:nvSpPr>
              <p:cNvPr id="70" name="Rechteck 69">
                <a:extLst>
                  <a:ext uri="{FF2B5EF4-FFF2-40B4-BE49-F238E27FC236}">
                    <a16:creationId xmlns:a16="http://schemas.microsoft.com/office/drawing/2014/main" id="{83661CCA-BA08-E9B2-9390-F42C2C704BBF}"/>
                  </a:ext>
                </a:extLst>
              </p:cNvPr>
              <p:cNvSpPr/>
              <p:nvPr/>
            </p:nvSpPr>
            <p:spPr>
              <a:xfrm>
                <a:off x="7956944" y="2561702"/>
                <a:ext cx="581920" cy="218121"/>
              </a:xfrm>
              <a:prstGeom prst="rect">
                <a:avLst/>
              </a:prstGeom>
              <a:pattFill prst="wdUpDiag">
                <a:fgClr>
                  <a:srgbClr val="F59C00"/>
                </a:fgClr>
                <a:bgClr>
                  <a:srgbClr val="FFFFFF"/>
                </a:bgClr>
              </a:pattFill>
              <a:ln w="12700" cap="flat" cmpd="sng" algn="ctr">
                <a:solidFill>
                  <a:srgbClr val="F59C00">
                    <a:shade val="15000"/>
                  </a:srgbClr>
                </a:solidFill>
                <a:prstDash val="solid"/>
                <a:miter lim="800000"/>
              </a:ln>
              <a:effectLst/>
            </p:spPr>
            <p:txBody>
              <a:bodyPr rtlCol="0" anchor="ctr"/>
              <a:lstStyle/>
              <a:p>
                <a:pPr algn="ctr" defTabSz="914339">
                  <a:defRPr/>
                </a:pPr>
                <a:endParaRPr lang="de-AT" sz="1600" kern="0" dirty="0">
                  <a:solidFill>
                    <a:srgbClr val="E6EFF3">
                      <a:lumMod val="25000"/>
                    </a:srgbClr>
                  </a:solidFill>
                  <a:latin typeface="Calibri" panose="020F0502020204030204"/>
                </a:endParaRPr>
              </a:p>
            </p:txBody>
          </p:sp>
          <p:sp>
            <p:nvSpPr>
              <p:cNvPr id="71" name="Rechteck 70">
                <a:extLst>
                  <a:ext uri="{FF2B5EF4-FFF2-40B4-BE49-F238E27FC236}">
                    <a16:creationId xmlns:a16="http://schemas.microsoft.com/office/drawing/2014/main" id="{572CEFAE-CD40-76C1-DB6F-833DC37C18FB}"/>
                  </a:ext>
                </a:extLst>
              </p:cNvPr>
              <p:cNvSpPr/>
              <p:nvPr/>
            </p:nvSpPr>
            <p:spPr>
              <a:xfrm>
                <a:off x="7077715" y="2921607"/>
                <a:ext cx="298605" cy="219208"/>
              </a:xfrm>
              <a:prstGeom prst="rect">
                <a:avLst/>
              </a:prstGeom>
              <a:solidFill>
                <a:srgbClr val="00B0F0"/>
              </a:solidFill>
              <a:ln w="12700" cap="flat" cmpd="sng" algn="ctr">
                <a:solidFill>
                  <a:srgbClr val="0070C0"/>
                </a:solidFill>
                <a:prstDash val="solid"/>
                <a:miter lim="800000"/>
              </a:ln>
              <a:effectLst/>
            </p:spPr>
            <p:txBody>
              <a:bodyPr rtlCol="0" anchor="ctr"/>
              <a:lstStyle/>
              <a:p>
                <a:pPr algn="ctr" defTabSz="914339">
                  <a:defRPr/>
                </a:pPr>
                <a:endParaRPr lang="de-AT" sz="1600" kern="0" dirty="0">
                  <a:solidFill>
                    <a:srgbClr val="FFFFFF"/>
                  </a:solidFill>
                  <a:latin typeface="Calibri" panose="020F0502020204030204"/>
                </a:endParaRPr>
              </a:p>
            </p:txBody>
          </p:sp>
          <p:sp>
            <p:nvSpPr>
              <p:cNvPr id="72" name="Rechteck 71">
                <a:extLst>
                  <a:ext uri="{FF2B5EF4-FFF2-40B4-BE49-F238E27FC236}">
                    <a16:creationId xmlns:a16="http://schemas.microsoft.com/office/drawing/2014/main" id="{A3D20EED-6245-370D-FB71-05B8CE48090F}"/>
                  </a:ext>
                </a:extLst>
              </p:cNvPr>
              <p:cNvSpPr/>
              <p:nvPr/>
            </p:nvSpPr>
            <p:spPr>
              <a:xfrm>
                <a:off x="7956944" y="2922151"/>
                <a:ext cx="844826" cy="218121"/>
              </a:xfrm>
              <a:prstGeom prst="rect">
                <a:avLst/>
              </a:prstGeom>
              <a:pattFill prst="wdUpDiag">
                <a:fgClr>
                  <a:srgbClr val="00B0F0"/>
                </a:fgClr>
                <a:bgClr>
                  <a:srgbClr val="FFFFFF"/>
                </a:bgClr>
              </a:pattFill>
              <a:ln w="12700" cap="flat" cmpd="sng" algn="ctr">
                <a:solidFill>
                  <a:srgbClr val="0070C0"/>
                </a:solidFill>
                <a:prstDash val="solid"/>
                <a:miter lim="800000"/>
              </a:ln>
              <a:effectLst/>
            </p:spPr>
            <p:txBody>
              <a:bodyPr rtlCol="0" anchor="ctr"/>
              <a:lstStyle/>
              <a:p>
                <a:pPr algn="ctr" defTabSz="914339">
                  <a:defRPr/>
                </a:pPr>
                <a:endParaRPr lang="de-AT" sz="1600" kern="0" dirty="0">
                  <a:solidFill>
                    <a:srgbClr val="E6EFF3">
                      <a:lumMod val="25000"/>
                    </a:srgbClr>
                  </a:solidFill>
                  <a:latin typeface="Calibri" panose="020F0502020204030204"/>
                </a:endParaRPr>
              </a:p>
            </p:txBody>
          </p:sp>
          <p:sp>
            <p:nvSpPr>
              <p:cNvPr id="73" name="Rechteck 72">
                <a:extLst>
                  <a:ext uri="{FF2B5EF4-FFF2-40B4-BE49-F238E27FC236}">
                    <a16:creationId xmlns:a16="http://schemas.microsoft.com/office/drawing/2014/main" id="{F755AC42-8889-D89C-1603-F5020BF1B530}"/>
                  </a:ext>
                </a:extLst>
              </p:cNvPr>
              <p:cNvSpPr/>
              <p:nvPr/>
            </p:nvSpPr>
            <p:spPr>
              <a:xfrm>
                <a:off x="7077715" y="3282094"/>
                <a:ext cx="41302" cy="219208"/>
              </a:xfrm>
              <a:prstGeom prst="rect">
                <a:avLst/>
              </a:prstGeom>
              <a:solidFill>
                <a:srgbClr val="E1320F"/>
              </a:solidFill>
              <a:ln w="12700" cap="flat" cmpd="sng" algn="ctr">
                <a:solidFill>
                  <a:srgbClr val="E1320F">
                    <a:lumMod val="75000"/>
                  </a:srgbClr>
                </a:solidFill>
                <a:prstDash val="solid"/>
                <a:miter lim="800000"/>
              </a:ln>
              <a:effectLst/>
            </p:spPr>
            <p:txBody>
              <a:bodyPr rtlCol="0" anchor="ctr"/>
              <a:lstStyle/>
              <a:p>
                <a:pPr algn="ctr" defTabSz="914339">
                  <a:defRPr/>
                </a:pPr>
                <a:endParaRPr lang="de-AT" sz="1600" kern="0" dirty="0">
                  <a:solidFill>
                    <a:srgbClr val="FFFFFF"/>
                  </a:solidFill>
                  <a:latin typeface="Calibri" panose="020F0502020204030204"/>
                </a:endParaRPr>
              </a:p>
            </p:txBody>
          </p:sp>
          <p:sp>
            <p:nvSpPr>
              <p:cNvPr id="74" name="Rechteck 73">
                <a:extLst>
                  <a:ext uri="{FF2B5EF4-FFF2-40B4-BE49-F238E27FC236}">
                    <a16:creationId xmlns:a16="http://schemas.microsoft.com/office/drawing/2014/main" id="{4C8C8404-DA73-3E67-BFE7-D18A0868CFBF}"/>
                  </a:ext>
                </a:extLst>
              </p:cNvPr>
              <p:cNvSpPr/>
              <p:nvPr/>
            </p:nvSpPr>
            <p:spPr>
              <a:xfrm>
                <a:off x="7956944" y="3282638"/>
                <a:ext cx="1108060" cy="218121"/>
              </a:xfrm>
              <a:prstGeom prst="rect">
                <a:avLst/>
              </a:prstGeom>
              <a:pattFill prst="wdUpDiag">
                <a:fgClr>
                  <a:srgbClr val="E1320F"/>
                </a:fgClr>
                <a:bgClr>
                  <a:srgbClr val="FFFFFF"/>
                </a:bgClr>
              </a:pattFill>
              <a:ln w="12700" cap="flat" cmpd="sng" algn="ctr">
                <a:solidFill>
                  <a:srgbClr val="E1320F">
                    <a:lumMod val="75000"/>
                  </a:srgbClr>
                </a:solidFill>
                <a:prstDash val="solid"/>
                <a:miter lim="800000"/>
              </a:ln>
              <a:effectLst/>
            </p:spPr>
            <p:txBody>
              <a:bodyPr rtlCol="0" anchor="ctr"/>
              <a:lstStyle/>
              <a:p>
                <a:pPr algn="ctr" defTabSz="914339">
                  <a:defRPr/>
                </a:pPr>
                <a:endParaRPr lang="de-AT" sz="1600" kern="0" dirty="0">
                  <a:solidFill>
                    <a:srgbClr val="E6EFF3">
                      <a:lumMod val="25000"/>
                    </a:srgbClr>
                  </a:solidFill>
                  <a:latin typeface="Calibri" panose="020F0502020204030204"/>
                </a:endParaRPr>
              </a:p>
            </p:txBody>
          </p:sp>
          <p:sp>
            <p:nvSpPr>
              <p:cNvPr id="75" name="Rechteck 74">
                <a:extLst>
                  <a:ext uri="{FF2B5EF4-FFF2-40B4-BE49-F238E27FC236}">
                    <a16:creationId xmlns:a16="http://schemas.microsoft.com/office/drawing/2014/main" id="{607DDF18-A6AE-DAD0-D2B4-2485AA0E468C}"/>
                  </a:ext>
                </a:extLst>
              </p:cNvPr>
              <p:cNvSpPr/>
              <p:nvPr/>
            </p:nvSpPr>
            <p:spPr>
              <a:xfrm>
                <a:off x="7956944" y="3643125"/>
                <a:ext cx="962421" cy="218121"/>
              </a:xfrm>
              <a:prstGeom prst="rect">
                <a:avLst/>
              </a:prstGeom>
              <a:pattFill prst="wdUpDiag">
                <a:fgClr>
                  <a:srgbClr val="BCCF00"/>
                </a:fgClr>
                <a:bgClr>
                  <a:srgbClr val="FFFFFF"/>
                </a:bgClr>
              </a:pattFill>
              <a:ln w="12700" cap="flat" cmpd="sng" algn="ctr">
                <a:solidFill>
                  <a:srgbClr val="BCCF00">
                    <a:lumMod val="75000"/>
                  </a:srgbClr>
                </a:solidFill>
                <a:prstDash val="solid"/>
                <a:miter lim="800000"/>
              </a:ln>
              <a:effectLst/>
            </p:spPr>
            <p:txBody>
              <a:bodyPr rtlCol="0" anchor="ctr"/>
              <a:lstStyle/>
              <a:p>
                <a:pPr algn="ctr" defTabSz="914339">
                  <a:defRPr/>
                </a:pPr>
                <a:endParaRPr lang="de-AT" sz="1600" kern="0" dirty="0">
                  <a:solidFill>
                    <a:srgbClr val="E6EFF3">
                      <a:lumMod val="25000"/>
                    </a:srgbClr>
                  </a:solidFill>
                  <a:latin typeface="Calibri" panose="020F0502020204030204"/>
                </a:endParaRPr>
              </a:p>
            </p:txBody>
          </p:sp>
          <p:sp>
            <p:nvSpPr>
              <p:cNvPr id="76" name="Rechteck 75">
                <a:extLst>
                  <a:ext uri="{FF2B5EF4-FFF2-40B4-BE49-F238E27FC236}">
                    <a16:creationId xmlns:a16="http://schemas.microsoft.com/office/drawing/2014/main" id="{BB5400A5-1C07-3879-871B-727F5B03CB8A}"/>
                  </a:ext>
                </a:extLst>
              </p:cNvPr>
              <p:cNvSpPr/>
              <p:nvPr/>
            </p:nvSpPr>
            <p:spPr>
              <a:xfrm>
                <a:off x="7077715" y="3643125"/>
                <a:ext cx="205872" cy="218121"/>
              </a:xfrm>
              <a:prstGeom prst="rect">
                <a:avLst/>
              </a:prstGeom>
              <a:solidFill>
                <a:srgbClr val="BCCF00"/>
              </a:solidFill>
              <a:ln w="12700" cap="flat" cmpd="sng" algn="ctr">
                <a:solidFill>
                  <a:srgbClr val="BCCF00">
                    <a:lumMod val="75000"/>
                  </a:srgbClr>
                </a:solidFill>
                <a:prstDash val="solid"/>
                <a:miter lim="800000"/>
              </a:ln>
              <a:effectLst/>
            </p:spPr>
            <p:txBody>
              <a:bodyPr rtlCol="0" anchor="ctr"/>
              <a:lstStyle/>
              <a:p>
                <a:pPr algn="ctr" defTabSz="914339">
                  <a:defRPr/>
                </a:pPr>
                <a:endParaRPr lang="de-AT" sz="1600" kern="0" dirty="0">
                  <a:solidFill>
                    <a:srgbClr val="E6EFF3">
                      <a:lumMod val="25000"/>
                    </a:srgbClr>
                  </a:solidFill>
                  <a:latin typeface="Calibri" panose="020F0502020204030204"/>
                </a:endParaRPr>
              </a:p>
            </p:txBody>
          </p:sp>
          <p:sp>
            <p:nvSpPr>
              <p:cNvPr id="77" name="Textfeld 76">
                <a:extLst>
                  <a:ext uri="{FF2B5EF4-FFF2-40B4-BE49-F238E27FC236}">
                    <a16:creationId xmlns:a16="http://schemas.microsoft.com/office/drawing/2014/main" id="{E08170CC-0B9B-3920-264A-7C2F8CCC3693}"/>
                  </a:ext>
                </a:extLst>
              </p:cNvPr>
              <p:cNvSpPr txBox="1"/>
              <p:nvPr/>
            </p:nvSpPr>
            <p:spPr>
              <a:xfrm>
                <a:off x="6975849" y="2330777"/>
                <a:ext cx="1061170" cy="261610"/>
              </a:xfrm>
              <a:prstGeom prst="rect">
                <a:avLst/>
              </a:prstGeom>
              <a:noFill/>
            </p:spPr>
            <p:txBody>
              <a:bodyPr wrap="square">
                <a:spAutoFit/>
              </a:bodyPr>
              <a:lstStyle/>
              <a:p>
                <a:pPr defTabSz="914339">
                  <a:defRPr/>
                </a:pPr>
                <a:r>
                  <a:rPr lang="en-GB" sz="1100" kern="0" dirty="0">
                    <a:solidFill>
                      <a:srgbClr val="0070C0"/>
                    </a:solidFill>
                    <a:latin typeface="Bahnschrift" panose="020B0502040204020203" pitchFamily="34" charset="0"/>
                  </a:rPr>
                  <a:t>Zielverkehr</a:t>
                </a:r>
                <a:endParaRPr lang="de-AT" sz="1100" kern="0" dirty="0">
                  <a:solidFill>
                    <a:srgbClr val="000000"/>
                  </a:solidFill>
                </a:endParaRPr>
              </a:p>
            </p:txBody>
          </p:sp>
          <p:sp>
            <p:nvSpPr>
              <p:cNvPr id="78" name="Textfeld 77">
                <a:extLst>
                  <a:ext uri="{FF2B5EF4-FFF2-40B4-BE49-F238E27FC236}">
                    <a16:creationId xmlns:a16="http://schemas.microsoft.com/office/drawing/2014/main" id="{FB493B13-2E76-6014-7295-56A4E8B6F193}"/>
                  </a:ext>
                </a:extLst>
              </p:cNvPr>
              <p:cNvSpPr txBox="1"/>
              <p:nvPr/>
            </p:nvSpPr>
            <p:spPr>
              <a:xfrm>
                <a:off x="7861745" y="2341644"/>
                <a:ext cx="1496079" cy="261610"/>
              </a:xfrm>
              <a:prstGeom prst="rect">
                <a:avLst/>
              </a:prstGeom>
              <a:noFill/>
            </p:spPr>
            <p:txBody>
              <a:bodyPr wrap="square">
                <a:spAutoFit/>
              </a:bodyPr>
              <a:lstStyle/>
              <a:p>
                <a:pPr defTabSz="914339">
                  <a:defRPr/>
                </a:pPr>
                <a:r>
                  <a:rPr lang="en-GB" sz="1100" kern="0" dirty="0">
                    <a:solidFill>
                      <a:srgbClr val="0070C0"/>
                    </a:solidFill>
                    <a:latin typeface="Bahnschrift" panose="020B0502040204020203" pitchFamily="34" charset="0"/>
                  </a:rPr>
                  <a:t>Anderer Verkehr</a:t>
                </a:r>
                <a:endParaRPr lang="de-AT" sz="1100" kern="0" dirty="0">
                  <a:solidFill>
                    <a:srgbClr val="000000"/>
                  </a:solidFill>
                </a:endParaRPr>
              </a:p>
            </p:txBody>
          </p:sp>
          <p:grpSp>
            <p:nvGrpSpPr>
              <p:cNvPr id="79" name="Gruppieren 78" descr="{&quot;Key&quot;:&quot;POWER_USER_SHAPE_ICON&quot;,&quot;Value&quot;:&quot;POWER_USER_SHAPE_ICON_STYLE_2&quot;}">
                <a:extLst>
                  <a:ext uri="{FF2B5EF4-FFF2-40B4-BE49-F238E27FC236}">
                    <a16:creationId xmlns:a16="http://schemas.microsoft.com/office/drawing/2014/main" id="{654252DC-0810-10AF-8F2E-2B6E2540CF8F}"/>
                  </a:ext>
                </a:extLst>
              </p:cNvPr>
              <p:cNvGrpSpPr>
                <a:grpSpLocks noChangeAspect="1"/>
              </p:cNvGrpSpPr>
              <p:nvPr/>
            </p:nvGrpSpPr>
            <p:grpSpPr>
              <a:xfrm>
                <a:off x="9023650" y="2234912"/>
                <a:ext cx="465882" cy="429209"/>
                <a:chOff x="288345" y="3340831"/>
                <a:chExt cx="762000" cy="762000"/>
              </a:xfrm>
            </p:grpSpPr>
            <p:sp>
              <p:nvSpPr>
                <p:cNvPr id="80" name="POWER_USER_SHAPE_ICON_STYLE_2">
                  <a:extLst>
                    <a:ext uri="{FF2B5EF4-FFF2-40B4-BE49-F238E27FC236}">
                      <a16:creationId xmlns:a16="http://schemas.microsoft.com/office/drawing/2014/main" id="{AB441AF9-BB1C-8EDA-E181-52F6DFE6DA24}"/>
                    </a:ext>
                  </a:extLst>
                </p:cNvPr>
                <p:cNvSpPr/>
                <p:nvPr/>
              </p:nvSpPr>
              <p:spPr>
                <a:xfrm>
                  <a:off x="288345" y="3340831"/>
                  <a:ext cx="762000" cy="762000"/>
                </a:xfrm>
                <a:prstGeom prst="ellipse">
                  <a:avLst/>
                </a:prstGeom>
                <a:solidFill>
                  <a:srgbClr val="007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AT" sz="1200" kern="0" dirty="0">
                    <a:solidFill>
                      <a:prstClr val="white"/>
                    </a:solidFill>
                    <a:latin typeface="Calibri" panose="020F0502020204030204"/>
                  </a:endParaRPr>
                </a:p>
              </p:txBody>
            </p:sp>
            <p:sp>
              <p:nvSpPr>
                <p:cNvPr id="81" name="Electric_Car" descr="{&quot;Key&quot;:&quot;POWER_USER_SHAPE_ICON&quot;,&quot;Value&quot;:&quot;POWER_USER_SHAPE_ICON_STYLE_1&quot;}">
                  <a:extLst>
                    <a:ext uri="{FF2B5EF4-FFF2-40B4-BE49-F238E27FC236}">
                      <a16:creationId xmlns:a16="http://schemas.microsoft.com/office/drawing/2014/main" id="{C1EC20B9-DC01-10E8-3562-B43AF76EAC0E}"/>
                    </a:ext>
                  </a:extLst>
                </p:cNvPr>
                <p:cNvSpPr>
                  <a:spLocks noChangeAspect="1" noEditPoints="1"/>
                </p:cNvSpPr>
                <p:nvPr>
                  <p:custDataLst>
                    <p:tags r:id="rId2"/>
                  </p:custDataLst>
                </p:nvPr>
              </p:nvSpPr>
              <p:spPr bwMode="auto">
                <a:xfrm>
                  <a:off x="415345" y="3593005"/>
                  <a:ext cx="508000" cy="257651"/>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en-US" sz="1200" kern="0" dirty="0">
                    <a:solidFill>
                      <a:prstClr val="black"/>
                    </a:solidFill>
                  </a:endParaRPr>
                </a:p>
              </p:txBody>
            </p:sp>
          </p:grpSp>
          <p:sp>
            <p:nvSpPr>
              <p:cNvPr id="7" name="Textfeld 6">
                <a:extLst>
                  <a:ext uri="{FF2B5EF4-FFF2-40B4-BE49-F238E27FC236}">
                    <a16:creationId xmlns:a16="http://schemas.microsoft.com/office/drawing/2014/main" id="{EDB1504C-A6A2-FC02-95E8-24AD52141080}"/>
                  </a:ext>
                </a:extLst>
              </p:cNvPr>
              <p:cNvSpPr txBox="1"/>
              <p:nvPr/>
            </p:nvSpPr>
            <p:spPr>
              <a:xfrm>
                <a:off x="5681001" y="2555493"/>
                <a:ext cx="1198531" cy="276999"/>
              </a:xfrm>
              <a:prstGeom prst="rect">
                <a:avLst/>
              </a:prstGeom>
              <a:noFill/>
            </p:spPr>
            <p:txBody>
              <a:bodyPr wrap="square">
                <a:spAutoFit/>
              </a:bodyPr>
              <a:lstStyle/>
              <a:p>
                <a:pPr defTabSz="914339">
                  <a:defRPr/>
                </a:pPr>
                <a:r>
                  <a:rPr lang="en-GB" sz="1200" kern="0" dirty="0">
                    <a:solidFill>
                      <a:schemeClr val="accent4"/>
                    </a:solidFill>
                    <a:latin typeface="Bahnschrift" panose="020B0502040204020203" pitchFamily="34" charset="0"/>
                  </a:rPr>
                  <a:t>Wohnen</a:t>
                </a:r>
              </a:p>
            </p:txBody>
          </p:sp>
          <p:sp>
            <p:nvSpPr>
              <p:cNvPr id="8" name="Textfeld 7">
                <a:extLst>
                  <a:ext uri="{FF2B5EF4-FFF2-40B4-BE49-F238E27FC236}">
                    <a16:creationId xmlns:a16="http://schemas.microsoft.com/office/drawing/2014/main" id="{6FE7ACF7-03F2-1DAE-DC8D-98254C0EE209}"/>
                  </a:ext>
                </a:extLst>
              </p:cNvPr>
              <p:cNvSpPr txBox="1"/>
              <p:nvPr/>
            </p:nvSpPr>
            <p:spPr>
              <a:xfrm>
                <a:off x="5681001" y="2915942"/>
                <a:ext cx="1198531" cy="276999"/>
              </a:xfrm>
              <a:prstGeom prst="rect">
                <a:avLst/>
              </a:prstGeom>
              <a:noFill/>
            </p:spPr>
            <p:txBody>
              <a:bodyPr wrap="square">
                <a:spAutoFit/>
              </a:bodyPr>
              <a:lstStyle/>
              <a:p>
                <a:pPr defTabSz="914339">
                  <a:defRPr/>
                </a:pPr>
                <a:r>
                  <a:rPr lang="en-GB" sz="1200" kern="0" dirty="0">
                    <a:solidFill>
                      <a:srgbClr val="00B0F0"/>
                    </a:solidFill>
                    <a:latin typeface="Bahnschrift" panose="020B0502040204020203" pitchFamily="34" charset="0"/>
                  </a:rPr>
                  <a:t>Arbeit</a:t>
                </a:r>
              </a:p>
            </p:txBody>
          </p:sp>
          <p:sp>
            <p:nvSpPr>
              <p:cNvPr id="9" name="Textfeld 8">
                <a:extLst>
                  <a:ext uri="{FF2B5EF4-FFF2-40B4-BE49-F238E27FC236}">
                    <a16:creationId xmlns:a16="http://schemas.microsoft.com/office/drawing/2014/main" id="{47585116-3310-38C0-2271-23E97254BA11}"/>
                  </a:ext>
                </a:extLst>
              </p:cNvPr>
              <p:cNvSpPr txBox="1"/>
              <p:nvPr/>
            </p:nvSpPr>
            <p:spPr>
              <a:xfrm>
                <a:off x="5681001" y="3276429"/>
                <a:ext cx="1198531" cy="276999"/>
              </a:xfrm>
              <a:prstGeom prst="rect">
                <a:avLst/>
              </a:prstGeom>
              <a:noFill/>
            </p:spPr>
            <p:txBody>
              <a:bodyPr wrap="square">
                <a:spAutoFit/>
              </a:bodyPr>
              <a:lstStyle/>
              <a:p>
                <a:pPr defTabSz="914339">
                  <a:defRPr/>
                </a:pPr>
                <a:r>
                  <a:rPr lang="en-GB" sz="1200" kern="0" dirty="0">
                    <a:solidFill>
                      <a:schemeClr val="accent1"/>
                    </a:solidFill>
                    <a:latin typeface="Bahnschrift" panose="020B0502040204020203" pitchFamily="34" charset="0"/>
                  </a:rPr>
                  <a:t>Bildung</a:t>
                </a:r>
              </a:p>
            </p:txBody>
          </p:sp>
          <p:sp>
            <p:nvSpPr>
              <p:cNvPr id="10" name="Textfeld 9">
                <a:extLst>
                  <a:ext uri="{FF2B5EF4-FFF2-40B4-BE49-F238E27FC236}">
                    <a16:creationId xmlns:a16="http://schemas.microsoft.com/office/drawing/2014/main" id="{C967BFB2-0DA5-C3BA-0630-85F987BAC55C}"/>
                  </a:ext>
                </a:extLst>
              </p:cNvPr>
              <p:cNvSpPr txBox="1"/>
              <p:nvPr/>
            </p:nvSpPr>
            <p:spPr>
              <a:xfrm>
                <a:off x="5681001" y="3636916"/>
                <a:ext cx="1198531" cy="276999"/>
              </a:xfrm>
              <a:prstGeom prst="rect">
                <a:avLst/>
              </a:prstGeom>
              <a:noFill/>
            </p:spPr>
            <p:txBody>
              <a:bodyPr wrap="square">
                <a:spAutoFit/>
              </a:bodyPr>
              <a:lstStyle/>
              <a:p>
                <a:pPr defTabSz="914339">
                  <a:defRPr/>
                </a:pPr>
                <a:r>
                  <a:rPr lang="en-GB" sz="1200" kern="0" dirty="0">
                    <a:solidFill>
                      <a:schemeClr val="accent6"/>
                    </a:solidFill>
                    <a:latin typeface="Bahnschrift" panose="020B0502040204020203" pitchFamily="34" charset="0"/>
                  </a:rPr>
                  <a:t>Handel</a:t>
                </a:r>
              </a:p>
            </p:txBody>
          </p:sp>
          <p:sp>
            <p:nvSpPr>
              <p:cNvPr id="14" name="Textfeld 13">
                <a:extLst>
                  <a:ext uri="{FF2B5EF4-FFF2-40B4-BE49-F238E27FC236}">
                    <a16:creationId xmlns:a16="http://schemas.microsoft.com/office/drawing/2014/main" id="{D1304FED-3D88-27AE-502A-BE263F250CF4}"/>
                  </a:ext>
                </a:extLst>
              </p:cNvPr>
              <p:cNvSpPr txBox="1"/>
              <p:nvPr/>
            </p:nvSpPr>
            <p:spPr>
              <a:xfrm>
                <a:off x="7851300" y="1821940"/>
                <a:ext cx="1601091" cy="523220"/>
              </a:xfrm>
              <a:prstGeom prst="rect">
                <a:avLst/>
              </a:prstGeom>
              <a:noFill/>
            </p:spPr>
            <p:txBody>
              <a:bodyPr wrap="square" rtlCol="0">
                <a:spAutoFit/>
              </a:bodyPr>
              <a:lstStyle/>
              <a:p>
                <a:r>
                  <a:rPr lang="de-AT" sz="1400" dirty="0"/>
                  <a:t>Simulation: </a:t>
                </a:r>
              </a:p>
              <a:p>
                <a:r>
                  <a:rPr lang="de-AT" sz="1400" dirty="0"/>
                  <a:t>Reale Ladung</a:t>
                </a:r>
              </a:p>
            </p:txBody>
          </p:sp>
          <p:sp>
            <p:nvSpPr>
              <p:cNvPr id="38" name="Textfeld 37">
                <a:extLst>
                  <a:ext uri="{FF2B5EF4-FFF2-40B4-BE49-F238E27FC236}">
                    <a16:creationId xmlns:a16="http://schemas.microsoft.com/office/drawing/2014/main" id="{A83DC015-A11E-AB17-1E17-79D2D8A286FF}"/>
                  </a:ext>
                </a:extLst>
              </p:cNvPr>
              <p:cNvSpPr txBox="1"/>
              <p:nvPr/>
            </p:nvSpPr>
            <p:spPr>
              <a:xfrm>
                <a:off x="5681001" y="1831255"/>
                <a:ext cx="617477" cy="307777"/>
              </a:xfrm>
              <a:prstGeom prst="rect">
                <a:avLst/>
              </a:prstGeom>
              <a:noFill/>
            </p:spPr>
            <p:txBody>
              <a:bodyPr wrap="none" rtlCol="0">
                <a:spAutoFit/>
              </a:bodyPr>
              <a:lstStyle/>
              <a:p>
                <a:r>
                  <a:rPr lang="de-AT" sz="1400" dirty="0"/>
                  <a:t>Bilanz</a:t>
                </a:r>
              </a:p>
            </p:txBody>
          </p:sp>
          <p:sp>
            <p:nvSpPr>
              <p:cNvPr id="39" name="Rechteck 38">
                <a:extLst>
                  <a:ext uri="{FF2B5EF4-FFF2-40B4-BE49-F238E27FC236}">
                    <a16:creationId xmlns:a16="http://schemas.microsoft.com/office/drawing/2014/main" id="{07FB1D6F-8488-32A7-1FB2-F47688039083}"/>
                  </a:ext>
                </a:extLst>
              </p:cNvPr>
              <p:cNvSpPr/>
              <p:nvPr/>
            </p:nvSpPr>
            <p:spPr>
              <a:xfrm>
                <a:off x="5425308" y="2196070"/>
                <a:ext cx="2425992" cy="1915286"/>
              </a:xfrm>
              <a:prstGeom prst="rect">
                <a:avLst/>
              </a:prstGeom>
              <a:noFill/>
              <a:ln w="12700" cap="flat" cmpd="sng" algn="ctr">
                <a:solidFill>
                  <a:schemeClr val="tx2"/>
                </a:solidFill>
                <a:prstDash val="sysDash"/>
                <a:miter lim="800000"/>
              </a:ln>
              <a:effectLst/>
            </p:spPr>
            <p:txBody>
              <a:bodyPr rtlCol="0" anchor="ctr"/>
              <a:lstStyle/>
              <a:p>
                <a:pPr algn="ctr" defTabSz="685754">
                  <a:defRPr/>
                </a:pPr>
                <a:endParaRPr lang="de-AT" sz="1200" kern="0" dirty="0">
                  <a:solidFill>
                    <a:prstClr val="white"/>
                  </a:solidFill>
                  <a:latin typeface="Calibri" panose="020F0502020204030204"/>
                </a:endParaRPr>
              </a:p>
            </p:txBody>
          </p:sp>
          <p:grpSp>
            <p:nvGrpSpPr>
              <p:cNvPr id="33" name="Gruppieren 32">
                <a:extLst>
                  <a:ext uri="{FF2B5EF4-FFF2-40B4-BE49-F238E27FC236}">
                    <a16:creationId xmlns:a16="http://schemas.microsoft.com/office/drawing/2014/main" id="{E071B798-C4EE-087A-AA04-07D092CD05AD}"/>
                  </a:ext>
                </a:extLst>
              </p:cNvPr>
              <p:cNvGrpSpPr/>
              <p:nvPr/>
            </p:nvGrpSpPr>
            <p:grpSpPr>
              <a:xfrm>
                <a:off x="5231919" y="1913298"/>
                <a:ext cx="465882" cy="429209"/>
                <a:chOff x="335997" y="3888357"/>
                <a:chExt cx="515707" cy="515706"/>
              </a:xfrm>
            </p:grpSpPr>
            <p:sp>
              <p:nvSpPr>
                <p:cNvPr id="34" name="POWER_USER_SHAPE_ICON_STYLE_2">
                  <a:extLst>
                    <a:ext uri="{FF2B5EF4-FFF2-40B4-BE49-F238E27FC236}">
                      <a16:creationId xmlns:a16="http://schemas.microsoft.com/office/drawing/2014/main" id="{DD00F516-5393-B519-3596-201B1C08D8AB}"/>
                    </a:ext>
                  </a:extLst>
                </p:cNvPr>
                <p:cNvSpPr/>
                <p:nvPr/>
              </p:nvSpPr>
              <p:spPr>
                <a:xfrm>
                  <a:off x="335997" y="3888357"/>
                  <a:ext cx="515707" cy="515706"/>
                </a:xfrm>
                <a:prstGeom prst="ellipse">
                  <a:avLst/>
                </a:prstGeom>
                <a:solidFill>
                  <a:schemeClr val="tx2"/>
                </a:solidFill>
                <a:ln w="12700" cap="flat" cmpd="sng" algn="ctr">
                  <a:noFill/>
                  <a:prstDash val="solid"/>
                  <a:miter lim="800000"/>
                </a:ln>
                <a:effectLst/>
              </p:spPr>
              <p:txBody>
                <a:bodyPr rtlCol="0" anchor="ctr"/>
                <a:lstStyle/>
                <a:p>
                  <a:pPr algn="ctr" defTabSz="685754">
                    <a:defRPr/>
                  </a:pPr>
                  <a:endParaRPr lang="de-AT" sz="1200" kern="0" dirty="0">
                    <a:solidFill>
                      <a:prstClr val="white"/>
                    </a:solidFill>
                    <a:latin typeface="Calibri" panose="020F0502020204030204"/>
                  </a:endParaRPr>
                </a:p>
              </p:txBody>
            </p:sp>
            <p:pic>
              <p:nvPicPr>
                <p:cNvPr id="35" name="Grafik 34" descr="Gewichte ungleich mit einfarbiger Füllung">
                  <a:extLst>
                    <a:ext uri="{FF2B5EF4-FFF2-40B4-BE49-F238E27FC236}">
                      <a16:creationId xmlns:a16="http://schemas.microsoft.com/office/drawing/2014/main" id="{31E455F2-DFAA-E7D5-9D4C-91DAB1690D5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66074" y="3921928"/>
                  <a:ext cx="442554" cy="442554"/>
                </a:xfrm>
                <a:prstGeom prst="rect">
                  <a:avLst/>
                </a:prstGeom>
              </p:spPr>
            </p:pic>
          </p:grpSp>
          <p:grpSp>
            <p:nvGrpSpPr>
              <p:cNvPr id="42" name="Gruppieren 41">
                <a:extLst>
                  <a:ext uri="{FF2B5EF4-FFF2-40B4-BE49-F238E27FC236}">
                    <a16:creationId xmlns:a16="http://schemas.microsoft.com/office/drawing/2014/main" id="{425AF44B-F42E-3ED4-3BE8-DFFFB46E69EE}"/>
                  </a:ext>
                </a:extLst>
              </p:cNvPr>
              <p:cNvGrpSpPr/>
              <p:nvPr/>
            </p:nvGrpSpPr>
            <p:grpSpPr>
              <a:xfrm>
                <a:off x="5409155" y="2274118"/>
                <a:ext cx="297476" cy="390835"/>
                <a:chOff x="680870" y="5451474"/>
                <a:chExt cx="297476" cy="390835"/>
              </a:xfrm>
            </p:grpSpPr>
            <p:sp>
              <p:nvSpPr>
                <p:cNvPr id="43" name="POWER_USER_SHAPE_ICON_STYLE_2">
                  <a:extLst>
                    <a:ext uri="{FF2B5EF4-FFF2-40B4-BE49-F238E27FC236}">
                      <a16:creationId xmlns:a16="http://schemas.microsoft.com/office/drawing/2014/main" id="{ECFBF93D-7AF6-6CD8-4386-E1EBF71CA8D9}"/>
                    </a:ext>
                  </a:extLst>
                </p:cNvPr>
                <p:cNvSpPr/>
                <p:nvPr/>
              </p:nvSpPr>
              <p:spPr>
                <a:xfrm>
                  <a:off x="737242" y="5451474"/>
                  <a:ext cx="215474" cy="215476"/>
                </a:xfrm>
                <a:prstGeom prst="ellipse">
                  <a:avLst/>
                </a:prstGeom>
                <a:solidFill>
                  <a:sysClr val="window" lastClr="FFFFFF"/>
                </a:solidFill>
                <a:ln w="28575" cap="flat" cmpd="sng" algn="ctr">
                  <a:solidFill>
                    <a:srgbClr val="0070C0"/>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grpSp>
              <p:nvGrpSpPr>
                <p:cNvPr id="51" name="Gruppieren 50">
                  <a:extLst>
                    <a:ext uri="{FF2B5EF4-FFF2-40B4-BE49-F238E27FC236}">
                      <a16:creationId xmlns:a16="http://schemas.microsoft.com/office/drawing/2014/main" id="{604DF52F-1FB6-A62F-559D-405933F94CD6}"/>
                    </a:ext>
                  </a:extLst>
                </p:cNvPr>
                <p:cNvGrpSpPr/>
                <p:nvPr/>
              </p:nvGrpSpPr>
              <p:grpSpPr>
                <a:xfrm>
                  <a:off x="680870" y="5493961"/>
                  <a:ext cx="297476" cy="348348"/>
                  <a:chOff x="680870" y="5493961"/>
                  <a:chExt cx="297476" cy="348348"/>
                </a:xfrm>
              </p:grpSpPr>
              <p:sp>
                <p:nvSpPr>
                  <p:cNvPr id="52" name="Freeform 203">
                    <a:extLst>
                      <a:ext uri="{FF2B5EF4-FFF2-40B4-BE49-F238E27FC236}">
                        <a16:creationId xmlns:a16="http://schemas.microsoft.com/office/drawing/2014/main" id="{880328A4-931D-08F6-C9F5-20BA138138B3}"/>
                      </a:ext>
                    </a:extLst>
                  </p:cNvPr>
                  <p:cNvSpPr>
                    <a:spLocks/>
                  </p:cNvSpPr>
                  <p:nvPr/>
                </p:nvSpPr>
                <p:spPr bwMode="auto">
                  <a:xfrm>
                    <a:off x="725062" y="5648988"/>
                    <a:ext cx="253284" cy="139494"/>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solidFill>
                    <a:srgbClr val="0070C0"/>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53" name="Freeform 204">
                    <a:extLst>
                      <a:ext uri="{FF2B5EF4-FFF2-40B4-BE49-F238E27FC236}">
                        <a16:creationId xmlns:a16="http://schemas.microsoft.com/office/drawing/2014/main" id="{94CECE6C-6B06-18A6-AF4E-53562D479F81}"/>
                      </a:ext>
                    </a:extLst>
                  </p:cNvPr>
                  <p:cNvSpPr>
                    <a:spLocks noEditPoints="1"/>
                  </p:cNvSpPr>
                  <p:nvPr/>
                </p:nvSpPr>
                <p:spPr bwMode="auto">
                  <a:xfrm>
                    <a:off x="680870" y="5725558"/>
                    <a:ext cx="102237" cy="116751"/>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solidFill>
                    <a:srgbClr val="0070C0"/>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82" name="Car7" descr="{&quot;Key&quot;:&quot;POWER_USER_SHAPE_ICON&quot;,&quot;Value&quot;:&quot;POWER_USER_SHAPE_ICON_STYLE_1&quot;}">
                    <a:extLst>
                      <a:ext uri="{FF2B5EF4-FFF2-40B4-BE49-F238E27FC236}">
                        <a16:creationId xmlns:a16="http://schemas.microsoft.com/office/drawing/2014/main" id="{B6424DEC-7DE1-D556-ED8A-B27F25703FFA}"/>
                      </a:ext>
                    </a:extLst>
                  </p:cNvPr>
                  <p:cNvSpPr>
                    <a:spLocks noChangeAspect="1" noEditPoints="1"/>
                  </p:cNvSpPr>
                  <p:nvPr>
                    <p:custDataLst>
                      <p:tags r:id="rId1"/>
                    </p:custDataLst>
                  </p:nvPr>
                </p:nvSpPr>
                <p:spPr bwMode="auto">
                  <a:xfrm>
                    <a:off x="767478" y="5493961"/>
                    <a:ext cx="155002" cy="130501"/>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grpSp>
          </p:grpSp>
        </p:grpSp>
        <p:sp>
          <p:nvSpPr>
            <p:cNvPr id="86" name="Textfeld 85">
              <a:extLst>
                <a:ext uri="{FF2B5EF4-FFF2-40B4-BE49-F238E27FC236}">
                  <a16:creationId xmlns:a16="http://schemas.microsoft.com/office/drawing/2014/main" id="{C499F765-FD0E-1B99-CEB7-26AE0DC830D4}"/>
                </a:ext>
              </a:extLst>
            </p:cNvPr>
            <p:cNvSpPr txBox="1"/>
            <p:nvPr/>
          </p:nvSpPr>
          <p:spPr>
            <a:xfrm>
              <a:off x="5681001" y="2298280"/>
              <a:ext cx="716871" cy="276999"/>
            </a:xfrm>
            <a:prstGeom prst="rect">
              <a:avLst/>
            </a:prstGeom>
            <a:noFill/>
          </p:spPr>
          <p:txBody>
            <a:bodyPr wrap="square">
              <a:spAutoFit/>
            </a:bodyPr>
            <a:lstStyle/>
            <a:p>
              <a:r>
                <a:rPr lang="de-AT" sz="1200" dirty="0"/>
                <a:t>Budget</a:t>
              </a:r>
            </a:p>
          </p:txBody>
        </p:sp>
      </p:grpSp>
      <p:sp>
        <p:nvSpPr>
          <p:cNvPr id="88" name="Textfeld 87">
            <a:extLst>
              <a:ext uri="{FF2B5EF4-FFF2-40B4-BE49-F238E27FC236}">
                <a16:creationId xmlns:a16="http://schemas.microsoft.com/office/drawing/2014/main" id="{BEB0AE05-F465-8214-DCEF-424CB9CE74DD}"/>
              </a:ext>
            </a:extLst>
          </p:cNvPr>
          <p:cNvSpPr txBox="1"/>
          <p:nvPr/>
        </p:nvSpPr>
        <p:spPr>
          <a:xfrm>
            <a:off x="9528857" y="1547853"/>
            <a:ext cx="2248144" cy="461665"/>
          </a:xfrm>
          <a:prstGeom prst="rect">
            <a:avLst/>
          </a:prstGeom>
          <a:noFill/>
        </p:spPr>
        <p:txBody>
          <a:bodyPr wrap="square">
            <a:spAutoFit/>
          </a:bodyPr>
          <a:lstStyle/>
          <a:p>
            <a:pPr defTabSz="914339">
              <a:defRPr/>
            </a:pPr>
            <a:r>
              <a:rPr lang="de-AT" sz="1200" kern="0" dirty="0">
                <a:solidFill>
                  <a:srgbClr val="000000"/>
                </a:solidFill>
              </a:rPr>
              <a:t>BiDirektionales Ladepotential bei 100% EV Anteil</a:t>
            </a:r>
          </a:p>
        </p:txBody>
      </p:sp>
      <p:sp>
        <p:nvSpPr>
          <p:cNvPr id="91" name="Sprechblase: rechteckig mit abgerundeten Ecken 90">
            <a:extLst>
              <a:ext uri="{FF2B5EF4-FFF2-40B4-BE49-F238E27FC236}">
                <a16:creationId xmlns:a16="http://schemas.microsoft.com/office/drawing/2014/main" id="{115DB9BE-9068-9B40-E83E-4E26C89D5149}"/>
              </a:ext>
            </a:extLst>
          </p:cNvPr>
          <p:cNvSpPr/>
          <p:nvPr/>
        </p:nvSpPr>
        <p:spPr>
          <a:xfrm>
            <a:off x="9784714" y="4887724"/>
            <a:ext cx="1736429" cy="999173"/>
          </a:xfrm>
          <a:prstGeom prst="wedgeRoundRectCallout">
            <a:avLst>
              <a:gd name="adj1" fmla="val -15677"/>
              <a:gd name="adj2" fmla="val -97678"/>
              <a:gd name="adj3" fmla="val 16667"/>
            </a:avLst>
          </a:prstGeom>
          <a:solidFill>
            <a:schemeClr val="bg2">
              <a:lumMod val="9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100" dirty="0">
                <a:solidFill>
                  <a:schemeClr val="tx1"/>
                </a:solidFill>
              </a:rPr>
              <a:t>Bei Büro und Handel  fallen Stehzeiten und PV Ertrag zusammen: PV Eigenverbrauch bis zu x3 des Gebäudebedarf</a:t>
            </a:r>
          </a:p>
        </p:txBody>
      </p:sp>
    </p:spTree>
    <p:extLst>
      <p:ext uri="{BB962C8B-B14F-4D97-AF65-F5344CB8AC3E}">
        <p14:creationId xmlns:p14="http://schemas.microsoft.com/office/powerpoint/2010/main" val="2086926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C1CCD65-2DBA-EF26-50D4-5768396BCD11}"/>
              </a:ext>
            </a:extLst>
          </p:cNvPr>
          <p:cNvSpPr>
            <a:spLocks noGrp="1"/>
          </p:cNvSpPr>
          <p:nvPr>
            <p:ph type="title"/>
          </p:nvPr>
        </p:nvSpPr>
        <p:spPr>
          <a:xfrm>
            <a:off x="720002" y="1406526"/>
            <a:ext cx="10638033" cy="829455"/>
          </a:xfrm>
        </p:spPr>
        <p:txBody>
          <a:bodyPr/>
          <a:lstStyle/>
          <a:p>
            <a:r>
              <a:rPr lang="de-DE" dirty="0"/>
              <a:t>Mobilität</a:t>
            </a:r>
          </a:p>
        </p:txBody>
      </p:sp>
      <p:sp>
        <p:nvSpPr>
          <p:cNvPr id="233" name="Textplatzhalter 232">
            <a:extLst>
              <a:ext uri="{FF2B5EF4-FFF2-40B4-BE49-F238E27FC236}">
                <a16:creationId xmlns:a16="http://schemas.microsoft.com/office/drawing/2014/main" id="{5A008D0E-5435-DE9B-D05A-1CD13B1E2BF6}"/>
              </a:ext>
            </a:extLst>
          </p:cNvPr>
          <p:cNvSpPr>
            <a:spLocks noGrp="1"/>
          </p:cNvSpPr>
          <p:nvPr>
            <p:ph type="body" sz="quarter" idx="13"/>
          </p:nvPr>
        </p:nvSpPr>
        <p:spPr/>
        <p:txBody>
          <a:bodyPr/>
          <a:lstStyle/>
          <a:p>
            <a:endParaRPr lang="de-DE" dirty="0"/>
          </a:p>
        </p:txBody>
      </p:sp>
      <p:sp>
        <p:nvSpPr>
          <p:cNvPr id="9" name="Rechteck: abgerundete Ecken 8">
            <a:extLst>
              <a:ext uri="{FF2B5EF4-FFF2-40B4-BE49-F238E27FC236}">
                <a16:creationId xmlns:a16="http://schemas.microsoft.com/office/drawing/2014/main" id="{0DC13BD7-97DE-9CE3-A0BA-3A78F50CA3C2}"/>
              </a:ext>
            </a:extLst>
          </p:cNvPr>
          <p:cNvSpPr/>
          <p:nvPr/>
        </p:nvSpPr>
        <p:spPr>
          <a:xfrm>
            <a:off x="2965450" y="1968243"/>
            <a:ext cx="1224049" cy="535475"/>
          </a:xfrm>
          <a:prstGeom prst="roundRect">
            <a:avLst/>
          </a:prstGeom>
          <a:gradFill rotWithShape="1">
            <a:gsLst>
              <a:gs pos="0">
                <a:srgbClr val="5FB564">
                  <a:satMod val="103000"/>
                  <a:lumMod val="102000"/>
                  <a:tint val="94000"/>
                </a:srgbClr>
              </a:gs>
              <a:gs pos="50000">
                <a:srgbClr val="5FB564">
                  <a:satMod val="110000"/>
                  <a:lumMod val="100000"/>
                  <a:shade val="100000"/>
                </a:srgbClr>
              </a:gs>
              <a:gs pos="100000">
                <a:srgbClr val="5FB564">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algn="ctr" defTabSz="914339">
              <a:defRPr/>
            </a:pPr>
            <a:r>
              <a:rPr lang="de-DE" sz="1200" kern="0" dirty="0">
                <a:solidFill>
                  <a:srgbClr val="FFFFFF"/>
                </a:solidFill>
                <a:latin typeface="Calibri" panose="020F0502020204030204"/>
              </a:rPr>
              <a:t>📐Flächen je Nutzung</a:t>
            </a:r>
            <a:endParaRPr lang="de-AT" sz="1200" kern="0" dirty="0">
              <a:solidFill>
                <a:srgbClr val="FFFFFF"/>
              </a:solidFill>
              <a:latin typeface="Calibri" panose="020F0502020204030204"/>
            </a:endParaRPr>
          </a:p>
        </p:txBody>
      </p:sp>
      <p:sp>
        <p:nvSpPr>
          <p:cNvPr id="11" name="Rechteck: abgerundete Ecken 10">
            <a:extLst>
              <a:ext uri="{FF2B5EF4-FFF2-40B4-BE49-F238E27FC236}">
                <a16:creationId xmlns:a16="http://schemas.microsoft.com/office/drawing/2014/main" id="{4A391135-E436-9BEC-90A5-7DF4538E812C}"/>
              </a:ext>
            </a:extLst>
          </p:cNvPr>
          <p:cNvSpPr/>
          <p:nvPr/>
        </p:nvSpPr>
        <p:spPr>
          <a:xfrm>
            <a:off x="4381399" y="1240900"/>
            <a:ext cx="1345223" cy="587963"/>
          </a:xfrm>
          <a:prstGeom prst="roundRect">
            <a:avLst/>
          </a:prstGeom>
          <a:solidFill>
            <a:srgbClr val="5FB564">
              <a:lumMod val="20000"/>
              <a:lumOff val="80000"/>
            </a:srgbClr>
          </a:solidFill>
          <a:ln w="12700" cap="flat" cmpd="sng" algn="ctr">
            <a:solidFill>
              <a:srgbClr val="5FB564"/>
            </a:solidFill>
            <a:prstDash val="solid"/>
            <a:miter lim="800000"/>
          </a:ln>
          <a:effectLst/>
        </p:spPr>
        <p:txBody>
          <a:bodyPr rtlCol="0" anchor="ctr"/>
          <a:lstStyle/>
          <a:p>
            <a:pPr algn="ctr" defTabSz="914339">
              <a:defRPr/>
            </a:pPr>
            <a:r>
              <a:rPr lang="de-DE" sz="1200" kern="0" dirty="0">
                <a:solidFill>
                  <a:srgbClr val="000000"/>
                </a:solidFill>
                <a:latin typeface="Calibri" panose="020F0502020204030204"/>
              </a:rPr>
              <a:t>🙍</a:t>
            </a:r>
            <a:r>
              <a:rPr lang="de-AT" sz="1200" kern="0" dirty="0">
                <a:solidFill>
                  <a:srgbClr val="000000"/>
                </a:solidFill>
                <a:latin typeface="Calibri" panose="020F0502020204030204"/>
              </a:rPr>
              <a:t>Statistische </a:t>
            </a:r>
          </a:p>
          <a:p>
            <a:pPr algn="ctr" defTabSz="914339">
              <a:defRPr/>
            </a:pPr>
            <a:r>
              <a:rPr lang="de-AT" sz="1200" kern="0" dirty="0">
                <a:solidFill>
                  <a:srgbClr val="000000"/>
                </a:solidFill>
                <a:latin typeface="Calibri" panose="020F0502020204030204"/>
              </a:rPr>
              <a:t>NF-Belegung (m²/PAX)</a:t>
            </a:r>
          </a:p>
        </p:txBody>
      </p:sp>
      <p:cxnSp>
        <p:nvCxnSpPr>
          <p:cNvPr id="12" name="Verbinder: gewinkelt 11">
            <a:extLst>
              <a:ext uri="{FF2B5EF4-FFF2-40B4-BE49-F238E27FC236}">
                <a16:creationId xmlns:a16="http://schemas.microsoft.com/office/drawing/2014/main" id="{95B05DE9-8BAC-5478-23E4-B604A1E50E7A}"/>
              </a:ext>
            </a:extLst>
          </p:cNvPr>
          <p:cNvCxnSpPr>
            <a:cxnSpLocks/>
            <a:stCxn id="9" idx="3"/>
          </p:cNvCxnSpPr>
          <p:nvPr/>
        </p:nvCxnSpPr>
        <p:spPr>
          <a:xfrm flipV="1">
            <a:off x="4189500" y="2186419"/>
            <a:ext cx="459157" cy="49563"/>
          </a:xfrm>
          <a:prstGeom prst="bentConnector3">
            <a:avLst/>
          </a:prstGeom>
          <a:noFill/>
          <a:ln w="19050" cap="flat" cmpd="sng" algn="ctr">
            <a:solidFill>
              <a:schemeClr val="accent3">
                <a:lumMod val="75000"/>
              </a:schemeClr>
            </a:solidFill>
            <a:prstDash val="solid"/>
            <a:miter lim="800000"/>
            <a:tailEnd type="triangle"/>
          </a:ln>
          <a:effectLst/>
        </p:spPr>
      </p:cxnSp>
      <p:sp>
        <p:nvSpPr>
          <p:cNvPr id="14" name="Rechteck: abgerundete Ecken 13">
            <a:extLst>
              <a:ext uri="{FF2B5EF4-FFF2-40B4-BE49-F238E27FC236}">
                <a16:creationId xmlns:a16="http://schemas.microsoft.com/office/drawing/2014/main" id="{7A1E7674-71F6-BD6E-3C43-FB213AFCF58F}"/>
              </a:ext>
            </a:extLst>
          </p:cNvPr>
          <p:cNvSpPr/>
          <p:nvPr/>
        </p:nvSpPr>
        <p:spPr>
          <a:xfrm>
            <a:off x="4648656" y="1968243"/>
            <a:ext cx="1091127" cy="529608"/>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StatPAX</a:t>
            </a:r>
            <a:endParaRPr lang="de-AT" sz="1200" kern="0" dirty="0">
              <a:solidFill>
                <a:srgbClr val="FFFFFF"/>
              </a:solidFill>
              <a:latin typeface="Calibri" panose="020F0502020204030204"/>
            </a:endParaRPr>
          </a:p>
        </p:txBody>
      </p:sp>
      <p:cxnSp>
        <p:nvCxnSpPr>
          <p:cNvPr id="15" name="Verbinder: gewinkelt 14">
            <a:extLst>
              <a:ext uri="{FF2B5EF4-FFF2-40B4-BE49-F238E27FC236}">
                <a16:creationId xmlns:a16="http://schemas.microsoft.com/office/drawing/2014/main" id="{8DFB410A-5526-9022-5F44-35F991C09916}"/>
              </a:ext>
            </a:extLst>
          </p:cNvPr>
          <p:cNvCxnSpPr>
            <a:cxnSpLocks/>
            <a:stCxn id="11" idx="3"/>
            <a:endCxn id="14" idx="1"/>
          </p:cNvCxnSpPr>
          <p:nvPr/>
        </p:nvCxnSpPr>
        <p:spPr>
          <a:xfrm flipH="1">
            <a:off x="4648656" y="1534881"/>
            <a:ext cx="1077966" cy="698166"/>
          </a:xfrm>
          <a:prstGeom prst="bentConnector5">
            <a:avLst>
              <a:gd name="adj1" fmla="val -21207"/>
              <a:gd name="adj2" fmla="val 52089"/>
              <a:gd name="adj3" fmla="val 121207"/>
            </a:avLst>
          </a:prstGeom>
          <a:noFill/>
          <a:ln w="19050" cap="flat" cmpd="sng" algn="ctr">
            <a:solidFill>
              <a:schemeClr val="accent3">
                <a:lumMod val="75000"/>
              </a:schemeClr>
            </a:solidFill>
            <a:prstDash val="solid"/>
            <a:miter lim="800000"/>
            <a:tailEnd type="triangle"/>
          </a:ln>
          <a:effectLst/>
        </p:spPr>
      </p:cxnSp>
      <p:sp>
        <p:nvSpPr>
          <p:cNvPr id="16" name="Rechteck: abgerundete Ecken 15">
            <a:extLst>
              <a:ext uri="{FF2B5EF4-FFF2-40B4-BE49-F238E27FC236}">
                <a16:creationId xmlns:a16="http://schemas.microsoft.com/office/drawing/2014/main" id="{23E6D98E-D8E3-8470-0B98-639B8941E778}"/>
              </a:ext>
            </a:extLst>
          </p:cNvPr>
          <p:cNvSpPr/>
          <p:nvPr/>
        </p:nvSpPr>
        <p:spPr>
          <a:xfrm>
            <a:off x="6130329" y="1968244"/>
            <a:ext cx="957589" cy="529611"/>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Statistische JPKM MIV Fahrer</a:t>
            </a:r>
            <a:endParaRPr lang="de-AT" sz="1200" kern="0" dirty="0">
              <a:solidFill>
                <a:srgbClr val="FFFFFF"/>
              </a:solidFill>
              <a:latin typeface="Calibri" panose="020F0502020204030204"/>
            </a:endParaRPr>
          </a:p>
        </p:txBody>
      </p:sp>
      <p:sp>
        <p:nvSpPr>
          <p:cNvPr id="17" name="Rechteck: abgerundete Ecken 16">
            <a:extLst>
              <a:ext uri="{FF2B5EF4-FFF2-40B4-BE49-F238E27FC236}">
                <a16:creationId xmlns:a16="http://schemas.microsoft.com/office/drawing/2014/main" id="{7CB44F5C-F7D7-43B4-80BF-223DCE29709C}"/>
              </a:ext>
            </a:extLst>
          </p:cNvPr>
          <p:cNvSpPr/>
          <p:nvPr/>
        </p:nvSpPr>
        <p:spPr>
          <a:xfrm>
            <a:off x="6084436" y="1234138"/>
            <a:ext cx="1049374" cy="587963"/>
          </a:xfrm>
          <a:prstGeom prst="roundRect">
            <a:avLst/>
          </a:prstGeom>
          <a:solidFill>
            <a:srgbClr val="5FB564">
              <a:lumMod val="20000"/>
              <a:lumOff val="80000"/>
            </a:srgbClr>
          </a:solidFill>
          <a:ln w="12700" cap="flat" cmpd="sng" algn="ctr">
            <a:solidFill>
              <a:srgbClr val="5FB564"/>
            </a:solidFill>
            <a:prstDash val="solid"/>
            <a:miter lim="800000"/>
          </a:ln>
          <a:effectLst/>
        </p:spPr>
        <p:txBody>
          <a:bodyPr rtlCol="0" anchor="ctr"/>
          <a:lstStyle/>
          <a:p>
            <a:pPr algn="ctr" defTabSz="914339">
              <a:defRPr/>
            </a:pPr>
            <a:r>
              <a:rPr lang="de-DE" sz="1200" kern="0" dirty="0">
                <a:solidFill>
                  <a:srgbClr val="000000"/>
                </a:solidFill>
                <a:latin typeface="Calibri" panose="020F0502020204030204"/>
              </a:rPr>
              <a:t>🧭 KFZ JPkm je nach Standort</a:t>
            </a:r>
            <a:endParaRPr lang="de-AT" sz="1200" kern="0" dirty="0">
              <a:solidFill>
                <a:srgbClr val="000000"/>
              </a:solidFill>
              <a:latin typeface="Calibri" panose="020F0502020204030204"/>
            </a:endParaRPr>
          </a:p>
        </p:txBody>
      </p:sp>
      <p:sp>
        <p:nvSpPr>
          <p:cNvPr id="18" name="Rechteck: abgerundete Ecken 17">
            <a:extLst>
              <a:ext uri="{FF2B5EF4-FFF2-40B4-BE49-F238E27FC236}">
                <a16:creationId xmlns:a16="http://schemas.microsoft.com/office/drawing/2014/main" id="{16A718DF-544D-5815-22DE-E009ED536DB2}"/>
              </a:ext>
            </a:extLst>
          </p:cNvPr>
          <p:cNvSpPr/>
          <p:nvPr/>
        </p:nvSpPr>
        <p:spPr>
          <a:xfrm>
            <a:off x="7248105" y="1234138"/>
            <a:ext cx="1201204" cy="587963"/>
          </a:xfrm>
          <a:prstGeom prst="roundRect">
            <a:avLst/>
          </a:prstGeom>
          <a:solidFill>
            <a:srgbClr val="5FB564">
              <a:lumMod val="20000"/>
              <a:lumOff val="80000"/>
            </a:srgbClr>
          </a:solidFill>
          <a:ln w="12700" cap="flat" cmpd="sng" algn="ctr">
            <a:solidFill>
              <a:srgbClr val="5FB564"/>
            </a:solidFill>
            <a:prstDash val="solid"/>
            <a:miter lim="800000"/>
          </a:ln>
          <a:effectLst/>
        </p:spPr>
        <p:txBody>
          <a:bodyPr rtlCol="0" anchor="ctr"/>
          <a:lstStyle/>
          <a:p>
            <a:pPr algn="ctr" defTabSz="914339">
              <a:defRPr/>
            </a:pPr>
            <a:r>
              <a:rPr lang="de-DE" sz="1200" kern="0" dirty="0">
                <a:solidFill>
                  <a:srgbClr val="000000"/>
                </a:solidFill>
                <a:latin typeface="Calibri" panose="020F0502020204030204"/>
              </a:rPr>
              <a:t>🎯</a:t>
            </a:r>
          </a:p>
          <a:p>
            <a:pPr algn="ctr" defTabSz="914339">
              <a:defRPr/>
            </a:pPr>
            <a:r>
              <a:rPr lang="de-DE" sz="1200" kern="0" dirty="0">
                <a:solidFill>
                  <a:srgbClr val="000000"/>
                </a:solidFill>
                <a:latin typeface="Calibri" panose="020F0502020204030204"/>
              </a:rPr>
              <a:t>Zielverkehrs-Anteil</a:t>
            </a:r>
            <a:endParaRPr lang="de-AT" sz="1200" kern="0" dirty="0">
              <a:solidFill>
                <a:srgbClr val="000000"/>
              </a:solidFill>
              <a:latin typeface="Calibri" panose="020F0502020204030204"/>
            </a:endParaRPr>
          </a:p>
        </p:txBody>
      </p:sp>
      <p:cxnSp>
        <p:nvCxnSpPr>
          <p:cNvPr id="19" name="Verbinder: gewinkelt 18">
            <a:extLst>
              <a:ext uri="{FF2B5EF4-FFF2-40B4-BE49-F238E27FC236}">
                <a16:creationId xmlns:a16="http://schemas.microsoft.com/office/drawing/2014/main" id="{31D4C65D-DDE0-4A13-44C7-25776E36E870}"/>
              </a:ext>
            </a:extLst>
          </p:cNvPr>
          <p:cNvCxnSpPr>
            <a:cxnSpLocks/>
            <a:stCxn id="14" idx="3"/>
            <a:endCxn id="16" idx="1"/>
          </p:cNvCxnSpPr>
          <p:nvPr/>
        </p:nvCxnSpPr>
        <p:spPr>
          <a:xfrm>
            <a:off x="5739783" y="2233047"/>
            <a:ext cx="390545" cy="2"/>
          </a:xfrm>
          <a:prstGeom prst="bentConnector3">
            <a:avLst>
              <a:gd name="adj1" fmla="val 50000"/>
            </a:avLst>
          </a:prstGeom>
          <a:noFill/>
          <a:ln w="19050" cap="flat" cmpd="sng" algn="ctr">
            <a:solidFill>
              <a:schemeClr val="accent3">
                <a:lumMod val="75000"/>
              </a:schemeClr>
            </a:solidFill>
            <a:prstDash val="solid"/>
            <a:miter lim="800000"/>
            <a:tailEnd type="triangle"/>
          </a:ln>
          <a:effectLst/>
        </p:spPr>
      </p:cxnSp>
      <p:cxnSp>
        <p:nvCxnSpPr>
          <p:cNvPr id="20" name="Verbinder: gewinkelt 19">
            <a:extLst>
              <a:ext uri="{FF2B5EF4-FFF2-40B4-BE49-F238E27FC236}">
                <a16:creationId xmlns:a16="http://schemas.microsoft.com/office/drawing/2014/main" id="{1E55FE91-5F8F-3F23-FB04-A958A090A123}"/>
              </a:ext>
            </a:extLst>
          </p:cNvPr>
          <p:cNvCxnSpPr>
            <a:cxnSpLocks/>
            <a:stCxn id="17" idx="2"/>
            <a:endCxn id="16" idx="0"/>
          </p:cNvCxnSpPr>
          <p:nvPr/>
        </p:nvCxnSpPr>
        <p:spPr>
          <a:xfrm rot="5400000">
            <a:off x="6536053" y="1895171"/>
            <a:ext cx="146143" cy="12700"/>
          </a:xfrm>
          <a:prstGeom prst="bentConnector3">
            <a:avLst>
              <a:gd name="adj1" fmla="val 50000"/>
            </a:avLst>
          </a:prstGeom>
          <a:noFill/>
          <a:ln w="19050" cap="flat" cmpd="sng" algn="ctr">
            <a:solidFill>
              <a:schemeClr val="accent3">
                <a:lumMod val="75000"/>
              </a:schemeClr>
            </a:solidFill>
            <a:prstDash val="solid"/>
            <a:miter lim="800000"/>
            <a:tailEnd type="triangle"/>
          </a:ln>
          <a:effectLst/>
        </p:spPr>
      </p:cxnSp>
      <p:sp>
        <p:nvSpPr>
          <p:cNvPr id="21" name="Rechteck: abgerundete Ecken 20">
            <a:extLst>
              <a:ext uri="{FF2B5EF4-FFF2-40B4-BE49-F238E27FC236}">
                <a16:creationId xmlns:a16="http://schemas.microsoft.com/office/drawing/2014/main" id="{E875431C-595C-21EB-B448-CE6BDFDB2652}"/>
              </a:ext>
            </a:extLst>
          </p:cNvPr>
          <p:cNvSpPr/>
          <p:nvPr/>
        </p:nvSpPr>
        <p:spPr>
          <a:xfrm>
            <a:off x="7248106" y="1968243"/>
            <a:ext cx="1201205" cy="1059220"/>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Bedarf: Zielverkehr Statistisch JPkm als Fahrer</a:t>
            </a:r>
            <a:endParaRPr lang="de-AT" sz="1200" kern="0" dirty="0">
              <a:solidFill>
                <a:srgbClr val="FFFFFF"/>
              </a:solidFill>
              <a:latin typeface="Calibri" panose="020F0502020204030204"/>
            </a:endParaRPr>
          </a:p>
        </p:txBody>
      </p:sp>
      <p:cxnSp>
        <p:nvCxnSpPr>
          <p:cNvPr id="22" name="Verbinder: gewinkelt 21">
            <a:extLst>
              <a:ext uri="{FF2B5EF4-FFF2-40B4-BE49-F238E27FC236}">
                <a16:creationId xmlns:a16="http://schemas.microsoft.com/office/drawing/2014/main" id="{BBF4914E-ABBB-E1F1-79EA-E3D5DE1300A4}"/>
              </a:ext>
            </a:extLst>
          </p:cNvPr>
          <p:cNvCxnSpPr>
            <a:cxnSpLocks/>
            <a:stCxn id="18" idx="2"/>
            <a:endCxn id="21" idx="0"/>
          </p:cNvCxnSpPr>
          <p:nvPr/>
        </p:nvCxnSpPr>
        <p:spPr>
          <a:xfrm rot="16200000" flipH="1">
            <a:off x="7775636" y="1895172"/>
            <a:ext cx="146142" cy="1"/>
          </a:xfrm>
          <a:prstGeom prst="bentConnector3">
            <a:avLst>
              <a:gd name="adj1" fmla="val 50000"/>
            </a:avLst>
          </a:prstGeom>
          <a:noFill/>
          <a:ln w="19050" cap="flat" cmpd="sng" algn="ctr">
            <a:solidFill>
              <a:schemeClr val="accent3">
                <a:lumMod val="75000"/>
              </a:schemeClr>
            </a:solidFill>
            <a:prstDash val="solid"/>
            <a:miter lim="800000"/>
            <a:tailEnd type="triangle"/>
          </a:ln>
          <a:effectLst/>
        </p:spPr>
      </p:cxnSp>
      <p:cxnSp>
        <p:nvCxnSpPr>
          <p:cNvPr id="23" name="Verbinder: gewinkelt 22">
            <a:extLst>
              <a:ext uri="{FF2B5EF4-FFF2-40B4-BE49-F238E27FC236}">
                <a16:creationId xmlns:a16="http://schemas.microsoft.com/office/drawing/2014/main" id="{9E1AAEDE-99EF-69BA-FE75-2D08B010B962}"/>
              </a:ext>
            </a:extLst>
          </p:cNvPr>
          <p:cNvCxnSpPr>
            <a:cxnSpLocks/>
            <a:stCxn id="16" idx="3"/>
          </p:cNvCxnSpPr>
          <p:nvPr/>
        </p:nvCxnSpPr>
        <p:spPr>
          <a:xfrm flipV="1">
            <a:off x="7087917" y="2233047"/>
            <a:ext cx="160188" cy="2"/>
          </a:xfrm>
          <a:prstGeom prst="bentConnector3">
            <a:avLst>
              <a:gd name="adj1" fmla="val 50000"/>
            </a:avLst>
          </a:prstGeom>
          <a:noFill/>
          <a:ln w="19050" cap="flat" cmpd="sng" algn="ctr">
            <a:solidFill>
              <a:schemeClr val="accent3">
                <a:lumMod val="75000"/>
              </a:schemeClr>
            </a:solidFill>
            <a:prstDash val="solid"/>
            <a:miter lim="800000"/>
            <a:tailEnd type="triangle"/>
          </a:ln>
          <a:effectLst/>
        </p:spPr>
      </p:cxnSp>
      <p:sp>
        <p:nvSpPr>
          <p:cNvPr id="27" name="Rechteck: abgerundete Ecken 26">
            <a:extLst>
              <a:ext uri="{FF2B5EF4-FFF2-40B4-BE49-F238E27FC236}">
                <a16:creationId xmlns:a16="http://schemas.microsoft.com/office/drawing/2014/main" id="{52CFB14B-53FD-01DE-A97A-750D3F999253}"/>
              </a:ext>
            </a:extLst>
          </p:cNvPr>
          <p:cNvSpPr/>
          <p:nvPr/>
        </p:nvSpPr>
        <p:spPr>
          <a:xfrm>
            <a:off x="8945318" y="2628095"/>
            <a:ext cx="1201205" cy="529608"/>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EE-Energiebedarf Elektrisch</a:t>
            </a:r>
            <a:endParaRPr lang="de-AT" sz="1200" kern="0" dirty="0">
              <a:solidFill>
                <a:srgbClr val="FFFFFF"/>
              </a:solidFill>
              <a:latin typeface="Calibri" panose="020F0502020204030204"/>
            </a:endParaRPr>
          </a:p>
        </p:txBody>
      </p:sp>
      <p:sp>
        <p:nvSpPr>
          <p:cNvPr id="28" name="Rechteck: abgerundete Ecken 27">
            <a:extLst>
              <a:ext uri="{FF2B5EF4-FFF2-40B4-BE49-F238E27FC236}">
                <a16:creationId xmlns:a16="http://schemas.microsoft.com/office/drawing/2014/main" id="{30E32D00-A9CD-4357-D07B-3169A331FF7E}"/>
              </a:ext>
            </a:extLst>
          </p:cNvPr>
          <p:cNvSpPr/>
          <p:nvPr/>
        </p:nvSpPr>
        <p:spPr>
          <a:xfrm>
            <a:off x="8926089" y="1234137"/>
            <a:ext cx="1201203" cy="587963"/>
          </a:xfrm>
          <a:prstGeom prst="roundRect">
            <a:avLst/>
          </a:prstGeom>
          <a:solidFill>
            <a:srgbClr val="5FB564">
              <a:lumMod val="20000"/>
              <a:lumOff val="80000"/>
            </a:srgbClr>
          </a:solidFill>
          <a:ln w="12700" cap="flat" cmpd="sng" algn="ctr">
            <a:solidFill>
              <a:srgbClr val="5FB564"/>
            </a:solidFill>
            <a:prstDash val="solid"/>
            <a:miter lim="800000"/>
          </a:ln>
          <a:effectLst/>
        </p:spPr>
        <p:txBody>
          <a:bodyPr rtlCol="0" anchor="ctr"/>
          <a:lstStyle/>
          <a:p>
            <a:pPr algn="ctr" defTabSz="914339">
              <a:defRPr/>
            </a:pPr>
            <a:r>
              <a:rPr lang="de-DE" sz="1200" kern="0" dirty="0">
                <a:solidFill>
                  <a:srgbClr val="000000"/>
                </a:solidFill>
                <a:latin typeface="Calibri" panose="020F0502020204030204"/>
              </a:rPr>
              <a:t>🔋E-Car Verbrauch kWh/km</a:t>
            </a:r>
            <a:endParaRPr lang="de-AT" sz="1200" kern="0" dirty="0">
              <a:solidFill>
                <a:srgbClr val="000000"/>
              </a:solidFill>
              <a:latin typeface="Calibri" panose="020F0502020204030204"/>
            </a:endParaRPr>
          </a:p>
        </p:txBody>
      </p:sp>
      <p:cxnSp>
        <p:nvCxnSpPr>
          <p:cNvPr id="30" name="Verbinder: gewinkelt 29">
            <a:extLst>
              <a:ext uri="{FF2B5EF4-FFF2-40B4-BE49-F238E27FC236}">
                <a16:creationId xmlns:a16="http://schemas.microsoft.com/office/drawing/2014/main" id="{537A375A-92E5-053D-8B21-F331CCF20739}"/>
              </a:ext>
            </a:extLst>
          </p:cNvPr>
          <p:cNvCxnSpPr>
            <a:cxnSpLocks/>
          </p:cNvCxnSpPr>
          <p:nvPr/>
        </p:nvCxnSpPr>
        <p:spPr>
          <a:xfrm rot="16200000" flipH="1">
            <a:off x="9085127" y="2409807"/>
            <a:ext cx="902358" cy="19230"/>
          </a:xfrm>
          <a:prstGeom prst="bentConnector3">
            <a:avLst>
              <a:gd name="adj1" fmla="val 50000"/>
            </a:avLst>
          </a:prstGeom>
          <a:noFill/>
          <a:ln w="19050" cap="flat" cmpd="sng" algn="ctr">
            <a:solidFill>
              <a:schemeClr val="accent3">
                <a:lumMod val="75000"/>
              </a:schemeClr>
            </a:solidFill>
            <a:prstDash val="solid"/>
            <a:miter lim="800000"/>
            <a:tailEnd type="triangle"/>
          </a:ln>
          <a:effectLst/>
        </p:spPr>
      </p:cxnSp>
      <p:cxnSp>
        <p:nvCxnSpPr>
          <p:cNvPr id="31" name="Verbinder: gewinkelt 30">
            <a:extLst>
              <a:ext uri="{FF2B5EF4-FFF2-40B4-BE49-F238E27FC236}">
                <a16:creationId xmlns:a16="http://schemas.microsoft.com/office/drawing/2014/main" id="{004841DA-58FB-B09B-685E-E49DB4EEC2A6}"/>
              </a:ext>
            </a:extLst>
          </p:cNvPr>
          <p:cNvCxnSpPr>
            <a:cxnSpLocks/>
            <a:stCxn id="21" idx="3"/>
            <a:endCxn id="39" idx="1"/>
          </p:cNvCxnSpPr>
          <p:nvPr/>
        </p:nvCxnSpPr>
        <p:spPr>
          <a:xfrm flipV="1">
            <a:off x="8449310" y="2233047"/>
            <a:ext cx="513820" cy="264806"/>
          </a:xfrm>
          <a:prstGeom prst="bentConnector3">
            <a:avLst>
              <a:gd name="adj1" fmla="val 50000"/>
            </a:avLst>
          </a:prstGeom>
          <a:noFill/>
          <a:ln w="19050" cap="flat" cmpd="sng" algn="ctr">
            <a:solidFill>
              <a:schemeClr val="accent3">
                <a:lumMod val="75000"/>
              </a:schemeClr>
            </a:solidFill>
            <a:prstDash val="solid"/>
            <a:miter lim="800000"/>
            <a:tailEnd type="triangle"/>
          </a:ln>
          <a:effectLst/>
        </p:spPr>
      </p:cxnSp>
      <p:sp>
        <p:nvSpPr>
          <p:cNvPr id="33" name="Rechteck: abgerundete Ecken 32">
            <a:extLst>
              <a:ext uri="{FF2B5EF4-FFF2-40B4-BE49-F238E27FC236}">
                <a16:creationId xmlns:a16="http://schemas.microsoft.com/office/drawing/2014/main" id="{CFA37D04-6E90-979E-EFF3-7BF234520566}"/>
              </a:ext>
            </a:extLst>
          </p:cNvPr>
          <p:cNvSpPr/>
          <p:nvPr/>
        </p:nvSpPr>
        <p:spPr>
          <a:xfrm>
            <a:off x="10287482" y="1220261"/>
            <a:ext cx="1430135" cy="587963"/>
          </a:xfrm>
          <a:prstGeom prst="roundRect">
            <a:avLst/>
          </a:prstGeom>
          <a:solidFill>
            <a:srgbClr val="5FB564">
              <a:lumMod val="20000"/>
              <a:lumOff val="80000"/>
            </a:srgbClr>
          </a:solidFill>
          <a:ln w="12700" cap="flat" cmpd="sng" algn="ctr">
            <a:solidFill>
              <a:srgbClr val="5FB564"/>
            </a:solidFill>
            <a:prstDash val="solid"/>
            <a:miter lim="800000"/>
          </a:ln>
          <a:effectLst/>
        </p:spPr>
        <p:txBody>
          <a:bodyPr rtlCol="0" anchor="ctr"/>
          <a:lstStyle/>
          <a:p>
            <a:pPr algn="ctr" defTabSz="914339">
              <a:defRPr/>
            </a:pPr>
            <a:r>
              <a:rPr lang="de-DE" sz="1200" kern="0" dirty="0">
                <a:solidFill>
                  <a:srgbClr val="000000"/>
                </a:solidFill>
                <a:latin typeface="Calibri" panose="020F0502020204030204"/>
              </a:rPr>
              <a:t>☁️</a:t>
            </a:r>
            <a:r>
              <a:rPr lang="de-AT" sz="1200" kern="0" dirty="0">
                <a:solidFill>
                  <a:srgbClr val="000000"/>
                </a:solidFill>
                <a:latin typeface="Calibri" panose="020F0502020204030204"/>
              </a:rPr>
              <a:t>Konversionsfaktoren Primär-Energie und THG</a:t>
            </a:r>
          </a:p>
        </p:txBody>
      </p:sp>
      <p:cxnSp>
        <p:nvCxnSpPr>
          <p:cNvPr id="34" name="Verbinder: gewinkelt 33">
            <a:extLst>
              <a:ext uri="{FF2B5EF4-FFF2-40B4-BE49-F238E27FC236}">
                <a16:creationId xmlns:a16="http://schemas.microsoft.com/office/drawing/2014/main" id="{361782B5-872B-DFC4-7213-45C53F5D29F9}"/>
              </a:ext>
            </a:extLst>
          </p:cNvPr>
          <p:cNvCxnSpPr>
            <a:cxnSpLocks/>
          </p:cNvCxnSpPr>
          <p:nvPr/>
        </p:nvCxnSpPr>
        <p:spPr>
          <a:xfrm rot="16200000" flipH="1">
            <a:off x="10690980" y="2279814"/>
            <a:ext cx="819871" cy="196730"/>
          </a:xfrm>
          <a:prstGeom prst="bentConnector3">
            <a:avLst>
              <a:gd name="adj1" fmla="val 50000"/>
            </a:avLst>
          </a:prstGeom>
          <a:noFill/>
          <a:ln w="6350" cap="flat" cmpd="sng" algn="ctr">
            <a:solidFill>
              <a:srgbClr val="CA0237"/>
            </a:solidFill>
            <a:prstDash val="solid"/>
            <a:miter lim="800000"/>
            <a:tailEnd type="triangle"/>
          </a:ln>
          <a:effectLst/>
        </p:spPr>
      </p:cxnSp>
      <p:sp>
        <p:nvSpPr>
          <p:cNvPr id="35" name="Rechteck: abgerundete Ecken 34">
            <a:extLst>
              <a:ext uri="{FF2B5EF4-FFF2-40B4-BE49-F238E27FC236}">
                <a16:creationId xmlns:a16="http://schemas.microsoft.com/office/drawing/2014/main" id="{D474F810-2EB9-73B2-23C5-741937948614}"/>
              </a:ext>
            </a:extLst>
          </p:cNvPr>
          <p:cNvSpPr/>
          <p:nvPr/>
        </p:nvSpPr>
        <p:spPr>
          <a:xfrm>
            <a:off x="10500312" y="2622621"/>
            <a:ext cx="1201205" cy="529608"/>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PE-Bedarf Elektrisch</a:t>
            </a:r>
            <a:endParaRPr lang="de-AT" sz="1200" kern="0" dirty="0">
              <a:solidFill>
                <a:srgbClr val="FFFFFF"/>
              </a:solidFill>
              <a:latin typeface="Calibri" panose="020F0502020204030204"/>
            </a:endParaRPr>
          </a:p>
        </p:txBody>
      </p:sp>
      <p:sp>
        <p:nvSpPr>
          <p:cNvPr id="36" name="Rechteck: abgerundete Ecken 35">
            <a:extLst>
              <a:ext uri="{FF2B5EF4-FFF2-40B4-BE49-F238E27FC236}">
                <a16:creationId xmlns:a16="http://schemas.microsoft.com/office/drawing/2014/main" id="{82F263D0-97CC-3C23-890C-E542466A583C}"/>
              </a:ext>
            </a:extLst>
          </p:cNvPr>
          <p:cNvSpPr/>
          <p:nvPr/>
        </p:nvSpPr>
        <p:spPr>
          <a:xfrm>
            <a:off x="2965450" y="2813624"/>
            <a:ext cx="1224049" cy="984785"/>
          </a:xfrm>
          <a:prstGeom prst="roundRect">
            <a:avLst/>
          </a:prstGeom>
          <a:gradFill rotWithShape="1">
            <a:gsLst>
              <a:gs pos="0">
                <a:srgbClr val="5FB564">
                  <a:satMod val="103000"/>
                  <a:lumMod val="102000"/>
                  <a:tint val="94000"/>
                </a:srgbClr>
              </a:gs>
              <a:gs pos="50000">
                <a:srgbClr val="5FB564">
                  <a:satMod val="110000"/>
                  <a:lumMod val="100000"/>
                  <a:shade val="100000"/>
                </a:srgbClr>
              </a:gs>
              <a:gs pos="100000">
                <a:srgbClr val="5FB564">
                  <a:lumMod val="99000"/>
                  <a:satMod val="120000"/>
                  <a:shade val="78000"/>
                </a:srgbClr>
              </a:gs>
            </a:gsLst>
            <a:lin ang="5400000" scaled="0"/>
          </a:gradFill>
          <a:ln>
            <a:noFill/>
          </a:ln>
          <a:effectLst>
            <a:outerShdw blurRad="57150" dist="19050" dir="5400000" algn="ctr" rotWithShape="0">
              <a:srgbClr val="000000">
                <a:alpha val="63000"/>
              </a:srgbClr>
            </a:outerShdw>
          </a:effectLst>
        </p:spPr>
        <p:txBody>
          <a:bodyPr rtlCol="0" anchor="ctr"/>
          <a:lstStyle/>
          <a:p>
            <a:pPr algn="ctr" defTabSz="914339">
              <a:defRPr/>
            </a:pPr>
            <a:r>
              <a:rPr lang="de-DE" sz="1200" kern="0" dirty="0">
                <a:solidFill>
                  <a:srgbClr val="FFFFFF"/>
                </a:solidFill>
                <a:latin typeface="Calibri" panose="020F0502020204030204"/>
              </a:rPr>
              <a:t>🔌KFZ-Anteil E-Cars (Defaultwert 70%)</a:t>
            </a:r>
            <a:endParaRPr lang="de-AT" sz="1200" kern="0" dirty="0">
              <a:solidFill>
                <a:srgbClr val="FFFFFF"/>
              </a:solidFill>
              <a:latin typeface="Calibri" panose="020F0502020204030204"/>
            </a:endParaRPr>
          </a:p>
        </p:txBody>
      </p:sp>
      <p:cxnSp>
        <p:nvCxnSpPr>
          <p:cNvPr id="37" name="Verbinder: gewinkelt 36">
            <a:extLst>
              <a:ext uri="{FF2B5EF4-FFF2-40B4-BE49-F238E27FC236}">
                <a16:creationId xmlns:a16="http://schemas.microsoft.com/office/drawing/2014/main" id="{6464D223-3615-48AB-12EF-977A1254513B}"/>
              </a:ext>
            </a:extLst>
          </p:cNvPr>
          <p:cNvCxnSpPr>
            <a:cxnSpLocks/>
            <a:stCxn id="36" idx="3"/>
            <a:endCxn id="27" idx="1"/>
          </p:cNvCxnSpPr>
          <p:nvPr/>
        </p:nvCxnSpPr>
        <p:spPr>
          <a:xfrm flipV="1">
            <a:off x="4189500" y="2892899"/>
            <a:ext cx="4755819" cy="413118"/>
          </a:xfrm>
          <a:prstGeom prst="bentConnector3">
            <a:avLst>
              <a:gd name="adj1" fmla="val 94863"/>
            </a:avLst>
          </a:prstGeom>
          <a:noFill/>
          <a:ln w="19050" cap="flat" cmpd="sng" algn="ctr">
            <a:solidFill>
              <a:schemeClr val="accent3">
                <a:lumMod val="75000"/>
              </a:schemeClr>
            </a:solidFill>
            <a:prstDash val="solid"/>
            <a:miter lim="800000"/>
            <a:tailEnd type="triangle"/>
          </a:ln>
          <a:effectLst/>
        </p:spPr>
      </p:cxnSp>
      <p:sp>
        <p:nvSpPr>
          <p:cNvPr id="39" name="Rechteck: abgerundete Ecken 38">
            <a:extLst>
              <a:ext uri="{FF2B5EF4-FFF2-40B4-BE49-F238E27FC236}">
                <a16:creationId xmlns:a16="http://schemas.microsoft.com/office/drawing/2014/main" id="{403FDC00-2F6A-2DA4-4B19-5D814B15FC98}"/>
              </a:ext>
            </a:extLst>
          </p:cNvPr>
          <p:cNvSpPr/>
          <p:nvPr/>
        </p:nvSpPr>
        <p:spPr>
          <a:xfrm>
            <a:off x="8963130" y="1968243"/>
            <a:ext cx="1201205" cy="529608"/>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EE-Energiebedarf Fossil</a:t>
            </a:r>
            <a:endParaRPr lang="de-AT" sz="1200" kern="0" dirty="0">
              <a:solidFill>
                <a:srgbClr val="FFFFFF"/>
              </a:solidFill>
              <a:latin typeface="Calibri" panose="020F0502020204030204"/>
            </a:endParaRPr>
          </a:p>
        </p:txBody>
      </p:sp>
      <p:sp>
        <p:nvSpPr>
          <p:cNvPr id="42" name="Rechteck: abgerundete Ecken 41">
            <a:extLst>
              <a:ext uri="{FF2B5EF4-FFF2-40B4-BE49-F238E27FC236}">
                <a16:creationId xmlns:a16="http://schemas.microsoft.com/office/drawing/2014/main" id="{AECEA2BF-AABE-69E6-4BE0-EB12A0FD8FD2}"/>
              </a:ext>
            </a:extLst>
          </p:cNvPr>
          <p:cNvSpPr/>
          <p:nvPr/>
        </p:nvSpPr>
        <p:spPr>
          <a:xfrm>
            <a:off x="10306712" y="1968243"/>
            <a:ext cx="1406386" cy="529608"/>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PE-Bedarf Fossil</a:t>
            </a:r>
            <a:endParaRPr lang="de-AT" sz="1200" kern="0" dirty="0">
              <a:solidFill>
                <a:srgbClr val="FFFFFF"/>
              </a:solidFill>
              <a:latin typeface="Calibri" panose="020F0502020204030204"/>
            </a:endParaRPr>
          </a:p>
        </p:txBody>
      </p:sp>
      <p:cxnSp>
        <p:nvCxnSpPr>
          <p:cNvPr id="43" name="Verbinder: gewinkelt 42">
            <a:extLst>
              <a:ext uri="{FF2B5EF4-FFF2-40B4-BE49-F238E27FC236}">
                <a16:creationId xmlns:a16="http://schemas.microsoft.com/office/drawing/2014/main" id="{B8AC5CAB-1C05-A3DD-9B4E-ABC006F0E0EB}"/>
              </a:ext>
            </a:extLst>
          </p:cNvPr>
          <p:cNvCxnSpPr>
            <a:cxnSpLocks/>
            <a:stCxn id="36" idx="3"/>
            <a:endCxn id="39" idx="1"/>
          </p:cNvCxnSpPr>
          <p:nvPr/>
        </p:nvCxnSpPr>
        <p:spPr>
          <a:xfrm flipV="1">
            <a:off x="4189500" y="2233048"/>
            <a:ext cx="4773631" cy="1072970"/>
          </a:xfrm>
          <a:prstGeom prst="bentConnector3">
            <a:avLst>
              <a:gd name="adj1" fmla="val 94696"/>
            </a:avLst>
          </a:prstGeom>
          <a:noFill/>
          <a:ln w="19050" cap="flat" cmpd="sng" algn="ctr">
            <a:solidFill>
              <a:schemeClr val="accent3">
                <a:lumMod val="75000"/>
              </a:schemeClr>
            </a:solidFill>
            <a:prstDash val="solid"/>
            <a:miter lim="800000"/>
            <a:tailEnd type="triangle"/>
          </a:ln>
          <a:effectLst/>
        </p:spPr>
      </p:cxnSp>
      <p:cxnSp>
        <p:nvCxnSpPr>
          <p:cNvPr id="44" name="Verbinder: gewinkelt 43">
            <a:extLst>
              <a:ext uri="{FF2B5EF4-FFF2-40B4-BE49-F238E27FC236}">
                <a16:creationId xmlns:a16="http://schemas.microsoft.com/office/drawing/2014/main" id="{9149FF4B-2B53-0C98-9A23-32D8CE8348A3}"/>
              </a:ext>
            </a:extLst>
          </p:cNvPr>
          <p:cNvCxnSpPr>
            <a:cxnSpLocks/>
            <a:stCxn id="39" idx="3"/>
            <a:endCxn id="42" idx="1"/>
          </p:cNvCxnSpPr>
          <p:nvPr/>
        </p:nvCxnSpPr>
        <p:spPr>
          <a:xfrm>
            <a:off x="10164335" y="2233047"/>
            <a:ext cx="142377" cy="12700"/>
          </a:xfrm>
          <a:prstGeom prst="bentConnector3">
            <a:avLst>
              <a:gd name="adj1" fmla="val 50000"/>
            </a:avLst>
          </a:prstGeom>
          <a:noFill/>
          <a:ln w="19050" cap="flat" cmpd="sng" algn="ctr">
            <a:solidFill>
              <a:schemeClr val="accent3">
                <a:lumMod val="75000"/>
              </a:schemeClr>
            </a:solidFill>
            <a:prstDash val="solid"/>
            <a:miter lim="800000"/>
            <a:tailEnd type="triangle"/>
          </a:ln>
          <a:effectLst/>
        </p:spPr>
      </p:cxnSp>
      <p:grpSp>
        <p:nvGrpSpPr>
          <p:cNvPr id="46" name="Gruppieren 45">
            <a:extLst>
              <a:ext uri="{FF2B5EF4-FFF2-40B4-BE49-F238E27FC236}">
                <a16:creationId xmlns:a16="http://schemas.microsoft.com/office/drawing/2014/main" id="{36FABA54-C30A-454A-C79A-2BDA437DCA93}"/>
              </a:ext>
            </a:extLst>
          </p:cNvPr>
          <p:cNvGrpSpPr/>
          <p:nvPr/>
        </p:nvGrpSpPr>
        <p:grpSpPr>
          <a:xfrm>
            <a:off x="4334878" y="3989275"/>
            <a:ext cx="1644575" cy="1089116"/>
            <a:chOff x="2025284" y="3866601"/>
            <a:chExt cx="1396098" cy="1279733"/>
          </a:xfrm>
        </p:grpSpPr>
        <p:sp>
          <p:nvSpPr>
            <p:cNvPr id="65" name="Rechteck: abgerundete Ecken 64">
              <a:extLst>
                <a:ext uri="{FF2B5EF4-FFF2-40B4-BE49-F238E27FC236}">
                  <a16:creationId xmlns:a16="http://schemas.microsoft.com/office/drawing/2014/main" id="{1A0EFE52-6363-9E19-7BB9-92467BE44FB2}"/>
                </a:ext>
              </a:extLst>
            </p:cNvPr>
            <p:cNvSpPr/>
            <p:nvPr/>
          </p:nvSpPr>
          <p:spPr>
            <a:xfrm>
              <a:off x="2025284" y="3866601"/>
              <a:ext cx="1396098" cy="1279733"/>
            </a:xfrm>
            <a:prstGeom prst="roundRect">
              <a:avLst>
                <a:gd name="adj" fmla="val 3806"/>
              </a:avLst>
            </a:prstGeom>
            <a:solidFill>
              <a:srgbClr val="FFFFFF"/>
            </a:solidFill>
            <a:ln w="12700" cap="flat" cmpd="sng" algn="ctr">
              <a:solidFill>
                <a:srgbClr val="5FB564"/>
              </a:solidFill>
              <a:prstDash val="solid"/>
              <a:miter lim="800000"/>
            </a:ln>
            <a:effectLst/>
          </p:spPr>
          <p:txBody>
            <a:bodyPr rtlCol="0" anchor="t"/>
            <a:lstStyle/>
            <a:p>
              <a:pPr defTabSz="914339">
                <a:defRPr/>
              </a:pPr>
              <a:r>
                <a:rPr lang="de-DE" sz="1400" kern="0" dirty="0">
                  <a:solidFill>
                    <a:srgbClr val="000000"/>
                  </a:solidFill>
                  <a:latin typeface="Calibri" panose="020F0502020204030204"/>
                </a:rPr>
                <a:t>E-Cars</a:t>
              </a:r>
              <a:endParaRPr lang="de-AT" sz="1400" kern="0" dirty="0">
                <a:solidFill>
                  <a:srgbClr val="000000"/>
                </a:solidFill>
                <a:latin typeface="Calibri" panose="020F0502020204030204"/>
              </a:endParaRPr>
            </a:p>
          </p:txBody>
        </p:sp>
        <p:sp>
          <p:nvSpPr>
            <p:cNvPr id="66" name="Rechteck: abgerundete Ecken 65">
              <a:extLst>
                <a:ext uri="{FF2B5EF4-FFF2-40B4-BE49-F238E27FC236}">
                  <a16:creationId xmlns:a16="http://schemas.microsoft.com/office/drawing/2014/main" id="{D7760944-F9E3-E56E-6D6E-3BB29DCA004A}"/>
                </a:ext>
              </a:extLst>
            </p:cNvPr>
            <p:cNvSpPr/>
            <p:nvPr/>
          </p:nvSpPr>
          <p:spPr>
            <a:xfrm>
              <a:off x="2101515" y="4234389"/>
              <a:ext cx="1255694" cy="227109"/>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E-Cars Wohnen</a:t>
              </a:r>
              <a:endParaRPr lang="de-AT" sz="1200" kern="0" dirty="0">
                <a:solidFill>
                  <a:srgbClr val="FFFFFF"/>
                </a:solidFill>
                <a:latin typeface="Calibri" panose="020F0502020204030204"/>
              </a:endParaRPr>
            </a:p>
          </p:txBody>
        </p:sp>
        <p:sp>
          <p:nvSpPr>
            <p:cNvPr id="67" name="Rechteck: abgerundete Ecken 66">
              <a:extLst>
                <a:ext uri="{FF2B5EF4-FFF2-40B4-BE49-F238E27FC236}">
                  <a16:creationId xmlns:a16="http://schemas.microsoft.com/office/drawing/2014/main" id="{B4599587-4DD1-E72C-123E-54AE09EBF6B1}"/>
                </a:ext>
              </a:extLst>
            </p:cNvPr>
            <p:cNvSpPr/>
            <p:nvPr/>
          </p:nvSpPr>
          <p:spPr>
            <a:xfrm>
              <a:off x="2101515" y="4545537"/>
              <a:ext cx="1255694" cy="227109"/>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E-Cars Arbeit</a:t>
              </a:r>
              <a:endParaRPr lang="de-AT" sz="1200" kern="0" dirty="0">
                <a:solidFill>
                  <a:srgbClr val="FFFFFF"/>
                </a:solidFill>
                <a:latin typeface="Calibri" panose="020F0502020204030204"/>
              </a:endParaRPr>
            </a:p>
          </p:txBody>
        </p:sp>
        <p:sp>
          <p:nvSpPr>
            <p:cNvPr id="68" name="Rechteck: abgerundete Ecken 67">
              <a:extLst>
                <a:ext uri="{FF2B5EF4-FFF2-40B4-BE49-F238E27FC236}">
                  <a16:creationId xmlns:a16="http://schemas.microsoft.com/office/drawing/2014/main" id="{6CF58306-7091-1FE1-A566-DC3A41EDC0DD}"/>
                </a:ext>
              </a:extLst>
            </p:cNvPr>
            <p:cNvSpPr/>
            <p:nvPr/>
          </p:nvSpPr>
          <p:spPr>
            <a:xfrm>
              <a:off x="2101515" y="4856685"/>
              <a:ext cx="1255694" cy="227109"/>
            </a:xfrm>
            <a:prstGeom prst="roundRect">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E-Cars Handel u.A.</a:t>
              </a:r>
              <a:endParaRPr lang="de-AT" sz="1200" kern="0" dirty="0">
                <a:solidFill>
                  <a:srgbClr val="FFFFFF"/>
                </a:solidFill>
                <a:latin typeface="Calibri" panose="020F0502020204030204"/>
              </a:endParaRPr>
            </a:p>
          </p:txBody>
        </p:sp>
      </p:grpSp>
      <p:sp>
        <p:nvSpPr>
          <p:cNvPr id="47" name="Rechteck: abgerundete Ecken 46">
            <a:extLst>
              <a:ext uri="{FF2B5EF4-FFF2-40B4-BE49-F238E27FC236}">
                <a16:creationId xmlns:a16="http://schemas.microsoft.com/office/drawing/2014/main" id="{8122EFB4-C91E-3FBA-91B0-60F98A5B1EA1}"/>
              </a:ext>
            </a:extLst>
          </p:cNvPr>
          <p:cNvSpPr/>
          <p:nvPr/>
        </p:nvSpPr>
        <p:spPr>
          <a:xfrm>
            <a:off x="2965450" y="4288316"/>
            <a:ext cx="1224049" cy="522607"/>
          </a:xfrm>
          <a:prstGeom prst="roundRect">
            <a:avLst/>
          </a:prstGeom>
          <a:solidFill>
            <a:srgbClr val="5FB564">
              <a:lumMod val="20000"/>
              <a:lumOff val="80000"/>
            </a:srgbClr>
          </a:solidFill>
          <a:ln w="12700" cap="flat" cmpd="sng" algn="ctr">
            <a:solidFill>
              <a:srgbClr val="5FB564"/>
            </a:solidFill>
            <a:prstDash val="solid"/>
            <a:miter lim="800000"/>
          </a:ln>
          <a:effectLst/>
        </p:spPr>
        <p:txBody>
          <a:bodyPr rtlCol="0" anchor="ctr"/>
          <a:lstStyle/>
          <a:p>
            <a:pPr algn="ctr" defTabSz="914339">
              <a:defRPr/>
            </a:pPr>
            <a:r>
              <a:rPr lang="de-DE" sz="1200" kern="0" dirty="0">
                <a:solidFill>
                  <a:srgbClr val="000000"/>
                </a:solidFill>
                <a:latin typeface="Calibri" panose="020F0502020204030204"/>
              </a:rPr>
              <a:t>🅿️KFZ / 100 m² Nutzung</a:t>
            </a:r>
            <a:endParaRPr lang="de-AT" sz="1200" kern="0" dirty="0">
              <a:solidFill>
                <a:srgbClr val="000000"/>
              </a:solidFill>
              <a:latin typeface="Calibri" panose="020F0502020204030204"/>
            </a:endParaRPr>
          </a:p>
        </p:txBody>
      </p:sp>
      <p:cxnSp>
        <p:nvCxnSpPr>
          <p:cNvPr id="48" name="Verbinder: gewinkelt 47">
            <a:extLst>
              <a:ext uri="{FF2B5EF4-FFF2-40B4-BE49-F238E27FC236}">
                <a16:creationId xmlns:a16="http://schemas.microsoft.com/office/drawing/2014/main" id="{D01A340B-12B3-4570-2D84-42A13285BF29}"/>
              </a:ext>
            </a:extLst>
          </p:cNvPr>
          <p:cNvCxnSpPr>
            <a:cxnSpLocks/>
            <a:stCxn id="47" idx="3"/>
            <a:endCxn id="65" idx="1"/>
          </p:cNvCxnSpPr>
          <p:nvPr/>
        </p:nvCxnSpPr>
        <p:spPr>
          <a:xfrm flipV="1">
            <a:off x="4189499" y="4533834"/>
            <a:ext cx="145378" cy="15787"/>
          </a:xfrm>
          <a:prstGeom prst="bentConnector3">
            <a:avLst/>
          </a:prstGeom>
          <a:noFill/>
          <a:ln w="19050" cap="flat" cmpd="sng" algn="ctr">
            <a:solidFill>
              <a:schemeClr val="accent3">
                <a:lumMod val="75000"/>
              </a:schemeClr>
            </a:solidFill>
            <a:prstDash val="solid"/>
            <a:miter lim="800000"/>
            <a:tailEnd type="triangle"/>
          </a:ln>
          <a:effectLst/>
        </p:spPr>
      </p:cxnSp>
      <p:cxnSp>
        <p:nvCxnSpPr>
          <p:cNvPr id="49" name="Verbinder: gewinkelt 48">
            <a:extLst>
              <a:ext uri="{FF2B5EF4-FFF2-40B4-BE49-F238E27FC236}">
                <a16:creationId xmlns:a16="http://schemas.microsoft.com/office/drawing/2014/main" id="{91B3B0FB-5285-F930-AD82-FD5604530A86}"/>
              </a:ext>
            </a:extLst>
          </p:cNvPr>
          <p:cNvCxnSpPr>
            <a:cxnSpLocks/>
            <a:stCxn id="36" idx="3"/>
            <a:endCxn id="65" idx="0"/>
          </p:cNvCxnSpPr>
          <p:nvPr/>
        </p:nvCxnSpPr>
        <p:spPr>
          <a:xfrm>
            <a:off x="4189500" y="3306017"/>
            <a:ext cx="967666" cy="683258"/>
          </a:xfrm>
          <a:prstGeom prst="bentConnector2">
            <a:avLst/>
          </a:prstGeom>
          <a:noFill/>
          <a:ln w="19050" cap="flat" cmpd="sng" algn="ctr">
            <a:solidFill>
              <a:schemeClr val="accent3">
                <a:lumMod val="75000"/>
              </a:schemeClr>
            </a:solidFill>
            <a:prstDash val="solid"/>
            <a:miter lim="800000"/>
            <a:tailEnd type="triangle"/>
          </a:ln>
          <a:effectLst/>
        </p:spPr>
      </p:cxnSp>
      <p:sp>
        <p:nvSpPr>
          <p:cNvPr id="50" name="Rechteck: abgerundete Ecken 49">
            <a:extLst>
              <a:ext uri="{FF2B5EF4-FFF2-40B4-BE49-F238E27FC236}">
                <a16:creationId xmlns:a16="http://schemas.microsoft.com/office/drawing/2014/main" id="{7D912C17-F197-3654-0DE7-B9FCA58BA95E}"/>
              </a:ext>
            </a:extLst>
          </p:cNvPr>
          <p:cNvSpPr/>
          <p:nvPr/>
        </p:nvSpPr>
        <p:spPr>
          <a:xfrm>
            <a:off x="6130329" y="3834924"/>
            <a:ext cx="957589" cy="1524362"/>
          </a:xfrm>
          <a:prstGeom prst="roundRect">
            <a:avLst>
              <a:gd name="adj" fmla="val 9541"/>
            </a:avLst>
          </a:prstGeom>
          <a:solidFill>
            <a:srgbClr val="BCCF00">
              <a:lumMod val="75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Calibri" panose="020F0502020204030204"/>
              </a:rPr>
              <a:t>Jährlicher Ladebedarf pro Auto / Nutzung</a:t>
            </a:r>
            <a:endParaRPr lang="de-AT" sz="1200" kern="0" dirty="0">
              <a:solidFill>
                <a:srgbClr val="FFFFFF"/>
              </a:solidFill>
              <a:latin typeface="Calibri" panose="020F0502020204030204"/>
            </a:endParaRPr>
          </a:p>
        </p:txBody>
      </p:sp>
      <p:cxnSp>
        <p:nvCxnSpPr>
          <p:cNvPr id="52" name="Verbinder: gewinkelt 51">
            <a:extLst>
              <a:ext uri="{FF2B5EF4-FFF2-40B4-BE49-F238E27FC236}">
                <a16:creationId xmlns:a16="http://schemas.microsoft.com/office/drawing/2014/main" id="{76441029-2501-CD6F-3C3A-88FBDEA967A4}"/>
              </a:ext>
            </a:extLst>
          </p:cNvPr>
          <p:cNvCxnSpPr>
            <a:cxnSpLocks/>
            <a:stCxn id="27" idx="3"/>
            <a:endCxn id="50" idx="0"/>
          </p:cNvCxnSpPr>
          <p:nvPr/>
        </p:nvCxnSpPr>
        <p:spPr>
          <a:xfrm flipH="1">
            <a:off x="6609123" y="2892900"/>
            <a:ext cx="3537400" cy="942025"/>
          </a:xfrm>
          <a:prstGeom prst="bentConnector4">
            <a:avLst>
              <a:gd name="adj1" fmla="val -6462"/>
              <a:gd name="adj2" fmla="val 48551"/>
            </a:avLst>
          </a:prstGeom>
          <a:noFill/>
          <a:ln w="19050" cap="flat" cmpd="sng" algn="ctr">
            <a:solidFill>
              <a:schemeClr val="accent3">
                <a:lumMod val="75000"/>
              </a:schemeClr>
            </a:solidFill>
            <a:prstDash val="solid"/>
            <a:miter lim="800000"/>
            <a:tailEnd type="triangle"/>
          </a:ln>
          <a:effectLst/>
        </p:spPr>
      </p:cxnSp>
      <p:cxnSp>
        <p:nvCxnSpPr>
          <p:cNvPr id="53" name="Verbinder: gewinkelt 52">
            <a:extLst>
              <a:ext uri="{FF2B5EF4-FFF2-40B4-BE49-F238E27FC236}">
                <a16:creationId xmlns:a16="http://schemas.microsoft.com/office/drawing/2014/main" id="{B8B08560-0442-C9D8-8D3D-5CB9B8561B5B}"/>
              </a:ext>
            </a:extLst>
          </p:cNvPr>
          <p:cNvCxnSpPr>
            <a:cxnSpLocks/>
            <a:stCxn id="65" idx="3"/>
            <a:endCxn id="50" idx="1"/>
          </p:cNvCxnSpPr>
          <p:nvPr/>
        </p:nvCxnSpPr>
        <p:spPr>
          <a:xfrm>
            <a:off x="5979452" y="4533833"/>
            <a:ext cx="150876" cy="63272"/>
          </a:xfrm>
          <a:prstGeom prst="bentConnector3">
            <a:avLst/>
          </a:prstGeom>
          <a:noFill/>
          <a:ln w="19050" cap="flat" cmpd="sng" algn="ctr">
            <a:solidFill>
              <a:schemeClr val="accent3">
                <a:lumMod val="75000"/>
              </a:schemeClr>
            </a:solidFill>
            <a:prstDash val="solid"/>
            <a:miter lim="800000"/>
            <a:tailEnd type="triangle"/>
          </a:ln>
          <a:effectLst/>
        </p:spPr>
      </p:cxnSp>
      <p:sp>
        <p:nvSpPr>
          <p:cNvPr id="96" name="Rechteck: abgerundete Ecken 95">
            <a:extLst>
              <a:ext uri="{FF2B5EF4-FFF2-40B4-BE49-F238E27FC236}">
                <a16:creationId xmlns:a16="http://schemas.microsoft.com/office/drawing/2014/main" id="{644E1C99-B68F-D072-C211-6355EFC8D0ED}"/>
              </a:ext>
            </a:extLst>
          </p:cNvPr>
          <p:cNvSpPr/>
          <p:nvPr/>
        </p:nvSpPr>
        <p:spPr>
          <a:xfrm>
            <a:off x="7334758" y="3809148"/>
            <a:ext cx="1167005" cy="1550139"/>
          </a:xfrm>
          <a:prstGeom prst="roundRect">
            <a:avLst>
              <a:gd name="adj" fmla="val 9541"/>
            </a:avLst>
          </a:prstGeom>
          <a:solidFill>
            <a:srgbClr val="F59C00">
              <a:lumMod val="75000"/>
            </a:srgbClr>
          </a:solidFill>
          <a:ln w="12700" cap="flat" cmpd="sng" algn="ctr">
            <a:solidFill>
              <a:srgbClr val="CA0237">
                <a:shade val="15000"/>
              </a:srgbClr>
            </a:solidFill>
            <a:prstDash val="solid"/>
            <a:miter lim="800000"/>
          </a:ln>
          <a:effectLst/>
        </p:spPr>
        <p:txBody>
          <a:bodyPr rtlCol="0" anchor="ctr"/>
          <a:lstStyle/>
          <a:p>
            <a:pPr defTabSz="914339">
              <a:defRPr/>
            </a:pPr>
            <a:r>
              <a:rPr lang="de-DE" sz="1200" kern="0" dirty="0">
                <a:solidFill>
                  <a:srgbClr val="FFFFFF"/>
                </a:solidFill>
                <a:latin typeface="+mj-lt"/>
                <a:cs typeface="Times New Roman" panose="02020603050405020304" pitchFamily="18" charset="0"/>
              </a:rPr>
              <a:t>Mobilitäts-bedarf: Jährliche E-Car  Verkehrs-leistung Ziel UND Quell-verkehr</a:t>
            </a:r>
            <a:endParaRPr lang="de-AT" sz="1200" kern="0" dirty="0">
              <a:solidFill>
                <a:srgbClr val="FFFFFF"/>
              </a:solidFill>
              <a:latin typeface="+mj-lt"/>
              <a:cs typeface="Times New Roman" panose="02020603050405020304" pitchFamily="18" charset="0"/>
            </a:endParaRPr>
          </a:p>
        </p:txBody>
      </p:sp>
      <p:sp>
        <p:nvSpPr>
          <p:cNvPr id="98" name="Rechteck: abgerundete Ecken 97">
            <a:extLst>
              <a:ext uri="{FF2B5EF4-FFF2-40B4-BE49-F238E27FC236}">
                <a16:creationId xmlns:a16="http://schemas.microsoft.com/office/drawing/2014/main" id="{C4D9055A-E2C2-F614-E55C-CC69FDFFBCF9}"/>
              </a:ext>
            </a:extLst>
          </p:cNvPr>
          <p:cNvSpPr/>
          <p:nvPr/>
        </p:nvSpPr>
        <p:spPr>
          <a:xfrm>
            <a:off x="10291715" y="3805399"/>
            <a:ext cx="1201205" cy="513399"/>
          </a:xfrm>
          <a:prstGeom prst="roundRect">
            <a:avLst/>
          </a:prstGeom>
          <a:noFill/>
          <a:ln w="12700" cap="flat" cmpd="sng" algn="ctr">
            <a:solidFill>
              <a:schemeClr val="accent5">
                <a:lumMod val="20000"/>
                <a:lumOff val="80000"/>
              </a:schemeClr>
            </a:solidFill>
            <a:prstDash val="solid"/>
            <a:miter lim="800000"/>
          </a:ln>
          <a:effectLst/>
        </p:spPr>
        <p:txBody>
          <a:bodyPr rtlCol="0" anchor="ctr"/>
          <a:lstStyle/>
          <a:p>
            <a:pPr lvl="0" algn="ctr">
              <a:defRPr/>
            </a:pPr>
            <a:r>
              <a:rPr lang="de-DE" sz="1200" kern="0" dirty="0">
                <a:solidFill>
                  <a:schemeClr val="accent5">
                    <a:lumMod val="40000"/>
                    <a:lumOff val="60000"/>
                  </a:schemeClr>
                </a:solidFill>
                <a:latin typeface="+mj-lt"/>
              </a:rPr>
              <a:t>E-Car Ladung außerhalb d. Q.</a:t>
            </a:r>
            <a:endParaRPr lang="de-AT" sz="1200" kern="0" dirty="0">
              <a:solidFill>
                <a:schemeClr val="accent5">
                  <a:lumMod val="40000"/>
                  <a:lumOff val="60000"/>
                </a:schemeClr>
              </a:solidFill>
              <a:latin typeface="+mj-lt"/>
            </a:endParaRPr>
          </a:p>
        </p:txBody>
      </p:sp>
      <p:sp>
        <p:nvSpPr>
          <p:cNvPr id="99" name="Rechteck: abgerundete Ecken 98">
            <a:extLst>
              <a:ext uri="{FF2B5EF4-FFF2-40B4-BE49-F238E27FC236}">
                <a16:creationId xmlns:a16="http://schemas.microsoft.com/office/drawing/2014/main" id="{B0350C9D-2946-8789-803B-D1F5984C58EC}"/>
              </a:ext>
            </a:extLst>
          </p:cNvPr>
          <p:cNvSpPr/>
          <p:nvPr/>
        </p:nvSpPr>
        <p:spPr>
          <a:xfrm>
            <a:off x="10291715" y="4989331"/>
            <a:ext cx="1201205" cy="469783"/>
          </a:xfrm>
          <a:prstGeom prst="roundRect">
            <a:avLst/>
          </a:prstGeom>
          <a:solidFill>
            <a:srgbClr val="5FB564"/>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mj-lt"/>
                <a:cs typeface="Times New Roman" panose="02020603050405020304" pitchFamily="18" charset="0"/>
              </a:rPr>
              <a:t>PV-Deckung im Quartier</a:t>
            </a:r>
            <a:endParaRPr lang="de-AT" sz="1200" kern="0" dirty="0">
              <a:solidFill>
                <a:srgbClr val="FFFFFF"/>
              </a:solidFill>
              <a:latin typeface="+mj-lt"/>
              <a:cs typeface="Times New Roman" panose="02020603050405020304" pitchFamily="18" charset="0"/>
            </a:endParaRPr>
          </a:p>
        </p:txBody>
      </p:sp>
      <p:sp>
        <p:nvSpPr>
          <p:cNvPr id="100" name="Rechteck: abgerundete Ecken 99">
            <a:extLst>
              <a:ext uri="{FF2B5EF4-FFF2-40B4-BE49-F238E27FC236}">
                <a16:creationId xmlns:a16="http://schemas.microsoft.com/office/drawing/2014/main" id="{873FD0CD-A9D0-0201-FD20-03251F9DEA06}"/>
              </a:ext>
            </a:extLst>
          </p:cNvPr>
          <p:cNvSpPr/>
          <p:nvPr/>
        </p:nvSpPr>
        <p:spPr>
          <a:xfrm>
            <a:off x="10291715" y="5526050"/>
            <a:ext cx="1201205" cy="659108"/>
          </a:xfrm>
          <a:prstGeom prst="roundRect">
            <a:avLst/>
          </a:prstGeom>
          <a:solidFill>
            <a:srgbClr val="BCCF00"/>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mj-lt"/>
                <a:cs typeface="Times New Roman" panose="02020603050405020304" pitchFamily="18" charset="0"/>
              </a:rPr>
              <a:t>Flexible DSM Deckung im Quartier (Netz)</a:t>
            </a:r>
            <a:endParaRPr lang="de-AT" sz="1200" kern="0" dirty="0">
              <a:solidFill>
                <a:srgbClr val="FFFFFF"/>
              </a:solidFill>
              <a:latin typeface="+mj-lt"/>
              <a:cs typeface="Times New Roman" panose="02020603050405020304" pitchFamily="18" charset="0"/>
            </a:endParaRPr>
          </a:p>
        </p:txBody>
      </p:sp>
      <p:sp>
        <p:nvSpPr>
          <p:cNvPr id="101" name="Rechteck: abgerundete Ecken 100">
            <a:extLst>
              <a:ext uri="{FF2B5EF4-FFF2-40B4-BE49-F238E27FC236}">
                <a16:creationId xmlns:a16="http://schemas.microsoft.com/office/drawing/2014/main" id="{0F49F256-B81F-ADF5-F4FA-01D0461191D4}"/>
              </a:ext>
            </a:extLst>
          </p:cNvPr>
          <p:cNvSpPr/>
          <p:nvPr/>
        </p:nvSpPr>
        <p:spPr>
          <a:xfrm>
            <a:off x="10291715" y="4382515"/>
            <a:ext cx="1201205" cy="513399"/>
          </a:xfrm>
          <a:prstGeom prst="roundRect">
            <a:avLst/>
          </a:prstGeom>
          <a:no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540011"/>
                </a:solidFill>
                <a:latin typeface="+mj-lt"/>
                <a:cs typeface="Times New Roman" panose="02020603050405020304" pitchFamily="18" charset="0"/>
              </a:rPr>
              <a:t>Netz-Ladung im Quartier</a:t>
            </a:r>
            <a:endParaRPr lang="de-AT" sz="1200" kern="0" dirty="0">
              <a:solidFill>
                <a:srgbClr val="540011"/>
              </a:solidFill>
              <a:latin typeface="+mj-lt"/>
              <a:cs typeface="Times New Roman" panose="02020603050405020304" pitchFamily="18" charset="0"/>
            </a:endParaRPr>
          </a:p>
        </p:txBody>
      </p:sp>
      <p:sp>
        <p:nvSpPr>
          <p:cNvPr id="102" name="Rechteck: abgerundete Ecken 101">
            <a:extLst>
              <a:ext uri="{FF2B5EF4-FFF2-40B4-BE49-F238E27FC236}">
                <a16:creationId xmlns:a16="http://schemas.microsoft.com/office/drawing/2014/main" id="{0324AA64-0CD6-BBE6-FC45-452C34812458}"/>
              </a:ext>
            </a:extLst>
          </p:cNvPr>
          <p:cNvSpPr/>
          <p:nvPr/>
        </p:nvSpPr>
        <p:spPr>
          <a:xfrm>
            <a:off x="9035007" y="5417149"/>
            <a:ext cx="1167005" cy="769941"/>
          </a:xfrm>
          <a:prstGeom prst="roundRect">
            <a:avLst/>
          </a:prstGeom>
          <a:solidFill>
            <a:srgbClr val="CA0237">
              <a:lumMod val="60000"/>
              <a:lumOff val="40000"/>
            </a:srgbClr>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mj-lt"/>
                <a:cs typeface="Times New Roman" panose="02020603050405020304" pitchFamily="18" charset="0"/>
              </a:rPr>
              <a:t>E-Car Entladung zur Quartiersnutzung (V2B)</a:t>
            </a:r>
            <a:endParaRPr lang="de-AT" sz="1200" kern="0" dirty="0">
              <a:solidFill>
                <a:srgbClr val="FFFFFF"/>
              </a:solidFill>
              <a:latin typeface="+mj-lt"/>
              <a:cs typeface="Times New Roman" panose="02020603050405020304" pitchFamily="18" charset="0"/>
            </a:endParaRPr>
          </a:p>
        </p:txBody>
      </p:sp>
      <p:sp>
        <p:nvSpPr>
          <p:cNvPr id="103" name="Rechteck: abgerundete Ecken 102">
            <a:extLst>
              <a:ext uri="{FF2B5EF4-FFF2-40B4-BE49-F238E27FC236}">
                <a16:creationId xmlns:a16="http://schemas.microsoft.com/office/drawing/2014/main" id="{267612C2-C74E-9ACD-B5CB-8FC17AED5661}"/>
              </a:ext>
            </a:extLst>
          </p:cNvPr>
          <p:cNvSpPr/>
          <p:nvPr/>
        </p:nvSpPr>
        <p:spPr>
          <a:xfrm>
            <a:off x="9035007" y="4895914"/>
            <a:ext cx="1167005" cy="463372"/>
          </a:xfrm>
          <a:prstGeom prst="roundRect">
            <a:avLst/>
          </a:prstGeom>
          <a:solidFill>
            <a:srgbClr val="F59C00"/>
          </a:solidFill>
          <a:ln w="12700" cap="flat" cmpd="sng" algn="ctr">
            <a:solidFill>
              <a:srgbClr val="CA0237">
                <a:shade val="15000"/>
              </a:srgbClr>
            </a:solidFill>
            <a:prstDash val="solid"/>
            <a:miter lim="800000"/>
          </a:ln>
          <a:effectLst/>
        </p:spPr>
        <p:txBody>
          <a:bodyPr rtlCol="0" anchor="ctr"/>
          <a:lstStyle/>
          <a:p>
            <a:pPr algn="ctr" defTabSz="914339">
              <a:defRPr/>
            </a:pPr>
            <a:r>
              <a:rPr lang="de-DE" sz="1200" kern="0" dirty="0">
                <a:solidFill>
                  <a:srgbClr val="FFFFFF"/>
                </a:solidFill>
                <a:latin typeface="+mj-lt"/>
                <a:cs typeface="Times New Roman" panose="02020603050405020304" pitchFamily="18" charset="0"/>
              </a:rPr>
              <a:t>Zielverkehr Quartier</a:t>
            </a:r>
            <a:endParaRPr lang="de-AT" sz="1200" kern="0" dirty="0">
              <a:solidFill>
                <a:srgbClr val="FFFFFF"/>
              </a:solidFill>
              <a:latin typeface="+mj-lt"/>
              <a:cs typeface="Times New Roman" panose="02020603050405020304" pitchFamily="18" charset="0"/>
            </a:endParaRPr>
          </a:p>
        </p:txBody>
      </p:sp>
      <p:sp>
        <p:nvSpPr>
          <p:cNvPr id="106" name="Rechteck: abgerundete Ecken 105">
            <a:extLst>
              <a:ext uri="{FF2B5EF4-FFF2-40B4-BE49-F238E27FC236}">
                <a16:creationId xmlns:a16="http://schemas.microsoft.com/office/drawing/2014/main" id="{F4F6BA83-9C93-4F1A-4277-BA4B7D557F93}"/>
              </a:ext>
            </a:extLst>
          </p:cNvPr>
          <p:cNvSpPr/>
          <p:nvPr/>
        </p:nvSpPr>
        <p:spPr>
          <a:xfrm>
            <a:off x="9035007" y="3805400"/>
            <a:ext cx="1154442" cy="854519"/>
          </a:xfrm>
          <a:prstGeom prst="roundRect">
            <a:avLst>
              <a:gd name="adj" fmla="val 10054"/>
            </a:avLst>
          </a:prstGeom>
          <a:solidFill>
            <a:srgbClr val="FFFFFF"/>
          </a:solidFill>
          <a:ln w="12700" cap="flat" cmpd="sng" algn="ctr">
            <a:solidFill>
              <a:srgbClr val="F59C00"/>
            </a:solidFill>
            <a:prstDash val="solid"/>
            <a:miter lim="800000"/>
          </a:ln>
          <a:effectLst/>
        </p:spPr>
        <p:txBody>
          <a:bodyPr rtlCol="0" anchor="ctr"/>
          <a:lstStyle/>
          <a:p>
            <a:pPr algn="ctr" defTabSz="914339">
              <a:defRPr/>
            </a:pPr>
            <a:r>
              <a:rPr lang="de-AT" sz="1200" kern="0" dirty="0">
                <a:solidFill>
                  <a:srgbClr val="000000"/>
                </a:solidFill>
                <a:latin typeface="+mj-lt"/>
                <a:cs typeface="Times New Roman" panose="02020603050405020304" pitchFamily="18" charset="0"/>
              </a:rPr>
              <a:t>Verkehr, Ziel abseits des Quartiers</a:t>
            </a:r>
          </a:p>
        </p:txBody>
      </p:sp>
      <p:sp>
        <p:nvSpPr>
          <p:cNvPr id="107" name="Rechteck: abgerundete Ecken 106">
            <a:extLst>
              <a:ext uri="{FF2B5EF4-FFF2-40B4-BE49-F238E27FC236}">
                <a16:creationId xmlns:a16="http://schemas.microsoft.com/office/drawing/2014/main" id="{9AB686F8-7769-06FB-0DDB-EAFFF4B668C5}"/>
              </a:ext>
            </a:extLst>
          </p:cNvPr>
          <p:cNvSpPr/>
          <p:nvPr/>
        </p:nvSpPr>
        <p:spPr>
          <a:xfrm>
            <a:off x="9035007" y="4750051"/>
            <a:ext cx="1167005" cy="105283"/>
          </a:xfrm>
          <a:prstGeom prst="roundRect">
            <a:avLst/>
          </a:prstGeom>
          <a:gradFill rotWithShape="1">
            <a:gsLst>
              <a:gs pos="0">
                <a:srgbClr val="000000">
                  <a:lumMod val="110000"/>
                  <a:satMod val="105000"/>
                  <a:tint val="67000"/>
                </a:srgbClr>
              </a:gs>
              <a:gs pos="50000">
                <a:srgbClr val="000000">
                  <a:lumMod val="105000"/>
                  <a:satMod val="103000"/>
                  <a:tint val="73000"/>
                </a:srgbClr>
              </a:gs>
              <a:gs pos="100000">
                <a:srgbClr val="000000">
                  <a:lumMod val="105000"/>
                  <a:satMod val="109000"/>
                  <a:tint val="81000"/>
                </a:srgbClr>
              </a:gs>
            </a:gsLst>
            <a:lin ang="5400000" scaled="0"/>
          </a:gradFill>
          <a:ln w="6350" cap="flat" cmpd="sng" algn="ctr">
            <a:solidFill>
              <a:srgbClr val="000000"/>
            </a:solidFill>
            <a:prstDash val="solid"/>
            <a:miter lim="800000"/>
          </a:ln>
          <a:effectLst/>
        </p:spPr>
        <p:txBody>
          <a:bodyPr rtlCol="0" anchor="ctr"/>
          <a:lstStyle/>
          <a:p>
            <a:pPr algn="ctr" defTabSz="914339">
              <a:defRPr/>
            </a:pPr>
            <a:r>
              <a:rPr lang="de-DE" sz="800" kern="0" dirty="0">
                <a:solidFill>
                  <a:srgbClr val="000000"/>
                </a:solidFill>
                <a:latin typeface="+mj-lt"/>
                <a:cs typeface="Times New Roman" panose="02020603050405020304" pitchFamily="18" charset="0"/>
              </a:rPr>
              <a:t>Verluste Be-/Entladung</a:t>
            </a:r>
            <a:endParaRPr lang="de-AT" sz="800" kern="0" dirty="0">
              <a:solidFill>
                <a:srgbClr val="000000"/>
              </a:solidFill>
              <a:latin typeface="+mj-lt"/>
              <a:cs typeface="Times New Roman" panose="02020603050405020304" pitchFamily="18" charset="0"/>
            </a:endParaRPr>
          </a:p>
        </p:txBody>
      </p:sp>
      <p:sp>
        <p:nvSpPr>
          <p:cNvPr id="109" name="Geschweifte Klammer links 108">
            <a:extLst>
              <a:ext uri="{FF2B5EF4-FFF2-40B4-BE49-F238E27FC236}">
                <a16:creationId xmlns:a16="http://schemas.microsoft.com/office/drawing/2014/main" id="{0875E2BF-D0AC-9F55-53E2-46A85F413297}"/>
              </a:ext>
            </a:extLst>
          </p:cNvPr>
          <p:cNvSpPr/>
          <p:nvPr/>
        </p:nvSpPr>
        <p:spPr>
          <a:xfrm>
            <a:off x="8486212" y="3805399"/>
            <a:ext cx="358260" cy="1499436"/>
          </a:xfrm>
          <a:prstGeom prst="leftBrace">
            <a:avLst>
              <a:gd name="adj1" fmla="val 68092"/>
              <a:gd name="adj2" fmla="val 50497"/>
            </a:avLst>
          </a:prstGeom>
          <a:noFill/>
          <a:ln w="6350" cap="flat" cmpd="sng" algn="ctr">
            <a:solidFill>
              <a:srgbClr val="CA0237"/>
            </a:solidFill>
            <a:prstDash val="solid"/>
            <a:miter lim="800000"/>
          </a:ln>
          <a:effectLst/>
        </p:spPr>
        <p:txBody>
          <a:bodyPr rtlCol="0" anchor="ctr"/>
          <a:lstStyle/>
          <a:p>
            <a:pPr algn="ctr" defTabSz="914339">
              <a:defRPr/>
            </a:pPr>
            <a:endParaRPr lang="de-AT" kern="0" dirty="0">
              <a:solidFill>
                <a:srgbClr val="000000"/>
              </a:solidFill>
              <a:latin typeface="+mj-lt"/>
              <a:cs typeface="Times New Roman" panose="02020603050405020304" pitchFamily="18" charset="0"/>
            </a:endParaRPr>
          </a:p>
        </p:txBody>
      </p:sp>
      <p:sp>
        <p:nvSpPr>
          <p:cNvPr id="112" name="Rechteck: abgerundete Ecken 111">
            <a:extLst>
              <a:ext uri="{FF2B5EF4-FFF2-40B4-BE49-F238E27FC236}">
                <a16:creationId xmlns:a16="http://schemas.microsoft.com/office/drawing/2014/main" id="{14B2C0A9-DF40-3720-6A68-3C283FFB6D9D}"/>
              </a:ext>
            </a:extLst>
          </p:cNvPr>
          <p:cNvSpPr/>
          <p:nvPr/>
        </p:nvSpPr>
        <p:spPr>
          <a:xfrm>
            <a:off x="7319207" y="5429893"/>
            <a:ext cx="1167005" cy="757689"/>
          </a:xfrm>
          <a:prstGeom prst="roundRect">
            <a:avLst>
              <a:gd name="adj" fmla="val 9541"/>
            </a:avLst>
          </a:prstGeom>
          <a:solidFill>
            <a:srgbClr val="F59C00"/>
          </a:solidFill>
          <a:ln w="12700" cap="flat" cmpd="sng" algn="ctr">
            <a:solidFill>
              <a:srgbClr val="CA0237">
                <a:shade val="15000"/>
              </a:srgbClr>
            </a:solidFill>
            <a:prstDash val="solid"/>
            <a:miter lim="800000"/>
          </a:ln>
          <a:effectLst/>
        </p:spPr>
        <p:txBody>
          <a:bodyPr rtlCol="0" anchor="ctr"/>
          <a:lstStyle/>
          <a:p>
            <a:pPr defTabSz="914339">
              <a:defRPr/>
            </a:pPr>
            <a:r>
              <a:rPr lang="de-DE" sz="1200" kern="0" dirty="0">
                <a:solidFill>
                  <a:srgbClr val="FFFFFF"/>
                </a:solidFill>
                <a:latin typeface="+mj-lt"/>
                <a:cs typeface="Times New Roman" panose="02020603050405020304" pitchFamily="18" charset="0"/>
              </a:rPr>
              <a:t>Energiebedarf als Speicher</a:t>
            </a:r>
            <a:endParaRPr lang="de-AT" sz="1200" kern="0" dirty="0">
              <a:solidFill>
                <a:srgbClr val="FFFFFF"/>
              </a:solidFill>
              <a:latin typeface="+mj-lt"/>
              <a:cs typeface="Times New Roman" panose="02020603050405020304" pitchFamily="18" charset="0"/>
            </a:endParaRPr>
          </a:p>
        </p:txBody>
      </p:sp>
      <p:sp>
        <p:nvSpPr>
          <p:cNvPr id="113" name="Kreuz 112">
            <a:extLst>
              <a:ext uri="{FF2B5EF4-FFF2-40B4-BE49-F238E27FC236}">
                <a16:creationId xmlns:a16="http://schemas.microsoft.com/office/drawing/2014/main" id="{F454B036-CD87-A3B6-8E2B-9055A3F429FB}"/>
              </a:ext>
            </a:extLst>
          </p:cNvPr>
          <p:cNvSpPr/>
          <p:nvPr/>
        </p:nvSpPr>
        <p:spPr>
          <a:xfrm>
            <a:off x="7729576" y="5282210"/>
            <a:ext cx="242482" cy="232652"/>
          </a:xfrm>
          <a:prstGeom prst="plus">
            <a:avLst>
              <a:gd name="adj" fmla="val 40388"/>
            </a:avLst>
          </a:prstGeom>
          <a:solidFill>
            <a:srgbClr val="CA0237"/>
          </a:solidFill>
          <a:ln w="12700" cap="flat" cmpd="sng" algn="ctr">
            <a:solidFill>
              <a:srgbClr val="CA0237">
                <a:shade val="15000"/>
              </a:srgbClr>
            </a:solidFill>
            <a:prstDash val="solid"/>
            <a:miter lim="800000"/>
          </a:ln>
          <a:effectLst/>
        </p:spPr>
        <p:txBody>
          <a:bodyPr rtlCol="0" anchor="ctr"/>
          <a:lstStyle/>
          <a:p>
            <a:pPr algn="ctr" defTabSz="914339">
              <a:defRPr/>
            </a:pPr>
            <a:endParaRPr lang="de-AT" kern="0" dirty="0">
              <a:solidFill>
                <a:srgbClr val="FFFFFF"/>
              </a:solidFill>
              <a:latin typeface="+mj-lt"/>
              <a:cs typeface="Times New Roman" panose="02020603050405020304" pitchFamily="18" charset="0"/>
            </a:endParaRPr>
          </a:p>
        </p:txBody>
      </p:sp>
      <p:sp>
        <p:nvSpPr>
          <p:cNvPr id="127" name="Gleich 126">
            <a:extLst>
              <a:ext uri="{FF2B5EF4-FFF2-40B4-BE49-F238E27FC236}">
                <a16:creationId xmlns:a16="http://schemas.microsoft.com/office/drawing/2014/main" id="{7F1731CD-548C-B5A3-C6F7-5F4EAD8CA998}"/>
              </a:ext>
            </a:extLst>
          </p:cNvPr>
          <p:cNvSpPr/>
          <p:nvPr/>
        </p:nvSpPr>
        <p:spPr>
          <a:xfrm>
            <a:off x="7013804" y="4278278"/>
            <a:ext cx="351151" cy="483340"/>
          </a:xfrm>
          <a:prstGeom prst="mathEqual">
            <a:avLst>
              <a:gd name="adj1" fmla="val 13010"/>
              <a:gd name="adj2" fmla="val 11760"/>
            </a:avLst>
          </a:prstGeom>
          <a:solidFill>
            <a:srgbClr val="CA0237"/>
          </a:solidFill>
          <a:ln w="12700" cap="flat" cmpd="sng" algn="ctr">
            <a:solidFill>
              <a:srgbClr val="CA0237">
                <a:shade val="15000"/>
              </a:srgbClr>
            </a:solidFill>
            <a:prstDash val="solid"/>
            <a:miter lim="800000"/>
          </a:ln>
          <a:effectLst/>
        </p:spPr>
        <p:txBody>
          <a:bodyPr rtlCol="0" anchor="ctr"/>
          <a:lstStyle/>
          <a:p>
            <a:pPr algn="ctr" defTabSz="914339">
              <a:defRPr/>
            </a:pPr>
            <a:endParaRPr lang="de-AT" kern="0" dirty="0">
              <a:solidFill>
                <a:srgbClr val="000000"/>
              </a:solidFill>
              <a:latin typeface="+mj-lt"/>
              <a:cs typeface="Times New Roman" panose="02020603050405020304" pitchFamily="18" charset="0"/>
            </a:endParaRPr>
          </a:p>
        </p:txBody>
      </p:sp>
      <p:sp>
        <p:nvSpPr>
          <p:cNvPr id="203" name="Textfeld 202">
            <a:extLst>
              <a:ext uri="{FF2B5EF4-FFF2-40B4-BE49-F238E27FC236}">
                <a16:creationId xmlns:a16="http://schemas.microsoft.com/office/drawing/2014/main" id="{0BB3D6D9-12D8-79BC-51AB-EE2C057085BC}"/>
              </a:ext>
            </a:extLst>
          </p:cNvPr>
          <p:cNvSpPr txBox="1"/>
          <p:nvPr/>
        </p:nvSpPr>
        <p:spPr>
          <a:xfrm>
            <a:off x="9227396" y="3540686"/>
            <a:ext cx="808235" cy="369332"/>
          </a:xfrm>
          <a:prstGeom prst="rect">
            <a:avLst/>
          </a:prstGeom>
          <a:noFill/>
        </p:spPr>
        <p:txBody>
          <a:bodyPr wrap="none" rtlCol="0">
            <a:spAutoFit/>
          </a:bodyPr>
          <a:lstStyle/>
          <a:p>
            <a:r>
              <a:rPr lang="de-DE" dirty="0"/>
              <a:t>Bedarf</a:t>
            </a:r>
          </a:p>
        </p:txBody>
      </p:sp>
      <p:sp>
        <p:nvSpPr>
          <p:cNvPr id="204" name="Textfeld 203">
            <a:extLst>
              <a:ext uri="{FF2B5EF4-FFF2-40B4-BE49-F238E27FC236}">
                <a16:creationId xmlns:a16="http://schemas.microsoft.com/office/drawing/2014/main" id="{6DC63D9F-2FBF-EF58-62FB-F43EF7139880}"/>
              </a:ext>
            </a:extLst>
          </p:cNvPr>
          <p:cNvSpPr txBox="1"/>
          <p:nvPr/>
        </p:nvSpPr>
        <p:spPr>
          <a:xfrm>
            <a:off x="10272200" y="3548677"/>
            <a:ext cx="997389" cy="369332"/>
          </a:xfrm>
          <a:prstGeom prst="rect">
            <a:avLst/>
          </a:prstGeom>
          <a:noFill/>
        </p:spPr>
        <p:txBody>
          <a:bodyPr wrap="none" rtlCol="0">
            <a:spAutoFit/>
          </a:bodyPr>
          <a:lstStyle/>
          <a:p>
            <a:r>
              <a:rPr lang="de-DE" dirty="0"/>
              <a:t>Deckung</a:t>
            </a:r>
          </a:p>
        </p:txBody>
      </p:sp>
      <p:sp>
        <p:nvSpPr>
          <p:cNvPr id="205" name="Rechteck 204">
            <a:extLst>
              <a:ext uri="{FF2B5EF4-FFF2-40B4-BE49-F238E27FC236}">
                <a16:creationId xmlns:a16="http://schemas.microsoft.com/office/drawing/2014/main" id="{A05F17C2-C9C1-4B35-70AD-CE2C94448599}"/>
              </a:ext>
            </a:extLst>
          </p:cNvPr>
          <p:cNvSpPr/>
          <p:nvPr/>
        </p:nvSpPr>
        <p:spPr>
          <a:xfrm>
            <a:off x="8912132" y="3605746"/>
            <a:ext cx="2686348" cy="2630150"/>
          </a:xfrm>
          <a:prstGeom prst="rect">
            <a:avLst/>
          </a:prstGeom>
          <a:noFill/>
          <a:ln w="127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09" name="Textfeld 208">
            <a:extLst>
              <a:ext uri="{FF2B5EF4-FFF2-40B4-BE49-F238E27FC236}">
                <a16:creationId xmlns:a16="http://schemas.microsoft.com/office/drawing/2014/main" id="{DFA752F5-BE4B-7BA9-C168-C3F5AD93424A}"/>
              </a:ext>
            </a:extLst>
          </p:cNvPr>
          <p:cNvSpPr txBox="1"/>
          <p:nvPr/>
        </p:nvSpPr>
        <p:spPr>
          <a:xfrm>
            <a:off x="10272200" y="3330543"/>
            <a:ext cx="1704313" cy="369332"/>
          </a:xfrm>
          <a:prstGeom prst="rect">
            <a:avLst/>
          </a:prstGeom>
          <a:noFill/>
        </p:spPr>
        <p:txBody>
          <a:bodyPr wrap="none" rtlCol="0">
            <a:spAutoFit/>
          </a:bodyPr>
          <a:lstStyle/>
          <a:p>
            <a:r>
              <a:rPr lang="de-DE" dirty="0">
                <a:solidFill>
                  <a:schemeClr val="accent5"/>
                </a:solidFill>
              </a:rPr>
              <a:t>Physische Bilanz</a:t>
            </a:r>
          </a:p>
        </p:txBody>
      </p:sp>
      <p:sp>
        <p:nvSpPr>
          <p:cNvPr id="210" name="Textfeld 209">
            <a:extLst>
              <a:ext uri="{FF2B5EF4-FFF2-40B4-BE49-F238E27FC236}">
                <a16:creationId xmlns:a16="http://schemas.microsoft.com/office/drawing/2014/main" id="{66C88C8F-DE60-3848-C402-5644CE14646F}"/>
              </a:ext>
            </a:extLst>
          </p:cNvPr>
          <p:cNvSpPr txBox="1"/>
          <p:nvPr/>
        </p:nvSpPr>
        <p:spPr>
          <a:xfrm>
            <a:off x="9043768" y="6379233"/>
            <a:ext cx="1856598" cy="369332"/>
          </a:xfrm>
          <a:prstGeom prst="rect">
            <a:avLst/>
          </a:prstGeom>
          <a:noFill/>
        </p:spPr>
        <p:txBody>
          <a:bodyPr wrap="none" rtlCol="0">
            <a:spAutoFit/>
          </a:bodyPr>
          <a:lstStyle/>
          <a:p>
            <a:r>
              <a:rPr lang="de-DE" dirty="0">
                <a:solidFill>
                  <a:schemeClr val="accent1"/>
                </a:solidFill>
              </a:rPr>
              <a:t>Bewertungsbilanz</a:t>
            </a:r>
          </a:p>
        </p:txBody>
      </p:sp>
      <p:sp>
        <p:nvSpPr>
          <p:cNvPr id="213" name="Geschweifte Klammer links 212">
            <a:extLst>
              <a:ext uri="{FF2B5EF4-FFF2-40B4-BE49-F238E27FC236}">
                <a16:creationId xmlns:a16="http://schemas.microsoft.com/office/drawing/2014/main" id="{D2FEB255-C4C4-E5F8-7BF5-A602C2A653C4}"/>
              </a:ext>
            </a:extLst>
          </p:cNvPr>
          <p:cNvSpPr/>
          <p:nvPr/>
        </p:nvSpPr>
        <p:spPr>
          <a:xfrm>
            <a:off x="8478436" y="5429892"/>
            <a:ext cx="358260" cy="782697"/>
          </a:xfrm>
          <a:prstGeom prst="leftBrace">
            <a:avLst>
              <a:gd name="adj1" fmla="val 68092"/>
              <a:gd name="adj2" fmla="val 50497"/>
            </a:avLst>
          </a:prstGeom>
          <a:noFill/>
          <a:ln w="6350" cap="flat" cmpd="sng" algn="ctr">
            <a:solidFill>
              <a:srgbClr val="CA0237"/>
            </a:solidFill>
            <a:prstDash val="solid"/>
            <a:miter lim="800000"/>
          </a:ln>
          <a:effectLst/>
        </p:spPr>
        <p:txBody>
          <a:bodyPr rtlCol="0" anchor="ctr"/>
          <a:lstStyle/>
          <a:p>
            <a:pPr algn="ctr" defTabSz="914339">
              <a:defRPr/>
            </a:pPr>
            <a:endParaRPr lang="de-AT" kern="0" dirty="0">
              <a:solidFill>
                <a:srgbClr val="000000"/>
              </a:solidFill>
              <a:latin typeface="+mj-lt"/>
              <a:cs typeface="Times New Roman" panose="02020603050405020304" pitchFamily="18" charset="0"/>
            </a:endParaRPr>
          </a:p>
        </p:txBody>
      </p:sp>
      <p:sp>
        <p:nvSpPr>
          <p:cNvPr id="214" name="Pfeil: nach oben und unten 213">
            <a:extLst>
              <a:ext uri="{FF2B5EF4-FFF2-40B4-BE49-F238E27FC236}">
                <a16:creationId xmlns:a16="http://schemas.microsoft.com/office/drawing/2014/main" id="{1BD9B104-CF3E-A52D-2202-39DC81130D54}"/>
              </a:ext>
            </a:extLst>
          </p:cNvPr>
          <p:cNvSpPr/>
          <p:nvPr/>
        </p:nvSpPr>
        <p:spPr>
          <a:xfrm>
            <a:off x="10148068" y="4685066"/>
            <a:ext cx="258759" cy="221180"/>
          </a:xfrm>
          <a:prstGeom prst="upDownArrow">
            <a:avLst>
              <a:gd name="adj1" fmla="val 41304"/>
              <a:gd name="adj2" fmla="val 1928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19" name="Freihandform: Form 218">
            <a:extLst>
              <a:ext uri="{FF2B5EF4-FFF2-40B4-BE49-F238E27FC236}">
                <a16:creationId xmlns:a16="http://schemas.microsoft.com/office/drawing/2014/main" id="{4AC411EE-947E-0D8A-B897-E3E07D36B60F}"/>
              </a:ext>
            </a:extLst>
          </p:cNvPr>
          <p:cNvSpPr/>
          <p:nvPr/>
        </p:nvSpPr>
        <p:spPr>
          <a:xfrm>
            <a:off x="9000490" y="4708396"/>
            <a:ext cx="2674620" cy="2091206"/>
          </a:xfrm>
          <a:custGeom>
            <a:avLst/>
            <a:gdLst>
              <a:gd name="csX0" fmla="*/ 0 w 2674620"/>
              <a:gd name="csY0" fmla="*/ 2118360 h 2118360"/>
              <a:gd name="csX1" fmla="*/ 0 w 2674620"/>
              <a:gd name="csY1" fmla="*/ 0 h 2118360"/>
              <a:gd name="csX2" fmla="*/ 1211580 w 2674620"/>
              <a:gd name="csY2" fmla="*/ 0 h 2118360"/>
              <a:gd name="csX3" fmla="*/ 1211580 w 2674620"/>
              <a:gd name="csY3" fmla="*/ 205740 h 2118360"/>
              <a:gd name="csX4" fmla="*/ 2674620 w 2674620"/>
              <a:gd name="csY4" fmla="*/ 205740 h 2118360"/>
              <a:gd name="csX5" fmla="*/ 2674620 w 2674620"/>
              <a:gd name="csY5" fmla="*/ 289560 h 2118360"/>
              <a:gd name="csX6" fmla="*/ 2674620 w 2674620"/>
              <a:gd name="csY6" fmla="*/ 2103120 h 2118360"/>
              <a:gd name="csX7" fmla="*/ 0 w 2674620"/>
              <a:gd name="csY7" fmla="*/ 2118360 h 2118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74620" h="2118360">
                <a:moveTo>
                  <a:pt x="0" y="2118360"/>
                </a:moveTo>
                <a:lnTo>
                  <a:pt x="0" y="0"/>
                </a:lnTo>
                <a:lnTo>
                  <a:pt x="1211580" y="0"/>
                </a:lnTo>
                <a:lnTo>
                  <a:pt x="1211580" y="205740"/>
                </a:lnTo>
                <a:lnTo>
                  <a:pt x="2674620" y="205740"/>
                </a:lnTo>
                <a:lnTo>
                  <a:pt x="2674620" y="289560"/>
                </a:lnTo>
                <a:lnTo>
                  <a:pt x="2674620" y="2103120"/>
                </a:lnTo>
                <a:lnTo>
                  <a:pt x="0" y="2118360"/>
                </a:lnTo>
                <a:close/>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22" name="Rechteck: abgerundete Ecken 221">
            <a:extLst>
              <a:ext uri="{FF2B5EF4-FFF2-40B4-BE49-F238E27FC236}">
                <a16:creationId xmlns:a16="http://schemas.microsoft.com/office/drawing/2014/main" id="{766D6942-BE04-520F-B50F-76C57D08F2A1}"/>
              </a:ext>
            </a:extLst>
          </p:cNvPr>
          <p:cNvSpPr/>
          <p:nvPr/>
        </p:nvSpPr>
        <p:spPr>
          <a:xfrm>
            <a:off x="10315780" y="6295381"/>
            <a:ext cx="1167005" cy="105283"/>
          </a:xfrm>
          <a:prstGeom prst="roundRect">
            <a:avLst/>
          </a:prstGeom>
          <a:solidFill>
            <a:schemeClr val="accent2">
              <a:lumMod val="60000"/>
              <a:lumOff val="40000"/>
            </a:schemeClr>
          </a:solidFill>
          <a:ln w="6350" cap="flat" cmpd="sng" algn="ctr">
            <a:solidFill>
              <a:srgbClr val="000000"/>
            </a:solidFill>
            <a:prstDash val="solid"/>
            <a:miter lim="800000"/>
          </a:ln>
          <a:effectLst/>
        </p:spPr>
        <p:txBody>
          <a:bodyPr rtlCol="0" anchor="ctr"/>
          <a:lstStyle/>
          <a:p>
            <a:pPr algn="ctr" defTabSz="914339">
              <a:defRPr/>
            </a:pPr>
            <a:r>
              <a:rPr lang="de-DE" sz="800" kern="0" dirty="0">
                <a:solidFill>
                  <a:srgbClr val="000000"/>
                </a:solidFill>
                <a:latin typeface="+mj-lt"/>
                <a:cs typeface="Times New Roman" panose="02020603050405020304" pitchFamily="18" charset="0"/>
              </a:rPr>
              <a:t>Mobilitätsbudget</a:t>
            </a:r>
            <a:endParaRPr lang="de-AT" sz="800" kern="0" dirty="0">
              <a:solidFill>
                <a:srgbClr val="000000"/>
              </a:solidFill>
              <a:latin typeface="+mj-lt"/>
              <a:cs typeface="Times New Roman" panose="02020603050405020304" pitchFamily="18" charset="0"/>
            </a:endParaRPr>
          </a:p>
        </p:txBody>
      </p:sp>
      <p:sp>
        <p:nvSpPr>
          <p:cNvPr id="234" name="Fußzeilenplatzhalter 12">
            <a:extLst>
              <a:ext uri="{FF2B5EF4-FFF2-40B4-BE49-F238E27FC236}">
                <a16:creationId xmlns:a16="http://schemas.microsoft.com/office/drawing/2014/main" id="{E0F99D64-4457-E08B-71DA-E04A389FCE1F}"/>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2707445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01BFF30-58B0-AFE4-E006-FAECCC33B951}"/>
              </a:ext>
            </a:extLst>
          </p:cNvPr>
          <p:cNvSpPr>
            <a:spLocks noGrp="1"/>
          </p:cNvSpPr>
          <p:nvPr>
            <p:ph type="title"/>
          </p:nvPr>
        </p:nvSpPr>
        <p:spPr>
          <a:xfrm>
            <a:off x="720003" y="1406526"/>
            <a:ext cx="4461430" cy="829455"/>
          </a:xfrm>
        </p:spPr>
        <p:txBody>
          <a:bodyPr/>
          <a:lstStyle/>
          <a:p>
            <a:r>
              <a:rPr lang="de-DE" dirty="0"/>
              <a:t>Energieflexibilität</a:t>
            </a:r>
          </a:p>
        </p:txBody>
      </p:sp>
      <p:sp>
        <p:nvSpPr>
          <p:cNvPr id="3" name="Textplatzhalter 2">
            <a:extLst>
              <a:ext uri="{FF2B5EF4-FFF2-40B4-BE49-F238E27FC236}">
                <a16:creationId xmlns:a16="http://schemas.microsoft.com/office/drawing/2014/main" id="{7195B7DF-3111-0557-7326-14EBCAFD7791}"/>
              </a:ext>
            </a:extLst>
          </p:cNvPr>
          <p:cNvSpPr>
            <a:spLocks noGrp="1"/>
          </p:cNvSpPr>
          <p:nvPr>
            <p:ph type="body" sz="quarter" idx="13"/>
          </p:nvPr>
        </p:nvSpPr>
        <p:spPr>
          <a:xfrm>
            <a:off x="719669" y="2164801"/>
            <a:ext cx="5032953" cy="3977767"/>
          </a:xfrm>
        </p:spPr>
        <p:txBody>
          <a:bodyPr/>
          <a:lstStyle/>
          <a:p>
            <a:pPr marL="0" indent="0">
              <a:spcBef>
                <a:spcPts val="600"/>
              </a:spcBef>
              <a:spcAft>
                <a:spcPts val="0"/>
              </a:spcAft>
              <a:buNone/>
            </a:pPr>
            <a:r>
              <a:rPr lang="de-DE" dirty="0"/>
              <a:t>Integraler Bestandteil der Bewertung:</a:t>
            </a:r>
          </a:p>
          <a:p>
            <a:pPr>
              <a:spcBef>
                <a:spcPts val="600"/>
              </a:spcBef>
              <a:spcAft>
                <a:spcPts val="0"/>
              </a:spcAft>
            </a:pPr>
            <a:r>
              <a:rPr lang="de-DE" dirty="0"/>
              <a:t>Stündliches Modell zur dynamischen Bewertung der eingesetzten Energieträger</a:t>
            </a:r>
          </a:p>
          <a:p>
            <a:pPr>
              <a:spcBef>
                <a:spcPts val="600"/>
              </a:spcBef>
              <a:spcAft>
                <a:spcPts val="0"/>
              </a:spcAft>
            </a:pPr>
            <a:r>
              <a:rPr lang="de-DE" b="1" dirty="0"/>
              <a:t>Flexibler</a:t>
            </a:r>
            <a:r>
              <a:rPr lang="de-DE" dirty="0"/>
              <a:t> Strombezug </a:t>
            </a:r>
            <a:r>
              <a:rPr lang="de-DE" b="1" dirty="0"/>
              <a:t>senkt </a:t>
            </a:r>
            <a:br>
              <a:rPr lang="de-DE" b="1" dirty="0"/>
            </a:br>
            <a:r>
              <a:rPr lang="de-DE" dirty="0"/>
              <a:t>PE-Bezug und THG-Ausstoß</a:t>
            </a:r>
          </a:p>
        </p:txBody>
      </p:sp>
      <p:sp>
        <p:nvSpPr>
          <p:cNvPr id="4" name="Fußzeilenplatzhalter 3">
            <a:extLst>
              <a:ext uri="{FF2B5EF4-FFF2-40B4-BE49-F238E27FC236}">
                <a16:creationId xmlns:a16="http://schemas.microsoft.com/office/drawing/2014/main" id="{A03DAF11-2757-2756-8381-A6C242D3C58E}"/>
              </a:ext>
            </a:extLst>
          </p:cNvPr>
          <p:cNvSpPr>
            <a:spLocks noGrp="1"/>
          </p:cNvSpPr>
          <p:nvPr>
            <p:ph type="ftr" sz="quarter" idx="11"/>
          </p:nvPr>
        </p:nvSpPr>
        <p:spPr>
          <a:xfrm>
            <a:off x="719670" y="6373871"/>
            <a:ext cx="9167888" cy="266700"/>
          </a:xfrm>
        </p:spPr>
        <p:txBody>
          <a:bodyPr/>
          <a:lstStyle/>
          <a:p>
            <a:pPr>
              <a:defRPr/>
            </a:pPr>
            <a:r>
              <a:rPr lang="de-AT" dirty="0"/>
              <a:t>Klimaaktiv Nachweistool Plus-Energie-Quartiere</a:t>
            </a:r>
          </a:p>
        </p:txBody>
      </p:sp>
      <p:sp>
        <p:nvSpPr>
          <p:cNvPr id="5" name="Foliennummernplatzhalter 4">
            <a:extLst>
              <a:ext uri="{FF2B5EF4-FFF2-40B4-BE49-F238E27FC236}">
                <a16:creationId xmlns:a16="http://schemas.microsoft.com/office/drawing/2014/main" id="{0EB711D2-45F6-D7BB-1525-9595D7561A30}"/>
              </a:ext>
            </a:extLst>
          </p:cNvPr>
          <p:cNvSpPr>
            <a:spLocks noGrp="1"/>
          </p:cNvSpPr>
          <p:nvPr>
            <p:ph type="sldNum" sz="quarter" idx="12"/>
          </p:nvPr>
        </p:nvSpPr>
        <p:spPr/>
        <p:txBody>
          <a:bodyPr/>
          <a:lstStyle/>
          <a:p>
            <a:pPr defTabSz="914339">
              <a:defRPr/>
            </a:pPr>
            <a:fld id="{1206269C-C24E-4E80-9A4B-E7E19BB59A67}" type="slidenum">
              <a:rPr lang="de-AT">
                <a:solidFill>
                  <a:srgbClr val="000000"/>
                </a:solidFill>
                <a:latin typeface="Calibri" panose="020F0502020204030204"/>
              </a:rPr>
              <a:pPr defTabSz="914339">
                <a:defRPr/>
              </a:pPr>
              <a:t>22</a:t>
            </a:fld>
            <a:endParaRPr lang="de-AT" dirty="0">
              <a:solidFill>
                <a:srgbClr val="000000"/>
              </a:solidFill>
              <a:latin typeface="Calibri" panose="020F0502020204030204"/>
            </a:endParaRPr>
          </a:p>
        </p:txBody>
      </p:sp>
      <p:grpSp>
        <p:nvGrpSpPr>
          <p:cNvPr id="8" name="Gruppieren 7">
            <a:extLst>
              <a:ext uri="{FF2B5EF4-FFF2-40B4-BE49-F238E27FC236}">
                <a16:creationId xmlns:a16="http://schemas.microsoft.com/office/drawing/2014/main" id="{49C7C973-A3B4-51C0-4592-6617AC31674E}"/>
              </a:ext>
            </a:extLst>
          </p:cNvPr>
          <p:cNvGrpSpPr/>
          <p:nvPr/>
        </p:nvGrpSpPr>
        <p:grpSpPr>
          <a:xfrm>
            <a:off x="5245071" y="2164802"/>
            <a:ext cx="6305588" cy="4070809"/>
            <a:chOff x="4184947" y="1280160"/>
            <a:chExt cx="7826410" cy="5052634"/>
          </a:xfrm>
        </p:grpSpPr>
        <p:sp>
          <p:nvSpPr>
            <p:cNvPr id="140" name="Rechteck 139">
              <a:extLst>
                <a:ext uri="{FF2B5EF4-FFF2-40B4-BE49-F238E27FC236}">
                  <a16:creationId xmlns:a16="http://schemas.microsoft.com/office/drawing/2014/main" id="{502017EC-FFD6-7FDE-8572-A5DBC7A774F0}"/>
                </a:ext>
              </a:extLst>
            </p:cNvPr>
            <p:cNvSpPr/>
            <p:nvPr/>
          </p:nvSpPr>
          <p:spPr>
            <a:xfrm>
              <a:off x="6830936" y="3329837"/>
              <a:ext cx="5143744" cy="388076"/>
            </a:xfrm>
            <a:prstGeom prst="rect">
              <a:avLst/>
            </a:prstGeom>
            <a:solidFill>
              <a:srgbClr val="D8D7B7"/>
            </a:solidFill>
            <a:ln w="28575" cap="flat" cmpd="sng" algn="ctr">
              <a:noFill/>
              <a:prstDash val="dash"/>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41" name="Rechteck 140">
              <a:extLst>
                <a:ext uri="{FF2B5EF4-FFF2-40B4-BE49-F238E27FC236}">
                  <a16:creationId xmlns:a16="http://schemas.microsoft.com/office/drawing/2014/main" id="{5A7BADA6-F6E3-2B3E-A020-14AE6501F4F6}"/>
                </a:ext>
              </a:extLst>
            </p:cNvPr>
            <p:cNvSpPr/>
            <p:nvPr/>
          </p:nvSpPr>
          <p:spPr>
            <a:xfrm>
              <a:off x="6855256" y="1280160"/>
              <a:ext cx="5143744" cy="2423785"/>
            </a:xfrm>
            <a:prstGeom prst="rect">
              <a:avLst/>
            </a:prstGeom>
            <a:noFill/>
            <a:ln w="12700" cap="flat" cmpd="sng" algn="ctr">
              <a:solidFill>
                <a:srgbClr val="000000"/>
              </a:solid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42" name="Textfeld 141">
              <a:extLst>
                <a:ext uri="{FF2B5EF4-FFF2-40B4-BE49-F238E27FC236}">
                  <a16:creationId xmlns:a16="http://schemas.microsoft.com/office/drawing/2014/main" id="{F9764F45-CEBB-792C-1203-709C91478F07}"/>
                </a:ext>
              </a:extLst>
            </p:cNvPr>
            <p:cNvSpPr txBox="1"/>
            <p:nvPr/>
          </p:nvSpPr>
          <p:spPr>
            <a:xfrm>
              <a:off x="8831504" y="3368702"/>
              <a:ext cx="1647809" cy="343807"/>
            </a:xfrm>
            <a:prstGeom prst="rect">
              <a:avLst/>
            </a:prstGeom>
            <a:noFill/>
          </p:spPr>
          <p:txBody>
            <a:bodyPr wrap="none" rtlCol="0">
              <a:spAutoFit/>
            </a:bodyPr>
            <a:lstStyle/>
            <a:p>
              <a:pPr defTabSz="914339">
                <a:defRPr/>
              </a:pPr>
              <a:r>
                <a:rPr lang="de-DE" sz="1200" noProof="1">
                  <a:solidFill>
                    <a:prstClr val="black"/>
                  </a:solidFill>
                  <a:latin typeface="Calibri" panose="020F0502020204030204"/>
                </a:rPr>
                <a:t>Exporte (Sommer)</a:t>
              </a:r>
            </a:p>
          </p:txBody>
        </p:sp>
        <p:sp>
          <p:nvSpPr>
            <p:cNvPr id="143" name="Textfeld 142">
              <a:extLst>
                <a:ext uri="{FF2B5EF4-FFF2-40B4-BE49-F238E27FC236}">
                  <a16:creationId xmlns:a16="http://schemas.microsoft.com/office/drawing/2014/main" id="{E85FFE8C-ED34-FE23-95AB-86D78355BB46}"/>
                </a:ext>
              </a:extLst>
            </p:cNvPr>
            <p:cNvSpPr txBox="1"/>
            <p:nvPr/>
          </p:nvSpPr>
          <p:spPr>
            <a:xfrm>
              <a:off x="11111648" y="3368702"/>
              <a:ext cx="899709" cy="343807"/>
            </a:xfrm>
            <a:prstGeom prst="rect">
              <a:avLst/>
            </a:prstGeom>
            <a:noFill/>
          </p:spPr>
          <p:txBody>
            <a:bodyPr wrap="none" rtlCol="0">
              <a:spAutoFit/>
            </a:bodyPr>
            <a:lstStyle/>
            <a:p>
              <a:pPr defTabSz="914339">
                <a:defRPr/>
              </a:pPr>
              <a:r>
                <a:rPr lang="de-DE" sz="1200" noProof="1">
                  <a:solidFill>
                    <a:prstClr val="black"/>
                  </a:solidFill>
                  <a:latin typeface="Calibri" panose="020F0502020204030204"/>
                </a:rPr>
                <a:t>Importe </a:t>
              </a:r>
            </a:p>
          </p:txBody>
        </p:sp>
        <p:sp>
          <p:nvSpPr>
            <p:cNvPr id="144" name="Textfeld 143">
              <a:extLst>
                <a:ext uri="{FF2B5EF4-FFF2-40B4-BE49-F238E27FC236}">
                  <a16:creationId xmlns:a16="http://schemas.microsoft.com/office/drawing/2014/main" id="{B00ED792-7898-B121-2AC2-911CEDF31EA8}"/>
                </a:ext>
              </a:extLst>
            </p:cNvPr>
            <p:cNvSpPr txBox="1"/>
            <p:nvPr/>
          </p:nvSpPr>
          <p:spPr>
            <a:xfrm>
              <a:off x="6822046" y="3384413"/>
              <a:ext cx="1552306" cy="343807"/>
            </a:xfrm>
            <a:prstGeom prst="rect">
              <a:avLst/>
            </a:prstGeom>
            <a:noFill/>
          </p:spPr>
          <p:txBody>
            <a:bodyPr wrap="none" rtlCol="0">
              <a:spAutoFit/>
            </a:bodyPr>
            <a:lstStyle/>
            <a:p>
              <a:pPr defTabSz="914339">
                <a:defRPr/>
              </a:pPr>
              <a:r>
                <a:rPr lang="de-DE" sz="1200" noProof="1">
                  <a:solidFill>
                    <a:prstClr val="black"/>
                  </a:solidFill>
                  <a:latin typeface="Calibri" panose="020F0502020204030204"/>
                </a:rPr>
                <a:t>Importe (Winter)</a:t>
              </a:r>
            </a:p>
          </p:txBody>
        </p:sp>
        <p:grpSp>
          <p:nvGrpSpPr>
            <p:cNvPr id="145" name="Gruppieren 144">
              <a:extLst>
                <a:ext uri="{FF2B5EF4-FFF2-40B4-BE49-F238E27FC236}">
                  <a16:creationId xmlns:a16="http://schemas.microsoft.com/office/drawing/2014/main" id="{95E30BFE-EEEE-1900-DB34-E1E9D72C835F}"/>
                </a:ext>
              </a:extLst>
            </p:cNvPr>
            <p:cNvGrpSpPr/>
            <p:nvPr/>
          </p:nvGrpSpPr>
          <p:grpSpPr>
            <a:xfrm>
              <a:off x="6893914" y="3615715"/>
              <a:ext cx="5002504" cy="287108"/>
              <a:chOff x="1734703" y="2999135"/>
              <a:chExt cx="6354839" cy="343410"/>
            </a:xfrm>
          </p:grpSpPr>
          <p:sp>
            <p:nvSpPr>
              <p:cNvPr id="146" name="Pfeil: nach unten 145">
                <a:extLst>
                  <a:ext uri="{FF2B5EF4-FFF2-40B4-BE49-F238E27FC236}">
                    <a16:creationId xmlns:a16="http://schemas.microsoft.com/office/drawing/2014/main" id="{7CF7E3FB-E5BA-0CEA-FDC8-F1D07660396B}"/>
                  </a:ext>
                </a:extLst>
              </p:cNvPr>
              <p:cNvSpPr/>
              <p:nvPr/>
            </p:nvSpPr>
            <p:spPr>
              <a:xfrm rot="10800000">
                <a:off x="1734703" y="2999136"/>
                <a:ext cx="192108" cy="343409"/>
              </a:xfrm>
              <a:prstGeom prst="downArrow">
                <a:avLst/>
              </a:prstGeom>
              <a:solidFill>
                <a:srgbClr val="950F53"/>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47" name="Pfeil: nach unten 146">
                <a:extLst>
                  <a:ext uri="{FF2B5EF4-FFF2-40B4-BE49-F238E27FC236}">
                    <a16:creationId xmlns:a16="http://schemas.microsoft.com/office/drawing/2014/main" id="{77EDD5B8-E7A3-96FB-3FCE-68DEB6E1FABC}"/>
                  </a:ext>
                </a:extLst>
              </p:cNvPr>
              <p:cNvSpPr/>
              <p:nvPr/>
            </p:nvSpPr>
            <p:spPr>
              <a:xfrm rot="10800000">
                <a:off x="1918385" y="2999136"/>
                <a:ext cx="192108" cy="343409"/>
              </a:xfrm>
              <a:prstGeom prst="downArrow">
                <a:avLst/>
              </a:prstGeom>
              <a:solidFill>
                <a:srgbClr val="C000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48" name="Pfeil: nach unten 147">
                <a:extLst>
                  <a:ext uri="{FF2B5EF4-FFF2-40B4-BE49-F238E27FC236}">
                    <a16:creationId xmlns:a16="http://schemas.microsoft.com/office/drawing/2014/main" id="{E7F8C6B0-916F-AF8F-7C71-4022BB5B3AC9}"/>
                  </a:ext>
                </a:extLst>
              </p:cNvPr>
              <p:cNvSpPr/>
              <p:nvPr/>
            </p:nvSpPr>
            <p:spPr>
              <a:xfrm rot="10800000">
                <a:off x="2110493" y="2999136"/>
                <a:ext cx="192108" cy="343409"/>
              </a:xfrm>
              <a:prstGeom prst="downArrow">
                <a:avLst/>
              </a:prstGeom>
              <a:solidFill>
                <a:srgbClr val="BCCF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49" name="Pfeil: nach unten 148">
                <a:extLst>
                  <a:ext uri="{FF2B5EF4-FFF2-40B4-BE49-F238E27FC236}">
                    <a16:creationId xmlns:a16="http://schemas.microsoft.com/office/drawing/2014/main" id="{D30EA3AE-7DC5-2496-902C-6E891D781334}"/>
                  </a:ext>
                </a:extLst>
              </p:cNvPr>
              <p:cNvSpPr/>
              <p:nvPr/>
            </p:nvSpPr>
            <p:spPr>
              <a:xfrm rot="10800000">
                <a:off x="2294175" y="2999136"/>
                <a:ext cx="192108" cy="343409"/>
              </a:xfrm>
              <a:prstGeom prst="downArrow">
                <a:avLst/>
              </a:prstGeom>
              <a:solidFill>
                <a:srgbClr val="5000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0" name="Pfeil: nach unten 149">
                <a:extLst>
                  <a:ext uri="{FF2B5EF4-FFF2-40B4-BE49-F238E27FC236}">
                    <a16:creationId xmlns:a16="http://schemas.microsoft.com/office/drawing/2014/main" id="{7FA3FC07-D3DE-4260-423F-81811D9ECA58}"/>
                  </a:ext>
                </a:extLst>
              </p:cNvPr>
              <p:cNvSpPr/>
              <p:nvPr/>
            </p:nvSpPr>
            <p:spPr>
              <a:xfrm rot="10800000">
                <a:off x="7337962" y="2999135"/>
                <a:ext cx="192108" cy="343409"/>
              </a:xfrm>
              <a:prstGeom prst="downArrow">
                <a:avLst/>
              </a:prstGeom>
              <a:solidFill>
                <a:srgbClr val="950F53"/>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1" name="Pfeil: nach unten 150">
                <a:extLst>
                  <a:ext uri="{FF2B5EF4-FFF2-40B4-BE49-F238E27FC236}">
                    <a16:creationId xmlns:a16="http://schemas.microsoft.com/office/drawing/2014/main" id="{089A76E9-4F26-93D8-7740-ED827FCB446D}"/>
                  </a:ext>
                </a:extLst>
              </p:cNvPr>
              <p:cNvSpPr/>
              <p:nvPr/>
            </p:nvSpPr>
            <p:spPr>
              <a:xfrm rot="10800000">
                <a:off x="7521644" y="2999135"/>
                <a:ext cx="192108" cy="343409"/>
              </a:xfrm>
              <a:prstGeom prst="downArrow">
                <a:avLst/>
              </a:prstGeom>
              <a:solidFill>
                <a:srgbClr val="C000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2" name="Pfeil: nach unten 151">
                <a:extLst>
                  <a:ext uri="{FF2B5EF4-FFF2-40B4-BE49-F238E27FC236}">
                    <a16:creationId xmlns:a16="http://schemas.microsoft.com/office/drawing/2014/main" id="{EB91ACDE-562A-0D26-A99F-D8C2408562F0}"/>
                  </a:ext>
                </a:extLst>
              </p:cNvPr>
              <p:cNvSpPr/>
              <p:nvPr/>
            </p:nvSpPr>
            <p:spPr>
              <a:xfrm rot="10800000">
                <a:off x="7713752" y="2999135"/>
                <a:ext cx="192108" cy="343409"/>
              </a:xfrm>
              <a:prstGeom prst="downArrow">
                <a:avLst/>
              </a:prstGeom>
              <a:solidFill>
                <a:srgbClr val="BCCF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3" name="Pfeil: nach unten 152">
                <a:extLst>
                  <a:ext uri="{FF2B5EF4-FFF2-40B4-BE49-F238E27FC236}">
                    <a16:creationId xmlns:a16="http://schemas.microsoft.com/office/drawing/2014/main" id="{4CAD999A-B673-77D4-3A34-F34D0B9C7A38}"/>
                  </a:ext>
                </a:extLst>
              </p:cNvPr>
              <p:cNvSpPr/>
              <p:nvPr/>
            </p:nvSpPr>
            <p:spPr>
              <a:xfrm rot="10800000">
                <a:off x="7897434" y="2999135"/>
                <a:ext cx="192108" cy="343409"/>
              </a:xfrm>
              <a:prstGeom prst="downArrow">
                <a:avLst/>
              </a:prstGeom>
              <a:solidFill>
                <a:srgbClr val="5000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4" name="Pfeil: nach unten 153">
                <a:extLst>
                  <a:ext uri="{FF2B5EF4-FFF2-40B4-BE49-F238E27FC236}">
                    <a16:creationId xmlns:a16="http://schemas.microsoft.com/office/drawing/2014/main" id="{4CD444A6-89D9-3005-79A5-138CB746CDC4}"/>
                  </a:ext>
                </a:extLst>
              </p:cNvPr>
              <p:cNvSpPr/>
              <p:nvPr/>
            </p:nvSpPr>
            <p:spPr>
              <a:xfrm>
                <a:off x="4290138" y="2999136"/>
                <a:ext cx="192108" cy="343409"/>
              </a:xfrm>
              <a:prstGeom prst="downArrow">
                <a:avLst/>
              </a:prstGeom>
              <a:solidFill>
                <a:srgbClr val="5FB564">
                  <a:lumMod val="60000"/>
                  <a:lumOff val="40000"/>
                </a:srgbClr>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5" name="Pfeil: nach unten 154">
                <a:extLst>
                  <a:ext uri="{FF2B5EF4-FFF2-40B4-BE49-F238E27FC236}">
                    <a16:creationId xmlns:a16="http://schemas.microsoft.com/office/drawing/2014/main" id="{6C4ABCFF-2C12-5CE9-C5E5-1F0CFFE355F2}"/>
                  </a:ext>
                </a:extLst>
              </p:cNvPr>
              <p:cNvSpPr/>
              <p:nvPr/>
            </p:nvSpPr>
            <p:spPr>
              <a:xfrm>
                <a:off x="4098030" y="2999136"/>
                <a:ext cx="192108" cy="343409"/>
              </a:xfrm>
              <a:prstGeom prst="downArrow">
                <a:avLst/>
              </a:prstGeom>
              <a:solidFill>
                <a:srgbClr val="5FB564">
                  <a:lumMod val="60000"/>
                  <a:lumOff val="40000"/>
                </a:srgbClr>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6" name="Pfeil: nach unten 155">
                <a:extLst>
                  <a:ext uri="{FF2B5EF4-FFF2-40B4-BE49-F238E27FC236}">
                    <a16:creationId xmlns:a16="http://schemas.microsoft.com/office/drawing/2014/main" id="{8718548C-7516-D083-F108-450E571537EE}"/>
                  </a:ext>
                </a:extLst>
              </p:cNvPr>
              <p:cNvSpPr/>
              <p:nvPr/>
            </p:nvSpPr>
            <p:spPr>
              <a:xfrm>
                <a:off x="5105511" y="2999136"/>
                <a:ext cx="192108" cy="343409"/>
              </a:xfrm>
              <a:prstGeom prst="downArrow">
                <a:avLst/>
              </a:prstGeom>
              <a:solidFill>
                <a:srgbClr val="5FB564">
                  <a:lumMod val="60000"/>
                  <a:lumOff val="40000"/>
                </a:srgbClr>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7" name="Pfeil: nach unten 156">
                <a:extLst>
                  <a:ext uri="{FF2B5EF4-FFF2-40B4-BE49-F238E27FC236}">
                    <a16:creationId xmlns:a16="http://schemas.microsoft.com/office/drawing/2014/main" id="{B41B6F80-A142-412D-8F5E-CE6FB71D6127}"/>
                  </a:ext>
                </a:extLst>
              </p:cNvPr>
              <p:cNvSpPr/>
              <p:nvPr/>
            </p:nvSpPr>
            <p:spPr>
              <a:xfrm>
                <a:off x="4729722" y="2999136"/>
                <a:ext cx="192108" cy="343409"/>
              </a:xfrm>
              <a:prstGeom prst="downArrow">
                <a:avLst/>
              </a:prstGeom>
              <a:solidFill>
                <a:srgbClr val="5FB564">
                  <a:lumMod val="60000"/>
                  <a:lumOff val="40000"/>
                </a:srgbClr>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8" name="Pfeil: nach unten 157">
                <a:extLst>
                  <a:ext uri="{FF2B5EF4-FFF2-40B4-BE49-F238E27FC236}">
                    <a16:creationId xmlns:a16="http://schemas.microsoft.com/office/drawing/2014/main" id="{07288C7A-D102-3CF2-635C-EB3BBC8421BC}"/>
                  </a:ext>
                </a:extLst>
              </p:cNvPr>
              <p:cNvSpPr/>
              <p:nvPr/>
            </p:nvSpPr>
            <p:spPr>
              <a:xfrm rot="10800000">
                <a:off x="2718325" y="2999136"/>
                <a:ext cx="192108" cy="343409"/>
              </a:xfrm>
              <a:prstGeom prst="downArrow">
                <a:avLst/>
              </a:prstGeom>
              <a:solidFill>
                <a:srgbClr val="BCCF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59" name="Pfeil: nach unten 158">
                <a:extLst>
                  <a:ext uri="{FF2B5EF4-FFF2-40B4-BE49-F238E27FC236}">
                    <a16:creationId xmlns:a16="http://schemas.microsoft.com/office/drawing/2014/main" id="{BED4567A-7DF5-E46A-BFAA-5DB797A46241}"/>
                  </a:ext>
                </a:extLst>
              </p:cNvPr>
              <p:cNvSpPr/>
              <p:nvPr/>
            </p:nvSpPr>
            <p:spPr>
              <a:xfrm rot="10800000">
                <a:off x="6782827" y="2999135"/>
                <a:ext cx="192108" cy="343409"/>
              </a:xfrm>
              <a:prstGeom prst="downArrow">
                <a:avLst/>
              </a:prstGeom>
              <a:solidFill>
                <a:srgbClr val="BCCF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60" name="Pfeil: nach unten 159">
                <a:extLst>
                  <a:ext uri="{FF2B5EF4-FFF2-40B4-BE49-F238E27FC236}">
                    <a16:creationId xmlns:a16="http://schemas.microsoft.com/office/drawing/2014/main" id="{AB6E622C-A062-5FF4-A56A-7D647D1AFD3B}"/>
                  </a:ext>
                </a:extLst>
              </p:cNvPr>
              <p:cNvSpPr/>
              <p:nvPr/>
            </p:nvSpPr>
            <p:spPr>
              <a:xfrm>
                <a:off x="3185974" y="2999136"/>
                <a:ext cx="192108" cy="343409"/>
              </a:xfrm>
              <a:prstGeom prst="downArrow">
                <a:avLst/>
              </a:prstGeom>
              <a:solidFill>
                <a:srgbClr val="5FB564">
                  <a:lumMod val="60000"/>
                  <a:lumOff val="40000"/>
                </a:srgbClr>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grpSp>
        <p:sp>
          <p:nvSpPr>
            <p:cNvPr id="161" name="Textfeld 160">
              <a:extLst>
                <a:ext uri="{FF2B5EF4-FFF2-40B4-BE49-F238E27FC236}">
                  <a16:creationId xmlns:a16="http://schemas.microsoft.com/office/drawing/2014/main" id="{FC522119-5616-5525-4EB6-2A4F485D3CD8}"/>
                </a:ext>
              </a:extLst>
            </p:cNvPr>
            <p:cNvSpPr txBox="1"/>
            <p:nvPr/>
          </p:nvSpPr>
          <p:spPr>
            <a:xfrm>
              <a:off x="6900528" y="1310167"/>
              <a:ext cx="4312482" cy="649414"/>
            </a:xfrm>
            <a:prstGeom prst="rect">
              <a:avLst/>
            </a:prstGeom>
            <a:noFill/>
          </p:spPr>
          <p:txBody>
            <a:bodyPr wrap="square" rtlCol="0">
              <a:spAutoFit/>
            </a:bodyPr>
            <a:lstStyle/>
            <a:p>
              <a:pPr defTabSz="914339">
                <a:defRPr/>
              </a:pPr>
              <a:r>
                <a:rPr lang="de-DE" sz="1400" noProof="1">
                  <a:solidFill>
                    <a:prstClr val="black"/>
                  </a:solidFill>
                  <a:latin typeface="Calibri" panose="020F0502020204030204"/>
                </a:rPr>
                <a:t>Systemgrenze Quartier: Dynamische Bewertung der Energieträger</a:t>
              </a:r>
            </a:p>
          </p:txBody>
        </p:sp>
        <p:sp>
          <p:nvSpPr>
            <p:cNvPr id="162" name="Building5" descr="{&quot;Key&quot;:&quot;POWER_USER_SHAPE_ICON&quot;,&quot;Value&quot;:&quot;POWER_USER_SHAPE_ICON_STYLE_1&quot;}">
              <a:extLst>
                <a:ext uri="{FF2B5EF4-FFF2-40B4-BE49-F238E27FC236}">
                  <a16:creationId xmlns:a16="http://schemas.microsoft.com/office/drawing/2014/main" id="{FA76A84D-A3EF-46CE-064B-19FEA5C3F0BA}"/>
                </a:ext>
              </a:extLst>
            </p:cNvPr>
            <p:cNvSpPr>
              <a:spLocks noChangeAspect="1" noEditPoints="1"/>
            </p:cNvSpPr>
            <p:nvPr>
              <p:custDataLst>
                <p:tags r:id="rId1"/>
              </p:custDataLst>
            </p:nvPr>
          </p:nvSpPr>
          <p:spPr bwMode="auto">
            <a:xfrm>
              <a:off x="7108106" y="2157788"/>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63" name="Building5" descr="{&quot;Key&quot;:&quot;POWER_USER_SHAPE_ICON&quot;,&quot;Value&quot;:&quot;POWER_USER_SHAPE_ICON_STYLE_1&quot;}">
              <a:extLst>
                <a:ext uri="{FF2B5EF4-FFF2-40B4-BE49-F238E27FC236}">
                  <a16:creationId xmlns:a16="http://schemas.microsoft.com/office/drawing/2014/main" id="{51B464ED-DD86-E518-FCD7-5952335BDCDB}"/>
                </a:ext>
              </a:extLst>
            </p:cNvPr>
            <p:cNvSpPr>
              <a:spLocks noChangeAspect="1" noEditPoints="1"/>
            </p:cNvSpPr>
            <p:nvPr>
              <p:custDataLst>
                <p:tags r:id="rId2"/>
              </p:custDataLst>
            </p:nvPr>
          </p:nvSpPr>
          <p:spPr bwMode="auto">
            <a:xfrm>
              <a:off x="8715604" y="2158866"/>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64" name="Building5" descr="{&quot;Key&quot;:&quot;POWER_USER_SHAPE_ICON&quot;,&quot;Value&quot;:&quot;POWER_USER_SHAPE_ICON_STYLE_1&quot;}">
              <a:extLst>
                <a:ext uri="{FF2B5EF4-FFF2-40B4-BE49-F238E27FC236}">
                  <a16:creationId xmlns:a16="http://schemas.microsoft.com/office/drawing/2014/main" id="{131498E6-43E6-FA1A-B55F-72F34CFA26DB}"/>
                </a:ext>
              </a:extLst>
            </p:cNvPr>
            <p:cNvSpPr>
              <a:spLocks noChangeAspect="1" noEditPoints="1"/>
            </p:cNvSpPr>
            <p:nvPr>
              <p:custDataLst>
                <p:tags r:id="rId3"/>
              </p:custDataLst>
            </p:nvPr>
          </p:nvSpPr>
          <p:spPr bwMode="auto">
            <a:xfrm>
              <a:off x="10341634" y="2156829"/>
              <a:ext cx="1235929" cy="117300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nvGrpSpPr>
            <p:cNvPr id="165" name="Gruppieren 164">
              <a:extLst>
                <a:ext uri="{FF2B5EF4-FFF2-40B4-BE49-F238E27FC236}">
                  <a16:creationId xmlns:a16="http://schemas.microsoft.com/office/drawing/2014/main" id="{81D05D5E-E78E-36C4-DFBF-54536D35A5DF}"/>
                </a:ext>
              </a:extLst>
            </p:cNvPr>
            <p:cNvGrpSpPr/>
            <p:nvPr/>
          </p:nvGrpSpPr>
          <p:grpSpPr>
            <a:xfrm>
              <a:off x="7164539" y="2764562"/>
              <a:ext cx="419897" cy="421412"/>
              <a:chOff x="-19101" y="2381281"/>
              <a:chExt cx="699820" cy="699820"/>
            </a:xfrm>
          </p:grpSpPr>
          <p:sp>
            <p:nvSpPr>
              <p:cNvPr id="166" name="Ellipse 165">
                <a:extLst>
                  <a:ext uri="{FF2B5EF4-FFF2-40B4-BE49-F238E27FC236}">
                    <a16:creationId xmlns:a16="http://schemas.microsoft.com/office/drawing/2014/main" id="{094F9610-7ACE-DEC0-F55A-2FB57672739A}"/>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67" name="Plug" descr="{&quot;Key&quot;:&quot;POWER_USER_SHAPE_ICON&quot;,&quot;Value&quot;:&quot;POWER_USER_SHAPE_ICON_STYLE_1&quot;}">
                <a:extLst>
                  <a:ext uri="{FF2B5EF4-FFF2-40B4-BE49-F238E27FC236}">
                    <a16:creationId xmlns:a16="http://schemas.microsoft.com/office/drawing/2014/main" id="{EC2F38A4-E58F-CEEE-9CCF-D504A8F2217A}"/>
                  </a:ext>
                </a:extLst>
              </p:cNvPr>
              <p:cNvSpPr>
                <a:spLocks noChangeAspect="1" noEditPoints="1"/>
              </p:cNvSpPr>
              <p:nvPr>
                <p:custDataLst>
                  <p:tags r:id="rId17"/>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nvGrpSpPr>
            <p:cNvPr id="168" name="Gruppieren 167" descr="{&quot;Key&quot;:&quot;POWER_USER_SHAPE_ICON&quot;,&quot;Value&quot;:&quot;POWER_USER_SHAPE_ICON_STYLE_2&quot;}">
              <a:extLst>
                <a:ext uri="{FF2B5EF4-FFF2-40B4-BE49-F238E27FC236}">
                  <a16:creationId xmlns:a16="http://schemas.microsoft.com/office/drawing/2014/main" id="{53E51DAE-2FF4-BB49-012E-C4C9A20995F6}"/>
                </a:ext>
              </a:extLst>
            </p:cNvPr>
            <p:cNvGrpSpPr>
              <a:grpSpLocks noChangeAspect="1"/>
            </p:cNvGrpSpPr>
            <p:nvPr/>
          </p:nvGrpSpPr>
          <p:grpSpPr>
            <a:xfrm>
              <a:off x="7958987" y="2703429"/>
              <a:ext cx="416005" cy="450324"/>
              <a:chOff x="-151229" y="3030538"/>
              <a:chExt cx="762000" cy="762000"/>
            </a:xfrm>
          </p:grpSpPr>
          <p:sp>
            <p:nvSpPr>
              <p:cNvPr id="169" name="POWER_USER_SHAPE_ICON_STYLE_2">
                <a:extLst>
                  <a:ext uri="{FF2B5EF4-FFF2-40B4-BE49-F238E27FC236}">
                    <a16:creationId xmlns:a16="http://schemas.microsoft.com/office/drawing/2014/main" id="{3CAD9CD7-EE5B-06A2-83AE-2ABF5C0A785D}"/>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DE" sz="1400" kern="0" noProof="1">
                  <a:solidFill>
                    <a:prstClr val="white"/>
                  </a:solidFill>
                  <a:latin typeface="Calibri" panose="020F0502020204030204"/>
                </a:endParaRPr>
              </a:p>
            </p:txBody>
          </p:sp>
          <p:grpSp>
            <p:nvGrpSpPr>
              <p:cNvPr id="170" name="Gruppieren 169">
                <a:extLst>
                  <a:ext uri="{FF2B5EF4-FFF2-40B4-BE49-F238E27FC236}">
                    <a16:creationId xmlns:a16="http://schemas.microsoft.com/office/drawing/2014/main" id="{50E62DF9-55D9-3C3C-A07A-FDA765EAE7CA}"/>
                  </a:ext>
                </a:extLst>
              </p:cNvPr>
              <p:cNvGrpSpPr>
                <a:grpSpLocks noChangeAspect="1"/>
              </p:cNvGrpSpPr>
              <p:nvPr/>
            </p:nvGrpSpPr>
            <p:grpSpPr>
              <a:xfrm>
                <a:off x="1" y="3157538"/>
                <a:ext cx="459541" cy="508000"/>
                <a:chOff x="0" y="3157538"/>
                <a:chExt cx="491134" cy="542925"/>
              </a:xfrm>
            </p:grpSpPr>
            <p:sp>
              <p:nvSpPr>
                <p:cNvPr id="171" name="Crowdsourcing2">
                  <a:extLst>
                    <a:ext uri="{FF2B5EF4-FFF2-40B4-BE49-F238E27FC236}">
                      <a16:creationId xmlns:a16="http://schemas.microsoft.com/office/drawing/2014/main" id="{F09B33A1-4AAF-36EF-A3C1-41ED3FEB5FF9}"/>
                    </a:ext>
                  </a:extLst>
                </p:cNvPr>
                <p:cNvSpPr>
                  <a:spLocks/>
                </p:cNvSpPr>
                <p:nvPr>
                  <p:custDataLst>
                    <p:tags r:id="rId9"/>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72" name="Crowdsourcing2">
                  <a:extLst>
                    <a:ext uri="{FF2B5EF4-FFF2-40B4-BE49-F238E27FC236}">
                      <a16:creationId xmlns:a16="http://schemas.microsoft.com/office/drawing/2014/main" id="{60A3058C-87B6-D530-2341-E369F06FC67E}"/>
                    </a:ext>
                  </a:extLst>
                </p:cNvPr>
                <p:cNvSpPr>
                  <a:spLocks/>
                </p:cNvSpPr>
                <p:nvPr>
                  <p:custDataLst>
                    <p:tags r:id="rId10"/>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73" name="Crowdsourcing2">
                  <a:extLst>
                    <a:ext uri="{FF2B5EF4-FFF2-40B4-BE49-F238E27FC236}">
                      <a16:creationId xmlns:a16="http://schemas.microsoft.com/office/drawing/2014/main" id="{22FAFB8A-3202-B355-39D7-BD8E933FBCC9}"/>
                    </a:ext>
                  </a:extLst>
                </p:cNvPr>
                <p:cNvSpPr>
                  <a:spLocks/>
                </p:cNvSpPr>
                <p:nvPr>
                  <p:custDataLst>
                    <p:tags r:id="rId11"/>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74" name="Crowdsourcing2">
                  <a:extLst>
                    <a:ext uri="{FF2B5EF4-FFF2-40B4-BE49-F238E27FC236}">
                      <a16:creationId xmlns:a16="http://schemas.microsoft.com/office/drawing/2014/main" id="{D0225623-DD2A-951E-B181-74A983AE9DCB}"/>
                    </a:ext>
                  </a:extLst>
                </p:cNvPr>
                <p:cNvSpPr>
                  <a:spLocks/>
                </p:cNvSpPr>
                <p:nvPr>
                  <p:custDataLst>
                    <p:tags r:id="rId12"/>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75" name="Crowdsourcing2">
                  <a:extLst>
                    <a:ext uri="{FF2B5EF4-FFF2-40B4-BE49-F238E27FC236}">
                      <a16:creationId xmlns:a16="http://schemas.microsoft.com/office/drawing/2014/main" id="{F29A098F-48C8-7D28-4DB1-D4B866AFC761}"/>
                    </a:ext>
                  </a:extLst>
                </p:cNvPr>
                <p:cNvSpPr>
                  <a:spLocks/>
                </p:cNvSpPr>
                <p:nvPr>
                  <p:custDataLst>
                    <p:tags r:id="rId13"/>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76" name="Crowdsourcing2">
                  <a:extLst>
                    <a:ext uri="{FF2B5EF4-FFF2-40B4-BE49-F238E27FC236}">
                      <a16:creationId xmlns:a16="http://schemas.microsoft.com/office/drawing/2014/main" id="{76F6BB4C-524C-A6DE-DED1-F17C7017584D}"/>
                    </a:ext>
                  </a:extLst>
                </p:cNvPr>
                <p:cNvSpPr>
                  <a:spLocks/>
                </p:cNvSpPr>
                <p:nvPr>
                  <p:custDataLst>
                    <p:tags r:id="rId14"/>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77" name="Crowdsourcing2">
                  <a:extLst>
                    <a:ext uri="{FF2B5EF4-FFF2-40B4-BE49-F238E27FC236}">
                      <a16:creationId xmlns:a16="http://schemas.microsoft.com/office/drawing/2014/main" id="{828445C4-2E57-E232-FC77-2F432132FFA2}"/>
                    </a:ext>
                  </a:extLst>
                </p:cNvPr>
                <p:cNvSpPr>
                  <a:spLocks/>
                </p:cNvSpPr>
                <p:nvPr>
                  <p:custDataLst>
                    <p:tags r:id="rId15"/>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78" name="Crowdsourcing2">
                  <a:extLst>
                    <a:ext uri="{FF2B5EF4-FFF2-40B4-BE49-F238E27FC236}">
                      <a16:creationId xmlns:a16="http://schemas.microsoft.com/office/drawing/2014/main" id="{42C2CE05-FA1C-27A3-B326-A7D796E84B04}"/>
                    </a:ext>
                  </a:extLst>
                </p:cNvPr>
                <p:cNvSpPr>
                  <a:spLocks/>
                </p:cNvSpPr>
                <p:nvPr>
                  <p:custDataLst>
                    <p:tags r:id="rId16"/>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grpSp>
          <p:nvGrpSpPr>
            <p:cNvPr id="179" name="Gruppieren 178">
              <a:extLst>
                <a:ext uri="{FF2B5EF4-FFF2-40B4-BE49-F238E27FC236}">
                  <a16:creationId xmlns:a16="http://schemas.microsoft.com/office/drawing/2014/main" id="{16B11CE6-B105-C952-D588-19031C54D098}"/>
                </a:ext>
              </a:extLst>
            </p:cNvPr>
            <p:cNvGrpSpPr/>
            <p:nvPr/>
          </p:nvGrpSpPr>
          <p:grpSpPr>
            <a:xfrm>
              <a:off x="7428113" y="2767065"/>
              <a:ext cx="675967" cy="683454"/>
              <a:chOff x="1369937" y="4620185"/>
              <a:chExt cx="512470" cy="478658"/>
            </a:xfrm>
          </p:grpSpPr>
          <p:grpSp>
            <p:nvGrpSpPr>
              <p:cNvPr id="180" name="Gruppieren 179" descr="{&quot;Key&quot;:&quot;POWER_USER_SHAPE_ICON&quot;,&quot;Value&quot;:&quot;POWER_USER_SHAPE_ICON_STYLE_2&quot;}">
                <a:extLst>
                  <a:ext uri="{FF2B5EF4-FFF2-40B4-BE49-F238E27FC236}">
                    <a16:creationId xmlns:a16="http://schemas.microsoft.com/office/drawing/2014/main" id="{D2F3BDE5-1853-EF8A-BB85-7322179E817B}"/>
                  </a:ext>
                </a:extLst>
              </p:cNvPr>
              <p:cNvGrpSpPr>
                <a:grpSpLocks noChangeAspect="1"/>
              </p:cNvGrpSpPr>
              <p:nvPr/>
            </p:nvGrpSpPr>
            <p:grpSpPr>
              <a:xfrm>
                <a:off x="1498726" y="4620185"/>
                <a:ext cx="286311" cy="286311"/>
                <a:chOff x="-147119" y="3030538"/>
                <a:chExt cx="762000" cy="762000"/>
              </a:xfrm>
              <a:solidFill>
                <a:srgbClr val="000066"/>
              </a:solidFill>
            </p:grpSpPr>
            <p:sp>
              <p:nvSpPr>
                <p:cNvPr id="190" name="POWER_USER_SHAPE_ICON_STYLE_2">
                  <a:extLst>
                    <a:ext uri="{FF2B5EF4-FFF2-40B4-BE49-F238E27FC236}">
                      <a16:creationId xmlns:a16="http://schemas.microsoft.com/office/drawing/2014/main" id="{395AD91D-438E-1286-4CE3-074DAB8F0063}"/>
                    </a:ext>
                  </a:extLst>
                </p:cNvPr>
                <p:cNvSpPr/>
                <p:nvPr/>
              </p:nvSpPr>
              <p:spPr>
                <a:xfrm>
                  <a:off x="-147119" y="3030538"/>
                  <a:ext cx="762000" cy="762000"/>
                </a:xfrm>
                <a:prstGeom prst="ellipse">
                  <a:avLst/>
                </a:prstGeom>
                <a:gr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91" name="Snowflake2" descr="{&quot;Key&quot;:&quot;POWER_USER_SHAPE_ICON&quot;,&quot;Value&quot;:&quot;POWER_USER_SHAPE_ICON_STYLE_1&quot;}">
                  <a:extLst>
                    <a:ext uri="{FF2B5EF4-FFF2-40B4-BE49-F238E27FC236}">
                      <a16:creationId xmlns:a16="http://schemas.microsoft.com/office/drawing/2014/main" id="{E663B61C-8E83-E5E4-C666-B3B93EFC1102}"/>
                    </a:ext>
                  </a:extLst>
                </p:cNvPr>
                <p:cNvSpPr>
                  <a:spLocks noChangeAspect="1"/>
                </p:cNvSpPr>
                <p:nvPr/>
              </p:nvSpPr>
              <p:spPr bwMode="auto">
                <a:xfrm>
                  <a:off x="0" y="3157538"/>
                  <a:ext cx="467762" cy="508000"/>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nvGrpSpPr>
              <p:cNvPr id="181" name="Gruppieren 180" descr="{&quot;Key&quot;:&quot;POWER_USER_SHAPE_ICON&quot;,&quot;Value&quot;:&quot;POWER_USER_SHAPE_ICON_STYLE_2&quot;}">
                <a:extLst>
                  <a:ext uri="{FF2B5EF4-FFF2-40B4-BE49-F238E27FC236}">
                    <a16:creationId xmlns:a16="http://schemas.microsoft.com/office/drawing/2014/main" id="{243F3A63-EEB1-402D-FBC9-567B716F2539}"/>
                  </a:ext>
                </a:extLst>
              </p:cNvPr>
              <p:cNvGrpSpPr>
                <a:grpSpLocks noChangeAspect="1"/>
              </p:cNvGrpSpPr>
              <p:nvPr/>
            </p:nvGrpSpPr>
            <p:grpSpPr>
              <a:xfrm>
                <a:off x="1369937" y="4810589"/>
                <a:ext cx="288254" cy="288254"/>
                <a:chOff x="-158376" y="3030538"/>
                <a:chExt cx="762000" cy="762000"/>
              </a:xfrm>
            </p:grpSpPr>
            <p:sp>
              <p:nvSpPr>
                <p:cNvPr id="188" name="POWER_USER_SHAPE_ICON_STYLE_2">
                  <a:extLst>
                    <a:ext uri="{FF2B5EF4-FFF2-40B4-BE49-F238E27FC236}">
                      <a16:creationId xmlns:a16="http://schemas.microsoft.com/office/drawing/2014/main" id="{F5650150-5E43-F2F7-8725-38BAC7C2FFDF}"/>
                    </a:ext>
                  </a:extLst>
                </p:cNvPr>
                <p:cNvSpPr/>
                <p:nvPr/>
              </p:nvSpPr>
              <p:spPr>
                <a:xfrm>
                  <a:off x="-158376" y="3030538"/>
                  <a:ext cx="762000" cy="7620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89" name="Flame3" descr="{&quot;Key&quot;:&quot;POWER_USER_SHAPE_ICON&quot;,&quot;Value&quot;:&quot;POWER_USER_SHAPE_ICON_STYLE_1&quot;}">
                  <a:extLst>
                    <a:ext uri="{FF2B5EF4-FFF2-40B4-BE49-F238E27FC236}">
                      <a16:creationId xmlns:a16="http://schemas.microsoft.com/office/drawing/2014/main" id="{C8C0355E-D694-EC28-853B-E41E0C81B917}"/>
                    </a:ext>
                  </a:extLst>
                </p:cNvPr>
                <p:cNvSpPr>
                  <a:spLocks noChangeAspect="1"/>
                </p:cNvSpPr>
                <p:nvPr>
                  <p:custDataLst>
                    <p:tags r:id="rId8"/>
                  </p:custDataLst>
                </p:nvPr>
              </p:nvSpPr>
              <p:spPr bwMode="auto">
                <a:xfrm>
                  <a:off x="1" y="3157538"/>
                  <a:ext cx="445247" cy="508000"/>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nvGrpSpPr>
              <p:cNvPr id="182" name="Gruppieren 181" descr="{&quot;Key&quot;:&quot;POWER_USER_SHAPE_ICON&quot;,&quot;Value&quot;:&quot;POWER_USER_SHAPE_ICON_STYLE_2&quot;}">
                <a:extLst>
                  <a:ext uri="{FF2B5EF4-FFF2-40B4-BE49-F238E27FC236}">
                    <a16:creationId xmlns:a16="http://schemas.microsoft.com/office/drawing/2014/main" id="{638E9638-CB8A-959F-5CDC-E25A16F9C759}"/>
                  </a:ext>
                </a:extLst>
              </p:cNvPr>
              <p:cNvGrpSpPr>
                <a:grpSpLocks noChangeAspect="1"/>
              </p:cNvGrpSpPr>
              <p:nvPr/>
            </p:nvGrpSpPr>
            <p:grpSpPr>
              <a:xfrm>
                <a:off x="1612540" y="4824795"/>
                <a:ext cx="269867" cy="269867"/>
                <a:chOff x="-127000" y="2980451"/>
                <a:chExt cx="762000" cy="762000"/>
              </a:xfrm>
            </p:grpSpPr>
            <p:sp>
              <p:nvSpPr>
                <p:cNvPr id="183" name="POWER_USER_SHAPE_ICON_STYLE_2">
                  <a:extLst>
                    <a:ext uri="{FF2B5EF4-FFF2-40B4-BE49-F238E27FC236}">
                      <a16:creationId xmlns:a16="http://schemas.microsoft.com/office/drawing/2014/main" id="{225A17EC-DB4E-382C-0F7B-3514288489C7}"/>
                    </a:ext>
                  </a:extLst>
                </p:cNvPr>
                <p:cNvSpPr/>
                <p:nvPr/>
              </p:nvSpPr>
              <p:spPr>
                <a:xfrm>
                  <a:off x="-127000" y="2980451"/>
                  <a:ext cx="762000" cy="76200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914339">
                    <a:defRPr/>
                  </a:pPr>
                  <a:endParaRPr lang="de-DE" sz="1400" kern="0" noProof="1">
                    <a:solidFill>
                      <a:prstClr val="white"/>
                    </a:solidFill>
                    <a:latin typeface="Calibri" panose="020F0502020204030204"/>
                  </a:endParaRPr>
                </a:p>
              </p:txBody>
            </p:sp>
            <p:grpSp>
              <p:nvGrpSpPr>
                <p:cNvPr id="184" name="Gruppieren 183">
                  <a:extLst>
                    <a:ext uri="{FF2B5EF4-FFF2-40B4-BE49-F238E27FC236}">
                      <a16:creationId xmlns:a16="http://schemas.microsoft.com/office/drawing/2014/main" id="{AC88DE48-56CE-2911-452B-46FBE29648F3}"/>
                    </a:ext>
                  </a:extLst>
                </p:cNvPr>
                <p:cNvGrpSpPr>
                  <a:grpSpLocks noChangeAspect="1"/>
                </p:cNvGrpSpPr>
                <p:nvPr/>
              </p:nvGrpSpPr>
              <p:grpSpPr>
                <a:xfrm>
                  <a:off x="0" y="3157538"/>
                  <a:ext cx="508000" cy="407826"/>
                  <a:chOff x="0" y="3157538"/>
                  <a:chExt cx="676283" cy="542925"/>
                </a:xfrm>
              </p:grpSpPr>
              <p:sp>
                <p:nvSpPr>
                  <p:cNvPr id="185" name="Freeform 284">
                    <a:extLst>
                      <a:ext uri="{FF2B5EF4-FFF2-40B4-BE49-F238E27FC236}">
                        <a16:creationId xmlns:a16="http://schemas.microsoft.com/office/drawing/2014/main" id="{DA4A2BB1-6097-53AB-F05F-8A613944BC0F}"/>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86" name="Freeform 285">
                    <a:extLst>
                      <a:ext uri="{FF2B5EF4-FFF2-40B4-BE49-F238E27FC236}">
                        <a16:creationId xmlns:a16="http://schemas.microsoft.com/office/drawing/2014/main" id="{B4C1C069-246C-330B-604E-0EE9D054F58B}"/>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sp>
                <p:nvSpPr>
                  <p:cNvPr id="187" name="Freeform 286">
                    <a:extLst>
                      <a:ext uri="{FF2B5EF4-FFF2-40B4-BE49-F238E27FC236}">
                        <a16:creationId xmlns:a16="http://schemas.microsoft.com/office/drawing/2014/main" id="{68E3C6BB-3692-7657-C98C-E68C5D02D927}"/>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grpSp>
        <p:grpSp>
          <p:nvGrpSpPr>
            <p:cNvPr id="192" name="Gruppieren 191" descr="{&quot;Key&quot;:&quot;POWER_USER_SHAPE_ICON&quot;,&quot;Value&quot;:&quot;POWER_USER_SHAPE_ICON_STYLE_2&quot;}">
              <a:extLst>
                <a:ext uri="{FF2B5EF4-FFF2-40B4-BE49-F238E27FC236}">
                  <a16:creationId xmlns:a16="http://schemas.microsoft.com/office/drawing/2014/main" id="{FB22C008-B40D-5F58-D22A-83BEC9DC2FDD}"/>
                </a:ext>
              </a:extLst>
            </p:cNvPr>
            <p:cNvGrpSpPr>
              <a:grpSpLocks noChangeAspect="1"/>
            </p:cNvGrpSpPr>
            <p:nvPr/>
          </p:nvGrpSpPr>
          <p:grpSpPr>
            <a:xfrm>
              <a:off x="8812437" y="2158866"/>
              <a:ext cx="468083" cy="506698"/>
              <a:chOff x="6103281" y="1370067"/>
              <a:chExt cx="762000" cy="762000"/>
            </a:xfrm>
          </p:grpSpPr>
          <p:sp>
            <p:nvSpPr>
              <p:cNvPr id="193" name="POWER_USER_SHAPE_ICON_STYLE_2">
                <a:extLst>
                  <a:ext uri="{FF2B5EF4-FFF2-40B4-BE49-F238E27FC236}">
                    <a16:creationId xmlns:a16="http://schemas.microsoft.com/office/drawing/2014/main" id="{E6A9D11E-27A7-C8F8-BE30-67CDC7B57FCC}"/>
                  </a:ext>
                </a:extLst>
              </p:cNvPr>
              <p:cNvSpPr/>
              <p:nvPr/>
            </p:nvSpPr>
            <p:spPr>
              <a:xfrm>
                <a:off x="6103281" y="1370067"/>
                <a:ext cx="762000" cy="762000"/>
              </a:xfrm>
              <a:prstGeom prst="ellipse">
                <a:avLst/>
              </a:prstGeom>
              <a:solidFill>
                <a:srgbClr val="00B05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94" name="Solar_panel2" descr="{&quot;Key&quot;:&quot;POWER_USER_SHAPE_ICON&quot;,&quot;Value&quot;:&quot;POWER_USER_SHAPE_ICON_STYLE_1&quot;}">
                <a:extLst>
                  <a:ext uri="{FF2B5EF4-FFF2-40B4-BE49-F238E27FC236}">
                    <a16:creationId xmlns:a16="http://schemas.microsoft.com/office/drawing/2014/main" id="{AE2AF419-D1F8-585A-7700-F3AEF40CB698}"/>
                  </a:ext>
                </a:extLst>
              </p:cNvPr>
              <p:cNvSpPr>
                <a:spLocks noChangeAspect="1" noEditPoints="1"/>
              </p:cNvSpPr>
              <p:nvPr>
                <p:custDataLst>
                  <p:tags r:id="rId7"/>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nvGrpSpPr>
            <p:cNvPr id="195" name="Gruppieren 194" descr="{&quot;Key&quot;:&quot;POWER_USER_SHAPE_ICON&quot;,&quot;Value&quot;:&quot;POWER_USER_SHAPE_ICON_STYLE_2&quot;}">
              <a:extLst>
                <a:ext uri="{FF2B5EF4-FFF2-40B4-BE49-F238E27FC236}">
                  <a16:creationId xmlns:a16="http://schemas.microsoft.com/office/drawing/2014/main" id="{2B50C350-3C66-388B-9299-E1AFF32754A5}"/>
                </a:ext>
              </a:extLst>
            </p:cNvPr>
            <p:cNvGrpSpPr>
              <a:grpSpLocks noChangeAspect="1"/>
            </p:cNvGrpSpPr>
            <p:nvPr/>
          </p:nvGrpSpPr>
          <p:grpSpPr>
            <a:xfrm>
              <a:off x="10163830" y="2978390"/>
              <a:ext cx="431215" cy="466789"/>
              <a:chOff x="-127000" y="2990387"/>
              <a:chExt cx="762000" cy="762000"/>
            </a:xfrm>
          </p:grpSpPr>
          <p:sp>
            <p:nvSpPr>
              <p:cNvPr id="196" name="POWER_USER_SHAPE_ICON_STYLE_2">
                <a:extLst>
                  <a:ext uri="{FF2B5EF4-FFF2-40B4-BE49-F238E27FC236}">
                    <a16:creationId xmlns:a16="http://schemas.microsoft.com/office/drawing/2014/main" id="{512C85A4-1A40-6492-4178-EE0B7BEED6AF}"/>
                  </a:ext>
                </a:extLst>
              </p:cNvPr>
              <p:cNvSpPr/>
              <p:nvPr/>
            </p:nvSpPr>
            <p:spPr>
              <a:xfrm>
                <a:off x="-127000" y="2990387"/>
                <a:ext cx="762000" cy="762000"/>
              </a:xfrm>
              <a:prstGeom prst="ellipse">
                <a:avLst/>
              </a:prstGeom>
              <a:solidFill>
                <a:sysClr val="windowText" lastClr="000000">
                  <a:lumMod val="50000"/>
                  <a:lumOff val="50000"/>
                </a:sys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197" name="Car7" descr="{&quot;Key&quot;:&quot;POWER_USER_SHAPE_ICON&quot;,&quot;Value&quot;:&quot;POWER_USER_SHAPE_ICON_STYLE_1&quot;}">
                <a:extLst>
                  <a:ext uri="{FF2B5EF4-FFF2-40B4-BE49-F238E27FC236}">
                    <a16:creationId xmlns:a16="http://schemas.microsoft.com/office/drawing/2014/main" id="{18880424-6713-4A3D-5BFE-412AD5E6A72F}"/>
                  </a:ext>
                </a:extLst>
              </p:cNvPr>
              <p:cNvSpPr>
                <a:spLocks noChangeAspect="1" noEditPoints="1"/>
              </p:cNvSpPr>
              <p:nvPr>
                <p:custDataLst>
                  <p:tags r:id="rId6"/>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nvGrpSpPr>
            <p:cNvPr id="198" name="Gruppieren 197" descr="{&quot;Key&quot;:&quot;POWER_USER_SHAPE_ICON&quot;,&quot;Value&quot;:&quot;POWER_USER_SHAPE_ICON_STYLE_2&quot;}">
              <a:extLst>
                <a:ext uri="{FF2B5EF4-FFF2-40B4-BE49-F238E27FC236}">
                  <a16:creationId xmlns:a16="http://schemas.microsoft.com/office/drawing/2014/main" id="{096EA6E4-FEB4-AB67-8E19-5291E3EC33C2}"/>
                </a:ext>
              </a:extLst>
            </p:cNvPr>
            <p:cNvGrpSpPr>
              <a:grpSpLocks noChangeAspect="1"/>
            </p:cNvGrpSpPr>
            <p:nvPr/>
          </p:nvGrpSpPr>
          <p:grpSpPr>
            <a:xfrm>
              <a:off x="10927735" y="2883663"/>
              <a:ext cx="491198" cy="531720"/>
              <a:chOff x="288345" y="3340831"/>
              <a:chExt cx="762000" cy="762000"/>
            </a:xfrm>
          </p:grpSpPr>
          <p:sp>
            <p:nvSpPr>
              <p:cNvPr id="199" name="POWER_USER_SHAPE_ICON_STYLE_2">
                <a:extLst>
                  <a:ext uri="{FF2B5EF4-FFF2-40B4-BE49-F238E27FC236}">
                    <a16:creationId xmlns:a16="http://schemas.microsoft.com/office/drawing/2014/main" id="{E5C88478-BFFB-81C3-D319-D385D9DE69E6}"/>
                  </a:ext>
                </a:extLst>
              </p:cNvPr>
              <p:cNvSpPr/>
              <p:nvPr/>
            </p:nvSpPr>
            <p:spPr>
              <a:xfrm>
                <a:off x="288345" y="3340831"/>
                <a:ext cx="762000" cy="762000"/>
              </a:xfrm>
              <a:prstGeom prst="ellipse">
                <a:avLst/>
              </a:prstGeom>
              <a:solidFill>
                <a:srgbClr val="007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200" name="Electric_Car" descr="{&quot;Key&quot;:&quot;POWER_USER_SHAPE_ICON&quot;,&quot;Value&quot;:&quot;POWER_USER_SHAPE_ICON_STYLE_1&quot;}">
                <a:extLst>
                  <a:ext uri="{FF2B5EF4-FFF2-40B4-BE49-F238E27FC236}">
                    <a16:creationId xmlns:a16="http://schemas.microsoft.com/office/drawing/2014/main" id="{EB6E055C-5B2F-76F2-9AA6-23C624AD2495}"/>
                  </a:ext>
                </a:extLst>
              </p:cNvPr>
              <p:cNvSpPr>
                <a:spLocks noChangeAspect="1" noEditPoints="1"/>
              </p:cNvSpPr>
              <p:nvPr>
                <p:custDataLst>
                  <p:tags r:id="rId5"/>
                </p:custDataLst>
              </p:nvPr>
            </p:nvSpPr>
            <p:spPr bwMode="auto">
              <a:xfrm>
                <a:off x="415345" y="3593005"/>
                <a:ext cx="508000" cy="257651"/>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nvGrpSpPr>
            <p:cNvPr id="201" name="Gruppieren 200" descr="{&quot;Key&quot;:&quot;POWER_USER_SHAPE_ICON&quot;,&quot;Value&quot;:&quot;POWER_USER_SHAPE_ICON_STYLE_2&quot;}">
              <a:extLst>
                <a:ext uri="{FF2B5EF4-FFF2-40B4-BE49-F238E27FC236}">
                  <a16:creationId xmlns:a16="http://schemas.microsoft.com/office/drawing/2014/main" id="{E1A28AF3-4679-7734-A190-AE5C0603534C}"/>
                </a:ext>
              </a:extLst>
            </p:cNvPr>
            <p:cNvGrpSpPr>
              <a:grpSpLocks noChangeAspect="1"/>
            </p:cNvGrpSpPr>
            <p:nvPr/>
          </p:nvGrpSpPr>
          <p:grpSpPr>
            <a:xfrm>
              <a:off x="10575798" y="2963533"/>
              <a:ext cx="399034" cy="431954"/>
              <a:chOff x="-127000" y="2976049"/>
              <a:chExt cx="762000" cy="762000"/>
            </a:xfrm>
          </p:grpSpPr>
          <p:sp>
            <p:nvSpPr>
              <p:cNvPr id="202" name="POWER_USER_SHAPE_ICON_STYLE_2">
                <a:extLst>
                  <a:ext uri="{FF2B5EF4-FFF2-40B4-BE49-F238E27FC236}">
                    <a16:creationId xmlns:a16="http://schemas.microsoft.com/office/drawing/2014/main" id="{77DF51F0-3F9E-EE78-9C95-8DD5C1EFD2DA}"/>
                  </a:ext>
                </a:extLst>
              </p:cNvPr>
              <p:cNvSpPr/>
              <p:nvPr/>
            </p:nvSpPr>
            <p:spPr>
              <a:xfrm>
                <a:off x="-127000" y="2976049"/>
                <a:ext cx="762000" cy="762000"/>
              </a:xfrm>
              <a:prstGeom prst="ellipse">
                <a:avLst/>
              </a:prstGeom>
              <a:solidFill>
                <a:srgbClr val="FFFFFF">
                  <a:lumMod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914339">
                  <a:defRPr/>
                </a:pPr>
                <a:endParaRPr lang="de-DE" sz="1400" kern="0" noProof="1">
                  <a:solidFill>
                    <a:prstClr val="white"/>
                  </a:solidFill>
                  <a:latin typeface="Calibri" panose="020F0502020204030204"/>
                </a:endParaRPr>
              </a:p>
            </p:txBody>
          </p:sp>
          <p:sp>
            <p:nvSpPr>
              <p:cNvPr id="203" name="Scooter" descr="{&quot;Key&quot;:&quot;POWER_USER_SHAPE_ICON&quot;,&quot;Value&quot;:&quot;POWER_USER_SHAPE_ICON_STYLE_1&quot;}">
                <a:extLst>
                  <a:ext uri="{FF2B5EF4-FFF2-40B4-BE49-F238E27FC236}">
                    <a16:creationId xmlns:a16="http://schemas.microsoft.com/office/drawing/2014/main" id="{69EF38A8-F789-A309-E13C-5D2C273A5EDE}"/>
                  </a:ext>
                </a:extLst>
              </p:cNvPr>
              <p:cNvSpPr>
                <a:spLocks noChangeAspect="1" noEditPoints="1"/>
              </p:cNvSpPr>
              <p:nvPr>
                <p:custDataLst>
                  <p:tags r:id="rId4"/>
                </p:custDataLst>
              </p:nvPr>
            </p:nvSpPr>
            <p:spPr bwMode="auto">
              <a:xfrm>
                <a:off x="0" y="3157538"/>
                <a:ext cx="508000" cy="399021"/>
              </a:xfrm>
              <a:custGeom>
                <a:avLst/>
                <a:gdLst>
                  <a:gd name="T0" fmla="*/ 602 w 829"/>
                  <a:gd name="T1" fmla="*/ 522 h 650"/>
                  <a:gd name="T2" fmla="*/ 649 w 829"/>
                  <a:gd name="T3" fmla="*/ 462 h 650"/>
                  <a:gd name="T4" fmla="*/ 726 w 829"/>
                  <a:gd name="T5" fmla="*/ 522 h 650"/>
                  <a:gd name="T6" fmla="*/ 397 w 829"/>
                  <a:gd name="T7" fmla="*/ 484 h 650"/>
                  <a:gd name="T8" fmla="*/ 281 w 829"/>
                  <a:gd name="T9" fmla="*/ 367 h 650"/>
                  <a:gd name="T10" fmla="*/ 406 w 829"/>
                  <a:gd name="T11" fmla="*/ 484 h 650"/>
                  <a:gd name="T12" fmla="*/ 200 w 829"/>
                  <a:gd name="T13" fmla="*/ 584 h 650"/>
                  <a:gd name="T14" fmla="*/ 255 w 829"/>
                  <a:gd name="T15" fmla="*/ 550 h 650"/>
                  <a:gd name="T16" fmla="*/ 688 w 829"/>
                  <a:gd name="T17" fmla="*/ 345 h 650"/>
                  <a:gd name="T18" fmla="*/ 417 w 829"/>
                  <a:gd name="T19" fmla="*/ 0 h 650"/>
                  <a:gd name="T20" fmla="*/ 332 w 829"/>
                  <a:gd name="T21" fmla="*/ 34 h 650"/>
                  <a:gd name="T22" fmla="*/ 407 w 829"/>
                  <a:gd name="T23" fmla="*/ 67 h 650"/>
                  <a:gd name="T24" fmla="*/ 528 w 829"/>
                  <a:gd name="T25" fmla="*/ 430 h 650"/>
                  <a:gd name="T26" fmla="*/ 398 w 829"/>
                  <a:gd name="T27" fmla="*/ 274 h 650"/>
                  <a:gd name="T28" fmla="*/ 64 w 829"/>
                  <a:gd name="T29" fmla="*/ 307 h 650"/>
                  <a:gd name="T30" fmla="*/ 139 w 829"/>
                  <a:gd name="T31" fmla="*/ 341 h 650"/>
                  <a:gd name="T32" fmla="*/ 1 w 829"/>
                  <a:gd name="T33" fmla="*/ 511 h 650"/>
                  <a:gd name="T34" fmla="*/ 0 w 829"/>
                  <a:gd name="T35" fmla="*/ 518 h 650"/>
                  <a:gd name="T36" fmla="*/ 1 w 829"/>
                  <a:gd name="T37" fmla="*/ 526 h 650"/>
                  <a:gd name="T38" fmla="*/ 5 w 829"/>
                  <a:gd name="T39" fmla="*/ 533 h 650"/>
                  <a:gd name="T40" fmla="*/ 6 w 829"/>
                  <a:gd name="T41" fmla="*/ 536 h 650"/>
                  <a:gd name="T42" fmla="*/ 9 w 829"/>
                  <a:gd name="T43" fmla="*/ 540 h 650"/>
                  <a:gd name="T44" fmla="*/ 16 w 829"/>
                  <a:gd name="T45" fmla="*/ 545 h 650"/>
                  <a:gd name="T46" fmla="*/ 23 w 829"/>
                  <a:gd name="T47" fmla="*/ 548 h 650"/>
                  <a:gd name="T48" fmla="*/ 33 w 829"/>
                  <a:gd name="T49" fmla="*/ 550 h 650"/>
                  <a:gd name="T50" fmla="*/ 200 w 829"/>
                  <a:gd name="T51" fmla="*/ 650 h 650"/>
                  <a:gd name="T52" fmla="*/ 440 w 829"/>
                  <a:gd name="T53" fmla="*/ 550 h 650"/>
                  <a:gd name="T54" fmla="*/ 440 w 829"/>
                  <a:gd name="T55" fmla="*/ 550 h 650"/>
                  <a:gd name="T56" fmla="*/ 506 w 829"/>
                  <a:gd name="T57" fmla="*/ 550 h 650"/>
                  <a:gd name="T58" fmla="*/ 537 w 829"/>
                  <a:gd name="T59" fmla="*/ 536 h 650"/>
                  <a:gd name="T60" fmla="*/ 793 w 829"/>
                  <a:gd name="T61" fmla="*/ 522 h 650"/>
                  <a:gd name="T62" fmla="*/ 800 w 829"/>
                  <a:gd name="T63" fmla="*/ 516 h 650"/>
                  <a:gd name="T64" fmla="*/ 688 w 829"/>
                  <a:gd name="T65" fmla="*/ 345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29" h="650">
                    <a:moveTo>
                      <a:pt x="664" y="584"/>
                    </a:moveTo>
                    <a:cubicBezTo>
                      <a:pt x="630" y="584"/>
                      <a:pt x="602" y="556"/>
                      <a:pt x="602" y="522"/>
                    </a:cubicBezTo>
                    <a:cubicBezTo>
                      <a:pt x="602" y="508"/>
                      <a:pt x="607" y="495"/>
                      <a:pt x="615" y="484"/>
                    </a:cubicBezTo>
                    <a:lnTo>
                      <a:pt x="649" y="462"/>
                    </a:lnTo>
                    <a:cubicBezTo>
                      <a:pt x="654" y="461"/>
                      <a:pt x="659" y="460"/>
                      <a:pt x="664" y="460"/>
                    </a:cubicBezTo>
                    <a:cubicBezTo>
                      <a:pt x="698" y="460"/>
                      <a:pt x="726" y="488"/>
                      <a:pt x="726" y="522"/>
                    </a:cubicBezTo>
                    <a:cubicBezTo>
                      <a:pt x="726" y="556"/>
                      <a:pt x="698" y="584"/>
                      <a:pt x="664" y="584"/>
                    </a:cubicBezTo>
                    <a:close/>
                    <a:moveTo>
                      <a:pt x="397" y="484"/>
                    </a:moveTo>
                    <a:lnTo>
                      <a:pt x="90" y="484"/>
                    </a:lnTo>
                    <a:cubicBezTo>
                      <a:pt x="122" y="436"/>
                      <a:pt x="185" y="367"/>
                      <a:pt x="281" y="367"/>
                    </a:cubicBezTo>
                    <a:cubicBezTo>
                      <a:pt x="320" y="367"/>
                      <a:pt x="350" y="378"/>
                      <a:pt x="371" y="400"/>
                    </a:cubicBezTo>
                    <a:cubicBezTo>
                      <a:pt x="394" y="425"/>
                      <a:pt x="402" y="459"/>
                      <a:pt x="406" y="484"/>
                    </a:cubicBezTo>
                    <a:lnTo>
                      <a:pt x="397" y="484"/>
                    </a:lnTo>
                    <a:close/>
                    <a:moveTo>
                      <a:pt x="200" y="584"/>
                    </a:moveTo>
                    <a:cubicBezTo>
                      <a:pt x="176" y="584"/>
                      <a:pt x="156" y="570"/>
                      <a:pt x="145" y="550"/>
                    </a:cubicBezTo>
                    <a:lnTo>
                      <a:pt x="255" y="550"/>
                    </a:lnTo>
                    <a:cubicBezTo>
                      <a:pt x="244" y="570"/>
                      <a:pt x="224" y="584"/>
                      <a:pt x="200" y="584"/>
                    </a:cubicBezTo>
                    <a:close/>
                    <a:moveTo>
                      <a:pt x="688" y="345"/>
                    </a:moveTo>
                    <a:cubicBezTo>
                      <a:pt x="692" y="276"/>
                      <a:pt x="664" y="143"/>
                      <a:pt x="434" y="5"/>
                    </a:cubicBezTo>
                    <a:cubicBezTo>
                      <a:pt x="429" y="2"/>
                      <a:pt x="423" y="0"/>
                      <a:pt x="417" y="0"/>
                    </a:cubicBezTo>
                    <a:lnTo>
                      <a:pt x="365" y="0"/>
                    </a:lnTo>
                    <a:cubicBezTo>
                      <a:pt x="346" y="0"/>
                      <a:pt x="332" y="15"/>
                      <a:pt x="332" y="34"/>
                    </a:cubicBezTo>
                    <a:cubicBezTo>
                      <a:pt x="332" y="52"/>
                      <a:pt x="346" y="67"/>
                      <a:pt x="365" y="67"/>
                    </a:cubicBezTo>
                    <a:lnTo>
                      <a:pt x="407" y="67"/>
                    </a:lnTo>
                    <a:cubicBezTo>
                      <a:pt x="591" y="179"/>
                      <a:pt x="637" y="293"/>
                      <a:pt x="618" y="362"/>
                    </a:cubicBezTo>
                    <a:cubicBezTo>
                      <a:pt x="606" y="403"/>
                      <a:pt x="571" y="430"/>
                      <a:pt x="528" y="430"/>
                    </a:cubicBezTo>
                    <a:cubicBezTo>
                      <a:pt x="441" y="430"/>
                      <a:pt x="431" y="310"/>
                      <a:pt x="431" y="305"/>
                    </a:cubicBezTo>
                    <a:cubicBezTo>
                      <a:pt x="430" y="288"/>
                      <a:pt x="415" y="274"/>
                      <a:pt x="398" y="274"/>
                    </a:cubicBezTo>
                    <a:lnTo>
                      <a:pt x="98" y="274"/>
                    </a:lnTo>
                    <a:cubicBezTo>
                      <a:pt x="79" y="274"/>
                      <a:pt x="64" y="289"/>
                      <a:pt x="64" y="307"/>
                    </a:cubicBezTo>
                    <a:cubicBezTo>
                      <a:pt x="64" y="326"/>
                      <a:pt x="79" y="341"/>
                      <a:pt x="98" y="341"/>
                    </a:cubicBezTo>
                    <a:lnTo>
                      <a:pt x="139" y="341"/>
                    </a:lnTo>
                    <a:cubicBezTo>
                      <a:pt x="56" y="380"/>
                      <a:pt x="14" y="460"/>
                      <a:pt x="1" y="509"/>
                    </a:cubicBezTo>
                    <a:cubicBezTo>
                      <a:pt x="1" y="509"/>
                      <a:pt x="1" y="510"/>
                      <a:pt x="1" y="511"/>
                    </a:cubicBezTo>
                    <a:cubicBezTo>
                      <a:pt x="1" y="512"/>
                      <a:pt x="0" y="513"/>
                      <a:pt x="0" y="514"/>
                    </a:cubicBezTo>
                    <a:cubicBezTo>
                      <a:pt x="0" y="516"/>
                      <a:pt x="0" y="517"/>
                      <a:pt x="0" y="518"/>
                    </a:cubicBezTo>
                    <a:cubicBezTo>
                      <a:pt x="0" y="520"/>
                      <a:pt x="0" y="521"/>
                      <a:pt x="1" y="522"/>
                    </a:cubicBezTo>
                    <a:cubicBezTo>
                      <a:pt x="1" y="523"/>
                      <a:pt x="1" y="525"/>
                      <a:pt x="1" y="526"/>
                    </a:cubicBezTo>
                    <a:cubicBezTo>
                      <a:pt x="2" y="527"/>
                      <a:pt x="2" y="528"/>
                      <a:pt x="3" y="529"/>
                    </a:cubicBezTo>
                    <a:cubicBezTo>
                      <a:pt x="3" y="531"/>
                      <a:pt x="4" y="532"/>
                      <a:pt x="5" y="533"/>
                    </a:cubicBezTo>
                    <a:cubicBezTo>
                      <a:pt x="5" y="534"/>
                      <a:pt x="5" y="535"/>
                      <a:pt x="6" y="536"/>
                    </a:cubicBezTo>
                    <a:cubicBezTo>
                      <a:pt x="6" y="536"/>
                      <a:pt x="6" y="536"/>
                      <a:pt x="6" y="536"/>
                    </a:cubicBezTo>
                    <a:cubicBezTo>
                      <a:pt x="7" y="537"/>
                      <a:pt x="7" y="537"/>
                      <a:pt x="7" y="537"/>
                    </a:cubicBezTo>
                    <a:cubicBezTo>
                      <a:pt x="8" y="538"/>
                      <a:pt x="9" y="539"/>
                      <a:pt x="9" y="540"/>
                    </a:cubicBezTo>
                    <a:cubicBezTo>
                      <a:pt x="10" y="541"/>
                      <a:pt x="11" y="541"/>
                      <a:pt x="12" y="542"/>
                    </a:cubicBezTo>
                    <a:cubicBezTo>
                      <a:pt x="13" y="543"/>
                      <a:pt x="14" y="544"/>
                      <a:pt x="16" y="545"/>
                    </a:cubicBezTo>
                    <a:cubicBezTo>
                      <a:pt x="16" y="545"/>
                      <a:pt x="17" y="546"/>
                      <a:pt x="18" y="547"/>
                    </a:cubicBezTo>
                    <a:cubicBezTo>
                      <a:pt x="20" y="547"/>
                      <a:pt x="21" y="548"/>
                      <a:pt x="23" y="548"/>
                    </a:cubicBezTo>
                    <a:cubicBezTo>
                      <a:pt x="24" y="549"/>
                      <a:pt x="25" y="549"/>
                      <a:pt x="25" y="549"/>
                    </a:cubicBezTo>
                    <a:cubicBezTo>
                      <a:pt x="28" y="550"/>
                      <a:pt x="31" y="550"/>
                      <a:pt x="33" y="550"/>
                    </a:cubicBezTo>
                    <a:lnTo>
                      <a:pt x="75" y="550"/>
                    </a:lnTo>
                    <a:cubicBezTo>
                      <a:pt x="88" y="608"/>
                      <a:pt x="139" y="650"/>
                      <a:pt x="200" y="650"/>
                    </a:cubicBezTo>
                    <a:cubicBezTo>
                      <a:pt x="261" y="650"/>
                      <a:pt x="312" y="608"/>
                      <a:pt x="325" y="550"/>
                    </a:cubicBezTo>
                    <a:lnTo>
                      <a:pt x="440" y="550"/>
                    </a:lnTo>
                    <a:lnTo>
                      <a:pt x="440" y="550"/>
                    </a:lnTo>
                    <a:lnTo>
                      <a:pt x="440" y="550"/>
                    </a:lnTo>
                    <a:lnTo>
                      <a:pt x="441" y="550"/>
                    </a:lnTo>
                    <a:lnTo>
                      <a:pt x="506" y="550"/>
                    </a:lnTo>
                    <a:cubicBezTo>
                      <a:pt x="512" y="550"/>
                      <a:pt x="519" y="548"/>
                      <a:pt x="524" y="545"/>
                    </a:cubicBezTo>
                    <a:lnTo>
                      <a:pt x="537" y="536"/>
                    </a:lnTo>
                    <a:cubicBezTo>
                      <a:pt x="544" y="601"/>
                      <a:pt x="598" y="650"/>
                      <a:pt x="664" y="650"/>
                    </a:cubicBezTo>
                    <a:cubicBezTo>
                      <a:pt x="735" y="650"/>
                      <a:pt x="793" y="593"/>
                      <a:pt x="793" y="522"/>
                    </a:cubicBezTo>
                    <a:cubicBezTo>
                      <a:pt x="793" y="520"/>
                      <a:pt x="793" y="519"/>
                      <a:pt x="793" y="517"/>
                    </a:cubicBezTo>
                    <a:cubicBezTo>
                      <a:pt x="795" y="517"/>
                      <a:pt x="798" y="517"/>
                      <a:pt x="800" y="516"/>
                    </a:cubicBezTo>
                    <a:cubicBezTo>
                      <a:pt x="818" y="511"/>
                      <a:pt x="829" y="493"/>
                      <a:pt x="824" y="475"/>
                    </a:cubicBezTo>
                    <a:cubicBezTo>
                      <a:pt x="801" y="388"/>
                      <a:pt x="728" y="356"/>
                      <a:pt x="688" y="345"/>
                    </a:cubicBezTo>
                  </a:path>
                </a:pathLst>
              </a:custGeom>
              <a:solidFill>
                <a:srgbClr val="FFFFFF"/>
              </a:solidFill>
              <a:ln>
                <a:noFill/>
              </a:ln>
            </p:spPr>
            <p:txBody>
              <a:bodyPr vert="horz" wrap="square" lIns="91440" tIns="45720" rIns="91440" bIns="45720" numCol="1" anchor="t" anchorCtr="0" compatLnSpc="1">
                <a:prstTxWarp prst="textNoShape">
                  <a:avLst/>
                </a:prstTxWarp>
              </a:bodyPr>
              <a:lstStyle/>
              <a:p>
                <a:pPr defTabSz="914339">
                  <a:defRPr/>
                </a:pPr>
                <a:endParaRPr lang="de-DE" sz="1400" kern="0" noProof="1">
                  <a:solidFill>
                    <a:prstClr val="black"/>
                  </a:solidFill>
                  <a:latin typeface="Calibri" panose="020F0502020204030204"/>
                </a:endParaRPr>
              </a:p>
            </p:txBody>
          </p:sp>
        </p:grpSp>
        <p:grpSp>
          <p:nvGrpSpPr>
            <p:cNvPr id="204" name="Gruppieren 203">
              <a:extLst>
                <a:ext uri="{FF2B5EF4-FFF2-40B4-BE49-F238E27FC236}">
                  <a16:creationId xmlns:a16="http://schemas.microsoft.com/office/drawing/2014/main" id="{608ADDB7-6C30-7B78-A52E-A03DF36EBC01}"/>
                </a:ext>
              </a:extLst>
            </p:cNvPr>
            <p:cNvGrpSpPr/>
            <p:nvPr/>
          </p:nvGrpSpPr>
          <p:grpSpPr>
            <a:xfrm>
              <a:off x="4184947" y="3780435"/>
              <a:ext cx="7797407" cy="2552359"/>
              <a:chOff x="-1867537" y="3196157"/>
              <a:chExt cx="10122949" cy="3052877"/>
            </a:xfrm>
          </p:grpSpPr>
          <p:pic>
            <p:nvPicPr>
              <p:cNvPr id="205" name="Grafik 204">
                <a:extLst>
                  <a:ext uri="{FF2B5EF4-FFF2-40B4-BE49-F238E27FC236}">
                    <a16:creationId xmlns:a16="http://schemas.microsoft.com/office/drawing/2014/main" id="{66498968-17D5-61F5-4794-7E64C7976353}"/>
                  </a:ext>
                </a:extLst>
              </p:cNvPr>
              <p:cNvPicPr>
                <a:picLocks noChangeAspect="1"/>
              </p:cNvPicPr>
              <p:nvPr/>
            </p:nvPicPr>
            <p:blipFill rotWithShape="1">
              <a:blip r:embed="rId19"/>
              <a:srcRect l="2197" t="11209" r="1207" b="6594"/>
              <a:stretch/>
            </p:blipFill>
            <p:spPr>
              <a:xfrm>
                <a:off x="1649367" y="3414323"/>
                <a:ext cx="6433220" cy="145795"/>
              </a:xfrm>
              <a:prstGeom prst="rect">
                <a:avLst/>
              </a:prstGeom>
            </p:spPr>
          </p:pic>
          <p:grpSp>
            <p:nvGrpSpPr>
              <p:cNvPr id="206" name="Gruppieren 205">
                <a:extLst>
                  <a:ext uri="{FF2B5EF4-FFF2-40B4-BE49-F238E27FC236}">
                    <a16:creationId xmlns:a16="http://schemas.microsoft.com/office/drawing/2014/main" id="{5F987FE4-9AB1-DC68-B184-F03315BF1DD3}"/>
                  </a:ext>
                </a:extLst>
              </p:cNvPr>
              <p:cNvGrpSpPr/>
              <p:nvPr/>
            </p:nvGrpSpPr>
            <p:grpSpPr>
              <a:xfrm>
                <a:off x="1595420" y="5163261"/>
                <a:ext cx="6573292" cy="425214"/>
                <a:chOff x="1649367" y="5209065"/>
                <a:chExt cx="6036653" cy="425214"/>
              </a:xfrm>
            </p:grpSpPr>
            <p:pic>
              <p:nvPicPr>
                <p:cNvPr id="261" name="Grafik 260">
                  <a:extLst>
                    <a:ext uri="{FF2B5EF4-FFF2-40B4-BE49-F238E27FC236}">
                      <a16:creationId xmlns:a16="http://schemas.microsoft.com/office/drawing/2014/main" id="{FA13420B-8F9D-38E8-1A5B-0945A135B2ED}"/>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1649367" y="5209065"/>
                  <a:ext cx="572023" cy="425214"/>
                </a:xfrm>
                <a:prstGeom prst="rect">
                  <a:avLst/>
                </a:prstGeom>
              </p:spPr>
            </p:pic>
            <p:pic>
              <p:nvPicPr>
                <p:cNvPr id="262" name="Grafik 261">
                  <a:extLst>
                    <a:ext uri="{FF2B5EF4-FFF2-40B4-BE49-F238E27FC236}">
                      <a16:creationId xmlns:a16="http://schemas.microsoft.com/office/drawing/2014/main" id="{42774A60-6A6E-B47D-2764-356BF5D38F13}"/>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2642936" y="5209065"/>
                  <a:ext cx="572023" cy="425213"/>
                </a:xfrm>
                <a:prstGeom prst="rect">
                  <a:avLst/>
                </a:prstGeom>
              </p:spPr>
            </p:pic>
            <p:pic>
              <p:nvPicPr>
                <p:cNvPr id="263" name="Grafik 262">
                  <a:extLst>
                    <a:ext uri="{FF2B5EF4-FFF2-40B4-BE49-F238E27FC236}">
                      <a16:creationId xmlns:a16="http://schemas.microsoft.com/office/drawing/2014/main" id="{905F9186-78D0-430F-C3CC-090AADD60B86}"/>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3636505" y="5209067"/>
                  <a:ext cx="572023" cy="425212"/>
                </a:xfrm>
                <a:prstGeom prst="rect">
                  <a:avLst/>
                </a:prstGeom>
              </p:spPr>
            </p:pic>
            <p:pic>
              <p:nvPicPr>
                <p:cNvPr id="264" name="Grafik 263">
                  <a:extLst>
                    <a:ext uri="{FF2B5EF4-FFF2-40B4-BE49-F238E27FC236}">
                      <a16:creationId xmlns:a16="http://schemas.microsoft.com/office/drawing/2014/main" id="{B61C316A-E537-4C69-C912-592F50A044EB}"/>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4630075" y="5209067"/>
                  <a:ext cx="572023" cy="425210"/>
                </a:xfrm>
                <a:prstGeom prst="rect">
                  <a:avLst/>
                </a:prstGeom>
              </p:spPr>
            </p:pic>
            <p:pic>
              <p:nvPicPr>
                <p:cNvPr id="265" name="Grafik 264">
                  <a:extLst>
                    <a:ext uri="{FF2B5EF4-FFF2-40B4-BE49-F238E27FC236}">
                      <a16:creationId xmlns:a16="http://schemas.microsoft.com/office/drawing/2014/main" id="{9F925FAD-423F-22FA-0336-75C25C041EEA}"/>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5623644" y="5209070"/>
                  <a:ext cx="572023" cy="425208"/>
                </a:xfrm>
                <a:prstGeom prst="rect">
                  <a:avLst/>
                </a:prstGeom>
              </p:spPr>
            </p:pic>
            <p:pic>
              <p:nvPicPr>
                <p:cNvPr id="266" name="Grafik 265">
                  <a:extLst>
                    <a:ext uri="{FF2B5EF4-FFF2-40B4-BE49-F238E27FC236}">
                      <a16:creationId xmlns:a16="http://schemas.microsoft.com/office/drawing/2014/main" id="{F9FC0D5A-3CB5-5820-71AD-DADAE1EDE7E0}"/>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6617213" y="5209070"/>
                  <a:ext cx="572023" cy="425208"/>
                </a:xfrm>
                <a:prstGeom prst="rect">
                  <a:avLst/>
                </a:prstGeom>
              </p:spPr>
            </p:pic>
            <p:pic>
              <p:nvPicPr>
                <p:cNvPr id="267" name="Grafik 266">
                  <a:extLst>
                    <a:ext uri="{FF2B5EF4-FFF2-40B4-BE49-F238E27FC236}">
                      <a16:creationId xmlns:a16="http://schemas.microsoft.com/office/drawing/2014/main" id="{351145E8-EB37-110C-5CE8-6285E97D758E}"/>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2146152" y="5209065"/>
                  <a:ext cx="572023" cy="425214"/>
                </a:xfrm>
                <a:prstGeom prst="rect">
                  <a:avLst/>
                </a:prstGeom>
              </p:spPr>
            </p:pic>
            <p:pic>
              <p:nvPicPr>
                <p:cNvPr id="268" name="Grafik 267">
                  <a:extLst>
                    <a:ext uri="{FF2B5EF4-FFF2-40B4-BE49-F238E27FC236}">
                      <a16:creationId xmlns:a16="http://schemas.microsoft.com/office/drawing/2014/main" id="{6834B2D3-E116-8A1D-CF91-7CA8408D0F9F}"/>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3139721" y="5209067"/>
                  <a:ext cx="572023" cy="425212"/>
                </a:xfrm>
                <a:prstGeom prst="rect">
                  <a:avLst/>
                </a:prstGeom>
              </p:spPr>
            </p:pic>
            <p:pic>
              <p:nvPicPr>
                <p:cNvPr id="269" name="Grafik 268">
                  <a:extLst>
                    <a:ext uri="{FF2B5EF4-FFF2-40B4-BE49-F238E27FC236}">
                      <a16:creationId xmlns:a16="http://schemas.microsoft.com/office/drawing/2014/main" id="{E4DE54C2-C9BA-8154-CA05-4635BFE60021}"/>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4133290" y="5209067"/>
                  <a:ext cx="572023" cy="425210"/>
                </a:xfrm>
                <a:prstGeom prst="rect">
                  <a:avLst/>
                </a:prstGeom>
              </p:spPr>
            </p:pic>
            <p:pic>
              <p:nvPicPr>
                <p:cNvPr id="270" name="Grafik 269">
                  <a:extLst>
                    <a:ext uri="{FF2B5EF4-FFF2-40B4-BE49-F238E27FC236}">
                      <a16:creationId xmlns:a16="http://schemas.microsoft.com/office/drawing/2014/main" id="{51E88EEC-416D-7FD0-8D34-CE527E83AEEB}"/>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5126859" y="5209069"/>
                  <a:ext cx="572023" cy="425209"/>
                </a:xfrm>
                <a:prstGeom prst="rect">
                  <a:avLst/>
                </a:prstGeom>
              </p:spPr>
            </p:pic>
            <p:pic>
              <p:nvPicPr>
                <p:cNvPr id="271" name="Grafik 270">
                  <a:extLst>
                    <a:ext uri="{FF2B5EF4-FFF2-40B4-BE49-F238E27FC236}">
                      <a16:creationId xmlns:a16="http://schemas.microsoft.com/office/drawing/2014/main" id="{041C322E-0799-B05A-D6DF-A6009D4C4AE6}"/>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6120428" y="5209070"/>
                  <a:ext cx="572023" cy="425208"/>
                </a:xfrm>
                <a:prstGeom prst="rect">
                  <a:avLst/>
                </a:prstGeom>
              </p:spPr>
            </p:pic>
            <p:pic>
              <p:nvPicPr>
                <p:cNvPr id="272" name="Grafik 271">
                  <a:extLst>
                    <a:ext uri="{FF2B5EF4-FFF2-40B4-BE49-F238E27FC236}">
                      <a16:creationId xmlns:a16="http://schemas.microsoft.com/office/drawing/2014/main" id="{287FE247-FDFC-1BEE-4002-1FB8E246F577}"/>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0"/>
                    </a:ext>
                    <a:ext uri="{837473B0-CC2E-450A-ABE3-18F120FF3D39}">
                      <a1611:picAttrSrcUrl xmlns:a1611="http://schemas.microsoft.com/office/drawing/2016/11/main" r:id="rId21"/>
                    </a:ext>
                  </a:extLst>
                </a:blip>
                <a:srcRect r="56419"/>
                <a:stretch/>
              </p:blipFill>
              <p:spPr>
                <a:xfrm>
                  <a:off x="7113997" y="5209070"/>
                  <a:ext cx="572023" cy="425208"/>
                </a:xfrm>
                <a:prstGeom prst="rect">
                  <a:avLst/>
                </a:prstGeom>
              </p:spPr>
            </p:pic>
          </p:grpSp>
          <p:sp>
            <p:nvSpPr>
              <p:cNvPr id="207" name="Textfeld 206">
                <a:extLst>
                  <a:ext uri="{FF2B5EF4-FFF2-40B4-BE49-F238E27FC236}">
                    <a16:creationId xmlns:a16="http://schemas.microsoft.com/office/drawing/2014/main" id="{8ED4DB1E-5E91-678A-EBF5-B8883056D394}"/>
                  </a:ext>
                </a:extLst>
              </p:cNvPr>
              <p:cNvSpPr txBox="1"/>
              <p:nvPr/>
            </p:nvSpPr>
            <p:spPr>
              <a:xfrm>
                <a:off x="-1867537" y="3320417"/>
                <a:ext cx="3376526" cy="639688"/>
              </a:xfrm>
              <a:prstGeom prst="rect">
                <a:avLst/>
              </a:prstGeom>
              <a:noFill/>
            </p:spPr>
            <p:txBody>
              <a:bodyPr wrap="none" rtlCol="0">
                <a:spAutoFit/>
              </a:bodyPr>
              <a:lstStyle/>
              <a:p>
                <a:pPr algn="r" defTabSz="914339">
                  <a:defRPr/>
                </a:pPr>
                <a:r>
                  <a:rPr lang="de-DE" sz="1100" b="1" kern="0" noProof="1">
                    <a:solidFill>
                      <a:prstClr val="black"/>
                    </a:solidFill>
                    <a:latin typeface="Calibri" panose="020F0502020204030204"/>
                  </a:rPr>
                  <a:t>PE- und THG</a:t>
                </a:r>
              </a:p>
              <a:p>
                <a:pPr defTabSz="914339">
                  <a:defRPr/>
                </a:pPr>
                <a:r>
                  <a:rPr lang="de-DE" sz="1100" b="1" kern="0" noProof="1">
                    <a:solidFill>
                      <a:prstClr val="black"/>
                    </a:solidFill>
                    <a:latin typeface="Calibri" panose="020F0502020204030204"/>
                  </a:rPr>
                  <a:t>Konversionsfaktoren</a:t>
                </a:r>
              </a:p>
            </p:txBody>
          </p:sp>
          <p:sp>
            <p:nvSpPr>
              <p:cNvPr id="208" name="Rechteck 207">
                <a:extLst>
                  <a:ext uri="{FF2B5EF4-FFF2-40B4-BE49-F238E27FC236}">
                    <a16:creationId xmlns:a16="http://schemas.microsoft.com/office/drawing/2014/main" id="{881CBE16-FF3C-1383-B5C3-91A7B885BF9A}"/>
                  </a:ext>
                </a:extLst>
              </p:cNvPr>
              <p:cNvSpPr/>
              <p:nvPr/>
            </p:nvSpPr>
            <p:spPr>
              <a:xfrm>
                <a:off x="1595420" y="3196157"/>
                <a:ext cx="6659992" cy="3052877"/>
              </a:xfrm>
              <a:prstGeom prst="rect">
                <a:avLst/>
              </a:prstGeom>
              <a:noFill/>
              <a:ln w="12700" cap="flat" cmpd="sng" algn="ctr">
                <a:solidFill>
                  <a:srgbClr val="000000"/>
                </a:solidFill>
                <a:prstDash val="solid"/>
                <a:miter lim="800000"/>
              </a:ln>
              <a:effectLst/>
            </p:spPr>
            <p:txBody>
              <a:bodyPr rtlCol="0" anchor="ctr"/>
              <a:lstStyle/>
              <a:p>
                <a:pPr algn="ctr" defTabSz="914339">
                  <a:defRPr/>
                </a:pPr>
                <a:endParaRPr lang="de-DE" sz="1400" kern="0" noProof="1">
                  <a:solidFill>
                    <a:prstClr val="white"/>
                  </a:solidFill>
                  <a:latin typeface="Calibri" panose="020F0502020204030204"/>
                </a:endParaRPr>
              </a:p>
            </p:txBody>
          </p:sp>
          <p:grpSp>
            <p:nvGrpSpPr>
              <p:cNvPr id="209" name="Gruppieren 208">
                <a:extLst>
                  <a:ext uri="{FF2B5EF4-FFF2-40B4-BE49-F238E27FC236}">
                    <a16:creationId xmlns:a16="http://schemas.microsoft.com/office/drawing/2014/main" id="{9839DFDC-3F31-AE34-9166-E5AB56D36019}"/>
                  </a:ext>
                </a:extLst>
              </p:cNvPr>
              <p:cNvGrpSpPr/>
              <p:nvPr/>
            </p:nvGrpSpPr>
            <p:grpSpPr>
              <a:xfrm>
                <a:off x="1616143" y="3722531"/>
                <a:ext cx="6514770" cy="382499"/>
                <a:chOff x="1463995" y="3180169"/>
                <a:chExt cx="7671392" cy="1807396"/>
              </a:xfrm>
            </p:grpSpPr>
            <p:sp>
              <p:nvSpPr>
                <p:cNvPr id="249" name="Freihandform: Form 248">
                  <a:extLst>
                    <a:ext uri="{FF2B5EF4-FFF2-40B4-BE49-F238E27FC236}">
                      <a16:creationId xmlns:a16="http://schemas.microsoft.com/office/drawing/2014/main" id="{183BC5E7-4A46-8DC0-DBA7-5FC632A9D132}"/>
                    </a:ext>
                  </a:extLst>
                </p:cNvPr>
                <p:cNvSpPr/>
                <p:nvPr/>
              </p:nvSpPr>
              <p:spPr>
                <a:xfrm flipV="1">
                  <a:off x="1463995" y="3365677"/>
                  <a:ext cx="571104" cy="1621888"/>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0" name="Freihandform: Form 249">
                  <a:extLst>
                    <a:ext uri="{FF2B5EF4-FFF2-40B4-BE49-F238E27FC236}">
                      <a16:creationId xmlns:a16="http://schemas.microsoft.com/office/drawing/2014/main" id="{E2B9F61C-74AB-3BAD-7C84-26A3362B9037}"/>
                    </a:ext>
                  </a:extLst>
                </p:cNvPr>
                <p:cNvSpPr/>
                <p:nvPr/>
              </p:nvSpPr>
              <p:spPr>
                <a:xfrm flipV="1">
                  <a:off x="2109476" y="3495759"/>
                  <a:ext cx="571104" cy="1491806"/>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1" name="Freihandform: Form 250">
                  <a:extLst>
                    <a:ext uri="{FF2B5EF4-FFF2-40B4-BE49-F238E27FC236}">
                      <a16:creationId xmlns:a16="http://schemas.microsoft.com/office/drawing/2014/main" id="{5723E261-7395-A554-EF43-7D8C94A52BC8}"/>
                    </a:ext>
                  </a:extLst>
                </p:cNvPr>
                <p:cNvSpPr/>
                <p:nvPr/>
              </p:nvSpPr>
              <p:spPr>
                <a:xfrm flipV="1">
                  <a:off x="2754957" y="3495759"/>
                  <a:ext cx="571104" cy="1491806"/>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2" name="Freihandform: Form 251">
                  <a:extLst>
                    <a:ext uri="{FF2B5EF4-FFF2-40B4-BE49-F238E27FC236}">
                      <a16:creationId xmlns:a16="http://schemas.microsoft.com/office/drawing/2014/main" id="{EC66662E-0C78-4A1D-5E51-4BC00D90B4FB}"/>
                    </a:ext>
                  </a:extLst>
                </p:cNvPr>
                <p:cNvSpPr/>
                <p:nvPr/>
              </p:nvSpPr>
              <p:spPr>
                <a:xfrm flipV="1">
                  <a:off x="3400438" y="4191674"/>
                  <a:ext cx="571104" cy="795891"/>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3" name="Freihandform: Form 252">
                  <a:extLst>
                    <a:ext uri="{FF2B5EF4-FFF2-40B4-BE49-F238E27FC236}">
                      <a16:creationId xmlns:a16="http://schemas.microsoft.com/office/drawing/2014/main" id="{0DBBC84F-8507-32BA-C737-E56C29156056}"/>
                    </a:ext>
                  </a:extLst>
                </p:cNvPr>
                <p:cNvSpPr/>
                <p:nvPr/>
              </p:nvSpPr>
              <p:spPr>
                <a:xfrm flipV="1">
                  <a:off x="4045919" y="4580092"/>
                  <a:ext cx="571104" cy="407473"/>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4" name="Freihandform: Form 253">
                  <a:extLst>
                    <a:ext uri="{FF2B5EF4-FFF2-40B4-BE49-F238E27FC236}">
                      <a16:creationId xmlns:a16="http://schemas.microsoft.com/office/drawing/2014/main" id="{93D0ABB9-EF4D-5E53-E397-4E133783A1EA}"/>
                    </a:ext>
                  </a:extLst>
                </p:cNvPr>
                <p:cNvSpPr/>
                <p:nvPr/>
              </p:nvSpPr>
              <p:spPr>
                <a:xfrm flipV="1">
                  <a:off x="4691400" y="4580091"/>
                  <a:ext cx="571104" cy="407474"/>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5" name="Freihandform: Form 254">
                  <a:extLst>
                    <a:ext uri="{FF2B5EF4-FFF2-40B4-BE49-F238E27FC236}">
                      <a16:creationId xmlns:a16="http://schemas.microsoft.com/office/drawing/2014/main" id="{6ADDE3C8-7A89-A1C6-35DF-72087EE4989E}"/>
                    </a:ext>
                  </a:extLst>
                </p:cNvPr>
                <p:cNvSpPr/>
                <p:nvPr/>
              </p:nvSpPr>
              <p:spPr>
                <a:xfrm flipV="1">
                  <a:off x="5336881" y="4374921"/>
                  <a:ext cx="571104" cy="612644"/>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6" name="Freihandform: Form 255">
                  <a:extLst>
                    <a:ext uri="{FF2B5EF4-FFF2-40B4-BE49-F238E27FC236}">
                      <a16:creationId xmlns:a16="http://schemas.microsoft.com/office/drawing/2014/main" id="{ED4674F8-ED42-A0B4-3420-D3E4FC4779B1}"/>
                    </a:ext>
                  </a:extLst>
                </p:cNvPr>
                <p:cNvSpPr/>
                <p:nvPr/>
              </p:nvSpPr>
              <p:spPr>
                <a:xfrm flipV="1">
                  <a:off x="5982362" y="4191673"/>
                  <a:ext cx="571104" cy="795891"/>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7" name="Freihandform: Form 256">
                  <a:extLst>
                    <a:ext uri="{FF2B5EF4-FFF2-40B4-BE49-F238E27FC236}">
                      <a16:creationId xmlns:a16="http://schemas.microsoft.com/office/drawing/2014/main" id="{BF8DAF96-F729-0E24-ECAA-6759D1E25F74}"/>
                    </a:ext>
                  </a:extLst>
                </p:cNvPr>
                <p:cNvSpPr/>
                <p:nvPr/>
              </p:nvSpPr>
              <p:spPr>
                <a:xfrm flipV="1">
                  <a:off x="6627843" y="3778982"/>
                  <a:ext cx="571104" cy="1208583"/>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8" name="Freihandform: Form 257">
                  <a:extLst>
                    <a:ext uri="{FF2B5EF4-FFF2-40B4-BE49-F238E27FC236}">
                      <a16:creationId xmlns:a16="http://schemas.microsoft.com/office/drawing/2014/main" id="{2D5B833D-3AB6-171D-CAD9-DE9CFD5FBAF1}"/>
                    </a:ext>
                  </a:extLst>
                </p:cNvPr>
                <p:cNvSpPr/>
                <p:nvPr/>
              </p:nvSpPr>
              <p:spPr>
                <a:xfrm flipV="1">
                  <a:off x="7273324" y="3365677"/>
                  <a:ext cx="571104" cy="1621888"/>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59" name="Freihandform: Form 258">
                  <a:extLst>
                    <a:ext uri="{FF2B5EF4-FFF2-40B4-BE49-F238E27FC236}">
                      <a16:creationId xmlns:a16="http://schemas.microsoft.com/office/drawing/2014/main" id="{AB678FB7-9749-F81A-9004-A8E09E7BDE9E}"/>
                    </a:ext>
                  </a:extLst>
                </p:cNvPr>
                <p:cNvSpPr/>
                <p:nvPr/>
              </p:nvSpPr>
              <p:spPr>
                <a:xfrm flipV="1">
                  <a:off x="7918805" y="3381861"/>
                  <a:ext cx="571104" cy="1605704"/>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60" name="Freihandform: Form 259">
                  <a:extLst>
                    <a:ext uri="{FF2B5EF4-FFF2-40B4-BE49-F238E27FC236}">
                      <a16:creationId xmlns:a16="http://schemas.microsoft.com/office/drawing/2014/main" id="{F95B0C1E-8649-9048-8F36-F4223FB94BC8}"/>
                    </a:ext>
                  </a:extLst>
                </p:cNvPr>
                <p:cNvSpPr/>
                <p:nvPr/>
              </p:nvSpPr>
              <p:spPr>
                <a:xfrm flipV="1">
                  <a:off x="8564283" y="3180169"/>
                  <a:ext cx="571104" cy="1807395"/>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solidFill>
                  <a:srgbClr val="950F53"/>
                </a:solid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grpSp>
          <p:grpSp>
            <p:nvGrpSpPr>
              <p:cNvPr id="210" name="Gruppieren 209">
                <a:extLst>
                  <a:ext uri="{FF2B5EF4-FFF2-40B4-BE49-F238E27FC236}">
                    <a16:creationId xmlns:a16="http://schemas.microsoft.com/office/drawing/2014/main" id="{159068E7-1BC9-B8D4-9977-A4FD8AFD676E}"/>
                  </a:ext>
                </a:extLst>
              </p:cNvPr>
              <p:cNvGrpSpPr/>
              <p:nvPr/>
            </p:nvGrpSpPr>
            <p:grpSpPr>
              <a:xfrm flipV="1">
                <a:off x="1616143" y="4172051"/>
                <a:ext cx="6529637" cy="382499"/>
                <a:chOff x="1463995" y="3180169"/>
                <a:chExt cx="7671392" cy="1807396"/>
              </a:xfrm>
              <a:solidFill>
                <a:srgbClr val="5FB564">
                  <a:lumMod val="60000"/>
                  <a:lumOff val="40000"/>
                </a:srgbClr>
              </a:solidFill>
            </p:grpSpPr>
            <p:sp>
              <p:nvSpPr>
                <p:cNvPr id="237" name="Freihandform: Form 236">
                  <a:extLst>
                    <a:ext uri="{FF2B5EF4-FFF2-40B4-BE49-F238E27FC236}">
                      <a16:creationId xmlns:a16="http://schemas.microsoft.com/office/drawing/2014/main" id="{78283D47-62D0-823B-CF1B-5B9245504FC9}"/>
                    </a:ext>
                  </a:extLst>
                </p:cNvPr>
                <p:cNvSpPr/>
                <p:nvPr/>
              </p:nvSpPr>
              <p:spPr>
                <a:xfrm flipV="1">
                  <a:off x="1463995" y="3365677"/>
                  <a:ext cx="571104" cy="1621888"/>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8" name="Freihandform: Form 237">
                  <a:extLst>
                    <a:ext uri="{FF2B5EF4-FFF2-40B4-BE49-F238E27FC236}">
                      <a16:creationId xmlns:a16="http://schemas.microsoft.com/office/drawing/2014/main" id="{8F61C3BE-F91F-415E-7D7B-42380AF04204}"/>
                    </a:ext>
                  </a:extLst>
                </p:cNvPr>
                <p:cNvSpPr/>
                <p:nvPr/>
              </p:nvSpPr>
              <p:spPr>
                <a:xfrm flipV="1">
                  <a:off x="2109476" y="3495759"/>
                  <a:ext cx="571104" cy="1491806"/>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9" name="Freihandform: Form 238">
                  <a:extLst>
                    <a:ext uri="{FF2B5EF4-FFF2-40B4-BE49-F238E27FC236}">
                      <a16:creationId xmlns:a16="http://schemas.microsoft.com/office/drawing/2014/main" id="{2A6BFF34-F2D7-5245-7BD8-997C4195147A}"/>
                    </a:ext>
                  </a:extLst>
                </p:cNvPr>
                <p:cNvSpPr/>
                <p:nvPr/>
              </p:nvSpPr>
              <p:spPr>
                <a:xfrm flipV="1">
                  <a:off x="2754957" y="3495759"/>
                  <a:ext cx="571104" cy="1491806"/>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0" name="Freihandform: Form 239">
                  <a:extLst>
                    <a:ext uri="{FF2B5EF4-FFF2-40B4-BE49-F238E27FC236}">
                      <a16:creationId xmlns:a16="http://schemas.microsoft.com/office/drawing/2014/main" id="{D5A72472-0B59-322D-36A5-DA4C7529E0E5}"/>
                    </a:ext>
                  </a:extLst>
                </p:cNvPr>
                <p:cNvSpPr/>
                <p:nvPr/>
              </p:nvSpPr>
              <p:spPr>
                <a:xfrm flipV="1">
                  <a:off x="3400438" y="4191674"/>
                  <a:ext cx="571104" cy="795891"/>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1" name="Freihandform: Form 240">
                  <a:extLst>
                    <a:ext uri="{FF2B5EF4-FFF2-40B4-BE49-F238E27FC236}">
                      <a16:creationId xmlns:a16="http://schemas.microsoft.com/office/drawing/2014/main" id="{FB3CFB08-ADEF-91F7-8B8E-A9A55E856F5D}"/>
                    </a:ext>
                  </a:extLst>
                </p:cNvPr>
                <p:cNvSpPr/>
                <p:nvPr/>
              </p:nvSpPr>
              <p:spPr>
                <a:xfrm flipV="1">
                  <a:off x="4045919" y="4580092"/>
                  <a:ext cx="571104" cy="407473"/>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2" name="Freihandform: Form 241">
                  <a:extLst>
                    <a:ext uri="{FF2B5EF4-FFF2-40B4-BE49-F238E27FC236}">
                      <a16:creationId xmlns:a16="http://schemas.microsoft.com/office/drawing/2014/main" id="{4921A916-C167-6C93-B2F6-179FC51E26D2}"/>
                    </a:ext>
                  </a:extLst>
                </p:cNvPr>
                <p:cNvSpPr/>
                <p:nvPr/>
              </p:nvSpPr>
              <p:spPr>
                <a:xfrm flipV="1">
                  <a:off x="4691400" y="4580091"/>
                  <a:ext cx="571104" cy="407474"/>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3" name="Freihandform: Form 242">
                  <a:extLst>
                    <a:ext uri="{FF2B5EF4-FFF2-40B4-BE49-F238E27FC236}">
                      <a16:creationId xmlns:a16="http://schemas.microsoft.com/office/drawing/2014/main" id="{158308E9-2CF5-25F9-1E60-EE58C61E3CDE}"/>
                    </a:ext>
                  </a:extLst>
                </p:cNvPr>
                <p:cNvSpPr/>
                <p:nvPr/>
              </p:nvSpPr>
              <p:spPr>
                <a:xfrm flipV="1">
                  <a:off x="5336881" y="4374921"/>
                  <a:ext cx="571104" cy="612644"/>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4" name="Freihandform: Form 243">
                  <a:extLst>
                    <a:ext uri="{FF2B5EF4-FFF2-40B4-BE49-F238E27FC236}">
                      <a16:creationId xmlns:a16="http://schemas.microsoft.com/office/drawing/2014/main" id="{1BFB87E8-CB96-70E4-C36E-5D03F7CB8A93}"/>
                    </a:ext>
                  </a:extLst>
                </p:cNvPr>
                <p:cNvSpPr/>
                <p:nvPr/>
              </p:nvSpPr>
              <p:spPr>
                <a:xfrm flipV="1">
                  <a:off x="5982362" y="4191673"/>
                  <a:ext cx="571104" cy="795891"/>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5" name="Freihandform: Form 244">
                  <a:extLst>
                    <a:ext uri="{FF2B5EF4-FFF2-40B4-BE49-F238E27FC236}">
                      <a16:creationId xmlns:a16="http://schemas.microsoft.com/office/drawing/2014/main" id="{578FBE45-CDAF-E6F2-12A0-1E51A3EC899C}"/>
                    </a:ext>
                  </a:extLst>
                </p:cNvPr>
                <p:cNvSpPr/>
                <p:nvPr/>
              </p:nvSpPr>
              <p:spPr>
                <a:xfrm flipV="1">
                  <a:off x="6627843" y="3778982"/>
                  <a:ext cx="571104" cy="1208583"/>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6" name="Freihandform: Form 245">
                  <a:extLst>
                    <a:ext uri="{FF2B5EF4-FFF2-40B4-BE49-F238E27FC236}">
                      <a16:creationId xmlns:a16="http://schemas.microsoft.com/office/drawing/2014/main" id="{B52BC782-954A-5DFE-C338-0D1338E7E92F}"/>
                    </a:ext>
                  </a:extLst>
                </p:cNvPr>
                <p:cNvSpPr/>
                <p:nvPr/>
              </p:nvSpPr>
              <p:spPr>
                <a:xfrm flipV="1">
                  <a:off x="7273324" y="3365677"/>
                  <a:ext cx="571104" cy="1621888"/>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7" name="Freihandform: Form 246">
                  <a:extLst>
                    <a:ext uri="{FF2B5EF4-FFF2-40B4-BE49-F238E27FC236}">
                      <a16:creationId xmlns:a16="http://schemas.microsoft.com/office/drawing/2014/main" id="{F8ABF64A-B26F-9C7E-86B5-12459BE68FFE}"/>
                    </a:ext>
                  </a:extLst>
                </p:cNvPr>
                <p:cNvSpPr/>
                <p:nvPr/>
              </p:nvSpPr>
              <p:spPr>
                <a:xfrm flipV="1">
                  <a:off x="7918805" y="3381861"/>
                  <a:ext cx="571104" cy="1605704"/>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48" name="Freihandform: Form 247">
                  <a:extLst>
                    <a:ext uri="{FF2B5EF4-FFF2-40B4-BE49-F238E27FC236}">
                      <a16:creationId xmlns:a16="http://schemas.microsoft.com/office/drawing/2014/main" id="{0E57900D-B278-2992-C6D2-2D2DF07C4070}"/>
                    </a:ext>
                  </a:extLst>
                </p:cNvPr>
                <p:cNvSpPr/>
                <p:nvPr/>
              </p:nvSpPr>
              <p:spPr>
                <a:xfrm flipV="1">
                  <a:off x="8564283" y="3180169"/>
                  <a:ext cx="571104" cy="1807395"/>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grpSp>
          <p:grpSp>
            <p:nvGrpSpPr>
              <p:cNvPr id="211" name="Gruppieren 210">
                <a:extLst>
                  <a:ext uri="{FF2B5EF4-FFF2-40B4-BE49-F238E27FC236}">
                    <a16:creationId xmlns:a16="http://schemas.microsoft.com/office/drawing/2014/main" id="{1862B475-4017-5F7D-4F7F-6AC6228F2467}"/>
                  </a:ext>
                </a:extLst>
              </p:cNvPr>
              <p:cNvGrpSpPr/>
              <p:nvPr/>
            </p:nvGrpSpPr>
            <p:grpSpPr>
              <a:xfrm>
                <a:off x="1608592" y="5036077"/>
                <a:ext cx="6514770" cy="99255"/>
                <a:chOff x="1463995" y="4518563"/>
                <a:chExt cx="7671392" cy="469002"/>
              </a:xfrm>
              <a:solidFill>
                <a:srgbClr val="BCCF00"/>
              </a:solidFill>
            </p:grpSpPr>
            <p:sp>
              <p:nvSpPr>
                <p:cNvPr id="225" name="Freihandform: Form 224">
                  <a:extLst>
                    <a:ext uri="{FF2B5EF4-FFF2-40B4-BE49-F238E27FC236}">
                      <a16:creationId xmlns:a16="http://schemas.microsoft.com/office/drawing/2014/main" id="{2C917411-5263-89BB-68F3-702CE2CB9CD8}"/>
                    </a:ext>
                  </a:extLst>
                </p:cNvPr>
                <p:cNvSpPr/>
                <p:nvPr/>
              </p:nvSpPr>
              <p:spPr>
                <a:xfrm flipV="1">
                  <a:off x="1463995" y="4566694"/>
                  <a:ext cx="571104" cy="420866"/>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26" name="Freihandform: Form 225">
                  <a:extLst>
                    <a:ext uri="{FF2B5EF4-FFF2-40B4-BE49-F238E27FC236}">
                      <a16:creationId xmlns:a16="http://schemas.microsoft.com/office/drawing/2014/main" id="{5F6B398E-0163-2D89-2BD2-B062F4FE6767}"/>
                    </a:ext>
                  </a:extLst>
                </p:cNvPr>
                <p:cNvSpPr/>
                <p:nvPr/>
              </p:nvSpPr>
              <p:spPr>
                <a:xfrm flipV="1">
                  <a:off x="2109475" y="4600447"/>
                  <a:ext cx="571104" cy="387113"/>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27" name="Freihandform: Form 226">
                  <a:extLst>
                    <a:ext uri="{FF2B5EF4-FFF2-40B4-BE49-F238E27FC236}">
                      <a16:creationId xmlns:a16="http://schemas.microsoft.com/office/drawing/2014/main" id="{334FD973-E6A7-8CCA-161B-F5A934C54E56}"/>
                    </a:ext>
                  </a:extLst>
                </p:cNvPr>
                <p:cNvSpPr/>
                <p:nvPr/>
              </p:nvSpPr>
              <p:spPr>
                <a:xfrm flipV="1">
                  <a:off x="2754957" y="4600447"/>
                  <a:ext cx="571104" cy="387113"/>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28" name="Freihandform: Form 227">
                  <a:extLst>
                    <a:ext uri="{FF2B5EF4-FFF2-40B4-BE49-F238E27FC236}">
                      <a16:creationId xmlns:a16="http://schemas.microsoft.com/office/drawing/2014/main" id="{AAD749D1-4E0C-E075-E58D-AA1BBE4227E0}"/>
                    </a:ext>
                  </a:extLst>
                </p:cNvPr>
                <p:cNvSpPr/>
                <p:nvPr/>
              </p:nvSpPr>
              <p:spPr>
                <a:xfrm flipV="1">
                  <a:off x="3400438" y="4729162"/>
                  <a:ext cx="571104" cy="258397"/>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29" name="Freihandform: Form 228">
                  <a:extLst>
                    <a:ext uri="{FF2B5EF4-FFF2-40B4-BE49-F238E27FC236}">
                      <a16:creationId xmlns:a16="http://schemas.microsoft.com/office/drawing/2014/main" id="{4C21FBAA-6D22-9325-F44D-F3AAB781864D}"/>
                    </a:ext>
                  </a:extLst>
                </p:cNvPr>
                <p:cNvSpPr/>
                <p:nvPr/>
              </p:nvSpPr>
              <p:spPr>
                <a:xfrm flipV="1">
                  <a:off x="4045920" y="4729162"/>
                  <a:ext cx="571104" cy="258397"/>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0" name="Freihandform: Form 229">
                  <a:extLst>
                    <a:ext uri="{FF2B5EF4-FFF2-40B4-BE49-F238E27FC236}">
                      <a16:creationId xmlns:a16="http://schemas.microsoft.com/office/drawing/2014/main" id="{2158CF03-B094-5169-AA9C-162E078A5A5A}"/>
                    </a:ext>
                  </a:extLst>
                </p:cNvPr>
                <p:cNvSpPr/>
                <p:nvPr/>
              </p:nvSpPr>
              <p:spPr>
                <a:xfrm flipV="1">
                  <a:off x="4691400" y="4729162"/>
                  <a:ext cx="571104" cy="258397"/>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1" name="Freihandform: Form 230">
                  <a:extLst>
                    <a:ext uri="{FF2B5EF4-FFF2-40B4-BE49-F238E27FC236}">
                      <a16:creationId xmlns:a16="http://schemas.microsoft.com/office/drawing/2014/main" id="{C4433BFB-B4AC-80E7-71E0-79022E77D899}"/>
                    </a:ext>
                  </a:extLst>
                </p:cNvPr>
                <p:cNvSpPr/>
                <p:nvPr/>
              </p:nvSpPr>
              <p:spPr>
                <a:xfrm flipV="1">
                  <a:off x="5336881" y="4729162"/>
                  <a:ext cx="571104" cy="258397"/>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2" name="Freihandform: Form 231">
                  <a:extLst>
                    <a:ext uri="{FF2B5EF4-FFF2-40B4-BE49-F238E27FC236}">
                      <a16:creationId xmlns:a16="http://schemas.microsoft.com/office/drawing/2014/main" id="{E90B0353-018E-291B-A8B8-ED6D8A0FD961}"/>
                    </a:ext>
                  </a:extLst>
                </p:cNvPr>
                <p:cNvSpPr/>
                <p:nvPr/>
              </p:nvSpPr>
              <p:spPr>
                <a:xfrm flipV="1">
                  <a:off x="5982362" y="4729156"/>
                  <a:ext cx="571104" cy="258397"/>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3" name="Freihandform: Form 232">
                  <a:extLst>
                    <a:ext uri="{FF2B5EF4-FFF2-40B4-BE49-F238E27FC236}">
                      <a16:creationId xmlns:a16="http://schemas.microsoft.com/office/drawing/2014/main" id="{8FD68FAB-5D42-6D5E-CFBD-7397719F4C39}"/>
                    </a:ext>
                  </a:extLst>
                </p:cNvPr>
                <p:cNvSpPr/>
                <p:nvPr/>
              </p:nvSpPr>
              <p:spPr>
                <a:xfrm flipV="1">
                  <a:off x="6627843" y="4673943"/>
                  <a:ext cx="571104" cy="313616"/>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4" name="Freihandform: Form 233">
                  <a:extLst>
                    <a:ext uri="{FF2B5EF4-FFF2-40B4-BE49-F238E27FC236}">
                      <a16:creationId xmlns:a16="http://schemas.microsoft.com/office/drawing/2014/main" id="{E68FC7BD-52D0-81B8-91A2-E95FB7A38D65}"/>
                    </a:ext>
                  </a:extLst>
                </p:cNvPr>
                <p:cNvSpPr/>
                <p:nvPr/>
              </p:nvSpPr>
              <p:spPr>
                <a:xfrm flipV="1">
                  <a:off x="7273323" y="4566694"/>
                  <a:ext cx="571104" cy="420866"/>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5" name="Freihandform: Form 234">
                  <a:extLst>
                    <a:ext uri="{FF2B5EF4-FFF2-40B4-BE49-F238E27FC236}">
                      <a16:creationId xmlns:a16="http://schemas.microsoft.com/office/drawing/2014/main" id="{6FAC047E-0E97-2569-AAC8-9E1798ECFC72}"/>
                    </a:ext>
                  </a:extLst>
                </p:cNvPr>
                <p:cNvSpPr/>
                <p:nvPr/>
              </p:nvSpPr>
              <p:spPr>
                <a:xfrm flipV="1">
                  <a:off x="7918805" y="4570899"/>
                  <a:ext cx="571104" cy="416666"/>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sp>
              <p:nvSpPr>
                <p:cNvPr id="236" name="Freihandform: Form 235">
                  <a:extLst>
                    <a:ext uri="{FF2B5EF4-FFF2-40B4-BE49-F238E27FC236}">
                      <a16:creationId xmlns:a16="http://schemas.microsoft.com/office/drawing/2014/main" id="{0F859BCC-002E-C8E9-F0F3-7D2D0063D856}"/>
                    </a:ext>
                  </a:extLst>
                </p:cNvPr>
                <p:cNvSpPr/>
                <p:nvPr/>
              </p:nvSpPr>
              <p:spPr>
                <a:xfrm flipV="1">
                  <a:off x="8564283" y="4518563"/>
                  <a:ext cx="571104" cy="469002"/>
                </a:xfrm>
                <a:custGeom>
                  <a:avLst/>
                  <a:gdLst>
                    <a:gd name="connsiteX0" fmla="*/ 238655 w 571104"/>
                    <a:gd name="connsiteY0" fmla="*/ 1615309 h 1621888"/>
                    <a:gd name="connsiteX1" fmla="*/ 157546 w 571104"/>
                    <a:gd name="connsiteY1" fmla="*/ 1577674 h 1621888"/>
                    <a:gd name="connsiteX2" fmla="*/ 126486 w 571104"/>
                    <a:gd name="connsiteY2" fmla="*/ 1528063 h 1621888"/>
                    <a:gd name="connsiteX3" fmla="*/ 121456 w 571104"/>
                    <a:gd name="connsiteY3" fmla="*/ 1485723 h 1621888"/>
                    <a:gd name="connsiteX4" fmla="*/ 124851 w 571104"/>
                    <a:gd name="connsiteY4" fmla="*/ 1445735 h 1621888"/>
                    <a:gd name="connsiteX5" fmla="*/ 138558 w 571104"/>
                    <a:gd name="connsiteY5" fmla="*/ 1413445 h 1621888"/>
                    <a:gd name="connsiteX6" fmla="*/ 166349 w 571104"/>
                    <a:gd name="connsiteY6" fmla="*/ 1378162 h 1621888"/>
                    <a:gd name="connsiteX7" fmla="*/ 179930 w 571104"/>
                    <a:gd name="connsiteY7" fmla="*/ 1364476 h 1621888"/>
                    <a:gd name="connsiteX8" fmla="*/ 199295 w 571104"/>
                    <a:gd name="connsiteY8" fmla="*/ 1219707 h 1621888"/>
                    <a:gd name="connsiteX9" fmla="*/ 193133 w 571104"/>
                    <a:gd name="connsiteY9" fmla="*/ 1162826 h 1621888"/>
                    <a:gd name="connsiteX10" fmla="*/ 147486 w 571104"/>
                    <a:gd name="connsiteY10" fmla="*/ 1157052 h 1621888"/>
                    <a:gd name="connsiteX11" fmla="*/ 12431 w 571104"/>
                    <a:gd name="connsiteY11" fmla="*/ 1137379 h 1621888"/>
                    <a:gd name="connsiteX12" fmla="*/ 3880 w 571104"/>
                    <a:gd name="connsiteY12" fmla="*/ 1128398 h 1621888"/>
                    <a:gd name="connsiteX13" fmla="*/ -18 w 571104"/>
                    <a:gd name="connsiteY13" fmla="*/ 1121341 h 1621888"/>
                    <a:gd name="connsiteX14" fmla="*/ 1114 w 571104"/>
                    <a:gd name="connsiteY14" fmla="*/ 872219 h 1621888"/>
                    <a:gd name="connsiteX15" fmla="*/ -2282 w 571104"/>
                    <a:gd name="connsiteY15" fmla="*/ 106675 h 1621888"/>
                    <a:gd name="connsiteX16" fmla="*/ 3754 w 571104"/>
                    <a:gd name="connsiteY16" fmla="*/ 45090 h 1621888"/>
                    <a:gd name="connsiteX17" fmla="*/ 70779 w 571104"/>
                    <a:gd name="connsiteY17" fmla="*/ 16008 h 1621888"/>
                    <a:gd name="connsiteX18" fmla="*/ 352584 w 571104"/>
                    <a:gd name="connsiteY18" fmla="*/ -2596 h 1621888"/>
                    <a:gd name="connsiteX19" fmla="*/ 482609 w 571104"/>
                    <a:gd name="connsiteY19" fmla="*/ 14725 h 1621888"/>
                    <a:gd name="connsiteX20" fmla="*/ 541712 w 571104"/>
                    <a:gd name="connsiteY20" fmla="*/ 33115 h 1621888"/>
                    <a:gd name="connsiteX21" fmla="*/ 558688 w 571104"/>
                    <a:gd name="connsiteY21" fmla="*/ 60059 h 1621888"/>
                    <a:gd name="connsiteX22" fmla="*/ 564975 w 571104"/>
                    <a:gd name="connsiteY22" fmla="*/ 560014 h 1621888"/>
                    <a:gd name="connsiteX23" fmla="*/ 567993 w 571104"/>
                    <a:gd name="connsiteY23" fmla="*/ 981277 h 1621888"/>
                    <a:gd name="connsiteX24" fmla="*/ 567616 w 571104"/>
                    <a:gd name="connsiteY24" fmla="*/ 1115995 h 1621888"/>
                    <a:gd name="connsiteX25" fmla="*/ 533286 w 571104"/>
                    <a:gd name="connsiteY25" fmla="*/ 1135027 h 1621888"/>
                    <a:gd name="connsiteX26" fmla="*/ 409046 w 571104"/>
                    <a:gd name="connsiteY26" fmla="*/ 1151920 h 1621888"/>
                    <a:gd name="connsiteX27" fmla="*/ 385279 w 571104"/>
                    <a:gd name="connsiteY27" fmla="*/ 1153417 h 1621888"/>
                    <a:gd name="connsiteX28" fmla="*/ 382261 w 571104"/>
                    <a:gd name="connsiteY28" fmla="*/ 1169455 h 1621888"/>
                    <a:gd name="connsiteX29" fmla="*/ 378991 w 571104"/>
                    <a:gd name="connsiteY29" fmla="*/ 1307809 h 1621888"/>
                    <a:gd name="connsiteX30" fmla="*/ 408668 w 571104"/>
                    <a:gd name="connsiteY30" fmla="*/ 1378376 h 1621888"/>
                    <a:gd name="connsiteX31" fmla="*/ 430675 w 571104"/>
                    <a:gd name="connsiteY31" fmla="*/ 1405747 h 1621888"/>
                    <a:gd name="connsiteX32" fmla="*/ 448154 w 571104"/>
                    <a:gd name="connsiteY32" fmla="*/ 1476314 h 1621888"/>
                    <a:gd name="connsiteX33" fmla="*/ 434824 w 571104"/>
                    <a:gd name="connsiteY33" fmla="*/ 1551585 h 1621888"/>
                    <a:gd name="connsiteX34" fmla="*/ 371321 w 571104"/>
                    <a:gd name="connsiteY34" fmla="*/ 1600341 h 1621888"/>
                    <a:gd name="connsiteX35" fmla="*/ 238655 w 571104"/>
                    <a:gd name="connsiteY35" fmla="*/ 1615309 h 1621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71104" h="1621888">
                      <a:moveTo>
                        <a:pt x="238655" y="1615309"/>
                      </a:moveTo>
                      <a:cubicBezTo>
                        <a:pt x="204577" y="1609322"/>
                        <a:pt x="179175" y="1597561"/>
                        <a:pt x="157546" y="1577674"/>
                      </a:cubicBezTo>
                      <a:cubicBezTo>
                        <a:pt x="141450" y="1563133"/>
                        <a:pt x="132774" y="1549233"/>
                        <a:pt x="126486" y="1528063"/>
                      </a:cubicBezTo>
                      <a:cubicBezTo>
                        <a:pt x="121456" y="1510956"/>
                        <a:pt x="121456" y="1510742"/>
                        <a:pt x="121456" y="1485723"/>
                      </a:cubicBezTo>
                      <a:cubicBezTo>
                        <a:pt x="121456" y="1463270"/>
                        <a:pt x="121708" y="1458993"/>
                        <a:pt x="124851" y="1445735"/>
                      </a:cubicBezTo>
                      <a:cubicBezTo>
                        <a:pt x="127744" y="1433118"/>
                        <a:pt x="130007" y="1427773"/>
                        <a:pt x="138558" y="1413445"/>
                      </a:cubicBezTo>
                      <a:cubicBezTo>
                        <a:pt x="151133" y="1392275"/>
                        <a:pt x="152265" y="1390778"/>
                        <a:pt x="166349" y="1378162"/>
                      </a:cubicBezTo>
                      <a:cubicBezTo>
                        <a:pt x="172636" y="1372388"/>
                        <a:pt x="178672" y="1366401"/>
                        <a:pt x="179930" y="1364476"/>
                      </a:cubicBezTo>
                      <a:cubicBezTo>
                        <a:pt x="193133" y="1344803"/>
                        <a:pt x="200804" y="1287066"/>
                        <a:pt x="199295" y="1219707"/>
                      </a:cubicBezTo>
                      <a:cubicBezTo>
                        <a:pt x="198541" y="1188487"/>
                        <a:pt x="196529" y="1170097"/>
                        <a:pt x="193133" y="1162826"/>
                      </a:cubicBezTo>
                      <a:cubicBezTo>
                        <a:pt x="191750" y="1159832"/>
                        <a:pt x="185211" y="1158977"/>
                        <a:pt x="147486" y="1157052"/>
                      </a:cubicBezTo>
                      <a:cubicBezTo>
                        <a:pt x="88384" y="1153845"/>
                        <a:pt x="29533" y="1145291"/>
                        <a:pt x="12431" y="1137379"/>
                      </a:cubicBezTo>
                      <a:cubicBezTo>
                        <a:pt x="9916" y="1136310"/>
                        <a:pt x="6018" y="1132247"/>
                        <a:pt x="3880" y="1128398"/>
                      </a:cubicBezTo>
                      <a:lnTo>
                        <a:pt x="-18" y="1121341"/>
                      </a:lnTo>
                      <a:lnTo>
                        <a:pt x="1114" y="872219"/>
                      </a:lnTo>
                      <a:cubicBezTo>
                        <a:pt x="2120" y="635285"/>
                        <a:pt x="359" y="236048"/>
                        <a:pt x="-2282" y="106675"/>
                      </a:cubicBezTo>
                      <a:cubicBezTo>
                        <a:pt x="-3162" y="63908"/>
                        <a:pt x="-2407" y="56423"/>
                        <a:pt x="3754" y="45090"/>
                      </a:cubicBezTo>
                      <a:cubicBezTo>
                        <a:pt x="12305" y="29693"/>
                        <a:pt x="24126" y="24561"/>
                        <a:pt x="70779" y="16008"/>
                      </a:cubicBezTo>
                      <a:cubicBezTo>
                        <a:pt x="154780" y="398"/>
                        <a:pt x="268583" y="-7087"/>
                        <a:pt x="352584" y="-2596"/>
                      </a:cubicBezTo>
                      <a:cubicBezTo>
                        <a:pt x="408920" y="398"/>
                        <a:pt x="432309" y="3605"/>
                        <a:pt x="482609" y="14725"/>
                      </a:cubicBezTo>
                      <a:cubicBezTo>
                        <a:pt x="524861" y="23920"/>
                        <a:pt x="527125" y="24775"/>
                        <a:pt x="541712" y="33115"/>
                      </a:cubicBezTo>
                      <a:cubicBezTo>
                        <a:pt x="553029" y="39744"/>
                        <a:pt x="557556" y="47014"/>
                        <a:pt x="558688" y="60059"/>
                      </a:cubicBezTo>
                      <a:cubicBezTo>
                        <a:pt x="560574" y="83795"/>
                        <a:pt x="563215" y="294426"/>
                        <a:pt x="564975" y="560014"/>
                      </a:cubicBezTo>
                      <a:cubicBezTo>
                        <a:pt x="565981" y="720607"/>
                        <a:pt x="567365" y="910068"/>
                        <a:pt x="567993" y="981277"/>
                      </a:cubicBezTo>
                      <a:cubicBezTo>
                        <a:pt x="568748" y="1076221"/>
                        <a:pt x="568748" y="1112146"/>
                        <a:pt x="567616" y="1115995"/>
                      </a:cubicBezTo>
                      <a:cubicBezTo>
                        <a:pt x="565856" y="1122624"/>
                        <a:pt x="554161" y="1129040"/>
                        <a:pt x="533286" y="1135027"/>
                      </a:cubicBezTo>
                      <a:cubicBezTo>
                        <a:pt x="516687" y="1139945"/>
                        <a:pt x="445765" y="1149568"/>
                        <a:pt x="409046" y="1151920"/>
                      </a:cubicBezTo>
                      <a:lnTo>
                        <a:pt x="385279" y="1153417"/>
                      </a:lnTo>
                      <a:lnTo>
                        <a:pt x="382261" y="1169455"/>
                      </a:lnTo>
                      <a:cubicBezTo>
                        <a:pt x="376854" y="1199179"/>
                        <a:pt x="375093" y="1270173"/>
                        <a:pt x="378991" y="1307809"/>
                      </a:cubicBezTo>
                      <a:cubicBezTo>
                        <a:pt x="383015" y="1348011"/>
                        <a:pt x="388297" y="1360413"/>
                        <a:pt x="408668" y="1378376"/>
                      </a:cubicBezTo>
                      <a:cubicBezTo>
                        <a:pt x="420237" y="1388640"/>
                        <a:pt x="423884" y="1393131"/>
                        <a:pt x="430675" y="1405747"/>
                      </a:cubicBezTo>
                      <a:cubicBezTo>
                        <a:pt x="442998" y="1428414"/>
                        <a:pt x="446519" y="1442955"/>
                        <a:pt x="448154" y="1476314"/>
                      </a:cubicBezTo>
                      <a:cubicBezTo>
                        <a:pt x="449537" y="1506251"/>
                        <a:pt x="444633" y="1533623"/>
                        <a:pt x="434824" y="1551585"/>
                      </a:cubicBezTo>
                      <a:cubicBezTo>
                        <a:pt x="426776" y="1566126"/>
                        <a:pt x="397980" y="1588152"/>
                        <a:pt x="371321" y="1600341"/>
                      </a:cubicBezTo>
                      <a:cubicBezTo>
                        <a:pt x="337997" y="1615523"/>
                        <a:pt x="277763" y="1622152"/>
                        <a:pt x="238655" y="1615309"/>
                      </a:cubicBezTo>
                      <a:close/>
                    </a:path>
                  </a:pathLst>
                </a:custGeom>
                <a:grpFill/>
                <a:ln w="54" cap="flat">
                  <a:noFill/>
                  <a:prstDash val="solid"/>
                  <a:miter/>
                </a:ln>
              </p:spPr>
              <p:txBody>
                <a:bodyPr rtlCol="0" anchor="ctr"/>
                <a:lstStyle/>
                <a:p>
                  <a:pPr defTabSz="914339">
                    <a:defRPr/>
                  </a:pPr>
                  <a:endParaRPr lang="de-DE" sz="1400" kern="0" noProof="1">
                    <a:solidFill>
                      <a:srgbClr val="000000"/>
                    </a:solidFill>
                    <a:latin typeface="Calibri" panose="020F0502020204030204"/>
                  </a:endParaRPr>
                </a:p>
              </p:txBody>
            </p:sp>
          </p:grpSp>
          <p:grpSp>
            <p:nvGrpSpPr>
              <p:cNvPr id="212" name="Gruppieren 211">
                <a:extLst>
                  <a:ext uri="{FF2B5EF4-FFF2-40B4-BE49-F238E27FC236}">
                    <a16:creationId xmlns:a16="http://schemas.microsoft.com/office/drawing/2014/main" id="{65DE5A79-DD81-3498-B93C-4DC269058ACA}"/>
                  </a:ext>
                </a:extLst>
              </p:cNvPr>
              <p:cNvGrpSpPr/>
              <p:nvPr/>
            </p:nvGrpSpPr>
            <p:grpSpPr>
              <a:xfrm>
                <a:off x="1595420" y="5709463"/>
                <a:ext cx="6575267" cy="203657"/>
                <a:chOff x="1649367" y="5209065"/>
                <a:chExt cx="6036653" cy="425214"/>
              </a:xfrm>
              <a:solidFill>
                <a:srgbClr val="F59C00">
                  <a:lumMod val="60000"/>
                  <a:lumOff val="40000"/>
                </a:srgbClr>
              </a:solidFill>
            </p:grpSpPr>
            <p:pic>
              <p:nvPicPr>
                <p:cNvPr id="213" name="Grafik 212">
                  <a:extLst>
                    <a:ext uri="{FF2B5EF4-FFF2-40B4-BE49-F238E27FC236}">
                      <a16:creationId xmlns:a16="http://schemas.microsoft.com/office/drawing/2014/main" id="{48C8956D-16CF-3613-C185-00634136929C}"/>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1649367" y="5209065"/>
                  <a:ext cx="572023" cy="425214"/>
                </a:xfrm>
                <a:prstGeom prst="rect">
                  <a:avLst/>
                </a:prstGeom>
              </p:spPr>
            </p:pic>
            <p:pic>
              <p:nvPicPr>
                <p:cNvPr id="214" name="Grafik 213">
                  <a:extLst>
                    <a:ext uri="{FF2B5EF4-FFF2-40B4-BE49-F238E27FC236}">
                      <a16:creationId xmlns:a16="http://schemas.microsoft.com/office/drawing/2014/main" id="{3DCCB97E-2737-8798-F3A6-50E93EA5517B}"/>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2642936" y="5209065"/>
                  <a:ext cx="572023" cy="425213"/>
                </a:xfrm>
                <a:prstGeom prst="rect">
                  <a:avLst/>
                </a:prstGeom>
              </p:spPr>
            </p:pic>
            <p:pic>
              <p:nvPicPr>
                <p:cNvPr id="215" name="Grafik 214">
                  <a:extLst>
                    <a:ext uri="{FF2B5EF4-FFF2-40B4-BE49-F238E27FC236}">
                      <a16:creationId xmlns:a16="http://schemas.microsoft.com/office/drawing/2014/main" id="{7A759FA5-DF39-C102-81D7-F1F4EE1A032C}"/>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3636505" y="5209067"/>
                  <a:ext cx="572023" cy="425212"/>
                </a:xfrm>
                <a:prstGeom prst="rect">
                  <a:avLst/>
                </a:prstGeom>
              </p:spPr>
            </p:pic>
            <p:pic>
              <p:nvPicPr>
                <p:cNvPr id="216" name="Grafik 215">
                  <a:extLst>
                    <a:ext uri="{FF2B5EF4-FFF2-40B4-BE49-F238E27FC236}">
                      <a16:creationId xmlns:a16="http://schemas.microsoft.com/office/drawing/2014/main" id="{76B662DE-670D-6501-6E65-2900A768C9E4}"/>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4630075" y="5209067"/>
                  <a:ext cx="572023" cy="425210"/>
                </a:xfrm>
                <a:prstGeom prst="rect">
                  <a:avLst/>
                </a:prstGeom>
              </p:spPr>
            </p:pic>
            <p:pic>
              <p:nvPicPr>
                <p:cNvPr id="217" name="Grafik 216">
                  <a:extLst>
                    <a:ext uri="{FF2B5EF4-FFF2-40B4-BE49-F238E27FC236}">
                      <a16:creationId xmlns:a16="http://schemas.microsoft.com/office/drawing/2014/main" id="{1D4F93EA-D89A-3A0B-BF33-27C9069CA79D}"/>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5623644" y="5209070"/>
                  <a:ext cx="572023" cy="425208"/>
                </a:xfrm>
                <a:prstGeom prst="rect">
                  <a:avLst/>
                </a:prstGeom>
              </p:spPr>
            </p:pic>
            <p:pic>
              <p:nvPicPr>
                <p:cNvPr id="218" name="Grafik 217">
                  <a:extLst>
                    <a:ext uri="{FF2B5EF4-FFF2-40B4-BE49-F238E27FC236}">
                      <a16:creationId xmlns:a16="http://schemas.microsoft.com/office/drawing/2014/main" id="{8CD6562F-BDD2-858A-F894-4399491FD612}"/>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6617213" y="5209070"/>
                  <a:ext cx="572023" cy="425208"/>
                </a:xfrm>
                <a:prstGeom prst="rect">
                  <a:avLst/>
                </a:prstGeom>
              </p:spPr>
            </p:pic>
            <p:pic>
              <p:nvPicPr>
                <p:cNvPr id="219" name="Grafik 218">
                  <a:extLst>
                    <a:ext uri="{FF2B5EF4-FFF2-40B4-BE49-F238E27FC236}">
                      <a16:creationId xmlns:a16="http://schemas.microsoft.com/office/drawing/2014/main" id="{288501F8-DDC9-386A-5E7C-3E7C5E9DC95C}"/>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2146152" y="5209065"/>
                  <a:ext cx="572023" cy="425214"/>
                </a:xfrm>
                <a:prstGeom prst="rect">
                  <a:avLst/>
                </a:prstGeom>
              </p:spPr>
            </p:pic>
            <p:pic>
              <p:nvPicPr>
                <p:cNvPr id="220" name="Grafik 219">
                  <a:extLst>
                    <a:ext uri="{FF2B5EF4-FFF2-40B4-BE49-F238E27FC236}">
                      <a16:creationId xmlns:a16="http://schemas.microsoft.com/office/drawing/2014/main" id="{E69CF3C1-E24A-5FE5-8E22-34883B7F424A}"/>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3139721" y="5209067"/>
                  <a:ext cx="572023" cy="425212"/>
                </a:xfrm>
                <a:prstGeom prst="rect">
                  <a:avLst/>
                </a:prstGeom>
              </p:spPr>
            </p:pic>
            <p:pic>
              <p:nvPicPr>
                <p:cNvPr id="221" name="Grafik 220">
                  <a:extLst>
                    <a:ext uri="{FF2B5EF4-FFF2-40B4-BE49-F238E27FC236}">
                      <a16:creationId xmlns:a16="http://schemas.microsoft.com/office/drawing/2014/main" id="{9DED77A0-E19A-5D6D-E19D-4652EBD622FC}"/>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4133290" y="5209067"/>
                  <a:ext cx="572023" cy="425210"/>
                </a:xfrm>
                <a:prstGeom prst="rect">
                  <a:avLst/>
                </a:prstGeom>
              </p:spPr>
            </p:pic>
            <p:pic>
              <p:nvPicPr>
                <p:cNvPr id="222" name="Grafik 221">
                  <a:extLst>
                    <a:ext uri="{FF2B5EF4-FFF2-40B4-BE49-F238E27FC236}">
                      <a16:creationId xmlns:a16="http://schemas.microsoft.com/office/drawing/2014/main" id="{FB251156-4D17-D8D9-FD95-6EEFC1D7184D}"/>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5126859" y="5209069"/>
                  <a:ext cx="572023" cy="425209"/>
                </a:xfrm>
                <a:prstGeom prst="rect">
                  <a:avLst/>
                </a:prstGeom>
              </p:spPr>
            </p:pic>
            <p:pic>
              <p:nvPicPr>
                <p:cNvPr id="223" name="Grafik 222">
                  <a:extLst>
                    <a:ext uri="{FF2B5EF4-FFF2-40B4-BE49-F238E27FC236}">
                      <a16:creationId xmlns:a16="http://schemas.microsoft.com/office/drawing/2014/main" id="{06914E1C-D3F6-004A-ABDE-25F0B80E3A95}"/>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6120428" y="5209070"/>
                  <a:ext cx="572023" cy="425208"/>
                </a:xfrm>
                <a:prstGeom prst="rect">
                  <a:avLst/>
                </a:prstGeom>
              </p:spPr>
            </p:pic>
            <p:pic>
              <p:nvPicPr>
                <p:cNvPr id="224" name="Grafik 223">
                  <a:extLst>
                    <a:ext uri="{FF2B5EF4-FFF2-40B4-BE49-F238E27FC236}">
                      <a16:creationId xmlns:a16="http://schemas.microsoft.com/office/drawing/2014/main" id="{728D13F7-3DE9-B38D-D719-48258DB51C35}"/>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2"/>
                    </a:ext>
                    <a:ext uri="{837473B0-CC2E-450A-ABE3-18F120FF3D39}">
                      <a1611:picAttrSrcUrl xmlns:a1611="http://schemas.microsoft.com/office/drawing/2016/11/main" r:id="rId21"/>
                    </a:ext>
                  </a:extLst>
                </a:blip>
                <a:srcRect r="56419"/>
                <a:stretch/>
              </p:blipFill>
              <p:spPr>
                <a:xfrm>
                  <a:off x="7113997" y="5209070"/>
                  <a:ext cx="572023" cy="425208"/>
                </a:xfrm>
                <a:prstGeom prst="rect">
                  <a:avLst/>
                </a:prstGeom>
              </p:spPr>
            </p:pic>
          </p:grpSp>
        </p:grpSp>
        <p:sp>
          <p:nvSpPr>
            <p:cNvPr id="273" name="Textfeld 272">
              <a:extLst>
                <a:ext uri="{FF2B5EF4-FFF2-40B4-BE49-F238E27FC236}">
                  <a16:creationId xmlns:a16="http://schemas.microsoft.com/office/drawing/2014/main" id="{19EE2921-D9FA-1C2E-DEA1-8D10ED93925E}"/>
                </a:ext>
              </a:extLst>
            </p:cNvPr>
            <p:cNvSpPr txBox="1"/>
            <p:nvPr/>
          </p:nvSpPr>
          <p:spPr>
            <a:xfrm>
              <a:off x="4257612" y="4316028"/>
              <a:ext cx="2636301" cy="1585334"/>
            </a:xfrm>
            <a:prstGeom prst="rect">
              <a:avLst/>
            </a:prstGeom>
            <a:noFill/>
          </p:spPr>
          <p:txBody>
            <a:bodyPr wrap="square" rtlCol="0">
              <a:spAutoFit/>
            </a:bodyPr>
            <a:lstStyle/>
            <a:p>
              <a:pPr algn="r" defTabSz="914339">
                <a:defRPr/>
              </a:pPr>
              <a:r>
                <a:rPr lang="de-DE" sz="1100" noProof="1">
                  <a:solidFill>
                    <a:prstClr val="black"/>
                  </a:solidFill>
                  <a:latin typeface="Calibri" panose="020F0502020204030204"/>
                </a:rPr>
                <a:t>Netzstrom</a:t>
              </a:r>
            </a:p>
            <a:p>
              <a:pPr algn="r" defTabSz="914339">
                <a:defRPr/>
              </a:pPr>
              <a:r>
                <a:rPr lang="de-DE" sz="1100" noProof="1">
                  <a:solidFill>
                    <a:prstClr val="black"/>
                  </a:solidFill>
                  <a:latin typeface="Calibri" panose="020F0502020204030204"/>
                </a:rPr>
                <a:t>Netzsubstitution</a:t>
              </a:r>
            </a:p>
            <a:p>
              <a:pPr algn="r" defTabSz="914339">
                <a:defRPr/>
              </a:pPr>
              <a:br>
                <a:rPr lang="de-DE" sz="1100" noProof="1">
                  <a:solidFill>
                    <a:prstClr val="black"/>
                  </a:solidFill>
                  <a:latin typeface="Calibri" panose="020F0502020204030204"/>
                </a:rPr>
              </a:br>
              <a:r>
                <a:rPr lang="de-DE" sz="1100" noProof="1">
                  <a:solidFill>
                    <a:prstClr val="black"/>
                  </a:solidFill>
                  <a:latin typeface="Calibri" panose="020F0502020204030204"/>
                </a:rPr>
                <a:t>Flexible Netznutzung (niedrigere Faktoren)</a:t>
              </a:r>
            </a:p>
            <a:p>
              <a:pPr algn="r" defTabSz="914339">
                <a:defRPr/>
              </a:pPr>
              <a:r>
                <a:rPr lang="de-DE" sz="1100" noProof="1">
                  <a:solidFill>
                    <a:prstClr val="black"/>
                  </a:solidFill>
                  <a:latin typeface="Calibri" panose="020F0502020204030204"/>
                </a:rPr>
                <a:t>Fernwärme (Jährlich)</a:t>
              </a:r>
            </a:p>
            <a:p>
              <a:pPr algn="r" defTabSz="914339">
                <a:defRPr/>
              </a:pPr>
              <a:r>
                <a:rPr lang="de-DE" sz="1100" noProof="1">
                  <a:solidFill>
                    <a:prstClr val="black"/>
                  </a:solidFill>
                  <a:latin typeface="Calibri" panose="020F0502020204030204"/>
                </a:rPr>
                <a:t>Abwärme (Jährlich)</a:t>
              </a:r>
            </a:p>
          </p:txBody>
        </p:sp>
      </p:grpSp>
      <p:pic>
        <p:nvPicPr>
          <p:cNvPr id="7" name="Grafik 6" descr="Ein Bild, das Text, Screenshot, Schrift enthält.&#10;&#10;KI-generierte Inhalte können fehlerhaft sein.">
            <a:extLst>
              <a:ext uri="{FF2B5EF4-FFF2-40B4-BE49-F238E27FC236}">
                <a16:creationId xmlns:a16="http://schemas.microsoft.com/office/drawing/2014/main" id="{4F806ABE-CF6B-EB02-61D0-181B8BA25FDE}"/>
              </a:ext>
            </a:extLst>
          </p:cNvPr>
          <p:cNvPicPr>
            <a:picLocks noChangeAspect="1"/>
          </p:cNvPicPr>
          <p:nvPr/>
        </p:nvPicPr>
        <p:blipFill>
          <a:blip r:embed="rId23"/>
          <a:stretch>
            <a:fillRect/>
          </a:stretch>
        </p:blipFill>
        <p:spPr>
          <a:xfrm>
            <a:off x="129423" y="3954832"/>
            <a:ext cx="5229047" cy="2187736"/>
          </a:xfrm>
          <a:prstGeom prst="rect">
            <a:avLst/>
          </a:prstGeom>
        </p:spPr>
      </p:pic>
    </p:spTree>
    <p:extLst>
      <p:ext uri="{BB962C8B-B14F-4D97-AF65-F5344CB8AC3E}">
        <p14:creationId xmlns:p14="http://schemas.microsoft.com/office/powerpoint/2010/main" val="31574109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FEEA1F-ADEC-5E97-AFA3-27C4EDDD026F}"/>
              </a:ext>
            </a:extLst>
          </p:cNvPr>
          <p:cNvSpPr>
            <a:spLocks noGrp="1"/>
          </p:cNvSpPr>
          <p:nvPr>
            <p:ph type="title"/>
          </p:nvPr>
        </p:nvSpPr>
        <p:spPr>
          <a:xfrm>
            <a:off x="720002" y="1406526"/>
            <a:ext cx="10638033" cy="829455"/>
          </a:xfrm>
        </p:spPr>
        <p:txBody>
          <a:bodyPr/>
          <a:lstStyle/>
          <a:p>
            <a:r>
              <a:rPr lang="de-DE" dirty="0"/>
              <a:t>Treibhausgas-Bilanz</a:t>
            </a:r>
          </a:p>
        </p:txBody>
      </p:sp>
      <p:sp>
        <p:nvSpPr>
          <p:cNvPr id="8" name="Textplatzhalter 7">
            <a:extLst>
              <a:ext uri="{FF2B5EF4-FFF2-40B4-BE49-F238E27FC236}">
                <a16:creationId xmlns:a16="http://schemas.microsoft.com/office/drawing/2014/main" id="{9354885B-2B02-E61A-1135-A49F502DB18C}"/>
              </a:ext>
            </a:extLst>
          </p:cNvPr>
          <p:cNvSpPr>
            <a:spLocks noGrp="1"/>
          </p:cNvSpPr>
          <p:nvPr>
            <p:ph type="body" sz="quarter" idx="13"/>
          </p:nvPr>
        </p:nvSpPr>
        <p:spPr>
          <a:xfrm>
            <a:off x="719670" y="2164801"/>
            <a:ext cx="6096000" cy="3977767"/>
          </a:xfrm>
        </p:spPr>
        <p:txBody>
          <a:bodyPr/>
          <a:lstStyle/>
          <a:p>
            <a:pPr>
              <a:spcAft>
                <a:spcPts val="0"/>
              </a:spcAft>
            </a:pPr>
            <a:r>
              <a:rPr lang="de-DE" dirty="0"/>
              <a:t>Ziel: </a:t>
            </a:r>
            <a:r>
              <a:rPr lang="de-DE" spc="-1" dirty="0">
                <a:solidFill>
                  <a:srgbClr val="26434F"/>
                </a:solidFill>
                <a:ea typeface="Arial"/>
              </a:rPr>
              <a:t>Vereinbarkeit mit den Klimazielen 2040/2050 durch vollständige Bilanzierung aller klimawirksamen Emissionen eines Quartiers ü.d. Lebenszyklus</a:t>
            </a:r>
          </a:p>
          <a:p>
            <a:pPr>
              <a:spcBef>
                <a:spcPts val="1200"/>
              </a:spcBef>
              <a:spcAft>
                <a:spcPts val="0"/>
              </a:spcAft>
            </a:pPr>
            <a:r>
              <a:rPr lang="de-DE" spc="-1" dirty="0">
                <a:solidFill>
                  <a:srgbClr val="26434F"/>
                </a:solidFill>
              </a:rPr>
              <a:t>Inkludiert: Errichtung, Betrieb und Instandsetzung bis 2050</a:t>
            </a:r>
          </a:p>
          <a:p>
            <a:pPr>
              <a:spcBef>
                <a:spcPts val="1200"/>
              </a:spcBef>
              <a:spcAft>
                <a:spcPts val="0"/>
              </a:spcAft>
            </a:pPr>
            <a:r>
              <a:rPr lang="de-DE" spc="-1" dirty="0">
                <a:solidFill>
                  <a:srgbClr val="26434F"/>
                </a:solidFill>
              </a:rPr>
              <a:t>Nicht inkludiert: Graue Energie von Erneuerbare Erzeugungsanlagen</a:t>
            </a:r>
          </a:p>
          <a:p>
            <a:pPr>
              <a:spcBef>
                <a:spcPts val="1200"/>
              </a:spcBef>
              <a:spcAft>
                <a:spcPts val="0"/>
              </a:spcAft>
            </a:pPr>
            <a:r>
              <a:rPr lang="de-DE" spc="-1" dirty="0">
                <a:solidFill>
                  <a:srgbClr val="26434F"/>
                </a:solidFill>
              </a:rPr>
              <a:t>Budget (2025-2075): </a:t>
            </a:r>
            <a:r>
              <a:rPr lang="de-DE" b="1" spc="-1" dirty="0">
                <a:solidFill>
                  <a:schemeClr val="accent5"/>
                </a:solidFill>
                <a:ea typeface="Arial"/>
              </a:rPr>
              <a:t>320 kg</a:t>
            </a:r>
            <a:r>
              <a:rPr lang="de-DE" b="1" spc="-1" baseline="-25000" dirty="0">
                <a:solidFill>
                  <a:schemeClr val="accent5"/>
                </a:solidFill>
                <a:ea typeface="Arial"/>
              </a:rPr>
              <a:t>CO₂eq</a:t>
            </a:r>
            <a:r>
              <a:rPr lang="de-DE" b="1" spc="-1" dirty="0">
                <a:solidFill>
                  <a:schemeClr val="accent5"/>
                </a:solidFill>
                <a:ea typeface="Arial"/>
              </a:rPr>
              <a:t>/m²</a:t>
            </a:r>
            <a:r>
              <a:rPr lang="de-DE" b="1" spc="-1" baseline="-25000" dirty="0">
                <a:solidFill>
                  <a:schemeClr val="accent5"/>
                </a:solidFill>
                <a:ea typeface="Arial"/>
              </a:rPr>
              <a:t>BGF </a:t>
            </a:r>
            <a:endParaRPr lang="de-DE" dirty="0">
              <a:solidFill>
                <a:schemeClr val="accent5"/>
              </a:solidFill>
            </a:endParaRPr>
          </a:p>
        </p:txBody>
      </p:sp>
      <p:sp>
        <p:nvSpPr>
          <p:cNvPr id="4" name="Foliennummernplatzhalter 3">
            <a:extLst>
              <a:ext uri="{FF2B5EF4-FFF2-40B4-BE49-F238E27FC236}">
                <a16:creationId xmlns:a16="http://schemas.microsoft.com/office/drawing/2014/main" id="{0ACAA404-CDDD-1C6D-646F-18990F04FCD9}"/>
              </a:ext>
            </a:extLst>
          </p:cNvPr>
          <p:cNvSpPr>
            <a:spLocks noGrp="1"/>
          </p:cNvSpPr>
          <p:nvPr>
            <p:ph type="sldNum" sz="quarter" idx="12"/>
          </p:nvPr>
        </p:nvSpPr>
        <p:spPr>
          <a:xfrm>
            <a:off x="10272004" y="6387003"/>
            <a:ext cx="1086029" cy="266700"/>
          </a:xfrm>
        </p:spPr>
        <p:txBody>
          <a:bodyPr/>
          <a:lstStyle/>
          <a:p>
            <a:pPr defTabSz="914339">
              <a:defRPr/>
            </a:pPr>
            <a:fld id="{1206269C-C24E-4E80-9A4B-E7E19BB59A67}" type="slidenum">
              <a:rPr lang="de-AT">
                <a:solidFill>
                  <a:srgbClr val="000000"/>
                </a:solidFill>
                <a:latin typeface="Calibri" panose="020F0502020204030204"/>
              </a:rPr>
              <a:pPr defTabSz="914339">
                <a:defRPr/>
              </a:pPr>
              <a:t>23</a:t>
            </a:fld>
            <a:endParaRPr lang="de-AT" dirty="0">
              <a:solidFill>
                <a:srgbClr val="000000"/>
              </a:solidFill>
              <a:latin typeface="Calibri" panose="020F0502020204030204"/>
            </a:endParaRPr>
          </a:p>
        </p:txBody>
      </p:sp>
      <p:graphicFrame>
        <p:nvGraphicFramePr>
          <p:cNvPr id="5" name="Diagramm 4">
            <a:extLst>
              <a:ext uri="{FF2B5EF4-FFF2-40B4-BE49-F238E27FC236}">
                <a16:creationId xmlns:a16="http://schemas.microsoft.com/office/drawing/2014/main" id="{DD2B5FB0-C149-BEC8-58F7-024B833B6422}"/>
              </a:ext>
            </a:extLst>
          </p:cNvPr>
          <p:cNvGraphicFramePr/>
          <p:nvPr>
            <p:extLst>
              <p:ext uri="{D42A27DB-BD31-4B8C-83A1-F6EECF244321}">
                <p14:modId xmlns:p14="http://schemas.microsoft.com/office/powerpoint/2010/main" val="4208464072"/>
              </p:ext>
            </p:extLst>
          </p:nvPr>
        </p:nvGraphicFramePr>
        <p:xfrm>
          <a:off x="6638925" y="1747956"/>
          <a:ext cx="5553075" cy="370351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feld 6">
            <a:extLst>
              <a:ext uri="{FF2B5EF4-FFF2-40B4-BE49-F238E27FC236}">
                <a16:creationId xmlns:a16="http://schemas.microsoft.com/office/drawing/2014/main" id="{2C85536E-A452-81D2-536D-28B3558FB5EA}"/>
              </a:ext>
            </a:extLst>
          </p:cNvPr>
          <p:cNvSpPr txBox="1"/>
          <p:nvPr/>
        </p:nvSpPr>
        <p:spPr>
          <a:xfrm>
            <a:off x="7095068" y="5407023"/>
            <a:ext cx="4919133" cy="707886"/>
          </a:xfrm>
          <a:prstGeom prst="rect">
            <a:avLst/>
          </a:prstGeom>
          <a:noFill/>
        </p:spPr>
        <p:txBody>
          <a:bodyPr wrap="square">
            <a:spAutoFit/>
          </a:bodyPr>
          <a:lstStyle/>
          <a:p>
            <a:pPr defTabSz="914339">
              <a:defRPr/>
            </a:pPr>
            <a:r>
              <a:rPr lang="de-DE" sz="1000" dirty="0">
                <a:solidFill>
                  <a:srgbClr val="000000"/>
                </a:solidFill>
                <a:latin typeface="Calibri" panose="020F0502020204030204" pitchFamily="34" charset="0"/>
                <a:ea typeface="Calibri" panose="020F0502020204030204" pitchFamily="34" charset="0"/>
                <a:cs typeface="Calibri" panose="020F0502020204030204" pitchFamily="34" charset="0"/>
              </a:rPr>
              <a:t>Schneider, Simon, Thomas Zelger, Raphael Drexel, Manfred Schindler, Paul Krainer, und José Baptista. „Declaration-Ready Climate-Neutral PEDs: Budget-Based, Hourly LCA Including Mobility and Flexibility“. </a:t>
            </a:r>
            <a:r>
              <a:rPr lang="de-DE" sz="1000" i="1" dirty="0">
                <a:solidFill>
                  <a:srgbClr val="000000"/>
                </a:solidFill>
                <a:latin typeface="Calibri" panose="020F0502020204030204" pitchFamily="34" charset="0"/>
                <a:ea typeface="Calibri" panose="020F0502020204030204" pitchFamily="34" charset="0"/>
                <a:cs typeface="Calibri" panose="020F0502020204030204" pitchFamily="34" charset="0"/>
              </a:rPr>
              <a:t>Designs</a:t>
            </a:r>
            <a:r>
              <a:rPr lang="de-DE" sz="1000" dirty="0">
                <a:solidFill>
                  <a:srgbClr val="000000"/>
                </a:solidFill>
                <a:latin typeface="Calibri" panose="020F0502020204030204" pitchFamily="34" charset="0"/>
                <a:ea typeface="Calibri" panose="020F0502020204030204" pitchFamily="34" charset="0"/>
                <a:cs typeface="Calibri" panose="020F0502020204030204" pitchFamily="34" charset="0"/>
              </a:rPr>
              <a:t> 9, Nr. 6 (2025): 123. </a:t>
            </a:r>
            <a:r>
              <a:rPr lang="de-DE" sz="1000" dirty="0">
                <a:solidFill>
                  <a:srgbClr val="000000"/>
                </a:solidFill>
                <a:latin typeface="Calibri" panose="020F0502020204030204" pitchFamily="34" charset="0"/>
                <a:ea typeface="Calibri" panose="020F0502020204030204" pitchFamily="34" charset="0"/>
                <a:cs typeface="Calibri" panose="020F0502020204030204" pitchFamily="34" charset="0"/>
                <a:hlinkClick r:id="rId3"/>
              </a:rPr>
              <a:t>https://doi.org/10.3390/designs9060123</a:t>
            </a:r>
            <a:r>
              <a:rPr lang="de-DE" sz="10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p:sp>
        <p:nvSpPr>
          <p:cNvPr id="9" name="Textfeld 8">
            <a:extLst>
              <a:ext uri="{FF2B5EF4-FFF2-40B4-BE49-F238E27FC236}">
                <a16:creationId xmlns:a16="http://schemas.microsoft.com/office/drawing/2014/main" id="{E1E23287-3E55-9CFF-913F-22B1A8586C50}"/>
              </a:ext>
            </a:extLst>
          </p:cNvPr>
          <p:cNvSpPr txBox="1"/>
          <p:nvPr/>
        </p:nvSpPr>
        <p:spPr>
          <a:xfrm>
            <a:off x="7095067" y="1373538"/>
            <a:ext cx="6096000" cy="461665"/>
          </a:xfrm>
          <a:prstGeom prst="rect">
            <a:avLst/>
          </a:prstGeom>
          <a:noFill/>
        </p:spPr>
        <p:txBody>
          <a:bodyPr wrap="square">
            <a:spAutoFit/>
          </a:bodyPr>
          <a:lstStyle/>
          <a:p>
            <a:pPr defTabSz="914339">
              <a:defRPr/>
            </a:pPr>
            <a:r>
              <a:rPr lang="de-DE" sz="2400" dirty="0">
                <a:solidFill>
                  <a:srgbClr val="003D84"/>
                </a:solidFill>
                <a:latin typeface="Calibri" panose="020F0502020204030204"/>
              </a:rPr>
              <a:t>THG-Absenkpfade bis 2050</a:t>
            </a:r>
          </a:p>
        </p:txBody>
      </p:sp>
      <p:sp>
        <p:nvSpPr>
          <p:cNvPr id="10" name="Fußzeilenplatzhalter 3">
            <a:extLst>
              <a:ext uri="{FF2B5EF4-FFF2-40B4-BE49-F238E27FC236}">
                <a16:creationId xmlns:a16="http://schemas.microsoft.com/office/drawing/2014/main" id="{9C74032B-134C-99B8-8293-EE99221620BD}"/>
              </a:ext>
            </a:extLst>
          </p:cNvPr>
          <p:cNvSpPr>
            <a:spLocks noGrp="1"/>
          </p:cNvSpPr>
          <p:nvPr>
            <p:ph type="ftr" sz="quarter" idx="11"/>
          </p:nvPr>
        </p:nvSpPr>
        <p:spPr>
          <a:xfrm>
            <a:off x="719670" y="6373871"/>
            <a:ext cx="9167888" cy="266700"/>
          </a:xfrm>
        </p:spPr>
        <p:txBody>
          <a:bodyPr/>
          <a:lstStyle/>
          <a:p>
            <a:pPr>
              <a:defRPr/>
            </a:pPr>
            <a:r>
              <a:rPr lang="de-AT" dirty="0"/>
              <a:t>Klimaaktiv Nachweistool Plus-Energie-Quartiere</a:t>
            </a:r>
          </a:p>
        </p:txBody>
      </p:sp>
    </p:spTree>
    <p:extLst>
      <p:ext uri="{BB962C8B-B14F-4D97-AF65-F5344CB8AC3E}">
        <p14:creationId xmlns:p14="http://schemas.microsoft.com/office/powerpoint/2010/main" val="2182774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3A8FBDD1-1ED7-07A0-5AEC-AD1E146A68E6}"/>
              </a:ext>
            </a:extLst>
          </p:cNvPr>
          <p:cNvSpPr>
            <a:spLocks noGrp="1"/>
          </p:cNvSpPr>
          <p:nvPr>
            <p:ph type="title"/>
          </p:nvPr>
        </p:nvSpPr>
        <p:spPr/>
        <p:txBody>
          <a:bodyPr/>
          <a:lstStyle/>
          <a:p>
            <a:r>
              <a:rPr lang="de-DE" dirty="0"/>
              <a:t>THG-Bilanzierung </a:t>
            </a:r>
            <a:br>
              <a:rPr lang="de-DE" dirty="0"/>
            </a:br>
            <a:r>
              <a:rPr lang="de-DE" dirty="0"/>
              <a:t>im Detail</a:t>
            </a:r>
          </a:p>
        </p:txBody>
      </p:sp>
      <p:sp>
        <p:nvSpPr>
          <p:cNvPr id="5" name="Textplatzhalter 4">
            <a:extLst>
              <a:ext uri="{FF2B5EF4-FFF2-40B4-BE49-F238E27FC236}">
                <a16:creationId xmlns:a16="http://schemas.microsoft.com/office/drawing/2014/main" id="{8BE932B0-84D0-634E-1D4C-4A1EA38451A6}"/>
              </a:ext>
            </a:extLst>
          </p:cNvPr>
          <p:cNvSpPr>
            <a:spLocks noGrp="1"/>
          </p:cNvSpPr>
          <p:nvPr>
            <p:ph type="body" sz="quarter" idx="13"/>
          </p:nvPr>
        </p:nvSpPr>
        <p:spPr>
          <a:xfrm>
            <a:off x="719669" y="2462107"/>
            <a:ext cx="2919853" cy="3680461"/>
          </a:xfrm>
        </p:spPr>
        <p:txBody>
          <a:bodyPr/>
          <a:lstStyle/>
          <a:p>
            <a:r>
              <a:rPr lang="de-DE" dirty="0"/>
              <a:t>Systemische THG-Absenkpfade bis 2050</a:t>
            </a:r>
          </a:p>
          <a:p>
            <a:r>
              <a:rPr lang="de-DE" dirty="0"/>
              <a:t>Ab 2050 Dekarbonisierte Systeme</a:t>
            </a:r>
          </a:p>
          <a:p>
            <a:r>
              <a:rPr lang="de-DE" dirty="0"/>
              <a:t>LZ-Bilanz bis 2050</a:t>
            </a:r>
          </a:p>
        </p:txBody>
      </p:sp>
      <p:grpSp>
        <p:nvGrpSpPr>
          <p:cNvPr id="89" name="Gruppieren 88">
            <a:extLst>
              <a:ext uri="{FF2B5EF4-FFF2-40B4-BE49-F238E27FC236}">
                <a16:creationId xmlns:a16="http://schemas.microsoft.com/office/drawing/2014/main" id="{5F2B728C-F2AC-5AA2-4F0A-ADA91A2956EE}"/>
              </a:ext>
            </a:extLst>
          </p:cNvPr>
          <p:cNvGrpSpPr/>
          <p:nvPr/>
        </p:nvGrpSpPr>
        <p:grpSpPr>
          <a:xfrm>
            <a:off x="3009814" y="1476375"/>
            <a:ext cx="10320644" cy="5663306"/>
            <a:chOff x="875495" y="307683"/>
            <a:chExt cx="12629812" cy="6930429"/>
          </a:xfrm>
        </p:grpSpPr>
        <p:grpSp>
          <p:nvGrpSpPr>
            <p:cNvPr id="90" name="Gruppieren 89">
              <a:extLst>
                <a:ext uri="{FF2B5EF4-FFF2-40B4-BE49-F238E27FC236}">
                  <a16:creationId xmlns:a16="http://schemas.microsoft.com/office/drawing/2014/main" id="{55340B45-115E-9191-5582-4E40ED89740E}"/>
                </a:ext>
              </a:extLst>
            </p:cNvPr>
            <p:cNvGrpSpPr/>
            <p:nvPr/>
          </p:nvGrpSpPr>
          <p:grpSpPr>
            <a:xfrm>
              <a:off x="5416676" y="1816343"/>
              <a:ext cx="4314538" cy="1824002"/>
              <a:chOff x="4191000" y="1657083"/>
              <a:chExt cx="5930899" cy="1824002"/>
            </a:xfrm>
          </p:grpSpPr>
          <p:sp>
            <p:nvSpPr>
              <p:cNvPr id="126" name="Freihandform: Form 125">
                <a:extLst>
                  <a:ext uri="{FF2B5EF4-FFF2-40B4-BE49-F238E27FC236}">
                    <a16:creationId xmlns:a16="http://schemas.microsoft.com/office/drawing/2014/main" id="{C412D6A6-6335-BE9E-3766-31C6FC8B4321}"/>
                  </a:ext>
                </a:extLst>
              </p:cNvPr>
              <p:cNvSpPr/>
              <p:nvPr/>
            </p:nvSpPr>
            <p:spPr>
              <a:xfrm>
                <a:off x="4254498" y="2661816"/>
                <a:ext cx="5867401" cy="120481"/>
              </a:xfrm>
              <a:custGeom>
                <a:avLst/>
                <a:gdLst>
                  <a:gd name="connsiteX0" fmla="*/ 25400 w 5867400"/>
                  <a:gd name="connsiteY0" fmla="*/ 469900 h 609600"/>
                  <a:gd name="connsiteX1" fmla="*/ 25400 w 5867400"/>
                  <a:gd name="connsiteY1" fmla="*/ 0 h 609600"/>
                  <a:gd name="connsiteX2" fmla="*/ 1981200 w 5867400"/>
                  <a:gd name="connsiteY2" fmla="*/ 215900 h 609600"/>
                  <a:gd name="connsiteX3" fmla="*/ 4114800 w 5867400"/>
                  <a:gd name="connsiteY3" fmla="*/ 469900 h 609600"/>
                  <a:gd name="connsiteX4" fmla="*/ 5867400 w 5867400"/>
                  <a:gd name="connsiteY4" fmla="*/ 508000 h 609600"/>
                  <a:gd name="connsiteX5" fmla="*/ 5867400 w 5867400"/>
                  <a:gd name="connsiteY5" fmla="*/ 609600 h 609600"/>
                  <a:gd name="connsiteX6" fmla="*/ 0 w 5867400"/>
                  <a:gd name="connsiteY6" fmla="*/ 609600 h 609600"/>
                  <a:gd name="connsiteX7" fmla="*/ 25400 w 5867400"/>
                  <a:gd name="connsiteY7" fmla="*/ 4699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67400" h="609600">
                    <a:moveTo>
                      <a:pt x="25400" y="469900"/>
                    </a:moveTo>
                    <a:lnTo>
                      <a:pt x="25400" y="0"/>
                    </a:lnTo>
                    <a:lnTo>
                      <a:pt x="1981200" y="215900"/>
                    </a:lnTo>
                    <a:lnTo>
                      <a:pt x="4114800" y="469900"/>
                    </a:lnTo>
                    <a:lnTo>
                      <a:pt x="5867400" y="508000"/>
                    </a:lnTo>
                    <a:lnTo>
                      <a:pt x="5867400" y="609600"/>
                    </a:lnTo>
                    <a:lnTo>
                      <a:pt x="0" y="609600"/>
                    </a:lnTo>
                    <a:lnTo>
                      <a:pt x="25400" y="469900"/>
                    </a:lnTo>
                    <a:close/>
                  </a:path>
                </a:pathLst>
              </a:custGeom>
              <a:solidFill>
                <a:srgbClr val="CA0237"/>
              </a:solidFill>
              <a:ln w="12700" cap="flat" cmpd="sng" algn="ctr">
                <a:solidFill>
                  <a:srgbClr val="CA0237">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sp>
            <p:nvSpPr>
              <p:cNvPr id="127" name="Freihandform: Form 126">
                <a:extLst>
                  <a:ext uri="{FF2B5EF4-FFF2-40B4-BE49-F238E27FC236}">
                    <a16:creationId xmlns:a16="http://schemas.microsoft.com/office/drawing/2014/main" id="{64F3004F-6C7B-9B4C-5016-7F0EEE30F2B0}"/>
                  </a:ext>
                </a:extLst>
              </p:cNvPr>
              <p:cNvSpPr/>
              <p:nvPr/>
            </p:nvSpPr>
            <p:spPr>
              <a:xfrm>
                <a:off x="4191000" y="2887385"/>
                <a:ext cx="5880100" cy="111100"/>
              </a:xfrm>
              <a:custGeom>
                <a:avLst/>
                <a:gdLst>
                  <a:gd name="connsiteX0" fmla="*/ 88900 w 5880100"/>
                  <a:gd name="connsiteY0" fmla="*/ 342900 h 381000"/>
                  <a:gd name="connsiteX1" fmla="*/ 88900 w 5880100"/>
                  <a:gd name="connsiteY1" fmla="*/ 342900 h 381000"/>
                  <a:gd name="connsiteX2" fmla="*/ 88900 w 5880100"/>
                  <a:gd name="connsiteY2" fmla="*/ 114300 h 381000"/>
                  <a:gd name="connsiteX3" fmla="*/ 88900 w 5880100"/>
                  <a:gd name="connsiteY3" fmla="*/ 0 h 381000"/>
                  <a:gd name="connsiteX4" fmla="*/ 5880100 w 5880100"/>
                  <a:gd name="connsiteY4" fmla="*/ 0 h 381000"/>
                  <a:gd name="connsiteX5" fmla="*/ 5880100 w 5880100"/>
                  <a:gd name="connsiteY5" fmla="*/ 381000 h 381000"/>
                  <a:gd name="connsiteX6" fmla="*/ 0 w 5880100"/>
                  <a:gd name="connsiteY6" fmla="*/ 381000 h 381000"/>
                  <a:gd name="connsiteX7" fmla="*/ 88900 w 5880100"/>
                  <a:gd name="connsiteY7" fmla="*/ 3429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80100" h="381000">
                    <a:moveTo>
                      <a:pt x="88900" y="342900"/>
                    </a:moveTo>
                    <a:lnTo>
                      <a:pt x="88900" y="342900"/>
                    </a:lnTo>
                    <a:lnTo>
                      <a:pt x="88900" y="114300"/>
                    </a:lnTo>
                    <a:lnTo>
                      <a:pt x="88900" y="0"/>
                    </a:lnTo>
                    <a:lnTo>
                      <a:pt x="5880100" y="0"/>
                    </a:lnTo>
                    <a:lnTo>
                      <a:pt x="5880100" y="381000"/>
                    </a:lnTo>
                    <a:lnTo>
                      <a:pt x="0" y="381000"/>
                    </a:lnTo>
                    <a:lnTo>
                      <a:pt x="88900" y="342900"/>
                    </a:lnTo>
                    <a:close/>
                  </a:path>
                </a:pathLst>
              </a:custGeom>
              <a:solidFill>
                <a:srgbClr val="3BACBE"/>
              </a:solidFill>
              <a:ln w="12700" cap="flat" cmpd="sng" algn="ctr">
                <a:solidFill>
                  <a:srgbClr val="3BACBE">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sp>
            <p:nvSpPr>
              <p:cNvPr id="128" name="Freihandform: Form 127">
                <a:extLst>
                  <a:ext uri="{FF2B5EF4-FFF2-40B4-BE49-F238E27FC236}">
                    <a16:creationId xmlns:a16="http://schemas.microsoft.com/office/drawing/2014/main" id="{5ACB99DF-4EF5-9BD3-727D-DC13F95AC3D1}"/>
                  </a:ext>
                </a:extLst>
              </p:cNvPr>
              <p:cNvSpPr/>
              <p:nvPr/>
            </p:nvSpPr>
            <p:spPr>
              <a:xfrm>
                <a:off x="4191000" y="3166616"/>
                <a:ext cx="5880100" cy="91133"/>
              </a:xfrm>
              <a:custGeom>
                <a:avLst/>
                <a:gdLst>
                  <a:gd name="connsiteX0" fmla="*/ 88900 w 5880100"/>
                  <a:gd name="connsiteY0" fmla="*/ 342900 h 381000"/>
                  <a:gd name="connsiteX1" fmla="*/ 88900 w 5880100"/>
                  <a:gd name="connsiteY1" fmla="*/ 342900 h 381000"/>
                  <a:gd name="connsiteX2" fmla="*/ 88900 w 5880100"/>
                  <a:gd name="connsiteY2" fmla="*/ 114300 h 381000"/>
                  <a:gd name="connsiteX3" fmla="*/ 88900 w 5880100"/>
                  <a:gd name="connsiteY3" fmla="*/ 0 h 381000"/>
                  <a:gd name="connsiteX4" fmla="*/ 5880100 w 5880100"/>
                  <a:gd name="connsiteY4" fmla="*/ 0 h 381000"/>
                  <a:gd name="connsiteX5" fmla="*/ 5880100 w 5880100"/>
                  <a:gd name="connsiteY5" fmla="*/ 381000 h 381000"/>
                  <a:gd name="connsiteX6" fmla="*/ 0 w 5880100"/>
                  <a:gd name="connsiteY6" fmla="*/ 381000 h 381000"/>
                  <a:gd name="connsiteX7" fmla="*/ 88900 w 5880100"/>
                  <a:gd name="connsiteY7" fmla="*/ 3429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80100" h="381000">
                    <a:moveTo>
                      <a:pt x="88900" y="342900"/>
                    </a:moveTo>
                    <a:lnTo>
                      <a:pt x="88900" y="342900"/>
                    </a:lnTo>
                    <a:lnTo>
                      <a:pt x="88900" y="114300"/>
                    </a:lnTo>
                    <a:lnTo>
                      <a:pt x="88900" y="0"/>
                    </a:lnTo>
                    <a:lnTo>
                      <a:pt x="5880100" y="0"/>
                    </a:lnTo>
                    <a:lnTo>
                      <a:pt x="5880100" y="381000"/>
                    </a:lnTo>
                    <a:lnTo>
                      <a:pt x="0" y="381000"/>
                    </a:lnTo>
                    <a:lnTo>
                      <a:pt x="88900" y="342900"/>
                    </a:lnTo>
                    <a:close/>
                  </a:path>
                </a:pathLst>
              </a:custGeom>
              <a:solidFill>
                <a:srgbClr val="5FB564"/>
              </a:solidFill>
              <a:ln w="12700" cap="flat" cmpd="sng" algn="ctr">
                <a:solidFill>
                  <a:srgbClr val="5FB564">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grpSp>
            <p:nvGrpSpPr>
              <p:cNvPr id="129" name="Gruppieren 128">
                <a:extLst>
                  <a:ext uri="{FF2B5EF4-FFF2-40B4-BE49-F238E27FC236}">
                    <a16:creationId xmlns:a16="http://schemas.microsoft.com/office/drawing/2014/main" id="{B89A0593-CD6A-12DE-877B-792DB452C3D4}"/>
                  </a:ext>
                </a:extLst>
              </p:cNvPr>
              <p:cNvGrpSpPr/>
              <p:nvPr/>
            </p:nvGrpSpPr>
            <p:grpSpPr>
              <a:xfrm>
                <a:off x="4203700" y="1657083"/>
                <a:ext cx="5867400" cy="656347"/>
                <a:chOff x="4088021" y="4219601"/>
                <a:chExt cx="5867400" cy="656347"/>
              </a:xfrm>
            </p:grpSpPr>
            <p:sp>
              <p:nvSpPr>
                <p:cNvPr id="131" name="Freihandform: Form 130">
                  <a:extLst>
                    <a:ext uri="{FF2B5EF4-FFF2-40B4-BE49-F238E27FC236}">
                      <a16:creationId xmlns:a16="http://schemas.microsoft.com/office/drawing/2014/main" id="{F96744A2-C40A-589A-30B7-6BE7B96178FC}"/>
                    </a:ext>
                  </a:extLst>
                </p:cNvPr>
                <p:cNvSpPr/>
                <p:nvPr/>
              </p:nvSpPr>
              <p:spPr>
                <a:xfrm>
                  <a:off x="4088021" y="4219601"/>
                  <a:ext cx="5867400" cy="369332"/>
                </a:xfrm>
                <a:custGeom>
                  <a:avLst/>
                  <a:gdLst>
                    <a:gd name="connsiteX0" fmla="*/ 25400 w 5867400"/>
                    <a:gd name="connsiteY0" fmla="*/ 469900 h 609600"/>
                    <a:gd name="connsiteX1" fmla="*/ 25400 w 5867400"/>
                    <a:gd name="connsiteY1" fmla="*/ 0 h 609600"/>
                    <a:gd name="connsiteX2" fmla="*/ 1981200 w 5867400"/>
                    <a:gd name="connsiteY2" fmla="*/ 215900 h 609600"/>
                    <a:gd name="connsiteX3" fmla="*/ 4114800 w 5867400"/>
                    <a:gd name="connsiteY3" fmla="*/ 469900 h 609600"/>
                    <a:gd name="connsiteX4" fmla="*/ 5867400 w 5867400"/>
                    <a:gd name="connsiteY4" fmla="*/ 508000 h 609600"/>
                    <a:gd name="connsiteX5" fmla="*/ 5867400 w 5867400"/>
                    <a:gd name="connsiteY5" fmla="*/ 609600 h 609600"/>
                    <a:gd name="connsiteX6" fmla="*/ 0 w 5867400"/>
                    <a:gd name="connsiteY6" fmla="*/ 609600 h 609600"/>
                    <a:gd name="connsiteX7" fmla="*/ 25400 w 5867400"/>
                    <a:gd name="connsiteY7" fmla="*/ 4699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67400" h="609600">
                      <a:moveTo>
                        <a:pt x="25400" y="469900"/>
                      </a:moveTo>
                      <a:lnTo>
                        <a:pt x="25400" y="0"/>
                      </a:lnTo>
                      <a:lnTo>
                        <a:pt x="1981200" y="215900"/>
                      </a:lnTo>
                      <a:lnTo>
                        <a:pt x="4114800" y="469900"/>
                      </a:lnTo>
                      <a:lnTo>
                        <a:pt x="5867400" y="508000"/>
                      </a:lnTo>
                      <a:lnTo>
                        <a:pt x="5867400" y="609600"/>
                      </a:lnTo>
                      <a:lnTo>
                        <a:pt x="0" y="609600"/>
                      </a:lnTo>
                      <a:lnTo>
                        <a:pt x="25400" y="469900"/>
                      </a:lnTo>
                      <a:close/>
                    </a:path>
                  </a:pathLst>
                </a:custGeom>
                <a:solidFill>
                  <a:srgbClr val="950F53"/>
                </a:solidFill>
                <a:ln w="12700" cap="flat" cmpd="sng" algn="ctr">
                  <a:solidFill>
                    <a:srgbClr val="950F53">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sp>
              <p:nvSpPr>
                <p:cNvPr id="132" name="Freihandform: Form 131">
                  <a:extLst>
                    <a:ext uri="{FF2B5EF4-FFF2-40B4-BE49-F238E27FC236}">
                      <a16:creationId xmlns:a16="http://schemas.microsoft.com/office/drawing/2014/main" id="{2434EE3C-BE72-C7CB-E08F-5A142864D856}"/>
                    </a:ext>
                  </a:extLst>
                </p:cNvPr>
                <p:cNvSpPr/>
                <p:nvPr/>
              </p:nvSpPr>
              <p:spPr>
                <a:xfrm flipV="1">
                  <a:off x="4088021" y="4600781"/>
                  <a:ext cx="5867400" cy="275167"/>
                </a:xfrm>
                <a:custGeom>
                  <a:avLst/>
                  <a:gdLst>
                    <a:gd name="connsiteX0" fmla="*/ 25400 w 5867400"/>
                    <a:gd name="connsiteY0" fmla="*/ 469900 h 609600"/>
                    <a:gd name="connsiteX1" fmla="*/ 25400 w 5867400"/>
                    <a:gd name="connsiteY1" fmla="*/ 0 h 609600"/>
                    <a:gd name="connsiteX2" fmla="*/ 1981200 w 5867400"/>
                    <a:gd name="connsiteY2" fmla="*/ 215900 h 609600"/>
                    <a:gd name="connsiteX3" fmla="*/ 4114800 w 5867400"/>
                    <a:gd name="connsiteY3" fmla="*/ 469900 h 609600"/>
                    <a:gd name="connsiteX4" fmla="*/ 5867400 w 5867400"/>
                    <a:gd name="connsiteY4" fmla="*/ 508000 h 609600"/>
                    <a:gd name="connsiteX5" fmla="*/ 5867400 w 5867400"/>
                    <a:gd name="connsiteY5" fmla="*/ 609600 h 609600"/>
                    <a:gd name="connsiteX6" fmla="*/ 0 w 5867400"/>
                    <a:gd name="connsiteY6" fmla="*/ 609600 h 609600"/>
                    <a:gd name="connsiteX7" fmla="*/ 25400 w 5867400"/>
                    <a:gd name="connsiteY7" fmla="*/ 4699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67400" h="609600">
                      <a:moveTo>
                        <a:pt x="25400" y="469900"/>
                      </a:moveTo>
                      <a:lnTo>
                        <a:pt x="25400" y="0"/>
                      </a:lnTo>
                      <a:lnTo>
                        <a:pt x="1981200" y="215900"/>
                      </a:lnTo>
                      <a:lnTo>
                        <a:pt x="4114800" y="469900"/>
                      </a:lnTo>
                      <a:lnTo>
                        <a:pt x="5867400" y="508000"/>
                      </a:lnTo>
                      <a:lnTo>
                        <a:pt x="5867400" y="609600"/>
                      </a:lnTo>
                      <a:lnTo>
                        <a:pt x="0" y="609600"/>
                      </a:lnTo>
                      <a:lnTo>
                        <a:pt x="25400" y="469900"/>
                      </a:lnTo>
                      <a:close/>
                    </a:path>
                  </a:pathLst>
                </a:custGeom>
                <a:solidFill>
                  <a:srgbClr val="BCCF00"/>
                </a:solidFill>
                <a:ln w="12700" cap="flat" cmpd="sng" algn="ctr">
                  <a:solidFill>
                    <a:srgbClr val="BCCF00">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grpSp>
          <p:sp>
            <p:nvSpPr>
              <p:cNvPr id="130" name="Freihandform: Form 129">
                <a:extLst>
                  <a:ext uri="{FF2B5EF4-FFF2-40B4-BE49-F238E27FC236}">
                    <a16:creationId xmlns:a16="http://schemas.microsoft.com/office/drawing/2014/main" id="{969E7CA7-8752-40CA-BF89-B66AB9082921}"/>
                  </a:ext>
                </a:extLst>
              </p:cNvPr>
              <p:cNvSpPr/>
              <p:nvPr/>
            </p:nvSpPr>
            <p:spPr>
              <a:xfrm>
                <a:off x="4216400" y="3369985"/>
                <a:ext cx="5880100" cy="111100"/>
              </a:xfrm>
              <a:custGeom>
                <a:avLst/>
                <a:gdLst>
                  <a:gd name="connsiteX0" fmla="*/ 88900 w 5880100"/>
                  <a:gd name="connsiteY0" fmla="*/ 342900 h 381000"/>
                  <a:gd name="connsiteX1" fmla="*/ 88900 w 5880100"/>
                  <a:gd name="connsiteY1" fmla="*/ 342900 h 381000"/>
                  <a:gd name="connsiteX2" fmla="*/ 88900 w 5880100"/>
                  <a:gd name="connsiteY2" fmla="*/ 114300 h 381000"/>
                  <a:gd name="connsiteX3" fmla="*/ 88900 w 5880100"/>
                  <a:gd name="connsiteY3" fmla="*/ 0 h 381000"/>
                  <a:gd name="connsiteX4" fmla="*/ 5880100 w 5880100"/>
                  <a:gd name="connsiteY4" fmla="*/ 0 h 381000"/>
                  <a:gd name="connsiteX5" fmla="*/ 5880100 w 5880100"/>
                  <a:gd name="connsiteY5" fmla="*/ 381000 h 381000"/>
                  <a:gd name="connsiteX6" fmla="*/ 0 w 5880100"/>
                  <a:gd name="connsiteY6" fmla="*/ 381000 h 381000"/>
                  <a:gd name="connsiteX7" fmla="*/ 88900 w 5880100"/>
                  <a:gd name="connsiteY7" fmla="*/ 3429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80100" h="381000">
                    <a:moveTo>
                      <a:pt x="88900" y="342900"/>
                    </a:moveTo>
                    <a:lnTo>
                      <a:pt x="88900" y="342900"/>
                    </a:lnTo>
                    <a:lnTo>
                      <a:pt x="88900" y="114300"/>
                    </a:lnTo>
                    <a:lnTo>
                      <a:pt x="88900" y="0"/>
                    </a:lnTo>
                    <a:lnTo>
                      <a:pt x="5880100" y="0"/>
                    </a:lnTo>
                    <a:lnTo>
                      <a:pt x="5880100" y="381000"/>
                    </a:lnTo>
                    <a:lnTo>
                      <a:pt x="0" y="381000"/>
                    </a:lnTo>
                    <a:lnTo>
                      <a:pt x="88900" y="342900"/>
                    </a:lnTo>
                    <a:close/>
                  </a:path>
                </a:pathLst>
              </a:custGeom>
              <a:solidFill>
                <a:srgbClr val="F59C00">
                  <a:lumMod val="75000"/>
                </a:srgbClr>
              </a:solidFill>
              <a:ln w="12700" cap="flat" cmpd="sng" algn="ctr">
                <a:solidFill>
                  <a:srgbClr val="F59C00">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grpSp>
        <p:sp>
          <p:nvSpPr>
            <p:cNvPr id="91" name="Pfeil: nach rechts 90">
              <a:extLst>
                <a:ext uri="{FF2B5EF4-FFF2-40B4-BE49-F238E27FC236}">
                  <a16:creationId xmlns:a16="http://schemas.microsoft.com/office/drawing/2014/main" id="{C8FA2893-05C4-D377-01B4-C0E3637AE6D2}"/>
                </a:ext>
              </a:extLst>
            </p:cNvPr>
            <p:cNvSpPr/>
            <p:nvPr/>
          </p:nvSpPr>
          <p:spPr>
            <a:xfrm rot="16200000">
              <a:off x="6091031" y="1820413"/>
              <a:ext cx="2099844" cy="539582"/>
            </a:xfrm>
            <a:prstGeom prst="rightArrow">
              <a:avLst/>
            </a:prstGeom>
            <a:solidFill>
              <a:srgbClr val="3BACBE">
                <a:lumMod val="50000"/>
              </a:srgbClr>
            </a:solidFill>
            <a:ln w="12700" cap="flat" cmpd="sng" algn="ctr">
              <a:solidFill>
                <a:srgbClr val="3BACBE">
                  <a:shade val="15000"/>
                </a:srgbClr>
              </a:solidFill>
              <a:prstDash val="solid"/>
              <a:miter lim="800000"/>
            </a:ln>
            <a:effectLst/>
          </p:spPr>
          <p:txBody>
            <a:bodyPr rtlCol="0" anchor="ctr"/>
            <a:lstStyle/>
            <a:p>
              <a:pPr algn="ctr" defTabSz="914339">
                <a:defRPr/>
              </a:pPr>
              <a:r>
                <a:rPr lang="de-DE" sz="700" kern="0" noProof="1">
                  <a:solidFill>
                    <a:srgbClr val="FFFFFF"/>
                  </a:solidFill>
                  <a:latin typeface="Aptos" panose="020B0004020202020204" pitchFamily="34" charset="0"/>
                </a:rPr>
                <a:t>Emissions</a:t>
              </a:r>
            </a:p>
          </p:txBody>
        </p:sp>
        <p:sp>
          <p:nvSpPr>
            <p:cNvPr id="92" name="Pfeil: nach rechts 91">
              <a:extLst>
                <a:ext uri="{FF2B5EF4-FFF2-40B4-BE49-F238E27FC236}">
                  <a16:creationId xmlns:a16="http://schemas.microsoft.com/office/drawing/2014/main" id="{B6E47496-3680-3778-A180-FA0B04D00FB1}"/>
                </a:ext>
              </a:extLst>
            </p:cNvPr>
            <p:cNvSpPr/>
            <p:nvPr/>
          </p:nvSpPr>
          <p:spPr>
            <a:xfrm rot="16200000" flipH="1">
              <a:off x="7439446" y="1460925"/>
              <a:ext cx="965730" cy="539582"/>
            </a:xfrm>
            <a:prstGeom prst="rightArrow">
              <a:avLst/>
            </a:prstGeom>
            <a:solidFill>
              <a:srgbClr val="5FB564"/>
            </a:solidFill>
            <a:ln w="12700" cap="flat" cmpd="sng" algn="ctr">
              <a:solidFill>
                <a:srgbClr val="3BACBE">
                  <a:shade val="15000"/>
                </a:srgbClr>
              </a:solidFill>
              <a:prstDash val="solid"/>
              <a:miter lim="800000"/>
            </a:ln>
            <a:effectLst/>
          </p:spPr>
          <p:txBody>
            <a:bodyPr rtlCol="0" anchor="ctr"/>
            <a:lstStyle/>
            <a:p>
              <a:pPr algn="ctr" defTabSz="914339">
                <a:defRPr/>
              </a:pPr>
              <a:r>
                <a:rPr lang="de-DE" sz="900" kern="0" noProof="1">
                  <a:solidFill>
                    <a:srgbClr val="FFFFFF"/>
                  </a:solidFill>
                  <a:latin typeface="Aptos" panose="020B0004020202020204" pitchFamily="34" charset="0"/>
                </a:rPr>
                <a:t>Emission Savings</a:t>
              </a:r>
            </a:p>
          </p:txBody>
        </p:sp>
        <p:sp>
          <p:nvSpPr>
            <p:cNvPr id="93" name="Pfeil: nach rechts 92">
              <a:extLst>
                <a:ext uri="{FF2B5EF4-FFF2-40B4-BE49-F238E27FC236}">
                  <a16:creationId xmlns:a16="http://schemas.microsoft.com/office/drawing/2014/main" id="{1718A80C-D8B2-45D5-9964-0EC598C70DCB}"/>
                </a:ext>
              </a:extLst>
            </p:cNvPr>
            <p:cNvSpPr/>
            <p:nvPr/>
          </p:nvSpPr>
          <p:spPr>
            <a:xfrm rot="16200000">
              <a:off x="7649487" y="1301673"/>
              <a:ext cx="1097062" cy="539582"/>
            </a:xfrm>
            <a:prstGeom prst="rightArrow">
              <a:avLst/>
            </a:prstGeom>
            <a:solidFill>
              <a:srgbClr val="3BACBE">
                <a:lumMod val="50000"/>
              </a:srgbClr>
            </a:solidFill>
            <a:ln w="12700" cap="flat" cmpd="sng" algn="ctr">
              <a:solidFill>
                <a:srgbClr val="3BACBE">
                  <a:shade val="15000"/>
                </a:srgbClr>
              </a:solidFill>
              <a:prstDash val="solid"/>
              <a:miter lim="800000"/>
            </a:ln>
            <a:effectLst/>
          </p:spPr>
          <p:txBody>
            <a:bodyPr rtlCol="0" anchor="ctr"/>
            <a:lstStyle/>
            <a:p>
              <a:pPr algn="ctr" defTabSz="914339">
                <a:defRPr/>
              </a:pPr>
              <a:r>
                <a:rPr lang="de-DE" sz="700" kern="0" noProof="1">
                  <a:solidFill>
                    <a:srgbClr val="FFFFFF"/>
                  </a:solidFill>
                  <a:latin typeface="Aptos" panose="020B0004020202020204" pitchFamily="34" charset="0"/>
                </a:rPr>
                <a:t>Emissions</a:t>
              </a:r>
            </a:p>
          </p:txBody>
        </p:sp>
        <p:sp>
          <p:nvSpPr>
            <p:cNvPr id="94" name="Rechteck 93">
              <a:extLst>
                <a:ext uri="{FF2B5EF4-FFF2-40B4-BE49-F238E27FC236}">
                  <a16:creationId xmlns:a16="http://schemas.microsoft.com/office/drawing/2014/main" id="{CC3F79F6-C5F2-9212-8781-DD9298724560}"/>
                </a:ext>
              </a:extLst>
            </p:cNvPr>
            <p:cNvSpPr/>
            <p:nvPr/>
          </p:nvSpPr>
          <p:spPr>
            <a:xfrm>
              <a:off x="3622675" y="1389712"/>
              <a:ext cx="8375883" cy="4269077"/>
            </a:xfrm>
            <a:prstGeom prst="rect">
              <a:avLst/>
            </a:prstGeom>
            <a:noFill/>
            <a:ln w="28575" cap="flat" cmpd="sng" algn="ctr">
              <a:solidFill>
                <a:srgbClr val="E6EFF3">
                  <a:lumMod val="25000"/>
                </a:srgbClr>
              </a:solidFill>
              <a:prstDash val="dash"/>
              <a:miter lim="800000"/>
            </a:ln>
            <a:effectLst/>
          </p:spPr>
          <p:txBody>
            <a:bodyPr rtlCol="0" anchor="ctr"/>
            <a:lstStyle/>
            <a:p>
              <a:pPr algn="ctr" defTabSz="914339">
                <a:defRPr/>
              </a:pPr>
              <a:endParaRPr lang="de-DE" sz="1400" kern="0" noProof="1">
                <a:solidFill>
                  <a:srgbClr val="E6EFF3">
                    <a:lumMod val="25000"/>
                  </a:srgbClr>
                </a:solidFill>
                <a:latin typeface="Aptos" panose="020B0004020202020204" pitchFamily="34" charset="0"/>
              </a:endParaRPr>
            </a:p>
          </p:txBody>
        </p:sp>
        <p:sp>
          <p:nvSpPr>
            <p:cNvPr id="95" name="Textfeld 94">
              <a:extLst>
                <a:ext uri="{FF2B5EF4-FFF2-40B4-BE49-F238E27FC236}">
                  <a16:creationId xmlns:a16="http://schemas.microsoft.com/office/drawing/2014/main" id="{289549A6-ECE9-DB75-4E1C-CDA87F47AA43}"/>
                </a:ext>
              </a:extLst>
            </p:cNvPr>
            <p:cNvSpPr txBox="1"/>
            <p:nvPr/>
          </p:nvSpPr>
          <p:spPr>
            <a:xfrm>
              <a:off x="3502550" y="745309"/>
              <a:ext cx="9132326" cy="536712"/>
            </a:xfrm>
            <a:prstGeom prst="rect">
              <a:avLst/>
            </a:prstGeom>
            <a:noFill/>
          </p:spPr>
          <p:txBody>
            <a:bodyPr wrap="square" rtlCol="0">
              <a:spAutoFit/>
            </a:bodyPr>
            <a:lstStyle/>
            <a:p>
              <a:pPr defTabSz="914339">
                <a:defRPr/>
              </a:pPr>
              <a:r>
                <a:rPr lang="de-DE" sz="1050" kern="0" noProof="1">
                  <a:solidFill>
                    <a:srgbClr val="000000"/>
                  </a:solidFill>
                  <a:latin typeface="Aptos" panose="020B0004020202020204" pitchFamily="34" charset="0"/>
                </a:rPr>
                <a:t>2025 Errichtung	</a:t>
              </a:r>
              <a:r>
                <a:rPr lang="de-DE" sz="1050" b="1" kern="0" noProof="1">
                  <a:solidFill>
                    <a:srgbClr val="000000"/>
                  </a:solidFill>
                  <a:latin typeface="Aptos" panose="020B0004020202020204" pitchFamily="34" charset="0"/>
                </a:rPr>
                <a:t>2025	2030		2040	               2050 </a:t>
              </a:r>
              <a:r>
                <a:rPr lang="de-DE" sz="1050" kern="0" noProof="1">
                  <a:solidFill>
                    <a:srgbClr val="000000"/>
                  </a:solidFill>
                  <a:latin typeface="Aptos" panose="020B0004020202020204" pitchFamily="34" charset="0"/>
                </a:rPr>
                <a:t>		2075</a:t>
              </a:r>
            </a:p>
            <a:p>
              <a:pPr defTabSz="914339">
                <a:defRPr/>
              </a:pPr>
              <a:r>
                <a:rPr lang="de-DE" sz="1200" b="1" kern="0" noProof="1">
                  <a:solidFill>
                    <a:srgbClr val="000000"/>
                  </a:solidFill>
                  <a:latin typeface="Aptos" panose="020B0004020202020204" pitchFamily="34" charset="0"/>
                </a:rPr>
                <a:t>	</a:t>
              </a:r>
            </a:p>
          </p:txBody>
        </p:sp>
        <p:sp>
          <p:nvSpPr>
            <p:cNvPr id="96" name="Textfeld 95">
              <a:extLst>
                <a:ext uri="{FF2B5EF4-FFF2-40B4-BE49-F238E27FC236}">
                  <a16:creationId xmlns:a16="http://schemas.microsoft.com/office/drawing/2014/main" id="{C9DA787C-810E-4620-7EBC-A2DCA46FE1D6}"/>
                </a:ext>
              </a:extLst>
            </p:cNvPr>
            <p:cNvSpPr txBox="1"/>
            <p:nvPr/>
          </p:nvSpPr>
          <p:spPr>
            <a:xfrm>
              <a:off x="875495" y="1324875"/>
              <a:ext cx="2618753" cy="5913237"/>
            </a:xfrm>
            <a:prstGeom prst="rect">
              <a:avLst/>
            </a:prstGeom>
            <a:noFill/>
          </p:spPr>
          <p:txBody>
            <a:bodyPr wrap="square" rtlCol="0">
              <a:spAutoFit/>
            </a:bodyPr>
            <a:lstStyle/>
            <a:p>
              <a:pPr algn="r" defTabSz="914339">
                <a:defRPr/>
              </a:pPr>
              <a:r>
                <a:rPr lang="de-DE" sz="1400" b="1" kern="0" noProof="1">
                  <a:solidFill>
                    <a:srgbClr val="000000"/>
                  </a:solidFill>
                  <a:latin typeface="Aptos" panose="020B0004020202020204" pitchFamily="34" charset="0"/>
                </a:rPr>
                <a:t>Betrieb</a:t>
              </a:r>
            </a:p>
            <a:p>
              <a:pPr algn="r" defTabSz="914339">
                <a:defRPr/>
              </a:pPr>
              <a:r>
                <a:rPr lang="de-DE" sz="1400" kern="0" noProof="1">
                  <a:solidFill>
                    <a:srgbClr val="000000"/>
                  </a:solidFill>
                  <a:latin typeface="Calibri" panose="020F0502020204030204"/>
                </a:rPr>
                <a:t>Netzstrom</a:t>
              </a:r>
            </a:p>
            <a:p>
              <a:pPr algn="r" defTabSz="914339">
                <a:defRPr/>
              </a:pPr>
              <a:r>
                <a:rPr lang="de-DE" sz="1400" kern="0" noProof="1">
                  <a:solidFill>
                    <a:srgbClr val="000000"/>
                  </a:solidFill>
                  <a:latin typeface="Calibri" panose="020F0502020204030204"/>
                </a:rPr>
                <a:t>Einspeisung/flex</a:t>
              </a:r>
            </a:p>
            <a:p>
              <a:pPr algn="r" defTabSz="914339">
                <a:defRPr/>
              </a:pPr>
              <a:endParaRPr lang="de-DE" sz="1400" kern="0" noProof="1">
                <a:solidFill>
                  <a:srgbClr val="000000"/>
                </a:solidFill>
                <a:latin typeface="Calibri" panose="020F0502020204030204"/>
              </a:endParaRPr>
            </a:p>
            <a:p>
              <a:pPr algn="r" defTabSz="914339">
                <a:defRPr/>
              </a:pPr>
              <a:r>
                <a:rPr lang="de-DE" sz="1400" kern="0" noProof="1">
                  <a:solidFill>
                    <a:srgbClr val="000000"/>
                  </a:solidFill>
                  <a:latin typeface="Calibri" panose="020F0502020204030204"/>
                </a:rPr>
                <a:t>Fernwärme</a:t>
              </a:r>
            </a:p>
            <a:p>
              <a:pPr algn="r" defTabSz="914339">
                <a:defRPr/>
              </a:pPr>
              <a:r>
                <a:rPr lang="de-DE" sz="1400" kern="0" noProof="1">
                  <a:solidFill>
                    <a:srgbClr val="000000"/>
                  </a:solidFill>
                  <a:latin typeface="Calibri" panose="020F0502020204030204"/>
                </a:rPr>
                <a:t>Gas</a:t>
              </a:r>
            </a:p>
            <a:p>
              <a:pPr algn="r" defTabSz="914339">
                <a:defRPr/>
              </a:pPr>
              <a:r>
                <a:rPr lang="de-DE" sz="1400" kern="0" noProof="1">
                  <a:solidFill>
                    <a:srgbClr val="000000"/>
                  </a:solidFill>
                  <a:latin typeface="Calibri" panose="020F0502020204030204"/>
                </a:rPr>
                <a:t>Biomasse</a:t>
              </a:r>
            </a:p>
            <a:p>
              <a:pPr algn="r" defTabSz="914339">
                <a:defRPr/>
              </a:pPr>
              <a:r>
                <a:rPr lang="de-DE" sz="1400" kern="0" noProof="1">
                  <a:solidFill>
                    <a:srgbClr val="000000"/>
                  </a:solidFill>
                  <a:latin typeface="Calibri" panose="020F0502020204030204"/>
                </a:rPr>
                <a:t>MIV Fossil</a:t>
              </a:r>
            </a:p>
            <a:p>
              <a:pPr algn="r" defTabSz="914339">
                <a:defRPr/>
              </a:pPr>
              <a:endParaRPr lang="de-DE" sz="1400" b="1" kern="0" noProof="1">
                <a:solidFill>
                  <a:srgbClr val="000000"/>
                </a:solidFill>
                <a:latin typeface="Aptos" panose="020B0004020202020204" pitchFamily="34" charset="0"/>
              </a:endParaRPr>
            </a:p>
            <a:p>
              <a:pPr algn="r" defTabSz="914339">
                <a:defRPr/>
              </a:pPr>
              <a:endParaRPr lang="de-DE" sz="1400" b="1" kern="0" noProof="1">
                <a:solidFill>
                  <a:srgbClr val="000000"/>
                </a:solidFill>
                <a:latin typeface="Aptos" panose="020B0004020202020204" pitchFamily="34" charset="0"/>
              </a:endParaRPr>
            </a:p>
            <a:p>
              <a:pPr algn="r" defTabSz="914339">
                <a:defRPr/>
              </a:pPr>
              <a:endParaRPr lang="de-DE" sz="1400" b="1" kern="0" noProof="1">
                <a:solidFill>
                  <a:srgbClr val="000000"/>
                </a:solidFill>
                <a:latin typeface="Aptos" panose="020B0004020202020204" pitchFamily="34" charset="0"/>
              </a:endParaRPr>
            </a:p>
            <a:p>
              <a:pPr algn="r" defTabSz="914339">
                <a:defRPr/>
              </a:pPr>
              <a:r>
                <a:rPr lang="de-DE" sz="1400" b="1" kern="0" noProof="1">
                  <a:solidFill>
                    <a:srgbClr val="000000"/>
                  </a:solidFill>
                  <a:latin typeface="Aptos" panose="020B0004020202020204" pitchFamily="34" charset="0"/>
                </a:rPr>
                <a:t>Emissionen</a:t>
              </a:r>
            </a:p>
            <a:p>
              <a:pPr algn="r" defTabSz="914339">
                <a:defRPr/>
              </a:pPr>
              <a:r>
                <a:rPr lang="de-DE" sz="1400" b="1" kern="0" noProof="1">
                  <a:solidFill>
                    <a:srgbClr val="000000"/>
                  </a:solidFill>
                  <a:latin typeface="Aptos" panose="020B0004020202020204" pitchFamily="34" charset="0"/>
                </a:rPr>
                <a:t>Errichtung,</a:t>
              </a:r>
            </a:p>
            <a:p>
              <a:pPr algn="r" defTabSz="914339">
                <a:defRPr/>
              </a:pPr>
              <a:r>
                <a:rPr lang="de-DE" sz="1400" b="1" kern="0" noProof="1">
                  <a:solidFill>
                    <a:srgbClr val="000000"/>
                  </a:solidFill>
                  <a:latin typeface="Aptos" panose="020B0004020202020204" pitchFamily="34" charset="0"/>
                </a:rPr>
                <a:t>Instandsetzung</a:t>
              </a:r>
            </a:p>
            <a:p>
              <a:pPr algn="r" defTabSz="914339">
                <a:defRPr/>
              </a:pPr>
              <a:r>
                <a:rPr lang="de-DE" sz="1400" b="1" kern="0" noProof="1">
                  <a:solidFill>
                    <a:srgbClr val="000000"/>
                  </a:solidFill>
                  <a:latin typeface="Aptos" panose="020B0004020202020204" pitchFamily="34" charset="0"/>
                </a:rPr>
                <a:t>Abbruch</a:t>
              </a:r>
            </a:p>
            <a:p>
              <a:pPr algn="r" defTabSz="914339">
                <a:defRPr/>
              </a:pPr>
              <a:r>
                <a:rPr lang="de-DE" sz="1400" b="1" kern="0" noProof="1">
                  <a:solidFill>
                    <a:srgbClr val="000000"/>
                  </a:solidFill>
                  <a:latin typeface="Aptos" panose="020B0004020202020204" pitchFamily="34" charset="0"/>
                </a:rPr>
                <a:t> </a:t>
              </a:r>
            </a:p>
            <a:p>
              <a:pPr algn="r" defTabSz="914339">
                <a:defRPr/>
              </a:pPr>
              <a:endParaRPr lang="de-DE" sz="1400" b="1" kern="0" noProof="1">
                <a:solidFill>
                  <a:srgbClr val="000000"/>
                </a:solidFill>
                <a:latin typeface="Aptos" panose="020B0004020202020204" pitchFamily="34" charset="0"/>
              </a:endParaRPr>
            </a:p>
            <a:p>
              <a:pPr algn="r" defTabSz="914339">
                <a:defRPr/>
              </a:pPr>
              <a:endParaRPr lang="de-DE" sz="1400" b="1" kern="0" noProof="1">
                <a:solidFill>
                  <a:srgbClr val="000000"/>
                </a:solidFill>
                <a:latin typeface="Aptos" panose="020B0004020202020204" pitchFamily="34" charset="0"/>
              </a:endParaRPr>
            </a:p>
            <a:p>
              <a:pPr algn="r" defTabSz="914339">
                <a:defRPr/>
              </a:pPr>
              <a:endParaRPr lang="de-DE" sz="1400" b="1" kern="0" noProof="1">
                <a:solidFill>
                  <a:srgbClr val="000000"/>
                </a:solidFill>
                <a:latin typeface="Aptos" panose="020B0004020202020204" pitchFamily="34" charset="0"/>
              </a:endParaRPr>
            </a:p>
            <a:p>
              <a:pPr algn="r" defTabSz="914339">
                <a:defRPr/>
              </a:pPr>
              <a:endParaRPr lang="de-DE" sz="1400" b="1" kern="0" noProof="1">
                <a:solidFill>
                  <a:srgbClr val="000000"/>
                </a:solidFill>
                <a:latin typeface="Aptos" panose="020B0004020202020204" pitchFamily="34" charset="0"/>
              </a:endParaRPr>
            </a:p>
            <a:p>
              <a:pPr algn="r" defTabSz="914339">
                <a:defRPr/>
              </a:pPr>
              <a:br>
                <a:rPr lang="de-DE" sz="1400" b="1" kern="0" noProof="1">
                  <a:solidFill>
                    <a:srgbClr val="000000"/>
                  </a:solidFill>
                  <a:latin typeface="Aptos" panose="020B0004020202020204" pitchFamily="34" charset="0"/>
                </a:rPr>
              </a:br>
              <a:endParaRPr lang="de-DE" sz="1400" kern="0" noProof="1">
                <a:solidFill>
                  <a:srgbClr val="000000"/>
                </a:solidFill>
                <a:latin typeface="Aptos" panose="020B0004020202020204" pitchFamily="34" charset="0"/>
              </a:endParaRPr>
            </a:p>
          </p:txBody>
        </p:sp>
        <p:sp>
          <p:nvSpPr>
            <p:cNvPr id="97" name="Textfeld 96">
              <a:extLst>
                <a:ext uri="{FF2B5EF4-FFF2-40B4-BE49-F238E27FC236}">
                  <a16:creationId xmlns:a16="http://schemas.microsoft.com/office/drawing/2014/main" id="{22E467C2-6921-112B-237F-F024CE364F97}"/>
                </a:ext>
              </a:extLst>
            </p:cNvPr>
            <p:cNvSpPr txBox="1"/>
            <p:nvPr/>
          </p:nvSpPr>
          <p:spPr>
            <a:xfrm>
              <a:off x="5354529" y="4076183"/>
              <a:ext cx="2766187" cy="1694877"/>
            </a:xfrm>
            <a:prstGeom prst="rect">
              <a:avLst/>
            </a:prstGeom>
            <a:noFill/>
          </p:spPr>
          <p:txBody>
            <a:bodyPr wrap="square">
              <a:spAutoFit/>
            </a:bodyPr>
            <a:lstStyle/>
            <a:p>
              <a:pPr defTabSz="914339">
                <a:defRPr/>
              </a:pPr>
              <a:r>
                <a:rPr lang="de-DE" sz="1050" kern="0" noProof="1">
                  <a:solidFill>
                    <a:srgbClr val="BCCF00"/>
                  </a:solidFill>
                  <a:latin typeface="Calibri" panose="020F0502020204030204"/>
                </a:rPr>
                <a:t>🌾</a:t>
              </a:r>
              <a:r>
                <a:rPr lang="de-DE" sz="1050" kern="0" noProof="1">
                  <a:solidFill>
                    <a:srgbClr val="26434F"/>
                  </a:solidFill>
                  <a:latin typeface="Calibri" panose="020F0502020204030204"/>
                </a:rPr>
                <a:t> </a:t>
              </a:r>
              <a:r>
                <a:rPr lang="de-DE" sz="1050" b="1" kern="0" noProof="1">
                  <a:solidFill>
                    <a:srgbClr val="F59C00"/>
                  </a:solidFill>
                  <a:latin typeface="Calibri" panose="020F0502020204030204"/>
                </a:rPr>
                <a:t>100 % des biogenen Kohlenstoffgehalts</a:t>
              </a:r>
              <a:r>
                <a:rPr lang="de-DE" sz="1050" i="1" kern="0" noProof="1">
                  <a:solidFill>
                    <a:srgbClr val="26434F"/>
                  </a:solidFill>
                  <a:latin typeface="Calibri" panose="020F0502020204030204"/>
                </a:rPr>
                <a:t> als CO₂-Speicher</a:t>
              </a:r>
              <a:br>
                <a:rPr lang="de-DE" sz="1050" i="1" kern="0" noProof="1">
                  <a:solidFill>
                    <a:srgbClr val="26434F"/>
                  </a:solidFill>
                  <a:latin typeface="Calibri" panose="020F0502020204030204"/>
                </a:rPr>
              </a:br>
              <a:r>
                <a:rPr lang="de-DE" sz="1050" kern="0" noProof="1">
                  <a:solidFill>
                    <a:srgbClr val="5FB564"/>
                  </a:solidFill>
                  <a:latin typeface="Calibri" panose="020F0502020204030204"/>
                </a:rPr>
                <a:t>🌳</a:t>
              </a:r>
              <a:r>
                <a:rPr lang="de-DE" sz="1050" i="1" kern="0" noProof="1">
                  <a:solidFill>
                    <a:srgbClr val="26434F"/>
                  </a:solidFill>
                  <a:latin typeface="Calibri" panose="020F0502020204030204"/>
                </a:rPr>
                <a:t> </a:t>
              </a:r>
              <a:r>
                <a:rPr lang="de-DE" sz="1050" b="1" kern="0" noProof="1">
                  <a:solidFill>
                    <a:srgbClr val="418D45"/>
                  </a:solidFill>
                  <a:latin typeface="Calibri" panose="020F0502020204030204"/>
                </a:rPr>
                <a:t>55 % des biogenen CO₂-Gehalts</a:t>
              </a:r>
              <a:r>
                <a:rPr lang="de-DE" sz="1050" b="1" i="1" kern="0" noProof="1">
                  <a:solidFill>
                    <a:srgbClr val="418D45"/>
                  </a:solidFill>
                  <a:latin typeface="Calibri" panose="020F0502020204030204"/>
                </a:rPr>
                <a:t> </a:t>
              </a:r>
              <a:r>
                <a:rPr lang="de-DE" sz="1050" i="1" kern="0" noProof="1">
                  <a:solidFill>
                    <a:srgbClr val="26434F"/>
                  </a:solidFill>
                  <a:latin typeface="Calibri" panose="020F0502020204030204"/>
                </a:rPr>
                <a:t>(25 % Kalamitätenholz + 30 % zusätzlicher Biomasseaufbau)​</a:t>
              </a:r>
              <a:br>
                <a:rPr lang="de-DE" sz="1050" i="1" kern="0" noProof="1">
                  <a:solidFill>
                    <a:srgbClr val="26434F"/>
                  </a:solidFill>
                  <a:latin typeface="Calibri" panose="020F0502020204030204"/>
                </a:rPr>
              </a:br>
              <a:r>
                <a:rPr lang="de-DE" sz="1050" b="1" kern="0" noProof="1">
                  <a:solidFill>
                    <a:srgbClr val="5FB564"/>
                  </a:solidFill>
                  <a:latin typeface="Calibri" panose="020F0502020204030204"/>
                </a:rPr>
                <a:t>🌲</a:t>
              </a:r>
              <a:r>
                <a:rPr lang="de-DE" sz="1050" b="1" kern="0" noProof="1">
                  <a:solidFill>
                    <a:srgbClr val="E1320F"/>
                  </a:solidFill>
                  <a:latin typeface="Calibri" panose="020F0502020204030204"/>
                </a:rPr>
                <a:t>🪓</a:t>
              </a:r>
              <a:r>
                <a:rPr lang="de-DE" sz="1050" i="1" kern="0" noProof="1">
                  <a:solidFill>
                    <a:srgbClr val="26434F"/>
                  </a:solidFill>
                  <a:latin typeface="Calibri" panose="020F0502020204030204"/>
                </a:rPr>
                <a:t> nachweislich Kalamitätenholz </a:t>
              </a:r>
              <a:r>
                <a:rPr lang="de-DE" sz="1050" b="1" kern="0" noProof="1">
                  <a:solidFill>
                    <a:srgbClr val="418D45"/>
                  </a:solidFill>
                  <a:latin typeface="Calibri" panose="020F0502020204030204"/>
                </a:rPr>
                <a:t>100 % des biogenen CO2-Speichers</a:t>
              </a:r>
              <a:r>
                <a:rPr lang="de-DE" sz="1050" i="1" kern="0" noProof="1">
                  <a:solidFill>
                    <a:srgbClr val="26434F"/>
                  </a:solidFill>
                  <a:latin typeface="Calibri" panose="020F0502020204030204"/>
                </a:rPr>
                <a:t> berücksichtigt.</a:t>
              </a:r>
              <a:endParaRPr lang="de-DE" sz="1050" kern="0" noProof="1">
                <a:solidFill>
                  <a:srgbClr val="000000"/>
                </a:solidFill>
                <a:latin typeface="Calibri" panose="020F0502020204030204"/>
              </a:endParaRPr>
            </a:p>
          </p:txBody>
        </p:sp>
        <p:sp>
          <p:nvSpPr>
            <p:cNvPr id="98" name="Rechteck 97">
              <a:extLst>
                <a:ext uri="{FF2B5EF4-FFF2-40B4-BE49-F238E27FC236}">
                  <a16:creationId xmlns:a16="http://schemas.microsoft.com/office/drawing/2014/main" id="{C600848E-0119-E06C-23BD-B9259EE94D03}"/>
                </a:ext>
              </a:extLst>
            </p:cNvPr>
            <p:cNvSpPr/>
            <p:nvPr/>
          </p:nvSpPr>
          <p:spPr>
            <a:xfrm>
              <a:off x="3630231" y="338514"/>
              <a:ext cx="8368327" cy="412170"/>
            </a:xfrm>
            <a:prstGeom prst="rect">
              <a:avLst/>
            </a:prstGeom>
            <a:solidFill>
              <a:srgbClr val="E6EFF3"/>
            </a:solidFill>
            <a:ln w="12700" cap="flat" cmpd="sng" algn="ctr">
              <a:solidFill>
                <a:srgbClr val="3BACBE">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sp>
          <p:nvSpPr>
            <p:cNvPr id="99" name="Pfeil: nach rechts 98">
              <a:extLst>
                <a:ext uri="{FF2B5EF4-FFF2-40B4-BE49-F238E27FC236}">
                  <a16:creationId xmlns:a16="http://schemas.microsoft.com/office/drawing/2014/main" id="{686AF36C-7E52-E317-ECF9-5BAF3DE60C66}"/>
                </a:ext>
              </a:extLst>
            </p:cNvPr>
            <p:cNvSpPr/>
            <p:nvPr/>
          </p:nvSpPr>
          <p:spPr>
            <a:xfrm rot="5400000">
              <a:off x="3521332" y="5664258"/>
              <a:ext cx="1122403" cy="760162"/>
            </a:xfrm>
            <a:prstGeom prst="rightArrow">
              <a:avLst/>
            </a:prstGeom>
            <a:solidFill>
              <a:srgbClr val="3BACBE">
                <a:lumMod val="50000"/>
              </a:srgbClr>
            </a:solidFill>
            <a:ln w="12700" cap="flat" cmpd="sng" algn="ctr">
              <a:solidFill>
                <a:srgbClr val="3BACBE">
                  <a:shade val="15000"/>
                </a:srgbClr>
              </a:solidFill>
              <a:prstDash val="solid"/>
              <a:miter lim="800000"/>
            </a:ln>
            <a:effectLst/>
          </p:spPr>
          <p:txBody>
            <a:bodyPr rtlCol="0" anchor="ctr"/>
            <a:lstStyle/>
            <a:p>
              <a:pPr algn="ctr" defTabSz="914339">
                <a:defRPr/>
              </a:pPr>
              <a:r>
                <a:rPr lang="de-DE" sz="900" kern="0" noProof="1">
                  <a:solidFill>
                    <a:srgbClr val="FFFFFF"/>
                  </a:solidFill>
                  <a:latin typeface="Aptos" panose="020B0004020202020204" pitchFamily="34" charset="0"/>
                </a:rPr>
                <a:t>Emissionen</a:t>
              </a:r>
            </a:p>
          </p:txBody>
        </p:sp>
        <p:sp>
          <p:nvSpPr>
            <p:cNvPr id="100" name="Pfeil: nach rechts 99">
              <a:extLst>
                <a:ext uri="{FF2B5EF4-FFF2-40B4-BE49-F238E27FC236}">
                  <a16:creationId xmlns:a16="http://schemas.microsoft.com/office/drawing/2014/main" id="{B1AF0F73-0C27-F803-4527-5B30C759B382}"/>
                </a:ext>
              </a:extLst>
            </p:cNvPr>
            <p:cNvSpPr/>
            <p:nvPr/>
          </p:nvSpPr>
          <p:spPr>
            <a:xfrm rot="16200000">
              <a:off x="4466506" y="5533329"/>
              <a:ext cx="1122402" cy="764940"/>
            </a:xfrm>
            <a:prstGeom prst="rightArrow">
              <a:avLst/>
            </a:prstGeom>
            <a:solidFill>
              <a:srgbClr val="5FB564"/>
            </a:solidFill>
            <a:ln w="12700" cap="flat" cmpd="sng" algn="ctr">
              <a:solidFill>
                <a:srgbClr val="3BACBE">
                  <a:shade val="15000"/>
                </a:srgbClr>
              </a:solidFill>
              <a:prstDash val="solid"/>
              <a:miter lim="800000"/>
            </a:ln>
            <a:effectLst/>
          </p:spPr>
          <p:txBody>
            <a:bodyPr rtlCol="0" anchor="ctr"/>
            <a:lstStyle/>
            <a:p>
              <a:pPr algn="ctr" defTabSz="914339">
                <a:defRPr/>
              </a:pPr>
              <a:r>
                <a:rPr lang="de-DE" sz="1400" kern="0" noProof="1">
                  <a:solidFill>
                    <a:srgbClr val="FFFFFF"/>
                  </a:solidFill>
                  <a:latin typeface="Aptos" panose="020B0004020202020204" pitchFamily="34" charset="0"/>
                </a:rPr>
                <a:t>CCS</a:t>
              </a:r>
            </a:p>
          </p:txBody>
        </p:sp>
        <p:sp>
          <p:nvSpPr>
            <p:cNvPr id="101" name="Textfeld 100">
              <a:extLst>
                <a:ext uri="{FF2B5EF4-FFF2-40B4-BE49-F238E27FC236}">
                  <a16:creationId xmlns:a16="http://schemas.microsoft.com/office/drawing/2014/main" id="{08D8850A-C6A7-1B10-B4BC-95028916D7F2}"/>
                </a:ext>
              </a:extLst>
            </p:cNvPr>
            <p:cNvSpPr txBox="1"/>
            <p:nvPr/>
          </p:nvSpPr>
          <p:spPr>
            <a:xfrm>
              <a:off x="3652800" y="1513966"/>
              <a:ext cx="2478448" cy="564959"/>
            </a:xfrm>
            <a:prstGeom prst="rect">
              <a:avLst/>
            </a:prstGeom>
            <a:noFill/>
          </p:spPr>
          <p:txBody>
            <a:bodyPr wrap="square">
              <a:spAutoFit/>
            </a:bodyPr>
            <a:lstStyle/>
            <a:p>
              <a:pPr defTabSz="914339">
                <a:defRPr/>
              </a:pPr>
              <a:r>
                <a:rPr lang="de-DE" sz="1200" kern="0" noProof="1">
                  <a:solidFill>
                    <a:srgbClr val="3BACBE"/>
                  </a:solidFill>
                  <a:latin typeface="Aptos" panose="020B0004020202020204" pitchFamily="34" charset="0"/>
                </a:rPr>
                <a:t>⚖⚡☁Stündliche Konversionsfaktoren  </a:t>
              </a:r>
              <a:endParaRPr lang="de-DE" sz="1200" kern="0" noProof="1">
                <a:solidFill>
                  <a:srgbClr val="000000"/>
                </a:solidFill>
                <a:latin typeface="Aptos" panose="020B0004020202020204" pitchFamily="34" charset="0"/>
              </a:endParaRPr>
            </a:p>
          </p:txBody>
        </p:sp>
        <p:sp>
          <p:nvSpPr>
            <p:cNvPr id="102" name="Textfeld 101">
              <a:extLst>
                <a:ext uri="{FF2B5EF4-FFF2-40B4-BE49-F238E27FC236}">
                  <a16:creationId xmlns:a16="http://schemas.microsoft.com/office/drawing/2014/main" id="{A0552F64-55C6-8407-638F-9BFCA9D31F8D}"/>
                </a:ext>
              </a:extLst>
            </p:cNvPr>
            <p:cNvSpPr txBox="1"/>
            <p:nvPr/>
          </p:nvSpPr>
          <p:spPr>
            <a:xfrm>
              <a:off x="5509847" y="2521288"/>
              <a:ext cx="5437167" cy="338975"/>
            </a:xfrm>
            <a:prstGeom prst="rect">
              <a:avLst/>
            </a:prstGeom>
            <a:noFill/>
          </p:spPr>
          <p:txBody>
            <a:bodyPr wrap="square">
              <a:spAutoFit/>
            </a:bodyPr>
            <a:lstStyle/>
            <a:p>
              <a:pPr defTabSz="914339">
                <a:defRPr/>
              </a:pPr>
              <a:r>
                <a:rPr lang="de-DE" sz="1200" kern="0" noProof="1">
                  <a:solidFill>
                    <a:srgbClr val="3BACBE"/>
                  </a:solidFill>
                  <a:latin typeface="Aptos" panose="020B0004020202020204" pitchFamily="34" charset="0"/>
                </a:rPr>
                <a:t>⚖☁ jährlicher Dekarbonisierungspfad</a:t>
              </a:r>
              <a:endParaRPr lang="de-DE" sz="1200" kern="0" noProof="1">
                <a:solidFill>
                  <a:srgbClr val="000000"/>
                </a:solidFill>
                <a:latin typeface="Aptos" panose="020B0004020202020204" pitchFamily="34" charset="0"/>
              </a:endParaRPr>
            </a:p>
          </p:txBody>
        </p:sp>
        <p:sp>
          <p:nvSpPr>
            <p:cNvPr id="103" name="Pfeil: nach rechts 102">
              <a:extLst>
                <a:ext uri="{FF2B5EF4-FFF2-40B4-BE49-F238E27FC236}">
                  <a16:creationId xmlns:a16="http://schemas.microsoft.com/office/drawing/2014/main" id="{E7E9FCCC-2CFA-8C49-D208-CC27ADCDCE91}"/>
                </a:ext>
              </a:extLst>
            </p:cNvPr>
            <p:cNvSpPr/>
            <p:nvPr/>
          </p:nvSpPr>
          <p:spPr>
            <a:xfrm rot="16200000" flipH="1">
              <a:off x="6239302" y="1355681"/>
              <a:ext cx="1321351" cy="604454"/>
            </a:xfrm>
            <a:prstGeom prst="rightArrow">
              <a:avLst/>
            </a:prstGeom>
            <a:solidFill>
              <a:srgbClr val="5FB564"/>
            </a:solidFill>
            <a:ln w="12700" cap="flat" cmpd="sng" algn="ctr">
              <a:solidFill>
                <a:srgbClr val="3BACBE">
                  <a:shade val="15000"/>
                </a:srgbClr>
              </a:solidFill>
              <a:prstDash val="solid"/>
              <a:miter lim="800000"/>
            </a:ln>
            <a:effectLst/>
          </p:spPr>
          <p:txBody>
            <a:bodyPr rtlCol="0" anchor="ctr"/>
            <a:lstStyle/>
            <a:p>
              <a:pPr algn="ctr" defTabSz="914339">
                <a:defRPr/>
              </a:pPr>
              <a:r>
                <a:rPr lang="de-DE" sz="900" kern="0" noProof="1">
                  <a:solidFill>
                    <a:srgbClr val="FFFFFF"/>
                  </a:solidFill>
                  <a:latin typeface="Aptos" panose="020B0004020202020204" pitchFamily="34" charset="0"/>
                </a:rPr>
                <a:t>THG-Einsparung</a:t>
              </a:r>
            </a:p>
          </p:txBody>
        </p:sp>
        <p:sp>
          <p:nvSpPr>
            <p:cNvPr id="104" name="Pfeil: nach rechts 103">
              <a:extLst>
                <a:ext uri="{FF2B5EF4-FFF2-40B4-BE49-F238E27FC236}">
                  <a16:creationId xmlns:a16="http://schemas.microsoft.com/office/drawing/2014/main" id="{C12A2C2F-8B48-5F0F-7F7B-DE09649BABA1}"/>
                </a:ext>
              </a:extLst>
            </p:cNvPr>
            <p:cNvSpPr/>
            <p:nvPr/>
          </p:nvSpPr>
          <p:spPr>
            <a:xfrm rot="16200000">
              <a:off x="6639507" y="1275970"/>
              <a:ext cx="1097062" cy="539582"/>
            </a:xfrm>
            <a:prstGeom prst="rightArrow">
              <a:avLst/>
            </a:prstGeom>
            <a:solidFill>
              <a:srgbClr val="3BACBE">
                <a:lumMod val="50000"/>
              </a:srgbClr>
            </a:solidFill>
            <a:ln w="12700" cap="flat" cmpd="sng" algn="ctr">
              <a:solidFill>
                <a:srgbClr val="3BACBE">
                  <a:shade val="15000"/>
                </a:srgbClr>
              </a:solidFill>
              <a:prstDash val="solid"/>
              <a:miter lim="800000"/>
            </a:ln>
            <a:effectLst/>
          </p:spPr>
          <p:txBody>
            <a:bodyPr rtlCol="0" anchor="ctr"/>
            <a:lstStyle/>
            <a:p>
              <a:pPr algn="ctr" defTabSz="914339">
                <a:defRPr/>
              </a:pPr>
              <a:r>
                <a:rPr lang="de-DE" sz="700" kern="0" noProof="1">
                  <a:solidFill>
                    <a:srgbClr val="FFFFFF"/>
                  </a:solidFill>
                  <a:latin typeface="Aptos" panose="020B0004020202020204" pitchFamily="34" charset="0"/>
                </a:rPr>
                <a:t>Emissionen</a:t>
              </a:r>
            </a:p>
          </p:txBody>
        </p:sp>
        <p:sp>
          <p:nvSpPr>
            <p:cNvPr id="106" name="Pfeil: nach rechts 105">
              <a:extLst>
                <a:ext uri="{FF2B5EF4-FFF2-40B4-BE49-F238E27FC236}">
                  <a16:creationId xmlns:a16="http://schemas.microsoft.com/office/drawing/2014/main" id="{890B049C-6394-1DF5-0381-F40F4ADEFBD0}"/>
                </a:ext>
              </a:extLst>
            </p:cNvPr>
            <p:cNvSpPr/>
            <p:nvPr/>
          </p:nvSpPr>
          <p:spPr>
            <a:xfrm rot="16200000">
              <a:off x="8672526" y="5652949"/>
              <a:ext cx="1048671" cy="412234"/>
            </a:xfrm>
            <a:prstGeom prst="rightArrow">
              <a:avLst/>
            </a:prstGeom>
            <a:solidFill>
              <a:srgbClr val="5FB564"/>
            </a:solidFill>
            <a:ln w="12700" cap="flat" cmpd="sng" algn="ctr">
              <a:solidFill>
                <a:srgbClr val="3BACBE">
                  <a:shade val="15000"/>
                </a:srgbClr>
              </a:solidFill>
              <a:prstDash val="solid"/>
              <a:miter lim="800000"/>
            </a:ln>
            <a:effectLst/>
          </p:spPr>
          <p:txBody>
            <a:bodyPr rtlCol="0" anchor="ctr"/>
            <a:lstStyle/>
            <a:p>
              <a:pPr algn="ctr" defTabSz="914339">
                <a:defRPr/>
              </a:pPr>
              <a:r>
                <a:rPr lang="de-DE" sz="1400" kern="0" noProof="1">
                  <a:solidFill>
                    <a:srgbClr val="FFFFFF"/>
                  </a:solidFill>
                  <a:latin typeface="Aptos" panose="020B0004020202020204" pitchFamily="34" charset="0"/>
                </a:rPr>
                <a:t>CCS</a:t>
              </a:r>
            </a:p>
          </p:txBody>
        </p:sp>
        <p:sp>
          <p:nvSpPr>
            <p:cNvPr id="107" name="Textfeld 106">
              <a:extLst>
                <a:ext uri="{FF2B5EF4-FFF2-40B4-BE49-F238E27FC236}">
                  <a16:creationId xmlns:a16="http://schemas.microsoft.com/office/drawing/2014/main" id="{C45D04EF-65CC-5D20-DB83-4720668B87BA}"/>
                </a:ext>
              </a:extLst>
            </p:cNvPr>
            <p:cNvSpPr txBox="1"/>
            <p:nvPr/>
          </p:nvSpPr>
          <p:spPr>
            <a:xfrm>
              <a:off x="3685862" y="4010869"/>
              <a:ext cx="1775697" cy="1468894"/>
            </a:xfrm>
            <a:prstGeom prst="rect">
              <a:avLst/>
            </a:prstGeom>
            <a:noFill/>
          </p:spPr>
          <p:txBody>
            <a:bodyPr wrap="none" rtlCol="0">
              <a:spAutoFit/>
            </a:bodyPr>
            <a:lstStyle/>
            <a:p>
              <a:pPr defTabSz="914339">
                <a:defRPr/>
              </a:pPr>
              <a:r>
                <a:rPr lang="de-DE" sz="3600" kern="0" noProof="1">
                  <a:solidFill>
                    <a:srgbClr val="000000"/>
                  </a:solidFill>
                  <a:latin typeface="Aptos" panose="020B0004020202020204" pitchFamily="34" charset="0"/>
                </a:rPr>
                <a:t>🏗️🏠</a:t>
              </a:r>
            </a:p>
            <a:p>
              <a:pPr defTabSz="914339">
                <a:defRPr/>
              </a:pPr>
              <a:r>
                <a:rPr lang="de-DE" sz="3600" kern="0" noProof="1">
                  <a:solidFill>
                    <a:srgbClr val="000000"/>
                  </a:solidFill>
                  <a:latin typeface="Aptos" panose="020B0004020202020204" pitchFamily="34" charset="0"/>
                </a:rPr>
                <a:t>🧱🪵</a:t>
              </a:r>
            </a:p>
          </p:txBody>
        </p:sp>
        <p:sp>
          <p:nvSpPr>
            <p:cNvPr id="108" name="Textfeld 107">
              <a:extLst>
                <a:ext uri="{FF2B5EF4-FFF2-40B4-BE49-F238E27FC236}">
                  <a16:creationId xmlns:a16="http://schemas.microsoft.com/office/drawing/2014/main" id="{4E754C1C-569F-B729-8530-5FC52C33D849}"/>
                </a:ext>
              </a:extLst>
            </p:cNvPr>
            <p:cNvSpPr txBox="1"/>
            <p:nvPr/>
          </p:nvSpPr>
          <p:spPr>
            <a:xfrm>
              <a:off x="7955671" y="4059520"/>
              <a:ext cx="1775697" cy="1468894"/>
            </a:xfrm>
            <a:prstGeom prst="rect">
              <a:avLst/>
            </a:prstGeom>
            <a:noFill/>
          </p:spPr>
          <p:txBody>
            <a:bodyPr wrap="none" rtlCol="0">
              <a:spAutoFit/>
            </a:bodyPr>
            <a:lstStyle/>
            <a:p>
              <a:pPr defTabSz="914339">
                <a:defRPr/>
              </a:pPr>
              <a:r>
                <a:rPr lang="de-DE" sz="3600" kern="0" noProof="1">
                  <a:solidFill>
                    <a:srgbClr val="000000"/>
                  </a:solidFill>
                  <a:latin typeface="Aptos" panose="020B0004020202020204" pitchFamily="34" charset="0"/>
                </a:rPr>
                <a:t>🛠️🏚️</a:t>
              </a:r>
            </a:p>
            <a:p>
              <a:pPr defTabSz="914339">
                <a:defRPr/>
              </a:pPr>
              <a:r>
                <a:rPr lang="de-DE" sz="3600" kern="0" noProof="1">
                  <a:solidFill>
                    <a:srgbClr val="000000"/>
                  </a:solidFill>
                  <a:latin typeface="Aptos" panose="020B0004020202020204" pitchFamily="34" charset="0"/>
                </a:rPr>
                <a:t>🧱🪵</a:t>
              </a:r>
            </a:p>
          </p:txBody>
        </p:sp>
        <p:sp>
          <p:nvSpPr>
            <p:cNvPr id="109" name="Textfeld 108">
              <a:extLst>
                <a:ext uri="{FF2B5EF4-FFF2-40B4-BE49-F238E27FC236}">
                  <a16:creationId xmlns:a16="http://schemas.microsoft.com/office/drawing/2014/main" id="{D608A562-BAAC-6DC6-E88B-590A466470BA}"/>
                </a:ext>
              </a:extLst>
            </p:cNvPr>
            <p:cNvSpPr txBox="1"/>
            <p:nvPr/>
          </p:nvSpPr>
          <p:spPr>
            <a:xfrm>
              <a:off x="6259676" y="1225114"/>
              <a:ext cx="2534167" cy="790943"/>
            </a:xfrm>
            <a:prstGeom prst="rect">
              <a:avLst/>
            </a:prstGeom>
            <a:noFill/>
          </p:spPr>
          <p:txBody>
            <a:bodyPr wrap="square" rtlCol="0">
              <a:spAutoFit/>
            </a:bodyPr>
            <a:lstStyle/>
            <a:p>
              <a:pPr defTabSz="914339">
                <a:defRPr/>
              </a:pPr>
              <a:r>
                <a:rPr lang="de-DE" sz="3600" kern="0" noProof="1">
                  <a:solidFill>
                    <a:srgbClr val="000000"/>
                  </a:solidFill>
                  <a:latin typeface="Aptos" panose="020B0004020202020204" pitchFamily="34" charset="0"/>
                </a:rPr>
                <a:t>🔌⚡🚗</a:t>
              </a:r>
            </a:p>
          </p:txBody>
        </p:sp>
        <p:sp>
          <p:nvSpPr>
            <p:cNvPr id="110" name="Textfeld 109">
              <a:extLst>
                <a:ext uri="{FF2B5EF4-FFF2-40B4-BE49-F238E27FC236}">
                  <a16:creationId xmlns:a16="http://schemas.microsoft.com/office/drawing/2014/main" id="{D936DE0F-9EB3-1982-5763-2274731978B6}"/>
                </a:ext>
              </a:extLst>
            </p:cNvPr>
            <p:cNvSpPr txBox="1"/>
            <p:nvPr/>
          </p:nvSpPr>
          <p:spPr>
            <a:xfrm>
              <a:off x="4198888" y="5714960"/>
              <a:ext cx="7594488" cy="376640"/>
            </a:xfrm>
            <a:prstGeom prst="rect">
              <a:avLst/>
            </a:prstGeom>
            <a:noFill/>
          </p:spPr>
          <p:txBody>
            <a:bodyPr wrap="square">
              <a:spAutoFit/>
            </a:bodyPr>
            <a:lstStyle/>
            <a:p>
              <a:pPr defTabSz="914339">
                <a:defRPr/>
              </a:pPr>
              <a:r>
                <a:rPr lang="de-DE" sz="1400" b="1" kern="0" noProof="1">
                  <a:solidFill>
                    <a:srgbClr val="000000"/>
                  </a:solidFill>
                  <a:latin typeface="Aptos" panose="020B0004020202020204" pitchFamily="34" charset="0"/>
                </a:rPr>
                <a:t>A1</a:t>
              </a:r>
              <a:r>
                <a:rPr lang="de-DE" sz="1400" kern="0" dirty="0">
                  <a:solidFill>
                    <a:srgbClr val="000000"/>
                  </a:solidFill>
                  <a:latin typeface="Aptos" panose="020B0004020202020204" pitchFamily="34" charset="0"/>
                </a:rPr>
                <a:t>−</a:t>
              </a:r>
              <a:r>
                <a:rPr lang="de-DE" sz="1400" b="1" kern="0" noProof="1">
                  <a:solidFill>
                    <a:srgbClr val="000000"/>
                  </a:solidFill>
                  <a:latin typeface="Aptos" panose="020B0004020202020204" pitchFamily="34" charset="0"/>
                </a:rPr>
                <a:t>3					</a:t>
              </a:r>
              <a:endParaRPr lang="de-DE" sz="1400" kern="0" noProof="1">
                <a:solidFill>
                  <a:srgbClr val="000000"/>
                </a:solidFill>
                <a:latin typeface="Aptos" panose="020B0004020202020204" pitchFamily="34" charset="0"/>
              </a:endParaRPr>
            </a:p>
          </p:txBody>
        </p:sp>
        <p:sp>
          <p:nvSpPr>
            <p:cNvPr id="111" name="Textfeld 110">
              <a:extLst>
                <a:ext uri="{FF2B5EF4-FFF2-40B4-BE49-F238E27FC236}">
                  <a16:creationId xmlns:a16="http://schemas.microsoft.com/office/drawing/2014/main" id="{7B807443-B89A-CBD7-0B2F-44A40D8E0A43}"/>
                </a:ext>
              </a:extLst>
            </p:cNvPr>
            <p:cNvSpPr txBox="1"/>
            <p:nvPr/>
          </p:nvSpPr>
          <p:spPr>
            <a:xfrm>
              <a:off x="7410744" y="1027335"/>
              <a:ext cx="6094563" cy="376640"/>
            </a:xfrm>
            <a:prstGeom prst="rect">
              <a:avLst/>
            </a:prstGeom>
            <a:noFill/>
          </p:spPr>
          <p:txBody>
            <a:bodyPr wrap="square">
              <a:spAutoFit/>
            </a:bodyPr>
            <a:lstStyle/>
            <a:p>
              <a:pPr defTabSz="914339">
                <a:defRPr/>
              </a:pPr>
              <a:r>
                <a:rPr lang="de-DE" sz="1400" b="1" kern="0" noProof="1">
                  <a:solidFill>
                    <a:srgbClr val="000000"/>
                  </a:solidFill>
                  <a:latin typeface="Aptos" panose="020B0004020202020204" pitchFamily="34" charset="0"/>
                </a:rPr>
                <a:t>B6	B8</a:t>
              </a:r>
              <a:endParaRPr lang="de-DE" sz="1400" kern="0" noProof="1">
                <a:solidFill>
                  <a:srgbClr val="000000"/>
                </a:solidFill>
                <a:latin typeface="Aptos" panose="020B0004020202020204" pitchFamily="34" charset="0"/>
              </a:endParaRPr>
            </a:p>
          </p:txBody>
        </p:sp>
        <p:sp>
          <p:nvSpPr>
            <p:cNvPr id="112" name="Textfeld 111">
              <a:extLst>
                <a:ext uri="{FF2B5EF4-FFF2-40B4-BE49-F238E27FC236}">
                  <a16:creationId xmlns:a16="http://schemas.microsoft.com/office/drawing/2014/main" id="{80C6420F-53E9-90F8-D54C-54FD20DF9F19}"/>
                </a:ext>
              </a:extLst>
            </p:cNvPr>
            <p:cNvSpPr txBox="1"/>
            <p:nvPr/>
          </p:nvSpPr>
          <p:spPr>
            <a:xfrm>
              <a:off x="3564816" y="307683"/>
              <a:ext cx="3373515" cy="338975"/>
            </a:xfrm>
            <a:prstGeom prst="rect">
              <a:avLst/>
            </a:prstGeom>
            <a:noFill/>
          </p:spPr>
          <p:txBody>
            <a:bodyPr wrap="square">
              <a:spAutoFit/>
            </a:bodyPr>
            <a:lstStyle/>
            <a:p>
              <a:pPr defTabSz="914339">
                <a:defRPr/>
              </a:pPr>
              <a:r>
                <a:rPr lang="de-DE" sz="1200" kern="0" noProof="1">
                  <a:solidFill>
                    <a:srgbClr val="3BACBE">
                      <a:lumMod val="50000"/>
                    </a:srgbClr>
                  </a:solidFill>
                  <a:latin typeface="Aptos" panose="020B0004020202020204" pitchFamily="34" charset="0"/>
                </a:rPr>
                <a:t>Kumulative Emissionen</a:t>
              </a:r>
            </a:p>
          </p:txBody>
        </p:sp>
        <p:sp>
          <p:nvSpPr>
            <p:cNvPr id="113" name="Pfeil: nach oben und unten 112">
              <a:extLst>
                <a:ext uri="{FF2B5EF4-FFF2-40B4-BE49-F238E27FC236}">
                  <a16:creationId xmlns:a16="http://schemas.microsoft.com/office/drawing/2014/main" id="{45C54CD7-D910-6653-5079-C2DD77A245FE}"/>
                </a:ext>
              </a:extLst>
            </p:cNvPr>
            <p:cNvSpPr/>
            <p:nvPr/>
          </p:nvSpPr>
          <p:spPr>
            <a:xfrm>
              <a:off x="10368275" y="5296056"/>
              <a:ext cx="412235" cy="1048672"/>
            </a:xfrm>
            <a:prstGeom prst="upDownArrow">
              <a:avLst/>
            </a:prstGeom>
            <a:noFill/>
            <a:ln w="38100" cap="flat" cmpd="sng" algn="ctr">
              <a:solidFill>
                <a:srgbClr val="E6EFF3">
                  <a:lumMod val="50000"/>
                </a:srgbClr>
              </a:solidFill>
              <a:prstDash val="sysDash"/>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cxnSp>
          <p:nvCxnSpPr>
            <p:cNvPr id="114" name="Gerader Verbinder 113">
              <a:extLst>
                <a:ext uri="{FF2B5EF4-FFF2-40B4-BE49-F238E27FC236}">
                  <a16:creationId xmlns:a16="http://schemas.microsoft.com/office/drawing/2014/main" id="{62475A74-0C98-6214-7CB0-6A3C039E3CB2}"/>
                </a:ext>
              </a:extLst>
            </p:cNvPr>
            <p:cNvCxnSpPr/>
            <p:nvPr/>
          </p:nvCxnSpPr>
          <p:spPr>
            <a:xfrm>
              <a:off x="9838267" y="2163999"/>
              <a:ext cx="1684867" cy="0"/>
            </a:xfrm>
            <a:prstGeom prst="line">
              <a:avLst/>
            </a:prstGeom>
            <a:noFill/>
            <a:ln w="12700" cap="flat" cmpd="sng" algn="ctr">
              <a:solidFill>
                <a:srgbClr val="CA0237"/>
              </a:solidFill>
              <a:prstDash val="solid"/>
              <a:miter lim="800000"/>
            </a:ln>
            <a:effectLst/>
          </p:spPr>
        </p:cxnSp>
        <p:sp>
          <p:nvSpPr>
            <p:cNvPr id="115" name="Textfeld 114">
              <a:extLst>
                <a:ext uri="{FF2B5EF4-FFF2-40B4-BE49-F238E27FC236}">
                  <a16:creationId xmlns:a16="http://schemas.microsoft.com/office/drawing/2014/main" id="{D3EF6D78-D404-4CF0-5BA7-80985C3E5751}"/>
                </a:ext>
              </a:extLst>
            </p:cNvPr>
            <p:cNvSpPr txBox="1"/>
            <p:nvPr/>
          </p:nvSpPr>
          <p:spPr>
            <a:xfrm>
              <a:off x="9735237" y="3696516"/>
              <a:ext cx="2423553" cy="903935"/>
            </a:xfrm>
            <a:prstGeom prst="rect">
              <a:avLst/>
            </a:prstGeom>
            <a:noFill/>
          </p:spPr>
          <p:txBody>
            <a:bodyPr wrap="square">
              <a:spAutoFit/>
            </a:bodyPr>
            <a:lstStyle/>
            <a:p>
              <a:pPr defTabSz="914339">
                <a:defRPr/>
              </a:pPr>
              <a:r>
                <a:rPr lang="de-DE" sz="1400" kern="0" noProof="1">
                  <a:solidFill>
                    <a:srgbClr val="000000"/>
                  </a:solidFill>
                  <a:latin typeface="Aptos" panose="020B0004020202020204" pitchFamily="34" charset="0"/>
                </a:rPr>
                <a:t>Annahme: nach 2050: sind Systeme dekarbonisiert </a:t>
              </a:r>
            </a:p>
          </p:txBody>
        </p:sp>
        <p:cxnSp>
          <p:nvCxnSpPr>
            <p:cNvPr id="116" name="Gerader Verbinder 115">
              <a:extLst>
                <a:ext uri="{FF2B5EF4-FFF2-40B4-BE49-F238E27FC236}">
                  <a16:creationId xmlns:a16="http://schemas.microsoft.com/office/drawing/2014/main" id="{805B1AF3-D967-E0C6-F4BA-0E166452BB58}"/>
                </a:ext>
              </a:extLst>
            </p:cNvPr>
            <p:cNvCxnSpPr>
              <a:cxnSpLocks/>
            </p:cNvCxnSpPr>
            <p:nvPr/>
          </p:nvCxnSpPr>
          <p:spPr>
            <a:xfrm>
              <a:off x="9838267" y="2941557"/>
              <a:ext cx="1684867" cy="0"/>
            </a:xfrm>
            <a:prstGeom prst="line">
              <a:avLst/>
            </a:prstGeom>
            <a:noFill/>
            <a:ln w="12700" cap="flat" cmpd="sng" algn="ctr">
              <a:solidFill>
                <a:srgbClr val="CA0237"/>
              </a:solidFill>
              <a:prstDash val="solid"/>
              <a:miter lim="800000"/>
            </a:ln>
            <a:effectLst/>
          </p:spPr>
        </p:cxnSp>
        <p:cxnSp>
          <p:nvCxnSpPr>
            <p:cNvPr id="117" name="Gerader Verbinder 116">
              <a:extLst>
                <a:ext uri="{FF2B5EF4-FFF2-40B4-BE49-F238E27FC236}">
                  <a16:creationId xmlns:a16="http://schemas.microsoft.com/office/drawing/2014/main" id="{39D36654-5ACE-75D3-BF1F-6AE0E0E6ACB3}"/>
                </a:ext>
              </a:extLst>
            </p:cNvPr>
            <p:cNvCxnSpPr>
              <a:cxnSpLocks/>
            </p:cNvCxnSpPr>
            <p:nvPr/>
          </p:nvCxnSpPr>
          <p:spPr>
            <a:xfrm>
              <a:off x="9838267" y="3174486"/>
              <a:ext cx="1684867" cy="0"/>
            </a:xfrm>
            <a:prstGeom prst="line">
              <a:avLst/>
            </a:prstGeom>
            <a:noFill/>
            <a:ln w="12700" cap="flat" cmpd="sng" algn="ctr">
              <a:solidFill>
                <a:srgbClr val="3BACBE">
                  <a:lumMod val="75000"/>
                </a:srgbClr>
              </a:solidFill>
              <a:prstDash val="solid"/>
              <a:miter lim="800000"/>
            </a:ln>
            <a:effectLst/>
          </p:spPr>
        </p:cxnSp>
        <p:cxnSp>
          <p:nvCxnSpPr>
            <p:cNvPr id="118" name="Gerader Verbinder 117">
              <a:extLst>
                <a:ext uri="{FF2B5EF4-FFF2-40B4-BE49-F238E27FC236}">
                  <a16:creationId xmlns:a16="http://schemas.microsoft.com/office/drawing/2014/main" id="{966D31D5-9C51-6637-EDA4-02A628F34365}"/>
                </a:ext>
              </a:extLst>
            </p:cNvPr>
            <p:cNvCxnSpPr>
              <a:cxnSpLocks/>
            </p:cNvCxnSpPr>
            <p:nvPr/>
          </p:nvCxnSpPr>
          <p:spPr>
            <a:xfrm>
              <a:off x="9838267" y="3407415"/>
              <a:ext cx="1684867" cy="0"/>
            </a:xfrm>
            <a:prstGeom prst="line">
              <a:avLst/>
            </a:prstGeom>
            <a:noFill/>
            <a:ln w="12700" cap="flat" cmpd="sng" algn="ctr">
              <a:solidFill>
                <a:srgbClr val="5FB564">
                  <a:lumMod val="75000"/>
                </a:srgbClr>
              </a:solidFill>
              <a:prstDash val="solid"/>
              <a:miter lim="800000"/>
            </a:ln>
            <a:effectLst/>
          </p:spPr>
        </p:cxnSp>
        <p:cxnSp>
          <p:nvCxnSpPr>
            <p:cNvPr id="119" name="Gerader Verbinder 118">
              <a:extLst>
                <a:ext uri="{FF2B5EF4-FFF2-40B4-BE49-F238E27FC236}">
                  <a16:creationId xmlns:a16="http://schemas.microsoft.com/office/drawing/2014/main" id="{9479B0F1-3FD4-1667-6041-8656F8069410}"/>
                </a:ext>
              </a:extLst>
            </p:cNvPr>
            <p:cNvCxnSpPr>
              <a:cxnSpLocks/>
            </p:cNvCxnSpPr>
            <p:nvPr/>
          </p:nvCxnSpPr>
          <p:spPr>
            <a:xfrm>
              <a:off x="9838267" y="3640345"/>
              <a:ext cx="1684867" cy="0"/>
            </a:xfrm>
            <a:prstGeom prst="line">
              <a:avLst/>
            </a:prstGeom>
            <a:noFill/>
            <a:ln w="12700" cap="flat" cmpd="sng" algn="ctr">
              <a:solidFill>
                <a:srgbClr val="F59C00">
                  <a:lumMod val="75000"/>
                </a:srgbClr>
              </a:solidFill>
              <a:prstDash val="solid"/>
              <a:miter lim="800000"/>
            </a:ln>
            <a:effectLst/>
          </p:spPr>
        </p:cxnSp>
        <p:sp>
          <p:nvSpPr>
            <p:cNvPr id="120" name="Rechteck 119">
              <a:extLst>
                <a:ext uri="{FF2B5EF4-FFF2-40B4-BE49-F238E27FC236}">
                  <a16:creationId xmlns:a16="http://schemas.microsoft.com/office/drawing/2014/main" id="{6FA247C1-491C-33F8-6BEF-C9899BD2E53A}"/>
                </a:ext>
              </a:extLst>
            </p:cNvPr>
            <p:cNvSpPr/>
            <p:nvPr/>
          </p:nvSpPr>
          <p:spPr>
            <a:xfrm>
              <a:off x="9680986" y="380831"/>
              <a:ext cx="2317572" cy="358732"/>
            </a:xfrm>
            <a:prstGeom prst="rect">
              <a:avLst/>
            </a:prstGeom>
            <a:solidFill>
              <a:srgbClr val="3BACBE">
                <a:lumMod val="50000"/>
              </a:srgbClr>
            </a:solidFill>
            <a:ln w="12700" cap="flat" cmpd="sng" algn="ctr">
              <a:solidFill>
                <a:srgbClr val="3BACBE">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sp>
          <p:nvSpPr>
            <p:cNvPr id="121" name="Freihandform: Form 120">
              <a:extLst>
                <a:ext uri="{FF2B5EF4-FFF2-40B4-BE49-F238E27FC236}">
                  <a16:creationId xmlns:a16="http://schemas.microsoft.com/office/drawing/2014/main" id="{4257A9A6-2DD4-50A1-BF05-FFCC35E6C0EB}"/>
                </a:ext>
              </a:extLst>
            </p:cNvPr>
            <p:cNvSpPr/>
            <p:nvPr/>
          </p:nvSpPr>
          <p:spPr>
            <a:xfrm>
              <a:off x="3640667" y="380999"/>
              <a:ext cx="6048172" cy="355208"/>
            </a:xfrm>
            <a:custGeom>
              <a:avLst/>
              <a:gdLst>
                <a:gd name="connsiteX0" fmla="*/ 6011333 w 6028266"/>
                <a:gd name="connsiteY0" fmla="*/ 321733 h 321733"/>
                <a:gd name="connsiteX1" fmla="*/ 0 w 6028266"/>
                <a:gd name="connsiteY1" fmla="*/ 321733 h 321733"/>
                <a:gd name="connsiteX2" fmla="*/ 110066 w 6028266"/>
                <a:gd name="connsiteY2" fmla="*/ 279400 h 321733"/>
                <a:gd name="connsiteX3" fmla="*/ 1651000 w 6028266"/>
                <a:gd name="connsiteY3" fmla="*/ 118533 h 321733"/>
                <a:gd name="connsiteX4" fmla="*/ 2463800 w 6028266"/>
                <a:gd name="connsiteY4" fmla="*/ 50800 h 321733"/>
                <a:gd name="connsiteX5" fmla="*/ 3843866 w 6028266"/>
                <a:gd name="connsiteY5" fmla="*/ 8466 h 321733"/>
                <a:gd name="connsiteX6" fmla="*/ 5909733 w 6028266"/>
                <a:gd name="connsiteY6" fmla="*/ 8466 h 321733"/>
                <a:gd name="connsiteX7" fmla="*/ 6028266 w 6028266"/>
                <a:gd name="connsiteY7" fmla="*/ 0 h 321733"/>
                <a:gd name="connsiteX8" fmla="*/ 6011333 w 6028266"/>
                <a:gd name="connsiteY8" fmla="*/ 321733 h 32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28266" h="321733">
                  <a:moveTo>
                    <a:pt x="6011333" y="321733"/>
                  </a:moveTo>
                  <a:lnTo>
                    <a:pt x="0" y="321733"/>
                  </a:lnTo>
                  <a:lnTo>
                    <a:pt x="110066" y="279400"/>
                  </a:lnTo>
                  <a:lnTo>
                    <a:pt x="1651000" y="118533"/>
                  </a:lnTo>
                  <a:lnTo>
                    <a:pt x="2463800" y="50800"/>
                  </a:lnTo>
                  <a:lnTo>
                    <a:pt x="3843866" y="8466"/>
                  </a:lnTo>
                  <a:lnTo>
                    <a:pt x="5909733" y="8466"/>
                  </a:lnTo>
                  <a:lnTo>
                    <a:pt x="6028266" y="0"/>
                  </a:lnTo>
                  <a:lnTo>
                    <a:pt x="6011333" y="321733"/>
                  </a:lnTo>
                  <a:close/>
                </a:path>
              </a:pathLst>
            </a:custGeom>
            <a:solidFill>
              <a:srgbClr val="3BACBE">
                <a:lumMod val="50000"/>
              </a:srgbClr>
            </a:solidFill>
            <a:ln w="12700" cap="flat" cmpd="sng" algn="ctr">
              <a:solidFill>
                <a:srgbClr val="3BACBE">
                  <a:shade val="15000"/>
                </a:srgbClr>
              </a:solidFill>
              <a:prstDash val="solid"/>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cxnSp>
          <p:nvCxnSpPr>
            <p:cNvPr id="122" name="Gerader Verbinder 121">
              <a:extLst>
                <a:ext uri="{FF2B5EF4-FFF2-40B4-BE49-F238E27FC236}">
                  <a16:creationId xmlns:a16="http://schemas.microsoft.com/office/drawing/2014/main" id="{8E7087FC-6574-BCB8-693A-473C60FCFFEB}"/>
                </a:ext>
              </a:extLst>
            </p:cNvPr>
            <p:cNvCxnSpPr>
              <a:cxnSpLocks/>
            </p:cNvCxnSpPr>
            <p:nvPr/>
          </p:nvCxnSpPr>
          <p:spPr>
            <a:xfrm>
              <a:off x="9838267" y="2234138"/>
              <a:ext cx="1684867" cy="0"/>
            </a:xfrm>
            <a:prstGeom prst="line">
              <a:avLst/>
            </a:prstGeom>
            <a:noFill/>
            <a:ln w="12700" cap="flat" cmpd="sng" algn="ctr">
              <a:solidFill>
                <a:srgbClr val="BCCF00"/>
              </a:solidFill>
              <a:prstDash val="solid"/>
              <a:miter lim="800000"/>
            </a:ln>
            <a:effectLst/>
          </p:spPr>
        </p:cxnSp>
        <p:sp>
          <p:nvSpPr>
            <p:cNvPr id="123" name="Pfeil: nach oben und unten 122">
              <a:extLst>
                <a:ext uri="{FF2B5EF4-FFF2-40B4-BE49-F238E27FC236}">
                  <a16:creationId xmlns:a16="http://schemas.microsoft.com/office/drawing/2014/main" id="{E6A4B0A7-14EC-5A45-79CF-69A73DDAF756}"/>
                </a:ext>
              </a:extLst>
            </p:cNvPr>
            <p:cNvSpPr/>
            <p:nvPr/>
          </p:nvSpPr>
          <p:spPr>
            <a:xfrm>
              <a:off x="10434173" y="1031875"/>
              <a:ext cx="412235" cy="1048672"/>
            </a:xfrm>
            <a:prstGeom prst="upDownArrow">
              <a:avLst/>
            </a:prstGeom>
            <a:noFill/>
            <a:ln w="38100" cap="flat" cmpd="sng" algn="ctr">
              <a:solidFill>
                <a:srgbClr val="E6EFF3">
                  <a:lumMod val="50000"/>
                </a:srgbClr>
              </a:solidFill>
              <a:prstDash val="sysDash"/>
              <a:miter lim="800000"/>
            </a:ln>
            <a:effectLst/>
          </p:spPr>
          <p:txBody>
            <a:bodyPr rtlCol="0" anchor="ctr"/>
            <a:lstStyle/>
            <a:p>
              <a:pPr algn="ctr" defTabSz="914339">
                <a:defRPr/>
              </a:pPr>
              <a:endParaRPr lang="de-DE" sz="1400" kern="0" noProof="1">
                <a:solidFill>
                  <a:srgbClr val="FFFFFF"/>
                </a:solidFill>
                <a:latin typeface="Aptos" panose="020B0004020202020204" pitchFamily="34" charset="0"/>
              </a:endParaRPr>
            </a:p>
          </p:txBody>
        </p:sp>
        <p:sp>
          <p:nvSpPr>
            <p:cNvPr id="124" name="Textfeld 123">
              <a:extLst>
                <a:ext uri="{FF2B5EF4-FFF2-40B4-BE49-F238E27FC236}">
                  <a16:creationId xmlns:a16="http://schemas.microsoft.com/office/drawing/2014/main" id="{3589AC03-4A92-8281-5EC8-CAAAA5ADBC7C}"/>
                </a:ext>
              </a:extLst>
            </p:cNvPr>
            <p:cNvSpPr txBox="1"/>
            <p:nvPr/>
          </p:nvSpPr>
          <p:spPr>
            <a:xfrm>
              <a:off x="6518973" y="5693314"/>
              <a:ext cx="1783544" cy="903935"/>
            </a:xfrm>
            <a:prstGeom prst="rect">
              <a:avLst/>
            </a:prstGeom>
            <a:noFill/>
          </p:spPr>
          <p:txBody>
            <a:bodyPr wrap="square">
              <a:spAutoFit/>
            </a:bodyPr>
            <a:lstStyle/>
            <a:p>
              <a:pPr algn="r" defTabSz="914339">
                <a:defRPr/>
              </a:pPr>
              <a:r>
                <a:rPr lang="de-DE" sz="1400" b="1" kern="0" noProof="1">
                  <a:solidFill>
                    <a:srgbClr val="000000"/>
                  </a:solidFill>
                  <a:latin typeface="Aptos" panose="020B0004020202020204" pitchFamily="34" charset="0"/>
                </a:rPr>
                <a:t> B2</a:t>
              </a:r>
              <a:r>
                <a:rPr lang="de-DE" sz="1400" kern="0" dirty="0">
                  <a:solidFill>
                    <a:srgbClr val="000000"/>
                  </a:solidFill>
                  <a:latin typeface="Aptos" panose="020B0004020202020204" pitchFamily="34" charset="0"/>
                </a:rPr>
                <a:t>−</a:t>
              </a:r>
              <a:r>
                <a:rPr lang="de-DE" sz="1400" b="1" kern="0" noProof="1">
                  <a:solidFill>
                    <a:srgbClr val="000000"/>
                  </a:solidFill>
                  <a:latin typeface="Aptos" panose="020B0004020202020204" pitchFamily="34" charset="0"/>
                </a:rPr>
                <a:t>5</a:t>
              </a:r>
            </a:p>
            <a:p>
              <a:pPr algn="r" defTabSz="914339">
                <a:defRPr/>
              </a:pPr>
              <a:r>
                <a:rPr lang="de-DE" sz="1400" b="1" kern="0" noProof="1">
                  <a:solidFill>
                    <a:srgbClr val="000000"/>
                  </a:solidFill>
                  <a:latin typeface="Aptos" panose="020B0004020202020204" pitchFamily="34" charset="0"/>
                </a:rPr>
                <a:t>(nur vor &lt;2050)	</a:t>
              </a:r>
              <a:endParaRPr lang="de-DE" sz="1400" kern="0" noProof="1">
                <a:solidFill>
                  <a:srgbClr val="000000"/>
                </a:solidFill>
                <a:latin typeface="Aptos" panose="020B0004020202020204" pitchFamily="34" charset="0"/>
              </a:endParaRPr>
            </a:p>
          </p:txBody>
        </p:sp>
        <p:sp>
          <p:nvSpPr>
            <p:cNvPr id="125" name="Pfeil: nach rechts 124">
              <a:extLst>
                <a:ext uri="{FF2B5EF4-FFF2-40B4-BE49-F238E27FC236}">
                  <a16:creationId xmlns:a16="http://schemas.microsoft.com/office/drawing/2014/main" id="{97F92FDC-091A-76D5-9D7A-CED339A380EB}"/>
                </a:ext>
              </a:extLst>
            </p:cNvPr>
            <p:cNvSpPr/>
            <p:nvPr/>
          </p:nvSpPr>
          <p:spPr>
            <a:xfrm rot="16200000" flipH="1">
              <a:off x="7277181" y="1306150"/>
              <a:ext cx="1321351" cy="604454"/>
            </a:xfrm>
            <a:prstGeom prst="rightArrow">
              <a:avLst/>
            </a:prstGeom>
            <a:solidFill>
              <a:srgbClr val="5FB564"/>
            </a:solidFill>
            <a:ln w="12700" cap="flat" cmpd="sng" algn="ctr">
              <a:solidFill>
                <a:srgbClr val="3BACBE">
                  <a:shade val="15000"/>
                </a:srgbClr>
              </a:solidFill>
              <a:prstDash val="solid"/>
              <a:miter lim="800000"/>
            </a:ln>
            <a:effectLst/>
          </p:spPr>
          <p:txBody>
            <a:bodyPr rtlCol="0" anchor="ctr"/>
            <a:lstStyle/>
            <a:p>
              <a:pPr algn="ctr" defTabSz="914339">
                <a:defRPr/>
              </a:pPr>
              <a:r>
                <a:rPr lang="de-DE" sz="900" kern="0" noProof="1">
                  <a:solidFill>
                    <a:srgbClr val="FFFFFF"/>
                  </a:solidFill>
                  <a:latin typeface="Aptos" panose="020B0004020202020204" pitchFamily="34" charset="0"/>
                </a:rPr>
                <a:t>THG-Einsparung</a:t>
              </a:r>
            </a:p>
          </p:txBody>
        </p:sp>
      </p:grpSp>
      <p:sp>
        <p:nvSpPr>
          <p:cNvPr id="133" name="Pfeil: nach rechts 132">
            <a:extLst>
              <a:ext uri="{FF2B5EF4-FFF2-40B4-BE49-F238E27FC236}">
                <a16:creationId xmlns:a16="http://schemas.microsoft.com/office/drawing/2014/main" id="{63790A30-72EE-0C0D-7F03-7789E6267372}"/>
              </a:ext>
            </a:extLst>
          </p:cNvPr>
          <p:cNvSpPr/>
          <p:nvPr/>
        </p:nvSpPr>
        <p:spPr>
          <a:xfrm rot="5400000">
            <a:off x="8773830" y="5885881"/>
            <a:ext cx="917189" cy="621178"/>
          </a:xfrm>
          <a:prstGeom prst="rightArrow">
            <a:avLst/>
          </a:prstGeom>
          <a:solidFill>
            <a:srgbClr val="3BACBE">
              <a:lumMod val="50000"/>
            </a:srgbClr>
          </a:solidFill>
          <a:ln w="12700" cap="flat" cmpd="sng" algn="ctr">
            <a:solidFill>
              <a:srgbClr val="3BACBE">
                <a:shade val="15000"/>
              </a:srgbClr>
            </a:solidFill>
            <a:prstDash val="solid"/>
            <a:miter lim="800000"/>
          </a:ln>
          <a:effectLst/>
        </p:spPr>
        <p:txBody>
          <a:bodyPr rtlCol="0" anchor="ctr"/>
          <a:lstStyle/>
          <a:p>
            <a:pPr algn="ctr" defTabSz="914339">
              <a:defRPr/>
            </a:pPr>
            <a:r>
              <a:rPr lang="de-DE" sz="900" kern="0" noProof="1">
                <a:solidFill>
                  <a:srgbClr val="FFFFFF"/>
                </a:solidFill>
                <a:latin typeface="Aptos" panose="020B0004020202020204" pitchFamily="34" charset="0"/>
              </a:rPr>
              <a:t>Emissionen</a:t>
            </a:r>
          </a:p>
        </p:txBody>
      </p:sp>
      <p:sp>
        <p:nvSpPr>
          <p:cNvPr id="2" name="Fußzeilenplatzhalter 3">
            <a:extLst>
              <a:ext uri="{FF2B5EF4-FFF2-40B4-BE49-F238E27FC236}">
                <a16:creationId xmlns:a16="http://schemas.microsoft.com/office/drawing/2014/main" id="{FF6F22F0-6BAA-F2A9-D3D6-132DEE37413D}"/>
              </a:ext>
            </a:extLst>
          </p:cNvPr>
          <p:cNvSpPr>
            <a:spLocks noGrp="1"/>
          </p:cNvSpPr>
          <p:nvPr>
            <p:ph type="ftr" sz="quarter" idx="11"/>
          </p:nvPr>
        </p:nvSpPr>
        <p:spPr>
          <a:xfrm>
            <a:off x="719670" y="6373871"/>
            <a:ext cx="9167888" cy="266700"/>
          </a:xfrm>
        </p:spPr>
        <p:txBody>
          <a:bodyPr/>
          <a:lstStyle/>
          <a:p>
            <a:pPr>
              <a:defRPr/>
            </a:pPr>
            <a:r>
              <a:rPr lang="de-AT" dirty="0"/>
              <a:t>Klimaaktiv Nachweistool Plus-Energie-Quartiere</a:t>
            </a:r>
          </a:p>
        </p:txBody>
      </p:sp>
    </p:spTree>
    <p:extLst>
      <p:ext uri="{BB962C8B-B14F-4D97-AF65-F5344CB8AC3E}">
        <p14:creationId xmlns:p14="http://schemas.microsoft.com/office/powerpoint/2010/main" val="2264676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D94472-99D3-1F40-7981-EF08597C97F9}"/>
              </a:ext>
            </a:extLst>
          </p:cNvPr>
          <p:cNvSpPr>
            <a:spLocks noGrp="1"/>
          </p:cNvSpPr>
          <p:nvPr>
            <p:ph type="title"/>
          </p:nvPr>
        </p:nvSpPr>
        <p:spPr/>
        <p:txBody>
          <a:bodyPr/>
          <a:lstStyle/>
          <a:p>
            <a:r>
              <a:rPr lang="de-DE" dirty="0"/>
              <a:t>Tool-Bezug</a:t>
            </a:r>
          </a:p>
        </p:txBody>
      </p:sp>
      <p:sp>
        <p:nvSpPr>
          <p:cNvPr id="3" name="Textplatzhalter 2">
            <a:extLst>
              <a:ext uri="{FF2B5EF4-FFF2-40B4-BE49-F238E27FC236}">
                <a16:creationId xmlns:a16="http://schemas.microsoft.com/office/drawing/2014/main" id="{D6181F03-81E9-1539-CF5E-E3F1F1B8EBB1}"/>
              </a:ext>
            </a:extLst>
          </p:cNvPr>
          <p:cNvSpPr>
            <a:spLocks noGrp="1"/>
          </p:cNvSpPr>
          <p:nvPr>
            <p:ph type="body" sz="quarter" idx="13"/>
          </p:nvPr>
        </p:nvSpPr>
        <p:spPr/>
        <p:txBody>
          <a:bodyPr/>
          <a:lstStyle/>
          <a:p>
            <a:r>
              <a:rPr lang="de-DE" sz="2400" dirty="0"/>
              <a:t>Das Nachweistool wird laufend weiterentwickelt. Die aktuelle Version kann unter diesem Link heruntergeladen werden:</a:t>
            </a:r>
          </a:p>
          <a:p>
            <a:pPr marL="0" indent="0">
              <a:buNone/>
            </a:pPr>
            <a:r>
              <a:rPr lang="de-DE" sz="2400" u="sng" dirty="0">
                <a:hlinkClick r:id="rId2"/>
              </a:rPr>
              <a:t>🧰 Excel Tool </a:t>
            </a:r>
            <a:r>
              <a:rPr lang="de-DE" sz="2400" dirty="0"/>
              <a:t>(</a:t>
            </a:r>
            <a:r>
              <a:rPr lang="de-DE" sz="2400" dirty="0">
                <a:solidFill>
                  <a:srgbClr val="FFC000"/>
                </a:solidFill>
              </a:rPr>
              <a:t>⚠</a:t>
            </a:r>
            <a:r>
              <a:rPr lang="de-DE" sz="2400" dirty="0"/>
              <a:t> benötigt Office 365)</a:t>
            </a:r>
          </a:p>
          <a:p>
            <a:pPr marL="0" indent="0">
              <a:buNone/>
            </a:pPr>
            <a:r>
              <a:rPr lang="de-DE" sz="2400" u="sng" dirty="0">
                <a:hlinkClick r:id="rId3"/>
              </a:rPr>
              <a:t>👩‍🎓📖 Handbuch zur Nachweisführung</a:t>
            </a:r>
            <a:r>
              <a:rPr lang="de-DE" sz="2400" u="sng" dirty="0"/>
              <a:t> (Tool-Verwendung)</a:t>
            </a:r>
            <a:endParaRPr lang="de-DE" sz="2400" dirty="0"/>
          </a:p>
          <a:p>
            <a:pPr marL="0" indent="0">
              <a:buNone/>
            </a:pPr>
            <a:r>
              <a:rPr lang="de-DE" sz="2400" u="sng" dirty="0">
                <a:hlinkClick r:id="rId4"/>
              </a:rPr>
              <a:t>📚🔭 Leitfaden PEQ Definition und Operationalisierung</a:t>
            </a:r>
            <a:r>
              <a:rPr lang="de-DE" sz="2400" u="sng" dirty="0"/>
              <a:t> (Methodik)</a:t>
            </a:r>
            <a:endParaRPr lang="de-DE" sz="2400" dirty="0"/>
          </a:p>
          <a:p>
            <a:r>
              <a:rPr lang="de-DE" sz="2400" dirty="0"/>
              <a:t>Bezug und Verwendung: Frei verfügbar unter: </a:t>
            </a:r>
            <a:r>
              <a:rPr lang="de-DE" sz="2400" dirty="0">
                <a:hlinkClick r:id="rId5"/>
              </a:rPr>
              <a:t>https://github.com/simonschaluppe/peexcel</a:t>
            </a:r>
            <a:r>
              <a:rPr lang="de-DE" sz="2400" dirty="0"/>
              <a:t> </a:t>
            </a:r>
          </a:p>
          <a:p>
            <a:endParaRPr lang="de-DE" sz="2400" dirty="0"/>
          </a:p>
        </p:txBody>
      </p:sp>
      <p:sp>
        <p:nvSpPr>
          <p:cNvPr id="4" name="Fußzeilenplatzhalter 3">
            <a:extLst>
              <a:ext uri="{FF2B5EF4-FFF2-40B4-BE49-F238E27FC236}">
                <a16:creationId xmlns:a16="http://schemas.microsoft.com/office/drawing/2014/main" id="{7CAD603E-86A9-5A93-6512-89B6B922A367}"/>
              </a:ext>
            </a:extLst>
          </p:cNvPr>
          <p:cNvSpPr>
            <a:spLocks noGrp="1"/>
          </p:cNvSpPr>
          <p:nvPr>
            <p:ph type="ftr" sz="quarter" idx="11"/>
          </p:nvPr>
        </p:nvSpPr>
        <p:spPr/>
        <p:txBody>
          <a:bodyPr/>
          <a:lstStyle/>
          <a:p>
            <a:r>
              <a:rPr lang="de-AT" dirty="0"/>
              <a:t>Klimaaktiv Nachweistool Plus-Energie-Quartiere</a:t>
            </a:r>
          </a:p>
        </p:txBody>
      </p:sp>
      <p:sp>
        <p:nvSpPr>
          <p:cNvPr id="5" name="Foliennummernplatzhalter 4">
            <a:extLst>
              <a:ext uri="{FF2B5EF4-FFF2-40B4-BE49-F238E27FC236}">
                <a16:creationId xmlns:a16="http://schemas.microsoft.com/office/drawing/2014/main" id="{9894B5A6-392C-FAFF-9036-26257E93B49E}"/>
              </a:ext>
            </a:extLst>
          </p:cNvPr>
          <p:cNvSpPr>
            <a:spLocks noGrp="1"/>
          </p:cNvSpPr>
          <p:nvPr>
            <p:ph type="sldNum" sz="quarter" idx="12"/>
          </p:nvPr>
        </p:nvSpPr>
        <p:spPr/>
        <p:txBody>
          <a:bodyPr/>
          <a:lstStyle/>
          <a:p>
            <a:fld id="{1206269C-C24E-4E80-9A4B-E7E19BB59A67}" type="slidenum">
              <a:rPr lang="de-AT" smtClean="0"/>
              <a:pPr/>
              <a:t>25</a:t>
            </a:fld>
            <a:endParaRPr lang="de-AT" dirty="0"/>
          </a:p>
        </p:txBody>
      </p:sp>
      <p:pic>
        <p:nvPicPr>
          <p:cNvPr id="7" name="Grafik 6">
            <a:extLst>
              <a:ext uri="{FF2B5EF4-FFF2-40B4-BE49-F238E27FC236}">
                <a16:creationId xmlns:a16="http://schemas.microsoft.com/office/drawing/2014/main" id="{619047D2-DD5B-8B80-37A1-A469ED36961B}"/>
              </a:ext>
            </a:extLst>
          </p:cNvPr>
          <p:cNvPicPr>
            <a:picLocks noChangeAspect="1"/>
          </p:cNvPicPr>
          <p:nvPr/>
        </p:nvPicPr>
        <p:blipFill>
          <a:blip r:embed="rId6"/>
          <a:stretch>
            <a:fillRect/>
          </a:stretch>
        </p:blipFill>
        <p:spPr>
          <a:xfrm>
            <a:off x="8913635" y="5045742"/>
            <a:ext cx="1671815" cy="1696861"/>
          </a:xfrm>
          <a:prstGeom prst="rect">
            <a:avLst/>
          </a:prstGeom>
        </p:spPr>
      </p:pic>
    </p:spTree>
    <p:extLst>
      <p:ext uri="{BB962C8B-B14F-4D97-AF65-F5344CB8AC3E}">
        <p14:creationId xmlns:p14="http://schemas.microsoft.com/office/powerpoint/2010/main" val="2126887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1" name="Verbinder: gekrümmt 280">
            <a:extLst>
              <a:ext uri="{FF2B5EF4-FFF2-40B4-BE49-F238E27FC236}">
                <a16:creationId xmlns:a16="http://schemas.microsoft.com/office/drawing/2014/main" id="{FC5CBE5A-1800-84EF-2A26-5BE1EE9DB854}"/>
              </a:ext>
            </a:extLst>
          </p:cNvPr>
          <p:cNvCxnSpPr>
            <a:cxnSpLocks/>
          </p:cNvCxnSpPr>
          <p:nvPr/>
        </p:nvCxnSpPr>
        <p:spPr>
          <a:xfrm>
            <a:off x="6571373" y="4221992"/>
            <a:ext cx="538760" cy="2138265"/>
          </a:xfrm>
          <a:prstGeom prst="curvedConnector3">
            <a:avLst>
              <a:gd name="adj1" fmla="val 75458"/>
            </a:avLst>
          </a:prstGeom>
          <a:ln w="1905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 name="Titel 1">
            <a:extLst>
              <a:ext uri="{FF2B5EF4-FFF2-40B4-BE49-F238E27FC236}">
                <a16:creationId xmlns:a16="http://schemas.microsoft.com/office/drawing/2014/main" id="{C7FDC604-8689-1794-AB33-41324903B3F8}"/>
              </a:ext>
            </a:extLst>
          </p:cNvPr>
          <p:cNvSpPr>
            <a:spLocks noGrp="1"/>
          </p:cNvSpPr>
          <p:nvPr>
            <p:ph type="title"/>
          </p:nvPr>
        </p:nvSpPr>
        <p:spPr/>
        <p:txBody>
          <a:bodyPr/>
          <a:lstStyle/>
          <a:p>
            <a:r>
              <a:rPr lang="de-DE" dirty="0"/>
              <a:t>Tool Überblick Blätter und Funktionen</a:t>
            </a:r>
          </a:p>
        </p:txBody>
      </p:sp>
      <p:sp>
        <p:nvSpPr>
          <p:cNvPr id="4" name="Fußzeilenplatzhalter 3">
            <a:extLst>
              <a:ext uri="{FF2B5EF4-FFF2-40B4-BE49-F238E27FC236}">
                <a16:creationId xmlns:a16="http://schemas.microsoft.com/office/drawing/2014/main" id="{92542E1F-8492-FA65-4C31-3DBED12CAC2A}"/>
              </a:ext>
            </a:extLst>
          </p:cNvPr>
          <p:cNvSpPr>
            <a:spLocks noGrp="1"/>
          </p:cNvSpPr>
          <p:nvPr>
            <p:ph type="ftr" sz="quarter" idx="11"/>
          </p:nvPr>
        </p:nvSpPr>
        <p:spPr/>
        <p:txBody>
          <a:bodyPr/>
          <a:lstStyle/>
          <a:p>
            <a:r>
              <a:rPr lang="de-AT" dirty="0"/>
              <a:t>Klimaaktiv Nachweistool Plus-Energie-Quartiere</a:t>
            </a:r>
          </a:p>
        </p:txBody>
      </p:sp>
      <p:sp>
        <p:nvSpPr>
          <p:cNvPr id="5" name="Foliennummernplatzhalter 4">
            <a:extLst>
              <a:ext uri="{FF2B5EF4-FFF2-40B4-BE49-F238E27FC236}">
                <a16:creationId xmlns:a16="http://schemas.microsoft.com/office/drawing/2014/main" id="{A09ED920-283D-C099-04BF-AC6143C3DF92}"/>
              </a:ext>
            </a:extLst>
          </p:cNvPr>
          <p:cNvSpPr>
            <a:spLocks noGrp="1"/>
          </p:cNvSpPr>
          <p:nvPr>
            <p:ph type="sldNum" sz="quarter" idx="12"/>
          </p:nvPr>
        </p:nvSpPr>
        <p:spPr/>
        <p:txBody>
          <a:bodyPr/>
          <a:lstStyle/>
          <a:p>
            <a:fld id="{1206269C-C24E-4E80-9A4B-E7E19BB59A67}" type="slidenum">
              <a:rPr lang="de-AT" smtClean="0"/>
              <a:pPr/>
              <a:t>26</a:t>
            </a:fld>
            <a:endParaRPr lang="de-AT" dirty="0"/>
          </a:p>
        </p:txBody>
      </p:sp>
      <p:pic>
        <p:nvPicPr>
          <p:cNvPr id="6" name="Grafik 5">
            <a:extLst>
              <a:ext uri="{FF2B5EF4-FFF2-40B4-BE49-F238E27FC236}">
                <a16:creationId xmlns:a16="http://schemas.microsoft.com/office/drawing/2014/main" id="{12A2C307-1F6D-65FA-D3C2-7456662D7920}"/>
              </a:ext>
            </a:extLst>
          </p:cNvPr>
          <p:cNvPicPr>
            <a:picLocks noChangeAspect="1"/>
          </p:cNvPicPr>
          <p:nvPr/>
        </p:nvPicPr>
        <p:blipFill>
          <a:blip r:embed="rId2"/>
          <a:stretch>
            <a:fillRect/>
          </a:stretch>
        </p:blipFill>
        <p:spPr>
          <a:xfrm>
            <a:off x="2863473" y="2560151"/>
            <a:ext cx="1390650" cy="219075"/>
          </a:xfrm>
          <a:prstGeom prst="rect">
            <a:avLst/>
          </a:prstGeom>
        </p:spPr>
      </p:pic>
      <p:pic>
        <p:nvPicPr>
          <p:cNvPr id="7" name="Grafik 6">
            <a:extLst>
              <a:ext uri="{FF2B5EF4-FFF2-40B4-BE49-F238E27FC236}">
                <a16:creationId xmlns:a16="http://schemas.microsoft.com/office/drawing/2014/main" id="{28CF5EB5-FEBE-D69D-C8EE-B0F3BD342741}"/>
              </a:ext>
            </a:extLst>
          </p:cNvPr>
          <p:cNvPicPr>
            <a:picLocks noChangeAspect="1"/>
          </p:cNvPicPr>
          <p:nvPr/>
        </p:nvPicPr>
        <p:blipFill>
          <a:blip r:embed="rId3"/>
          <a:stretch>
            <a:fillRect/>
          </a:stretch>
        </p:blipFill>
        <p:spPr>
          <a:xfrm>
            <a:off x="2863473" y="2775209"/>
            <a:ext cx="1390650" cy="219075"/>
          </a:xfrm>
          <a:prstGeom prst="rect">
            <a:avLst/>
          </a:prstGeom>
        </p:spPr>
      </p:pic>
      <p:pic>
        <p:nvPicPr>
          <p:cNvPr id="8" name="Grafik 7">
            <a:extLst>
              <a:ext uri="{FF2B5EF4-FFF2-40B4-BE49-F238E27FC236}">
                <a16:creationId xmlns:a16="http://schemas.microsoft.com/office/drawing/2014/main" id="{DAE3EA08-E0BA-3C5A-A910-2DA1CEBBDCD9}"/>
              </a:ext>
            </a:extLst>
          </p:cNvPr>
          <p:cNvPicPr>
            <a:picLocks noChangeAspect="1"/>
          </p:cNvPicPr>
          <p:nvPr/>
        </p:nvPicPr>
        <p:blipFill>
          <a:blip r:embed="rId4"/>
          <a:stretch>
            <a:fillRect/>
          </a:stretch>
        </p:blipFill>
        <p:spPr>
          <a:xfrm>
            <a:off x="2863473" y="2990267"/>
            <a:ext cx="1390650" cy="219075"/>
          </a:xfrm>
          <a:prstGeom prst="rect">
            <a:avLst/>
          </a:prstGeom>
        </p:spPr>
      </p:pic>
      <p:pic>
        <p:nvPicPr>
          <p:cNvPr id="9" name="Grafik 8">
            <a:extLst>
              <a:ext uri="{FF2B5EF4-FFF2-40B4-BE49-F238E27FC236}">
                <a16:creationId xmlns:a16="http://schemas.microsoft.com/office/drawing/2014/main" id="{919A455C-151D-E988-E251-20040EFD614D}"/>
              </a:ext>
            </a:extLst>
          </p:cNvPr>
          <p:cNvPicPr>
            <a:picLocks noChangeAspect="1"/>
          </p:cNvPicPr>
          <p:nvPr/>
        </p:nvPicPr>
        <p:blipFill>
          <a:blip r:embed="rId5"/>
          <a:stretch>
            <a:fillRect/>
          </a:stretch>
        </p:blipFill>
        <p:spPr>
          <a:xfrm>
            <a:off x="2863473" y="3205325"/>
            <a:ext cx="1390650" cy="219075"/>
          </a:xfrm>
          <a:prstGeom prst="rect">
            <a:avLst/>
          </a:prstGeom>
        </p:spPr>
      </p:pic>
      <p:pic>
        <p:nvPicPr>
          <p:cNvPr id="10" name="Grafik 9">
            <a:extLst>
              <a:ext uri="{FF2B5EF4-FFF2-40B4-BE49-F238E27FC236}">
                <a16:creationId xmlns:a16="http://schemas.microsoft.com/office/drawing/2014/main" id="{53330DA6-E25B-1357-9129-CD185F5E6BC4}"/>
              </a:ext>
            </a:extLst>
          </p:cNvPr>
          <p:cNvPicPr>
            <a:picLocks noChangeAspect="1"/>
          </p:cNvPicPr>
          <p:nvPr/>
        </p:nvPicPr>
        <p:blipFill>
          <a:blip r:embed="rId6"/>
          <a:stretch>
            <a:fillRect/>
          </a:stretch>
        </p:blipFill>
        <p:spPr>
          <a:xfrm>
            <a:off x="2863473" y="3420383"/>
            <a:ext cx="1390650" cy="219075"/>
          </a:xfrm>
          <a:prstGeom prst="rect">
            <a:avLst/>
          </a:prstGeom>
        </p:spPr>
      </p:pic>
      <p:pic>
        <p:nvPicPr>
          <p:cNvPr id="11" name="Grafik 10">
            <a:extLst>
              <a:ext uri="{FF2B5EF4-FFF2-40B4-BE49-F238E27FC236}">
                <a16:creationId xmlns:a16="http://schemas.microsoft.com/office/drawing/2014/main" id="{86A47B94-1E96-3555-805A-0849EB641B3A}"/>
              </a:ext>
            </a:extLst>
          </p:cNvPr>
          <p:cNvPicPr>
            <a:picLocks noChangeAspect="1"/>
          </p:cNvPicPr>
          <p:nvPr/>
        </p:nvPicPr>
        <p:blipFill>
          <a:blip r:embed="rId7"/>
          <a:stretch>
            <a:fillRect/>
          </a:stretch>
        </p:blipFill>
        <p:spPr>
          <a:xfrm>
            <a:off x="2863473" y="3635441"/>
            <a:ext cx="1390650" cy="219075"/>
          </a:xfrm>
          <a:prstGeom prst="rect">
            <a:avLst/>
          </a:prstGeom>
        </p:spPr>
      </p:pic>
      <p:pic>
        <p:nvPicPr>
          <p:cNvPr id="12" name="Grafik 11">
            <a:extLst>
              <a:ext uri="{FF2B5EF4-FFF2-40B4-BE49-F238E27FC236}">
                <a16:creationId xmlns:a16="http://schemas.microsoft.com/office/drawing/2014/main" id="{0FA9B872-EB78-F4D1-84BB-FC511A93E24D}"/>
              </a:ext>
            </a:extLst>
          </p:cNvPr>
          <p:cNvPicPr>
            <a:picLocks noChangeAspect="1"/>
          </p:cNvPicPr>
          <p:nvPr/>
        </p:nvPicPr>
        <p:blipFill>
          <a:blip r:embed="rId8"/>
          <a:stretch>
            <a:fillRect/>
          </a:stretch>
        </p:blipFill>
        <p:spPr>
          <a:xfrm>
            <a:off x="2863473" y="3850499"/>
            <a:ext cx="1390650" cy="219075"/>
          </a:xfrm>
          <a:prstGeom prst="rect">
            <a:avLst/>
          </a:prstGeom>
        </p:spPr>
      </p:pic>
      <p:pic>
        <p:nvPicPr>
          <p:cNvPr id="13" name="Grafik 12">
            <a:extLst>
              <a:ext uri="{FF2B5EF4-FFF2-40B4-BE49-F238E27FC236}">
                <a16:creationId xmlns:a16="http://schemas.microsoft.com/office/drawing/2014/main" id="{2F9E3764-8708-05FA-D2E6-F7316514C1F5}"/>
              </a:ext>
            </a:extLst>
          </p:cNvPr>
          <p:cNvPicPr>
            <a:picLocks noChangeAspect="1"/>
          </p:cNvPicPr>
          <p:nvPr/>
        </p:nvPicPr>
        <p:blipFill>
          <a:blip r:embed="rId9"/>
          <a:stretch>
            <a:fillRect/>
          </a:stretch>
        </p:blipFill>
        <p:spPr>
          <a:xfrm>
            <a:off x="2863473" y="4065557"/>
            <a:ext cx="1390650" cy="219075"/>
          </a:xfrm>
          <a:prstGeom prst="rect">
            <a:avLst/>
          </a:prstGeom>
        </p:spPr>
      </p:pic>
      <p:pic>
        <p:nvPicPr>
          <p:cNvPr id="14" name="Grafik 13">
            <a:extLst>
              <a:ext uri="{FF2B5EF4-FFF2-40B4-BE49-F238E27FC236}">
                <a16:creationId xmlns:a16="http://schemas.microsoft.com/office/drawing/2014/main" id="{A478DD78-8565-81AD-9906-E044B6313EF7}"/>
              </a:ext>
            </a:extLst>
          </p:cNvPr>
          <p:cNvPicPr>
            <a:picLocks noChangeAspect="1"/>
          </p:cNvPicPr>
          <p:nvPr/>
        </p:nvPicPr>
        <p:blipFill>
          <a:blip r:embed="rId10"/>
          <a:stretch>
            <a:fillRect/>
          </a:stretch>
        </p:blipFill>
        <p:spPr>
          <a:xfrm>
            <a:off x="2863473" y="4280615"/>
            <a:ext cx="1390650" cy="219075"/>
          </a:xfrm>
          <a:prstGeom prst="rect">
            <a:avLst/>
          </a:prstGeom>
        </p:spPr>
      </p:pic>
      <p:pic>
        <p:nvPicPr>
          <p:cNvPr id="15" name="Grafik 14">
            <a:extLst>
              <a:ext uri="{FF2B5EF4-FFF2-40B4-BE49-F238E27FC236}">
                <a16:creationId xmlns:a16="http://schemas.microsoft.com/office/drawing/2014/main" id="{8C9A27A6-C85D-57D8-194D-E72066AED539}"/>
              </a:ext>
            </a:extLst>
          </p:cNvPr>
          <p:cNvPicPr>
            <a:picLocks noChangeAspect="1"/>
          </p:cNvPicPr>
          <p:nvPr/>
        </p:nvPicPr>
        <p:blipFill>
          <a:blip r:embed="rId11"/>
          <a:stretch>
            <a:fillRect/>
          </a:stretch>
        </p:blipFill>
        <p:spPr>
          <a:xfrm>
            <a:off x="2863473" y="4495673"/>
            <a:ext cx="1390650" cy="219075"/>
          </a:xfrm>
          <a:prstGeom prst="rect">
            <a:avLst/>
          </a:prstGeom>
        </p:spPr>
      </p:pic>
      <p:pic>
        <p:nvPicPr>
          <p:cNvPr id="16" name="Grafik 15">
            <a:extLst>
              <a:ext uri="{FF2B5EF4-FFF2-40B4-BE49-F238E27FC236}">
                <a16:creationId xmlns:a16="http://schemas.microsoft.com/office/drawing/2014/main" id="{DB5A18C5-E44C-997C-69D1-C8CEF96DEB2F}"/>
              </a:ext>
            </a:extLst>
          </p:cNvPr>
          <p:cNvPicPr>
            <a:picLocks noChangeAspect="1"/>
          </p:cNvPicPr>
          <p:nvPr/>
        </p:nvPicPr>
        <p:blipFill>
          <a:blip r:embed="rId12"/>
          <a:stretch>
            <a:fillRect/>
          </a:stretch>
        </p:blipFill>
        <p:spPr>
          <a:xfrm>
            <a:off x="2863473" y="4710731"/>
            <a:ext cx="1390650" cy="219075"/>
          </a:xfrm>
          <a:prstGeom prst="rect">
            <a:avLst/>
          </a:prstGeom>
        </p:spPr>
      </p:pic>
      <p:pic>
        <p:nvPicPr>
          <p:cNvPr id="17" name="Grafik 16">
            <a:extLst>
              <a:ext uri="{FF2B5EF4-FFF2-40B4-BE49-F238E27FC236}">
                <a16:creationId xmlns:a16="http://schemas.microsoft.com/office/drawing/2014/main" id="{A0C0C2E0-3D97-EA12-9E65-D194E81AEA26}"/>
              </a:ext>
            </a:extLst>
          </p:cNvPr>
          <p:cNvPicPr>
            <a:picLocks noChangeAspect="1"/>
          </p:cNvPicPr>
          <p:nvPr/>
        </p:nvPicPr>
        <p:blipFill>
          <a:blip r:embed="rId13"/>
          <a:stretch>
            <a:fillRect/>
          </a:stretch>
        </p:blipFill>
        <p:spPr>
          <a:xfrm>
            <a:off x="2863473" y="4925786"/>
            <a:ext cx="1390650" cy="219075"/>
          </a:xfrm>
          <a:prstGeom prst="rect">
            <a:avLst/>
          </a:prstGeom>
        </p:spPr>
      </p:pic>
      <p:sp>
        <p:nvSpPr>
          <p:cNvPr id="18" name="Textfeld 17">
            <a:extLst>
              <a:ext uri="{FF2B5EF4-FFF2-40B4-BE49-F238E27FC236}">
                <a16:creationId xmlns:a16="http://schemas.microsoft.com/office/drawing/2014/main" id="{4DE6A436-87D8-43DA-9BE4-BBB29D4238F6}"/>
              </a:ext>
            </a:extLst>
          </p:cNvPr>
          <p:cNvSpPr txBox="1"/>
          <p:nvPr/>
        </p:nvSpPr>
        <p:spPr>
          <a:xfrm>
            <a:off x="2780849" y="2215093"/>
            <a:ext cx="1908091" cy="369332"/>
          </a:xfrm>
          <a:prstGeom prst="rect">
            <a:avLst/>
          </a:prstGeom>
          <a:noFill/>
        </p:spPr>
        <p:txBody>
          <a:bodyPr wrap="square">
            <a:spAutoFit/>
          </a:bodyPr>
          <a:lstStyle/>
          <a:p>
            <a:pPr defTabSz="914339">
              <a:defRPr/>
            </a:pPr>
            <a:r>
              <a:rPr lang="de-AT" b="1" dirty="0">
                <a:solidFill>
                  <a:srgbClr val="E1320F"/>
                </a:solidFill>
                <a:latin typeface="Calibri" panose="020F0502020204030204" pitchFamily="34" charset="0"/>
              </a:rPr>
              <a:t>Eingabeblätter</a:t>
            </a:r>
            <a:r>
              <a:rPr lang="de-AT" dirty="0">
                <a:solidFill>
                  <a:srgbClr val="000000"/>
                </a:solidFill>
                <a:latin typeface="Calibri" panose="020F0502020204030204"/>
              </a:rPr>
              <a:t> </a:t>
            </a:r>
          </a:p>
        </p:txBody>
      </p:sp>
      <p:sp>
        <p:nvSpPr>
          <p:cNvPr id="19" name="Textfeld 18">
            <a:extLst>
              <a:ext uri="{FF2B5EF4-FFF2-40B4-BE49-F238E27FC236}">
                <a16:creationId xmlns:a16="http://schemas.microsoft.com/office/drawing/2014/main" id="{E2B51C23-A784-123D-996B-C7EE9478778A}"/>
              </a:ext>
            </a:extLst>
          </p:cNvPr>
          <p:cNvSpPr txBox="1"/>
          <p:nvPr/>
        </p:nvSpPr>
        <p:spPr>
          <a:xfrm>
            <a:off x="4949810" y="2235480"/>
            <a:ext cx="2010482" cy="369332"/>
          </a:xfrm>
          <a:prstGeom prst="rect">
            <a:avLst/>
          </a:prstGeom>
          <a:noFill/>
        </p:spPr>
        <p:txBody>
          <a:bodyPr wrap="square">
            <a:spAutoFit/>
          </a:bodyPr>
          <a:lstStyle/>
          <a:p>
            <a:pPr defTabSz="914339">
              <a:defRPr/>
            </a:pPr>
            <a:r>
              <a:rPr lang="de-AT" b="1" dirty="0">
                <a:solidFill>
                  <a:srgbClr val="E1320F"/>
                </a:solidFill>
                <a:latin typeface="Calibri" panose="020F0502020204030204" pitchFamily="34" charset="0"/>
              </a:rPr>
              <a:t>Ausgabe</a:t>
            </a:r>
            <a:endParaRPr lang="de-AT" dirty="0">
              <a:solidFill>
                <a:srgbClr val="000000"/>
              </a:solidFill>
              <a:latin typeface="Calibri" panose="020F0502020204030204"/>
            </a:endParaRPr>
          </a:p>
        </p:txBody>
      </p:sp>
      <p:graphicFrame>
        <p:nvGraphicFramePr>
          <p:cNvPr id="23" name="Tabelle 22">
            <a:extLst>
              <a:ext uri="{FF2B5EF4-FFF2-40B4-BE49-F238E27FC236}">
                <a16:creationId xmlns:a16="http://schemas.microsoft.com/office/drawing/2014/main" id="{0E3AC21B-37AE-A429-1463-C8C768DDFC10}"/>
              </a:ext>
            </a:extLst>
          </p:cNvPr>
          <p:cNvGraphicFramePr>
            <a:graphicFrameLocks noGrp="1"/>
          </p:cNvGraphicFramePr>
          <p:nvPr>
            <p:extLst>
              <p:ext uri="{D42A27DB-BD31-4B8C-83A1-F6EECF244321}">
                <p14:modId xmlns:p14="http://schemas.microsoft.com/office/powerpoint/2010/main" val="641062075"/>
              </p:ext>
            </p:extLst>
          </p:nvPr>
        </p:nvGraphicFramePr>
        <p:xfrm>
          <a:off x="2849574" y="2560151"/>
          <a:ext cx="1371600" cy="2600325"/>
        </p:xfrm>
        <a:graphic>
          <a:graphicData uri="http://schemas.openxmlformats.org/drawingml/2006/table">
            <a:tbl>
              <a:tblPr/>
              <a:tblGrid>
                <a:gridCol w="1371600">
                  <a:extLst>
                    <a:ext uri="{9D8B030D-6E8A-4147-A177-3AD203B41FA5}">
                      <a16:colId xmlns:a16="http://schemas.microsoft.com/office/drawing/2014/main" val="500255781"/>
                    </a:ext>
                  </a:extLst>
                </a:gridCol>
              </a:tblGrid>
              <a:tr h="200025">
                <a:tc>
                  <a:txBody>
                    <a:bodyPr/>
                    <a:lstStyle/>
                    <a:p>
                      <a:pPr algn="l" fontAlgn="b"/>
                      <a:r>
                        <a:rPr lang="de-AT" sz="1100" b="0" i="0" u="none" strike="noStrike" dirty="0">
                          <a:solidFill>
                            <a:schemeClr val="bg1"/>
                          </a:solidFill>
                          <a:effectLst/>
                          <a:latin typeface="Calibri" panose="020F0502020204030204" pitchFamily="34" charset="0"/>
                        </a:rPr>
                        <a:t>▶️ - Überblick</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E1320F"/>
                    </a:solidFill>
                  </a:tcPr>
                </a:tc>
                <a:extLst>
                  <a:ext uri="{0D108BD9-81ED-4DB2-BD59-A6C34878D82A}">
                    <a16:rowId xmlns:a16="http://schemas.microsoft.com/office/drawing/2014/main" val="3949978044"/>
                  </a:ext>
                </a:extLst>
              </a:tr>
              <a:tr h="200025">
                <a:tc>
                  <a:txBody>
                    <a:bodyPr/>
                    <a:lstStyle/>
                    <a:p>
                      <a:pPr algn="l" fontAlgn="b"/>
                      <a:r>
                        <a:rPr lang="de-AT" sz="1100" b="0" i="0" u="none" strike="noStrike" dirty="0">
                          <a:solidFill>
                            <a:schemeClr val="bg1"/>
                          </a:solidFill>
                          <a:effectLst/>
                          <a:latin typeface="Calibri" panose="020F0502020204030204" pitchFamily="34" charset="0"/>
                        </a:rPr>
                        <a:t>🏙️ - Quartier</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962586539"/>
                  </a:ext>
                </a:extLst>
              </a:tr>
              <a:tr h="200025">
                <a:tc>
                  <a:txBody>
                    <a:bodyPr/>
                    <a:lstStyle/>
                    <a:p>
                      <a:pPr algn="l" fontAlgn="b"/>
                      <a:r>
                        <a:rPr lang="de-AT" sz="1100" b="0" i="0" u="none" strike="noStrike" dirty="0">
                          <a:solidFill>
                            <a:schemeClr val="bg1"/>
                          </a:solidFill>
                          <a:effectLst/>
                          <a:latin typeface="Calibri" panose="020F0502020204030204" pitchFamily="34" charset="0"/>
                        </a:rPr>
                        <a:t>🌦️ - Wetter</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701A07"/>
                    </a:solidFill>
                  </a:tcPr>
                </a:tc>
                <a:extLst>
                  <a:ext uri="{0D108BD9-81ED-4DB2-BD59-A6C34878D82A}">
                    <a16:rowId xmlns:a16="http://schemas.microsoft.com/office/drawing/2014/main" val="782268380"/>
                  </a:ext>
                </a:extLst>
              </a:tr>
              <a:tr h="200025">
                <a:tc>
                  <a:txBody>
                    <a:bodyPr/>
                    <a:lstStyle/>
                    <a:p>
                      <a:pPr algn="l" fontAlgn="b"/>
                      <a:r>
                        <a:rPr lang="de-AT" sz="1100" b="0" i="0" u="none" strike="noStrike" dirty="0">
                          <a:solidFill>
                            <a:schemeClr val="bg1"/>
                          </a:solidFill>
                          <a:effectLst/>
                          <a:latin typeface="Calibri" panose="020F0502020204030204" pitchFamily="34" charset="0"/>
                        </a:rPr>
                        <a:t>🧱 - Bauphysik</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711577758"/>
                  </a:ext>
                </a:extLst>
              </a:tr>
              <a:tr h="200025">
                <a:tc>
                  <a:txBody>
                    <a:bodyPr/>
                    <a:lstStyle/>
                    <a:p>
                      <a:pPr algn="l" fontAlgn="b"/>
                      <a:r>
                        <a:rPr lang="de-AT" sz="1100" b="0" i="0" u="none" strike="noStrike" dirty="0">
                          <a:solidFill>
                            <a:schemeClr val="bg1"/>
                          </a:solidFill>
                          <a:effectLst/>
                          <a:latin typeface="Calibri" panose="020F0502020204030204" pitchFamily="34" charset="0"/>
                          <a:hlinkClick r:id="rId14" action="ppaction://hlinkfile">
                            <a:extLst>
                              <a:ext uri="{A12FA001-AC4F-418D-AE19-62706E023703}">
                                <ahyp:hlinkClr xmlns:ahyp="http://schemas.microsoft.com/office/drawing/2018/hyperlinkcolor" val="tx"/>
                              </a:ext>
                            </a:extLst>
                          </a:hlinkClick>
                        </a:rPr>
                        <a:t>🔥 H - Heizung</a:t>
                      </a:r>
                      <a:endParaRPr lang="de-AT" sz="1100" b="0" i="0" u="none" strike="noStrike" dirty="0">
                        <a:solidFill>
                          <a:schemeClr val="bg1"/>
                        </a:solidFill>
                        <a:effectLst/>
                        <a:latin typeface="Calibri" panose="020F0502020204030204" pitchFamily="34" charset="0"/>
                      </a:endParaRP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563742839"/>
                  </a:ext>
                </a:extLst>
              </a:tr>
              <a:tr h="200025">
                <a:tc>
                  <a:txBody>
                    <a:bodyPr/>
                    <a:lstStyle/>
                    <a:p>
                      <a:pPr algn="l" fontAlgn="b"/>
                      <a:r>
                        <a:rPr lang="de-AT" sz="1100" b="0" i="0" u="none" strike="noStrike" dirty="0">
                          <a:solidFill>
                            <a:schemeClr val="bg1"/>
                          </a:solidFill>
                          <a:effectLst/>
                          <a:latin typeface="Calibri" panose="020F0502020204030204" pitchFamily="34" charset="0"/>
                        </a:rPr>
                        <a:t>❄️K - Kühlung</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4003927275"/>
                  </a:ext>
                </a:extLst>
              </a:tr>
              <a:tr h="200025">
                <a:tc>
                  <a:txBody>
                    <a:bodyPr/>
                    <a:lstStyle/>
                    <a:p>
                      <a:pPr algn="l" fontAlgn="b"/>
                      <a:r>
                        <a:rPr lang="de-AT" sz="1100" b="0" i="0" u="none" strike="noStrike" dirty="0">
                          <a:solidFill>
                            <a:schemeClr val="bg1"/>
                          </a:solidFill>
                          <a:effectLst/>
                          <a:latin typeface="Calibri" panose="020F0502020204030204" pitchFamily="34" charset="0"/>
                        </a:rPr>
                        <a:t>💨L - Lüftung</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1840540032"/>
                  </a:ext>
                </a:extLst>
              </a:tr>
              <a:tr h="200025">
                <a:tc>
                  <a:txBody>
                    <a:bodyPr/>
                    <a:lstStyle/>
                    <a:p>
                      <a:pPr algn="l" fontAlgn="b"/>
                      <a:r>
                        <a:rPr lang="de-AT" sz="1100" b="0" i="0" u="none" strike="noStrike" dirty="0">
                          <a:solidFill>
                            <a:schemeClr val="bg1"/>
                          </a:solidFill>
                          <a:effectLst/>
                          <a:latin typeface="Calibri" panose="020F0502020204030204" pitchFamily="34" charset="0"/>
                          <a:hlinkClick r:id="rId15" action="ppaction://hlinkfile">
                            <a:extLst>
                              <a:ext uri="{A12FA001-AC4F-418D-AE19-62706E023703}">
                                <ahyp:hlinkClr xmlns:ahyp="http://schemas.microsoft.com/office/drawing/2018/hyperlinkcolor" val="tx"/>
                              </a:ext>
                            </a:extLst>
                          </a:hlinkClick>
                        </a:rPr>
                        <a:t>💧WW</a:t>
                      </a:r>
                      <a:endParaRPr lang="de-AT" sz="1100" b="0" i="0" u="none" strike="noStrike" dirty="0">
                        <a:solidFill>
                          <a:schemeClr val="bg1"/>
                        </a:solidFill>
                        <a:effectLst/>
                        <a:latin typeface="Calibri" panose="020F0502020204030204" pitchFamily="34" charset="0"/>
                      </a:endParaRP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87162039"/>
                  </a:ext>
                </a:extLst>
              </a:tr>
              <a:tr h="200025">
                <a:tc>
                  <a:txBody>
                    <a:bodyPr/>
                    <a:lstStyle/>
                    <a:p>
                      <a:pPr algn="l" fontAlgn="b"/>
                      <a:r>
                        <a:rPr lang="de-AT" sz="1100" b="0" i="0" u="none" strike="noStrike" dirty="0">
                          <a:solidFill>
                            <a:schemeClr val="bg1"/>
                          </a:solidFill>
                          <a:effectLst/>
                          <a:latin typeface="Calibri" panose="020F0502020204030204" pitchFamily="34" charset="0"/>
                          <a:hlinkClick r:id="rId16" action="ppaction://hlinkfile">
                            <a:extLst>
                              <a:ext uri="{A12FA001-AC4F-418D-AE19-62706E023703}">
                                <ahyp:hlinkClr xmlns:ahyp="http://schemas.microsoft.com/office/drawing/2018/hyperlinkcolor" val="tx"/>
                              </a:ext>
                            </a:extLst>
                          </a:hlinkClick>
                        </a:rPr>
                        <a:t>🌞PV</a:t>
                      </a:r>
                      <a:endParaRPr lang="de-AT" sz="1100" b="0" i="0" u="none" strike="noStrike" dirty="0">
                        <a:solidFill>
                          <a:schemeClr val="bg1"/>
                        </a:solidFill>
                        <a:effectLst/>
                        <a:latin typeface="Calibri" panose="020F0502020204030204" pitchFamily="34" charset="0"/>
                      </a:endParaRP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1768809343"/>
                  </a:ext>
                </a:extLst>
              </a:tr>
              <a:tr h="200025">
                <a:tc>
                  <a:txBody>
                    <a:bodyPr/>
                    <a:lstStyle/>
                    <a:p>
                      <a:pPr algn="l" fontAlgn="b"/>
                      <a:r>
                        <a:rPr lang="de-AT" sz="1100" b="0" i="0" u="none" strike="noStrike" dirty="0">
                          <a:solidFill>
                            <a:schemeClr val="bg1"/>
                          </a:solidFill>
                          <a:effectLst/>
                          <a:latin typeface="Calibri" panose="020F0502020204030204" pitchFamily="34" charset="0"/>
                        </a:rPr>
                        <a:t>Pvimport</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701A07"/>
                    </a:solidFill>
                  </a:tcPr>
                </a:tc>
                <a:extLst>
                  <a:ext uri="{0D108BD9-81ED-4DB2-BD59-A6C34878D82A}">
                    <a16:rowId xmlns:a16="http://schemas.microsoft.com/office/drawing/2014/main" val="2518223534"/>
                  </a:ext>
                </a:extLst>
              </a:tr>
              <a:tr h="200025">
                <a:tc>
                  <a:txBody>
                    <a:bodyPr/>
                    <a:lstStyle/>
                    <a:p>
                      <a:pPr algn="l" fontAlgn="b"/>
                      <a:r>
                        <a:rPr lang="de-AT" sz="1100" b="0" i="0" u="none" strike="noStrike" dirty="0">
                          <a:solidFill>
                            <a:schemeClr val="bg1"/>
                          </a:solidFill>
                          <a:effectLst/>
                          <a:latin typeface="Calibri" panose="020F0502020204030204" pitchFamily="34" charset="0"/>
                        </a:rPr>
                        <a:t>🔋 - Speicher</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2613528174"/>
                  </a:ext>
                </a:extLst>
              </a:tr>
              <a:tr h="200025">
                <a:tc>
                  <a:txBody>
                    <a:bodyPr/>
                    <a:lstStyle/>
                    <a:p>
                      <a:pPr algn="l" fontAlgn="b"/>
                      <a:r>
                        <a:rPr lang="de-AT" sz="1100" b="0" i="0" u="none" strike="noStrike" dirty="0">
                          <a:solidFill>
                            <a:schemeClr val="bg1"/>
                          </a:solidFill>
                          <a:effectLst/>
                          <a:latin typeface="Calibri" panose="020F0502020204030204" pitchFamily="34" charset="0"/>
                        </a:rPr>
                        <a:t>🚗 Mobilität</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F59C00"/>
                    </a:solidFill>
                  </a:tcPr>
                </a:tc>
                <a:extLst>
                  <a:ext uri="{0D108BD9-81ED-4DB2-BD59-A6C34878D82A}">
                    <a16:rowId xmlns:a16="http://schemas.microsoft.com/office/drawing/2014/main" val="682356409"/>
                  </a:ext>
                </a:extLst>
              </a:tr>
              <a:tr h="200025">
                <a:tc>
                  <a:txBody>
                    <a:bodyPr/>
                    <a:lstStyle/>
                    <a:p>
                      <a:pPr algn="l" fontAlgn="b"/>
                      <a:r>
                        <a:rPr lang="de-AT" sz="1100" b="0" i="0" u="none" strike="noStrike" dirty="0">
                          <a:solidFill>
                            <a:schemeClr val="bg1"/>
                          </a:solidFill>
                          <a:effectLst/>
                          <a:latin typeface="Calibri" panose="020F0502020204030204" pitchFamily="34" charset="0"/>
                        </a:rPr>
                        <a:t>☁ Treibhauspotential</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3BACBE"/>
                    </a:solidFill>
                  </a:tcPr>
                </a:tc>
                <a:extLst>
                  <a:ext uri="{0D108BD9-81ED-4DB2-BD59-A6C34878D82A}">
                    <a16:rowId xmlns:a16="http://schemas.microsoft.com/office/drawing/2014/main" val="100884598"/>
                  </a:ext>
                </a:extLst>
              </a:tr>
            </a:tbl>
          </a:graphicData>
        </a:graphic>
      </p:graphicFrame>
      <p:graphicFrame>
        <p:nvGraphicFramePr>
          <p:cNvPr id="24" name="Tabelle 23">
            <a:extLst>
              <a:ext uri="{FF2B5EF4-FFF2-40B4-BE49-F238E27FC236}">
                <a16:creationId xmlns:a16="http://schemas.microsoft.com/office/drawing/2014/main" id="{FAF28582-C30A-B891-C6B2-6C9A24165F62}"/>
              </a:ext>
            </a:extLst>
          </p:cNvPr>
          <p:cNvGraphicFramePr>
            <a:graphicFrameLocks noGrp="1"/>
          </p:cNvGraphicFramePr>
          <p:nvPr>
            <p:extLst>
              <p:ext uri="{D42A27DB-BD31-4B8C-83A1-F6EECF244321}">
                <p14:modId xmlns:p14="http://schemas.microsoft.com/office/powerpoint/2010/main" val="690247115"/>
              </p:ext>
            </p:extLst>
          </p:nvPr>
        </p:nvGraphicFramePr>
        <p:xfrm>
          <a:off x="2849574" y="5313460"/>
          <a:ext cx="1358900" cy="182902"/>
        </p:xfrm>
        <a:graphic>
          <a:graphicData uri="http://schemas.openxmlformats.org/drawingml/2006/table">
            <a:tbl>
              <a:tblPr/>
              <a:tblGrid>
                <a:gridCol w="1358900">
                  <a:extLst>
                    <a:ext uri="{9D8B030D-6E8A-4147-A177-3AD203B41FA5}">
                      <a16:colId xmlns:a16="http://schemas.microsoft.com/office/drawing/2014/main" val="500528592"/>
                    </a:ext>
                  </a:extLst>
                </a:gridCol>
              </a:tblGrid>
              <a:tr h="182902">
                <a:tc>
                  <a:txBody>
                    <a:bodyPr/>
                    <a:lstStyle/>
                    <a:p>
                      <a:pPr algn="l" fontAlgn="b"/>
                      <a:r>
                        <a:rPr lang="de-AT" sz="1100" b="0" i="0" u="none" strike="noStrike" dirty="0">
                          <a:solidFill>
                            <a:srgbClr val="FFFFFF"/>
                          </a:solidFill>
                          <a:effectLst/>
                          <a:latin typeface="Calibri" panose="020F0502020204030204" pitchFamily="34" charset="0"/>
                        </a:rPr>
                        <a:t>Defaultwerte</a:t>
                      </a:r>
                    </a:p>
                  </a:txBody>
                  <a:tcPr marL="0" marR="0" marT="0" marB="0" anchor="b">
                    <a:lnL>
                      <a:noFill/>
                    </a:lnL>
                    <a:lnR>
                      <a:noFill/>
                    </a:lnR>
                    <a:lnT>
                      <a:noFill/>
                    </a:lnT>
                    <a:lnB>
                      <a:noFill/>
                    </a:lnB>
                    <a:solidFill>
                      <a:srgbClr val="7030A0"/>
                    </a:solidFill>
                  </a:tcPr>
                </a:tc>
                <a:extLst>
                  <a:ext uri="{0D108BD9-81ED-4DB2-BD59-A6C34878D82A}">
                    <a16:rowId xmlns:a16="http://schemas.microsoft.com/office/drawing/2014/main" val="138574081"/>
                  </a:ext>
                </a:extLst>
              </a:tr>
            </a:tbl>
          </a:graphicData>
        </a:graphic>
      </p:graphicFrame>
      <p:graphicFrame>
        <p:nvGraphicFramePr>
          <p:cNvPr id="25" name="Tabelle 24">
            <a:extLst>
              <a:ext uri="{FF2B5EF4-FFF2-40B4-BE49-F238E27FC236}">
                <a16:creationId xmlns:a16="http://schemas.microsoft.com/office/drawing/2014/main" id="{C71D7492-E5FE-63E5-368A-088CA28394EA}"/>
              </a:ext>
            </a:extLst>
          </p:cNvPr>
          <p:cNvGraphicFramePr>
            <a:graphicFrameLocks noGrp="1"/>
          </p:cNvGraphicFramePr>
          <p:nvPr>
            <p:extLst>
              <p:ext uri="{D42A27DB-BD31-4B8C-83A1-F6EECF244321}">
                <p14:modId xmlns:p14="http://schemas.microsoft.com/office/powerpoint/2010/main" val="1556482298"/>
              </p:ext>
            </p:extLst>
          </p:nvPr>
        </p:nvGraphicFramePr>
        <p:xfrm>
          <a:off x="3662196" y="5657010"/>
          <a:ext cx="1833951" cy="560526"/>
        </p:xfrm>
        <a:graphic>
          <a:graphicData uri="http://schemas.openxmlformats.org/drawingml/2006/table">
            <a:tbl>
              <a:tblPr/>
              <a:tblGrid>
                <a:gridCol w="1833951">
                  <a:extLst>
                    <a:ext uri="{9D8B030D-6E8A-4147-A177-3AD203B41FA5}">
                      <a16:colId xmlns:a16="http://schemas.microsoft.com/office/drawing/2014/main" val="1172969578"/>
                    </a:ext>
                  </a:extLst>
                </a:gridCol>
              </a:tblGrid>
              <a:tr h="560526">
                <a:tc>
                  <a:txBody>
                    <a:bodyPr/>
                    <a:lstStyle/>
                    <a:p>
                      <a:pPr algn="ctr" fontAlgn="b"/>
                      <a:r>
                        <a:rPr lang="de-AT" sz="1100" b="0" i="0" u="none" strike="noStrike" dirty="0">
                          <a:solidFill>
                            <a:srgbClr val="FFFFFF"/>
                          </a:solidFill>
                          <a:effectLst/>
                          <a:latin typeface="Calibri" panose="020F0502020204030204" pitchFamily="34" charset="0"/>
                        </a:rPr>
                        <a:t>Input/Varianten Speicher</a:t>
                      </a:r>
                    </a:p>
                    <a:p>
                      <a:pPr algn="ctr" fontAlgn="b"/>
                      <a:r>
                        <a:rPr lang="de-AT" sz="1100" b="0" i="0" u="none" strike="noStrike" dirty="0">
                          <a:solidFill>
                            <a:srgbClr val="FFFFFF"/>
                          </a:solidFill>
                          <a:effectLst/>
                          <a:latin typeface="Calibri" panose="020F0502020204030204" pitchFamily="34" charset="0"/>
                        </a:rPr>
                        <a:t>Blatt „IN“</a:t>
                      </a:r>
                    </a:p>
                    <a:p>
                      <a:pPr algn="ctr" fontAlgn="b"/>
                      <a:r>
                        <a:rPr lang="de-AT" sz="1100" b="0" i="0" u="none" strike="noStrike" dirty="0">
                          <a:solidFill>
                            <a:srgbClr val="FFFFFF"/>
                          </a:solidFill>
                          <a:effectLst/>
                          <a:latin typeface="Calibri" panose="020F0502020204030204" pitchFamily="34" charset="0"/>
                        </a:rPr>
                        <a:t>~800 Variablen je Variante</a:t>
                      </a:r>
                    </a:p>
                  </a:txBody>
                  <a:tcPr marL="0" marR="0" marT="0" marB="0" anchor="b">
                    <a:lnL>
                      <a:noFill/>
                    </a:lnL>
                    <a:lnR>
                      <a:noFill/>
                    </a:lnR>
                    <a:lnT>
                      <a:noFill/>
                    </a:lnT>
                    <a:lnB>
                      <a:noFill/>
                    </a:lnB>
                    <a:solidFill>
                      <a:srgbClr val="000000"/>
                    </a:solidFill>
                  </a:tcPr>
                </a:tc>
                <a:extLst>
                  <a:ext uri="{0D108BD9-81ED-4DB2-BD59-A6C34878D82A}">
                    <a16:rowId xmlns:a16="http://schemas.microsoft.com/office/drawing/2014/main" val="486057827"/>
                  </a:ext>
                </a:extLst>
              </a:tr>
            </a:tbl>
          </a:graphicData>
        </a:graphic>
      </p:graphicFrame>
      <p:graphicFrame>
        <p:nvGraphicFramePr>
          <p:cNvPr id="26" name="Tabelle 25">
            <a:extLst>
              <a:ext uri="{FF2B5EF4-FFF2-40B4-BE49-F238E27FC236}">
                <a16:creationId xmlns:a16="http://schemas.microsoft.com/office/drawing/2014/main" id="{BFF6DFE2-3666-A8BC-67AE-1EC329241342}"/>
              </a:ext>
            </a:extLst>
          </p:cNvPr>
          <p:cNvGraphicFramePr>
            <a:graphicFrameLocks noGrp="1"/>
          </p:cNvGraphicFramePr>
          <p:nvPr>
            <p:extLst>
              <p:ext uri="{D42A27DB-BD31-4B8C-83A1-F6EECF244321}">
                <p14:modId xmlns:p14="http://schemas.microsoft.com/office/powerpoint/2010/main" val="1211634544"/>
              </p:ext>
            </p:extLst>
          </p:nvPr>
        </p:nvGraphicFramePr>
        <p:xfrm>
          <a:off x="4713437" y="4573805"/>
          <a:ext cx="1833951" cy="680794"/>
        </p:xfrm>
        <a:graphic>
          <a:graphicData uri="http://schemas.openxmlformats.org/drawingml/2006/table">
            <a:tbl>
              <a:tblPr/>
              <a:tblGrid>
                <a:gridCol w="1833951">
                  <a:extLst>
                    <a:ext uri="{9D8B030D-6E8A-4147-A177-3AD203B41FA5}">
                      <a16:colId xmlns:a16="http://schemas.microsoft.com/office/drawing/2014/main" val="1172969578"/>
                    </a:ext>
                  </a:extLst>
                </a:gridCol>
              </a:tblGrid>
              <a:tr h="680794">
                <a:tc>
                  <a:txBody>
                    <a:bodyPr/>
                    <a:lstStyle/>
                    <a:p>
                      <a:pPr algn="ctr" fontAlgn="b"/>
                      <a:r>
                        <a:rPr lang="de-AT" sz="1100" b="0" i="0" u="none" strike="noStrike" dirty="0">
                          <a:solidFill>
                            <a:srgbClr val="FFFFFF"/>
                          </a:solidFill>
                          <a:effectLst/>
                          <a:latin typeface="Calibri" panose="020F0502020204030204" pitchFamily="34" charset="0"/>
                        </a:rPr>
                        <a:t>Simulation (8760h)</a:t>
                      </a:r>
                    </a:p>
                    <a:p>
                      <a:pPr algn="ctr" fontAlgn="b"/>
                      <a:r>
                        <a:rPr lang="de-AT" sz="1100" b="0" i="0" u="none" strike="noStrike" dirty="0">
                          <a:solidFill>
                            <a:srgbClr val="FFFFFF"/>
                          </a:solidFill>
                          <a:effectLst/>
                          <a:latin typeface="Calibri" panose="020F0502020204030204" pitchFamily="34" charset="0"/>
                        </a:rPr>
                        <a:t>Blatt „SIM2“</a:t>
                      </a:r>
                    </a:p>
                    <a:p>
                      <a:pPr algn="ctr" fontAlgn="b"/>
                      <a:r>
                        <a:rPr lang="de-AT" sz="1100" b="0" i="0" u="none" strike="noStrike" dirty="0">
                          <a:solidFill>
                            <a:srgbClr val="FFFFFF"/>
                          </a:solidFill>
                          <a:effectLst/>
                          <a:latin typeface="Calibri" panose="020F0502020204030204" pitchFamily="34" charset="0"/>
                        </a:rPr>
                        <a:t>330 Zeitreihen</a:t>
                      </a:r>
                    </a:p>
                    <a:p>
                      <a:pPr algn="ctr" fontAlgn="b"/>
                      <a:r>
                        <a:rPr lang="de-AT" sz="1100" b="0" i="0" u="none" strike="noStrike" dirty="0">
                          <a:solidFill>
                            <a:srgbClr val="FFFFFF"/>
                          </a:solidFill>
                          <a:effectLst/>
                          <a:latin typeface="Calibri" panose="020F0502020204030204" pitchFamily="34" charset="0"/>
                        </a:rPr>
                        <a:t>2-Zonen Modell</a:t>
                      </a:r>
                    </a:p>
                  </a:txBody>
                  <a:tcPr marL="0" marR="0" marT="0" marB="0" anchor="b">
                    <a:lnL>
                      <a:noFill/>
                    </a:lnL>
                    <a:lnR>
                      <a:noFill/>
                    </a:lnR>
                    <a:lnT>
                      <a:noFill/>
                    </a:lnT>
                    <a:lnB>
                      <a:noFill/>
                    </a:lnB>
                    <a:solidFill>
                      <a:srgbClr val="00B050"/>
                    </a:solidFill>
                  </a:tcPr>
                </a:tc>
                <a:extLst>
                  <a:ext uri="{0D108BD9-81ED-4DB2-BD59-A6C34878D82A}">
                    <a16:rowId xmlns:a16="http://schemas.microsoft.com/office/drawing/2014/main" val="486057827"/>
                  </a:ext>
                </a:extLst>
              </a:tr>
            </a:tbl>
          </a:graphicData>
        </a:graphic>
      </p:graphicFrame>
      <p:grpSp>
        <p:nvGrpSpPr>
          <p:cNvPr id="27" name="Gruppieren 26">
            <a:extLst>
              <a:ext uri="{FF2B5EF4-FFF2-40B4-BE49-F238E27FC236}">
                <a16:creationId xmlns:a16="http://schemas.microsoft.com/office/drawing/2014/main" id="{0E03FB6E-4CCB-96B0-9A80-1376DAA5CAFD}"/>
              </a:ext>
            </a:extLst>
          </p:cNvPr>
          <p:cNvGrpSpPr/>
          <p:nvPr/>
        </p:nvGrpSpPr>
        <p:grpSpPr>
          <a:xfrm>
            <a:off x="4254124" y="2669690"/>
            <a:ext cx="325047" cy="2987321"/>
            <a:chOff x="4254123" y="2669689"/>
            <a:chExt cx="325047" cy="2987321"/>
          </a:xfrm>
        </p:grpSpPr>
        <p:cxnSp>
          <p:nvCxnSpPr>
            <p:cNvPr id="28" name="Verbinder: gekrümmt 27">
              <a:extLst>
                <a:ext uri="{FF2B5EF4-FFF2-40B4-BE49-F238E27FC236}">
                  <a16:creationId xmlns:a16="http://schemas.microsoft.com/office/drawing/2014/main" id="{FF7A88E1-5A8D-1BF5-5B5F-03E1603D6F26}"/>
                </a:ext>
              </a:extLst>
            </p:cNvPr>
            <p:cNvCxnSpPr>
              <a:cxnSpLocks/>
              <a:stCxn id="6" idx="3"/>
              <a:endCxn id="25" idx="0"/>
            </p:cNvCxnSpPr>
            <p:nvPr/>
          </p:nvCxnSpPr>
          <p:spPr>
            <a:xfrm>
              <a:off x="4254123" y="2669689"/>
              <a:ext cx="325047" cy="2987321"/>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Verbinder: gekrümmt 28">
              <a:extLst>
                <a:ext uri="{FF2B5EF4-FFF2-40B4-BE49-F238E27FC236}">
                  <a16:creationId xmlns:a16="http://schemas.microsoft.com/office/drawing/2014/main" id="{40AE5AC2-FCE9-0A2E-ABE0-7DA2C2BE5C14}"/>
                </a:ext>
              </a:extLst>
            </p:cNvPr>
            <p:cNvCxnSpPr>
              <a:cxnSpLocks/>
              <a:stCxn id="7" idx="3"/>
              <a:endCxn id="25" idx="0"/>
            </p:cNvCxnSpPr>
            <p:nvPr/>
          </p:nvCxnSpPr>
          <p:spPr>
            <a:xfrm>
              <a:off x="4254123" y="2884747"/>
              <a:ext cx="325047" cy="2772263"/>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Verbinder: gekrümmt 29">
              <a:extLst>
                <a:ext uri="{FF2B5EF4-FFF2-40B4-BE49-F238E27FC236}">
                  <a16:creationId xmlns:a16="http://schemas.microsoft.com/office/drawing/2014/main" id="{D67CFAD0-3779-ABCE-B862-1E7B7E235FDC}"/>
                </a:ext>
              </a:extLst>
            </p:cNvPr>
            <p:cNvCxnSpPr>
              <a:cxnSpLocks/>
              <a:stCxn id="8" idx="3"/>
              <a:endCxn id="25" idx="0"/>
            </p:cNvCxnSpPr>
            <p:nvPr/>
          </p:nvCxnSpPr>
          <p:spPr>
            <a:xfrm>
              <a:off x="4254123" y="3099805"/>
              <a:ext cx="325047" cy="2557205"/>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Verbinder: gekrümmt 30">
              <a:extLst>
                <a:ext uri="{FF2B5EF4-FFF2-40B4-BE49-F238E27FC236}">
                  <a16:creationId xmlns:a16="http://schemas.microsoft.com/office/drawing/2014/main" id="{3A75A45B-E322-099D-DC54-D624E24BFCAF}"/>
                </a:ext>
              </a:extLst>
            </p:cNvPr>
            <p:cNvCxnSpPr>
              <a:cxnSpLocks/>
              <a:stCxn id="9" idx="3"/>
              <a:endCxn id="25" idx="0"/>
            </p:cNvCxnSpPr>
            <p:nvPr/>
          </p:nvCxnSpPr>
          <p:spPr>
            <a:xfrm>
              <a:off x="4254123" y="3314863"/>
              <a:ext cx="325047" cy="2342147"/>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Verbinder: gekrümmt 31">
              <a:extLst>
                <a:ext uri="{FF2B5EF4-FFF2-40B4-BE49-F238E27FC236}">
                  <a16:creationId xmlns:a16="http://schemas.microsoft.com/office/drawing/2014/main" id="{64AD0791-B241-4924-1E9D-6C015A7A4B06}"/>
                </a:ext>
              </a:extLst>
            </p:cNvPr>
            <p:cNvCxnSpPr>
              <a:cxnSpLocks/>
              <a:stCxn id="10" idx="3"/>
              <a:endCxn id="25" idx="0"/>
            </p:cNvCxnSpPr>
            <p:nvPr/>
          </p:nvCxnSpPr>
          <p:spPr>
            <a:xfrm>
              <a:off x="4254123" y="3529921"/>
              <a:ext cx="325047" cy="212708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Verbinder: gekrümmt 32">
              <a:extLst>
                <a:ext uri="{FF2B5EF4-FFF2-40B4-BE49-F238E27FC236}">
                  <a16:creationId xmlns:a16="http://schemas.microsoft.com/office/drawing/2014/main" id="{49F93443-DB1B-37AB-AB32-D47B11AB195E}"/>
                </a:ext>
              </a:extLst>
            </p:cNvPr>
            <p:cNvCxnSpPr>
              <a:cxnSpLocks/>
              <a:stCxn id="11" idx="3"/>
              <a:endCxn id="25" idx="0"/>
            </p:cNvCxnSpPr>
            <p:nvPr/>
          </p:nvCxnSpPr>
          <p:spPr>
            <a:xfrm>
              <a:off x="4254123" y="3744979"/>
              <a:ext cx="325047" cy="1912031"/>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Verbinder: gekrümmt 33">
              <a:extLst>
                <a:ext uri="{FF2B5EF4-FFF2-40B4-BE49-F238E27FC236}">
                  <a16:creationId xmlns:a16="http://schemas.microsoft.com/office/drawing/2014/main" id="{A20FDE6C-FE1C-CC43-F6AD-72A2D1A9FC48}"/>
                </a:ext>
              </a:extLst>
            </p:cNvPr>
            <p:cNvCxnSpPr>
              <a:cxnSpLocks/>
              <a:stCxn id="12" idx="3"/>
              <a:endCxn id="25" idx="0"/>
            </p:cNvCxnSpPr>
            <p:nvPr/>
          </p:nvCxnSpPr>
          <p:spPr>
            <a:xfrm>
              <a:off x="4254123" y="3960037"/>
              <a:ext cx="325047" cy="1696973"/>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Verbinder: gekrümmt 34">
              <a:extLst>
                <a:ext uri="{FF2B5EF4-FFF2-40B4-BE49-F238E27FC236}">
                  <a16:creationId xmlns:a16="http://schemas.microsoft.com/office/drawing/2014/main" id="{E78E2D7C-8ACF-0249-8996-3CC77B972A4C}"/>
                </a:ext>
              </a:extLst>
            </p:cNvPr>
            <p:cNvCxnSpPr>
              <a:cxnSpLocks/>
              <a:stCxn id="13" idx="3"/>
              <a:endCxn id="25" idx="0"/>
            </p:cNvCxnSpPr>
            <p:nvPr/>
          </p:nvCxnSpPr>
          <p:spPr>
            <a:xfrm>
              <a:off x="4254123" y="4175095"/>
              <a:ext cx="325047" cy="1481915"/>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Verbinder: gekrümmt 35">
              <a:extLst>
                <a:ext uri="{FF2B5EF4-FFF2-40B4-BE49-F238E27FC236}">
                  <a16:creationId xmlns:a16="http://schemas.microsoft.com/office/drawing/2014/main" id="{4819017E-5E15-7C9B-004B-193BAE673505}"/>
                </a:ext>
              </a:extLst>
            </p:cNvPr>
            <p:cNvCxnSpPr>
              <a:cxnSpLocks/>
              <a:stCxn id="14" idx="3"/>
              <a:endCxn id="25" idx="0"/>
            </p:cNvCxnSpPr>
            <p:nvPr/>
          </p:nvCxnSpPr>
          <p:spPr>
            <a:xfrm>
              <a:off x="4254123" y="4390153"/>
              <a:ext cx="325047" cy="1266857"/>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Verbinder: gekrümmt 36">
              <a:extLst>
                <a:ext uri="{FF2B5EF4-FFF2-40B4-BE49-F238E27FC236}">
                  <a16:creationId xmlns:a16="http://schemas.microsoft.com/office/drawing/2014/main" id="{AA4F4D7E-0D01-E0D7-896C-A7882C25F959}"/>
                </a:ext>
              </a:extLst>
            </p:cNvPr>
            <p:cNvCxnSpPr>
              <a:cxnSpLocks/>
              <a:stCxn id="15" idx="3"/>
              <a:endCxn id="25" idx="0"/>
            </p:cNvCxnSpPr>
            <p:nvPr/>
          </p:nvCxnSpPr>
          <p:spPr>
            <a:xfrm>
              <a:off x="4254123" y="4605211"/>
              <a:ext cx="325047" cy="105179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Verbinder: gekrümmt 37">
              <a:extLst>
                <a:ext uri="{FF2B5EF4-FFF2-40B4-BE49-F238E27FC236}">
                  <a16:creationId xmlns:a16="http://schemas.microsoft.com/office/drawing/2014/main" id="{92DBCF4C-96E4-D0BC-7EDF-82B31F3F4A33}"/>
                </a:ext>
              </a:extLst>
            </p:cNvPr>
            <p:cNvCxnSpPr>
              <a:cxnSpLocks/>
              <a:stCxn id="16" idx="3"/>
              <a:endCxn id="25" idx="0"/>
            </p:cNvCxnSpPr>
            <p:nvPr/>
          </p:nvCxnSpPr>
          <p:spPr>
            <a:xfrm>
              <a:off x="4254123" y="4820269"/>
              <a:ext cx="325047" cy="836741"/>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Verbinder: gekrümmt 38">
              <a:extLst>
                <a:ext uri="{FF2B5EF4-FFF2-40B4-BE49-F238E27FC236}">
                  <a16:creationId xmlns:a16="http://schemas.microsoft.com/office/drawing/2014/main" id="{2B3A57E5-9D27-B248-D3EB-42ECDED7E188}"/>
                </a:ext>
              </a:extLst>
            </p:cNvPr>
            <p:cNvCxnSpPr>
              <a:cxnSpLocks/>
              <a:stCxn id="17" idx="3"/>
              <a:endCxn id="25" idx="0"/>
            </p:cNvCxnSpPr>
            <p:nvPr/>
          </p:nvCxnSpPr>
          <p:spPr>
            <a:xfrm>
              <a:off x="4254123" y="5035324"/>
              <a:ext cx="325047" cy="621686"/>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0" name="Verbinder: gekrümmt 39">
            <a:extLst>
              <a:ext uri="{FF2B5EF4-FFF2-40B4-BE49-F238E27FC236}">
                <a16:creationId xmlns:a16="http://schemas.microsoft.com/office/drawing/2014/main" id="{434BDE8C-A793-9722-9E96-41D27DD44B3F}"/>
              </a:ext>
            </a:extLst>
          </p:cNvPr>
          <p:cNvCxnSpPr>
            <a:cxnSpLocks/>
            <a:stCxn id="24" idx="3"/>
            <a:endCxn id="25" idx="0"/>
          </p:cNvCxnSpPr>
          <p:nvPr/>
        </p:nvCxnSpPr>
        <p:spPr>
          <a:xfrm>
            <a:off x="4208474" y="5404912"/>
            <a:ext cx="370696" cy="25209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Verbinder: gekrümmt 40">
            <a:extLst>
              <a:ext uri="{FF2B5EF4-FFF2-40B4-BE49-F238E27FC236}">
                <a16:creationId xmlns:a16="http://schemas.microsoft.com/office/drawing/2014/main" id="{17439DE8-6492-A7AB-FFFE-00F4F51D9EF3}"/>
              </a:ext>
            </a:extLst>
          </p:cNvPr>
          <p:cNvCxnSpPr>
            <a:cxnSpLocks/>
            <a:stCxn id="25" idx="3"/>
            <a:endCxn id="26" idx="2"/>
          </p:cNvCxnSpPr>
          <p:nvPr/>
        </p:nvCxnSpPr>
        <p:spPr>
          <a:xfrm flipV="1">
            <a:off x="5496147" y="5254599"/>
            <a:ext cx="134265" cy="682674"/>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2" name="Tabelle 41">
            <a:extLst>
              <a:ext uri="{FF2B5EF4-FFF2-40B4-BE49-F238E27FC236}">
                <a16:creationId xmlns:a16="http://schemas.microsoft.com/office/drawing/2014/main" id="{87888AC0-84F5-E127-4FE4-19D6F4D69328}"/>
              </a:ext>
            </a:extLst>
          </p:cNvPr>
          <p:cNvGraphicFramePr>
            <a:graphicFrameLocks noGrp="1"/>
          </p:cNvGraphicFramePr>
          <p:nvPr>
            <p:extLst>
              <p:ext uri="{D42A27DB-BD31-4B8C-83A1-F6EECF244321}">
                <p14:modId xmlns:p14="http://schemas.microsoft.com/office/powerpoint/2010/main" val="632852221"/>
              </p:ext>
            </p:extLst>
          </p:nvPr>
        </p:nvGraphicFramePr>
        <p:xfrm>
          <a:off x="4713437" y="3970531"/>
          <a:ext cx="1833951" cy="510596"/>
        </p:xfrm>
        <a:graphic>
          <a:graphicData uri="http://schemas.openxmlformats.org/drawingml/2006/table">
            <a:tbl>
              <a:tblPr/>
              <a:tblGrid>
                <a:gridCol w="1833951">
                  <a:extLst>
                    <a:ext uri="{9D8B030D-6E8A-4147-A177-3AD203B41FA5}">
                      <a16:colId xmlns:a16="http://schemas.microsoft.com/office/drawing/2014/main" val="1172969578"/>
                    </a:ext>
                  </a:extLst>
                </a:gridCol>
              </a:tblGrid>
              <a:tr h="510596">
                <a:tc>
                  <a:txBody>
                    <a:bodyPr/>
                    <a:lstStyle/>
                    <a:p>
                      <a:pPr algn="ctr" fontAlgn="b"/>
                      <a:r>
                        <a:rPr lang="de-AT" sz="1100" b="0" i="0" u="none" strike="noStrike" dirty="0">
                          <a:solidFill>
                            <a:srgbClr val="FFFFFF"/>
                          </a:solidFill>
                          <a:effectLst/>
                          <a:latin typeface="Calibri" panose="020F0502020204030204" pitchFamily="34" charset="0"/>
                        </a:rPr>
                        <a:t>Ergebnisse: Blatt „OUT“</a:t>
                      </a:r>
                    </a:p>
                    <a:p>
                      <a:pPr algn="ctr" fontAlgn="b"/>
                      <a:r>
                        <a:rPr lang="de-AT" sz="1100" b="0" i="0" u="none" strike="noStrike" dirty="0">
                          <a:solidFill>
                            <a:srgbClr val="FFFFFF"/>
                          </a:solidFill>
                          <a:effectLst/>
                          <a:latin typeface="Calibri" panose="020F0502020204030204" pitchFamily="34" charset="0"/>
                        </a:rPr>
                        <a:t>~300 Ergebnisse</a:t>
                      </a:r>
                    </a:p>
                    <a:p>
                      <a:pPr marL="0" marR="0" lvl="0" indent="0" algn="ctr" defTabSz="914400" eaLnBrk="1" fontAlgn="b" latinLnBrk="0" hangingPunct="1">
                        <a:lnSpc>
                          <a:spcPct val="100000"/>
                        </a:lnSpc>
                        <a:spcBef>
                          <a:spcPts val="0"/>
                        </a:spcBef>
                        <a:spcAft>
                          <a:spcPts val="0"/>
                        </a:spcAft>
                        <a:buClrTx/>
                        <a:buSzTx/>
                        <a:buFontTx/>
                        <a:buNone/>
                        <a:tabLst/>
                        <a:defRPr/>
                      </a:pPr>
                      <a:r>
                        <a:rPr lang="de-AT" sz="1100" b="0" i="0" u="none" strike="noStrike" dirty="0">
                          <a:solidFill>
                            <a:srgbClr val="FFFFFF"/>
                          </a:solidFill>
                          <a:effectLst/>
                          <a:latin typeface="Calibri" panose="020F0502020204030204" pitchFamily="34" charset="0"/>
                        </a:rPr>
                        <a:t>je Variante / Szenario</a:t>
                      </a:r>
                    </a:p>
                  </a:txBody>
                  <a:tcPr marL="0" marR="0" marT="0" marB="0" anchor="b">
                    <a:lnL>
                      <a:noFill/>
                    </a:lnL>
                    <a:lnR>
                      <a:noFill/>
                    </a:lnR>
                    <a:lnT>
                      <a:noFill/>
                    </a:lnT>
                    <a:lnB>
                      <a:noFill/>
                    </a:lnB>
                    <a:solidFill>
                      <a:srgbClr val="000000"/>
                    </a:solidFill>
                  </a:tcPr>
                </a:tc>
                <a:extLst>
                  <a:ext uri="{0D108BD9-81ED-4DB2-BD59-A6C34878D82A}">
                    <a16:rowId xmlns:a16="http://schemas.microsoft.com/office/drawing/2014/main" val="486057827"/>
                  </a:ext>
                </a:extLst>
              </a:tr>
            </a:tbl>
          </a:graphicData>
        </a:graphic>
      </p:graphicFrame>
      <p:cxnSp>
        <p:nvCxnSpPr>
          <p:cNvPr id="45" name="Verbinder: gekrümmt 44">
            <a:extLst>
              <a:ext uri="{FF2B5EF4-FFF2-40B4-BE49-F238E27FC236}">
                <a16:creationId xmlns:a16="http://schemas.microsoft.com/office/drawing/2014/main" id="{B293D608-03AA-528E-55F0-0B9EC9AAD5FE}"/>
              </a:ext>
            </a:extLst>
          </p:cNvPr>
          <p:cNvCxnSpPr>
            <a:cxnSpLocks/>
            <a:stCxn id="26" idx="0"/>
            <a:endCxn id="42" idx="2"/>
          </p:cNvCxnSpPr>
          <p:nvPr/>
        </p:nvCxnSpPr>
        <p:spPr>
          <a:xfrm rot="5400000" flipH="1" flipV="1">
            <a:off x="5584073" y="4527466"/>
            <a:ext cx="92678" cy="12700"/>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Verbinder: gekrümmt 45">
            <a:extLst>
              <a:ext uri="{FF2B5EF4-FFF2-40B4-BE49-F238E27FC236}">
                <a16:creationId xmlns:a16="http://schemas.microsoft.com/office/drawing/2014/main" id="{F3FE5E16-C825-5C82-B31F-756C9B048384}"/>
              </a:ext>
            </a:extLst>
          </p:cNvPr>
          <p:cNvCxnSpPr>
            <a:cxnSpLocks/>
            <a:stCxn id="42" idx="0"/>
            <a:endCxn id="21" idx="2"/>
          </p:cNvCxnSpPr>
          <p:nvPr/>
        </p:nvCxnSpPr>
        <p:spPr>
          <a:xfrm rot="5400000" flipH="1" flipV="1">
            <a:off x="5226427" y="3551824"/>
            <a:ext cx="822692" cy="14723"/>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Verbinder: gekrümmt 46">
            <a:extLst>
              <a:ext uri="{FF2B5EF4-FFF2-40B4-BE49-F238E27FC236}">
                <a16:creationId xmlns:a16="http://schemas.microsoft.com/office/drawing/2014/main" id="{56B3BD3A-B7E2-D842-CB29-DCD8A61289A8}"/>
              </a:ext>
            </a:extLst>
          </p:cNvPr>
          <p:cNvCxnSpPr>
            <a:cxnSpLocks/>
            <a:stCxn id="42" idx="0"/>
            <a:endCxn id="20" idx="2"/>
          </p:cNvCxnSpPr>
          <p:nvPr/>
        </p:nvCxnSpPr>
        <p:spPr>
          <a:xfrm rot="5400000" flipH="1" flipV="1">
            <a:off x="5087840" y="3413235"/>
            <a:ext cx="1099869" cy="14724"/>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Verbinder: gekrümmt 47">
            <a:extLst>
              <a:ext uri="{FF2B5EF4-FFF2-40B4-BE49-F238E27FC236}">
                <a16:creationId xmlns:a16="http://schemas.microsoft.com/office/drawing/2014/main" id="{566099DE-3D67-CA54-693C-75EFEF7DBDFC}"/>
              </a:ext>
            </a:extLst>
          </p:cNvPr>
          <p:cNvCxnSpPr>
            <a:cxnSpLocks/>
            <a:stCxn id="42" idx="0"/>
            <a:endCxn id="22" idx="2"/>
          </p:cNvCxnSpPr>
          <p:nvPr/>
        </p:nvCxnSpPr>
        <p:spPr>
          <a:xfrm rot="5400000" flipH="1" flipV="1">
            <a:off x="5572135" y="3907056"/>
            <a:ext cx="121753" cy="5198"/>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7" name="Tabelle 236">
            <a:extLst>
              <a:ext uri="{FF2B5EF4-FFF2-40B4-BE49-F238E27FC236}">
                <a16:creationId xmlns:a16="http://schemas.microsoft.com/office/drawing/2014/main" id="{3F246F68-BF3B-A73F-EA83-C7146EBE3DC6}"/>
              </a:ext>
            </a:extLst>
          </p:cNvPr>
          <p:cNvGraphicFramePr>
            <a:graphicFrameLocks noGrp="1"/>
          </p:cNvGraphicFramePr>
          <p:nvPr>
            <p:extLst>
              <p:ext uri="{D42A27DB-BD31-4B8C-83A1-F6EECF244321}">
                <p14:modId xmlns:p14="http://schemas.microsoft.com/office/powerpoint/2010/main" val="4209561630"/>
              </p:ext>
            </p:extLst>
          </p:nvPr>
        </p:nvGraphicFramePr>
        <p:xfrm>
          <a:off x="7086148" y="6152496"/>
          <a:ext cx="1833951" cy="415523"/>
        </p:xfrm>
        <a:graphic>
          <a:graphicData uri="http://schemas.openxmlformats.org/drawingml/2006/table">
            <a:tbl>
              <a:tblPr/>
              <a:tblGrid>
                <a:gridCol w="1833951">
                  <a:extLst>
                    <a:ext uri="{9D8B030D-6E8A-4147-A177-3AD203B41FA5}">
                      <a16:colId xmlns:a16="http://schemas.microsoft.com/office/drawing/2014/main" val="1172969578"/>
                    </a:ext>
                  </a:extLst>
                </a:gridCol>
              </a:tblGrid>
              <a:tr h="415523">
                <a:tc>
                  <a:txBody>
                    <a:bodyPr/>
                    <a:lstStyle/>
                    <a:p>
                      <a:pPr algn="ctr" fontAlgn="b"/>
                      <a:r>
                        <a:rPr lang="de-DE" sz="1100" b="0" i="0" u="none" strike="noStrike" dirty="0">
                          <a:solidFill>
                            <a:srgbClr val="FFFFFF"/>
                          </a:solidFill>
                          <a:effectLst/>
                          <a:latin typeface="Calibri" panose="020F0502020204030204" pitchFamily="34" charset="0"/>
                        </a:rPr>
                        <a:t>💾</a:t>
                      </a:r>
                      <a:r>
                        <a:rPr lang="de-AT" sz="1100" b="0" i="0" u="none" strike="noStrike" dirty="0">
                          <a:solidFill>
                            <a:srgbClr val="FFFFFF"/>
                          </a:solidFill>
                          <a:effectLst/>
                          <a:latin typeface="Calibri" panose="020F0502020204030204" pitchFamily="34" charset="0"/>
                        </a:rPr>
                        <a:t>Projekt-Export.xlsx</a:t>
                      </a:r>
                    </a:p>
                    <a:p>
                      <a:pPr algn="ctr" fontAlgn="b"/>
                      <a:r>
                        <a:rPr lang="de-AT" sz="1100" b="0" i="0" u="none" strike="noStrike" dirty="0">
                          <a:solidFill>
                            <a:srgbClr val="FFFFFF"/>
                          </a:solidFill>
                          <a:effectLst/>
                          <a:latin typeface="Calibri" panose="020F0502020204030204" pitchFamily="34" charset="0"/>
                        </a:rPr>
                        <a:t>&lt;1MB pro Projekt</a:t>
                      </a:r>
                    </a:p>
                  </a:txBody>
                  <a:tcPr marL="0" marR="0" marT="0" marB="0" anchor="b">
                    <a:lnL>
                      <a:noFill/>
                    </a:lnL>
                    <a:lnR>
                      <a:noFill/>
                    </a:lnR>
                    <a:lnT>
                      <a:noFill/>
                    </a:lnT>
                    <a:lnB>
                      <a:noFill/>
                    </a:lnB>
                    <a:solidFill>
                      <a:srgbClr val="00B050"/>
                    </a:solidFill>
                  </a:tcPr>
                </a:tc>
                <a:extLst>
                  <a:ext uri="{0D108BD9-81ED-4DB2-BD59-A6C34878D82A}">
                    <a16:rowId xmlns:a16="http://schemas.microsoft.com/office/drawing/2014/main" val="486057827"/>
                  </a:ext>
                </a:extLst>
              </a:tr>
            </a:tbl>
          </a:graphicData>
        </a:graphic>
      </p:graphicFrame>
      <p:cxnSp>
        <p:nvCxnSpPr>
          <p:cNvPr id="284" name="Verbinder: gekrümmt 283">
            <a:extLst>
              <a:ext uri="{FF2B5EF4-FFF2-40B4-BE49-F238E27FC236}">
                <a16:creationId xmlns:a16="http://schemas.microsoft.com/office/drawing/2014/main" id="{B6D8BB59-1C4A-5B08-01C8-059D14EEB02E}"/>
              </a:ext>
            </a:extLst>
          </p:cNvPr>
          <p:cNvCxnSpPr>
            <a:cxnSpLocks/>
            <a:stCxn id="25" idx="3"/>
            <a:endCxn id="237" idx="1"/>
          </p:cNvCxnSpPr>
          <p:nvPr/>
        </p:nvCxnSpPr>
        <p:spPr>
          <a:xfrm>
            <a:off x="5496147" y="5937274"/>
            <a:ext cx="1590001" cy="422983"/>
          </a:xfrm>
          <a:prstGeom prst="curvedConnector3">
            <a:avLst>
              <a:gd name="adj1" fmla="val 50000"/>
            </a:avLst>
          </a:prstGeom>
          <a:ln w="1905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graphicFrame>
        <p:nvGraphicFramePr>
          <p:cNvPr id="289" name="Tabelle 288">
            <a:extLst>
              <a:ext uri="{FF2B5EF4-FFF2-40B4-BE49-F238E27FC236}">
                <a16:creationId xmlns:a16="http://schemas.microsoft.com/office/drawing/2014/main" id="{0E46479C-4F99-AECE-4D51-FC8035216E48}"/>
              </a:ext>
            </a:extLst>
          </p:cNvPr>
          <p:cNvGraphicFramePr>
            <a:graphicFrameLocks noGrp="1"/>
          </p:cNvGraphicFramePr>
          <p:nvPr>
            <p:extLst>
              <p:ext uri="{D42A27DB-BD31-4B8C-83A1-F6EECF244321}">
                <p14:modId xmlns:p14="http://schemas.microsoft.com/office/powerpoint/2010/main" val="1254400617"/>
              </p:ext>
            </p:extLst>
          </p:nvPr>
        </p:nvGraphicFramePr>
        <p:xfrm>
          <a:off x="6272199" y="6067819"/>
          <a:ext cx="959670" cy="340397"/>
        </p:xfrm>
        <a:graphic>
          <a:graphicData uri="http://schemas.openxmlformats.org/drawingml/2006/table">
            <a:tbl>
              <a:tblPr/>
              <a:tblGrid>
                <a:gridCol w="959670">
                  <a:extLst>
                    <a:ext uri="{9D8B030D-6E8A-4147-A177-3AD203B41FA5}">
                      <a16:colId xmlns:a16="http://schemas.microsoft.com/office/drawing/2014/main" val="1172969578"/>
                    </a:ext>
                  </a:extLst>
                </a:gridCol>
              </a:tblGrid>
              <a:tr h="340397">
                <a:tc>
                  <a:txBody>
                    <a:bodyPr/>
                    <a:lstStyle/>
                    <a:p>
                      <a:pPr algn="ctr" fontAlgn="b"/>
                      <a:r>
                        <a:rPr lang="de-DE" sz="1100" b="0" i="0" u="none" strike="noStrike" dirty="0">
                          <a:solidFill>
                            <a:srgbClr val="FFFFFF"/>
                          </a:solidFill>
                          <a:effectLst/>
                          <a:latin typeface="Calibri" panose="020F0502020204030204" pitchFamily="34" charset="0"/>
                        </a:rPr>
                        <a:t>💾Speichern </a:t>
                      </a:r>
                    </a:p>
                    <a:p>
                      <a:pPr algn="ctr" fontAlgn="b"/>
                      <a:r>
                        <a:rPr lang="de-DE" sz="1100" b="0" i="0" u="none" strike="noStrike" dirty="0">
                          <a:solidFill>
                            <a:srgbClr val="FFFFFF"/>
                          </a:solidFill>
                          <a:effectLst/>
                          <a:latin typeface="Calibri" panose="020F0502020204030204" pitchFamily="34" charset="0"/>
                        </a:rPr>
                        <a:t>/ Laden</a:t>
                      </a:r>
                      <a:endParaRPr lang="de-AT" sz="1100" b="0" i="0" u="none" strike="noStrike" dirty="0">
                        <a:solidFill>
                          <a:srgbClr val="FFFFFF"/>
                        </a:solidFill>
                        <a:effectLst/>
                        <a:latin typeface="Calibri" panose="020F0502020204030204" pitchFamily="34" charset="0"/>
                      </a:endParaRPr>
                    </a:p>
                  </a:txBody>
                  <a:tcPr marL="0" marR="0" marT="0" marB="0" anchor="b">
                    <a:lnL>
                      <a:noFill/>
                    </a:lnL>
                    <a:lnR>
                      <a:noFill/>
                    </a:lnR>
                    <a:lnT>
                      <a:noFill/>
                    </a:lnT>
                    <a:lnB>
                      <a:noFill/>
                    </a:lnB>
                    <a:solidFill>
                      <a:schemeClr val="accent4"/>
                    </a:solidFill>
                  </a:tcPr>
                </a:tc>
                <a:extLst>
                  <a:ext uri="{0D108BD9-81ED-4DB2-BD59-A6C34878D82A}">
                    <a16:rowId xmlns:a16="http://schemas.microsoft.com/office/drawing/2014/main" val="486057827"/>
                  </a:ext>
                </a:extLst>
              </a:tr>
            </a:tbl>
          </a:graphicData>
        </a:graphic>
      </p:graphicFrame>
      <p:cxnSp>
        <p:nvCxnSpPr>
          <p:cNvPr id="304" name="Verbinder: gekrümmt 303">
            <a:extLst>
              <a:ext uri="{FF2B5EF4-FFF2-40B4-BE49-F238E27FC236}">
                <a16:creationId xmlns:a16="http://schemas.microsoft.com/office/drawing/2014/main" id="{1CFE50D3-0A1E-137F-5DA8-475E207BCF8A}"/>
              </a:ext>
            </a:extLst>
          </p:cNvPr>
          <p:cNvCxnSpPr>
            <a:cxnSpLocks/>
            <a:stCxn id="21" idx="3"/>
            <a:endCxn id="303" idx="1"/>
          </p:cNvCxnSpPr>
          <p:nvPr/>
        </p:nvCxnSpPr>
        <p:spPr>
          <a:xfrm flipV="1">
            <a:off x="6340460" y="3034089"/>
            <a:ext cx="3152260" cy="4213"/>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308" name="Grafik 307" descr="Ein Bild, das Text, Screenshot, Software, Webseite enthält.&#10;&#10;KI-generierte Inhalte können fehlerhaft sein.">
            <a:extLst>
              <a:ext uri="{FF2B5EF4-FFF2-40B4-BE49-F238E27FC236}">
                <a16:creationId xmlns:a16="http://schemas.microsoft.com/office/drawing/2014/main" id="{A801388F-70E9-41F8-F419-8A3DB8487282}"/>
              </a:ext>
            </a:extLst>
          </p:cNvPr>
          <p:cNvPicPr>
            <a:picLocks noChangeAspect="1"/>
          </p:cNvPicPr>
          <p:nvPr/>
        </p:nvPicPr>
        <p:blipFill>
          <a:blip r:embed="rId17"/>
          <a:stretch>
            <a:fillRect/>
          </a:stretch>
        </p:blipFill>
        <p:spPr>
          <a:xfrm>
            <a:off x="7344727" y="627142"/>
            <a:ext cx="3630631" cy="21981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03" name="Grafik 302" descr="Ein Bild, das Text, Screenshot, Software, Webseite enthält.&#10;&#10;KI-generierte Inhalte können fehlerhaft sein.">
            <a:extLst>
              <a:ext uri="{FF2B5EF4-FFF2-40B4-BE49-F238E27FC236}">
                <a16:creationId xmlns:a16="http://schemas.microsoft.com/office/drawing/2014/main" id="{C7E98865-F6BF-C7F5-108B-9E7ED8E8AA62}"/>
              </a:ext>
            </a:extLst>
          </p:cNvPr>
          <p:cNvPicPr>
            <a:picLocks noChangeAspect="1"/>
          </p:cNvPicPr>
          <p:nvPr/>
        </p:nvPicPr>
        <p:blipFill>
          <a:blip r:embed="rId18"/>
          <a:stretch>
            <a:fillRect/>
          </a:stretch>
        </p:blipFill>
        <p:spPr>
          <a:xfrm>
            <a:off x="9492720" y="2085875"/>
            <a:ext cx="2596531" cy="18964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310" name="Verbinder: gekrümmt 309">
            <a:extLst>
              <a:ext uri="{FF2B5EF4-FFF2-40B4-BE49-F238E27FC236}">
                <a16:creationId xmlns:a16="http://schemas.microsoft.com/office/drawing/2014/main" id="{6F194F01-4BA1-FEC4-C53D-EA38C51AA1A2}"/>
              </a:ext>
            </a:extLst>
          </p:cNvPr>
          <p:cNvCxnSpPr>
            <a:cxnSpLocks/>
            <a:stCxn id="20" idx="3"/>
            <a:endCxn id="308" idx="1"/>
          </p:cNvCxnSpPr>
          <p:nvPr/>
        </p:nvCxnSpPr>
        <p:spPr>
          <a:xfrm flipV="1">
            <a:off x="6340462" y="1726232"/>
            <a:ext cx="1004265" cy="1034893"/>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4" name="Verbinder: gekrümmt 313">
            <a:extLst>
              <a:ext uri="{FF2B5EF4-FFF2-40B4-BE49-F238E27FC236}">
                <a16:creationId xmlns:a16="http://schemas.microsoft.com/office/drawing/2014/main" id="{EF880ABA-C1E8-21E4-FC98-43C93247EFCD}"/>
              </a:ext>
            </a:extLst>
          </p:cNvPr>
          <p:cNvCxnSpPr>
            <a:cxnSpLocks/>
            <a:stCxn id="22" idx="3"/>
          </p:cNvCxnSpPr>
          <p:nvPr/>
        </p:nvCxnSpPr>
        <p:spPr>
          <a:xfrm>
            <a:off x="6321411" y="3548739"/>
            <a:ext cx="713023" cy="12700"/>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5" name="Verbinder: gekrümmt 314">
            <a:extLst>
              <a:ext uri="{FF2B5EF4-FFF2-40B4-BE49-F238E27FC236}">
                <a16:creationId xmlns:a16="http://schemas.microsoft.com/office/drawing/2014/main" id="{F949EF98-FA63-3BE6-A661-522B1FA403C4}"/>
              </a:ext>
            </a:extLst>
          </p:cNvPr>
          <p:cNvCxnSpPr>
            <a:cxnSpLocks/>
            <a:endCxn id="331" idx="1"/>
          </p:cNvCxnSpPr>
          <p:nvPr/>
        </p:nvCxnSpPr>
        <p:spPr>
          <a:xfrm>
            <a:off x="6285785" y="3693355"/>
            <a:ext cx="3056666" cy="1607441"/>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317" name="Grafik 316" descr="Ein Bild, das Text, Screenshot, Software, Schrift enthält.&#10;&#10;KI-generierte Inhalte können fehlerhaft sein.">
            <a:extLst>
              <a:ext uri="{FF2B5EF4-FFF2-40B4-BE49-F238E27FC236}">
                <a16:creationId xmlns:a16="http://schemas.microsoft.com/office/drawing/2014/main" id="{02F86824-7FA2-9576-925E-4377C4C6C8ED}"/>
              </a:ext>
            </a:extLst>
          </p:cNvPr>
          <p:cNvPicPr>
            <a:picLocks noChangeAspect="1"/>
          </p:cNvPicPr>
          <p:nvPr/>
        </p:nvPicPr>
        <p:blipFill>
          <a:blip r:embed="rId19"/>
          <a:stretch>
            <a:fillRect/>
          </a:stretch>
        </p:blipFill>
        <p:spPr>
          <a:xfrm>
            <a:off x="7112330" y="3095621"/>
            <a:ext cx="2113516" cy="19467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31" name="Grafik 330" descr="Ein Bild, das Text, Screenshot, Diagramm, Software enthält.&#10;&#10;KI-generierte Inhalte können fehlerhaft sein.">
            <a:extLst>
              <a:ext uri="{FF2B5EF4-FFF2-40B4-BE49-F238E27FC236}">
                <a16:creationId xmlns:a16="http://schemas.microsoft.com/office/drawing/2014/main" id="{AA2D2216-C1CC-AE4B-4CCB-95B5C865A9E7}"/>
              </a:ext>
            </a:extLst>
          </p:cNvPr>
          <p:cNvPicPr>
            <a:picLocks noChangeAspect="1"/>
          </p:cNvPicPr>
          <p:nvPr/>
        </p:nvPicPr>
        <p:blipFill>
          <a:blip r:embed="rId20"/>
          <a:stretch>
            <a:fillRect/>
          </a:stretch>
        </p:blipFill>
        <p:spPr>
          <a:xfrm>
            <a:off x="9342451" y="4165359"/>
            <a:ext cx="2780518" cy="22708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 name="Grafik 19">
            <a:extLst>
              <a:ext uri="{FF2B5EF4-FFF2-40B4-BE49-F238E27FC236}">
                <a16:creationId xmlns:a16="http://schemas.microsoft.com/office/drawing/2014/main" id="{EABBB5A7-B70E-532D-F687-513B9C13FEE4}"/>
              </a:ext>
            </a:extLst>
          </p:cNvPr>
          <p:cNvPicPr>
            <a:picLocks noChangeAspect="1"/>
          </p:cNvPicPr>
          <p:nvPr/>
        </p:nvPicPr>
        <p:blipFill>
          <a:blip r:embed="rId21"/>
          <a:stretch>
            <a:fillRect/>
          </a:stretch>
        </p:blipFill>
        <p:spPr>
          <a:xfrm>
            <a:off x="4949811" y="2651587"/>
            <a:ext cx="1390650" cy="219075"/>
          </a:xfrm>
          <a:prstGeom prst="rect">
            <a:avLst/>
          </a:prstGeom>
        </p:spPr>
      </p:pic>
      <p:pic>
        <p:nvPicPr>
          <p:cNvPr id="21" name="Grafik 20">
            <a:extLst>
              <a:ext uri="{FF2B5EF4-FFF2-40B4-BE49-F238E27FC236}">
                <a16:creationId xmlns:a16="http://schemas.microsoft.com/office/drawing/2014/main" id="{0A112720-E22B-08F5-9DFC-0D375044ED35}"/>
              </a:ext>
            </a:extLst>
          </p:cNvPr>
          <p:cNvPicPr>
            <a:picLocks noChangeAspect="1"/>
          </p:cNvPicPr>
          <p:nvPr/>
        </p:nvPicPr>
        <p:blipFill>
          <a:blip r:embed="rId22"/>
          <a:stretch>
            <a:fillRect/>
          </a:stretch>
        </p:blipFill>
        <p:spPr>
          <a:xfrm>
            <a:off x="4949810" y="2928764"/>
            <a:ext cx="1390650" cy="219075"/>
          </a:xfrm>
          <a:prstGeom prst="rect">
            <a:avLst/>
          </a:prstGeom>
        </p:spPr>
      </p:pic>
      <p:graphicFrame>
        <p:nvGraphicFramePr>
          <p:cNvPr id="22" name="Tabelle 21">
            <a:extLst>
              <a:ext uri="{FF2B5EF4-FFF2-40B4-BE49-F238E27FC236}">
                <a16:creationId xmlns:a16="http://schemas.microsoft.com/office/drawing/2014/main" id="{82F188FD-B2B4-F2AE-494A-5FA472A737BE}"/>
              </a:ext>
            </a:extLst>
          </p:cNvPr>
          <p:cNvGraphicFramePr>
            <a:graphicFrameLocks noGrp="1"/>
          </p:cNvGraphicFramePr>
          <p:nvPr>
            <p:extLst>
              <p:ext uri="{D42A27DB-BD31-4B8C-83A1-F6EECF244321}">
                <p14:modId xmlns:p14="http://schemas.microsoft.com/office/powerpoint/2010/main" val="3741333766"/>
              </p:ext>
            </p:extLst>
          </p:nvPr>
        </p:nvGraphicFramePr>
        <p:xfrm>
          <a:off x="4949810" y="3248703"/>
          <a:ext cx="1371600" cy="600075"/>
        </p:xfrm>
        <a:graphic>
          <a:graphicData uri="http://schemas.openxmlformats.org/drawingml/2006/table">
            <a:tbl>
              <a:tblPr/>
              <a:tblGrid>
                <a:gridCol w="1371600">
                  <a:extLst>
                    <a:ext uri="{9D8B030D-6E8A-4147-A177-3AD203B41FA5}">
                      <a16:colId xmlns:a16="http://schemas.microsoft.com/office/drawing/2014/main" val="1588505910"/>
                    </a:ext>
                  </a:extLst>
                </a:gridCol>
              </a:tblGrid>
              <a:tr h="200025">
                <a:tc>
                  <a:txBody>
                    <a:bodyPr/>
                    <a:lstStyle/>
                    <a:p>
                      <a:pPr algn="l" fontAlgn="ctr"/>
                      <a:r>
                        <a:rPr lang="de-AT" sz="1100" b="0" i="0" u="none" strike="noStrike" dirty="0">
                          <a:solidFill>
                            <a:srgbClr val="E6EFF3"/>
                          </a:solidFill>
                          <a:effectLst/>
                          <a:latin typeface="Calibri" panose="020F0502020204030204" pitchFamily="34" charset="0"/>
                        </a:rPr>
                        <a:t>🏆 PEQ Deklaration</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950F53"/>
                    </a:solidFill>
                  </a:tcPr>
                </a:tc>
                <a:extLst>
                  <a:ext uri="{0D108BD9-81ED-4DB2-BD59-A6C34878D82A}">
                    <a16:rowId xmlns:a16="http://schemas.microsoft.com/office/drawing/2014/main" val="1403844222"/>
                  </a:ext>
                </a:extLst>
              </a:tr>
              <a:tr h="200025">
                <a:tc>
                  <a:txBody>
                    <a:bodyPr/>
                    <a:lstStyle/>
                    <a:p>
                      <a:pPr algn="l" fontAlgn="ctr"/>
                      <a:r>
                        <a:rPr lang="de-AT" sz="1100" b="0" i="0" u="none" strike="noStrike" dirty="0">
                          <a:solidFill>
                            <a:srgbClr val="E6EFF3"/>
                          </a:solidFill>
                          <a:effectLst/>
                          <a:latin typeface="Calibri" panose="020F0502020204030204" pitchFamily="34" charset="0"/>
                        </a:rPr>
                        <a:t>🏆 PEQ+M</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F59C00"/>
                    </a:solidFill>
                  </a:tcPr>
                </a:tc>
                <a:extLst>
                  <a:ext uri="{0D108BD9-81ED-4DB2-BD59-A6C34878D82A}">
                    <a16:rowId xmlns:a16="http://schemas.microsoft.com/office/drawing/2014/main" val="1369890536"/>
                  </a:ext>
                </a:extLst>
              </a:tr>
              <a:tr h="200025">
                <a:tc>
                  <a:txBody>
                    <a:bodyPr/>
                    <a:lstStyle/>
                    <a:p>
                      <a:pPr algn="l" fontAlgn="ctr"/>
                      <a:r>
                        <a:rPr lang="de-AT" sz="1100" b="0" i="0" u="none" strike="noStrike" dirty="0">
                          <a:solidFill>
                            <a:srgbClr val="E6EFF3"/>
                          </a:solidFill>
                          <a:effectLst/>
                          <a:latin typeface="Calibri" panose="020F0502020204030204" pitchFamily="34" charset="0"/>
                        </a:rPr>
                        <a:t>🏆 KN PEQ</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3BACBE"/>
                    </a:solidFill>
                  </a:tcPr>
                </a:tc>
                <a:extLst>
                  <a:ext uri="{0D108BD9-81ED-4DB2-BD59-A6C34878D82A}">
                    <a16:rowId xmlns:a16="http://schemas.microsoft.com/office/drawing/2014/main" val="3843430095"/>
                  </a:ext>
                </a:extLst>
              </a:tr>
            </a:tbl>
          </a:graphicData>
        </a:graphic>
      </p:graphicFrame>
      <p:pic>
        <p:nvPicPr>
          <p:cNvPr id="425" name="Grafik 424" descr="Ein Bild, das Text, Screenshot, Schrift, Diagramm enthält.&#10;&#10;KI-generierte Inhalte können fehlerhaft sein.">
            <a:extLst>
              <a:ext uri="{FF2B5EF4-FFF2-40B4-BE49-F238E27FC236}">
                <a16:creationId xmlns:a16="http://schemas.microsoft.com/office/drawing/2014/main" id="{F338F015-4A72-D98F-11C2-C0F619C89CDD}"/>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67565" y="2464292"/>
            <a:ext cx="2399537" cy="28233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439" name="Verbinder: gekrümmt 438">
            <a:extLst>
              <a:ext uri="{FF2B5EF4-FFF2-40B4-BE49-F238E27FC236}">
                <a16:creationId xmlns:a16="http://schemas.microsoft.com/office/drawing/2014/main" id="{F9C41F0F-F422-F2F6-B6D5-CD67366AF4F9}"/>
              </a:ext>
            </a:extLst>
          </p:cNvPr>
          <p:cNvCxnSpPr>
            <a:cxnSpLocks/>
          </p:cNvCxnSpPr>
          <p:nvPr/>
        </p:nvCxnSpPr>
        <p:spPr>
          <a:xfrm>
            <a:off x="2581001" y="2611172"/>
            <a:ext cx="249523" cy="242304"/>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46" name="Sprechblase: rechteckig mit abgerundeten Ecken 445">
            <a:extLst>
              <a:ext uri="{FF2B5EF4-FFF2-40B4-BE49-F238E27FC236}">
                <a16:creationId xmlns:a16="http://schemas.microsoft.com/office/drawing/2014/main" id="{535D9E71-1511-63AC-446A-033A00B9FE0E}"/>
              </a:ext>
            </a:extLst>
          </p:cNvPr>
          <p:cNvSpPr/>
          <p:nvPr/>
        </p:nvSpPr>
        <p:spPr>
          <a:xfrm>
            <a:off x="706171" y="5448193"/>
            <a:ext cx="1736429" cy="791412"/>
          </a:xfrm>
          <a:prstGeom prst="wedgeRoundRectCallout">
            <a:avLst>
              <a:gd name="adj1" fmla="val -8655"/>
              <a:gd name="adj2" fmla="val -19573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t>Alle Zellen mit Eingabefeldern sind grün formatiert</a:t>
            </a:r>
          </a:p>
        </p:txBody>
      </p:sp>
    </p:spTree>
    <p:extLst>
      <p:ext uri="{BB962C8B-B14F-4D97-AF65-F5344CB8AC3E}">
        <p14:creationId xmlns:p14="http://schemas.microsoft.com/office/powerpoint/2010/main" val="27858060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91385-AAC1-63EF-C76C-EBFE9E1BBA9F}"/>
            </a:ext>
          </a:extLst>
        </p:cNvPr>
        <p:cNvGrpSpPr/>
        <p:nvPr/>
      </p:nvGrpSpPr>
      <p:grpSpPr>
        <a:xfrm>
          <a:off x="0" y="0"/>
          <a:ext cx="0" cy="0"/>
          <a:chOff x="0" y="0"/>
          <a:chExt cx="0" cy="0"/>
        </a:xfrm>
      </p:grpSpPr>
      <p:cxnSp>
        <p:nvCxnSpPr>
          <p:cNvPr id="281" name="Verbinder: gekrümmt 280">
            <a:extLst>
              <a:ext uri="{FF2B5EF4-FFF2-40B4-BE49-F238E27FC236}">
                <a16:creationId xmlns:a16="http://schemas.microsoft.com/office/drawing/2014/main" id="{55CF84CF-6B2A-9A5B-E9ED-667BF809639D}"/>
              </a:ext>
            </a:extLst>
          </p:cNvPr>
          <p:cNvCxnSpPr>
            <a:cxnSpLocks/>
            <a:stCxn id="42" idx="3"/>
            <a:endCxn id="237" idx="0"/>
          </p:cNvCxnSpPr>
          <p:nvPr/>
        </p:nvCxnSpPr>
        <p:spPr>
          <a:xfrm>
            <a:off x="5776286" y="3680218"/>
            <a:ext cx="602500" cy="1768257"/>
          </a:xfrm>
          <a:prstGeom prst="curvedConnector2">
            <a:avLst/>
          </a:prstGeom>
          <a:ln w="1905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5" name="Foliennummernplatzhalter 4">
            <a:extLst>
              <a:ext uri="{FF2B5EF4-FFF2-40B4-BE49-F238E27FC236}">
                <a16:creationId xmlns:a16="http://schemas.microsoft.com/office/drawing/2014/main" id="{1601DF36-0F74-41B7-B706-618E73BE29DC}"/>
              </a:ext>
            </a:extLst>
          </p:cNvPr>
          <p:cNvSpPr>
            <a:spLocks noGrp="1"/>
          </p:cNvSpPr>
          <p:nvPr>
            <p:ph type="sldNum" sz="quarter" idx="12"/>
          </p:nvPr>
        </p:nvSpPr>
        <p:spPr/>
        <p:txBody>
          <a:bodyPr/>
          <a:lstStyle/>
          <a:p>
            <a:fld id="{1206269C-C24E-4E80-9A4B-E7E19BB59A67}" type="slidenum">
              <a:rPr lang="de-AT" smtClean="0"/>
              <a:pPr/>
              <a:t>27</a:t>
            </a:fld>
            <a:endParaRPr lang="de-AT" dirty="0"/>
          </a:p>
        </p:txBody>
      </p:sp>
      <p:pic>
        <p:nvPicPr>
          <p:cNvPr id="6" name="Grafik 5">
            <a:extLst>
              <a:ext uri="{FF2B5EF4-FFF2-40B4-BE49-F238E27FC236}">
                <a16:creationId xmlns:a16="http://schemas.microsoft.com/office/drawing/2014/main" id="{24A14F03-CB4B-F8E9-7B5A-E350FC33319A}"/>
              </a:ext>
            </a:extLst>
          </p:cNvPr>
          <p:cNvPicPr>
            <a:picLocks noChangeAspect="1"/>
          </p:cNvPicPr>
          <p:nvPr/>
        </p:nvPicPr>
        <p:blipFill>
          <a:blip r:embed="rId2"/>
          <a:stretch>
            <a:fillRect/>
          </a:stretch>
        </p:blipFill>
        <p:spPr>
          <a:xfrm>
            <a:off x="1741577" y="2220907"/>
            <a:ext cx="1390650" cy="219075"/>
          </a:xfrm>
          <a:prstGeom prst="rect">
            <a:avLst/>
          </a:prstGeom>
        </p:spPr>
      </p:pic>
      <p:pic>
        <p:nvPicPr>
          <p:cNvPr id="7" name="Grafik 6">
            <a:extLst>
              <a:ext uri="{FF2B5EF4-FFF2-40B4-BE49-F238E27FC236}">
                <a16:creationId xmlns:a16="http://schemas.microsoft.com/office/drawing/2014/main" id="{2450515B-0851-DF72-64E0-F0274566A59F}"/>
              </a:ext>
            </a:extLst>
          </p:cNvPr>
          <p:cNvPicPr>
            <a:picLocks noChangeAspect="1"/>
          </p:cNvPicPr>
          <p:nvPr/>
        </p:nvPicPr>
        <p:blipFill>
          <a:blip r:embed="rId3"/>
          <a:stretch>
            <a:fillRect/>
          </a:stretch>
        </p:blipFill>
        <p:spPr>
          <a:xfrm>
            <a:off x="1741577" y="2435965"/>
            <a:ext cx="1390650" cy="219075"/>
          </a:xfrm>
          <a:prstGeom prst="rect">
            <a:avLst/>
          </a:prstGeom>
        </p:spPr>
      </p:pic>
      <p:pic>
        <p:nvPicPr>
          <p:cNvPr id="8" name="Grafik 7">
            <a:extLst>
              <a:ext uri="{FF2B5EF4-FFF2-40B4-BE49-F238E27FC236}">
                <a16:creationId xmlns:a16="http://schemas.microsoft.com/office/drawing/2014/main" id="{20DD6300-7871-8448-FAFB-3D1F0FA74FC5}"/>
              </a:ext>
            </a:extLst>
          </p:cNvPr>
          <p:cNvPicPr>
            <a:picLocks noChangeAspect="1"/>
          </p:cNvPicPr>
          <p:nvPr/>
        </p:nvPicPr>
        <p:blipFill>
          <a:blip r:embed="rId4"/>
          <a:stretch>
            <a:fillRect/>
          </a:stretch>
        </p:blipFill>
        <p:spPr>
          <a:xfrm>
            <a:off x="1741577" y="2651023"/>
            <a:ext cx="1390650" cy="219075"/>
          </a:xfrm>
          <a:prstGeom prst="rect">
            <a:avLst/>
          </a:prstGeom>
        </p:spPr>
      </p:pic>
      <p:pic>
        <p:nvPicPr>
          <p:cNvPr id="9" name="Grafik 8">
            <a:extLst>
              <a:ext uri="{FF2B5EF4-FFF2-40B4-BE49-F238E27FC236}">
                <a16:creationId xmlns:a16="http://schemas.microsoft.com/office/drawing/2014/main" id="{6B784EDB-6882-9F94-BD31-4DABE5BC7C7C}"/>
              </a:ext>
            </a:extLst>
          </p:cNvPr>
          <p:cNvPicPr>
            <a:picLocks noChangeAspect="1"/>
          </p:cNvPicPr>
          <p:nvPr/>
        </p:nvPicPr>
        <p:blipFill>
          <a:blip r:embed="rId5"/>
          <a:stretch>
            <a:fillRect/>
          </a:stretch>
        </p:blipFill>
        <p:spPr>
          <a:xfrm>
            <a:off x="1741577" y="2866081"/>
            <a:ext cx="1390650" cy="219075"/>
          </a:xfrm>
          <a:prstGeom prst="rect">
            <a:avLst/>
          </a:prstGeom>
        </p:spPr>
      </p:pic>
      <p:pic>
        <p:nvPicPr>
          <p:cNvPr id="10" name="Grafik 9">
            <a:extLst>
              <a:ext uri="{FF2B5EF4-FFF2-40B4-BE49-F238E27FC236}">
                <a16:creationId xmlns:a16="http://schemas.microsoft.com/office/drawing/2014/main" id="{670C35FE-3713-BEB3-F560-EB45FB8CC6F2}"/>
              </a:ext>
            </a:extLst>
          </p:cNvPr>
          <p:cNvPicPr>
            <a:picLocks noChangeAspect="1"/>
          </p:cNvPicPr>
          <p:nvPr/>
        </p:nvPicPr>
        <p:blipFill>
          <a:blip r:embed="rId6"/>
          <a:stretch>
            <a:fillRect/>
          </a:stretch>
        </p:blipFill>
        <p:spPr>
          <a:xfrm>
            <a:off x="1741577" y="3081139"/>
            <a:ext cx="1390650" cy="219075"/>
          </a:xfrm>
          <a:prstGeom prst="rect">
            <a:avLst/>
          </a:prstGeom>
        </p:spPr>
      </p:pic>
      <p:pic>
        <p:nvPicPr>
          <p:cNvPr id="11" name="Grafik 10">
            <a:extLst>
              <a:ext uri="{FF2B5EF4-FFF2-40B4-BE49-F238E27FC236}">
                <a16:creationId xmlns:a16="http://schemas.microsoft.com/office/drawing/2014/main" id="{32C0F50D-51B4-9297-4230-30863DFFC106}"/>
              </a:ext>
            </a:extLst>
          </p:cNvPr>
          <p:cNvPicPr>
            <a:picLocks noChangeAspect="1"/>
          </p:cNvPicPr>
          <p:nvPr/>
        </p:nvPicPr>
        <p:blipFill>
          <a:blip r:embed="rId7"/>
          <a:stretch>
            <a:fillRect/>
          </a:stretch>
        </p:blipFill>
        <p:spPr>
          <a:xfrm>
            <a:off x="1741577" y="3296197"/>
            <a:ext cx="1390650" cy="219075"/>
          </a:xfrm>
          <a:prstGeom prst="rect">
            <a:avLst/>
          </a:prstGeom>
        </p:spPr>
      </p:pic>
      <p:pic>
        <p:nvPicPr>
          <p:cNvPr id="12" name="Grafik 11">
            <a:extLst>
              <a:ext uri="{FF2B5EF4-FFF2-40B4-BE49-F238E27FC236}">
                <a16:creationId xmlns:a16="http://schemas.microsoft.com/office/drawing/2014/main" id="{B1BDB1B1-AEAA-45AF-E6DF-E1F945356953}"/>
              </a:ext>
            </a:extLst>
          </p:cNvPr>
          <p:cNvPicPr>
            <a:picLocks noChangeAspect="1"/>
          </p:cNvPicPr>
          <p:nvPr/>
        </p:nvPicPr>
        <p:blipFill>
          <a:blip r:embed="rId8"/>
          <a:stretch>
            <a:fillRect/>
          </a:stretch>
        </p:blipFill>
        <p:spPr>
          <a:xfrm>
            <a:off x="1741577" y="3511255"/>
            <a:ext cx="1390650" cy="219075"/>
          </a:xfrm>
          <a:prstGeom prst="rect">
            <a:avLst/>
          </a:prstGeom>
        </p:spPr>
      </p:pic>
      <p:pic>
        <p:nvPicPr>
          <p:cNvPr id="13" name="Grafik 12">
            <a:extLst>
              <a:ext uri="{FF2B5EF4-FFF2-40B4-BE49-F238E27FC236}">
                <a16:creationId xmlns:a16="http://schemas.microsoft.com/office/drawing/2014/main" id="{9A9B0DE0-1AEA-19D9-FC16-191C611F0401}"/>
              </a:ext>
            </a:extLst>
          </p:cNvPr>
          <p:cNvPicPr>
            <a:picLocks noChangeAspect="1"/>
          </p:cNvPicPr>
          <p:nvPr/>
        </p:nvPicPr>
        <p:blipFill>
          <a:blip r:embed="rId9"/>
          <a:stretch>
            <a:fillRect/>
          </a:stretch>
        </p:blipFill>
        <p:spPr>
          <a:xfrm>
            <a:off x="1741577" y="3726313"/>
            <a:ext cx="1390650" cy="219075"/>
          </a:xfrm>
          <a:prstGeom prst="rect">
            <a:avLst/>
          </a:prstGeom>
        </p:spPr>
      </p:pic>
      <p:pic>
        <p:nvPicPr>
          <p:cNvPr id="14" name="Grafik 13">
            <a:extLst>
              <a:ext uri="{FF2B5EF4-FFF2-40B4-BE49-F238E27FC236}">
                <a16:creationId xmlns:a16="http://schemas.microsoft.com/office/drawing/2014/main" id="{378946E9-8315-A542-03EA-CABC929538F6}"/>
              </a:ext>
            </a:extLst>
          </p:cNvPr>
          <p:cNvPicPr>
            <a:picLocks noChangeAspect="1"/>
          </p:cNvPicPr>
          <p:nvPr/>
        </p:nvPicPr>
        <p:blipFill>
          <a:blip r:embed="rId10"/>
          <a:stretch>
            <a:fillRect/>
          </a:stretch>
        </p:blipFill>
        <p:spPr>
          <a:xfrm>
            <a:off x="1741577" y="3941371"/>
            <a:ext cx="1390650" cy="219075"/>
          </a:xfrm>
          <a:prstGeom prst="rect">
            <a:avLst/>
          </a:prstGeom>
        </p:spPr>
      </p:pic>
      <p:pic>
        <p:nvPicPr>
          <p:cNvPr id="15" name="Grafik 14">
            <a:extLst>
              <a:ext uri="{FF2B5EF4-FFF2-40B4-BE49-F238E27FC236}">
                <a16:creationId xmlns:a16="http://schemas.microsoft.com/office/drawing/2014/main" id="{96B89CC5-5897-BB3E-0A7C-B5074CFA1F58}"/>
              </a:ext>
            </a:extLst>
          </p:cNvPr>
          <p:cNvPicPr>
            <a:picLocks noChangeAspect="1"/>
          </p:cNvPicPr>
          <p:nvPr/>
        </p:nvPicPr>
        <p:blipFill>
          <a:blip r:embed="rId11"/>
          <a:stretch>
            <a:fillRect/>
          </a:stretch>
        </p:blipFill>
        <p:spPr>
          <a:xfrm>
            <a:off x="1741577" y="4156429"/>
            <a:ext cx="1390650" cy="219075"/>
          </a:xfrm>
          <a:prstGeom prst="rect">
            <a:avLst/>
          </a:prstGeom>
        </p:spPr>
      </p:pic>
      <p:pic>
        <p:nvPicPr>
          <p:cNvPr id="16" name="Grafik 15">
            <a:extLst>
              <a:ext uri="{FF2B5EF4-FFF2-40B4-BE49-F238E27FC236}">
                <a16:creationId xmlns:a16="http://schemas.microsoft.com/office/drawing/2014/main" id="{3CC6A47A-A20B-11C6-18A6-443A4306F072}"/>
              </a:ext>
            </a:extLst>
          </p:cNvPr>
          <p:cNvPicPr>
            <a:picLocks noChangeAspect="1"/>
          </p:cNvPicPr>
          <p:nvPr/>
        </p:nvPicPr>
        <p:blipFill>
          <a:blip r:embed="rId12"/>
          <a:stretch>
            <a:fillRect/>
          </a:stretch>
        </p:blipFill>
        <p:spPr>
          <a:xfrm>
            <a:off x="1741577" y="4371487"/>
            <a:ext cx="1390650" cy="219075"/>
          </a:xfrm>
          <a:prstGeom prst="rect">
            <a:avLst/>
          </a:prstGeom>
        </p:spPr>
      </p:pic>
      <p:pic>
        <p:nvPicPr>
          <p:cNvPr id="17" name="Grafik 16">
            <a:extLst>
              <a:ext uri="{FF2B5EF4-FFF2-40B4-BE49-F238E27FC236}">
                <a16:creationId xmlns:a16="http://schemas.microsoft.com/office/drawing/2014/main" id="{23F772FA-E20E-2761-459A-910ED43A6DE2}"/>
              </a:ext>
            </a:extLst>
          </p:cNvPr>
          <p:cNvPicPr>
            <a:picLocks noChangeAspect="1"/>
          </p:cNvPicPr>
          <p:nvPr/>
        </p:nvPicPr>
        <p:blipFill>
          <a:blip r:embed="rId13"/>
          <a:stretch>
            <a:fillRect/>
          </a:stretch>
        </p:blipFill>
        <p:spPr>
          <a:xfrm>
            <a:off x="1741577" y="4586542"/>
            <a:ext cx="1390650" cy="219075"/>
          </a:xfrm>
          <a:prstGeom prst="rect">
            <a:avLst/>
          </a:prstGeom>
        </p:spPr>
      </p:pic>
      <p:sp>
        <p:nvSpPr>
          <p:cNvPr id="18" name="Textfeld 17">
            <a:extLst>
              <a:ext uri="{FF2B5EF4-FFF2-40B4-BE49-F238E27FC236}">
                <a16:creationId xmlns:a16="http://schemas.microsoft.com/office/drawing/2014/main" id="{53F558CE-AEE8-EB97-A964-09775571326F}"/>
              </a:ext>
            </a:extLst>
          </p:cNvPr>
          <p:cNvSpPr txBox="1"/>
          <p:nvPr/>
        </p:nvSpPr>
        <p:spPr>
          <a:xfrm>
            <a:off x="1280134" y="1654698"/>
            <a:ext cx="1908091" cy="369332"/>
          </a:xfrm>
          <a:prstGeom prst="rect">
            <a:avLst/>
          </a:prstGeom>
          <a:noFill/>
        </p:spPr>
        <p:txBody>
          <a:bodyPr wrap="square">
            <a:spAutoFit/>
          </a:bodyPr>
          <a:lstStyle/>
          <a:p>
            <a:pPr defTabSz="914339">
              <a:defRPr/>
            </a:pPr>
            <a:r>
              <a:rPr lang="de-AT" b="1" dirty="0">
                <a:solidFill>
                  <a:srgbClr val="E1320F"/>
                </a:solidFill>
                <a:latin typeface="Times New Roman" panose="02020603050405020304" pitchFamily="18" charset="0"/>
                <a:cs typeface="Times New Roman" panose="02020603050405020304" pitchFamily="18" charset="0"/>
              </a:rPr>
              <a:t>Input domains</a:t>
            </a:r>
            <a:endParaRPr lang="de-AT" dirty="0">
              <a:solidFill>
                <a:srgbClr val="000000"/>
              </a:solidFill>
              <a:latin typeface="Times New Roman" panose="02020603050405020304" pitchFamily="18" charset="0"/>
              <a:cs typeface="Times New Roman" panose="02020603050405020304" pitchFamily="18" charset="0"/>
            </a:endParaRPr>
          </a:p>
        </p:txBody>
      </p:sp>
      <p:sp>
        <p:nvSpPr>
          <p:cNvPr id="19" name="Textfeld 18">
            <a:extLst>
              <a:ext uri="{FF2B5EF4-FFF2-40B4-BE49-F238E27FC236}">
                <a16:creationId xmlns:a16="http://schemas.microsoft.com/office/drawing/2014/main" id="{00822154-66E5-3207-3FD2-0BC82BC92C62}"/>
              </a:ext>
            </a:extLst>
          </p:cNvPr>
          <p:cNvSpPr txBox="1"/>
          <p:nvPr/>
        </p:nvSpPr>
        <p:spPr>
          <a:xfrm>
            <a:off x="3919926" y="1607399"/>
            <a:ext cx="2010482" cy="369332"/>
          </a:xfrm>
          <a:prstGeom prst="rect">
            <a:avLst/>
          </a:prstGeom>
          <a:noFill/>
        </p:spPr>
        <p:txBody>
          <a:bodyPr wrap="square">
            <a:spAutoFit/>
          </a:bodyPr>
          <a:lstStyle/>
          <a:p>
            <a:pPr defTabSz="914339">
              <a:defRPr/>
            </a:pPr>
            <a:r>
              <a:rPr lang="de-AT" b="1" dirty="0">
                <a:solidFill>
                  <a:srgbClr val="E1320F"/>
                </a:solidFill>
                <a:latin typeface="Times New Roman" panose="02020603050405020304" pitchFamily="18" charset="0"/>
                <a:cs typeface="Times New Roman" panose="02020603050405020304" pitchFamily="18" charset="0"/>
              </a:rPr>
              <a:t>Outputs</a:t>
            </a:r>
            <a:endParaRPr lang="de-AT" dirty="0">
              <a:solidFill>
                <a:srgbClr val="000000"/>
              </a:solidFill>
              <a:latin typeface="Times New Roman" panose="02020603050405020304" pitchFamily="18" charset="0"/>
              <a:cs typeface="Times New Roman" panose="02020603050405020304" pitchFamily="18" charset="0"/>
            </a:endParaRPr>
          </a:p>
        </p:txBody>
      </p:sp>
      <p:graphicFrame>
        <p:nvGraphicFramePr>
          <p:cNvPr id="23" name="Tabelle 22">
            <a:extLst>
              <a:ext uri="{FF2B5EF4-FFF2-40B4-BE49-F238E27FC236}">
                <a16:creationId xmlns:a16="http://schemas.microsoft.com/office/drawing/2014/main" id="{26AB3220-D08E-95AE-86C9-F9CC839062A6}"/>
              </a:ext>
            </a:extLst>
          </p:cNvPr>
          <p:cNvGraphicFramePr>
            <a:graphicFrameLocks noGrp="1"/>
          </p:cNvGraphicFramePr>
          <p:nvPr>
            <p:extLst>
              <p:ext uri="{D42A27DB-BD31-4B8C-83A1-F6EECF244321}">
                <p14:modId xmlns:p14="http://schemas.microsoft.com/office/powerpoint/2010/main" val="356328320"/>
              </p:ext>
            </p:extLst>
          </p:nvPr>
        </p:nvGraphicFramePr>
        <p:xfrm>
          <a:off x="1280134" y="2222069"/>
          <a:ext cx="1867895" cy="2600325"/>
        </p:xfrm>
        <a:graphic>
          <a:graphicData uri="http://schemas.openxmlformats.org/drawingml/2006/table">
            <a:tbl>
              <a:tblPr/>
              <a:tblGrid>
                <a:gridCol w="1867895">
                  <a:extLst>
                    <a:ext uri="{9D8B030D-6E8A-4147-A177-3AD203B41FA5}">
                      <a16:colId xmlns:a16="http://schemas.microsoft.com/office/drawing/2014/main" val="500255781"/>
                    </a:ext>
                  </a:extLst>
                </a:gridCol>
              </a:tblGrid>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Overview</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E1320F"/>
                    </a:solidFill>
                  </a:tcPr>
                </a:tc>
                <a:extLst>
                  <a:ext uri="{0D108BD9-81ED-4DB2-BD59-A6C34878D82A}">
                    <a16:rowId xmlns:a16="http://schemas.microsoft.com/office/drawing/2014/main" val="3949978044"/>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District</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962586539"/>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Weather</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701A07"/>
                    </a:solidFill>
                  </a:tcPr>
                </a:tc>
                <a:extLst>
                  <a:ext uri="{0D108BD9-81ED-4DB2-BD59-A6C34878D82A}">
                    <a16:rowId xmlns:a16="http://schemas.microsoft.com/office/drawing/2014/main" val="782268380"/>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Building physics</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711577758"/>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hlinkClick r:id="rId14" action="ppaction://hlinkfile">
                            <a:extLst>
                              <a:ext uri="{A12FA001-AC4F-418D-AE19-62706E023703}">
                                <ahyp:hlinkClr xmlns:ahyp="http://schemas.microsoft.com/office/drawing/2018/hyperlinkcolor" val="tx"/>
                              </a:ext>
                            </a:extLst>
                          </a:hlinkClick>
                        </a:rPr>
                        <a:t>🔥 – </a:t>
                      </a:r>
                      <a:r>
                        <a:rPr lang="de-AT" sz="1100" b="0" i="0" u="none" strike="noStrike" dirty="0">
                          <a:solidFill>
                            <a:schemeClr val="bg1"/>
                          </a:solidFill>
                          <a:effectLst/>
                          <a:latin typeface="Times New Roman" panose="02020603050405020304" pitchFamily="18" charset="0"/>
                          <a:cs typeface="Times New Roman" panose="02020603050405020304" pitchFamily="18" charset="0"/>
                        </a:rPr>
                        <a:t>Heating</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563742839"/>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Cooling</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4003927275"/>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Ventilation</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1840540032"/>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Domestic Hot Water</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87162039"/>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hlinkClick r:id="rId15" action="ppaction://hlinkfile">
                            <a:extLst>
                              <a:ext uri="{A12FA001-AC4F-418D-AE19-62706E023703}">
                                <ahyp:hlinkClr xmlns:ahyp="http://schemas.microsoft.com/office/drawing/2018/hyperlinkcolor" val="tx"/>
                              </a:ext>
                            </a:extLst>
                          </a:hlinkClick>
                        </a:rPr>
                        <a:t>🌞 </a:t>
                      </a:r>
                      <a:r>
                        <a:rPr lang="de-AT" sz="1100" b="0" i="0" u="none" strike="noStrike" dirty="0">
                          <a:solidFill>
                            <a:schemeClr val="bg1"/>
                          </a:solidFill>
                          <a:effectLst/>
                          <a:latin typeface="Times New Roman" panose="02020603050405020304" pitchFamily="18" charset="0"/>
                          <a:cs typeface="Times New Roman" panose="02020603050405020304" pitchFamily="18" charset="0"/>
                        </a:rPr>
                        <a:t>– </a:t>
                      </a:r>
                      <a:r>
                        <a:rPr lang="de-AT" sz="1100" b="0" i="0" u="none" strike="noStrike" dirty="0">
                          <a:solidFill>
                            <a:schemeClr val="bg1"/>
                          </a:solidFill>
                          <a:effectLst/>
                          <a:latin typeface="Times New Roman" panose="02020603050405020304" pitchFamily="18" charset="0"/>
                          <a:cs typeface="Times New Roman" panose="02020603050405020304" pitchFamily="18" charset="0"/>
                          <a:hlinkClick r:id="rId15" action="ppaction://hlinkfile">
                            <a:extLst>
                              <a:ext uri="{A12FA001-AC4F-418D-AE19-62706E023703}">
                                <ahyp:hlinkClr xmlns:ahyp="http://schemas.microsoft.com/office/drawing/2018/hyperlinkcolor" val="tx"/>
                              </a:ext>
                            </a:extLst>
                          </a:hlinkClick>
                        </a:rPr>
                        <a:t>PV</a:t>
                      </a:r>
                      <a:endParaRPr lang="de-AT" sz="1100" b="0" i="0" u="none" strike="noStrike" dirty="0">
                        <a:solidFill>
                          <a:schemeClr val="bg1"/>
                        </a:solidFill>
                        <a:effectLst/>
                        <a:latin typeface="Times New Roman" panose="02020603050405020304" pitchFamily="18" charset="0"/>
                        <a:cs typeface="Times New Roman" panose="02020603050405020304" pitchFamily="18" charset="0"/>
                      </a:endParaRP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1768809343"/>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PVIimport</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701A07"/>
                    </a:solidFill>
                  </a:tcPr>
                </a:tc>
                <a:extLst>
                  <a:ext uri="{0D108BD9-81ED-4DB2-BD59-A6C34878D82A}">
                    <a16:rowId xmlns:a16="http://schemas.microsoft.com/office/drawing/2014/main" val="2518223534"/>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Flexibility and Storage</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2613528174"/>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Mobility</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F59C00"/>
                    </a:solidFill>
                  </a:tcPr>
                </a:tc>
                <a:extLst>
                  <a:ext uri="{0D108BD9-81ED-4DB2-BD59-A6C34878D82A}">
                    <a16:rowId xmlns:a16="http://schemas.microsoft.com/office/drawing/2014/main" val="682356409"/>
                  </a:ext>
                </a:extLst>
              </a:tr>
              <a:tr h="200025">
                <a:tc>
                  <a:txBody>
                    <a:bodyPr/>
                    <a:lstStyle/>
                    <a:p>
                      <a:pPr algn="l" fontAlgn="b"/>
                      <a:r>
                        <a:rPr lang="de-AT" sz="1100" b="0" i="0" u="none" strike="noStrike" dirty="0">
                          <a:solidFill>
                            <a:schemeClr val="bg1"/>
                          </a:solidFill>
                          <a:effectLst/>
                          <a:latin typeface="Times New Roman" panose="02020603050405020304" pitchFamily="18" charset="0"/>
                          <a:cs typeface="Times New Roman" panose="02020603050405020304" pitchFamily="18" charset="0"/>
                        </a:rPr>
                        <a:t>☁   – Global Warming Potential</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3BACBE"/>
                    </a:solidFill>
                  </a:tcPr>
                </a:tc>
                <a:extLst>
                  <a:ext uri="{0D108BD9-81ED-4DB2-BD59-A6C34878D82A}">
                    <a16:rowId xmlns:a16="http://schemas.microsoft.com/office/drawing/2014/main" val="100884598"/>
                  </a:ext>
                </a:extLst>
              </a:tr>
            </a:tbl>
          </a:graphicData>
        </a:graphic>
      </p:graphicFrame>
      <p:graphicFrame>
        <p:nvGraphicFramePr>
          <p:cNvPr id="24" name="Tabelle 23">
            <a:extLst>
              <a:ext uri="{FF2B5EF4-FFF2-40B4-BE49-F238E27FC236}">
                <a16:creationId xmlns:a16="http://schemas.microsoft.com/office/drawing/2014/main" id="{9F65EF22-9053-3BD3-3CA9-A8B8D9F66DAD}"/>
              </a:ext>
            </a:extLst>
          </p:cNvPr>
          <p:cNvGraphicFramePr>
            <a:graphicFrameLocks noGrp="1"/>
          </p:cNvGraphicFramePr>
          <p:nvPr>
            <p:extLst>
              <p:ext uri="{D42A27DB-BD31-4B8C-83A1-F6EECF244321}">
                <p14:modId xmlns:p14="http://schemas.microsoft.com/office/powerpoint/2010/main" val="2450034043"/>
              </p:ext>
            </p:extLst>
          </p:nvPr>
        </p:nvGraphicFramePr>
        <p:xfrm>
          <a:off x="1280134" y="4916851"/>
          <a:ext cx="1849896" cy="182902"/>
        </p:xfrm>
        <a:graphic>
          <a:graphicData uri="http://schemas.openxmlformats.org/drawingml/2006/table">
            <a:tbl>
              <a:tblPr/>
              <a:tblGrid>
                <a:gridCol w="1849896">
                  <a:extLst>
                    <a:ext uri="{9D8B030D-6E8A-4147-A177-3AD203B41FA5}">
                      <a16:colId xmlns:a16="http://schemas.microsoft.com/office/drawing/2014/main" val="500528592"/>
                    </a:ext>
                  </a:extLst>
                </a:gridCol>
              </a:tblGrid>
              <a:tr h="182902">
                <a:tc>
                  <a:txBody>
                    <a:bodyPr/>
                    <a:lstStyle/>
                    <a:p>
                      <a:pPr algn="l" fontAlgn="b"/>
                      <a:r>
                        <a:rPr lang="de-AT" sz="1100" b="0" i="0" u="none" strike="noStrike" dirty="0">
                          <a:solidFill>
                            <a:srgbClr val="FFFFFF"/>
                          </a:solidFill>
                          <a:effectLst/>
                          <a:latin typeface="Times New Roman" panose="02020603050405020304" pitchFamily="18" charset="0"/>
                          <a:cs typeface="Times New Roman" panose="02020603050405020304" pitchFamily="18" charset="0"/>
                        </a:rPr>
                        <a:t>Defaults and Presets</a:t>
                      </a:r>
                    </a:p>
                  </a:txBody>
                  <a:tcPr marL="0" marR="0" marT="0" marB="0" anchor="b">
                    <a:lnL>
                      <a:noFill/>
                    </a:lnL>
                    <a:lnR>
                      <a:noFill/>
                    </a:lnR>
                    <a:lnT>
                      <a:noFill/>
                    </a:lnT>
                    <a:lnB>
                      <a:noFill/>
                    </a:lnB>
                    <a:solidFill>
                      <a:srgbClr val="7030A0"/>
                    </a:solidFill>
                  </a:tcPr>
                </a:tc>
                <a:extLst>
                  <a:ext uri="{0D108BD9-81ED-4DB2-BD59-A6C34878D82A}">
                    <a16:rowId xmlns:a16="http://schemas.microsoft.com/office/drawing/2014/main" val="138574081"/>
                  </a:ext>
                </a:extLst>
              </a:tr>
            </a:tbl>
          </a:graphicData>
        </a:graphic>
      </p:graphicFrame>
      <p:graphicFrame>
        <p:nvGraphicFramePr>
          <p:cNvPr id="25" name="Tabelle 24">
            <a:extLst>
              <a:ext uri="{FF2B5EF4-FFF2-40B4-BE49-F238E27FC236}">
                <a16:creationId xmlns:a16="http://schemas.microsoft.com/office/drawing/2014/main" id="{F3702EFE-13DF-1539-B11B-8CCBEBAC51F9}"/>
              </a:ext>
            </a:extLst>
          </p:cNvPr>
          <p:cNvGraphicFramePr>
            <a:graphicFrameLocks noGrp="1"/>
          </p:cNvGraphicFramePr>
          <p:nvPr>
            <p:extLst>
              <p:ext uri="{D42A27DB-BD31-4B8C-83A1-F6EECF244321}">
                <p14:modId xmlns:p14="http://schemas.microsoft.com/office/powerpoint/2010/main" val="168930900"/>
              </p:ext>
            </p:extLst>
          </p:nvPr>
        </p:nvGraphicFramePr>
        <p:xfrm>
          <a:off x="2554665" y="5308664"/>
          <a:ext cx="1833951" cy="560526"/>
        </p:xfrm>
        <a:graphic>
          <a:graphicData uri="http://schemas.openxmlformats.org/drawingml/2006/table">
            <a:tbl>
              <a:tblPr/>
              <a:tblGrid>
                <a:gridCol w="1833951">
                  <a:extLst>
                    <a:ext uri="{9D8B030D-6E8A-4147-A177-3AD203B41FA5}">
                      <a16:colId xmlns:a16="http://schemas.microsoft.com/office/drawing/2014/main" val="1172969578"/>
                    </a:ext>
                  </a:extLst>
                </a:gridCol>
              </a:tblGrid>
              <a:tr h="560526">
                <a:tc>
                  <a:txBody>
                    <a:bodyPr/>
                    <a:lstStyle/>
                    <a:p>
                      <a:pPr algn="ctr" fontAlgn="b"/>
                      <a:r>
                        <a:rPr lang="de-AT" sz="1100" b="0" i="0" u="none" strike="noStrike" dirty="0">
                          <a:solidFill>
                            <a:srgbClr val="FFFFFF"/>
                          </a:solidFill>
                          <a:effectLst/>
                          <a:latin typeface="Calibri" panose="020F0502020204030204" pitchFamily="34" charset="0"/>
                        </a:rPr>
                        <a:t>District </a:t>
                      </a:r>
                      <a:r>
                        <a:rPr lang="de-AT" sz="1100" b="0" i="0" u="none" strike="noStrike" dirty="0">
                          <a:solidFill>
                            <a:srgbClr val="FFFFFF"/>
                          </a:solidFill>
                          <a:effectLst/>
                          <a:latin typeface="Times New Roman" panose="02020603050405020304" pitchFamily="18" charset="0"/>
                          <a:cs typeface="Times New Roman" panose="02020603050405020304" pitchFamily="18" charset="0"/>
                        </a:rPr>
                        <a:t>Scenarios</a:t>
                      </a:r>
                    </a:p>
                  </a:txBody>
                  <a:tcPr marL="0" marR="0" marT="0" marB="0" anchor="ctr">
                    <a:lnL>
                      <a:noFill/>
                    </a:lnL>
                    <a:lnR>
                      <a:noFill/>
                    </a:lnR>
                    <a:lnT>
                      <a:noFill/>
                    </a:lnT>
                    <a:lnB>
                      <a:noFill/>
                    </a:lnB>
                    <a:solidFill>
                      <a:srgbClr val="000000"/>
                    </a:solidFill>
                  </a:tcPr>
                </a:tc>
                <a:extLst>
                  <a:ext uri="{0D108BD9-81ED-4DB2-BD59-A6C34878D82A}">
                    <a16:rowId xmlns:a16="http://schemas.microsoft.com/office/drawing/2014/main" val="486057827"/>
                  </a:ext>
                </a:extLst>
              </a:tr>
            </a:tbl>
          </a:graphicData>
        </a:graphic>
      </p:graphicFrame>
      <p:graphicFrame>
        <p:nvGraphicFramePr>
          <p:cNvPr id="26" name="Tabelle 25">
            <a:extLst>
              <a:ext uri="{FF2B5EF4-FFF2-40B4-BE49-F238E27FC236}">
                <a16:creationId xmlns:a16="http://schemas.microsoft.com/office/drawing/2014/main" id="{7E8F199D-1E29-9DCE-A35B-CB865BFF67DC}"/>
              </a:ext>
            </a:extLst>
          </p:cNvPr>
          <p:cNvGraphicFramePr>
            <a:graphicFrameLocks noGrp="1"/>
          </p:cNvGraphicFramePr>
          <p:nvPr>
            <p:extLst>
              <p:ext uri="{D42A27DB-BD31-4B8C-83A1-F6EECF244321}">
                <p14:modId xmlns:p14="http://schemas.microsoft.com/office/powerpoint/2010/main" val="2902575412"/>
              </p:ext>
            </p:extLst>
          </p:nvPr>
        </p:nvGraphicFramePr>
        <p:xfrm>
          <a:off x="3931289" y="4097826"/>
          <a:ext cx="1833951" cy="1030522"/>
        </p:xfrm>
        <a:graphic>
          <a:graphicData uri="http://schemas.openxmlformats.org/drawingml/2006/table">
            <a:tbl>
              <a:tblPr/>
              <a:tblGrid>
                <a:gridCol w="1833951">
                  <a:extLst>
                    <a:ext uri="{9D8B030D-6E8A-4147-A177-3AD203B41FA5}">
                      <a16:colId xmlns:a16="http://schemas.microsoft.com/office/drawing/2014/main" val="1172969578"/>
                    </a:ext>
                  </a:extLst>
                </a:gridCol>
              </a:tblGrid>
              <a:tr h="1030522">
                <a:tc>
                  <a:txBody>
                    <a:bodyPr/>
                    <a:lstStyle/>
                    <a:p>
                      <a:pPr algn="ctr" fontAlgn="b"/>
                      <a:r>
                        <a:rPr lang="de-AT" sz="1100" b="0" i="0" u="none" strike="noStrike" dirty="0">
                          <a:solidFill>
                            <a:srgbClr val="FFFFFF"/>
                          </a:solidFill>
                          <a:effectLst/>
                          <a:latin typeface="Times New Roman" panose="02020603050405020304" pitchFamily="18" charset="0"/>
                          <a:cs typeface="Times New Roman" panose="02020603050405020304" pitchFamily="18" charset="0"/>
                        </a:rPr>
                        <a:t>Annual hourly Simulation (8760h)</a:t>
                      </a:r>
                    </a:p>
                    <a:p>
                      <a:pPr algn="ctr" fontAlgn="b"/>
                      <a:r>
                        <a:rPr lang="de-AT" sz="1100" b="0" i="0" u="none" strike="noStrike" dirty="0">
                          <a:solidFill>
                            <a:srgbClr val="FFFFFF"/>
                          </a:solidFill>
                          <a:effectLst/>
                          <a:latin typeface="Times New Roman" panose="02020603050405020304" pitchFamily="18" charset="0"/>
                          <a:cs typeface="Times New Roman" panose="02020603050405020304" pitchFamily="18" charset="0"/>
                        </a:rPr>
                        <a:t>Calc.Speed: 10-20 sec.</a:t>
                      </a:r>
                    </a:p>
                  </a:txBody>
                  <a:tcPr marL="0" marR="0" marT="0" marB="0" anchor="ctr">
                    <a:lnL>
                      <a:noFill/>
                    </a:lnL>
                    <a:lnR>
                      <a:noFill/>
                    </a:lnR>
                    <a:lnT>
                      <a:noFill/>
                    </a:lnT>
                    <a:lnB>
                      <a:noFill/>
                    </a:lnB>
                    <a:solidFill>
                      <a:srgbClr val="00B050"/>
                    </a:solidFill>
                  </a:tcPr>
                </a:tc>
                <a:extLst>
                  <a:ext uri="{0D108BD9-81ED-4DB2-BD59-A6C34878D82A}">
                    <a16:rowId xmlns:a16="http://schemas.microsoft.com/office/drawing/2014/main" val="486057827"/>
                  </a:ext>
                </a:extLst>
              </a:tr>
            </a:tbl>
          </a:graphicData>
        </a:graphic>
      </p:graphicFrame>
      <p:grpSp>
        <p:nvGrpSpPr>
          <p:cNvPr id="27" name="Gruppieren 26">
            <a:extLst>
              <a:ext uri="{FF2B5EF4-FFF2-40B4-BE49-F238E27FC236}">
                <a16:creationId xmlns:a16="http://schemas.microsoft.com/office/drawing/2014/main" id="{383362D6-37F7-8B34-A5DE-8732EDEF5DE4}"/>
              </a:ext>
            </a:extLst>
          </p:cNvPr>
          <p:cNvGrpSpPr/>
          <p:nvPr/>
        </p:nvGrpSpPr>
        <p:grpSpPr>
          <a:xfrm>
            <a:off x="3132227" y="2330445"/>
            <a:ext cx="339413" cy="2978219"/>
            <a:chOff x="3132213" y="2330445"/>
            <a:chExt cx="339413" cy="2978219"/>
          </a:xfrm>
        </p:grpSpPr>
        <p:cxnSp>
          <p:nvCxnSpPr>
            <p:cNvPr id="28" name="Verbinder: gekrümmt 27">
              <a:extLst>
                <a:ext uri="{FF2B5EF4-FFF2-40B4-BE49-F238E27FC236}">
                  <a16:creationId xmlns:a16="http://schemas.microsoft.com/office/drawing/2014/main" id="{2618F807-9216-CA08-EF1E-260BA2908491}"/>
                </a:ext>
              </a:extLst>
            </p:cNvPr>
            <p:cNvCxnSpPr>
              <a:cxnSpLocks/>
              <a:stCxn id="6" idx="3"/>
              <a:endCxn id="25" idx="0"/>
            </p:cNvCxnSpPr>
            <p:nvPr/>
          </p:nvCxnSpPr>
          <p:spPr>
            <a:xfrm>
              <a:off x="3132213" y="2330445"/>
              <a:ext cx="339413" cy="297821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Verbinder: gekrümmt 28">
              <a:extLst>
                <a:ext uri="{FF2B5EF4-FFF2-40B4-BE49-F238E27FC236}">
                  <a16:creationId xmlns:a16="http://schemas.microsoft.com/office/drawing/2014/main" id="{5AC63430-EA25-305E-CF77-1727D1EF5504}"/>
                </a:ext>
              </a:extLst>
            </p:cNvPr>
            <p:cNvCxnSpPr>
              <a:cxnSpLocks/>
              <a:stCxn id="7" idx="3"/>
              <a:endCxn id="25" idx="0"/>
            </p:cNvCxnSpPr>
            <p:nvPr/>
          </p:nvCxnSpPr>
          <p:spPr>
            <a:xfrm>
              <a:off x="3132213" y="2545503"/>
              <a:ext cx="339413" cy="2763161"/>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Verbinder: gekrümmt 29">
              <a:extLst>
                <a:ext uri="{FF2B5EF4-FFF2-40B4-BE49-F238E27FC236}">
                  <a16:creationId xmlns:a16="http://schemas.microsoft.com/office/drawing/2014/main" id="{566AE7C7-1C87-3B87-27CA-2BAE02820D81}"/>
                </a:ext>
              </a:extLst>
            </p:cNvPr>
            <p:cNvCxnSpPr>
              <a:cxnSpLocks/>
              <a:stCxn id="8" idx="3"/>
              <a:endCxn id="25" idx="0"/>
            </p:cNvCxnSpPr>
            <p:nvPr/>
          </p:nvCxnSpPr>
          <p:spPr>
            <a:xfrm>
              <a:off x="3132213" y="2760561"/>
              <a:ext cx="339413" cy="2548103"/>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Verbinder: gekrümmt 30">
              <a:extLst>
                <a:ext uri="{FF2B5EF4-FFF2-40B4-BE49-F238E27FC236}">
                  <a16:creationId xmlns:a16="http://schemas.microsoft.com/office/drawing/2014/main" id="{A4E2502E-2BF4-AC56-27CF-8ED84F7CAD66}"/>
                </a:ext>
              </a:extLst>
            </p:cNvPr>
            <p:cNvCxnSpPr>
              <a:cxnSpLocks/>
              <a:stCxn id="9" idx="3"/>
              <a:endCxn id="25" idx="0"/>
            </p:cNvCxnSpPr>
            <p:nvPr/>
          </p:nvCxnSpPr>
          <p:spPr>
            <a:xfrm>
              <a:off x="3132213" y="2975619"/>
              <a:ext cx="339413" cy="2333045"/>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Verbinder: gekrümmt 31">
              <a:extLst>
                <a:ext uri="{FF2B5EF4-FFF2-40B4-BE49-F238E27FC236}">
                  <a16:creationId xmlns:a16="http://schemas.microsoft.com/office/drawing/2014/main" id="{40BB86D7-AA89-82F2-921C-053D8636FA06}"/>
                </a:ext>
              </a:extLst>
            </p:cNvPr>
            <p:cNvCxnSpPr>
              <a:cxnSpLocks/>
              <a:stCxn id="10" idx="3"/>
              <a:endCxn id="25" idx="0"/>
            </p:cNvCxnSpPr>
            <p:nvPr/>
          </p:nvCxnSpPr>
          <p:spPr>
            <a:xfrm>
              <a:off x="3132213" y="3190677"/>
              <a:ext cx="339413" cy="2117987"/>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Verbinder: gekrümmt 32">
              <a:extLst>
                <a:ext uri="{FF2B5EF4-FFF2-40B4-BE49-F238E27FC236}">
                  <a16:creationId xmlns:a16="http://schemas.microsoft.com/office/drawing/2014/main" id="{15F79D49-4572-3768-9F78-C9194F93CDC6}"/>
                </a:ext>
              </a:extLst>
            </p:cNvPr>
            <p:cNvCxnSpPr>
              <a:cxnSpLocks/>
              <a:stCxn id="11" idx="3"/>
              <a:endCxn id="25" idx="0"/>
            </p:cNvCxnSpPr>
            <p:nvPr/>
          </p:nvCxnSpPr>
          <p:spPr>
            <a:xfrm>
              <a:off x="3132213" y="3405735"/>
              <a:ext cx="339413" cy="190292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Verbinder: gekrümmt 33">
              <a:extLst>
                <a:ext uri="{FF2B5EF4-FFF2-40B4-BE49-F238E27FC236}">
                  <a16:creationId xmlns:a16="http://schemas.microsoft.com/office/drawing/2014/main" id="{0FCABF21-1BEC-9EC6-65ED-647D095A3588}"/>
                </a:ext>
              </a:extLst>
            </p:cNvPr>
            <p:cNvCxnSpPr>
              <a:cxnSpLocks/>
              <a:stCxn id="12" idx="3"/>
              <a:endCxn id="25" idx="0"/>
            </p:cNvCxnSpPr>
            <p:nvPr/>
          </p:nvCxnSpPr>
          <p:spPr>
            <a:xfrm>
              <a:off x="3132213" y="3620793"/>
              <a:ext cx="339413" cy="1687871"/>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Verbinder: gekrümmt 34">
              <a:extLst>
                <a:ext uri="{FF2B5EF4-FFF2-40B4-BE49-F238E27FC236}">
                  <a16:creationId xmlns:a16="http://schemas.microsoft.com/office/drawing/2014/main" id="{2E2D539D-AC78-E9B4-B915-A29103E48F21}"/>
                </a:ext>
              </a:extLst>
            </p:cNvPr>
            <p:cNvCxnSpPr>
              <a:cxnSpLocks/>
              <a:stCxn id="13" idx="3"/>
              <a:endCxn id="25" idx="0"/>
            </p:cNvCxnSpPr>
            <p:nvPr/>
          </p:nvCxnSpPr>
          <p:spPr>
            <a:xfrm>
              <a:off x="3132213" y="3835851"/>
              <a:ext cx="339413" cy="1472813"/>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Verbinder: gekrümmt 35">
              <a:extLst>
                <a:ext uri="{FF2B5EF4-FFF2-40B4-BE49-F238E27FC236}">
                  <a16:creationId xmlns:a16="http://schemas.microsoft.com/office/drawing/2014/main" id="{52741769-8C55-7F43-B120-785898D87FEC}"/>
                </a:ext>
              </a:extLst>
            </p:cNvPr>
            <p:cNvCxnSpPr>
              <a:cxnSpLocks/>
              <a:stCxn id="14" idx="3"/>
              <a:endCxn id="25" idx="0"/>
            </p:cNvCxnSpPr>
            <p:nvPr/>
          </p:nvCxnSpPr>
          <p:spPr>
            <a:xfrm>
              <a:off x="3132213" y="4050909"/>
              <a:ext cx="339413" cy="1257755"/>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Verbinder: gekrümmt 36">
              <a:extLst>
                <a:ext uri="{FF2B5EF4-FFF2-40B4-BE49-F238E27FC236}">
                  <a16:creationId xmlns:a16="http://schemas.microsoft.com/office/drawing/2014/main" id="{9B60B8CF-22F5-6D0F-BC7C-530691B0E697}"/>
                </a:ext>
              </a:extLst>
            </p:cNvPr>
            <p:cNvCxnSpPr>
              <a:cxnSpLocks/>
              <a:stCxn id="15" idx="3"/>
              <a:endCxn id="25" idx="0"/>
            </p:cNvCxnSpPr>
            <p:nvPr/>
          </p:nvCxnSpPr>
          <p:spPr>
            <a:xfrm>
              <a:off x="3132213" y="4265967"/>
              <a:ext cx="339413" cy="1042697"/>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Verbinder: gekrümmt 37">
              <a:extLst>
                <a:ext uri="{FF2B5EF4-FFF2-40B4-BE49-F238E27FC236}">
                  <a16:creationId xmlns:a16="http://schemas.microsoft.com/office/drawing/2014/main" id="{896B8B0B-E3F0-C315-5458-5DF51BB23E80}"/>
                </a:ext>
              </a:extLst>
            </p:cNvPr>
            <p:cNvCxnSpPr>
              <a:cxnSpLocks/>
              <a:stCxn id="16" idx="3"/>
              <a:endCxn id="25" idx="0"/>
            </p:cNvCxnSpPr>
            <p:nvPr/>
          </p:nvCxnSpPr>
          <p:spPr>
            <a:xfrm>
              <a:off x="3132213" y="4481025"/>
              <a:ext cx="339413" cy="82763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Verbinder: gekrümmt 38">
              <a:extLst>
                <a:ext uri="{FF2B5EF4-FFF2-40B4-BE49-F238E27FC236}">
                  <a16:creationId xmlns:a16="http://schemas.microsoft.com/office/drawing/2014/main" id="{659D74E4-9252-3FCF-9B98-DAEF429DA238}"/>
                </a:ext>
              </a:extLst>
            </p:cNvPr>
            <p:cNvCxnSpPr>
              <a:cxnSpLocks/>
              <a:stCxn id="17" idx="3"/>
              <a:endCxn id="25" idx="0"/>
            </p:cNvCxnSpPr>
            <p:nvPr/>
          </p:nvCxnSpPr>
          <p:spPr>
            <a:xfrm>
              <a:off x="3132213" y="4696080"/>
              <a:ext cx="339413" cy="612584"/>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0" name="Verbinder: gekrümmt 39">
            <a:extLst>
              <a:ext uri="{FF2B5EF4-FFF2-40B4-BE49-F238E27FC236}">
                <a16:creationId xmlns:a16="http://schemas.microsoft.com/office/drawing/2014/main" id="{70A035F6-5FAE-723E-CCC2-D49B46DD6C77}"/>
              </a:ext>
            </a:extLst>
          </p:cNvPr>
          <p:cNvCxnSpPr>
            <a:cxnSpLocks/>
            <a:stCxn id="24" idx="3"/>
            <a:endCxn id="25" idx="0"/>
          </p:cNvCxnSpPr>
          <p:nvPr/>
        </p:nvCxnSpPr>
        <p:spPr>
          <a:xfrm>
            <a:off x="3130030" y="5008302"/>
            <a:ext cx="341610" cy="300362"/>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Verbinder: gekrümmt 40">
            <a:extLst>
              <a:ext uri="{FF2B5EF4-FFF2-40B4-BE49-F238E27FC236}">
                <a16:creationId xmlns:a16="http://schemas.microsoft.com/office/drawing/2014/main" id="{E40F281D-FAF7-739B-4E01-C47A2C3704F3}"/>
              </a:ext>
            </a:extLst>
          </p:cNvPr>
          <p:cNvCxnSpPr>
            <a:cxnSpLocks/>
            <a:stCxn id="25" idx="3"/>
            <a:endCxn id="26" idx="2"/>
          </p:cNvCxnSpPr>
          <p:nvPr/>
        </p:nvCxnSpPr>
        <p:spPr>
          <a:xfrm flipV="1">
            <a:off x="4388617" y="5128347"/>
            <a:ext cx="459647" cy="460580"/>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2" name="Tabelle 41">
            <a:extLst>
              <a:ext uri="{FF2B5EF4-FFF2-40B4-BE49-F238E27FC236}">
                <a16:creationId xmlns:a16="http://schemas.microsoft.com/office/drawing/2014/main" id="{98CEF5FE-F8F9-2BB9-A9B8-D327857CA1A2}"/>
              </a:ext>
            </a:extLst>
          </p:cNvPr>
          <p:cNvGraphicFramePr>
            <a:graphicFrameLocks noGrp="1"/>
          </p:cNvGraphicFramePr>
          <p:nvPr>
            <p:extLst>
              <p:ext uri="{D42A27DB-BD31-4B8C-83A1-F6EECF244321}">
                <p14:modId xmlns:p14="http://schemas.microsoft.com/office/powerpoint/2010/main" val="1679809628"/>
              </p:ext>
            </p:extLst>
          </p:nvPr>
        </p:nvGraphicFramePr>
        <p:xfrm>
          <a:off x="3942335" y="3442041"/>
          <a:ext cx="1833951" cy="476355"/>
        </p:xfrm>
        <a:graphic>
          <a:graphicData uri="http://schemas.openxmlformats.org/drawingml/2006/table">
            <a:tbl>
              <a:tblPr/>
              <a:tblGrid>
                <a:gridCol w="1833951">
                  <a:extLst>
                    <a:ext uri="{9D8B030D-6E8A-4147-A177-3AD203B41FA5}">
                      <a16:colId xmlns:a16="http://schemas.microsoft.com/office/drawing/2014/main" val="1172969578"/>
                    </a:ext>
                  </a:extLst>
                </a:gridCol>
              </a:tblGrid>
              <a:tr h="476355">
                <a:tc>
                  <a:txBody>
                    <a:bodyPr/>
                    <a:lstStyle/>
                    <a:p>
                      <a:pPr algn="ctr" fontAlgn="b"/>
                      <a:r>
                        <a:rPr lang="de-AT" sz="1100" b="0" i="0" u="none" strike="noStrike" dirty="0">
                          <a:solidFill>
                            <a:srgbClr val="FFFFFF"/>
                          </a:solidFill>
                          <a:effectLst/>
                          <a:latin typeface="Calibri" panose="020F0502020204030204" pitchFamily="34" charset="0"/>
                        </a:rPr>
                        <a:t>Results</a:t>
                      </a:r>
                    </a:p>
                    <a:p>
                      <a:pPr algn="ctr" fontAlgn="b"/>
                      <a:r>
                        <a:rPr lang="de-AT" sz="1100" b="0" i="0" u="none" strike="noStrike" dirty="0">
                          <a:solidFill>
                            <a:srgbClr val="FFFFFF"/>
                          </a:solidFill>
                          <a:effectLst/>
                          <a:latin typeface="Calibri" panose="020F0502020204030204" pitchFamily="34" charset="0"/>
                        </a:rPr>
                        <a:t>Per </a:t>
                      </a:r>
                      <a:r>
                        <a:rPr lang="de-AT" sz="1100" b="0" i="0" u="none" strike="noStrike" dirty="0">
                          <a:solidFill>
                            <a:srgbClr val="FFFFFF"/>
                          </a:solidFill>
                          <a:effectLst/>
                          <a:latin typeface="Times New Roman" panose="02020603050405020304" pitchFamily="18" charset="0"/>
                          <a:cs typeface="Times New Roman" panose="02020603050405020304" pitchFamily="18" charset="0"/>
                        </a:rPr>
                        <a:t>District</a:t>
                      </a:r>
                      <a:r>
                        <a:rPr lang="de-AT" sz="1100" b="0" i="0" u="none" strike="noStrike" dirty="0">
                          <a:solidFill>
                            <a:srgbClr val="FFFFFF"/>
                          </a:solidFill>
                          <a:effectLst/>
                          <a:latin typeface="Calibri" panose="020F0502020204030204" pitchFamily="34" charset="0"/>
                        </a:rPr>
                        <a:t> Scenario</a:t>
                      </a:r>
                    </a:p>
                  </a:txBody>
                  <a:tcPr marL="0" marR="0" marT="0" marB="0" anchor="ctr">
                    <a:lnL>
                      <a:noFill/>
                    </a:lnL>
                    <a:lnR>
                      <a:noFill/>
                    </a:lnR>
                    <a:lnT>
                      <a:noFill/>
                    </a:lnT>
                    <a:lnB>
                      <a:noFill/>
                    </a:lnB>
                    <a:solidFill>
                      <a:srgbClr val="000000"/>
                    </a:solidFill>
                  </a:tcPr>
                </a:tc>
                <a:extLst>
                  <a:ext uri="{0D108BD9-81ED-4DB2-BD59-A6C34878D82A}">
                    <a16:rowId xmlns:a16="http://schemas.microsoft.com/office/drawing/2014/main" val="486057827"/>
                  </a:ext>
                </a:extLst>
              </a:tr>
            </a:tbl>
          </a:graphicData>
        </a:graphic>
      </p:graphicFrame>
      <p:cxnSp>
        <p:nvCxnSpPr>
          <p:cNvPr id="45" name="Verbinder: gekrümmt 44">
            <a:extLst>
              <a:ext uri="{FF2B5EF4-FFF2-40B4-BE49-F238E27FC236}">
                <a16:creationId xmlns:a16="http://schemas.microsoft.com/office/drawing/2014/main" id="{EDC29D8E-6B1D-9CC3-F26A-14563FC55BB7}"/>
              </a:ext>
            </a:extLst>
          </p:cNvPr>
          <p:cNvCxnSpPr>
            <a:cxnSpLocks/>
            <a:stCxn id="26" idx="0"/>
            <a:endCxn id="42" idx="2"/>
          </p:cNvCxnSpPr>
          <p:nvPr/>
        </p:nvCxnSpPr>
        <p:spPr>
          <a:xfrm rot="5400000" flipH="1" flipV="1">
            <a:off x="4764073" y="4002588"/>
            <a:ext cx="179429" cy="11046"/>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Verbinder: gekrümmt 46">
            <a:extLst>
              <a:ext uri="{FF2B5EF4-FFF2-40B4-BE49-F238E27FC236}">
                <a16:creationId xmlns:a16="http://schemas.microsoft.com/office/drawing/2014/main" id="{B4FF0326-4382-60E9-0EF3-6BCAA970C949}"/>
              </a:ext>
            </a:extLst>
          </p:cNvPr>
          <p:cNvCxnSpPr>
            <a:cxnSpLocks/>
            <a:stCxn id="42" idx="0"/>
            <a:endCxn id="20" idx="2"/>
          </p:cNvCxnSpPr>
          <p:nvPr/>
        </p:nvCxnSpPr>
        <p:spPr>
          <a:xfrm rot="16200000" flipV="1">
            <a:off x="4202033" y="2784763"/>
            <a:ext cx="1044833" cy="269723"/>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Verbinder: gekrümmt 47">
            <a:extLst>
              <a:ext uri="{FF2B5EF4-FFF2-40B4-BE49-F238E27FC236}">
                <a16:creationId xmlns:a16="http://schemas.microsoft.com/office/drawing/2014/main" id="{F537E93C-77F4-8697-D821-C460A6305992}"/>
              </a:ext>
            </a:extLst>
          </p:cNvPr>
          <p:cNvCxnSpPr>
            <a:cxnSpLocks/>
            <a:stCxn id="42" idx="0"/>
            <a:endCxn id="22" idx="2"/>
          </p:cNvCxnSpPr>
          <p:nvPr/>
        </p:nvCxnSpPr>
        <p:spPr>
          <a:xfrm rot="16200000" flipV="1">
            <a:off x="4572245" y="3154977"/>
            <a:ext cx="294880" cy="279249"/>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7" name="Tabelle 236">
            <a:extLst>
              <a:ext uri="{FF2B5EF4-FFF2-40B4-BE49-F238E27FC236}">
                <a16:creationId xmlns:a16="http://schemas.microsoft.com/office/drawing/2014/main" id="{4EC14D81-1384-1522-B664-30DA5A646F90}"/>
              </a:ext>
            </a:extLst>
          </p:cNvPr>
          <p:cNvGraphicFramePr>
            <a:graphicFrameLocks noGrp="1"/>
          </p:cNvGraphicFramePr>
          <p:nvPr>
            <p:extLst>
              <p:ext uri="{D42A27DB-BD31-4B8C-83A1-F6EECF244321}">
                <p14:modId xmlns:p14="http://schemas.microsoft.com/office/powerpoint/2010/main" val="388172561"/>
              </p:ext>
            </p:extLst>
          </p:nvPr>
        </p:nvGraphicFramePr>
        <p:xfrm>
          <a:off x="5461811" y="5448476"/>
          <a:ext cx="1833951" cy="415523"/>
        </p:xfrm>
        <a:graphic>
          <a:graphicData uri="http://schemas.openxmlformats.org/drawingml/2006/table">
            <a:tbl>
              <a:tblPr/>
              <a:tblGrid>
                <a:gridCol w="1833951">
                  <a:extLst>
                    <a:ext uri="{9D8B030D-6E8A-4147-A177-3AD203B41FA5}">
                      <a16:colId xmlns:a16="http://schemas.microsoft.com/office/drawing/2014/main" val="1172969578"/>
                    </a:ext>
                  </a:extLst>
                </a:gridCol>
              </a:tblGrid>
              <a:tr h="415523">
                <a:tc>
                  <a:txBody>
                    <a:bodyPr/>
                    <a:lstStyle/>
                    <a:p>
                      <a:pPr algn="ctr" fontAlgn="b"/>
                      <a:r>
                        <a:rPr lang="de-DE" sz="1100" b="0" i="0" u="none" strike="noStrike" dirty="0">
                          <a:solidFill>
                            <a:srgbClr val="FFFFFF"/>
                          </a:solidFill>
                          <a:effectLst/>
                          <a:latin typeface="Times New Roman" panose="02020603050405020304" pitchFamily="18" charset="0"/>
                          <a:cs typeface="Times New Roman" panose="02020603050405020304" pitchFamily="18" charset="0"/>
                        </a:rPr>
                        <a:t>💾</a:t>
                      </a:r>
                      <a:r>
                        <a:rPr lang="de-AT" sz="1100" b="0" i="0" u="none" strike="noStrike" dirty="0">
                          <a:solidFill>
                            <a:srgbClr val="FFFFFF"/>
                          </a:solidFill>
                          <a:effectLst/>
                          <a:latin typeface="Times New Roman" panose="02020603050405020304" pitchFamily="18" charset="0"/>
                          <a:cs typeface="Times New Roman" panose="02020603050405020304" pitchFamily="18" charset="0"/>
                        </a:rPr>
                        <a:t>Project Export.xlsx</a:t>
                      </a:r>
                    </a:p>
                    <a:p>
                      <a:pPr algn="ctr" fontAlgn="b"/>
                      <a:r>
                        <a:rPr lang="de-AT" sz="1100" b="0" i="0" u="none" strike="noStrike" dirty="0">
                          <a:solidFill>
                            <a:srgbClr val="FFFFFF"/>
                          </a:solidFill>
                          <a:effectLst/>
                          <a:latin typeface="Times New Roman" panose="02020603050405020304" pitchFamily="18" charset="0"/>
                          <a:cs typeface="Times New Roman" panose="02020603050405020304" pitchFamily="18" charset="0"/>
                        </a:rPr>
                        <a:t>&lt;1MB per Project</a:t>
                      </a:r>
                    </a:p>
                  </a:txBody>
                  <a:tcPr marL="0" marR="0" marT="0" marB="0" anchor="b">
                    <a:lnL>
                      <a:noFill/>
                    </a:lnL>
                    <a:lnR>
                      <a:noFill/>
                    </a:lnR>
                    <a:lnT>
                      <a:noFill/>
                    </a:lnT>
                    <a:lnB>
                      <a:noFill/>
                    </a:lnB>
                    <a:solidFill>
                      <a:srgbClr val="00B050"/>
                    </a:solidFill>
                  </a:tcPr>
                </a:tc>
                <a:extLst>
                  <a:ext uri="{0D108BD9-81ED-4DB2-BD59-A6C34878D82A}">
                    <a16:rowId xmlns:a16="http://schemas.microsoft.com/office/drawing/2014/main" val="486057827"/>
                  </a:ext>
                </a:extLst>
              </a:tr>
            </a:tbl>
          </a:graphicData>
        </a:graphic>
      </p:graphicFrame>
      <p:cxnSp>
        <p:nvCxnSpPr>
          <p:cNvPr id="284" name="Verbinder: gekrümmt 283">
            <a:extLst>
              <a:ext uri="{FF2B5EF4-FFF2-40B4-BE49-F238E27FC236}">
                <a16:creationId xmlns:a16="http://schemas.microsoft.com/office/drawing/2014/main" id="{8E674AE9-A49D-26F1-D4CA-3A115BBEF13C}"/>
              </a:ext>
            </a:extLst>
          </p:cNvPr>
          <p:cNvCxnSpPr>
            <a:cxnSpLocks/>
            <a:stCxn id="25" idx="3"/>
            <a:endCxn id="237" idx="1"/>
          </p:cNvCxnSpPr>
          <p:nvPr/>
        </p:nvCxnSpPr>
        <p:spPr>
          <a:xfrm>
            <a:off x="4388616" y="5588928"/>
            <a:ext cx="1073194" cy="67309"/>
          </a:xfrm>
          <a:prstGeom prst="curvedConnector3">
            <a:avLst>
              <a:gd name="adj1" fmla="val 50000"/>
            </a:avLst>
          </a:prstGeom>
          <a:ln w="1905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graphicFrame>
        <p:nvGraphicFramePr>
          <p:cNvPr id="289" name="Tabelle 288">
            <a:extLst>
              <a:ext uri="{FF2B5EF4-FFF2-40B4-BE49-F238E27FC236}">
                <a16:creationId xmlns:a16="http://schemas.microsoft.com/office/drawing/2014/main" id="{07C72B90-6C47-4DFD-A9F3-E743788AC89B}"/>
              </a:ext>
            </a:extLst>
          </p:cNvPr>
          <p:cNvGraphicFramePr>
            <a:graphicFrameLocks noGrp="1"/>
          </p:cNvGraphicFramePr>
          <p:nvPr>
            <p:extLst>
              <p:ext uri="{D42A27DB-BD31-4B8C-83A1-F6EECF244321}">
                <p14:modId xmlns:p14="http://schemas.microsoft.com/office/powerpoint/2010/main" val="2764156009"/>
              </p:ext>
            </p:extLst>
          </p:nvPr>
        </p:nvGraphicFramePr>
        <p:xfrm>
          <a:off x="5419116" y="5280339"/>
          <a:ext cx="959670" cy="180188"/>
        </p:xfrm>
        <a:graphic>
          <a:graphicData uri="http://schemas.openxmlformats.org/drawingml/2006/table">
            <a:tbl>
              <a:tblPr/>
              <a:tblGrid>
                <a:gridCol w="959670">
                  <a:extLst>
                    <a:ext uri="{9D8B030D-6E8A-4147-A177-3AD203B41FA5}">
                      <a16:colId xmlns:a16="http://schemas.microsoft.com/office/drawing/2014/main" val="1172969578"/>
                    </a:ext>
                  </a:extLst>
                </a:gridCol>
              </a:tblGrid>
              <a:tr h="180188">
                <a:tc>
                  <a:txBody>
                    <a:bodyPr/>
                    <a:lstStyle/>
                    <a:p>
                      <a:pPr algn="ctr" fontAlgn="b"/>
                      <a:r>
                        <a:rPr lang="de-DE" sz="1100" b="0" i="0" u="none" strike="noStrike" dirty="0">
                          <a:solidFill>
                            <a:srgbClr val="FFFFFF"/>
                          </a:solidFill>
                          <a:effectLst/>
                          <a:latin typeface="Times New Roman" panose="02020603050405020304" pitchFamily="18" charset="0"/>
                          <a:cs typeface="Times New Roman" panose="02020603050405020304" pitchFamily="18" charset="0"/>
                        </a:rPr>
                        <a:t>💾Save / Load</a:t>
                      </a:r>
                      <a:endParaRPr lang="de-AT" sz="1100" b="0" i="0" u="none" strike="noStrike" dirty="0">
                        <a:solidFill>
                          <a:srgbClr val="FFFFFF"/>
                        </a:solidFill>
                        <a:effectLst/>
                        <a:latin typeface="Times New Roman" panose="02020603050405020304" pitchFamily="18" charset="0"/>
                        <a:cs typeface="Times New Roman" panose="02020603050405020304" pitchFamily="18" charset="0"/>
                      </a:endParaRPr>
                    </a:p>
                  </a:txBody>
                  <a:tcPr marL="0" marR="0" marT="0" marB="0" anchor="b">
                    <a:lnL>
                      <a:noFill/>
                    </a:lnL>
                    <a:lnR>
                      <a:noFill/>
                    </a:lnR>
                    <a:lnT>
                      <a:noFill/>
                    </a:lnT>
                    <a:lnB>
                      <a:noFill/>
                    </a:lnB>
                    <a:solidFill>
                      <a:schemeClr val="accent4"/>
                    </a:solidFill>
                  </a:tcPr>
                </a:tc>
                <a:extLst>
                  <a:ext uri="{0D108BD9-81ED-4DB2-BD59-A6C34878D82A}">
                    <a16:rowId xmlns:a16="http://schemas.microsoft.com/office/drawing/2014/main" val="486057827"/>
                  </a:ext>
                </a:extLst>
              </a:tr>
            </a:tbl>
          </a:graphicData>
        </a:graphic>
      </p:graphicFrame>
      <p:pic>
        <p:nvPicPr>
          <p:cNvPr id="308" name="Grafik 307" descr="Ein Bild, das Text, Screenshot, Software, Webseite enthält.&#10;&#10;KI-generierte Inhalte können fehlerhaft sein.">
            <a:extLst>
              <a:ext uri="{FF2B5EF4-FFF2-40B4-BE49-F238E27FC236}">
                <a16:creationId xmlns:a16="http://schemas.microsoft.com/office/drawing/2014/main" id="{B628E57B-14A4-F4BB-F1EC-B0146E6FC524}"/>
              </a:ext>
            </a:extLst>
          </p:cNvPr>
          <p:cNvPicPr>
            <a:picLocks noChangeAspect="1"/>
          </p:cNvPicPr>
          <p:nvPr/>
        </p:nvPicPr>
        <p:blipFill>
          <a:blip r:embed="rId16"/>
          <a:stretch>
            <a:fillRect/>
          </a:stretch>
        </p:blipFill>
        <p:spPr>
          <a:xfrm>
            <a:off x="6285726" y="1399640"/>
            <a:ext cx="3630631" cy="21981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310" name="Verbinder: gekrümmt 309">
            <a:extLst>
              <a:ext uri="{FF2B5EF4-FFF2-40B4-BE49-F238E27FC236}">
                <a16:creationId xmlns:a16="http://schemas.microsoft.com/office/drawing/2014/main" id="{D053EA68-D5CE-DB89-684B-A59AD0DA8E0C}"/>
              </a:ext>
            </a:extLst>
          </p:cNvPr>
          <p:cNvCxnSpPr>
            <a:cxnSpLocks/>
            <a:stCxn id="20" idx="3"/>
            <a:endCxn id="308" idx="1"/>
          </p:cNvCxnSpPr>
          <p:nvPr/>
        </p:nvCxnSpPr>
        <p:spPr>
          <a:xfrm>
            <a:off x="5284911" y="2287672"/>
            <a:ext cx="1000814" cy="211058"/>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4" name="Verbinder: gekrümmt 313">
            <a:extLst>
              <a:ext uri="{FF2B5EF4-FFF2-40B4-BE49-F238E27FC236}">
                <a16:creationId xmlns:a16="http://schemas.microsoft.com/office/drawing/2014/main" id="{BFB6C1ED-EEAB-2AE9-4DE9-1A988146352B}"/>
              </a:ext>
            </a:extLst>
          </p:cNvPr>
          <p:cNvCxnSpPr>
            <a:cxnSpLocks/>
          </p:cNvCxnSpPr>
          <p:nvPr/>
        </p:nvCxnSpPr>
        <p:spPr>
          <a:xfrm>
            <a:off x="5284911" y="2866081"/>
            <a:ext cx="1216220" cy="1061002"/>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5" name="Verbinder: gekrümmt 314">
            <a:extLst>
              <a:ext uri="{FF2B5EF4-FFF2-40B4-BE49-F238E27FC236}">
                <a16:creationId xmlns:a16="http://schemas.microsoft.com/office/drawing/2014/main" id="{17782598-7798-A6E2-3AA0-538FD4491DA4}"/>
              </a:ext>
            </a:extLst>
          </p:cNvPr>
          <p:cNvCxnSpPr>
            <a:cxnSpLocks/>
          </p:cNvCxnSpPr>
          <p:nvPr/>
        </p:nvCxnSpPr>
        <p:spPr>
          <a:xfrm>
            <a:off x="6446621" y="3179314"/>
            <a:ext cx="3056666" cy="1607441"/>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317" name="Grafik 316" descr="Ein Bild, das Text, Screenshot, Software, Schrift enthält.&#10;&#10;KI-generierte Inhalte können fehlerhaft sein.">
            <a:extLst>
              <a:ext uri="{FF2B5EF4-FFF2-40B4-BE49-F238E27FC236}">
                <a16:creationId xmlns:a16="http://schemas.microsoft.com/office/drawing/2014/main" id="{0CCE439B-1CB3-3112-081E-17D2BA885B53}"/>
              </a:ext>
            </a:extLst>
          </p:cNvPr>
          <p:cNvPicPr>
            <a:picLocks noChangeAspect="1"/>
          </p:cNvPicPr>
          <p:nvPr/>
        </p:nvPicPr>
        <p:blipFill>
          <a:blip r:embed="rId17"/>
          <a:stretch>
            <a:fillRect/>
          </a:stretch>
        </p:blipFill>
        <p:spPr>
          <a:xfrm>
            <a:off x="6553478" y="3147160"/>
            <a:ext cx="2113516" cy="19467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31" name="Grafik 330" descr="Ein Bild, das Text, Screenshot, Diagramm, Software enthält.&#10;&#10;KI-generierte Inhalte können fehlerhaft sein.">
            <a:extLst>
              <a:ext uri="{FF2B5EF4-FFF2-40B4-BE49-F238E27FC236}">
                <a16:creationId xmlns:a16="http://schemas.microsoft.com/office/drawing/2014/main" id="{3D80B75B-CF23-F768-2CCB-31A3F828A883}"/>
              </a:ext>
            </a:extLst>
          </p:cNvPr>
          <p:cNvPicPr>
            <a:picLocks noChangeAspect="1"/>
          </p:cNvPicPr>
          <p:nvPr/>
        </p:nvPicPr>
        <p:blipFill>
          <a:blip r:embed="rId18"/>
          <a:stretch>
            <a:fillRect/>
          </a:stretch>
        </p:blipFill>
        <p:spPr>
          <a:xfrm>
            <a:off x="8273924" y="4081997"/>
            <a:ext cx="2177401" cy="17783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 name="Grafik 19">
            <a:extLst>
              <a:ext uri="{FF2B5EF4-FFF2-40B4-BE49-F238E27FC236}">
                <a16:creationId xmlns:a16="http://schemas.microsoft.com/office/drawing/2014/main" id="{7BFD539E-B2B1-4B2B-A06D-26B1F4AAF6EA}"/>
              </a:ext>
            </a:extLst>
          </p:cNvPr>
          <p:cNvPicPr>
            <a:picLocks noChangeAspect="1"/>
          </p:cNvPicPr>
          <p:nvPr/>
        </p:nvPicPr>
        <p:blipFill>
          <a:blip r:embed="rId19"/>
          <a:stretch>
            <a:fillRect/>
          </a:stretch>
        </p:blipFill>
        <p:spPr>
          <a:xfrm>
            <a:off x="3894261" y="2178134"/>
            <a:ext cx="1390650" cy="219075"/>
          </a:xfrm>
          <a:prstGeom prst="rect">
            <a:avLst/>
          </a:prstGeom>
        </p:spPr>
      </p:pic>
      <p:graphicFrame>
        <p:nvGraphicFramePr>
          <p:cNvPr id="22" name="Tabelle 21">
            <a:extLst>
              <a:ext uri="{FF2B5EF4-FFF2-40B4-BE49-F238E27FC236}">
                <a16:creationId xmlns:a16="http://schemas.microsoft.com/office/drawing/2014/main" id="{914EEEA2-9C22-8A3D-4781-432AD3BAC91B}"/>
              </a:ext>
            </a:extLst>
          </p:cNvPr>
          <p:cNvGraphicFramePr>
            <a:graphicFrameLocks noGrp="1"/>
          </p:cNvGraphicFramePr>
          <p:nvPr>
            <p:extLst>
              <p:ext uri="{D42A27DB-BD31-4B8C-83A1-F6EECF244321}">
                <p14:modId xmlns:p14="http://schemas.microsoft.com/office/powerpoint/2010/main" val="3383987490"/>
              </p:ext>
            </p:extLst>
          </p:nvPr>
        </p:nvGraphicFramePr>
        <p:xfrm>
          <a:off x="3894260" y="2547086"/>
          <a:ext cx="1371600" cy="600075"/>
        </p:xfrm>
        <a:graphic>
          <a:graphicData uri="http://schemas.openxmlformats.org/drawingml/2006/table">
            <a:tbl>
              <a:tblPr/>
              <a:tblGrid>
                <a:gridCol w="1371600">
                  <a:extLst>
                    <a:ext uri="{9D8B030D-6E8A-4147-A177-3AD203B41FA5}">
                      <a16:colId xmlns:a16="http://schemas.microsoft.com/office/drawing/2014/main" val="1588505910"/>
                    </a:ext>
                  </a:extLst>
                </a:gridCol>
              </a:tblGrid>
              <a:tr h="200025">
                <a:tc>
                  <a:txBody>
                    <a:bodyPr/>
                    <a:lstStyle/>
                    <a:p>
                      <a:pPr algn="l" fontAlgn="ctr"/>
                      <a:r>
                        <a:rPr lang="de-AT" sz="1100" b="0" i="0" u="none" strike="noStrike" dirty="0">
                          <a:solidFill>
                            <a:srgbClr val="E6EFF3"/>
                          </a:solidFill>
                          <a:effectLst/>
                          <a:latin typeface="Times New Roman" panose="02020603050405020304" pitchFamily="18" charset="0"/>
                          <a:cs typeface="Times New Roman" panose="02020603050405020304" pitchFamily="18" charset="0"/>
                        </a:rPr>
                        <a:t>🏆 PED Declaration</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950F53"/>
                    </a:solidFill>
                  </a:tcPr>
                </a:tc>
                <a:extLst>
                  <a:ext uri="{0D108BD9-81ED-4DB2-BD59-A6C34878D82A}">
                    <a16:rowId xmlns:a16="http://schemas.microsoft.com/office/drawing/2014/main" val="1403844222"/>
                  </a:ext>
                </a:extLst>
              </a:tr>
              <a:tr h="200025">
                <a:tc>
                  <a:txBody>
                    <a:bodyPr/>
                    <a:lstStyle/>
                    <a:p>
                      <a:pPr algn="l" fontAlgn="ctr"/>
                      <a:r>
                        <a:rPr lang="de-AT" sz="1100" b="0" i="0" u="none" strike="noStrike" dirty="0">
                          <a:solidFill>
                            <a:srgbClr val="E6EFF3"/>
                          </a:solidFill>
                          <a:effectLst/>
                          <a:latin typeface="Times New Roman" panose="02020603050405020304" pitchFamily="18" charset="0"/>
                          <a:cs typeface="Times New Roman" panose="02020603050405020304" pitchFamily="18" charset="0"/>
                        </a:rPr>
                        <a:t>🏆 PED+M</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F59C00"/>
                    </a:solidFill>
                  </a:tcPr>
                </a:tc>
                <a:extLst>
                  <a:ext uri="{0D108BD9-81ED-4DB2-BD59-A6C34878D82A}">
                    <a16:rowId xmlns:a16="http://schemas.microsoft.com/office/drawing/2014/main" val="1369890536"/>
                  </a:ext>
                </a:extLst>
              </a:tr>
              <a:tr h="200025">
                <a:tc>
                  <a:txBody>
                    <a:bodyPr/>
                    <a:lstStyle/>
                    <a:p>
                      <a:pPr algn="l" fontAlgn="ctr"/>
                      <a:r>
                        <a:rPr lang="de-AT" sz="1100" b="0" i="0" u="none" strike="noStrike" dirty="0">
                          <a:solidFill>
                            <a:srgbClr val="E6EFF3"/>
                          </a:solidFill>
                          <a:effectLst/>
                          <a:latin typeface="Times New Roman" panose="02020603050405020304" pitchFamily="18" charset="0"/>
                          <a:cs typeface="Times New Roman" panose="02020603050405020304" pitchFamily="18" charset="0"/>
                        </a:rPr>
                        <a:t>🏆 CN PED</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3BACBE"/>
                    </a:solidFill>
                  </a:tcPr>
                </a:tc>
                <a:extLst>
                  <a:ext uri="{0D108BD9-81ED-4DB2-BD59-A6C34878D82A}">
                    <a16:rowId xmlns:a16="http://schemas.microsoft.com/office/drawing/2014/main" val="3843430095"/>
                  </a:ext>
                </a:extLst>
              </a:tr>
            </a:tbl>
          </a:graphicData>
        </a:graphic>
      </p:graphicFrame>
    </p:spTree>
    <p:extLst>
      <p:ext uri="{BB962C8B-B14F-4D97-AF65-F5344CB8AC3E}">
        <p14:creationId xmlns:p14="http://schemas.microsoft.com/office/powerpoint/2010/main" val="528832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ED473-7432-CED3-EA5E-55E0A34BF559}"/>
            </a:ext>
          </a:extLst>
        </p:cNvPr>
        <p:cNvGrpSpPr/>
        <p:nvPr/>
      </p:nvGrpSpPr>
      <p:grpSpPr>
        <a:xfrm>
          <a:off x="0" y="0"/>
          <a:ext cx="0" cy="0"/>
          <a:chOff x="0" y="0"/>
          <a:chExt cx="0" cy="0"/>
        </a:xfrm>
      </p:grpSpPr>
      <p:cxnSp>
        <p:nvCxnSpPr>
          <p:cNvPr id="281" name="Verbinder: gekrümmt 280">
            <a:extLst>
              <a:ext uri="{FF2B5EF4-FFF2-40B4-BE49-F238E27FC236}">
                <a16:creationId xmlns:a16="http://schemas.microsoft.com/office/drawing/2014/main" id="{81B832B2-80A5-94E9-8904-3AB8EBFF29EB}"/>
              </a:ext>
            </a:extLst>
          </p:cNvPr>
          <p:cNvCxnSpPr>
            <a:cxnSpLocks/>
          </p:cNvCxnSpPr>
          <p:nvPr/>
        </p:nvCxnSpPr>
        <p:spPr>
          <a:xfrm>
            <a:off x="6571373" y="4221992"/>
            <a:ext cx="538760" cy="2138265"/>
          </a:xfrm>
          <a:prstGeom prst="curvedConnector3">
            <a:avLst>
              <a:gd name="adj1" fmla="val 75458"/>
            </a:avLst>
          </a:prstGeom>
          <a:ln w="1905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 name="Titel 1">
            <a:extLst>
              <a:ext uri="{FF2B5EF4-FFF2-40B4-BE49-F238E27FC236}">
                <a16:creationId xmlns:a16="http://schemas.microsoft.com/office/drawing/2014/main" id="{19ED8D4A-3128-1845-1435-976B5C44FBBC}"/>
              </a:ext>
            </a:extLst>
          </p:cNvPr>
          <p:cNvSpPr>
            <a:spLocks noGrp="1"/>
          </p:cNvSpPr>
          <p:nvPr>
            <p:ph type="title"/>
          </p:nvPr>
        </p:nvSpPr>
        <p:spPr/>
        <p:txBody>
          <a:bodyPr/>
          <a:lstStyle/>
          <a:p>
            <a:r>
              <a:rPr lang="de-DE" dirty="0"/>
              <a:t>Tool </a:t>
            </a:r>
            <a:r>
              <a:rPr lang="de-DE" dirty="0" err="1"/>
              <a:t>overview</a:t>
            </a:r>
            <a:endParaRPr lang="de-DE" dirty="0"/>
          </a:p>
        </p:txBody>
      </p:sp>
      <p:sp>
        <p:nvSpPr>
          <p:cNvPr id="4" name="Fußzeilenplatzhalter 3">
            <a:extLst>
              <a:ext uri="{FF2B5EF4-FFF2-40B4-BE49-F238E27FC236}">
                <a16:creationId xmlns:a16="http://schemas.microsoft.com/office/drawing/2014/main" id="{AB81E288-4B0A-48CB-AA37-D5B585E64A49}"/>
              </a:ext>
            </a:extLst>
          </p:cNvPr>
          <p:cNvSpPr>
            <a:spLocks noGrp="1"/>
          </p:cNvSpPr>
          <p:nvPr>
            <p:ph type="ftr" sz="quarter" idx="11"/>
          </p:nvPr>
        </p:nvSpPr>
        <p:spPr/>
        <p:txBody>
          <a:bodyPr/>
          <a:lstStyle/>
          <a:p>
            <a:r>
              <a:rPr lang="de-AT" dirty="0"/>
              <a:t>Klimaaktiv Nachweistool Plus-Energie-Quartiere</a:t>
            </a:r>
          </a:p>
        </p:txBody>
      </p:sp>
      <p:sp>
        <p:nvSpPr>
          <p:cNvPr id="5" name="Foliennummernplatzhalter 4">
            <a:extLst>
              <a:ext uri="{FF2B5EF4-FFF2-40B4-BE49-F238E27FC236}">
                <a16:creationId xmlns:a16="http://schemas.microsoft.com/office/drawing/2014/main" id="{182B6573-5A66-C2FB-7B7D-2AEDE21C5280}"/>
              </a:ext>
            </a:extLst>
          </p:cNvPr>
          <p:cNvSpPr>
            <a:spLocks noGrp="1"/>
          </p:cNvSpPr>
          <p:nvPr>
            <p:ph type="sldNum" sz="quarter" idx="12"/>
          </p:nvPr>
        </p:nvSpPr>
        <p:spPr/>
        <p:txBody>
          <a:bodyPr/>
          <a:lstStyle/>
          <a:p>
            <a:fld id="{1206269C-C24E-4E80-9A4B-E7E19BB59A67}" type="slidenum">
              <a:rPr lang="de-AT" smtClean="0"/>
              <a:pPr/>
              <a:t>28</a:t>
            </a:fld>
            <a:endParaRPr lang="de-AT" dirty="0"/>
          </a:p>
        </p:txBody>
      </p:sp>
      <p:pic>
        <p:nvPicPr>
          <p:cNvPr id="6" name="Grafik 5">
            <a:extLst>
              <a:ext uri="{FF2B5EF4-FFF2-40B4-BE49-F238E27FC236}">
                <a16:creationId xmlns:a16="http://schemas.microsoft.com/office/drawing/2014/main" id="{9B6C2A3A-9233-8A1D-0978-94A30AEBD08C}"/>
              </a:ext>
            </a:extLst>
          </p:cNvPr>
          <p:cNvPicPr>
            <a:picLocks noChangeAspect="1"/>
          </p:cNvPicPr>
          <p:nvPr/>
        </p:nvPicPr>
        <p:blipFill>
          <a:blip r:embed="rId2"/>
          <a:stretch>
            <a:fillRect/>
          </a:stretch>
        </p:blipFill>
        <p:spPr>
          <a:xfrm>
            <a:off x="2863473" y="2560151"/>
            <a:ext cx="1390650" cy="219075"/>
          </a:xfrm>
          <a:prstGeom prst="rect">
            <a:avLst/>
          </a:prstGeom>
        </p:spPr>
      </p:pic>
      <p:pic>
        <p:nvPicPr>
          <p:cNvPr id="7" name="Grafik 6">
            <a:extLst>
              <a:ext uri="{FF2B5EF4-FFF2-40B4-BE49-F238E27FC236}">
                <a16:creationId xmlns:a16="http://schemas.microsoft.com/office/drawing/2014/main" id="{B8EDC80F-09B6-2294-0094-2F0876804729}"/>
              </a:ext>
            </a:extLst>
          </p:cNvPr>
          <p:cNvPicPr>
            <a:picLocks noChangeAspect="1"/>
          </p:cNvPicPr>
          <p:nvPr/>
        </p:nvPicPr>
        <p:blipFill>
          <a:blip r:embed="rId3"/>
          <a:stretch>
            <a:fillRect/>
          </a:stretch>
        </p:blipFill>
        <p:spPr>
          <a:xfrm>
            <a:off x="2863473" y="2775209"/>
            <a:ext cx="1390650" cy="219075"/>
          </a:xfrm>
          <a:prstGeom prst="rect">
            <a:avLst/>
          </a:prstGeom>
        </p:spPr>
      </p:pic>
      <p:pic>
        <p:nvPicPr>
          <p:cNvPr id="8" name="Grafik 7">
            <a:extLst>
              <a:ext uri="{FF2B5EF4-FFF2-40B4-BE49-F238E27FC236}">
                <a16:creationId xmlns:a16="http://schemas.microsoft.com/office/drawing/2014/main" id="{38A762F5-B29A-3DAF-AE55-FBBE9C6A279E}"/>
              </a:ext>
            </a:extLst>
          </p:cNvPr>
          <p:cNvPicPr>
            <a:picLocks noChangeAspect="1"/>
          </p:cNvPicPr>
          <p:nvPr/>
        </p:nvPicPr>
        <p:blipFill>
          <a:blip r:embed="rId4"/>
          <a:stretch>
            <a:fillRect/>
          </a:stretch>
        </p:blipFill>
        <p:spPr>
          <a:xfrm>
            <a:off x="2863473" y="2990267"/>
            <a:ext cx="1390650" cy="219075"/>
          </a:xfrm>
          <a:prstGeom prst="rect">
            <a:avLst/>
          </a:prstGeom>
        </p:spPr>
      </p:pic>
      <p:pic>
        <p:nvPicPr>
          <p:cNvPr id="9" name="Grafik 8">
            <a:extLst>
              <a:ext uri="{FF2B5EF4-FFF2-40B4-BE49-F238E27FC236}">
                <a16:creationId xmlns:a16="http://schemas.microsoft.com/office/drawing/2014/main" id="{C6DAB0A8-780D-8DBF-FBD8-E644482A4934}"/>
              </a:ext>
            </a:extLst>
          </p:cNvPr>
          <p:cNvPicPr>
            <a:picLocks noChangeAspect="1"/>
          </p:cNvPicPr>
          <p:nvPr/>
        </p:nvPicPr>
        <p:blipFill>
          <a:blip r:embed="rId5"/>
          <a:stretch>
            <a:fillRect/>
          </a:stretch>
        </p:blipFill>
        <p:spPr>
          <a:xfrm>
            <a:off x="2863473" y="3205325"/>
            <a:ext cx="1390650" cy="219075"/>
          </a:xfrm>
          <a:prstGeom prst="rect">
            <a:avLst/>
          </a:prstGeom>
        </p:spPr>
      </p:pic>
      <p:pic>
        <p:nvPicPr>
          <p:cNvPr id="10" name="Grafik 9">
            <a:extLst>
              <a:ext uri="{FF2B5EF4-FFF2-40B4-BE49-F238E27FC236}">
                <a16:creationId xmlns:a16="http://schemas.microsoft.com/office/drawing/2014/main" id="{9F682B2D-7AB0-91C4-3F5F-1288A2B491F8}"/>
              </a:ext>
            </a:extLst>
          </p:cNvPr>
          <p:cNvPicPr>
            <a:picLocks noChangeAspect="1"/>
          </p:cNvPicPr>
          <p:nvPr/>
        </p:nvPicPr>
        <p:blipFill>
          <a:blip r:embed="rId6"/>
          <a:stretch>
            <a:fillRect/>
          </a:stretch>
        </p:blipFill>
        <p:spPr>
          <a:xfrm>
            <a:off x="2863473" y="3420383"/>
            <a:ext cx="1390650" cy="219075"/>
          </a:xfrm>
          <a:prstGeom prst="rect">
            <a:avLst/>
          </a:prstGeom>
        </p:spPr>
      </p:pic>
      <p:pic>
        <p:nvPicPr>
          <p:cNvPr id="11" name="Grafik 10">
            <a:extLst>
              <a:ext uri="{FF2B5EF4-FFF2-40B4-BE49-F238E27FC236}">
                <a16:creationId xmlns:a16="http://schemas.microsoft.com/office/drawing/2014/main" id="{FF8C6C9F-219B-4701-311C-CF3B7BC5BAFC}"/>
              </a:ext>
            </a:extLst>
          </p:cNvPr>
          <p:cNvPicPr>
            <a:picLocks noChangeAspect="1"/>
          </p:cNvPicPr>
          <p:nvPr/>
        </p:nvPicPr>
        <p:blipFill>
          <a:blip r:embed="rId7"/>
          <a:stretch>
            <a:fillRect/>
          </a:stretch>
        </p:blipFill>
        <p:spPr>
          <a:xfrm>
            <a:off x="2863473" y="3635441"/>
            <a:ext cx="1390650" cy="219075"/>
          </a:xfrm>
          <a:prstGeom prst="rect">
            <a:avLst/>
          </a:prstGeom>
        </p:spPr>
      </p:pic>
      <p:pic>
        <p:nvPicPr>
          <p:cNvPr id="12" name="Grafik 11">
            <a:extLst>
              <a:ext uri="{FF2B5EF4-FFF2-40B4-BE49-F238E27FC236}">
                <a16:creationId xmlns:a16="http://schemas.microsoft.com/office/drawing/2014/main" id="{D378562D-ADC0-062F-1313-ED326D2B600B}"/>
              </a:ext>
            </a:extLst>
          </p:cNvPr>
          <p:cNvPicPr>
            <a:picLocks noChangeAspect="1"/>
          </p:cNvPicPr>
          <p:nvPr/>
        </p:nvPicPr>
        <p:blipFill>
          <a:blip r:embed="rId8"/>
          <a:stretch>
            <a:fillRect/>
          </a:stretch>
        </p:blipFill>
        <p:spPr>
          <a:xfrm>
            <a:off x="2863473" y="3850499"/>
            <a:ext cx="1390650" cy="219075"/>
          </a:xfrm>
          <a:prstGeom prst="rect">
            <a:avLst/>
          </a:prstGeom>
        </p:spPr>
      </p:pic>
      <p:pic>
        <p:nvPicPr>
          <p:cNvPr id="13" name="Grafik 12">
            <a:extLst>
              <a:ext uri="{FF2B5EF4-FFF2-40B4-BE49-F238E27FC236}">
                <a16:creationId xmlns:a16="http://schemas.microsoft.com/office/drawing/2014/main" id="{8CB27CB4-DA6B-56AC-0814-B9E11E209A51}"/>
              </a:ext>
            </a:extLst>
          </p:cNvPr>
          <p:cNvPicPr>
            <a:picLocks noChangeAspect="1"/>
          </p:cNvPicPr>
          <p:nvPr/>
        </p:nvPicPr>
        <p:blipFill>
          <a:blip r:embed="rId9"/>
          <a:stretch>
            <a:fillRect/>
          </a:stretch>
        </p:blipFill>
        <p:spPr>
          <a:xfrm>
            <a:off x="2863473" y="4065557"/>
            <a:ext cx="1390650" cy="219075"/>
          </a:xfrm>
          <a:prstGeom prst="rect">
            <a:avLst/>
          </a:prstGeom>
        </p:spPr>
      </p:pic>
      <p:pic>
        <p:nvPicPr>
          <p:cNvPr id="14" name="Grafik 13">
            <a:extLst>
              <a:ext uri="{FF2B5EF4-FFF2-40B4-BE49-F238E27FC236}">
                <a16:creationId xmlns:a16="http://schemas.microsoft.com/office/drawing/2014/main" id="{6E95BAF4-0DA9-1628-8338-1C707254995C}"/>
              </a:ext>
            </a:extLst>
          </p:cNvPr>
          <p:cNvPicPr>
            <a:picLocks noChangeAspect="1"/>
          </p:cNvPicPr>
          <p:nvPr/>
        </p:nvPicPr>
        <p:blipFill>
          <a:blip r:embed="rId10"/>
          <a:stretch>
            <a:fillRect/>
          </a:stretch>
        </p:blipFill>
        <p:spPr>
          <a:xfrm>
            <a:off x="2863473" y="4280615"/>
            <a:ext cx="1390650" cy="219075"/>
          </a:xfrm>
          <a:prstGeom prst="rect">
            <a:avLst/>
          </a:prstGeom>
        </p:spPr>
      </p:pic>
      <p:pic>
        <p:nvPicPr>
          <p:cNvPr id="15" name="Grafik 14">
            <a:extLst>
              <a:ext uri="{FF2B5EF4-FFF2-40B4-BE49-F238E27FC236}">
                <a16:creationId xmlns:a16="http://schemas.microsoft.com/office/drawing/2014/main" id="{9475F5E3-7873-1BF8-7B1B-9D7BA32BA896}"/>
              </a:ext>
            </a:extLst>
          </p:cNvPr>
          <p:cNvPicPr>
            <a:picLocks noChangeAspect="1"/>
          </p:cNvPicPr>
          <p:nvPr/>
        </p:nvPicPr>
        <p:blipFill>
          <a:blip r:embed="rId11"/>
          <a:stretch>
            <a:fillRect/>
          </a:stretch>
        </p:blipFill>
        <p:spPr>
          <a:xfrm>
            <a:off x="2863473" y="4495673"/>
            <a:ext cx="1390650" cy="219075"/>
          </a:xfrm>
          <a:prstGeom prst="rect">
            <a:avLst/>
          </a:prstGeom>
        </p:spPr>
      </p:pic>
      <p:pic>
        <p:nvPicPr>
          <p:cNvPr id="16" name="Grafik 15">
            <a:extLst>
              <a:ext uri="{FF2B5EF4-FFF2-40B4-BE49-F238E27FC236}">
                <a16:creationId xmlns:a16="http://schemas.microsoft.com/office/drawing/2014/main" id="{C63B7D7A-D9C6-4657-43E7-7D7C5635C8EB}"/>
              </a:ext>
            </a:extLst>
          </p:cNvPr>
          <p:cNvPicPr>
            <a:picLocks noChangeAspect="1"/>
          </p:cNvPicPr>
          <p:nvPr/>
        </p:nvPicPr>
        <p:blipFill>
          <a:blip r:embed="rId12"/>
          <a:stretch>
            <a:fillRect/>
          </a:stretch>
        </p:blipFill>
        <p:spPr>
          <a:xfrm>
            <a:off x="2863473" y="4710731"/>
            <a:ext cx="1390650" cy="219075"/>
          </a:xfrm>
          <a:prstGeom prst="rect">
            <a:avLst/>
          </a:prstGeom>
        </p:spPr>
      </p:pic>
      <p:pic>
        <p:nvPicPr>
          <p:cNvPr id="17" name="Grafik 16">
            <a:extLst>
              <a:ext uri="{FF2B5EF4-FFF2-40B4-BE49-F238E27FC236}">
                <a16:creationId xmlns:a16="http://schemas.microsoft.com/office/drawing/2014/main" id="{8090EFBE-C512-5F28-3769-8AF0E7E695F4}"/>
              </a:ext>
            </a:extLst>
          </p:cNvPr>
          <p:cNvPicPr>
            <a:picLocks noChangeAspect="1"/>
          </p:cNvPicPr>
          <p:nvPr/>
        </p:nvPicPr>
        <p:blipFill>
          <a:blip r:embed="rId13"/>
          <a:stretch>
            <a:fillRect/>
          </a:stretch>
        </p:blipFill>
        <p:spPr>
          <a:xfrm>
            <a:off x="2863473" y="4925786"/>
            <a:ext cx="1390650" cy="219075"/>
          </a:xfrm>
          <a:prstGeom prst="rect">
            <a:avLst/>
          </a:prstGeom>
        </p:spPr>
      </p:pic>
      <p:sp>
        <p:nvSpPr>
          <p:cNvPr id="18" name="Textfeld 17">
            <a:extLst>
              <a:ext uri="{FF2B5EF4-FFF2-40B4-BE49-F238E27FC236}">
                <a16:creationId xmlns:a16="http://schemas.microsoft.com/office/drawing/2014/main" id="{69FAD3F3-848C-9B16-ECF8-2E91231AF67C}"/>
              </a:ext>
            </a:extLst>
          </p:cNvPr>
          <p:cNvSpPr txBox="1"/>
          <p:nvPr/>
        </p:nvSpPr>
        <p:spPr>
          <a:xfrm>
            <a:off x="2780849" y="2215093"/>
            <a:ext cx="1908091" cy="369332"/>
          </a:xfrm>
          <a:prstGeom prst="rect">
            <a:avLst/>
          </a:prstGeom>
          <a:noFill/>
        </p:spPr>
        <p:txBody>
          <a:bodyPr wrap="square">
            <a:spAutoFit/>
          </a:bodyPr>
          <a:lstStyle/>
          <a:p>
            <a:pPr defTabSz="914339">
              <a:defRPr/>
            </a:pPr>
            <a:r>
              <a:rPr lang="de-AT" b="1" dirty="0">
                <a:solidFill>
                  <a:srgbClr val="E1320F"/>
                </a:solidFill>
                <a:latin typeface="Calibri" panose="020F0502020204030204" pitchFamily="34" charset="0"/>
              </a:rPr>
              <a:t>Eingabeblätter</a:t>
            </a:r>
            <a:r>
              <a:rPr lang="de-AT" dirty="0">
                <a:solidFill>
                  <a:srgbClr val="000000"/>
                </a:solidFill>
                <a:latin typeface="Calibri" panose="020F0502020204030204"/>
              </a:rPr>
              <a:t> </a:t>
            </a:r>
          </a:p>
        </p:txBody>
      </p:sp>
      <p:sp>
        <p:nvSpPr>
          <p:cNvPr id="19" name="Textfeld 18">
            <a:extLst>
              <a:ext uri="{FF2B5EF4-FFF2-40B4-BE49-F238E27FC236}">
                <a16:creationId xmlns:a16="http://schemas.microsoft.com/office/drawing/2014/main" id="{BE7A5DB0-1889-8102-324A-DA681AA99379}"/>
              </a:ext>
            </a:extLst>
          </p:cNvPr>
          <p:cNvSpPr txBox="1"/>
          <p:nvPr/>
        </p:nvSpPr>
        <p:spPr>
          <a:xfrm>
            <a:off x="4949810" y="2235480"/>
            <a:ext cx="2010482" cy="369332"/>
          </a:xfrm>
          <a:prstGeom prst="rect">
            <a:avLst/>
          </a:prstGeom>
          <a:noFill/>
        </p:spPr>
        <p:txBody>
          <a:bodyPr wrap="square">
            <a:spAutoFit/>
          </a:bodyPr>
          <a:lstStyle/>
          <a:p>
            <a:pPr defTabSz="914339">
              <a:defRPr/>
            </a:pPr>
            <a:r>
              <a:rPr lang="de-AT" b="1" dirty="0">
                <a:solidFill>
                  <a:srgbClr val="E1320F"/>
                </a:solidFill>
                <a:latin typeface="Calibri" panose="020F0502020204030204" pitchFamily="34" charset="0"/>
              </a:rPr>
              <a:t>Ausgabe</a:t>
            </a:r>
            <a:endParaRPr lang="de-AT" dirty="0">
              <a:solidFill>
                <a:srgbClr val="000000"/>
              </a:solidFill>
              <a:latin typeface="Calibri" panose="020F0502020204030204"/>
            </a:endParaRPr>
          </a:p>
        </p:txBody>
      </p:sp>
      <p:graphicFrame>
        <p:nvGraphicFramePr>
          <p:cNvPr id="23" name="Tabelle 22">
            <a:extLst>
              <a:ext uri="{FF2B5EF4-FFF2-40B4-BE49-F238E27FC236}">
                <a16:creationId xmlns:a16="http://schemas.microsoft.com/office/drawing/2014/main" id="{2F041A73-91B1-9CBB-978B-A1BC203AAD0D}"/>
              </a:ext>
            </a:extLst>
          </p:cNvPr>
          <p:cNvGraphicFramePr>
            <a:graphicFrameLocks noGrp="1"/>
          </p:cNvGraphicFramePr>
          <p:nvPr/>
        </p:nvGraphicFramePr>
        <p:xfrm>
          <a:off x="2849574" y="2560151"/>
          <a:ext cx="1371600" cy="2600325"/>
        </p:xfrm>
        <a:graphic>
          <a:graphicData uri="http://schemas.openxmlformats.org/drawingml/2006/table">
            <a:tbl>
              <a:tblPr/>
              <a:tblGrid>
                <a:gridCol w="1371600">
                  <a:extLst>
                    <a:ext uri="{9D8B030D-6E8A-4147-A177-3AD203B41FA5}">
                      <a16:colId xmlns:a16="http://schemas.microsoft.com/office/drawing/2014/main" val="500255781"/>
                    </a:ext>
                  </a:extLst>
                </a:gridCol>
              </a:tblGrid>
              <a:tr h="200025">
                <a:tc>
                  <a:txBody>
                    <a:bodyPr/>
                    <a:lstStyle/>
                    <a:p>
                      <a:pPr algn="l" fontAlgn="b"/>
                      <a:r>
                        <a:rPr lang="de-AT" sz="1100" b="0" i="0" u="none" strike="noStrike" dirty="0">
                          <a:solidFill>
                            <a:schemeClr val="bg1"/>
                          </a:solidFill>
                          <a:effectLst/>
                          <a:latin typeface="Calibri" panose="020F0502020204030204" pitchFamily="34" charset="0"/>
                        </a:rPr>
                        <a:t>▶️ - Überblick</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E1320F"/>
                    </a:solidFill>
                  </a:tcPr>
                </a:tc>
                <a:extLst>
                  <a:ext uri="{0D108BD9-81ED-4DB2-BD59-A6C34878D82A}">
                    <a16:rowId xmlns:a16="http://schemas.microsoft.com/office/drawing/2014/main" val="3949978044"/>
                  </a:ext>
                </a:extLst>
              </a:tr>
              <a:tr h="200025">
                <a:tc>
                  <a:txBody>
                    <a:bodyPr/>
                    <a:lstStyle/>
                    <a:p>
                      <a:pPr algn="l" fontAlgn="b"/>
                      <a:r>
                        <a:rPr lang="de-AT" sz="1100" b="0" i="0" u="none" strike="noStrike" dirty="0">
                          <a:solidFill>
                            <a:schemeClr val="bg1"/>
                          </a:solidFill>
                          <a:effectLst/>
                          <a:latin typeface="Calibri" panose="020F0502020204030204" pitchFamily="34" charset="0"/>
                        </a:rPr>
                        <a:t>🏙️ - Quartier</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962586539"/>
                  </a:ext>
                </a:extLst>
              </a:tr>
              <a:tr h="200025">
                <a:tc>
                  <a:txBody>
                    <a:bodyPr/>
                    <a:lstStyle/>
                    <a:p>
                      <a:pPr algn="l" fontAlgn="b"/>
                      <a:r>
                        <a:rPr lang="de-AT" sz="1100" b="0" i="0" u="none" strike="noStrike" dirty="0">
                          <a:solidFill>
                            <a:schemeClr val="bg1"/>
                          </a:solidFill>
                          <a:effectLst/>
                          <a:latin typeface="Calibri" panose="020F0502020204030204" pitchFamily="34" charset="0"/>
                        </a:rPr>
                        <a:t>🌦️ - Wetter</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701A07"/>
                    </a:solidFill>
                  </a:tcPr>
                </a:tc>
                <a:extLst>
                  <a:ext uri="{0D108BD9-81ED-4DB2-BD59-A6C34878D82A}">
                    <a16:rowId xmlns:a16="http://schemas.microsoft.com/office/drawing/2014/main" val="782268380"/>
                  </a:ext>
                </a:extLst>
              </a:tr>
              <a:tr h="200025">
                <a:tc>
                  <a:txBody>
                    <a:bodyPr/>
                    <a:lstStyle/>
                    <a:p>
                      <a:pPr algn="l" fontAlgn="b"/>
                      <a:r>
                        <a:rPr lang="de-AT" sz="1100" b="0" i="0" u="none" strike="noStrike" dirty="0">
                          <a:solidFill>
                            <a:schemeClr val="bg1"/>
                          </a:solidFill>
                          <a:effectLst/>
                          <a:latin typeface="Calibri" panose="020F0502020204030204" pitchFamily="34" charset="0"/>
                        </a:rPr>
                        <a:t>🧱 - Bauphysik</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711577758"/>
                  </a:ext>
                </a:extLst>
              </a:tr>
              <a:tr h="200025">
                <a:tc>
                  <a:txBody>
                    <a:bodyPr/>
                    <a:lstStyle/>
                    <a:p>
                      <a:pPr algn="l" fontAlgn="b"/>
                      <a:r>
                        <a:rPr lang="de-AT" sz="1100" b="0" i="0" u="none" strike="noStrike" dirty="0">
                          <a:solidFill>
                            <a:schemeClr val="bg1"/>
                          </a:solidFill>
                          <a:effectLst/>
                          <a:latin typeface="Calibri" panose="020F0502020204030204" pitchFamily="34" charset="0"/>
                          <a:hlinkClick r:id="rId14" action="ppaction://hlinkfile">
                            <a:extLst>
                              <a:ext uri="{A12FA001-AC4F-418D-AE19-62706E023703}">
                                <ahyp:hlinkClr xmlns:ahyp="http://schemas.microsoft.com/office/drawing/2018/hyperlinkcolor" val="tx"/>
                              </a:ext>
                            </a:extLst>
                          </a:hlinkClick>
                        </a:rPr>
                        <a:t>🔥 H - Heizung</a:t>
                      </a:r>
                      <a:endParaRPr lang="de-AT" sz="1100" b="0" i="0" u="none" strike="noStrike" dirty="0">
                        <a:solidFill>
                          <a:schemeClr val="bg1"/>
                        </a:solidFill>
                        <a:effectLst/>
                        <a:latin typeface="Calibri" panose="020F0502020204030204" pitchFamily="34" charset="0"/>
                      </a:endParaRP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563742839"/>
                  </a:ext>
                </a:extLst>
              </a:tr>
              <a:tr h="200025">
                <a:tc>
                  <a:txBody>
                    <a:bodyPr/>
                    <a:lstStyle/>
                    <a:p>
                      <a:pPr algn="l" fontAlgn="b"/>
                      <a:r>
                        <a:rPr lang="de-AT" sz="1100" b="0" i="0" u="none" strike="noStrike" dirty="0">
                          <a:solidFill>
                            <a:schemeClr val="bg1"/>
                          </a:solidFill>
                          <a:effectLst/>
                          <a:latin typeface="Calibri" panose="020F0502020204030204" pitchFamily="34" charset="0"/>
                        </a:rPr>
                        <a:t>❄️K - Kühlung</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4003927275"/>
                  </a:ext>
                </a:extLst>
              </a:tr>
              <a:tr h="200025">
                <a:tc>
                  <a:txBody>
                    <a:bodyPr/>
                    <a:lstStyle/>
                    <a:p>
                      <a:pPr algn="l" fontAlgn="b"/>
                      <a:r>
                        <a:rPr lang="de-AT" sz="1100" b="0" i="0" u="none" strike="noStrike" dirty="0">
                          <a:solidFill>
                            <a:schemeClr val="bg1"/>
                          </a:solidFill>
                          <a:effectLst/>
                          <a:latin typeface="Calibri" panose="020F0502020204030204" pitchFamily="34" charset="0"/>
                        </a:rPr>
                        <a:t>💨L - Lüftung</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1840540032"/>
                  </a:ext>
                </a:extLst>
              </a:tr>
              <a:tr h="200025">
                <a:tc>
                  <a:txBody>
                    <a:bodyPr/>
                    <a:lstStyle/>
                    <a:p>
                      <a:pPr algn="l" fontAlgn="b"/>
                      <a:r>
                        <a:rPr lang="de-AT" sz="1100" b="0" i="0" u="none" strike="noStrike" dirty="0">
                          <a:solidFill>
                            <a:schemeClr val="bg1"/>
                          </a:solidFill>
                          <a:effectLst/>
                          <a:latin typeface="Calibri" panose="020F0502020204030204" pitchFamily="34" charset="0"/>
                          <a:hlinkClick r:id="rId15" action="ppaction://hlinkfile">
                            <a:extLst>
                              <a:ext uri="{A12FA001-AC4F-418D-AE19-62706E023703}">
                                <ahyp:hlinkClr xmlns:ahyp="http://schemas.microsoft.com/office/drawing/2018/hyperlinkcolor" val="tx"/>
                              </a:ext>
                            </a:extLst>
                          </a:hlinkClick>
                        </a:rPr>
                        <a:t>💧WW</a:t>
                      </a:r>
                      <a:endParaRPr lang="de-AT" sz="1100" b="0" i="0" u="none" strike="noStrike" dirty="0">
                        <a:solidFill>
                          <a:schemeClr val="bg1"/>
                        </a:solidFill>
                        <a:effectLst/>
                        <a:latin typeface="Calibri" panose="020F0502020204030204" pitchFamily="34" charset="0"/>
                      </a:endParaRP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87162039"/>
                  </a:ext>
                </a:extLst>
              </a:tr>
              <a:tr h="200025">
                <a:tc>
                  <a:txBody>
                    <a:bodyPr/>
                    <a:lstStyle/>
                    <a:p>
                      <a:pPr algn="l" fontAlgn="b"/>
                      <a:r>
                        <a:rPr lang="de-AT" sz="1100" b="0" i="0" u="none" strike="noStrike" dirty="0">
                          <a:solidFill>
                            <a:schemeClr val="bg1"/>
                          </a:solidFill>
                          <a:effectLst/>
                          <a:latin typeface="Calibri" panose="020F0502020204030204" pitchFamily="34" charset="0"/>
                          <a:hlinkClick r:id="rId16" action="ppaction://hlinkfile">
                            <a:extLst>
                              <a:ext uri="{A12FA001-AC4F-418D-AE19-62706E023703}">
                                <ahyp:hlinkClr xmlns:ahyp="http://schemas.microsoft.com/office/drawing/2018/hyperlinkcolor" val="tx"/>
                              </a:ext>
                            </a:extLst>
                          </a:hlinkClick>
                        </a:rPr>
                        <a:t>🌞PV</a:t>
                      </a:r>
                      <a:endParaRPr lang="de-AT" sz="1100" b="0" i="0" u="none" strike="noStrike" dirty="0">
                        <a:solidFill>
                          <a:schemeClr val="bg1"/>
                        </a:solidFill>
                        <a:effectLst/>
                        <a:latin typeface="Calibri" panose="020F0502020204030204" pitchFamily="34" charset="0"/>
                      </a:endParaRP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1768809343"/>
                  </a:ext>
                </a:extLst>
              </a:tr>
              <a:tr h="200025">
                <a:tc>
                  <a:txBody>
                    <a:bodyPr/>
                    <a:lstStyle/>
                    <a:p>
                      <a:pPr algn="l" fontAlgn="b"/>
                      <a:r>
                        <a:rPr lang="de-AT" sz="1100" b="0" i="0" u="none" strike="noStrike" dirty="0">
                          <a:solidFill>
                            <a:schemeClr val="bg1"/>
                          </a:solidFill>
                          <a:effectLst/>
                          <a:latin typeface="Calibri" panose="020F0502020204030204" pitchFamily="34" charset="0"/>
                        </a:rPr>
                        <a:t>Pvimport</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701A07"/>
                    </a:solidFill>
                  </a:tcPr>
                </a:tc>
                <a:extLst>
                  <a:ext uri="{0D108BD9-81ED-4DB2-BD59-A6C34878D82A}">
                    <a16:rowId xmlns:a16="http://schemas.microsoft.com/office/drawing/2014/main" val="2518223534"/>
                  </a:ext>
                </a:extLst>
              </a:tr>
              <a:tr h="200025">
                <a:tc>
                  <a:txBody>
                    <a:bodyPr/>
                    <a:lstStyle/>
                    <a:p>
                      <a:pPr algn="l" fontAlgn="b"/>
                      <a:r>
                        <a:rPr lang="de-AT" sz="1100" b="0" i="0" u="none" strike="noStrike" dirty="0">
                          <a:solidFill>
                            <a:schemeClr val="bg1"/>
                          </a:solidFill>
                          <a:effectLst/>
                          <a:latin typeface="Calibri" panose="020F0502020204030204" pitchFamily="34" charset="0"/>
                        </a:rPr>
                        <a:t>🔋 - Speicher</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A8260B"/>
                    </a:solidFill>
                  </a:tcPr>
                </a:tc>
                <a:extLst>
                  <a:ext uri="{0D108BD9-81ED-4DB2-BD59-A6C34878D82A}">
                    <a16:rowId xmlns:a16="http://schemas.microsoft.com/office/drawing/2014/main" val="2613528174"/>
                  </a:ext>
                </a:extLst>
              </a:tr>
              <a:tr h="200025">
                <a:tc>
                  <a:txBody>
                    <a:bodyPr/>
                    <a:lstStyle/>
                    <a:p>
                      <a:pPr algn="l" fontAlgn="b"/>
                      <a:r>
                        <a:rPr lang="de-AT" sz="1100" b="0" i="0" u="none" strike="noStrike" dirty="0">
                          <a:solidFill>
                            <a:schemeClr val="bg1"/>
                          </a:solidFill>
                          <a:effectLst/>
                          <a:latin typeface="Calibri" panose="020F0502020204030204" pitchFamily="34" charset="0"/>
                        </a:rPr>
                        <a:t>🚗 Mobilität</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F59C00"/>
                    </a:solidFill>
                  </a:tcPr>
                </a:tc>
                <a:extLst>
                  <a:ext uri="{0D108BD9-81ED-4DB2-BD59-A6C34878D82A}">
                    <a16:rowId xmlns:a16="http://schemas.microsoft.com/office/drawing/2014/main" val="682356409"/>
                  </a:ext>
                </a:extLst>
              </a:tr>
              <a:tr h="200025">
                <a:tc>
                  <a:txBody>
                    <a:bodyPr/>
                    <a:lstStyle/>
                    <a:p>
                      <a:pPr algn="l" fontAlgn="b"/>
                      <a:r>
                        <a:rPr lang="de-AT" sz="1100" b="0" i="0" u="none" strike="noStrike" dirty="0">
                          <a:solidFill>
                            <a:schemeClr val="bg1"/>
                          </a:solidFill>
                          <a:effectLst/>
                          <a:latin typeface="Calibri" panose="020F0502020204030204" pitchFamily="34" charset="0"/>
                        </a:rPr>
                        <a:t>☁ Treibhauspotential</a:t>
                      </a:r>
                    </a:p>
                  </a:txBody>
                  <a:tcPr marL="0" marR="0" marT="0" marB="0" anchor="b">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3BACBE"/>
                    </a:solidFill>
                  </a:tcPr>
                </a:tc>
                <a:extLst>
                  <a:ext uri="{0D108BD9-81ED-4DB2-BD59-A6C34878D82A}">
                    <a16:rowId xmlns:a16="http://schemas.microsoft.com/office/drawing/2014/main" val="100884598"/>
                  </a:ext>
                </a:extLst>
              </a:tr>
            </a:tbl>
          </a:graphicData>
        </a:graphic>
      </p:graphicFrame>
      <p:graphicFrame>
        <p:nvGraphicFramePr>
          <p:cNvPr id="24" name="Tabelle 23">
            <a:extLst>
              <a:ext uri="{FF2B5EF4-FFF2-40B4-BE49-F238E27FC236}">
                <a16:creationId xmlns:a16="http://schemas.microsoft.com/office/drawing/2014/main" id="{52FE7FC3-CA9A-744F-C8A1-D5AB26C6F134}"/>
              </a:ext>
            </a:extLst>
          </p:cNvPr>
          <p:cNvGraphicFramePr>
            <a:graphicFrameLocks noGrp="1"/>
          </p:cNvGraphicFramePr>
          <p:nvPr/>
        </p:nvGraphicFramePr>
        <p:xfrm>
          <a:off x="2849574" y="5313460"/>
          <a:ext cx="1358900" cy="182902"/>
        </p:xfrm>
        <a:graphic>
          <a:graphicData uri="http://schemas.openxmlformats.org/drawingml/2006/table">
            <a:tbl>
              <a:tblPr/>
              <a:tblGrid>
                <a:gridCol w="1358900">
                  <a:extLst>
                    <a:ext uri="{9D8B030D-6E8A-4147-A177-3AD203B41FA5}">
                      <a16:colId xmlns:a16="http://schemas.microsoft.com/office/drawing/2014/main" val="500528592"/>
                    </a:ext>
                  </a:extLst>
                </a:gridCol>
              </a:tblGrid>
              <a:tr h="182902">
                <a:tc>
                  <a:txBody>
                    <a:bodyPr/>
                    <a:lstStyle/>
                    <a:p>
                      <a:pPr algn="l" fontAlgn="b"/>
                      <a:r>
                        <a:rPr lang="de-AT" sz="1100" b="0" i="0" u="none" strike="noStrike" dirty="0">
                          <a:solidFill>
                            <a:srgbClr val="FFFFFF"/>
                          </a:solidFill>
                          <a:effectLst/>
                          <a:latin typeface="Calibri" panose="020F0502020204030204" pitchFamily="34" charset="0"/>
                        </a:rPr>
                        <a:t>Defaultwerte</a:t>
                      </a:r>
                    </a:p>
                  </a:txBody>
                  <a:tcPr marL="0" marR="0" marT="0" marB="0" anchor="b">
                    <a:lnL>
                      <a:noFill/>
                    </a:lnL>
                    <a:lnR>
                      <a:noFill/>
                    </a:lnR>
                    <a:lnT>
                      <a:noFill/>
                    </a:lnT>
                    <a:lnB>
                      <a:noFill/>
                    </a:lnB>
                    <a:solidFill>
                      <a:srgbClr val="7030A0"/>
                    </a:solidFill>
                  </a:tcPr>
                </a:tc>
                <a:extLst>
                  <a:ext uri="{0D108BD9-81ED-4DB2-BD59-A6C34878D82A}">
                    <a16:rowId xmlns:a16="http://schemas.microsoft.com/office/drawing/2014/main" val="138574081"/>
                  </a:ext>
                </a:extLst>
              </a:tr>
            </a:tbl>
          </a:graphicData>
        </a:graphic>
      </p:graphicFrame>
      <p:graphicFrame>
        <p:nvGraphicFramePr>
          <p:cNvPr id="25" name="Tabelle 24">
            <a:extLst>
              <a:ext uri="{FF2B5EF4-FFF2-40B4-BE49-F238E27FC236}">
                <a16:creationId xmlns:a16="http://schemas.microsoft.com/office/drawing/2014/main" id="{5DACDB67-762E-588B-0B8A-F90B2DD3131D}"/>
              </a:ext>
            </a:extLst>
          </p:cNvPr>
          <p:cNvGraphicFramePr>
            <a:graphicFrameLocks noGrp="1"/>
          </p:cNvGraphicFramePr>
          <p:nvPr/>
        </p:nvGraphicFramePr>
        <p:xfrm>
          <a:off x="3662196" y="5657010"/>
          <a:ext cx="1833951" cy="560526"/>
        </p:xfrm>
        <a:graphic>
          <a:graphicData uri="http://schemas.openxmlformats.org/drawingml/2006/table">
            <a:tbl>
              <a:tblPr/>
              <a:tblGrid>
                <a:gridCol w="1833951">
                  <a:extLst>
                    <a:ext uri="{9D8B030D-6E8A-4147-A177-3AD203B41FA5}">
                      <a16:colId xmlns:a16="http://schemas.microsoft.com/office/drawing/2014/main" val="1172969578"/>
                    </a:ext>
                  </a:extLst>
                </a:gridCol>
              </a:tblGrid>
              <a:tr h="560526">
                <a:tc>
                  <a:txBody>
                    <a:bodyPr/>
                    <a:lstStyle/>
                    <a:p>
                      <a:pPr algn="ctr" fontAlgn="b"/>
                      <a:r>
                        <a:rPr lang="de-AT" sz="1100" b="0" i="0" u="none" strike="noStrike" dirty="0">
                          <a:solidFill>
                            <a:srgbClr val="FFFFFF"/>
                          </a:solidFill>
                          <a:effectLst/>
                          <a:latin typeface="Calibri" panose="020F0502020204030204" pitchFamily="34" charset="0"/>
                        </a:rPr>
                        <a:t>Input/Varianten Speicher</a:t>
                      </a:r>
                    </a:p>
                    <a:p>
                      <a:pPr algn="ctr" fontAlgn="b"/>
                      <a:r>
                        <a:rPr lang="de-AT" sz="1100" b="0" i="0" u="none" strike="noStrike" dirty="0">
                          <a:solidFill>
                            <a:srgbClr val="FFFFFF"/>
                          </a:solidFill>
                          <a:effectLst/>
                          <a:latin typeface="Calibri" panose="020F0502020204030204" pitchFamily="34" charset="0"/>
                        </a:rPr>
                        <a:t>Blatt „IN“</a:t>
                      </a:r>
                    </a:p>
                    <a:p>
                      <a:pPr algn="ctr" fontAlgn="b"/>
                      <a:r>
                        <a:rPr lang="de-AT" sz="1100" b="0" i="0" u="none" strike="noStrike" dirty="0">
                          <a:solidFill>
                            <a:srgbClr val="FFFFFF"/>
                          </a:solidFill>
                          <a:effectLst/>
                          <a:latin typeface="Calibri" panose="020F0502020204030204" pitchFamily="34" charset="0"/>
                        </a:rPr>
                        <a:t>~800 Variablen je Variante</a:t>
                      </a:r>
                    </a:p>
                  </a:txBody>
                  <a:tcPr marL="0" marR="0" marT="0" marB="0" anchor="b">
                    <a:lnL>
                      <a:noFill/>
                    </a:lnL>
                    <a:lnR>
                      <a:noFill/>
                    </a:lnR>
                    <a:lnT>
                      <a:noFill/>
                    </a:lnT>
                    <a:lnB>
                      <a:noFill/>
                    </a:lnB>
                    <a:solidFill>
                      <a:srgbClr val="000000"/>
                    </a:solidFill>
                  </a:tcPr>
                </a:tc>
                <a:extLst>
                  <a:ext uri="{0D108BD9-81ED-4DB2-BD59-A6C34878D82A}">
                    <a16:rowId xmlns:a16="http://schemas.microsoft.com/office/drawing/2014/main" val="486057827"/>
                  </a:ext>
                </a:extLst>
              </a:tr>
            </a:tbl>
          </a:graphicData>
        </a:graphic>
      </p:graphicFrame>
      <p:graphicFrame>
        <p:nvGraphicFramePr>
          <p:cNvPr id="26" name="Tabelle 25">
            <a:extLst>
              <a:ext uri="{FF2B5EF4-FFF2-40B4-BE49-F238E27FC236}">
                <a16:creationId xmlns:a16="http://schemas.microsoft.com/office/drawing/2014/main" id="{0C4663EF-317D-E246-18FF-BC2EC8338AFD}"/>
              </a:ext>
            </a:extLst>
          </p:cNvPr>
          <p:cNvGraphicFramePr>
            <a:graphicFrameLocks noGrp="1"/>
          </p:cNvGraphicFramePr>
          <p:nvPr/>
        </p:nvGraphicFramePr>
        <p:xfrm>
          <a:off x="4713437" y="4573805"/>
          <a:ext cx="1833951" cy="680794"/>
        </p:xfrm>
        <a:graphic>
          <a:graphicData uri="http://schemas.openxmlformats.org/drawingml/2006/table">
            <a:tbl>
              <a:tblPr/>
              <a:tblGrid>
                <a:gridCol w="1833951">
                  <a:extLst>
                    <a:ext uri="{9D8B030D-6E8A-4147-A177-3AD203B41FA5}">
                      <a16:colId xmlns:a16="http://schemas.microsoft.com/office/drawing/2014/main" val="1172969578"/>
                    </a:ext>
                  </a:extLst>
                </a:gridCol>
              </a:tblGrid>
              <a:tr h="680794">
                <a:tc>
                  <a:txBody>
                    <a:bodyPr/>
                    <a:lstStyle/>
                    <a:p>
                      <a:pPr algn="ctr" fontAlgn="b"/>
                      <a:r>
                        <a:rPr lang="de-AT" sz="1100" b="0" i="0" u="none" strike="noStrike" dirty="0">
                          <a:solidFill>
                            <a:srgbClr val="FFFFFF"/>
                          </a:solidFill>
                          <a:effectLst/>
                          <a:latin typeface="Calibri" panose="020F0502020204030204" pitchFamily="34" charset="0"/>
                        </a:rPr>
                        <a:t>Simulation (8760h)</a:t>
                      </a:r>
                    </a:p>
                    <a:p>
                      <a:pPr algn="ctr" fontAlgn="b"/>
                      <a:r>
                        <a:rPr lang="de-AT" sz="1100" b="0" i="0" u="none" strike="noStrike" dirty="0">
                          <a:solidFill>
                            <a:srgbClr val="FFFFFF"/>
                          </a:solidFill>
                          <a:effectLst/>
                          <a:latin typeface="Calibri" panose="020F0502020204030204" pitchFamily="34" charset="0"/>
                        </a:rPr>
                        <a:t>Blatt „SIM2“</a:t>
                      </a:r>
                    </a:p>
                    <a:p>
                      <a:pPr algn="ctr" fontAlgn="b"/>
                      <a:r>
                        <a:rPr lang="de-AT" sz="1100" b="0" i="0" u="none" strike="noStrike" dirty="0">
                          <a:solidFill>
                            <a:srgbClr val="FFFFFF"/>
                          </a:solidFill>
                          <a:effectLst/>
                          <a:latin typeface="Calibri" panose="020F0502020204030204" pitchFamily="34" charset="0"/>
                        </a:rPr>
                        <a:t>330 Zeitreihen</a:t>
                      </a:r>
                    </a:p>
                    <a:p>
                      <a:pPr algn="ctr" fontAlgn="b"/>
                      <a:r>
                        <a:rPr lang="de-AT" sz="1100" b="0" i="0" u="none" strike="noStrike" dirty="0">
                          <a:solidFill>
                            <a:srgbClr val="FFFFFF"/>
                          </a:solidFill>
                          <a:effectLst/>
                          <a:latin typeface="Calibri" panose="020F0502020204030204" pitchFamily="34" charset="0"/>
                        </a:rPr>
                        <a:t>2-Zonen Modell</a:t>
                      </a:r>
                    </a:p>
                  </a:txBody>
                  <a:tcPr marL="0" marR="0" marT="0" marB="0" anchor="b">
                    <a:lnL>
                      <a:noFill/>
                    </a:lnL>
                    <a:lnR>
                      <a:noFill/>
                    </a:lnR>
                    <a:lnT>
                      <a:noFill/>
                    </a:lnT>
                    <a:lnB>
                      <a:noFill/>
                    </a:lnB>
                    <a:solidFill>
                      <a:srgbClr val="00B050"/>
                    </a:solidFill>
                  </a:tcPr>
                </a:tc>
                <a:extLst>
                  <a:ext uri="{0D108BD9-81ED-4DB2-BD59-A6C34878D82A}">
                    <a16:rowId xmlns:a16="http://schemas.microsoft.com/office/drawing/2014/main" val="486057827"/>
                  </a:ext>
                </a:extLst>
              </a:tr>
            </a:tbl>
          </a:graphicData>
        </a:graphic>
      </p:graphicFrame>
      <p:grpSp>
        <p:nvGrpSpPr>
          <p:cNvPr id="27" name="Gruppieren 26">
            <a:extLst>
              <a:ext uri="{FF2B5EF4-FFF2-40B4-BE49-F238E27FC236}">
                <a16:creationId xmlns:a16="http://schemas.microsoft.com/office/drawing/2014/main" id="{0B253189-35FE-975A-FA9A-F81660767FCD}"/>
              </a:ext>
            </a:extLst>
          </p:cNvPr>
          <p:cNvGrpSpPr/>
          <p:nvPr/>
        </p:nvGrpSpPr>
        <p:grpSpPr>
          <a:xfrm>
            <a:off x="4254124" y="2669690"/>
            <a:ext cx="325047" cy="2987321"/>
            <a:chOff x="4254123" y="2669689"/>
            <a:chExt cx="325047" cy="2987321"/>
          </a:xfrm>
        </p:grpSpPr>
        <p:cxnSp>
          <p:nvCxnSpPr>
            <p:cNvPr id="28" name="Verbinder: gekrümmt 27">
              <a:extLst>
                <a:ext uri="{FF2B5EF4-FFF2-40B4-BE49-F238E27FC236}">
                  <a16:creationId xmlns:a16="http://schemas.microsoft.com/office/drawing/2014/main" id="{9EED95D4-C7FB-9C06-DD63-464213066C07}"/>
                </a:ext>
              </a:extLst>
            </p:cNvPr>
            <p:cNvCxnSpPr>
              <a:cxnSpLocks/>
              <a:stCxn id="6" idx="3"/>
              <a:endCxn id="25" idx="0"/>
            </p:cNvCxnSpPr>
            <p:nvPr/>
          </p:nvCxnSpPr>
          <p:spPr>
            <a:xfrm>
              <a:off x="4254123" y="2669689"/>
              <a:ext cx="325047" cy="2987321"/>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Verbinder: gekrümmt 28">
              <a:extLst>
                <a:ext uri="{FF2B5EF4-FFF2-40B4-BE49-F238E27FC236}">
                  <a16:creationId xmlns:a16="http://schemas.microsoft.com/office/drawing/2014/main" id="{1D485378-8F99-455A-AFD7-09409A31C11E}"/>
                </a:ext>
              </a:extLst>
            </p:cNvPr>
            <p:cNvCxnSpPr>
              <a:cxnSpLocks/>
              <a:stCxn id="7" idx="3"/>
              <a:endCxn id="25" idx="0"/>
            </p:cNvCxnSpPr>
            <p:nvPr/>
          </p:nvCxnSpPr>
          <p:spPr>
            <a:xfrm>
              <a:off x="4254123" y="2884747"/>
              <a:ext cx="325047" cy="2772263"/>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Verbinder: gekrümmt 29">
              <a:extLst>
                <a:ext uri="{FF2B5EF4-FFF2-40B4-BE49-F238E27FC236}">
                  <a16:creationId xmlns:a16="http://schemas.microsoft.com/office/drawing/2014/main" id="{281ADA6E-2E4A-43BB-789D-09089BFDB93B}"/>
                </a:ext>
              </a:extLst>
            </p:cNvPr>
            <p:cNvCxnSpPr>
              <a:cxnSpLocks/>
              <a:stCxn id="8" idx="3"/>
              <a:endCxn id="25" idx="0"/>
            </p:cNvCxnSpPr>
            <p:nvPr/>
          </p:nvCxnSpPr>
          <p:spPr>
            <a:xfrm>
              <a:off x="4254123" y="3099805"/>
              <a:ext cx="325047" cy="2557205"/>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Verbinder: gekrümmt 30">
              <a:extLst>
                <a:ext uri="{FF2B5EF4-FFF2-40B4-BE49-F238E27FC236}">
                  <a16:creationId xmlns:a16="http://schemas.microsoft.com/office/drawing/2014/main" id="{2F635423-6081-A128-C04D-377A09306BCC}"/>
                </a:ext>
              </a:extLst>
            </p:cNvPr>
            <p:cNvCxnSpPr>
              <a:cxnSpLocks/>
              <a:stCxn id="9" idx="3"/>
              <a:endCxn id="25" idx="0"/>
            </p:cNvCxnSpPr>
            <p:nvPr/>
          </p:nvCxnSpPr>
          <p:spPr>
            <a:xfrm>
              <a:off x="4254123" y="3314863"/>
              <a:ext cx="325047" cy="2342147"/>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Verbinder: gekrümmt 31">
              <a:extLst>
                <a:ext uri="{FF2B5EF4-FFF2-40B4-BE49-F238E27FC236}">
                  <a16:creationId xmlns:a16="http://schemas.microsoft.com/office/drawing/2014/main" id="{3C8C9E66-277F-1A31-8ACD-233739B4AFF1}"/>
                </a:ext>
              </a:extLst>
            </p:cNvPr>
            <p:cNvCxnSpPr>
              <a:cxnSpLocks/>
              <a:stCxn id="10" idx="3"/>
              <a:endCxn id="25" idx="0"/>
            </p:cNvCxnSpPr>
            <p:nvPr/>
          </p:nvCxnSpPr>
          <p:spPr>
            <a:xfrm>
              <a:off x="4254123" y="3529921"/>
              <a:ext cx="325047" cy="212708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Verbinder: gekrümmt 32">
              <a:extLst>
                <a:ext uri="{FF2B5EF4-FFF2-40B4-BE49-F238E27FC236}">
                  <a16:creationId xmlns:a16="http://schemas.microsoft.com/office/drawing/2014/main" id="{235D517B-DFB8-13BA-FE2D-2B92D301F4D6}"/>
                </a:ext>
              </a:extLst>
            </p:cNvPr>
            <p:cNvCxnSpPr>
              <a:cxnSpLocks/>
              <a:stCxn id="11" idx="3"/>
              <a:endCxn id="25" idx="0"/>
            </p:cNvCxnSpPr>
            <p:nvPr/>
          </p:nvCxnSpPr>
          <p:spPr>
            <a:xfrm>
              <a:off x="4254123" y="3744979"/>
              <a:ext cx="325047" cy="1912031"/>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Verbinder: gekrümmt 33">
              <a:extLst>
                <a:ext uri="{FF2B5EF4-FFF2-40B4-BE49-F238E27FC236}">
                  <a16:creationId xmlns:a16="http://schemas.microsoft.com/office/drawing/2014/main" id="{37503370-BD85-4442-8FE8-4EDADEF9060A}"/>
                </a:ext>
              </a:extLst>
            </p:cNvPr>
            <p:cNvCxnSpPr>
              <a:cxnSpLocks/>
              <a:stCxn id="12" idx="3"/>
              <a:endCxn id="25" idx="0"/>
            </p:cNvCxnSpPr>
            <p:nvPr/>
          </p:nvCxnSpPr>
          <p:spPr>
            <a:xfrm>
              <a:off x="4254123" y="3960037"/>
              <a:ext cx="325047" cy="1696973"/>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Verbinder: gekrümmt 34">
              <a:extLst>
                <a:ext uri="{FF2B5EF4-FFF2-40B4-BE49-F238E27FC236}">
                  <a16:creationId xmlns:a16="http://schemas.microsoft.com/office/drawing/2014/main" id="{29D36F87-6387-43B4-A588-11F68D3E3B37}"/>
                </a:ext>
              </a:extLst>
            </p:cNvPr>
            <p:cNvCxnSpPr>
              <a:cxnSpLocks/>
              <a:stCxn id="13" idx="3"/>
              <a:endCxn id="25" idx="0"/>
            </p:cNvCxnSpPr>
            <p:nvPr/>
          </p:nvCxnSpPr>
          <p:spPr>
            <a:xfrm>
              <a:off x="4254123" y="4175095"/>
              <a:ext cx="325047" cy="1481915"/>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Verbinder: gekrümmt 35">
              <a:extLst>
                <a:ext uri="{FF2B5EF4-FFF2-40B4-BE49-F238E27FC236}">
                  <a16:creationId xmlns:a16="http://schemas.microsoft.com/office/drawing/2014/main" id="{5915D5B8-C536-EB36-6D69-96EC96D9AA19}"/>
                </a:ext>
              </a:extLst>
            </p:cNvPr>
            <p:cNvCxnSpPr>
              <a:cxnSpLocks/>
              <a:stCxn id="14" idx="3"/>
              <a:endCxn id="25" idx="0"/>
            </p:cNvCxnSpPr>
            <p:nvPr/>
          </p:nvCxnSpPr>
          <p:spPr>
            <a:xfrm>
              <a:off x="4254123" y="4390153"/>
              <a:ext cx="325047" cy="1266857"/>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Verbinder: gekrümmt 36">
              <a:extLst>
                <a:ext uri="{FF2B5EF4-FFF2-40B4-BE49-F238E27FC236}">
                  <a16:creationId xmlns:a16="http://schemas.microsoft.com/office/drawing/2014/main" id="{A1E3104A-58B0-2199-AE54-B650BD3DB0DC}"/>
                </a:ext>
              </a:extLst>
            </p:cNvPr>
            <p:cNvCxnSpPr>
              <a:cxnSpLocks/>
              <a:stCxn id="15" idx="3"/>
              <a:endCxn id="25" idx="0"/>
            </p:cNvCxnSpPr>
            <p:nvPr/>
          </p:nvCxnSpPr>
          <p:spPr>
            <a:xfrm>
              <a:off x="4254123" y="4605211"/>
              <a:ext cx="325047" cy="105179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Verbinder: gekrümmt 37">
              <a:extLst>
                <a:ext uri="{FF2B5EF4-FFF2-40B4-BE49-F238E27FC236}">
                  <a16:creationId xmlns:a16="http://schemas.microsoft.com/office/drawing/2014/main" id="{3160967B-A127-4C52-3183-4243ED614526}"/>
                </a:ext>
              </a:extLst>
            </p:cNvPr>
            <p:cNvCxnSpPr>
              <a:cxnSpLocks/>
              <a:stCxn id="16" idx="3"/>
              <a:endCxn id="25" idx="0"/>
            </p:cNvCxnSpPr>
            <p:nvPr/>
          </p:nvCxnSpPr>
          <p:spPr>
            <a:xfrm>
              <a:off x="4254123" y="4820269"/>
              <a:ext cx="325047" cy="836741"/>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Verbinder: gekrümmt 38">
              <a:extLst>
                <a:ext uri="{FF2B5EF4-FFF2-40B4-BE49-F238E27FC236}">
                  <a16:creationId xmlns:a16="http://schemas.microsoft.com/office/drawing/2014/main" id="{40460B6D-C650-C60D-9657-A7F2215F9200}"/>
                </a:ext>
              </a:extLst>
            </p:cNvPr>
            <p:cNvCxnSpPr>
              <a:cxnSpLocks/>
              <a:stCxn id="17" idx="3"/>
              <a:endCxn id="25" idx="0"/>
            </p:cNvCxnSpPr>
            <p:nvPr/>
          </p:nvCxnSpPr>
          <p:spPr>
            <a:xfrm>
              <a:off x="4254123" y="5035324"/>
              <a:ext cx="325047" cy="621686"/>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0" name="Verbinder: gekrümmt 39">
            <a:extLst>
              <a:ext uri="{FF2B5EF4-FFF2-40B4-BE49-F238E27FC236}">
                <a16:creationId xmlns:a16="http://schemas.microsoft.com/office/drawing/2014/main" id="{DB9C2449-4408-3F1B-88E5-4950A69A5D99}"/>
              </a:ext>
            </a:extLst>
          </p:cNvPr>
          <p:cNvCxnSpPr>
            <a:cxnSpLocks/>
            <a:stCxn id="24" idx="3"/>
            <a:endCxn id="25" idx="0"/>
          </p:cNvCxnSpPr>
          <p:nvPr/>
        </p:nvCxnSpPr>
        <p:spPr>
          <a:xfrm>
            <a:off x="4208474" y="5404912"/>
            <a:ext cx="370696" cy="252099"/>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Verbinder: gekrümmt 40">
            <a:extLst>
              <a:ext uri="{FF2B5EF4-FFF2-40B4-BE49-F238E27FC236}">
                <a16:creationId xmlns:a16="http://schemas.microsoft.com/office/drawing/2014/main" id="{4A714E14-C89E-CF4E-67CE-9A4A848944D6}"/>
              </a:ext>
            </a:extLst>
          </p:cNvPr>
          <p:cNvCxnSpPr>
            <a:cxnSpLocks/>
            <a:stCxn id="25" idx="3"/>
            <a:endCxn id="26" idx="2"/>
          </p:cNvCxnSpPr>
          <p:nvPr/>
        </p:nvCxnSpPr>
        <p:spPr>
          <a:xfrm flipV="1">
            <a:off x="5496147" y="5254599"/>
            <a:ext cx="134265" cy="682674"/>
          </a:xfrm>
          <a:prstGeom prst="curved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2" name="Tabelle 41">
            <a:extLst>
              <a:ext uri="{FF2B5EF4-FFF2-40B4-BE49-F238E27FC236}">
                <a16:creationId xmlns:a16="http://schemas.microsoft.com/office/drawing/2014/main" id="{60C6B31C-BF80-D025-4840-D50C6BBD7C31}"/>
              </a:ext>
            </a:extLst>
          </p:cNvPr>
          <p:cNvGraphicFramePr>
            <a:graphicFrameLocks noGrp="1"/>
          </p:cNvGraphicFramePr>
          <p:nvPr/>
        </p:nvGraphicFramePr>
        <p:xfrm>
          <a:off x="4713437" y="3970531"/>
          <a:ext cx="1833951" cy="510596"/>
        </p:xfrm>
        <a:graphic>
          <a:graphicData uri="http://schemas.openxmlformats.org/drawingml/2006/table">
            <a:tbl>
              <a:tblPr/>
              <a:tblGrid>
                <a:gridCol w="1833951">
                  <a:extLst>
                    <a:ext uri="{9D8B030D-6E8A-4147-A177-3AD203B41FA5}">
                      <a16:colId xmlns:a16="http://schemas.microsoft.com/office/drawing/2014/main" val="1172969578"/>
                    </a:ext>
                  </a:extLst>
                </a:gridCol>
              </a:tblGrid>
              <a:tr h="510596">
                <a:tc>
                  <a:txBody>
                    <a:bodyPr/>
                    <a:lstStyle/>
                    <a:p>
                      <a:pPr algn="ctr" fontAlgn="b"/>
                      <a:r>
                        <a:rPr lang="de-AT" sz="1100" b="0" i="0" u="none" strike="noStrike" dirty="0">
                          <a:solidFill>
                            <a:srgbClr val="FFFFFF"/>
                          </a:solidFill>
                          <a:effectLst/>
                          <a:latin typeface="Calibri" panose="020F0502020204030204" pitchFamily="34" charset="0"/>
                        </a:rPr>
                        <a:t>Ergebnisse: Blatt „OUT“</a:t>
                      </a:r>
                    </a:p>
                    <a:p>
                      <a:pPr algn="ctr" fontAlgn="b"/>
                      <a:r>
                        <a:rPr lang="de-AT" sz="1100" b="0" i="0" u="none" strike="noStrike" dirty="0">
                          <a:solidFill>
                            <a:srgbClr val="FFFFFF"/>
                          </a:solidFill>
                          <a:effectLst/>
                          <a:latin typeface="Calibri" panose="020F0502020204030204" pitchFamily="34" charset="0"/>
                        </a:rPr>
                        <a:t>~300 Ergebnisse</a:t>
                      </a:r>
                    </a:p>
                    <a:p>
                      <a:pPr marL="0" marR="0" lvl="0" indent="0" algn="ctr" defTabSz="914400" eaLnBrk="1" fontAlgn="b" latinLnBrk="0" hangingPunct="1">
                        <a:lnSpc>
                          <a:spcPct val="100000"/>
                        </a:lnSpc>
                        <a:spcBef>
                          <a:spcPts val="0"/>
                        </a:spcBef>
                        <a:spcAft>
                          <a:spcPts val="0"/>
                        </a:spcAft>
                        <a:buClrTx/>
                        <a:buSzTx/>
                        <a:buFontTx/>
                        <a:buNone/>
                        <a:tabLst/>
                        <a:defRPr/>
                      </a:pPr>
                      <a:r>
                        <a:rPr lang="de-AT" sz="1100" b="0" i="0" u="none" strike="noStrike" dirty="0">
                          <a:solidFill>
                            <a:srgbClr val="FFFFFF"/>
                          </a:solidFill>
                          <a:effectLst/>
                          <a:latin typeface="Calibri" panose="020F0502020204030204" pitchFamily="34" charset="0"/>
                        </a:rPr>
                        <a:t>je Variante / Szenario</a:t>
                      </a:r>
                    </a:p>
                  </a:txBody>
                  <a:tcPr marL="0" marR="0" marT="0" marB="0" anchor="b">
                    <a:lnL>
                      <a:noFill/>
                    </a:lnL>
                    <a:lnR>
                      <a:noFill/>
                    </a:lnR>
                    <a:lnT>
                      <a:noFill/>
                    </a:lnT>
                    <a:lnB>
                      <a:noFill/>
                    </a:lnB>
                    <a:solidFill>
                      <a:srgbClr val="000000"/>
                    </a:solidFill>
                  </a:tcPr>
                </a:tc>
                <a:extLst>
                  <a:ext uri="{0D108BD9-81ED-4DB2-BD59-A6C34878D82A}">
                    <a16:rowId xmlns:a16="http://schemas.microsoft.com/office/drawing/2014/main" val="486057827"/>
                  </a:ext>
                </a:extLst>
              </a:tr>
            </a:tbl>
          </a:graphicData>
        </a:graphic>
      </p:graphicFrame>
      <p:cxnSp>
        <p:nvCxnSpPr>
          <p:cNvPr id="45" name="Verbinder: gekrümmt 44">
            <a:extLst>
              <a:ext uri="{FF2B5EF4-FFF2-40B4-BE49-F238E27FC236}">
                <a16:creationId xmlns:a16="http://schemas.microsoft.com/office/drawing/2014/main" id="{14402A24-80C1-3ADA-0A7B-FAEDA75D7229}"/>
              </a:ext>
            </a:extLst>
          </p:cNvPr>
          <p:cNvCxnSpPr>
            <a:cxnSpLocks/>
            <a:stCxn id="26" idx="0"/>
            <a:endCxn id="42" idx="2"/>
          </p:cNvCxnSpPr>
          <p:nvPr/>
        </p:nvCxnSpPr>
        <p:spPr>
          <a:xfrm rot="5400000" flipH="1" flipV="1">
            <a:off x="5584073" y="4527466"/>
            <a:ext cx="92678" cy="12700"/>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Verbinder: gekrümmt 45">
            <a:extLst>
              <a:ext uri="{FF2B5EF4-FFF2-40B4-BE49-F238E27FC236}">
                <a16:creationId xmlns:a16="http://schemas.microsoft.com/office/drawing/2014/main" id="{3F8DF9D1-0AF9-6CDB-8F5C-D2427088D0D1}"/>
              </a:ext>
            </a:extLst>
          </p:cNvPr>
          <p:cNvCxnSpPr>
            <a:cxnSpLocks/>
            <a:stCxn id="42" idx="0"/>
            <a:endCxn id="21" idx="2"/>
          </p:cNvCxnSpPr>
          <p:nvPr/>
        </p:nvCxnSpPr>
        <p:spPr>
          <a:xfrm rot="5400000" flipH="1" flipV="1">
            <a:off x="5226427" y="3551824"/>
            <a:ext cx="822692" cy="14723"/>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Verbinder: gekrümmt 46">
            <a:extLst>
              <a:ext uri="{FF2B5EF4-FFF2-40B4-BE49-F238E27FC236}">
                <a16:creationId xmlns:a16="http://schemas.microsoft.com/office/drawing/2014/main" id="{9B205F90-A085-7103-5D94-52A13633EBCC}"/>
              </a:ext>
            </a:extLst>
          </p:cNvPr>
          <p:cNvCxnSpPr>
            <a:cxnSpLocks/>
            <a:stCxn id="42" idx="0"/>
            <a:endCxn id="20" idx="2"/>
          </p:cNvCxnSpPr>
          <p:nvPr/>
        </p:nvCxnSpPr>
        <p:spPr>
          <a:xfrm rot="5400000" flipH="1" flipV="1">
            <a:off x="5087840" y="3413235"/>
            <a:ext cx="1099869" cy="14724"/>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Verbinder: gekrümmt 47">
            <a:extLst>
              <a:ext uri="{FF2B5EF4-FFF2-40B4-BE49-F238E27FC236}">
                <a16:creationId xmlns:a16="http://schemas.microsoft.com/office/drawing/2014/main" id="{B4FC6551-A4B2-9E1F-7D38-C63807382C51}"/>
              </a:ext>
            </a:extLst>
          </p:cNvPr>
          <p:cNvCxnSpPr>
            <a:cxnSpLocks/>
            <a:stCxn id="42" idx="0"/>
            <a:endCxn id="22" idx="2"/>
          </p:cNvCxnSpPr>
          <p:nvPr/>
        </p:nvCxnSpPr>
        <p:spPr>
          <a:xfrm rot="5400000" flipH="1" flipV="1">
            <a:off x="5572135" y="3907056"/>
            <a:ext cx="121753" cy="5198"/>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7" name="Tabelle 236">
            <a:extLst>
              <a:ext uri="{FF2B5EF4-FFF2-40B4-BE49-F238E27FC236}">
                <a16:creationId xmlns:a16="http://schemas.microsoft.com/office/drawing/2014/main" id="{EBCDFF6E-1AF7-EAD7-021F-A1E70735C34B}"/>
              </a:ext>
            </a:extLst>
          </p:cNvPr>
          <p:cNvGraphicFramePr>
            <a:graphicFrameLocks noGrp="1"/>
          </p:cNvGraphicFramePr>
          <p:nvPr/>
        </p:nvGraphicFramePr>
        <p:xfrm>
          <a:off x="7086148" y="6152496"/>
          <a:ext cx="1833951" cy="415523"/>
        </p:xfrm>
        <a:graphic>
          <a:graphicData uri="http://schemas.openxmlformats.org/drawingml/2006/table">
            <a:tbl>
              <a:tblPr/>
              <a:tblGrid>
                <a:gridCol w="1833951">
                  <a:extLst>
                    <a:ext uri="{9D8B030D-6E8A-4147-A177-3AD203B41FA5}">
                      <a16:colId xmlns:a16="http://schemas.microsoft.com/office/drawing/2014/main" val="1172969578"/>
                    </a:ext>
                  </a:extLst>
                </a:gridCol>
              </a:tblGrid>
              <a:tr h="415523">
                <a:tc>
                  <a:txBody>
                    <a:bodyPr/>
                    <a:lstStyle/>
                    <a:p>
                      <a:pPr algn="ctr" fontAlgn="b"/>
                      <a:r>
                        <a:rPr lang="de-DE" sz="1100" b="0" i="0" u="none" strike="noStrike" dirty="0">
                          <a:solidFill>
                            <a:srgbClr val="FFFFFF"/>
                          </a:solidFill>
                          <a:effectLst/>
                          <a:latin typeface="Calibri" panose="020F0502020204030204" pitchFamily="34" charset="0"/>
                        </a:rPr>
                        <a:t>💾</a:t>
                      </a:r>
                      <a:r>
                        <a:rPr lang="de-AT" sz="1100" b="0" i="0" u="none" strike="noStrike" dirty="0">
                          <a:solidFill>
                            <a:srgbClr val="FFFFFF"/>
                          </a:solidFill>
                          <a:effectLst/>
                          <a:latin typeface="Calibri" panose="020F0502020204030204" pitchFamily="34" charset="0"/>
                        </a:rPr>
                        <a:t>Projekt-Export.xlsx</a:t>
                      </a:r>
                    </a:p>
                    <a:p>
                      <a:pPr algn="ctr" fontAlgn="b"/>
                      <a:r>
                        <a:rPr lang="de-AT" sz="1100" b="0" i="0" u="none" strike="noStrike" dirty="0">
                          <a:solidFill>
                            <a:srgbClr val="FFFFFF"/>
                          </a:solidFill>
                          <a:effectLst/>
                          <a:latin typeface="Calibri" panose="020F0502020204030204" pitchFamily="34" charset="0"/>
                        </a:rPr>
                        <a:t>&lt;1MB pro Projekt</a:t>
                      </a:r>
                    </a:p>
                  </a:txBody>
                  <a:tcPr marL="0" marR="0" marT="0" marB="0" anchor="b">
                    <a:lnL>
                      <a:noFill/>
                    </a:lnL>
                    <a:lnR>
                      <a:noFill/>
                    </a:lnR>
                    <a:lnT>
                      <a:noFill/>
                    </a:lnT>
                    <a:lnB>
                      <a:noFill/>
                    </a:lnB>
                    <a:solidFill>
                      <a:srgbClr val="00B050"/>
                    </a:solidFill>
                  </a:tcPr>
                </a:tc>
                <a:extLst>
                  <a:ext uri="{0D108BD9-81ED-4DB2-BD59-A6C34878D82A}">
                    <a16:rowId xmlns:a16="http://schemas.microsoft.com/office/drawing/2014/main" val="486057827"/>
                  </a:ext>
                </a:extLst>
              </a:tr>
            </a:tbl>
          </a:graphicData>
        </a:graphic>
      </p:graphicFrame>
      <p:cxnSp>
        <p:nvCxnSpPr>
          <p:cNvPr id="284" name="Verbinder: gekrümmt 283">
            <a:extLst>
              <a:ext uri="{FF2B5EF4-FFF2-40B4-BE49-F238E27FC236}">
                <a16:creationId xmlns:a16="http://schemas.microsoft.com/office/drawing/2014/main" id="{823B0C3C-A0FF-C649-6D59-F50C83199F8B}"/>
              </a:ext>
            </a:extLst>
          </p:cNvPr>
          <p:cNvCxnSpPr>
            <a:cxnSpLocks/>
            <a:stCxn id="25" idx="3"/>
            <a:endCxn id="237" idx="1"/>
          </p:cNvCxnSpPr>
          <p:nvPr/>
        </p:nvCxnSpPr>
        <p:spPr>
          <a:xfrm>
            <a:off x="5496147" y="5937274"/>
            <a:ext cx="1590001" cy="422983"/>
          </a:xfrm>
          <a:prstGeom prst="curvedConnector3">
            <a:avLst>
              <a:gd name="adj1" fmla="val 50000"/>
            </a:avLst>
          </a:prstGeom>
          <a:ln w="1905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graphicFrame>
        <p:nvGraphicFramePr>
          <p:cNvPr id="289" name="Tabelle 288">
            <a:extLst>
              <a:ext uri="{FF2B5EF4-FFF2-40B4-BE49-F238E27FC236}">
                <a16:creationId xmlns:a16="http://schemas.microsoft.com/office/drawing/2014/main" id="{A44DCF23-4AB8-B674-A16E-91DD7297D11D}"/>
              </a:ext>
            </a:extLst>
          </p:cNvPr>
          <p:cNvGraphicFramePr>
            <a:graphicFrameLocks noGrp="1"/>
          </p:cNvGraphicFramePr>
          <p:nvPr/>
        </p:nvGraphicFramePr>
        <p:xfrm>
          <a:off x="6272199" y="6067819"/>
          <a:ext cx="959670" cy="340397"/>
        </p:xfrm>
        <a:graphic>
          <a:graphicData uri="http://schemas.openxmlformats.org/drawingml/2006/table">
            <a:tbl>
              <a:tblPr/>
              <a:tblGrid>
                <a:gridCol w="959670">
                  <a:extLst>
                    <a:ext uri="{9D8B030D-6E8A-4147-A177-3AD203B41FA5}">
                      <a16:colId xmlns:a16="http://schemas.microsoft.com/office/drawing/2014/main" val="1172969578"/>
                    </a:ext>
                  </a:extLst>
                </a:gridCol>
              </a:tblGrid>
              <a:tr h="340397">
                <a:tc>
                  <a:txBody>
                    <a:bodyPr/>
                    <a:lstStyle/>
                    <a:p>
                      <a:pPr algn="ctr" fontAlgn="b"/>
                      <a:r>
                        <a:rPr lang="de-DE" sz="1100" b="0" i="0" u="none" strike="noStrike" dirty="0">
                          <a:solidFill>
                            <a:srgbClr val="FFFFFF"/>
                          </a:solidFill>
                          <a:effectLst/>
                          <a:latin typeface="Calibri" panose="020F0502020204030204" pitchFamily="34" charset="0"/>
                        </a:rPr>
                        <a:t>💾Speichern </a:t>
                      </a:r>
                    </a:p>
                    <a:p>
                      <a:pPr algn="ctr" fontAlgn="b"/>
                      <a:r>
                        <a:rPr lang="de-DE" sz="1100" b="0" i="0" u="none" strike="noStrike" dirty="0">
                          <a:solidFill>
                            <a:srgbClr val="FFFFFF"/>
                          </a:solidFill>
                          <a:effectLst/>
                          <a:latin typeface="Calibri" panose="020F0502020204030204" pitchFamily="34" charset="0"/>
                        </a:rPr>
                        <a:t>/ Laden</a:t>
                      </a:r>
                      <a:endParaRPr lang="de-AT" sz="1100" b="0" i="0" u="none" strike="noStrike" dirty="0">
                        <a:solidFill>
                          <a:srgbClr val="FFFFFF"/>
                        </a:solidFill>
                        <a:effectLst/>
                        <a:latin typeface="Calibri" panose="020F0502020204030204" pitchFamily="34" charset="0"/>
                      </a:endParaRPr>
                    </a:p>
                  </a:txBody>
                  <a:tcPr marL="0" marR="0" marT="0" marB="0" anchor="b">
                    <a:lnL>
                      <a:noFill/>
                    </a:lnL>
                    <a:lnR>
                      <a:noFill/>
                    </a:lnR>
                    <a:lnT>
                      <a:noFill/>
                    </a:lnT>
                    <a:lnB>
                      <a:noFill/>
                    </a:lnB>
                    <a:solidFill>
                      <a:schemeClr val="accent4"/>
                    </a:solidFill>
                  </a:tcPr>
                </a:tc>
                <a:extLst>
                  <a:ext uri="{0D108BD9-81ED-4DB2-BD59-A6C34878D82A}">
                    <a16:rowId xmlns:a16="http://schemas.microsoft.com/office/drawing/2014/main" val="486057827"/>
                  </a:ext>
                </a:extLst>
              </a:tr>
            </a:tbl>
          </a:graphicData>
        </a:graphic>
      </p:graphicFrame>
      <p:cxnSp>
        <p:nvCxnSpPr>
          <p:cNvPr id="304" name="Verbinder: gekrümmt 303">
            <a:extLst>
              <a:ext uri="{FF2B5EF4-FFF2-40B4-BE49-F238E27FC236}">
                <a16:creationId xmlns:a16="http://schemas.microsoft.com/office/drawing/2014/main" id="{4CB04A88-3F8D-12B2-CC5F-615A3FCE52D5}"/>
              </a:ext>
            </a:extLst>
          </p:cNvPr>
          <p:cNvCxnSpPr>
            <a:cxnSpLocks/>
            <a:stCxn id="21" idx="3"/>
            <a:endCxn id="303" idx="1"/>
          </p:cNvCxnSpPr>
          <p:nvPr/>
        </p:nvCxnSpPr>
        <p:spPr>
          <a:xfrm flipV="1">
            <a:off x="6340460" y="3034089"/>
            <a:ext cx="3152260" cy="4213"/>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308" name="Grafik 307" descr="Ein Bild, das Text, Screenshot, Software, Webseite enthält.&#10;&#10;KI-generierte Inhalte können fehlerhaft sein.">
            <a:extLst>
              <a:ext uri="{FF2B5EF4-FFF2-40B4-BE49-F238E27FC236}">
                <a16:creationId xmlns:a16="http://schemas.microsoft.com/office/drawing/2014/main" id="{65C38BAB-3259-4C7F-86A1-E2B47B460A03}"/>
              </a:ext>
            </a:extLst>
          </p:cNvPr>
          <p:cNvPicPr>
            <a:picLocks noChangeAspect="1"/>
          </p:cNvPicPr>
          <p:nvPr/>
        </p:nvPicPr>
        <p:blipFill>
          <a:blip r:embed="rId17"/>
          <a:stretch>
            <a:fillRect/>
          </a:stretch>
        </p:blipFill>
        <p:spPr>
          <a:xfrm>
            <a:off x="7344727" y="627142"/>
            <a:ext cx="3630631" cy="21981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03" name="Grafik 302" descr="Ein Bild, das Text, Screenshot, Software, Webseite enthält.&#10;&#10;KI-generierte Inhalte können fehlerhaft sein.">
            <a:extLst>
              <a:ext uri="{FF2B5EF4-FFF2-40B4-BE49-F238E27FC236}">
                <a16:creationId xmlns:a16="http://schemas.microsoft.com/office/drawing/2014/main" id="{8DA39843-C65B-D6FD-BFB1-3620E390AAAF}"/>
              </a:ext>
            </a:extLst>
          </p:cNvPr>
          <p:cNvPicPr>
            <a:picLocks noChangeAspect="1"/>
          </p:cNvPicPr>
          <p:nvPr/>
        </p:nvPicPr>
        <p:blipFill>
          <a:blip r:embed="rId18"/>
          <a:stretch>
            <a:fillRect/>
          </a:stretch>
        </p:blipFill>
        <p:spPr>
          <a:xfrm>
            <a:off x="9492720" y="2085875"/>
            <a:ext cx="2596531" cy="18964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310" name="Verbinder: gekrümmt 309">
            <a:extLst>
              <a:ext uri="{FF2B5EF4-FFF2-40B4-BE49-F238E27FC236}">
                <a16:creationId xmlns:a16="http://schemas.microsoft.com/office/drawing/2014/main" id="{0B1DEDB8-65E7-C5D0-0B52-01F2141D751C}"/>
              </a:ext>
            </a:extLst>
          </p:cNvPr>
          <p:cNvCxnSpPr>
            <a:cxnSpLocks/>
            <a:stCxn id="20" idx="3"/>
            <a:endCxn id="308" idx="1"/>
          </p:cNvCxnSpPr>
          <p:nvPr/>
        </p:nvCxnSpPr>
        <p:spPr>
          <a:xfrm flipV="1">
            <a:off x="6340462" y="1726232"/>
            <a:ext cx="1004265" cy="1034893"/>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4" name="Verbinder: gekrümmt 313">
            <a:extLst>
              <a:ext uri="{FF2B5EF4-FFF2-40B4-BE49-F238E27FC236}">
                <a16:creationId xmlns:a16="http://schemas.microsoft.com/office/drawing/2014/main" id="{121A9E7E-12F5-4F9E-59ED-10C1CFF9E750}"/>
              </a:ext>
            </a:extLst>
          </p:cNvPr>
          <p:cNvCxnSpPr>
            <a:cxnSpLocks/>
            <a:stCxn id="22" idx="3"/>
          </p:cNvCxnSpPr>
          <p:nvPr/>
        </p:nvCxnSpPr>
        <p:spPr>
          <a:xfrm>
            <a:off x="6321411" y="3548739"/>
            <a:ext cx="713023" cy="12700"/>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15" name="Verbinder: gekrümmt 314">
            <a:extLst>
              <a:ext uri="{FF2B5EF4-FFF2-40B4-BE49-F238E27FC236}">
                <a16:creationId xmlns:a16="http://schemas.microsoft.com/office/drawing/2014/main" id="{C4C6A6CC-1225-8AC1-692D-78301376189F}"/>
              </a:ext>
            </a:extLst>
          </p:cNvPr>
          <p:cNvCxnSpPr>
            <a:cxnSpLocks/>
            <a:endCxn id="331" idx="1"/>
          </p:cNvCxnSpPr>
          <p:nvPr/>
        </p:nvCxnSpPr>
        <p:spPr>
          <a:xfrm>
            <a:off x="6285785" y="3693355"/>
            <a:ext cx="3056666" cy="1607441"/>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317" name="Grafik 316" descr="Ein Bild, das Text, Screenshot, Software, Schrift enthält.&#10;&#10;KI-generierte Inhalte können fehlerhaft sein.">
            <a:extLst>
              <a:ext uri="{FF2B5EF4-FFF2-40B4-BE49-F238E27FC236}">
                <a16:creationId xmlns:a16="http://schemas.microsoft.com/office/drawing/2014/main" id="{AFD8E8B0-F4A1-A23B-DE26-A483FF9D5487}"/>
              </a:ext>
            </a:extLst>
          </p:cNvPr>
          <p:cNvPicPr>
            <a:picLocks noChangeAspect="1"/>
          </p:cNvPicPr>
          <p:nvPr/>
        </p:nvPicPr>
        <p:blipFill>
          <a:blip r:embed="rId19"/>
          <a:stretch>
            <a:fillRect/>
          </a:stretch>
        </p:blipFill>
        <p:spPr>
          <a:xfrm>
            <a:off x="7112330" y="3095621"/>
            <a:ext cx="2113516" cy="19467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31" name="Grafik 330" descr="Ein Bild, das Text, Screenshot, Diagramm, Software enthält.&#10;&#10;KI-generierte Inhalte können fehlerhaft sein.">
            <a:extLst>
              <a:ext uri="{FF2B5EF4-FFF2-40B4-BE49-F238E27FC236}">
                <a16:creationId xmlns:a16="http://schemas.microsoft.com/office/drawing/2014/main" id="{1AFDE6B2-3F3A-278B-062E-EB5D407B3205}"/>
              </a:ext>
            </a:extLst>
          </p:cNvPr>
          <p:cNvPicPr>
            <a:picLocks noChangeAspect="1"/>
          </p:cNvPicPr>
          <p:nvPr/>
        </p:nvPicPr>
        <p:blipFill>
          <a:blip r:embed="rId20"/>
          <a:stretch>
            <a:fillRect/>
          </a:stretch>
        </p:blipFill>
        <p:spPr>
          <a:xfrm>
            <a:off x="9342451" y="4165359"/>
            <a:ext cx="2780518" cy="22708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 name="Grafik 19">
            <a:extLst>
              <a:ext uri="{FF2B5EF4-FFF2-40B4-BE49-F238E27FC236}">
                <a16:creationId xmlns:a16="http://schemas.microsoft.com/office/drawing/2014/main" id="{561F3BF4-0E7A-F40B-CF53-EEFDAE63E2EA}"/>
              </a:ext>
            </a:extLst>
          </p:cNvPr>
          <p:cNvPicPr>
            <a:picLocks noChangeAspect="1"/>
          </p:cNvPicPr>
          <p:nvPr/>
        </p:nvPicPr>
        <p:blipFill>
          <a:blip r:embed="rId21"/>
          <a:stretch>
            <a:fillRect/>
          </a:stretch>
        </p:blipFill>
        <p:spPr>
          <a:xfrm>
            <a:off x="4949811" y="2651587"/>
            <a:ext cx="1390650" cy="219075"/>
          </a:xfrm>
          <a:prstGeom prst="rect">
            <a:avLst/>
          </a:prstGeom>
        </p:spPr>
      </p:pic>
      <p:pic>
        <p:nvPicPr>
          <p:cNvPr id="21" name="Grafik 20">
            <a:extLst>
              <a:ext uri="{FF2B5EF4-FFF2-40B4-BE49-F238E27FC236}">
                <a16:creationId xmlns:a16="http://schemas.microsoft.com/office/drawing/2014/main" id="{BB787F3F-F2DC-4F5D-1827-970114B80824}"/>
              </a:ext>
            </a:extLst>
          </p:cNvPr>
          <p:cNvPicPr>
            <a:picLocks noChangeAspect="1"/>
          </p:cNvPicPr>
          <p:nvPr/>
        </p:nvPicPr>
        <p:blipFill>
          <a:blip r:embed="rId22"/>
          <a:stretch>
            <a:fillRect/>
          </a:stretch>
        </p:blipFill>
        <p:spPr>
          <a:xfrm>
            <a:off x="4949810" y="2928764"/>
            <a:ext cx="1390650" cy="219075"/>
          </a:xfrm>
          <a:prstGeom prst="rect">
            <a:avLst/>
          </a:prstGeom>
        </p:spPr>
      </p:pic>
      <p:graphicFrame>
        <p:nvGraphicFramePr>
          <p:cNvPr id="22" name="Tabelle 21">
            <a:extLst>
              <a:ext uri="{FF2B5EF4-FFF2-40B4-BE49-F238E27FC236}">
                <a16:creationId xmlns:a16="http://schemas.microsoft.com/office/drawing/2014/main" id="{11EF4D5B-0B7C-17E1-179A-5F112652A621}"/>
              </a:ext>
            </a:extLst>
          </p:cNvPr>
          <p:cNvGraphicFramePr>
            <a:graphicFrameLocks noGrp="1"/>
          </p:cNvGraphicFramePr>
          <p:nvPr/>
        </p:nvGraphicFramePr>
        <p:xfrm>
          <a:off x="4949810" y="3248703"/>
          <a:ext cx="1371600" cy="600075"/>
        </p:xfrm>
        <a:graphic>
          <a:graphicData uri="http://schemas.openxmlformats.org/drawingml/2006/table">
            <a:tbl>
              <a:tblPr/>
              <a:tblGrid>
                <a:gridCol w="1371600">
                  <a:extLst>
                    <a:ext uri="{9D8B030D-6E8A-4147-A177-3AD203B41FA5}">
                      <a16:colId xmlns:a16="http://schemas.microsoft.com/office/drawing/2014/main" val="1588505910"/>
                    </a:ext>
                  </a:extLst>
                </a:gridCol>
              </a:tblGrid>
              <a:tr h="200025">
                <a:tc>
                  <a:txBody>
                    <a:bodyPr/>
                    <a:lstStyle/>
                    <a:p>
                      <a:pPr algn="l" fontAlgn="ctr"/>
                      <a:r>
                        <a:rPr lang="de-AT" sz="1100" b="0" i="0" u="none" strike="noStrike" dirty="0">
                          <a:solidFill>
                            <a:srgbClr val="E6EFF3"/>
                          </a:solidFill>
                          <a:effectLst/>
                          <a:latin typeface="Calibri" panose="020F0502020204030204" pitchFamily="34" charset="0"/>
                        </a:rPr>
                        <a:t>🏆 PEQ Deklaration</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950F53"/>
                    </a:solidFill>
                  </a:tcPr>
                </a:tc>
                <a:extLst>
                  <a:ext uri="{0D108BD9-81ED-4DB2-BD59-A6C34878D82A}">
                    <a16:rowId xmlns:a16="http://schemas.microsoft.com/office/drawing/2014/main" val="1403844222"/>
                  </a:ext>
                </a:extLst>
              </a:tr>
              <a:tr h="200025">
                <a:tc>
                  <a:txBody>
                    <a:bodyPr/>
                    <a:lstStyle/>
                    <a:p>
                      <a:pPr algn="l" fontAlgn="ctr"/>
                      <a:r>
                        <a:rPr lang="de-AT" sz="1100" b="0" i="0" u="none" strike="noStrike" dirty="0">
                          <a:solidFill>
                            <a:srgbClr val="E6EFF3"/>
                          </a:solidFill>
                          <a:effectLst/>
                          <a:latin typeface="Calibri" panose="020F0502020204030204" pitchFamily="34" charset="0"/>
                        </a:rPr>
                        <a:t>🏆 PEQ+M</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F59C00"/>
                    </a:solidFill>
                  </a:tcPr>
                </a:tc>
                <a:extLst>
                  <a:ext uri="{0D108BD9-81ED-4DB2-BD59-A6C34878D82A}">
                    <a16:rowId xmlns:a16="http://schemas.microsoft.com/office/drawing/2014/main" val="1369890536"/>
                  </a:ext>
                </a:extLst>
              </a:tr>
              <a:tr h="200025">
                <a:tc>
                  <a:txBody>
                    <a:bodyPr/>
                    <a:lstStyle/>
                    <a:p>
                      <a:pPr algn="l" fontAlgn="ctr"/>
                      <a:r>
                        <a:rPr lang="de-AT" sz="1100" b="0" i="0" u="none" strike="noStrike" dirty="0">
                          <a:solidFill>
                            <a:srgbClr val="E6EFF3"/>
                          </a:solidFill>
                          <a:effectLst/>
                          <a:latin typeface="Calibri" panose="020F0502020204030204" pitchFamily="34" charset="0"/>
                        </a:rPr>
                        <a:t>🏆 KN PEQ</a:t>
                      </a:r>
                    </a:p>
                  </a:txBody>
                  <a:tcPr marL="0" marR="0" marT="0" marB="0" anchor="ctr">
                    <a:lnL w="12700" cap="flat" cmpd="sng" algn="ctr">
                      <a:solidFill>
                        <a:srgbClr val="E6EFF3"/>
                      </a:solidFill>
                      <a:prstDash val="solid"/>
                      <a:round/>
                      <a:headEnd type="none" w="med" len="med"/>
                      <a:tailEnd type="none" w="med" len="med"/>
                    </a:lnL>
                    <a:lnR w="12700" cap="flat" cmpd="sng" algn="ctr">
                      <a:solidFill>
                        <a:srgbClr val="E6EFF3"/>
                      </a:solidFill>
                      <a:prstDash val="solid"/>
                      <a:round/>
                      <a:headEnd type="none" w="med" len="med"/>
                      <a:tailEnd type="none" w="med" len="med"/>
                    </a:lnR>
                    <a:lnT w="12700" cap="flat" cmpd="sng" algn="ctr">
                      <a:solidFill>
                        <a:srgbClr val="E6EFF3"/>
                      </a:solidFill>
                      <a:prstDash val="solid"/>
                      <a:round/>
                      <a:headEnd type="none" w="med" len="med"/>
                      <a:tailEnd type="none" w="med" len="med"/>
                    </a:lnT>
                    <a:lnB w="12700" cap="flat" cmpd="sng" algn="ctr">
                      <a:solidFill>
                        <a:srgbClr val="E6EFF3"/>
                      </a:solidFill>
                      <a:prstDash val="solid"/>
                      <a:round/>
                      <a:headEnd type="none" w="med" len="med"/>
                      <a:tailEnd type="none" w="med" len="med"/>
                    </a:lnB>
                    <a:solidFill>
                      <a:srgbClr val="3BACBE"/>
                    </a:solidFill>
                  </a:tcPr>
                </a:tc>
                <a:extLst>
                  <a:ext uri="{0D108BD9-81ED-4DB2-BD59-A6C34878D82A}">
                    <a16:rowId xmlns:a16="http://schemas.microsoft.com/office/drawing/2014/main" val="3843430095"/>
                  </a:ext>
                </a:extLst>
              </a:tr>
            </a:tbl>
          </a:graphicData>
        </a:graphic>
      </p:graphicFrame>
      <p:pic>
        <p:nvPicPr>
          <p:cNvPr id="425" name="Grafik 424" descr="Ein Bild, das Text, Screenshot, Schrift, Diagramm enthält.&#10;&#10;KI-generierte Inhalte können fehlerhaft sein.">
            <a:extLst>
              <a:ext uri="{FF2B5EF4-FFF2-40B4-BE49-F238E27FC236}">
                <a16:creationId xmlns:a16="http://schemas.microsoft.com/office/drawing/2014/main" id="{F1126DAF-65A8-D2A5-BA66-4EDB2286DF7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67565" y="2464292"/>
            <a:ext cx="2399537" cy="28233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439" name="Verbinder: gekrümmt 438">
            <a:extLst>
              <a:ext uri="{FF2B5EF4-FFF2-40B4-BE49-F238E27FC236}">
                <a16:creationId xmlns:a16="http://schemas.microsoft.com/office/drawing/2014/main" id="{E1A1D389-904B-7358-62CC-4488716B415C}"/>
              </a:ext>
            </a:extLst>
          </p:cNvPr>
          <p:cNvCxnSpPr>
            <a:cxnSpLocks/>
          </p:cNvCxnSpPr>
          <p:nvPr/>
        </p:nvCxnSpPr>
        <p:spPr>
          <a:xfrm>
            <a:off x="2581001" y="2611172"/>
            <a:ext cx="249523" cy="242304"/>
          </a:xfrm>
          <a:prstGeom prst="curvedConnector3">
            <a:avLst>
              <a:gd name="adj1" fmla="val 5000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46" name="Sprechblase: rechteckig mit abgerundeten Ecken 445">
            <a:extLst>
              <a:ext uri="{FF2B5EF4-FFF2-40B4-BE49-F238E27FC236}">
                <a16:creationId xmlns:a16="http://schemas.microsoft.com/office/drawing/2014/main" id="{554D931C-04B5-1395-46B4-5FE2488949C9}"/>
              </a:ext>
            </a:extLst>
          </p:cNvPr>
          <p:cNvSpPr/>
          <p:nvPr/>
        </p:nvSpPr>
        <p:spPr>
          <a:xfrm>
            <a:off x="706171" y="5448193"/>
            <a:ext cx="1736429" cy="791412"/>
          </a:xfrm>
          <a:prstGeom prst="wedgeRoundRectCallout">
            <a:avLst>
              <a:gd name="adj1" fmla="val -8655"/>
              <a:gd name="adj2" fmla="val -19573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t>Alle Zellen mit Eingabefeldern sind grün formatiert</a:t>
            </a:r>
          </a:p>
        </p:txBody>
      </p:sp>
    </p:spTree>
    <p:extLst>
      <p:ext uri="{BB962C8B-B14F-4D97-AF65-F5344CB8AC3E}">
        <p14:creationId xmlns:p14="http://schemas.microsoft.com/office/powerpoint/2010/main" val="35449976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05A2534-C0F2-14FB-5AB2-8A429D96F5C1}"/>
              </a:ext>
            </a:extLst>
          </p:cNvPr>
          <p:cNvSpPr>
            <a:spLocks noGrp="1"/>
          </p:cNvSpPr>
          <p:nvPr>
            <p:ph type="title"/>
          </p:nvPr>
        </p:nvSpPr>
        <p:spPr/>
        <p:txBody>
          <a:bodyPr>
            <a:normAutofit/>
          </a:bodyPr>
          <a:lstStyle/>
          <a:p>
            <a:r>
              <a:rPr lang="de-DE" b="1" dirty="0"/>
              <a:t>📊 Benutzerdefiniertes Excel-Ribbon</a:t>
            </a:r>
            <a:endParaRPr lang="de-AT" dirty="0"/>
          </a:p>
        </p:txBody>
      </p:sp>
      <p:sp>
        <p:nvSpPr>
          <p:cNvPr id="3" name="Inhaltsplatzhalter 2">
            <a:extLst>
              <a:ext uri="{FF2B5EF4-FFF2-40B4-BE49-F238E27FC236}">
                <a16:creationId xmlns:a16="http://schemas.microsoft.com/office/drawing/2014/main" id="{4178EAE0-59B7-DB49-D219-F0C896A309E7}"/>
              </a:ext>
            </a:extLst>
          </p:cNvPr>
          <p:cNvSpPr>
            <a:spLocks noGrp="1"/>
          </p:cNvSpPr>
          <p:nvPr>
            <p:ph idx="1"/>
          </p:nvPr>
        </p:nvSpPr>
        <p:spPr>
          <a:xfrm>
            <a:off x="216110" y="3253339"/>
            <a:ext cx="6463824" cy="3503595"/>
          </a:xfrm>
        </p:spPr>
        <p:txBody>
          <a:bodyPr numCol="2">
            <a:normAutofit fontScale="47500" lnSpcReduction="20000"/>
          </a:bodyPr>
          <a:lstStyle/>
          <a:p>
            <a:pPr>
              <a:buNone/>
            </a:pPr>
            <a:r>
              <a:rPr lang="de-DE" b="1" dirty="0"/>
              <a:t>📂 Laden von Varianten und Eingaben</a:t>
            </a:r>
          </a:p>
          <a:p>
            <a:pPr>
              <a:buFont typeface="Arial" panose="020B0604020202020204" pitchFamily="34" charset="0"/>
              <a:buChar char="•"/>
            </a:pPr>
            <a:r>
              <a:rPr lang="de-DE" b="1" dirty="0"/>
              <a:t>Schaltfläche „Laden“</a:t>
            </a:r>
            <a:r>
              <a:rPr lang="de-DE" dirty="0"/>
              <a:t> (in der Gruppe </a:t>
            </a:r>
            <a:r>
              <a:rPr lang="de-DE" i="1" dirty="0"/>
              <a:t>Varianten</a:t>
            </a:r>
            <a:r>
              <a:rPr lang="de-DE" dirty="0"/>
              <a:t>):</a:t>
            </a:r>
          </a:p>
          <a:p>
            <a:pPr lvl="1">
              <a:buFont typeface="Arial" panose="020B0604020202020204" pitchFamily="34" charset="0"/>
              <a:buChar char="•"/>
            </a:pPr>
            <a:r>
              <a:rPr lang="de-DE" dirty="0"/>
              <a:t>Erlaubt das einfache Umschalten zwischen verschiedenen </a:t>
            </a:r>
            <a:r>
              <a:rPr lang="de-DE" b="1" dirty="0"/>
              <a:t>Eingabekonfigurationen</a:t>
            </a:r>
            <a:r>
              <a:rPr lang="de-DE" dirty="0"/>
              <a:t> oder </a:t>
            </a:r>
            <a:r>
              <a:rPr lang="de-DE" b="1" dirty="0"/>
              <a:t>Szenarien</a:t>
            </a:r>
            <a:r>
              <a:rPr lang="de-DE" dirty="0"/>
              <a:t>.</a:t>
            </a:r>
          </a:p>
          <a:p>
            <a:pPr lvl="1">
              <a:buFont typeface="Arial" panose="020B0604020202020204" pitchFamily="34" charset="0"/>
              <a:buChar char="•"/>
            </a:pPr>
            <a:r>
              <a:rPr lang="de-DE" dirty="0"/>
              <a:t>Keine manuelle Auswahl im Tabellenblatt erforderlich – alles direkt im Ribbon.</a:t>
            </a:r>
          </a:p>
          <a:p>
            <a:pPr lvl="1">
              <a:buFont typeface="Arial" panose="020B0604020202020204" pitchFamily="34" charset="0"/>
              <a:buChar char="•"/>
            </a:pPr>
            <a:endParaRPr lang="de-DE" dirty="0"/>
          </a:p>
          <a:p>
            <a:pPr lvl="1">
              <a:buFont typeface="Arial" panose="020B0604020202020204" pitchFamily="34" charset="0"/>
              <a:buChar char="•"/>
            </a:pPr>
            <a:endParaRPr lang="de-DE" dirty="0"/>
          </a:p>
          <a:p>
            <a:pPr>
              <a:buNone/>
            </a:pPr>
            <a:r>
              <a:rPr lang="de-DE" b="1" dirty="0"/>
              <a:t>💾 Speichern &amp; Projektstruktur</a:t>
            </a:r>
          </a:p>
          <a:p>
            <a:pPr>
              <a:buFont typeface="Arial" panose="020B0604020202020204" pitchFamily="34" charset="0"/>
              <a:buChar char="•"/>
            </a:pPr>
            <a:r>
              <a:rPr lang="de-DE" b="1" dirty="0"/>
              <a:t>Trennung von Projekt und Szenario</a:t>
            </a:r>
            <a:r>
              <a:rPr lang="de-DE" dirty="0"/>
              <a:t>:</a:t>
            </a:r>
          </a:p>
          <a:p>
            <a:pPr lvl="1">
              <a:buFont typeface="Arial" panose="020B0604020202020204" pitchFamily="34" charset="0"/>
              <a:buChar char="•"/>
            </a:pPr>
            <a:r>
              <a:rPr lang="de-DE" dirty="0"/>
              <a:t>Projekte enthalten mehrere Szenarien.</a:t>
            </a:r>
          </a:p>
          <a:p>
            <a:pPr lvl="1">
              <a:buFont typeface="Arial" panose="020B0604020202020204" pitchFamily="34" charset="0"/>
              <a:buChar char="•"/>
            </a:pPr>
            <a:r>
              <a:rPr lang="de-DE" dirty="0"/>
              <a:t>Szenarien können einzeln </a:t>
            </a:r>
            <a:r>
              <a:rPr lang="de-DE" b="1" dirty="0"/>
              <a:t>geladen</a:t>
            </a:r>
            <a:r>
              <a:rPr lang="de-DE" dirty="0"/>
              <a:t>, </a:t>
            </a:r>
            <a:r>
              <a:rPr lang="de-DE" b="1" dirty="0"/>
              <a:t>gespeichert</a:t>
            </a:r>
            <a:r>
              <a:rPr lang="de-DE" dirty="0"/>
              <a:t> oder </a:t>
            </a:r>
            <a:r>
              <a:rPr lang="de-DE" b="1" dirty="0"/>
              <a:t>dupliziert</a:t>
            </a:r>
            <a:r>
              <a:rPr lang="de-DE" dirty="0"/>
              <a:t> werden.</a:t>
            </a:r>
          </a:p>
          <a:p>
            <a:pPr>
              <a:buFont typeface="Arial" panose="020B0604020202020204" pitchFamily="34" charset="0"/>
              <a:buChar char="•"/>
            </a:pPr>
            <a:r>
              <a:rPr lang="de-DE" b="1" dirty="0"/>
              <a:t>Speicherfunktionen im Ribbon</a:t>
            </a:r>
            <a:r>
              <a:rPr lang="de-DE" dirty="0"/>
              <a:t>:</a:t>
            </a:r>
          </a:p>
          <a:p>
            <a:pPr lvl="1">
              <a:buFont typeface="Arial" panose="020B0604020202020204" pitchFamily="34" charset="0"/>
              <a:buChar char="•"/>
            </a:pPr>
            <a:r>
              <a:rPr lang="de-DE" dirty="0"/>
              <a:t>Speichern von Szenarien unter neuem Namen.</a:t>
            </a:r>
          </a:p>
          <a:p>
            <a:pPr lvl="1">
              <a:buFont typeface="Arial" panose="020B0604020202020204" pitchFamily="34" charset="0"/>
              <a:buChar char="•"/>
            </a:pPr>
            <a:r>
              <a:rPr lang="de-DE" dirty="0"/>
              <a:t>Export-/Importfunktionen (z. B. als separate Datei oder JSON/XML je nach Implementierung).</a:t>
            </a:r>
          </a:p>
        </p:txBody>
      </p:sp>
      <p:pic>
        <p:nvPicPr>
          <p:cNvPr id="5" name="Grafik 4">
            <a:extLst>
              <a:ext uri="{FF2B5EF4-FFF2-40B4-BE49-F238E27FC236}">
                <a16:creationId xmlns:a16="http://schemas.microsoft.com/office/drawing/2014/main" id="{9EB3B5CD-9211-EC1A-5BCF-EDA882BBD435}"/>
              </a:ext>
            </a:extLst>
          </p:cNvPr>
          <p:cNvPicPr>
            <a:picLocks noChangeAspect="1"/>
          </p:cNvPicPr>
          <p:nvPr/>
        </p:nvPicPr>
        <p:blipFill>
          <a:blip r:embed="rId2"/>
          <a:stretch>
            <a:fillRect/>
          </a:stretch>
        </p:blipFill>
        <p:spPr>
          <a:xfrm>
            <a:off x="96253" y="1181965"/>
            <a:ext cx="12192000" cy="1211855"/>
          </a:xfrm>
          <a:prstGeom prst="rect">
            <a:avLst/>
          </a:prstGeom>
        </p:spPr>
      </p:pic>
      <p:sp>
        <p:nvSpPr>
          <p:cNvPr id="6" name="Rechteck: abgerundete Ecken 5">
            <a:extLst>
              <a:ext uri="{FF2B5EF4-FFF2-40B4-BE49-F238E27FC236}">
                <a16:creationId xmlns:a16="http://schemas.microsoft.com/office/drawing/2014/main" id="{0C8BB39A-538B-E2D2-DD2C-4254A12D16A2}"/>
              </a:ext>
            </a:extLst>
          </p:cNvPr>
          <p:cNvSpPr/>
          <p:nvPr/>
        </p:nvSpPr>
        <p:spPr>
          <a:xfrm>
            <a:off x="96253" y="1424540"/>
            <a:ext cx="3397718" cy="1732546"/>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defTabSz="914339">
              <a:defRPr/>
            </a:pPr>
            <a:r>
              <a:rPr lang="de-DE" b="1" dirty="0">
                <a:solidFill>
                  <a:srgbClr val="000000"/>
                </a:solidFill>
                <a:latin typeface="Calibri" panose="020F0502020204030204"/>
              </a:rPr>
              <a:t>Eingabe Navigation &amp; Bedienung</a:t>
            </a:r>
          </a:p>
        </p:txBody>
      </p:sp>
      <p:sp>
        <p:nvSpPr>
          <p:cNvPr id="7" name="Rechteck: abgerundete Ecken 6">
            <a:extLst>
              <a:ext uri="{FF2B5EF4-FFF2-40B4-BE49-F238E27FC236}">
                <a16:creationId xmlns:a16="http://schemas.microsoft.com/office/drawing/2014/main" id="{BE3FAE25-2457-A4AA-BF71-5EB42FD18BEE}"/>
              </a:ext>
            </a:extLst>
          </p:cNvPr>
          <p:cNvSpPr/>
          <p:nvPr/>
        </p:nvSpPr>
        <p:spPr>
          <a:xfrm>
            <a:off x="3583806" y="1447712"/>
            <a:ext cx="2297230" cy="2152135"/>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defTabSz="914339">
              <a:defRPr/>
            </a:pPr>
            <a:r>
              <a:rPr lang="de-DE" b="1" dirty="0">
                <a:solidFill>
                  <a:srgbClr val="000000"/>
                </a:solidFill>
                <a:latin typeface="Calibri" panose="020F0502020204030204"/>
              </a:rPr>
              <a:t>📂 Laden</a:t>
            </a:r>
          </a:p>
          <a:p>
            <a:pPr defTabSz="914339">
              <a:defRPr/>
            </a:pPr>
            <a:r>
              <a:rPr lang="de-DE" b="1" dirty="0">
                <a:solidFill>
                  <a:srgbClr val="000000"/>
                </a:solidFill>
                <a:latin typeface="Calibri" panose="020F0502020204030204"/>
              </a:rPr>
              <a:t>💾 Speichern</a:t>
            </a:r>
          </a:p>
          <a:p>
            <a:pPr defTabSz="914339">
              <a:defRPr/>
            </a:pPr>
            <a:endParaRPr lang="de-DE" b="1" dirty="0">
              <a:solidFill>
                <a:srgbClr val="000000"/>
              </a:solidFill>
              <a:latin typeface="Calibri" panose="020F0502020204030204"/>
            </a:endParaRPr>
          </a:p>
        </p:txBody>
      </p:sp>
      <p:sp>
        <p:nvSpPr>
          <p:cNvPr id="8" name="Rechteck: abgerundete Ecken 7">
            <a:extLst>
              <a:ext uri="{FF2B5EF4-FFF2-40B4-BE49-F238E27FC236}">
                <a16:creationId xmlns:a16="http://schemas.microsoft.com/office/drawing/2014/main" id="{C87CC474-74AC-842F-0280-3DE9BB3A9843}"/>
              </a:ext>
            </a:extLst>
          </p:cNvPr>
          <p:cNvSpPr/>
          <p:nvPr/>
        </p:nvSpPr>
        <p:spPr>
          <a:xfrm>
            <a:off x="6192254" y="1369106"/>
            <a:ext cx="2071035" cy="2152135"/>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defTabSz="914339">
              <a:defRPr/>
            </a:pPr>
            <a:r>
              <a:rPr lang="de-DE" b="1" dirty="0">
                <a:solidFill>
                  <a:srgbClr val="000000"/>
                </a:solidFill>
                <a:latin typeface="Calibri" panose="020F0502020204030204"/>
              </a:rPr>
              <a:t>Analyse und Ergebnisse</a:t>
            </a:r>
          </a:p>
        </p:txBody>
      </p:sp>
      <p:sp>
        <p:nvSpPr>
          <p:cNvPr id="9" name="Rechteck: abgerundete Ecken 8">
            <a:extLst>
              <a:ext uri="{FF2B5EF4-FFF2-40B4-BE49-F238E27FC236}">
                <a16:creationId xmlns:a16="http://schemas.microsoft.com/office/drawing/2014/main" id="{029D193E-C46C-838B-B2E9-59CDB31DA6A0}"/>
              </a:ext>
            </a:extLst>
          </p:cNvPr>
          <p:cNvSpPr/>
          <p:nvPr/>
        </p:nvSpPr>
        <p:spPr>
          <a:xfrm>
            <a:off x="8491088" y="1369106"/>
            <a:ext cx="1172677" cy="2152135"/>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defTabSz="914339">
              <a:defRPr/>
            </a:pPr>
            <a:r>
              <a:rPr lang="de-DE" b="1" dirty="0">
                <a:solidFill>
                  <a:srgbClr val="000000"/>
                </a:solidFill>
                <a:latin typeface="Calibri" panose="020F0502020204030204"/>
              </a:rPr>
              <a:t>Deklarations-nachweise</a:t>
            </a:r>
          </a:p>
        </p:txBody>
      </p:sp>
      <p:sp>
        <p:nvSpPr>
          <p:cNvPr id="10" name="Rechteck: abgerundete Ecken 9">
            <a:extLst>
              <a:ext uri="{FF2B5EF4-FFF2-40B4-BE49-F238E27FC236}">
                <a16:creationId xmlns:a16="http://schemas.microsoft.com/office/drawing/2014/main" id="{05491433-876F-CBA2-8737-94DA90818C20}"/>
              </a:ext>
            </a:extLst>
          </p:cNvPr>
          <p:cNvSpPr/>
          <p:nvPr/>
        </p:nvSpPr>
        <p:spPr>
          <a:xfrm>
            <a:off x="9817769" y="1424540"/>
            <a:ext cx="2374231" cy="2152135"/>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defTabSz="914339">
              <a:defRPr/>
            </a:pPr>
            <a:r>
              <a:rPr lang="de-DE" b="1" dirty="0">
                <a:solidFill>
                  <a:srgbClr val="000000"/>
                </a:solidFill>
                <a:latin typeface="Calibri" panose="020F0502020204030204"/>
              </a:rPr>
              <a:t>Implementierungs-Details</a:t>
            </a:r>
          </a:p>
        </p:txBody>
      </p:sp>
    </p:spTree>
    <p:extLst>
      <p:ext uri="{BB962C8B-B14F-4D97-AF65-F5344CB8AC3E}">
        <p14:creationId xmlns:p14="http://schemas.microsoft.com/office/powerpoint/2010/main" val="848642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4E5BE0-1D77-0F94-B796-25E129FF05C4}"/>
              </a:ext>
            </a:extLst>
          </p:cNvPr>
          <p:cNvSpPr>
            <a:spLocks noGrp="1"/>
          </p:cNvSpPr>
          <p:nvPr>
            <p:ph type="title"/>
          </p:nvPr>
        </p:nvSpPr>
        <p:spPr/>
        <p:txBody>
          <a:bodyPr/>
          <a:lstStyle/>
          <a:p>
            <a:r>
              <a:rPr lang="de-DE" dirty="0"/>
              <a:t>Quick-Start</a:t>
            </a:r>
          </a:p>
        </p:txBody>
      </p:sp>
      <p:sp>
        <p:nvSpPr>
          <p:cNvPr id="3" name="Textplatzhalter 2">
            <a:extLst>
              <a:ext uri="{FF2B5EF4-FFF2-40B4-BE49-F238E27FC236}">
                <a16:creationId xmlns:a16="http://schemas.microsoft.com/office/drawing/2014/main" id="{056A9EF5-970E-92B5-D43B-A06CC0168063}"/>
              </a:ext>
            </a:extLst>
          </p:cNvPr>
          <p:cNvSpPr>
            <a:spLocks noGrp="1"/>
          </p:cNvSpPr>
          <p:nvPr>
            <p:ph type="body" sz="quarter" idx="13"/>
          </p:nvPr>
        </p:nvSpPr>
        <p:spPr/>
        <p:txBody>
          <a:bodyPr/>
          <a:lstStyle/>
          <a:p>
            <a:endParaRPr lang="de-DE"/>
          </a:p>
        </p:txBody>
      </p:sp>
      <p:sp>
        <p:nvSpPr>
          <p:cNvPr id="4" name="Fußzeilenplatzhalter 3">
            <a:extLst>
              <a:ext uri="{FF2B5EF4-FFF2-40B4-BE49-F238E27FC236}">
                <a16:creationId xmlns:a16="http://schemas.microsoft.com/office/drawing/2014/main" id="{94B2F690-1602-8D85-E9F5-37EB555A9CC0}"/>
              </a:ext>
            </a:extLst>
          </p:cNvPr>
          <p:cNvSpPr>
            <a:spLocks noGrp="1"/>
          </p:cNvSpPr>
          <p:nvPr>
            <p:ph type="ftr" sz="quarter" idx="11"/>
          </p:nvPr>
        </p:nvSpPr>
        <p:spPr/>
        <p:txBody>
          <a:bodyPr/>
          <a:lstStyle/>
          <a:p>
            <a:r>
              <a:rPr lang="de-AT"/>
              <a:t>Klimaaktiv Nachweistool Plus-Energie-Quartiere</a:t>
            </a:r>
            <a:endParaRPr lang="de-AT" dirty="0"/>
          </a:p>
        </p:txBody>
      </p:sp>
      <p:sp>
        <p:nvSpPr>
          <p:cNvPr id="5" name="Foliennummernplatzhalter 4">
            <a:extLst>
              <a:ext uri="{FF2B5EF4-FFF2-40B4-BE49-F238E27FC236}">
                <a16:creationId xmlns:a16="http://schemas.microsoft.com/office/drawing/2014/main" id="{1BAC8471-BA0A-08CC-D100-42D69E0F82CF}"/>
              </a:ext>
            </a:extLst>
          </p:cNvPr>
          <p:cNvSpPr>
            <a:spLocks noGrp="1"/>
          </p:cNvSpPr>
          <p:nvPr>
            <p:ph type="sldNum" sz="quarter" idx="12"/>
          </p:nvPr>
        </p:nvSpPr>
        <p:spPr/>
        <p:txBody>
          <a:bodyPr/>
          <a:lstStyle/>
          <a:p>
            <a:fld id="{1206269C-C24E-4E80-9A4B-E7E19BB59A67}" type="slidenum">
              <a:rPr lang="de-AT" smtClean="0"/>
              <a:pPr/>
              <a:t>30</a:t>
            </a:fld>
            <a:endParaRPr lang="de-AT" dirty="0"/>
          </a:p>
        </p:txBody>
      </p:sp>
    </p:spTree>
    <p:extLst>
      <p:ext uri="{BB962C8B-B14F-4D97-AF65-F5344CB8AC3E}">
        <p14:creationId xmlns:p14="http://schemas.microsoft.com/office/powerpoint/2010/main" val="38670105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1A5065-F044-F4D5-DB9E-B0D7213E09ED}"/>
              </a:ext>
            </a:extLst>
          </p:cNvPr>
          <p:cNvSpPr>
            <a:spLocks noGrp="1"/>
          </p:cNvSpPr>
          <p:nvPr>
            <p:ph type="title"/>
          </p:nvPr>
        </p:nvSpPr>
        <p:spPr/>
        <p:txBody>
          <a:bodyPr/>
          <a:lstStyle/>
          <a:p>
            <a:r>
              <a:rPr lang="de-DE" dirty="0"/>
              <a:t>Eingabe</a:t>
            </a:r>
          </a:p>
        </p:txBody>
      </p:sp>
      <p:sp>
        <p:nvSpPr>
          <p:cNvPr id="3" name="Textplatzhalter 2">
            <a:extLst>
              <a:ext uri="{FF2B5EF4-FFF2-40B4-BE49-F238E27FC236}">
                <a16:creationId xmlns:a16="http://schemas.microsoft.com/office/drawing/2014/main" id="{AE0B9350-4DA5-D9F9-7EB0-00E9130C97EE}"/>
              </a:ext>
            </a:extLst>
          </p:cNvPr>
          <p:cNvSpPr>
            <a:spLocks noGrp="1"/>
          </p:cNvSpPr>
          <p:nvPr>
            <p:ph type="body" sz="quarter" idx="13"/>
          </p:nvPr>
        </p:nvSpPr>
        <p:spPr/>
        <p:txBody>
          <a:bodyPr/>
          <a:lstStyle/>
          <a:p>
            <a:r>
              <a:rPr lang="de-DE" dirty="0"/>
              <a:t>Thematisch gruppierte Eingabeblätter</a:t>
            </a:r>
          </a:p>
          <a:p>
            <a:pPr lvl="1"/>
            <a:r>
              <a:rPr lang="de-DE" dirty="0"/>
              <a:t>Insg. ca. 30 Pflichtfelder, 100 optionale</a:t>
            </a:r>
          </a:p>
          <a:p>
            <a:r>
              <a:rPr lang="de-DE" dirty="0"/>
              <a:t>Speichern / Laden von Varianten</a:t>
            </a:r>
          </a:p>
          <a:p>
            <a:endParaRPr lang="de-DE" dirty="0"/>
          </a:p>
        </p:txBody>
      </p:sp>
      <p:sp>
        <p:nvSpPr>
          <p:cNvPr id="5" name="Foliennummernplatzhalter 4">
            <a:extLst>
              <a:ext uri="{FF2B5EF4-FFF2-40B4-BE49-F238E27FC236}">
                <a16:creationId xmlns:a16="http://schemas.microsoft.com/office/drawing/2014/main" id="{0597D912-531B-AA35-D49A-F14DCF5F28BB}"/>
              </a:ext>
            </a:extLst>
          </p:cNvPr>
          <p:cNvSpPr>
            <a:spLocks noGrp="1"/>
          </p:cNvSpPr>
          <p:nvPr>
            <p:ph type="sldNum" sz="quarter" idx="12"/>
          </p:nvPr>
        </p:nvSpPr>
        <p:spPr/>
        <p:txBody>
          <a:bodyPr/>
          <a:lstStyle/>
          <a:p>
            <a:fld id="{1206269C-C24E-4E80-9A4B-E7E19BB59A67}" type="slidenum">
              <a:rPr lang="de-AT" smtClean="0"/>
              <a:pPr/>
              <a:t>31</a:t>
            </a:fld>
            <a:endParaRPr lang="de-AT" dirty="0"/>
          </a:p>
        </p:txBody>
      </p:sp>
      <p:pic>
        <p:nvPicPr>
          <p:cNvPr id="6" name="Grafik 5" descr="Ein Bild, das Text, Elektronik, Screenshot, Software enthält.&#10;&#10;KI-generierte Inhalte können fehlerhaft sein.">
            <a:extLst>
              <a:ext uri="{FF2B5EF4-FFF2-40B4-BE49-F238E27FC236}">
                <a16:creationId xmlns:a16="http://schemas.microsoft.com/office/drawing/2014/main" id="{B7B8A4A8-3E5D-A96C-0A51-731F3B42973A}"/>
              </a:ext>
            </a:extLst>
          </p:cNvPr>
          <p:cNvPicPr>
            <a:picLocks noChangeAspect="1"/>
          </p:cNvPicPr>
          <p:nvPr/>
        </p:nvPicPr>
        <p:blipFill rotWithShape="1">
          <a:blip r:embed="rId2"/>
          <a:srcRect l="5432" t="6626" r="25654" b="1724"/>
          <a:stretch/>
        </p:blipFill>
        <p:spPr bwMode="auto">
          <a:xfrm>
            <a:off x="6534151" y="1245864"/>
            <a:ext cx="4752975" cy="4836484"/>
          </a:xfrm>
          <a:prstGeom prst="rect">
            <a:avLst/>
          </a:prstGeom>
          <a:ln>
            <a:solidFill>
              <a:schemeClr val="tx1"/>
            </a:solidFill>
          </a:ln>
          <a:extLst>
            <a:ext uri="{53640926-AAD7-44D8-BBD7-CCE9431645EC}">
              <a14:shadowObscured xmlns:a14="http://schemas.microsoft.com/office/drawing/2010/main"/>
            </a:ext>
          </a:extLst>
        </p:spPr>
      </p:pic>
      <p:sp>
        <p:nvSpPr>
          <p:cNvPr id="7" name="Sprechblase: rechteckig mit abgerundeten Ecken 6">
            <a:extLst>
              <a:ext uri="{FF2B5EF4-FFF2-40B4-BE49-F238E27FC236}">
                <a16:creationId xmlns:a16="http://schemas.microsoft.com/office/drawing/2014/main" id="{05BC6DBC-1A76-C284-540C-ED440183A2E8}"/>
              </a:ext>
            </a:extLst>
          </p:cNvPr>
          <p:cNvSpPr/>
          <p:nvPr/>
        </p:nvSpPr>
        <p:spPr>
          <a:xfrm>
            <a:off x="9246956" y="1481243"/>
            <a:ext cx="1736429" cy="999173"/>
          </a:xfrm>
          <a:prstGeom prst="wedgeRoundRectCallout">
            <a:avLst>
              <a:gd name="adj1" fmla="val -82818"/>
              <a:gd name="adj2" fmla="val 16199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t>Alle Zellen mit Eingabefeldern sind grün formatiert</a:t>
            </a:r>
          </a:p>
        </p:txBody>
      </p:sp>
      <p:sp>
        <p:nvSpPr>
          <p:cNvPr id="8" name="Fußzeilenplatzhalter 12">
            <a:extLst>
              <a:ext uri="{FF2B5EF4-FFF2-40B4-BE49-F238E27FC236}">
                <a16:creationId xmlns:a16="http://schemas.microsoft.com/office/drawing/2014/main" id="{6BB0B86A-B0B8-C7AC-7BFD-63AEC3CDC5EC}"/>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17626786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1AD564-9A79-2243-9A2E-19CBC30D3093}"/>
              </a:ext>
            </a:extLst>
          </p:cNvPr>
          <p:cNvSpPr>
            <a:spLocks noGrp="1"/>
          </p:cNvSpPr>
          <p:nvPr>
            <p:ph type="title"/>
          </p:nvPr>
        </p:nvSpPr>
        <p:spPr>
          <a:xfrm>
            <a:off x="720002" y="1406526"/>
            <a:ext cx="10638033" cy="829455"/>
          </a:xfrm>
        </p:spPr>
        <p:txBody>
          <a:bodyPr/>
          <a:lstStyle/>
          <a:p>
            <a:r>
              <a:rPr lang="de-DE" dirty="0"/>
              <a:t>Tool-Schnittstellen</a:t>
            </a:r>
          </a:p>
        </p:txBody>
      </p:sp>
      <p:sp>
        <p:nvSpPr>
          <p:cNvPr id="3" name="Textplatzhalter 2">
            <a:extLst>
              <a:ext uri="{FF2B5EF4-FFF2-40B4-BE49-F238E27FC236}">
                <a16:creationId xmlns:a16="http://schemas.microsoft.com/office/drawing/2014/main" id="{16FF635C-7696-F568-BCB4-DE8CAD6019E3}"/>
              </a:ext>
            </a:extLst>
          </p:cNvPr>
          <p:cNvSpPr>
            <a:spLocks noGrp="1"/>
          </p:cNvSpPr>
          <p:nvPr>
            <p:ph type="body" sz="quarter" idx="13"/>
          </p:nvPr>
        </p:nvSpPr>
        <p:spPr>
          <a:xfrm>
            <a:off x="719669" y="2164801"/>
            <a:ext cx="10638367" cy="3977767"/>
          </a:xfrm>
        </p:spPr>
        <p:txBody>
          <a:bodyPr/>
          <a:lstStyle/>
          <a:p>
            <a:r>
              <a:rPr lang="de-DE" dirty="0"/>
              <a:t>🧊</a:t>
            </a:r>
            <a:r>
              <a:rPr lang="de-DE" b="1" dirty="0"/>
              <a:t>Gebäudehüllflächen</a:t>
            </a:r>
            <a:r>
              <a:rPr lang="de-DE" dirty="0"/>
              <a:t>: Übertrag aus Energieausweis</a:t>
            </a:r>
          </a:p>
          <a:p>
            <a:r>
              <a:rPr lang="de-DE" dirty="0"/>
              <a:t>☀️</a:t>
            </a:r>
            <a:r>
              <a:rPr lang="de-DE" b="1" dirty="0"/>
              <a:t>PV-Ertrag</a:t>
            </a:r>
            <a:r>
              <a:rPr lang="de-DE" dirty="0"/>
              <a:t>: Eingabe stündlicher PV-Ertragsprognosen aus externen Simulation möglich</a:t>
            </a:r>
          </a:p>
          <a:p>
            <a:r>
              <a:rPr lang="de-DE" b="1" dirty="0"/>
              <a:t>🌦️Wetter</a:t>
            </a:r>
            <a:r>
              <a:rPr lang="de-DE" dirty="0"/>
              <a:t>: Hinterlegung stündlicher Wetterdaten für Standorte abseits der Landeshauptstädte nötig (z.B. aus Meteonorm - Format „HELIOS-PC“)</a:t>
            </a:r>
          </a:p>
          <a:p>
            <a:r>
              <a:rPr lang="de-DE" b="1" dirty="0"/>
              <a:t>☁️Ökobilanz</a:t>
            </a:r>
            <a:r>
              <a:rPr lang="de-DE" dirty="0"/>
              <a:t>: Passende Systemgrenzen „Aspern Klimafit“ in baubook.at hinterlegt, direkter Import als .csv möglich:  </a:t>
            </a:r>
            <a:r>
              <a:rPr lang="de-DE" dirty="0">
                <a:hlinkClick r:id="rId2"/>
              </a:rPr>
              <a:t>https://www.baubook.at/eco2soft/</a:t>
            </a:r>
            <a:r>
              <a:rPr lang="de-DE" dirty="0"/>
              <a:t> </a:t>
            </a:r>
          </a:p>
        </p:txBody>
      </p:sp>
      <p:sp>
        <p:nvSpPr>
          <p:cNvPr id="5" name="Foliennummernplatzhalter 4">
            <a:extLst>
              <a:ext uri="{FF2B5EF4-FFF2-40B4-BE49-F238E27FC236}">
                <a16:creationId xmlns:a16="http://schemas.microsoft.com/office/drawing/2014/main" id="{00C89443-ED65-6984-8F40-A442213F4F2A}"/>
              </a:ext>
            </a:extLst>
          </p:cNvPr>
          <p:cNvSpPr>
            <a:spLocks noGrp="1"/>
          </p:cNvSpPr>
          <p:nvPr>
            <p:ph type="sldNum" sz="quarter" idx="12"/>
          </p:nvPr>
        </p:nvSpPr>
        <p:spPr>
          <a:xfrm>
            <a:off x="10272004" y="6387003"/>
            <a:ext cx="1086029" cy="266700"/>
          </a:xfrm>
        </p:spPr>
        <p:txBody>
          <a:bodyPr/>
          <a:lstStyle/>
          <a:p>
            <a:fld id="{1206269C-C24E-4E80-9A4B-E7E19BB59A67}" type="slidenum">
              <a:rPr lang="de-AT" smtClean="0"/>
              <a:pPr/>
              <a:t>32</a:t>
            </a:fld>
            <a:endParaRPr lang="de-AT" dirty="0"/>
          </a:p>
        </p:txBody>
      </p:sp>
      <p:sp>
        <p:nvSpPr>
          <p:cNvPr id="10" name="Fußzeilenplatzhalter 12">
            <a:extLst>
              <a:ext uri="{FF2B5EF4-FFF2-40B4-BE49-F238E27FC236}">
                <a16:creationId xmlns:a16="http://schemas.microsoft.com/office/drawing/2014/main" id="{68280C39-A6B1-B66B-4188-A8FD0553E4DC}"/>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38844154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1FB8AB-930A-0681-FBF3-E8244F99466D}"/>
              </a:ext>
            </a:extLst>
          </p:cNvPr>
          <p:cNvSpPr>
            <a:spLocks noGrp="1"/>
          </p:cNvSpPr>
          <p:nvPr>
            <p:ph type="title"/>
          </p:nvPr>
        </p:nvSpPr>
        <p:spPr/>
        <p:txBody>
          <a:bodyPr/>
          <a:lstStyle/>
          <a:p>
            <a:r>
              <a:rPr lang="de-DE" dirty="0"/>
              <a:t>Analyse im Dashboard</a:t>
            </a:r>
          </a:p>
        </p:txBody>
      </p:sp>
      <p:sp>
        <p:nvSpPr>
          <p:cNvPr id="3" name="Textplatzhalter 2">
            <a:extLst>
              <a:ext uri="{FF2B5EF4-FFF2-40B4-BE49-F238E27FC236}">
                <a16:creationId xmlns:a16="http://schemas.microsoft.com/office/drawing/2014/main" id="{02871054-222E-364D-F4A7-A0272826DC98}"/>
              </a:ext>
            </a:extLst>
          </p:cNvPr>
          <p:cNvSpPr>
            <a:spLocks noGrp="1"/>
          </p:cNvSpPr>
          <p:nvPr>
            <p:ph type="body" sz="quarter" idx="13"/>
          </p:nvPr>
        </p:nvSpPr>
        <p:spPr/>
        <p:txBody>
          <a:bodyPr/>
          <a:lstStyle/>
          <a:p>
            <a:r>
              <a:rPr lang="de-DE" dirty="0"/>
              <a:t>Dashboard:</a:t>
            </a:r>
          </a:p>
          <a:p>
            <a:pPr lvl="1"/>
            <a:r>
              <a:rPr lang="de-DE" dirty="0"/>
              <a:t>Stündliche Energieflüsse</a:t>
            </a:r>
          </a:p>
        </p:txBody>
      </p:sp>
      <p:sp>
        <p:nvSpPr>
          <p:cNvPr id="5" name="Foliennummernplatzhalter 4">
            <a:extLst>
              <a:ext uri="{FF2B5EF4-FFF2-40B4-BE49-F238E27FC236}">
                <a16:creationId xmlns:a16="http://schemas.microsoft.com/office/drawing/2014/main" id="{047DB345-DFFE-D597-C65E-5F9B4B768335}"/>
              </a:ext>
            </a:extLst>
          </p:cNvPr>
          <p:cNvSpPr>
            <a:spLocks noGrp="1"/>
          </p:cNvSpPr>
          <p:nvPr>
            <p:ph type="sldNum" sz="quarter" idx="12"/>
          </p:nvPr>
        </p:nvSpPr>
        <p:spPr/>
        <p:txBody>
          <a:bodyPr/>
          <a:lstStyle/>
          <a:p>
            <a:fld id="{1206269C-C24E-4E80-9A4B-E7E19BB59A67}" type="slidenum">
              <a:rPr lang="de-AT" smtClean="0"/>
              <a:pPr/>
              <a:t>33</a:t>
            </a:fld>
            <a:endParaRPr lang="de-AT" dirty="0"/>
          </a:p>
        </p:txBody>
      </p:sp>
      <p:pic>
        <p:nvPicPr>
          <p:cNvPr id="6" name="Grafik 5" descr="Ein Bild, das Text, Screenshot, Software, Webseite enthält.&#10;&#10;KI-generierte Inhalte können fehlerhaft sein.">
            <a:extLst>
              <a:ext uri="{FF2B5EF4-FFF2-40B4-BE49-F238E27FC236}">
                <a16:creationId xmlns:a16="http://schemas.microsoft.com/office/drawing/2014/main" id="{811619D3-ED9F-4407-C9F0-C655D5839185}"/>
              </a:ext>
            </a:extLst>
          </p:cNvPr>
          <p:cNvPicPr>
            <a:picLocks noChangeAspect="1"/>
          </p:cNvPicPr>
          <p:nvPr/>
        </p:nvPicPr>
        <p:blipFill>
          <a:blip r:embed="rId2"/>
          <a:stretch>
            <a:fillRect/>
          </a:stretch>
        </p:blipFill>
        <p:spPr>
          <a:xfrm>
            <a:off x="4788142" y="1603058"/>
            <a:ext cx="6569894" cy="3977767"/>
          </a:xfrm>
          <a:prstGeom prst="rect">
            <a:avLst/>
          </a:prstGeom>
          <a:ln>
            <a:solidFill>
              <a:schemeClr val="tx1"/>
            </a:solidFill>
          </a:ln>
        </p:spPr>
      </p:pic>
      <p:sp>
        <p:nvSpPr>
          <p:cNvPr id="7" name="Fußzeilenplatzhalter 12">
            <a:extLst>
              <a:ext uri="{FF2B5EF4-FFF2-40B4-BE49-F238E27FC236}">
                <a16:creationId xmlns:a16="http://schemas.microsoft.com/office/drawing/2014/main" id="{32B5D912-84F8-DCE8-DF9F-19F12EE92623}"/>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32742268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descr="Ein Bild, das Text, Screenshot, Farbigkeit, Zahl enthält.&#10;&#10;KI-generierte Inhalte können fehlerhaft sein.">
            <a:extLst>
              <a:ext uri="{FF2B5EF4-FFF2-40B4-BE49-F238E27FC236}">
                <a16:creationId xmlns:a16="http://schemas.microsoft.com/office/drawing/2014/main" id="{2584A293-2F73-F2F0-5791-8CC421D7CEF2}"/>
              </a:ext>
            </a:extLst>
          </p:cNvPr>
          <p:cNvPicPr>
            <a:picLocks noChangeAspect="1"/>
          </p:cNvPicPr>
          <p:nvPr/>
        </p:nvPicPr>
        <p:blipFill>
          <a:blip r:embed="rId2"/>
          <a:stretch>
            <a:fillRect/>
          </a:stretch>
        </p:blipFill>
        <p:spPr>
          <a:xfrm>
            <a:off x="4579621" y="2480416"/>
            <a:ext cx="7496987" cy="3711683"/>
          </a:xfrm>
          <a:prstGeom prst="rect">
            <a:avLst/>
          </a:prstGeom>
        </p:spPr>
      </p:pic>
      <p:sp>
        <p:nvSpPr>
          <p:cNvPr id="2" name="Titel 1">
            <a:extLst>
              <a:ext uri="{FF2B5EF4-FFF2-40B4-BE49-F238E27FC236}">
                <a16:creationId xmlns:a16="http://schemas.microsoft.com/office/drawing/2014/main" id="{55C39987-2438-CE3F-C7E1-1777F4C3BF36}"/>
              </a:ext>
            </a:extLst>
          </p:cNvPr>
          <p:cNvSpPr>
            <a:spLocks noGrp="1"/>
          </p:cNvSpPr>
          <p:nvPr>
            <p:ph type="title"/>
          </p:nvPr>
        </p:nvSpPr>
        <p:spPr/>
        <p:txBody>
          <a:bodyPr/>
          <a:lstStyle/>
          <a:p>
            <a:r>
              <a:rPr lang="de-DE" dirty="0"/>
              <a:t>Variantenvergleich</a:t>
            </a:r>
          </a:p>
        </p:txBody>
      </p:sp>
      <p:sp>
        <p:nvSpPr>
          <p:cNvPr id="3" name="Textplatzhalter 2">
            <a:extLst>
              <a:ext uri="{FF2B5EF4-FFF2-40B4-BE49-F238E27FC236}">
                <a16:creationId xmlns:a16="http://schemas.microsoft.com/office/drawing/2014/main" id="{A318A108-4918-53B6-2D6B-EDBAE3B46C35}"/>
              </a:ext>
            </a:extLst>
          </p:cNvPr>
          <p:cNvSpPr>
            <a:spLocks noGrp="1"/>
          </p:cNvSpPr>
          <p:nvPr>
            <p:ph type="body" sz="quarter" idx="13"/>
          </p:nvPr>
        </p:nvSpPr>
        <p:spPr/>
        <p:txBody>
          <a:bodyPr/>
          <a:lstStyle/>
          <a:p>
            <a:r>
              <a:rPr lang="de-DE" dirty="0"/>
              <a:t>Einfache Bearbeitung von Projektvarianten:</a:t>
            </a:r>
          </a:p>
          <a:p>
            <a:pPr lvl="1"/>
            <a:r>
              <a:rPr lang="de-DE" dirty="0"/>
              <a:t>Anlegen / Definieren</a:t>
            </a:r>
          </a:p>
          <a:p>
            <a:pPr lvl="1"/>
            <a:r>
              <a:rPr lang="de-DE" dirty="0"/>
              <a:t>Speichern / Laden</a:t>
            </a:r>
          </a:p>
          <a:p>
            <a:pPr lvl="1"/>
            <a:r>
              <a:rPr lang="de-DE" dirty="0"/>
              <a:t>Simulieren (Batch)</a:t>
            </a:r>
          </a:p>
          <a:p>
            <a:pPr lvl="1"/>
            <a:r>
              <a:rPr lang="de-DE" dirty="0"/>
              <a:t>Vergleichen</a:t>
            </a:r>
          </a:p>
          <a:p>
            <a:pPr marL="335969" lvl="1" indent="0">
              <a:buNone/>
            </a:pPr>
            <a:endParaRPr lang="de-DE" dirty="0"/>
          </a:p>
        </p:txBody>
      </p:sp>
      <p:sp>
        <p:nvSpPr>
          <p:cNvPr id="4" name="Fußzeilenplatzhalter 3">
            <a:extLst>
              <a:ext uri="{FF2B5EF4-FFF2-40B4-BE49-F238E27FC236}">
                <a16:creationId xmlns:a16="http://schemas.microsoft.com/office/drawing/2014/main" id="{2436E74F-D95D-740F-7651-43E3F55B0DBE}"/>
              </a:ext>
            </a:extLst>
          </p:cNvPr>
          <p:cNvSpPr>
            <a:spLocks noGrp="1"/>
          </p:cNvSpPr>
          <p:nvPr>
            <p:ph type="ftr" sz="quarter" idx="11"/>
          </p:nvPr>
        </p:nvSpPr>
        <p:spPr/>
        <p:txBody>
          <a:bodyPr/>
          <a:lstStyle/>
          <a:p>
            <a:r>
              <a:rPr lang="de-AT" dirty="0"/>
              <a:t>Klimaaktiv Nachweistool Plus-Energie-Quartiere</a:t>
            </a:r>
          </a:p>
        </p:txBody>
      </p:sp>
      <p:sp>
        <p:nvSpPr>
          <p:cNvPr id="5" name="Foliennummernplatzhalter 4">
            <a:extLst>
              <a:ext uri="{FF2B5EF4-FFF2-40B4-BE49-F238E27FC236}">
                <a16:creationId xmlns:a16="http://schemas.microsoft.com/office/drawing/2014/main" id="{163CE3D8-A15F-377F-0600-10306B9895EB}"/>
              </a:ext>
            </a:extLst>
          </p:cNvPr>
          <p:cNvSpPr>
            <a:spLocks noGrp="1"/>
          </p:cNvSpPr>
          <p:nvPr>
            <p:ph type="sldNum" sz="quarter" idx="12"/>
          </p:nvPr>
        </p:nvSpPr>
        <p:spPr/>
        <p:txBody>
          <a:bodyPr/>
          <a:lstStyle/>
          <a:p>
            <a:fld id="{1206269C-C24E-4E80-9A4B-E7E19BB59A67}" type="slidenum">
              <a:rPr lang="de-AT" smtClean="0"/>
              <a:pPr/>
              <a:t>34</a:t>
            </a:fld>
            <a:endParaRPr lang="de-AT" dirty="0"/>
          </a:p>
        </p:txBody>
      </p:sp>
    </p:spTree>
    <p:extLst>
      <p:ext uri="{BB962C8B-B14F-4D97-AF65-F5344CB8AC3E}">
        <p14:creationId xmlns:p14="http://schemas.microsoft.com/office/powerpoint/2010/main" val="29422209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CF37661-F5F5-7A9A-2ABB-6A049EC95D85}"/>
              </a:ext>
            </a:extLst>
          </p:cNvPr>
          <p:cNvSpPr>
            <a:spLocks noGrp="1"/>
          </p:cNvSpPr>
          <p:nvPr>
            <p:ph type="title"/>
          </p:nvPr>
        </p:nvSpPr>
        <p:spPr/>
        <p:txBody>
          <a:bodyPr/>
          <a:lstStyle/>
          <a:p>
            <a:r>
              <a:rPr lang="de-DE" dirty="0"/>
              <a:t>Voreinstellungen: „Presets“</a:t>
            </a:r>
          </a:p>
        </p:txBody>
      </p:sp>
      <p:sp>
        <p:nvSpPr>
          <p:cNvPr id="3" name="Textplatzhalter 2">
            <a:extLst>
              <a:ext uri="{FF2B5EF4-FFF2-40B4-BE49-F238E27FC236}">
                <a16:creationId xmlns:a16="http://schemas.microsoft.com/office/drawing/2014/main" id="{63986CFD-1C4A-D04B-5127-5CBD0E1A0ED1}"/>
              </a:ext>
            </a:extLst>
          </p:cNvPr>
          <p:cNvSpPr>
            <a:spLocks noGrp="1"/>
          </p:cNvSpPr>
          <p:nvPr>
            <p:ph type="body" sz="quarter" idx="13"/>
          </p:nvPr>
        </p:nvSpPr>
        <p:spPr/>
        <p:txBody>
          <a:bodyPr/>
          <a:lstStyle/>
          <a:p>
            <a:r>
              <a:rPr lang="de-DE" dirty="0"/>
              <a:t>Für die meisten Eingabe-Kategorien existieren speziell formatierte Auswahlfelder:</a:t>
            </a:r>
          </a:p>
          <a:p>
            <a:r>
              <a:rPr lang="de-DE" dirty="0"/>
              <a:t>Damit lassen sich schnell typische Konfigurationen festlegen.</a:t>
            </a:r>
          </a:p>
          <a:p>
            <a:r>
              <a:rPr lang="de-DE" dirty="0"/>
              <a:t>Die „</a:t>
            </a:r>
            <a:r>
              <a:rPr lang="de-DE" dirty="0" err="1"/>
              <a:t>Presets_xx</a:t>
            </a:r>
            <a:r>
              <a:rPr lang="de-DE" dirty="0"/>
              <a:t>“ Tabellen zeigen</a:t>
            </a:r>
            <a:br>
              <a:rPr lang="de-DE" dirty="0"/>
            </a:br>
            <a:r>
              <a:rPr lang="de-DE" dirty="0"/>
              <a:t>spaltenweise die verfügbaren </a:t>
            </a:r>
            <a:br>
              <a:rPr lang="de-DE" dirty="0"/>
            </a:br>
            <a:r>
              <a:rPr lang="de-DE" dirty="0"/>
              <a:t>Presets und zeilenweise die </a:t>
            </a:r>
            <a:br>
              <a:rPr lang="de-DE" dirty="0"/>
            </a:br>
            <a:r>
              <a:rPr lang="de-DE" dirty="0"/>
              <a:t>angesteuerten Inputvariablen</a:t>
            </a:r>
          </a:p>
        </p:txBody>
      </p:sp>
      <p:sp>
        <p:nvSpPr>
          <p:cNvPr id="4" name="Fußzeilenplatzhalter 3">
            <a:extLst>
              <a:ext uri="{FF2B5EF4-FFF2-40B4-BE49-F238E27FC236}">
                <a16:creationId xmlns:a16="http://schemas.microsoft.com/office/drawing/2014/main" id="{6C073C54-4895-10DB-71BB-7BC82F4A4C3B}"/>
              </a:ext>
            </a:extLst>
          </p:cNvPr>
          <p:cNvSpPr>
            <a:spLocks noGrp="1"/>
          </p:cNvSpPr>
          <p:nvPr>
            <p:ph type="ftr" sz="quarter" idx="11"/>
          </p:nvPr>
        </p:nvSpPr>
        <p:spPr/>
        <p:txBody>
          <a:bodyPr/>
          <a:lstStyle/>
          <a:p>
            <a:r>
              <a:rPr lang="de-AT" dirty="0"/>
              <a:t>Klimaaktiv Nachweistool Plus-Energie-Quartiere</a:t>
            </a:r>
          </a:p>
        </p:txBody>
      </p:sp>
      <p:sp>
        <p:nvSpPr>
          <p:cNvPr id="5" name="Foliennummernplatzhalter 4">
            <a:extLst>
              <a:ext uri="{FF2B5EF4-FFF2-40B4-BE49-F238E27FC236}">
                <a16:creationId xmlns:a16="http://schemas.microsoft.com/office/drawing/2014/main" id="{0FC53E37-8C59-F0AB-A461-156CAB0958C5}"/>
              </a:ext>
            </a:extLst>
          </p:cNvPr>
          <p:cNvSpPr>
            <a:spLocks noGrp="1"/>
          </p:cNvSpPr>
          <p:nvPr>
            <p:ph type="sldNum" sz="quarter" idx="12"/>
          </p:nvPr>
        </p:nvSpPr>
        <p:spPr/>
        <p:txBody>
          <a:bodyPr/>
          <a:lstStyle/>
          <a:p>
            <a:fld id="{1206269C-C24E-4E80-9A4B-E7E19BB59A67}" type="slidenum">
              <a:rPr lang="de-AT" smtClean="0"/>
              <a:pPr/>
              <a:t>35</a:t>
            </a:fld>
            <a:endParaRPr lang="de-AT" dirty="0"/>
          </a:p>
        </p:txBody>
      </p:sp>
      <p:pic>
        <p:nvPicPr>
          <p:cNvPr id="7" name="Grafik 6">
            <a:extLst>
              <a:ext uri="{FF2B5EF4-FFF2-40B4-BE49-F238E27FC236}">
                <a16:creationId xmlns:a16="http://schemas.microsoft.com/office/drawing/2014/main" id="{2A73911B-2A7F-3125-9177-BFDD08347946}"/>
              </a:ext>
            </a:extLst>
          </p:cNvPr>
          <p:cNvPicPr>
            <a:picLocks noChangeAspect="1"/>
          </p:cNvPicPr>
          <p:nvPr/>
        </p:nvPicPr>
        <p:blipFill>
          <a:blip r:embed="rId2"/>
          <a:stretch>
            <a:fillRect/>
          </a:stretch>
        </p:blipFill>
        <p:spPr>
          <a:xfrm>
            <a:off x="3806613" y="2792627"/>
            <a:ext cx="8385387" cy="3420728"/>
          </a:xfrm>
          <a:prstGeom prst="rect">
            <a:avLst/>
          </a:prstGeom>
        </p:spPr>
      </p:pic>
      <p:pic>
        <p:nvPicPr>
          <p:cNvPr id="9" name="Grafik 8">
            <a:extLst>
              <a:ext uri="{FF2B5EF4-FFF2-40B4-BE49-F238E27FC236}">
                <a16:creationId xmlns:a16="http://schemas.microsoft.com/office/drawing/2014/main" id="{88ADA6FF-0C83-5BB0-3718-E6D6696AC6F3}"/>
              </a:ext>
            </a:extLst>
          </p:cNvPr>
          <p:cNvPicPr>
            <a:picLocks noChangeAspect="1"/>
          </p:cNvPicPr>
          <p:nvPr/>
        </p:nvPicPr>
        <p:blipFill>
          <a:blip r:embed="rId3"/>
          <a:stretch>
            <a:fillRect/>
          </a:stretch>
        </p:blipFill>
        <p:spPr>
          <a:xfrm>
            <a:off x="8031405" y="2016876"/>
            <a:ext cx="1428949" cy="438211"/>
          </a:xfrm>
          <a:prstGeom prst="rect">
            <a:avLst/>
          </a:prstGeom>
        </p:spPr>
      </p:pic>
      <p:cxnSp>
        <p:nvCxnSpPr>
          <p:cNvPr id="15" name="Gerade Verbindung mit Pfeil 14">
            <a:extLst>
              <a:ext uri="{FF2B5EF4-FFF2-40B4-BE49-F238E27FC236}">
                <a16:creationId xmlns:a16="http://schemas.microsoft.com/office/drawing/2014/main" id="{4EA41425-05A0-FA7E-CD5F-0A6C4CF2293F}"/>
              </a:ext>
            </a:extLst>
          </p:cNvPr>
          <p:cNvCxnSpPr>
            <a:cxnSpLocks/>
          </p:cNvCxnSpPr>
          <p:nvPr/>
        </p:nvCxnSpPr>
        <p:spPr>
          <a:xfrm>
            <a:off x="6170507" y="3429000"/>
            <a:ext cx="3289847" cy="574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id="{C0E6AF7B-75EF-2EB8-81CC-2C720DCB421E}"/>
              </a:ext>
            </a:extLst>
          </p:cNvPr>
          <p:cNvCxnSpPr>
            <a:cxnSpLocks/>
          </p:cNvCxnSpPr>
          <p:nvPr/>
        </p:nvCxnSpPr>
        <p:spPr>
          <a:xfrm>
            <a:off x="6096000" y="2906887"/>
            <a:ext cx="0" cy="5221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Gerade Verbindung mit Pfeil 22">
            <a:extLst>
              <a:ext uri="{FF2B5EF4-FFF2-40B4-BE49-F238E27FC236}">
                <a16:creationId xmlns:a16="http://schemas.microsoft.com/office/drawing/2014/main" id="{D68CAF6A-D103-3A6F-3807-D08700525E37}"/>
              </a:ext>
            </a:extLst>
          </p:cNvPr>
          <p:cNvCxnSpPr/>
          <p:nvPr/>
        </p:nvCxnSpPr>
        <p:spPr>
          <a:xfrm flipV="1">
            <a:off x="5513493" y="4511040"/>
            <a:ext cx="2316480" cy="196427"/>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Gerade Verbindung mit Pfeil 24">
            <a:extLst>
              <a:ext uri="{FF2B5EF4-FFF2-40B4-BE49-F238E27FC236}">
                <a16:creationId xmlns:a16="http://schemas.microsoft.com/office/drawing/2014/main" id="{274052F7-6469-7B04-A1A0-72188BF912BF}"/>
              </a:ext>
            </a:extLst>
          </p:cNvPr>
          <p:cNvCxnSpPr/>
          <p:nvPr/>
        </p:nvCxnSpPr>
        <p:spPr>
          <a:xfrm flipV="1">
            <a:off x="5513493" y="4775200"/>
            <a:ext cx="2316480" cy="196427"/>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Gerade Verbindung mit Pfeil 25">
            <a:extLst>
              <a:ext uri="{FF2B5EF4-FFF2-40B4-BE49-F238E27FC236}">
                <a16:creationId xmlns:a16="http://schemas.microsoft.com/office/drawing/2014/main" id="{EB699A2A-ED65-43EB-1DAA-83F9D56855C1}"/>
              </a:ext>
            </a:extLst>
          </p:cNvPr>
          <p:cNvCxnSpPr>
            <a:cxnSpLocks/>
          </p:cNvCxnSpPr>
          <p:nvPr/>
        </p:nvCxnSpPr>
        <p:spPr>
          <a:xfrm flipV="1">
            <a:off x="5513492" y="4873413"/>
            <a:ext cx="2301938" cy="429584"/>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Gerade Verbindung mit Pfeil 27">
            <a:extLst>
              <a:ext uri="{FF2B5EF4-FFF2-40B4-BE49-F238E27FC236}">
                <a16:creationId xmlns:a16="http://schemas.microsoft.com/office/drawing/2014/main" id="{46069AC8-9FAD-67D2-D462-082341A6F6E6}"/>
              </a:ext>
            </a:extLst>
          </p:cNvPr>
          <p:cNvCxnSpPr>
            <a:cxnSpLocks/>
          </p:cNvCxnSpPr>
          <p:nvPr/>
        </p:nvCxnSpPr>
        <p:spPr>
          <a:xfrm flipV="1">
            <a:off x="5513493" y="5254400"/>
            <a:ext cx="2237590" cy="39414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65E0CF79-451D-560C-B8AD-4ED67807FD49}"/>
              </a:ext>
            </a:extLst>
          </p:cNvPr>
          <p:cNvCxnSpPr>
            <a:cxnSpLocks/>
          </p:cNvCxnSpPr>
          <p:nvPr/>
        </p:nvCxnSpPr>
        <p:spPr>
          <a:xfrm flipV="1">
            <a:off x="5513493" y="5348920"/>
            <a:ext cx="2237590" cy="630443"/>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Gerade Verbindung mit Pfeil 30">
            <a:extLst>
              <a:ext uri="{FF2B5EF4-FFF2-40B4-BE49-F238E27FC236}">
                <a16:creationId xmlns:a16="http://schemas.microsoft.com/office/drawing/2014/main" id="{BBF3C134-390F-4870-4C65-629A74978C49}"/>
              </a:ext>
            </a:extLst>
          </p:cNvPr>
          <p:cNvCxnSpPr>
            <a:cxnSpLocks/>
          </p:cNvCxnSpPr>
          <p:nvPr/>
        </p:nvCxnSpPr>
        <p:spPr>
          <a:xfrm flipV="1">
            <a:off x="5513493" y="5694469"/>
            <a:ext cx="2237590" cy="630443"/>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7074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ADF740-B809-2598-852E-7C2D132F1F63}"/>
              </a:ext>
            </a:extLst>
          </p:cNvPr>
          <p:cNvSpPr>
            <a:spLocks noGrp="1"/>
          </p:cNvSpPr>
          <p:nvPr>
            <p:ph type="title"/>
          </p:nvPr>
        </p:nvSpPr>
        <p:spPr/>
        <p:txBody>
          <a:bodyPr/>
          <a:lstStyle/>
          <a:p>
            <a:r>
              <a:rPr lang="de-DE" dirty="0"/>
              <a:t>Blatt „AUDIT“: Automatisierte Plausibilitätskontrolle</a:t>
            </a:r>
          </a:p>
        </p:txBody>
      </p:sp>
      <p:sp>
        <p:nvSpPr>
          <p:cNvPr id="3" name="Textplatzhalter 2">
            <a:extLst>
              <a:ext uri="{FF2B5EF4-FFF2-40B4-BE49-F238E27FC236}">
                <a16:creationId xmlns:a16="http://schemas.microsoft.com/office/drawing/2014/main" id="{0A54A347-CF81-BDA8-E499-63A03240B118}"/>
              </a:ext>
            </a:extLst>
          </p:cNvPr>
          <p:cNvSpPr>
            <a:spLocks noGrp="1"/>
          </p:cNvSpPr>
          <p:nvPr>
            <p:ph type="body" sz="quarter" idx="13"/>
          </p:nvPr>
        </p:nvSpPr>
        <p:spPr/>
        <p:txBody>
          <a:bodyPr/>
          <a:lstStyle/>
          <a:p>
            <a:r>
              <a:rPr lang="de-DE" dirty="0"/>
              <a:t>Zeigt automatisch für die aktuell eingegebene Variante, welche Eingaben von den vordefinierten Deklarationswerten abweichen</a:t>
            </a:r>
          </a:p>
          <a:p>
            <a:r>
              <a:rPr lang="de-DE" dirty="0"/>
              <a:t>Abweichungen müssen keine Fehler darstellen, </a:t>
            </a:r>
            <a:br>
              <a:rPr lang="de-DE" dirty="0"/>
            </a:br>
            <a:r>
              <a:rPr lang="de-DE" dirty="0"/>
              <a:t>müssen aber für eine positive Deklaration im </a:t>
            </a:r>
            <a:br>
              <a:rPr lang="de-DE" dirty="0"/>
            </a:br>
            <a:r>
              <a:rPr lang="de-DE" dirty="0"/>
              <a:t>klimaaktiv Auditbericht aber begründet werden</a:t>
            </a:r>
          </a:p>
          <a:p>
            <a:endParaRPr lang="de-DE" dirty="0"/>
          </a:p>
        </p:txBody>
      </p:sp>
      <p:sp>
        <p:nvSpPr>
          <p:cNvPr id="4" name="Fußzeilenplatzhalter 3">
            <a:extLst>
              <a:ext uri="{FF2B5EF4-FFF2-40B4-BE49-F238E27FC236}">
                <a16:creationId xmlns:a16="http://schemas.microsoft.com/office/drawing/2014/main" id="{E44351E2-F2B5-5F96-8E9C-D09130878D87}"/>
              </a:ext>
            </a:extLst>
          </p:cNvPr>
          <p:cNvSpPr>
            <a:spLocks noGrp="1"/>
          </p:cNvSpPr>
          <p:nvPr>
            <p:ph type="ftr" sz="quarter" idx="11"/>
          </p:nvPr>
        </p:nvSpPr>
        <p:spPr/>
        <p:txBody>
          <a:bodyPr/>
          <a:lstStyle/>
          <a:p>
            <a:r>
              <a:rPr lang="de-AT"/>
              <a:t>Klimaaktiv Nachweistool Plus-Energie-Quartiere</a:t>
            </a:r>
            <a:endParaRPr lang="de-AT" dirty="0"/>
          </a:p>
        </p:txBody>
      </p:sp>
      <p:sp>
        <p:nvSpPr>
          <p:cNvPr id="5" name="Foliennummernplatzhalter 4">
            <a:extLst>
              <a:ext uri="{FF2B5EF4-FFF2-40B4-BE49-F238E27FC236}">
                <a16:creationId xmlns:a16="http://schemas.microsoft.com/office/drawing/2014/main" id="{0ADB1110-65F6-93C6-800C-5DEF6561567E}"/>
              </a:ext>
            </a:extLst>
          </p:cNvPr>
          <p:cNvSpPr>
            <a:spLocks noGrp="1"/>
          </p:cNvSpPr>
          <p:nvPr>
            <p:ph type="sldNum" sz="quarter" idx="12"/>
          </p:nvPr>
        </p:nvSpPr>
        <p:spPr/>
        <p:txBody>
          <a:bodyPr/>
          <a:lstStyle/>
          <a:p>
            <a:fld id="{1206269C-C24E-4E80-9A4B-E7E19BB59A67}" type="slidenum">
              <a:rPr lang="de-AT" smtClean="0"/>
              <a:pPr/>
              <a:t>36</a:t>
            </a:fld>
            <a:endParaRPr lang="de-AT" dirty="0"/>
          </a:p>
        </p:txBody>
      </p:sp>
      <p:pic>
        <p:nvPicPr>
          <p:cNvPr id="7" name="Grafik 6">
            <a:extLst>
              <a:ext uri="{FF2B5EF4-FFF2-40B4-BE49-F238E27FC236}">
                <a16:creationId xmlns:a16="http://schemas.microsoft.com/office/drawing/2014/main" id="{0EFFB7B2-4146-93FB-7E88-4D8883B62BC2}"/>
              </a:ext>
            </a:extLst>
          </p:cNvPr>
          <p:cNvPicPr>
            <a:picLocks noChangeAspect="1"/>
          </p:cNvPicPr>
          <p:nvPr/>
        </p:nvPicPr>
        <p:blipFill>
          <a:blip r:embed="rId2"/>
          <a:stretch>
            <a:fillRect/>
          </a:stretch>
        </p:blipFill>
        <p:spPr>
          <a:xfrm>
            <a:off x="1495161" y="1328392"/>
            <a:ext cx="1430920" cy="715460"/>
          </a:xfrm>
          <a:prstGeom prst="rect">
            <a:avLst/>
          </a:prstGeom>
        </p:spPr>
      </p:pic>
      <p:pic>
        <p:nvPicPr>
          <p:cNvPr id="11" name="Grafik 10">
            <a:extLst>
              <a:ext uri="{FF2B5EF4-FFF2-40B4-BE49-F238E27FC236}">
                <a16:creationId xmlns:a16="http://schemas.microsoft.com/office/drawing/2014/main" id="{A79F4091-0EDB-7C04-3BB7-19F1C9E731EB}"/>
              </a:ext>
            </a:extLst>
          </p:cNvPr>
          <p:cNvPicPr>
            <a:picLocks noChangeAspect="1"/>
          </p:cNvPicPr>
          <p:nvPr/>
        </p:nvPicPr>
        <p:blipFill>
          <a:blip r:embed="rId3"/>
          <a:stretch>
            <a:fillRect/>
          </a:stretch>
        </p:blipFill>
        <p:spPr>
          <a:xfrm>
            <a:off x="1601681" y="3586481"/>
            <a:ext cx="9137650" cy="2641600"/>
          </a:xfrm>
          <a:prstGeom prst="rect">
            <a:avLst/>
          </a:prstGeom>
        </p:spPr>
      </p:pic>
      <p:cxnSp>
        <p:nvCxnSpPr>
          <p:cNvPr id="13" name="Gerade Verbindung mit Pfeil 12">
            <a:extLst>
              <a:ext uri="{FF2B5EF4-FFF2-40B4-BE49-F238E27FC236}">
                <a16:creationId xmlns:a16="http://schemas.microsoft.com/office/drawing/2014/main" id="{5DCD7666-BA64-4138-DD81-03A3975855EA}"/>
              </a:ext>
            </a:extLst>
          </p:cNvPr>
          <p:cNvCxnSpPr>
            <a:cxnSpLocks/>
          </p:cNvCxnSpPr>
          <p:nvPr/>
        </p:nvCxnSpPr>
        <p:spPr>
          <a:xfrm>
            <a:off x="4917440" y="2434982"/>
            <a:ext cx="3095413" cy="1336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391B4654-661A-EFCF-2BE8-8329FFAD0300}"/>
              </a:ext>
            </a:extLst>
          </p:cNvPr>
          <p:cNvCxnSpPr>
            <a:cxnSpLocks/>
          </p:cNvCxnSpPr>
          <p:nvPr/>
        </p:nvCxnSpPr>
        <p:spPr>
          <a:xfrm flipH="1">
            <a:off x="8798560" y="2356932"/>
            <a:ext cx="873760" cy="15209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69603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p:cNvSpPr>
            <a:spLocks noGrp="1"/>
          </p:cNvSpPr>
          <p:nvPr>
            <p:ph type="title"/>
          </p:nvPr>
        </p:nvSpPr>
        <p:spPr/>
        <p:txBody>
          <a:bodyPr/>
          <a:lstStyle/>
          <a:p>
            <a:r>
              <a:rPr lang="de-AT" dirty="0"/>
              <a:t>Kontakt</a:t>
            </a:r>
            <a:br>
              <a:rPr lang="de-AT" dirty="0"/>
            </a:br>
            <a:r>
              <a:rPr lang="de-AT" b="1" dirty="0">
                <a:solidFill>
                  <a:schemeClr val="accent1"/>
                </a:solidFill>
              </a:rPr>
              <a:t>www.klimaaktiv.at/siedlungen</a:t>
            </a:r>
            <a:br>
              <a:rPr lang="de-AT" b="1" dirty="0">
                <a:solidFill>
                  <a:schemeClr val="accent1"/>
                </a:solidFill>
              </a:rPr>
            </a:br>
            <a:endParaRPr lang="de-DE" b="1" dirty="0">
              <a:solidFill>
                <a:schemeClr val="accent1"/>
              </a:solidFill>
            </a:endParaRPr>
          </a:p>
        </p:txBody>
      </p:sp>
      <p:grpSp>
        <p:nvGrpSpPr>
          <p:cNvPr id="3" name="Gruppieren 2">
            <a:extLst>
              <a:ext uri="{FF2B5EF4-FFF2-40B4-BE49-F238E27FC236}">
                <a16:creationId xmlns:a16="http://schemas.microsoft.com/office/drawing/2014/main" id="{A986CF35-F076-74DD-28C1-C69EE8C68B59}"/>
              </a:ext>
            </a:extLst>
          </p:cNvPr>
          <p:cNvGrpSpPr/>
          <p:nvPr/>
        </p:nvGrpSpPr>
        <p:grpSpPr>
          <a:xfrm>
            <a:off x="5244751" y="2000249"/>
            <a:ext cx="6472220" cy="4439437"/>
            <a:chOff x="5244751" y="2000249"/>
            <a:chExt cx="6472220" cy="4439437"/>
          </a:xfrm>
        </p:grpSpPr>
        <p:sp>
          <p:nvSpPr>
            <p:cNvPr id="452" name="Zylinder 451">
              <a:extLst>
                <a:ext uri="{FF2B5EF4-FFF2-40B4-BE49-F238E27FC236}">
                  <a16:creationId xmlns:a16="http://schemas.microsoft.com/office/drawing/2014/main" id="{9FBEA4F1-B01B-B4DD-41FB-BE70E1ECF089}"/>
                </a:ext>
              </a:extLst>
            </p:cNvPr>
            <p:cNvSpPr/>
            <p:nvPr/>
          </p:nvSpPr>
          <p:spPr bwMode="auto">
            <a:xfrm>
              <a:off x="5244751" y="5362087"/>
              <a:ext cx="1547693" cy="1077599"/>
            </a:xfrm>
            <a:prstGeom prst="can">
              <a:avLst/>
            </a:prstGeom>
            <a:gradFill rotWithShape="1">
              <a:gsLst>
                <a:gs pos="0">
                  <a:srgbClr val="F59C00">
                    <a:lumMod val="110000"/>
                    <a:satMod val="105000"/>
                    <a:tint val="67000"/>
                  </a:srgbClr>
                </a:gs>
                <a:gs pos="50000">
                  <a:srgbClr val="F59C00">
                    <a:lumMod val="105000"/>
                    <a:satMod val="103000"/>
                    <a:tint val="73000"/>
                  </a:srgbClr>
                </a:gs>
                <a:gs pos="100000">
                  <a:srgbClr val="F59C00">
                    <a:lumMod val="105000"/>
                    <a:satMod val="109000"/>
                    <a:tint val="81000"/>
                  </a:srgbClr>
                </a:gs>
              </a:gsLst>
              <a:lin ang="5400000" scaled="0"/>
            </a:gradFill>
            <a:ln w="6350" cap="flat" cmpd="sng" algn="ctr">
              <a:solidFill>
                <a:srgbClr val="F59C00"/>
              </a:solidFill>
              <a:prstDash val="solid"/>
              <a:miter lim="800000"/>
            </a:ln>
            <a:effectLst/>
          </p:spPr>
          <p:txBody>
            <a:bodyPr lIns="36000" rIns="36000" rtlCol="0" anchor="ctr"/>
            <a:lstStyle/>
            <a:p>
              <a:pPr algn="ctr" defTabSz="914339">
                <a:defRPr/>
              </a:pPr>
              <a:r>
                <a:rPr lang="de-DE" sz="1400" b="1" kern="0" noProof="1">
                  <a:solidFill>
                    <a:srgbClr val="000000"/>
                  </a:solidFill>
                  <a:latin typeface="Calibri" panose="020F0502020204030204"/>
                </a:rPr>
                <a:t>🛠️🏗️ Praktische Anwendbarkeit und Erreichbarkeit</a:t>
              </a:r>
              <a:endParaRPr lang="de-DE" sz="1400" kern="0" noProof="1">
                <a:solidFill>
                  <a:srgbClr val="000000"/>
                </a:solidFill>
                <a:latin typeface="Calibri" panose="020F0502020204030204"/>
              </a:endParaRPr>
            </a:p>
          </p:txBody>
        </p:sp>
        <p:sp>
          <p:nvSpPr>
            <p:cNvPr id="453" name="Zylinder 452">
              <a:extLst>
                <a:ext uri="{FF2B5EF4-FFF2-40B4-BE49-F238E27FC236}">
                  <a16:creationId xmlns:a16="http://schemas.microsoft.com/office/drawing/2014/main" id="{327E06EB-E71C-134B-1CBA-433C562D9D85}"/>
                </a:ext>
              </a:extLst>
            </p:cNvPr>
            <p:cNvSpPr/>
            <p:nvPr/>
          </p:nvSpPr>
          <p:spPr bwMode="auto">
            <a:xfrm>
              <a:off x="8525475" y="5362087"/>
              <a:ext cx="1547693" cy="1077599"/>
            </a:xfrm>
            <a:prstGeom prst="can">
              <a:avLst/>
            </a:prstGeom>
            <a:gradFill rotWithShape="1">
              <a:gsLst>
                <a:gs pos="0">
                  <a:srgbClr val="F59C00">
                    <a:lumMod val="110000"/>
                    <a:satMod val="105000"/>
                    <a:tint val="67000"/>
                  </a:srgbClr>
                </a:gs>
                <a:gs pos="50000">
                  <a:srgbClr val="F59C00">
                    <a:lumMod val="105000"/>
                    <a:satMod val="103000"/>
                    <a:tint val="73000"/>
                  </a:srgbClr>
                </a:gs>
                <a:gs pos="100000">
                  <a:srgbClr val="F59C00">
                    <a:lumMod val="105000"/>
                    <a:satMod val="109000"/>
                    <a:tint val="81000"/>
                  </a:srgbClr>
                </a:gs>
              </a:gsLst>
              <a:lin ang="5400000" scaled="0"/>
            </a:gradFill>
            <a:ln w="6350" cap="flat" cmpd="sng" algn="ctr">
              <a:solidFill>
                <a:srgbClr val="F59C00"/>
              </a:solidFill>
              <a:prstDash val="solid"/>
              <a:miter lim="800000"/>
            </a:ln>
            <a:effectLst/>
          </p:spPr>
          <p:txBody>
            <a:bodyPr lIns="0" rIns="0" rtlCol="0" anchor="ctr"/>
            <a:lstStyle/>
            <a:p>
              <a:pPr algn="ctr" defTabSz="914339">
                <a:defRPr/>
              </a:pPr>
              <a:r>
                <a:rPr lang="de-DE" sz="1600" b="1" kern="0" noProof="1">
                  <a:solidFill>
                    <a:srgbClr val="000000"/>
                  </a:solidFill>
                  <a:latin typeface="Calibri" panose="020F0502020204030204"/>
                </a:rPr>
                <a:t>⏲️</a:t>
              </a:r>
              <a:r>
                <a:rPr lang="de-DE" sz="1200" b="1" kern="0" noProof="1">
                  <a:solidFill>
                    <a:srgbClr val="000000"/>
                  </a:solidFill>
                  <a:latin typeface="Calibri" panose="020F0502020204030204"/>
                </a:rPr>
                <a:t>Hohe Zeitliche Auflösung</a:t>
              </a:r>
              <a:endParaRPr lang="de-DE" sz="1400" b="1" kern="0" noProof="1">
                <a:solidFill>
                  <a:srgbClr val="000000"/>
                </a:solidFill>
                <a:latin typeface="Calibri" panose="020F0502020204030204"/>
              </a:endParaRPr>
            </a:p>
            <a:p>
              <a:pPr algn="ctr" defTabSz="914339">
                <a:defRPr/>
              </a:pPr>
              <a:r>
                <a:rPr lang="de-DE" sz="1200" b="1" kern="0" noProof="1">
                  <a:solidFill>
                    <a:srgbClr val="000000"/>
                  </a:solidFill>
                  <a:latin typeface="Calibri" panose="020F0502020204030204"/>
                </a:rPr>
                <a:t>(stündlich 2025</a:t>
              </a:r>
              <a:r>
                <a:rPr lang="de-DE" sz="1200" b="1" kern="0" dirty="0">
                  <a:solidFill>
                    <a:srgbClr val="000000"/>
                  </a:solidFill>
                  <a:latin typeface="Calibri" panose="020F0502020204030204"/>
                </a:rPr>
                <a:t>−</a:t>
              </a:r>
              <a:r>
                <a:rPr lang="de-DE" sz="1200" b="1" kern="0" noProof="1">
                  <a:solidFill>
                    <a:srgbClr val="000000"/>
                  </a:solidFill>
                  <a:latin typeface="Calibri" panose="020F0502020204030204"/>
                </a:rPr>
                <a:t>2050)</a:t>
              </a:r>
              <a:r>
                <a:rPr lang="de-DE" sz="1600" kern="0" noProof="1">
                  <a:solidFill>
                    <a:srgbClr val="000000"/>
                  </a:solidFill>
                  <a:latin typeface="Calibri" panose="020F0502020204030204"/>
                </a:rPr>
                <a:t> </a:t>
              </a:r>
            </a:p>
          </p:txBody>
        </p:sp>
        <p:sp>
          <p:nvSpPr>
            <p:cNvPr id="454" name="Zylinder 453">
              <a:extLst>
                <a:ext uri="{FF2B5EF4-FFF2-40B4-BE49-F238E27FC236}">
                  <a16:creationId xmlns:a16="http://schemas.microsoft.com/office/drawing/2014/main" id="{355508D9-49E1-B899-7EEA-CF01D2EDCC9F}"/>
                </a:ext>
              </a:extLst>
            </p:cNvPr>
            <p:cNvSpPr/>
            <p:nvPr/>
          </p:nvSpPr>
          <p:spPr bwMode="auto">
            <a:xfrm>
              <a:off x="10169278" y="5362087"/>
              <a:ext cx="1547693" cy="1077599"/>
            </a:xfrm>
            <a:prstGeom prst="can">
              <a:avLst/>
            </a:prstGeom>
            <a:gradFill rotWithShape="1">
              <a:gsLst>
                <a:gs pos="0">
                  <a:srgbClr val="F59C00">
                    <a:lumMod val="110000"/>
                    <a:satMod val="105000"/>
                    <a:tint val="67000"/>
                  </a:srgbClr>
                </a:gs>
                <a:gs pos="50000">
                  <a:srgbClr val="F59C00">
                    <a:lumMod val="105000"/>
                    <a:satMod val="103000"/>
                    <a:tint val="73000"/>
                  </a:srgbClr>
                </a:gs>
                <a:gs pos="100000">
                  <a:srgbClr val="F59C00">
                    <a:lumMod val="105000"/>
                    <a:satMod val="109000"/>
                    <a:tint val="81000"/>
                  </a:srgbClr>
                </a:gs>
              </a:gsLst>
              <a:lin ang="5400000" scaled="0"/>
            </a:gradFill>
            <a:ln w="6350" cap="flat" cmpd="sng" algn="ctr">
              <a:solidFill>
                <a:srgbClr val="F59C00"/>
              </a:solidFill>
              <a:prstDash val="solid"/>
              <a:miter lim="800000"/>
            </a:ln>
            <a:effectLst/>
          </p:spPr>
          <p:txBody>
            <a:bodyPr rtlCol="0" anchor="ctr"/>
            <a:lstStyle/>
            <a:p>
              <a:pPr algn="ctr" defTabSz="914339">
                <a:defRPr/>
              </a:pPr>
              <a:r>
                <a:rPr lang="de-DE" sz="1100" b="1" kern="0" noProof="1">
                  <a:solidFill>
                    <a:srgbClr val="000000"/>
                  </a:solidFill>
                  <a:latin typeface="Calibri" panose="020F0502020204030204"/>
                </a:rPr>
                <a:t>Zielwerte wissenschaftlich fundiert mit Pariser Klimazielen verknüpft </a:t>
              </a:r>
              <a:endParaRPr lang="de-DE" sz="1100" kern="0" noProof="1">
                <a:solidFill>
                  <a:srgbClr val="000000"/>
                </a:solidFill>
                <a:latin typeface="Calibri" panose="020F0502020204030204"/>
              </a:endParaRPr>
            </a:p>
          </p:txBody>
        </p:sp>
        <p:sp>
          <p:nvSpPr>
            <p:cNvPr id="455" name="Zylinder 454">
              <a:extLst>
                <a:ext uri="{FF2B5EF4-FFF2-40B4-BE49-F238E27FC236}">
                  <a16:creationId xmlns:a16="http://schemas.microsoft.com/office/drawing/2014/main" id="{8570AE29-E21A-EE0F-3991-83988035B6FB}"/>
                </a:ext>
              </a:extLst>
            </p:cNvPr>
            <p:cNvSpPr/>
            <p:nvPr/>
          </p:nvSpPr>
          <p:spPr bwMode="auto">
            <a:xfrm>
              <a:off x="6885113" y="5362087"/>
              <a:ext cx="1547693" cy="1077599"/>
            </a:xfrm>
            <a:prstGeom prst="can">
              <a:avLst/>
            </a:prstGeom>
            <a:gradFill rotWithShape="1">
              <a:gsLst>
                <a:gs pos="0">
                  <a:srgbClr val="F59C00">
                    <a:lumMod val="110000"/>
                    <a:satMod val="105000"/>
                    <a:tint val="67000"/>
                  </a:srgbClr>
                </a:gs>
                <a:gs pos="50000">
                  <a:srgbClr val="F59C00">
                    <a:lumMod val="105000"/>
                    <a:satMod val="103000"/>
                    <a:tint val="73000"/>
                  </a:srgbClr>
                </a:gs>
                <a:gs pos="100000">
                  <a:srgbClr val="F59C00">
                    <a:lumMod val="105000"/>
                    <a:satMod val="109000"/>
                    <a:tint val="81000"/>
                  </a:srgbClr>
                </a:gs>
              </a:gsLst>
              <a:lin ang="5400000" scaled="0"/>
            </a:gradFill>
            <a:ln w="6350" cap="flat" cmpd="sng" algn="ctr">
              <a:solidFill>
                <a:srgbClr val="F59C00"/>
              </a:solidFill>
              <a:prstDash val="solid"/>
              <a:miter lim="800000"/>
            </a:ln>
            <a:effectLst/>
          </p:spPr>
          <p:txBody>
            <a:bodyPr rtlCol="0" anchor="ctr"/>
            <a:lstStyle/>
            <a:p>
              <a:pPr algn="ctr" defTabSz="914339">
                <a:defRPr/>
              </a:pPr>
              <a:r>
                <a:rPr lang="de-DE" sz="1400" b="1" kern="0" noProof="1">
                  <a:solidFill>
                    <a:srgbClr val="000000"/>
                  </a:solidFill>
                  <a:latin typeface="Calibri" panose="020F0502020204030204"/>
                </a:rPr>
                <a:t>🏙️Klar definierte Systemgrenzen</a:t>
              </a:r>
              <a:endParaRPr lang="de-DE" sz="1400" kern="0" noProof="1">
                <a:solidFill>
                  <a:srgbClr val="000000"/>
                </a:solidFill>
                <a:latin typeface="Calibri" panose="020F0502020204030204"/>
              </a:endParaRPr>
            </a:p>
          </p:txBody>
        </p:sp>
        <p:sp>
          <p:nvSpPr>
            <p:cNvPr id="456" name="Rechteck 455">
              <a:extLst>
                <a:ext uri="{FF2B5EF4-FFF2-40B4-BE49-F238E27FC236}">
                  <a16:creationId xmlns:a16="http://schemas.microsoft.com/office/drawing/2014/main" id="{BFFB59A2-5105-D964-7335-D478C4F377A8}"/>
                </a:ext>
              </a:extLst>
            </p:cNvPr>
            <p:cNvSpPr/>
            <p:nvPr/>
          </p:nvSpPr>
          <p:spPr bwMode="auto">
            <a:xfrm>
              <a:off x="5591431" y="5005837"/>
              <a:ext cx="1654744" cy="425881"/>
            </a:xfrm>
            <a:prstGeom prst="rect">
              <a:avLst/>
            </a:prstGeom>
            <a:solidFill>
              <a:srgbClr val="D8D7B7"/>
            </a:solidFill>
            <a:ln w="28575" cap="flat" cmpd="sng" algn="ctr">
              <a:noFill/>
              <a:prstDash val="dash"/>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57" name="Building5" descr="{&quot;Key&quot;:&quot;POWER_USER_SHAPE_ICON&quot;,&quot;Value&quot;:&quot;POWER_USER_SHAPE_ICON_STYLE_1&quot;}">
              <a:extLst>
                <a:ext uri="{FF2B5EF4-FFF2-40B4-BE49-F238E27FC236}">
                  <a16:creationId xmlns:a16="http://schemas.microsoft.com/office/drawing/2014/main" id="{F0ADCF4E-B237-4101-B01D-0F4DE8D07D06}"/>
                </a:ext>
              </a:extLst>
            </p:cNvPr>
            <p:cNvSpPr>
              <a:spLocks noChangeAspect="1" noEditPoints="1"/>
            </p:cNvSpPr>
            <p:nvPr>
              <p:custDataLst>
                <p:tags r:id="rId1"/>
              </p:custDataLst>
            </p:nvPr>
          </p:nvSpPr>
          <p:spPr bwMode="auto">
            <a:xfrm>
              <a:off x="5652014" y="3646383"/>
              <a:ext cx="1233099" cy="1369475"/>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58" name="Rechteck 457">
              <a:extLst>
                <a:ext uri="{FF2B5EF4-FFF2-40B4-BE49-F238E27FC236}">
                  <a16:creationId xmlns:a16="http://schemas.microsoft.com/office/drawing/2014/main" id="{C7E1A1A6-04F4-2E9D-5FC6-488755DEC3E2}"/>
                </a:ext>
              </a:extLst>
            </p:cNvPr>
            <p:cNvSpPr/>
            <p:nvPr/>
          </p:nvSpPr>
          <p:spPr bwMode="auto">
            <a:xfrm>
              <a:off x="5557337" y="3601631"/>
              <a:ext cx="1052055" cy="553998"/>
            </a:xfrm>
            <a:prstGeom prst="rect">
              <a:avLst/>
            </a:prstGeom>
          </p:spPr>
          <p:txBody>
            <a:bodyPr wrap="square">
              <a:spAutoFit/>
            </a:bodyPr>
            <a:lstStyle/>
            <a:p>
              <a:pPr defTabSz="685754">
                <a:defRPr/>
              </a:pPr>
              <a:r>
                <a:rPr lang="de-DE" sz="1000" noProof="1">
                  <a:solidFill>
                    <a:srgbClr val="5FB564"/>
                  </a:solidFill>
                  <a:latin typeface="Bahnschrift" panose="020B0502040204020203" pitchFamily="34" charset="0"/>
                </a:rPr>
                <a:t>Gebäude-Betrieb </a:t>
              </a:r>
            </a:p>
            <a:p>
              <a:pPr defTabSz="685754">
                <a:defRPr/>
              </a:pPr>
              <a:r>
                <a:rPr lang="de-DE" sz="1000" noProof="1">
                  <a:solidFill>
                    <a:srgbClr val="5FB564"/>
                  </a:solidFill>
                  <a:latin typeface="Bahnschrift" panose="020B0502040204020203" pitchFamily="34" charset="0"/>
                </a:rPr>
                <a:t>und -Nutzung</a:t>
              </a:r>
            </a:p>
          </p:txBody>
        </p:sp>
        <p:grpSp>
          <p:nvGrpSpPr>
            <p:cNvPr id="459" name="Gruppieren 458">
              <a:extLst>
                <a:ext uri="{FF2B5EF4-FFF2-40B4-BE49-F238E27FC236}">
                  <a16:creationId xmlns:a16="http://schemas.microsoft.com/office/drawing/2014/main" id="{15004023-397D-A34F-3F97-463EDDC59A5C}"/>
                </a:ext>
              </a:extLst>
            </p:cNvPr>
            <p:cNvGrpSpPr/>
            <p:nvPr/>
          </p:nvGrpSpPr>
          <p:grpSpPr>
            <a:xfrm>
              <a:off x="6248288" y="4315958"/>
              <a:ext cx="298582" cy="276822"/>
              <a:chOff x="-19101" y="2381281"/>
              <a:chExt cx="699820" cy="699820"/>
            </a:xfrm>
          </p:grpSpPr>
          <p:sp>
            <p:nvSpPr>
              <p:cNvPr id="460" name="Ellipse 459">
                <a:extLst>
                  <a:ext uri="{FF2B5EF4-FFF2-40B4-BE49-F238E27FC236}">
                    <a16:creationId xmlns:a16="http://schemas.microsoft.com/office/drawing/2014/main" id="{EC01D521-2CE8-2A67-65C3-DFD51D7D2C98}"/>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61" name="Plug" descr="{&quot;Key&quot;:&quot;POWER_USER_SHAPE_ICON&quot;,&quot;Value&quot;:&quot;POWER_USER_SHAPE_ICON_STYLE_1&quot;}">
                <a:extLst>
                  <a:ext uri="{FF2B5EF4-FFF2-40B4-BE49-F238E27FC236}">
                    <a16:creationId xmlns:a16="http://schemas.microsoft.com/office/drawing/2014/main" id="{9EDB6ED6-74FB-8487-4911-B233837A9808}"/>
                  </a:ext>
                </a:extLst>
              </p:cNvPr>
              <p:cNvSpPr>
                <a:spLocks noChangeAspect="1" noEditPoints="1"/>
              </p:cNvSpPr>
              <p:nvPr>
                <p:custDataLst>
                  <p:tags r:id="rId64"/>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462" name="Gruppieren 461" descr="{&quot;Key&quot;:&quot;POWER_USER_SHAPE_ICON&quot;,&quot;Value&quot;:&quot;POWER_USER_SHAPE_ICON_STYLE_2&quot;}">
              <a:extLst>
                <a:ext uri="{FF2B5EF4-FFF2-40B4-BE49-F238E27FC236}">
                  <a16:creationId xmlns:a16="http://schemas.microsoft.com/office/drawing/2014/main" id="{06238A27-40CE-6EE6-FDA4-ABA9202C3638}"/>
                </a:ext>
              </a:extLst>
            </p:cNvPr>
            <p:cNvGrpSpPr>
              <a:grpSpLocks noChangeAspect="1"/>
            </p:cNvGrpSpPr>
            <p:nvPr/>
          </p:nvGrpSpPr>
          <p:grpSpPr>
            <a:xfrm>
              <a:off x="6120548" y="4081173"/>
              <a:ext cx="295815" cy="295814"/>
              <a:chOff x="-151229" y="3030538"/>
              <a:chExt cx="762000" cy="762000"/>
            </a:xfrm>
          </p:grpSpPr>
          <p:sp>
            <p:nvSpPr>
              <p:cNvPr id="463" name="POWER_USER_SHAPE_ICON_STYLE_2">
                <a:extLst>
                  <a:ext uri="{FF2B5EF4-FFF2-40B4-BE49-F238E27FC236}">
                    <a16:creationId xmlns:a16="http://schemas.microsoft.com/office/drawing/2014/main" id="{2EEFEBF2-E6E2-0839-69B6-39B0718906A8}"/>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464" name="Gruppieren 463">
                <a:extLst>
                  <a:ext uri="{FF2B5EF4-FFF2-40B4-BE49-F238E27FC236}">
                    <a16:creationId xmlns:a16="http://schemas.microsoft.com/office/drawing/2014/main" id="{96D76273-909D-3F29-E686-30DA93E24508}"/>
                  </a:ext>
                </a:extLst>
              </p:cNvPr>
              <p:cNvGrpSpPr>
                <a:grpSpLocks noChangeAspect="1"/>
              </p:cNvGrpSpPr>
              <p:nvPr/>
            </p:nvGrpSpPr>
            <p:grpSpPr>
              <a:xfrm>
                <a:off x="1" y="3157538"/>
                <a:ext cx="459541" cy="508000"/>
                <a:chOff x="0" y="3157538"/>
                <a:chExt cx="491134" cy="542925"/>
              </a:xfrm>
            </p:grpSpPr>
            <p:sp>
              <p:nvSpPr>
                <p:cNvPr id="465" name="Crowdsourcing2">
                  <a:extLst>
                    <a:ext uri="{FF2B5EF4-FFF2-40B4-BE49-F238E27FC236}">
                      <a16:creationId xmlns:a16="http://schemas.microsoft.com/office/drawing/2014/main" id="{BD131F82-5871-FA5D-B6D2-293B8A23BD1B}"/>
                    </a:ext>
                  </a:extLst>
                </p:cNvPr>
                <p:cNvSpPr>
                  <a:spLocks/>
                </p:cNvSpPr>
                <p:nvPr>
                  <p:custDataLst>
                    <p:tags r:id="rId56"/>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66" name="Crowdsourcing2">
                  <a:extLst>
                    <a:ext uri="{FF2B5EF4-FFF2-40B4-BE49-F238E27FC236}">
                      <a16:creationId xmlns:a16="http://schemas.microsoft.com/office/drawing/2014/main" id="{F0F4E3A8-9E19-6A68-1AB0-52A93591B077}"/>
                    </a:ext>
                  </a:extLst>
                </p:cNvPr>
                <p:cNvSpPr>
                  <a:spLocks/>
                </p:cNvSpPr>
                <p:nvPr>
                  <p:custDataLst>
                    <p:tags r:id="rId57"/>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67" name="Crowdsourcing2">
                  <a:extLst>
                    <a:ext uri="{FF2B5EF4-FFF2-40B4-BE49-F238E27FC236}">
                      <a16:creationId xmlns:a16="http://schemas.microsoft.com/office/drawing/2014/main" id="{F926C792-F4D5-2B99-BFEC-1260A1DCE07C}"/>
                    </a:ext>
                  </a:extLst>
                </p:cNvPr>
                <p:cNvSpPr>
                  <a:spLocks/>
                </p:cNvSpPr>
                <p:nvPr>
                  <p:custDataLst>
                    <p:tags r:id="rId58"/>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68" name="Crowdsourcing2">
                  <a:extLst>
                    <a:ext uri="{FF2B5EF4-FFF2-40B4-BE49-F238E27FC236}">
                      <a16:creationId xmlns:a16="http://schemas.microsoft.com/office/drawing/2014/main" id="{EE0F8BFB-0B99-A0FF-206F-F62532F0FFEB}"/>
                    </a:ext>
                  </a:extLst>
                </p:cNvPr>
                <p:cNvSpPr>
                  <a:spLocks/>
                </p:cNvSpPr>
                <p:nvPr>
                  <p:custDataLst>
                    <p:tags r:id="rId59"/>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69" name="Crowdsourcing2">
                  <a:extLst>
                    <a:ext uri="{FF2B5EF4-FFF2-40B4-BE49-F238E27FC236}">
                      <a16:creationId xmlns:a16="http://schemas.microsoft.com/office/drawing/2014/main" id="{CB4098D7-29D8-C417-3881-690345511762}"/>
                    </a:ext>
                  </a:extLst>
                </p:cNvPr>
                <p:cNvSpPr>
                  <a:spLocks/>
                </p:cNvSpPr>
                <p:nvPr>
                  <p:custDataLst>
                    <p:tags r:id="rId60"/>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70" name="Crowdsourcing2">
                  <a:extLst>
                    <a:ext uri="{FF2B5EF4-FFF2-40B4-BE49-F238E27FC236}">
                      <a16:creationId xmlns:a16="http://schemas.microsoft.com/office/drawing/2014/main" id="{41F0EE70-846F-EA52-7718-3ADB06B71B28}"/>
                    </a:ext>
                  </a:extLst>
                </p:cNvPr>
                <p:cNvSpPr>
                  <a:spLocks/>
                </p:cNvSpPr>
                <p:nvPr>
                  <p:custDataLst>
                    <p:tags r:id="rId61"/>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71" name="Crowdsourcing2">
                  <a:extLst>
                    <a:ext uri="{FF2B5EF4-FFF2-40B4-BE49-F238E27FC236}">
                      <a16:creationId xmlns:a16="http://schemas.microsoft.com/office/drawing/2014/main" id="{9BB91911-2C6E-FE6F-F9F1-C83CE8D5A61F}"/>
                    </a:ext>
                  </a:extLst>
                </p:cNvPr>
                <p:cNvSpPr>
                  <a:spLocks/>
                </p:cNvSpPr>
                <p:nvPr>
                  <p:custDataLst>
                    <p:tags r:id="rId62"/>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72" name="Crowdsourcing2">
                  <a:extLst>
                    <a:ext uri="{FF2B5EF4-FFF2-40B4-BE49-F238E27FC236}">
                      <a16:creationId xmlns:a16="http://schemas.microsoft.com/office/drawing/2014/main" id="{5348579A-6AB7-B170-0BA5-6D685E704AED}"/>
                    </a:ext>
                  </a:extLst>
                </p:cNvPr>
                <p:cNvSpPr>
                  <a:spLocks/>
                </p:cNvSpPr>
                <p:nvPr>
                  <p:custDataLst>
                    <p:tags r:id="rId63"/>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nvGrpSpPr>
            <p:cNvPr id="473" name="Gruppieren 472">
              <a:extLst>
                <a:ext uri="{FF2B5EF4-FFF2-40B4-BE49-F238E27FC236}">
                  <a16:creationId xmlns:a16="http://schemas.microsoft.com/office/drawing/2014/main" id="{BBE5D1F4-9B1F-2E68-BE64-4D91C964DEF3}"/>
                </a:ext>
              </a:extLst>
            </p:cNvPr>
            <p:cNvGrpSpPr/>
            <p:nvPr/>
          </p:nvGrpSpPr>
          <p:grpSpPr>
            <a:xfrm>
              <a:off x="5781624" y="4403320"/>
              <a:ext cx="480669" cy="448955"/>
              <a:chOff x="1369937" y="4620185"/>
              <a:chExt cx="512470" cy="478658"/>
            </a:xfrm>
          </p:grpSpPr>
          <p:grpSp>
            <p:nvGrpSpPr>
              <p:cNvPr id="474" name="Gruppieren 473" descr="{&quot;Key&quot;:&quot;POWER_USER_SHAPE_ICON&quot;,&quot;Value&quot;:&quot;POWER_USER_SHAPE_ICON_STYLE_2&quot;}">
                <a:extLst>
                  <a:ext uri="{FF2B5EF4-FFF2-40B4-BE49-F238E27FC236}">
                    <a16:creationId xmlns:a16="http://schemas.microsoft.com/office/drawing/2014/main" id="{91DFF78B-F7EC-CCCD-8674-705483F089BE}"/>
                  </a:ext>
                </a:extLst>
              </p:cNvPr>
              <p:cNvGrpSpPr>
                <a:grpSpLocks noChangeAspect="1"/>
              </p:cNvGrpSpPr>
              <p:nvPr/>
            </p:nvGrpSpPr>
            <p:grpSpPr>
              <a:xfrm>
                <a:off x="1498726" y="4620185"/>
                <a:ext cx="286311" cy="286311"/>
                <a:chOff x="-147119" y="3030538"/>
                <a:chExt cx="762000" cy="762000"/>
              </a:xfrm>
              <a:solidFill>
                <a:srgbClr val="000066"/>
              </a:solidFill>
            </p:grpSpPr>
            <p:sp>
              <p:nvSpPr>
                <p:cNvPr id="484" name="POWER_USER_SHAPE_ICON_STYLE_2">
                  <a:extLst>
                    <a:ext uri="{FF2B5EF4-FFF2-40B4-BE49-F238E27FC236}">
                      <a16:creationId xmlns:a16="http://schemas.microsoft.com/office/drawing/2014/main" id="{54808539-3E8D-F008-33D4-284AAFB1F5FD}"/>
                    </a:ext>
                  </a:extLst>
                </p:cNvPr>
                <p:cNvSpPr/>
                <p:nvPr/>
              </p:nvSpPr>
              <p:spPr>
                <a:xfrm>
                  <a:off x="-147119" y="3030538"/>
                  <a:ext cx="762000" cy="762000"/>
                </a:xfrm>
                <a:prstGeom prst="ellipse">
                  <a:avLst/>
                </a:prstGeom>
                <a:gr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85" name="Snowflake2" descr="{&quot;Key&quot;:&quot;POWER_USER_SHAPE_ICON&quot;,&quot;Value&quot;:&quot;POWER_USER_SHAPE_ICON_STYLE_1&quot;}">
                  <a:extLst>
                    <a:ext uri="{FF2B5EF4-FFF2-40B4-BE49-F238E27FC236}">
                      <a16:creationId xmlns:a16="http://schemas.microsoft.com/office/drawing/2014/main" id="{73AC1E7B-6D0C-82B1-9E78-ABF9EAF0D8E6}"/>
                    </a:ext>
                  </a:extLst>
                </p:cNvPr>
                <p:cNvSpPr>
                  <a:spLocks noChangeAspect="1"/>
                </p:cNvSpPr>
                <p:nvPr/>
              </p:nvSpPr>
              <p:spPr bwMode="auto">
                <a:xfrm>
                  <a:off x="0" y="3157538"/>
                  <a:ext cx="467762" cy="508000"/>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475" name="Gruppieren 474" descr="{&quot;Key&quot;:&quot;POWER_USER_SHAPE_ICON&quot;,&quot;Value&quot;:&quot;POWER_USER_SHAPE_ICON_STYLE_2&quot;}">
                <a:extLst>
                  <a:ext uri="{FF2B5EF4-FFF2-40B4-BE49-F238E27FC236}">
                    <a16:creationId xmlns:a16="http://schemas.microsoft.com/office/drawing/2014/main" id="{7A3433DB-B868-D6A2-D88B-06631234A0E5}"/>
                  </a:ext>
                </a:extLst>
              </p:cNvPr>
              <p:cNvGrpSpPr>
                <a:grpSpLocks noChangeAspect="1"/>
              </p:cNvGrpSpPr>
              <p:nvPr/>
            </p:nvGrpSpPr>
            <p:grpSpPr>
              <a:xfrm>
                <a:off x="1369937" y="4810589"/>
                <a:ext cx="288254" cy="288254"/>
                <a:chOff x="-158376" y="3030538"/>
                <a:chExt cx="762000" cy="762000"/>
              </a:xfrm>
            </p:grpSpPr>
            <p:sp>
              <p:nvSpPr>
                <p:cNvPr id="482" name="POWER_USER_SHAPE_ICON_STYLE_2">
                  <a:extLst>
                    <a:ext uri="{FF2B5EF4-FFF2-40B4-BE49-F238E27FC236}">
                      <a16:creationId xmlns:a16="http://schemas.microsoft.com/office/drawing/2014/main" id="{28CA0B0B-703B-5CAB-24B8-5F899A395C5A}"/>
                    </a:ext>
                  </a:extLst>
                </p:cNvPr>
                <p:cNvSpPr/>
                <p:nvPr/>
              </p:nvSpPr>
              <p:spPr>
                <a:xfrm>
                  <a:off x="-158376" y="3030538"/>
                  <a:ext cx="762000" cy="7620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83" name="Flame3" descr="{&quot;Key&quot;:&quot;POWER_USER_SHAPE_ICON&quot;,&quot;Value&quot;:&quot;POWER_USER_SHAPE_ICON_STYLE_1&quot;}">
                  <a:extLst>
                    <a:ext uri="{FF2B5EF4-FFF2-40B4-BE49-F238E27FC236}">
                      <a16:creationId xmlns:a16="http://schemas.microsoft.com/office/drawing/2014/main" id="{0453F793-96B4-C6F3-5A66-94D352C40264}"/>
                    </a:ext>
                  </a:extLst>
                </p:cNvPr>
                <p:cNvSpPr>
                  <a:spLocks noChangeAspect="1"/>
                </p:cNvSpPr>
                <p:nvPr>
                  <p:custDataLst>
                    <p:tags r:id="rId55"/>
                  </p:custDataLst>
                </p:nvPr>
              </p:nvSpPr>
              <p:spPr bwMode="auto">
                <a:xfrm>
                  <a:off x="1" y="3157538"/>
                  <a:ext cx="445247" cy="508000"/>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476" name="Gruppieren 475" descr="{&quot;Key&quot;:&quot;POWER_USER_SHAPE_ICON&quot;,&quot;Value&quot;:&quot;POWER_USER_SHAPE_ICON_STYLE_2&quot;}">
                <a:extLst>
                  <a:ext uri="{FF2B5EF4-FFF2-40B4-BE49-F238E27FC236}">
                    <a16:creationId xmlns:a16="http://schemas.microsoft.com/office/drawing/2014/main" id="{4136C24C-A9CB-3F5D-EA5B-41782A212FC4}"/>
                  </a:ext>
                </a:extLst>
              </p:cNvPr>
              <p:cNvGrpSpPr>
                <a:grpSpLocks noChangeAspect="1"/>
              </p:cNvGrpSpPr>
              <p:nvPr/>
            </p:nvGrpSpPr>
            <p:grpSpPr>
              <a:xfrm>
                <a:off x="1612540" y="4824795"/>
                <a:ext cx="269867" cy="269867"/>
                <a:chOff x="-127000" y="2980451"/>
                <a:chExt cx="762000" cy="762000"/>
              </a:xfrm>
            </p:grpSpPr>
            <p:sp>
              <p:nvSpPr>
                <p:cNvPr id="477" name="POWER_USER_SHAPE_ICON_STYLE_2">
                  <a:extLst>
                    <a:ext uri="{FF2B5EF4-FFF2-40B4-BE49-F238E27FC236}">
                      <a16:creationId xmlns:a16="http://schemas.microsoft.com/office/drawing/2014/main" id="{036F9F19-4D37-164C-51A8-13B0BB8559AB}"/>
                    </a:ext>
                  </a:extLst>
                </p:cNvPr>
                <p:cNvSpPr/>
                <p:nvPr/>
              </p:nvSpPr>
              <p:spPr>
                <a:xfrm>
                  <a:off x="-127000" y="2980451"/>
                  <a:ext cx="762000" cy="76200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478" name="Gruppieren 477">
                  <a:extLst>
                    <a:ext uri="{FF2B5EF4-FFF2-40B4-BE49-F238E27FC236}">
                      <a16:creationId xmlns:a16="http://schemas.microsoft.com/office/drawing/2014/main" id="{4347AAD0-62DB-B153-5379-68A916DF3051}"/>
                    </a:ext>
                  </a:extLst>
                </p:cNvPr>
                <p:cNvGrpSpPr>
                  <a:grpSpLocks noChangeAspect="1"/>
                </p:cNvGrpSpPr>
                <p:nvPr/>
              </p:nvGrpSpPr>
              <p:grpSpPr>
                <a:xfrm>
                  <a:off x="0" y="3157538"/>
                  <a:ext cx="508000" cy="407826"/>
                  <a:chOff x="0" y="3157538"/>
                  <a:chExt cx="676283" cy="542925"/>
                </a:xfrm>
              </p:grpSpPr>
              <p:sp>
                <p:nvSpPr>
                  <p:cNvPr id="479" name="Freeform 284">
                    <a:extLst>
                      <a:ext uri="{FF2B5EF4-FFF2-40B4-BE49-F238E27FC236}">
                        <a16:creationId xmlns:a16="http://schemas.microsoft.com/office/drawing/2014/main" id="{F4116A95-23E1-3B9E-DF15-B00D004BC19F}"/>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80" name="Freeform 285">
                    <a:extLst>
                      <a:ext uri="{FF2B5EF4-FFF2-40B4-BE49-F238E27FC236}">
                        <a16:creationId xmlns:a16="http://schemas.microsoft.com/office/drawing/2014/main" id="{459AF1B4-D296-3044-E4B3-C6CEA8B8AB19}"/>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481" name="Freeform 286">
                    <a:extLst>
                      <a:ext uri="{FF2B5EF4-FFF2-40B4-BE49-F238E27FC236}">
                        <a16:creationId xmlns:a16="http://schemas.microsoft.com/office/drawing/2014/main" id="{C1ECBA6B-0BB3-1747-A215-315FCA58B24D}"/>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grpSp>
          <p:nvGrpSpPr>
            <p:cNvPr id="486" name="Gruppieren 485" descr="{&quot;Key&quot;:&quot;POWER_USER_SHAPE_ICON&quot;,&quot;Value&quot;:&quot;POWER_USER_SHAPE_ICON_STYLE_2&quot;}">
              <a:extLst>
                <a:ext uri="{FF2B5EF4-FFF2-40B4-BE49-F238E27FC236}">
                  <a16:creationId xmlns:a16="http://schemas.microsoft.com/office/drawing/2014/main" id="{016BBEC0-9DEF-FA4C-6C98-56E890BDF31D}"/>
                </a:ext>
              </a:extLst>
            </p:cNvPr>
            <p:cNvGrpSpPr>
              <a:grpSpLocks noChangeAspect="1"/>
            </p:cNvGrpSpPr>
            <p:nvPr/>
          </p:nvGrpSpPr>
          <p:grpSpPr>
            <a:xfrm>
              <a:off x="6541793" y="3620944"/>
              <a:ext cx="332846" cy="332846"/>
              <a:chOff x="6103281" y="1370067"/>
              <a:chExt cx="762000" cy="762000"/>
            </a:xfrm>
          </p:grpSpPr>
          <p:sp>
            <p:nvSpPr>
              <p:cNvPr id="487" name="POWER_USER_SHAPE_ICON_STYLE_2">
                <a:extLst>
                  <a:ext uri="{FF2B5EF4-FFF2-40B4-BE49-F238E27FC236}">
                    <a16:creationId xmlns:a16="http://schemas.microsoft.com/office/drawing/2014/main" id="{FDEDF8F4-115E-79C2-56DE-04C60543D06A}"/>
                  </a:ext>
                </a:extLst>
              </p:cNvPr>
              <p:cNvSpPr/>
              <p:nvPr/>
            </p:nvSpPr>
            <p:spPr>
              <a:xfrm>
                <a:off x="6103281" y="1370067"/>
                <a:ext cx="762000" cy="762000"/>
              </a:xfrm>
              <a:prstGeom prst="ellipse">
                <a:avLst/>
              </a:prstGeom>
              <a:solidFill>
                <a:srgbClr val="00B05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88" name="Solar_panel2" descr="{&quot;Key&quot;:&quot;POWER_USER_SHAPE_ICON&quot;,&quot;Value&quot;:&quot;POWER_USER_SHAPE_ICON_STYLE_1&quot;}">
                <a:extLst>
                  <a:ext uri="{FF2B5EF4-FFF2-40B4-BE49-F238E27FC236}">
                    <a16:creationId xmlns:a16="http://schemas.microsoft.com/office/drawing/2014/main" id="{87DA5014-D64B-A23E-B82C-D182D248E092}"/>
                  </a:ext>
                </a:extLst>
              </p:cNvPr>
              <p:cNvSpPr>
                <a:spLocks noChangeAspect="1" noEditPoints="1"/>
              </p:cNvSpPr>
              <p:nvPr>
                <p:custDataLst>
                  <p:tags r:id="rId54"/>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sp>
          <p:nvSpPr>
            <p:cNvPr id="489" name="Rechteck 488">
              <a:extLst>
                <a:ext uri="{FF2B5EF4-FFF2-40B4-BE49-F238E27FC236}">
                  <a16:creationId xmlns:a16="http://schemas.microsoft.com/office/drawing/2014/main" id="{7D9E9663-E308-5E43-F515-A6CB0D4D40A4}"/>
                </a:ext>
              </a:extLst>
            </p:cNvPr>
            <p:cNvSpPr/>
            <p:nvPr/>
          </p:nvSpPr>
          <p:spPr bwMode="auto">
            <a:xfrm>
              <a:off x="5571536" y="3564577"/>
              <a:ext cx="1685713" cy="1877603"/>
            </a:xfrm>
            <a:prstGeom prst="rect">
              <a:avLst/>
            </a:prstGeom>
            <a:noFill/>
            <a:ln w="28575" cap="flat" cmpd="sng" algn="ctr">
              <a:solidFill>
                <a:srgbClr val="950F53"/>
              </a:solidFill>
              <a:prstDash val="sysDot"/>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90" name="Rechteck 489">
              <a:extLst>
                <a:ext uri="{FF2B5EF4-FFF2-40B4-BE49-F238E27FC236}">
                  <a16:creationId xmlns:a16="http://schemas.microsoft.com/office/drawing/2014/main" id="{879A21BC-A2A8-E2E2-2B11-BFD936BFCB61}"/>
                </a:ext>
              </a:extLst>
            </p:cNvPr>
            <p:cNvSpPr/>
            <p:nvPr/>
          </p:nvSpPr>
          <p:spPr bwMode="auto">
            <a:xfrm>
              <a:off x="6533126" y="3947502"/>
              <a:ext cx="868590" cy="861774"/>
            </a:xfrm>
            <a:prstGeom prst="rect">
              <a:avLst/>
            </a:prstGeom>
          </p:spPr>
          <p:txBody>
            <a:bodyPr wrap="square">
              <a:spAutoFit/>
            </a:bodyPr>
            <a:lstStyle/>
            <a:p>
              <a:pPr defTabSz="685754">
                <a:defRPr/>
              </a:pPr>
              <a:r>
                <a:rPr lang="de-DE" sz="1000" noProof="1">
                  <a:solidFill>
                    <a:srgbClr val="00B050"/>
                  </a:solidFill>
                  <a:latin typeface="Bahnschrift" panose="020B0502040204020203" pitchFamily="34" charset="0"/>
                </a:rPr>
                <a:t>Lokale </a:t>
              </a:r>
            </a:p>
            <a:p>
              <a:pPr defTabSz="685754">
                <a:defRPr/>
              </a:pPr>
              <a:r>
                <a:rPr lang="de-DE" sz="1000" noProof="1">
                  <a:solidFill>
                    <a:srgbClr val="00B050"/>
                  </a:solidFill>
                  <a:latin typeface="Bahnschrift" panose="020B0502040204020203" pitchFamily="34" charset="0"/>
                </a:rPr>
                <a:t>Erneuer-bare</a:t>
              </a:r>
            </a:p>
            <a:p>
              <a:pPr defTabSz="685754">
                <a:defRPr/>
              </a:pPr>
              <a:r>
                <a:rPr lang="de-DE" sz="1000" noProof="1">
                  <a:solidFill>
                    <a:srgbClr val="00B050"/>
                  </a:solidFill>
                  <a:latin typeface="Bahnschrift" panose="020B0502040204020203" pitchFamily="34" charset="0"/>
                </a:rPr>
                <a:t>Energie-Quelle</a:t>
              </a:r>
            </a:p>
          </p:txBody>
        </p:sp>
        <p:sp>
          <p:nvSpPr>
            <p:cNvPr id="491" name="Rechteck 490">
              <a:extLst>
                <a:ext uri="{FF2B5EF4-FFF2-40B4-BE49-F238E27FC236}">
                  <a16:creationId xmlns:a16="http://schemas.microsoft.com/office/drawing/2014/main" id="{5BD21107-B2B3-FBEC-B369-B3C30389EA4F}"/>
                </a:ext>
              </a:extLst>
            </p:cNvPr>
            <p:cNvSpPr/>
            <p:nvPr/>
          </p:nvSpPr>
          <p:spPr bwMode="auto">
            <a:xfrm>
              <a:off x="7376486" y="4438815"/>
              <a:ext cx="1845106" cy="994121"/>
            </a:xfrm>
            <a:prstGeom prst="rect">
              <a:avLst/>
            </a:prstGeom>
            <a:solidFill>
              <a:srgbClr val="D8D7B7"/>
            </a:solidFill>
            <a:ln w="28575" cap="flat" cmpd="sng" algn="ctr">
              <a:noFill/>
              <a:prstDash val="dash"/>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92" name="Rechteck 491">
              <a:extLst>
                <a:ext uri="{FF2B5EF4-FFF2-40B4-BE49-F238E27FC236}">
                  <a16:creationId xmlns:a16="http://schemas.microsoft.com/office/drawing/2014/main" id="{31F7E531-21C0-B652-15BC-38220B261FAA}"/>
                </a:ext>
              </a:extLst>
            </p:cNvPr>
            <p:cNvSpPr/>
            <p:nvPr/>
          </p:nvSpPr>
          <p:spPr bwMode="auto">
            <a:xfrm>
              <a:off x="7362937" y="3155265"/>
              <a:ext cx="1858655" cy="2284468"/>
            </a:xfrm>
            <a:prstGeom prst="rect">
              <a:avLst/>
            </a:prstGeom>
            <a:noFill/>
            <a:ln w="28575" cap="flat" cmpd="sng" algn="ctr">
              <a:solidFill>
                <a:srgbClr val="3BACBE">
                  <a:lumMod val="60000"/>
                  <a:lumOff val="40000"/>
                </a:srgbClr>
              </a:solidFill>
              <a:prstDash val="sysDot"/>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93" name="Building5" descr="{&quot;Key&quot;:&quot;POWER_USER_SHAPE_ICON&quot;,&quot;Value&quot;:&quot;POWER_USER_SHAPE_ICON_STYLE_1&quot;}">
              <a:extLst>
                <a:ext uri="{FF2B5EF4-FFF2-40B4-BE49-F238E27FC236}">
                  <a16:creationId xmlns:a16="http://schemas.microsoft.com/office/drawing/2014/main" id="{425B0F5F-0AAE-F25F-62D3-97560DC420B0}"/>
                </a:ext>
              </a:extLst>
            </p:cNvPr>
            <p:cNvSpPr>
              <a:spLocks noChangeAspect="1" noEditPoints="1"/>
            </p:cNvSpPr>
            <p:nvPr>
              <p:custDataLst>
                <p:tags r:id="rId2"/>
              </p:custDataLst>
            </p:nvPr>
          </p:nvSpPr>
          <p:spPr bwMode="auto">
            <a:xfrm>
              <a:off x="7510105" y="3216290"/>
              <a:ext cx="1233099" cy="1229321"/>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nvGrpSpPr>
            <p:cNvPr id="494" name="Gruppieren 493">
              <a:extLst>
                <a:ext uri="{FF2B5EF4-FFF2-40B4-BE49-F238E27FC236}">
                  <a16:creationId xmlns:a16="http://schemas.microsoft.com/office/drawing/2014/main" id="{70611EBC-5950-4A83-0250-68D58FF6CDB6}"/>
                </a:ext>
              </a:extLst>
            </p:cNvPr>
            <p:cNvGrpSpPr/>
            <p:nvPr/>
          </p:nvGrpSpPr>
          <p:grpSpPr>
            <a:xfrm>
              <a:off x="8125403" y="3755732"/>
              <a:ext cx="298582" cy="276822"/>
              <a:chOff x="-19101" y="2381281"/>
              <a:chExt cx="699820" cy="699820"/>
            </a:xfrm>
          </p:grpSpPr>
          <p:sp>
            <p:nvSpPr>
              <p:cNvPr id="495" name="Ellipse 494">
                <a:extLst>
                  <a:ext uri="{FF2B5EF4-FFF2-40B4-BE49-F238E27FC236}">
                    <a16:creationId xmlns:a16="http://schemas.microsoft.com/office/drawing/2014/main" id="{3D18CD44-5618-EA8B-2C41-91B6523254A0}"/>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496" name="Plug" descr="{&quot;Key&quot;:&quot;POWER_USER_SHAPE_ICON&quot;,&quot;Value&quot;:&quot;POWER_USER_SHAPE_ICON_STYLE_1&quot;}">
                <a:extLst>
                  <a:ext uri="{FF2B5EF4-FFF2-40B4-BE49-F238E27FC236}">
                    <a16:creationId xmlns:a16="http://schemas.microsoft.com/office/drawing/2014/main" id="{7EB9822C-3785-3EAD-D7B5-A99B3F46AC6D}"/>
                  </a:ext>
                </a:extLst>
              </p:cNvPr>
              <p:cNvSpPr>
                <a:spLocks noChangeAspect="1" noEditPoints="1"/>
              </p:cNvSpPr>
              <p:nvPr>
                <p:custDataLst>
                  <p:tags r:id="rId53"/>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497" name="Gruppieren 496" descr="{&quot;Key&quot;:&quot;POWER_USER_SHAPE_ICON&quot;,&quot;Value&quot;:&quot;POWER_USER_SHAPE_ICON_STYLE_2&quot;}">
              <a:extLst>
                <a:ext uri="{FF2B5EF4-FFF2-40B4-BE49-F238E27FC236}">
                  <a16:creationId xmlns:a16="http://schemas.microsoft.com/office/drawing/2014/main" id="{D2EE8E51-1656-9FE0-59D9-221D3E5C159C}"/>
                </a:ext>
              </a:extLst>
            </p:cNvPr>
            <p:cNvGrpSpPr>
              <a:grpSpLocks noChangeAspect="1"/>
            </p:cNvGrpSpPr>
            <p:nvPr/>
          </p:nvGrpSpPr>
          <p:grpSpPr>
            <a:xfrm>
              <a:off x="7997663" y="3520947"/>
              <a:ext cx="295815" cy="295814"/>
              <a:chOff x="-151229" y="3030538"/>
              <a:chExt cx="762000" cy="762000"/>
            </a:xfrm>
          </p:grpSpPr>
          <p:sp>
            <p:nvSpPr>
              <p:cNvPr id="498" name="POWER_USER_SHAPE_ICON_STYLE_2">
                <a:extLst>
                  <a:ext uri="{FF2B5EF4-FFF2-40B4-BE49-F238E27FC236}">
                    <a16:creationId xmlns:a16="http://schemas.microsoft.com/office/drawing/2014/main" id="{72602AFD-37B0-E1D1-A21C-B4D005302642}"/>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499" name="Gruppieren 498">
                <a:extLst>
                  <a:ext uri="{FF2B5EF4-FFF2-40B4-BE49-F238E27FC236}">
                    <a16:creationId xmlns:a16="http://schemas.microsoft.com/office/drawing/2014/main" id="{0892CFFE-C04E-BAAA-9AC4-2D148C471A63}"/>
                  </a:ext>
                </a:extLst>
              </p:cNvPr>
              <p:cNvGrpSpPr>
                <a:grpSpLocks noChangeAspect="1"/>
              </p:cNvGrpSpPr>
              <p:nvPr/>
            </p:nvGrpSpPr>
            <p:grpSpPr>
              <a:xfrm>
                <a:off x="1" y="3157538"/>
                <a:ext cx="459541" cy="508000"/>
                <a:chOff x="0" y="3157538"/>
                <a:chExt cx="491134" cy="542925"/>
              </a:xfrm>
            </p:grpSpPr>
            <p:sp>
              <p:nvSpPr>
                <p:cNvPr id="500" name="Crowdsourcing2">
                  <a:extLst>
                    <a:ext uri="{FF2B5EF4-FFF2-40B4-BE49-F238E27FC236}">
                      <a16:creationId xmlns:a16="http://schemas.microsoft.com/office/drawing/2014/main" id="{AC20B10D-C23A-CC0F-7CBE-D5028C2687AE}"/>
                    </a:ext>
                  </a:extLst>
                </p:cNvPr>
                <p:cNvSpPr>
                  <a:spLocks/>
                </p:cNvSpPr>
                <p:nvPr>
                  <p:custDataLst>
                    <p:tags r:id="rId45"/>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01" name="Crowdsourcing2">
                  <a:extLst>
                    <a:ext uri="{FF2B5EF4-FFF2-40B4-BE49-F238E27FC236}">
                      <a16:creationId xmlns:a16="http://schemas.microsoft.com/office/drawing/2014/main" id="{46B54AF5-F5B0-3ED5-CDAE-B8CEA5F24909}"/>
                    </a:ext>
                  </a:extLst>
                </p:cNvPr>
                <p:cNvSpPr>
                  <a:spLocks/>
                </p:cNvSpPr>
                <p:nvPr>
                  <p:custDataLst>
                    <p:tags r:id="rId46"/>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02" name="Crowdsourcing2">
                  <a:extLst>
                    <a:ext uri="{FF2B5EF4-FFF2-40B4-BE49-F238E27FC236}">
                      <a16:creationId xmlns:a16="http://schemas.microsoft.com/office/drawing/2014/main" id="{97591D7E-96C2-599F-BB0E-412DDA6020D4}"/>
                    </a:ext>
                  </a:extLst>
                </p:cNvPr>
                <p:cNvSpPr>
                  <a:spLocks/>
                </p:cNvSpPr>
                <p:nvPr>
                  <p:custDataLst>
                    <p:tags r:id="rId47"/>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03" name="Crowdsourcing2">
                  <a:extLst>
                    <a:ext uri="{FF2B5EF4-FFF2-40B4-BE49-F238E27FC236}">
                      <a16:creationId xmlns:a16="http://schemas.microsoft.com/office/drawing/2014/main" id="{8936187C-A94C-4579-401F-1E6EE0A6904A}"/>
                    </a:ext>
                  </a:extLst>
                </p:cNvPr>
                <p:cNvSpPr>
                  <a:spLocks/>
                </p:cNvSpPr>
                <p:nvPr>
                  <p:custDataLst>
                    <p:tags r:id="rId48"/>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04" name="Crowdsourcing2">
                  <a:extLst>
                    <a:ext uri="{FF2B5EF4-FFF2-40B4-BE49-F238E27FC236}">
                      <a16:creationId xmlns:a16="http://schemas.microsoft.com/office/drawing/2014/main" id="{7FB76CC2-3DF4-1C23-9C5D-8EAD3E1EAC66}"/>
                    </a:ext>
                  </a:extLst>
                </p:cNvPr>
                <p:cNvSpPr>
                  <a:spLocks/>
                </p:cNvSpPr>
                <p:nvPr>
                  <p:custDataLst>
                    <p:tags r:id="rId49"/>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05" name="Crowdsourcing2">
                  <a:extLst>
                    <a:ext uri="{FF2B5EF4-FFF2-40B4-BE49-F238E27FC236}">
                      <a16:creationId xmlns:a16="http://schemas.microsoft.com/office/drawing/2014/main" id="{E58AC0A0-3AB6-419F-B102-68C8F1416A25}"/>
                    </a:ext>
                  </a:extLst>
                </p:cNvPr>
                <p:cNvSpPr>
                  <a:spLocks/>
                </p:cNvSpPr>
                <p:nvPr>
                  <p:custDataLst>
                    <p:tags r:id="rId50"/>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06" name="Crowdsourcing2">
                  <a:extLst>
                    <a:ext uri="{FF2B5EF4-FFF2-40B4-BE49-F238E27FC236}">
                      <a16:creationId xmlns:a16="http://schemas.microsoft.com/office/drawing/2014/main" id="{D9661545-3A47-ACE1-8423-7C4FC2FF150C}"/>
                    </a:ext>
                  </a:extLst>
                </p:cNvPr>
                <p:cNvSpPr>
                  <a:spLocks/>
                </p:cNvSpPr>
                <p:nvPr>
                  <p:custDataLst>
                    <p:tags r:id="rId51"/>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07" name="Crowdsourcing2">
                  <a:extLst>
                    <a:ext uri="{FF2B5EF4-FFF2-40B4-BE49-F238E27FC236}">
                      <a16:creationId xmlns:a16="http://schemas.microsoft.com/office/drawing/2014/main" id="{4EBBB7A5-3925-F605-9BFB-B53C35E97347}"/>
                    </a:ext>
                  </a:extLst>
                </p:cNvPr>
                <p:cNvSpPr>
                  <a:spLocks/>
                </p:cNvSpPr>
                <p:nvPr>
                  <p:custDataLst>
                    <p:tags r:id="rId52"/>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nvGrpSpPr>
            <p:cNvPr id="508" name="Gruppieren 507">
              <a:extLst>
                <a:ext uri="{FF2B5EF4-FFF2-40B4-BE49-F238E27FC236}">
                  <a16:creationId xmlns:a16="http://schemas.microsoft.com/office/drawing/2014/main" id="{75ED0A00-BFAD-2F16-FD2D-D115BD0E5BF6}"/>
                </a:ext>
              </a:extLst>
            </p:cNvPr>
            <p:cNvGrpSpPr/>
            <p:nvPr/>
          </p:nvGrpSpPr>
          <p:grpSpPr>
            <a:xfrm>
              <a:off x="7560150" y="3947502"/>
              <a:ext cx="480669" cy="448956"/>
              <a:chOff x="1369937" y="4620184"/>
              <a:chExt cx="512470" cy="478659"/>
            </a:xfrm>
          </p:grpSpPr>
          <p:grpSp>
            <p:nvGrpSpPr>
              <p:cNvPr id="509" name="Gruppieren 508" descr="{&quot;Key&quot;:&quot;POWER_USER_SHAPE_ICON&quot;,&quot;Value&quot;:&quot;POWER_USER_SHAPE_ICON_STYLE_2&quot;}">
                <a:extLst>
                  <a:ext uri="{FF2B5EF4-FFF2-40B4-BE49-F238E27FC236}">
                    <a16:creationId xmlns:a16="http://schemas.microsoft.com/office/drawing/2014/main" id="{3E3E9C16-A438-3A08-A1D9-E1A8C5B213DA}"/>
                  </a:ext>
                </a:extLst>
              </p:cNvPr>
              <p:cNvGrpSpPr>
                <a:grpSpLocks noChangeAspect="1"/>
              </p:cNvGrpSpPr>
              <p:nvPr/>
            </p:nvGrpSpPr>
            <p:grpSpPr>
              <a:xfrm>
                <a:off x="1498727" y="4620184"/>
                <a:ext cx="286310" cy="286311"/>
                <a:chOff x="-147119" y="3030535"/>
                <a:chExt cx="762000" cy="762000"/>
              </a:xfrm>
              <a:solidFill>
                <a:srgbClr val="000066"/>
              </a:solidFill>
            </p:grpSpPr>
            <p:sp>
              <p:nvSpPr>
                <p:cNvPr id="517" name="POWER_USER_SHAPE_ICON_STYLE_2">
                  <a:extLst>
                    <a:ext uri="{FF2B5EF4-FFF2-40B4-BE49-F238E27FC236}">
                      <a16:creationId xmlns:a16="http://schemas.microsoft.com/office/drawing/2014/main" id="{4DDD1C7A-C91F-F108-3307-C7C6E2B1E3CB}"/>
                    </a:ext>
                  </a:extLst>
                </p:cNvPr>
                <p:cNvSpPr/>
                <p:nvPr/>
              </p:nvSpPr>
              <p:spPr>
                <a:xfrm>
                  <a:off x="-147119" y="3030535"/>
                  <a:ext cx="762000" cy="762000"/>
                </a:xfrm>
                <a:prstGeom prst="ellipse">
                  <a:avLst/>
                </a:prstGeom>
                <a:gr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18" name="Snowflake2" descr="{&quot;Key&quot;:&quot;POWER_USER_SHAPE_ICON&quot;,&quot;Value&quot;:&quot;POWER_USER_SHAPE_ICON_STYLE_1&quot;}">
                  <a:extLst>
                    <a:ext uri="{FF2B5EF4-FFF2-40B4-BE49-F238E27FC236}">
                      <a16:creationId xmlns:a16="http://schemas.microsoft.com/office/drawing/2014/main" id="{5E0C051F-F3A7-407F-D364-202F5F0B618E}"/>
                    </a:ext>
                  </a:extLst>
                </p:cNvPr>
                <p:cNvSpPr>
                  <a:spLocks noChangeAspect="1"/>
                </p:cNvSpPr>
                <p:nvPr/>
              </p:nvSpPr>
              <p:spPr bwMode="auto">
                <a:xfrm>
                  <a:off x="0" y="3157538"/>
                  <a:ext cx="467762" cy="508000"/>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sp>
            <p:nvSpPr>
              <p:cNvPr id="510" name="POWER_USER_SHAPE_ICON_STYLE_2">
                <a:extLst>
                  <a:ext uri="{FF2B5EF4-FFF2-40B4-BE49-F238E27FC236}">
                    <a16:creationId xmlns:a16="http://schemas.microsoft.com/office/drawing/2014/main" id="{9301E82A-2533-BE66-C0B8-C5E81C3064AC}"/>
                  </a:ext>
                </a:extLst>
              </p:cNvPr>
              <p:cNvSpPr/>
              <p:nvPr/>
            </p:nvSpPr>
            <p:spPr>
              <a:xfrm>
                <a:off x="1369937" y="4810590"/>
                <a:ext cx="288254" cy="288253"/>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511" name="Gruppieren 510" descr="{&quot;Key&quot;:&quot;POWER_USER_SHAPE_ICON&quot;,&quot;Value&quot;:&quot;POWER_USER_SHAPE_ICON_STYLE_2&quot;}">
                <a:extLst>
                  <a:ext uri="{FF2B5EF4-FFF2-40B4-BE49-F238E27FC236}">
                    <a16:creationId xmlns:a16="http://schemas.microsoft.com/office/drawing/2014/main" id="{A07E3F10-20FF-62F5-AD3E-5EDDCC66A8F4}"/>
                  </a:ext>
                </a:extLst>
              </p:cNvPr>
              <p:cNvGrpSpPr>
                <a:grpSpLocks noChangeAspect="1"/>
              </p:cNvGrpSpPr>
              <p:nvPr/>
            </p:nvGrpSpPr>
            <p:grpSpPr>
              <a:xfrm>
                <a:off x="1612540" y="4824797"/>
                <a:ext cx="269867" cy="269868"/>
                <a:chOff x="-127001" y="2980457"/>
                <a:chExt cx="762001" cy="762003"/>
              </a:xfrm>
            </p:grpSpPr>
            <p:sp>
              <p:nvSpPr>
                <p:cNvPr id="512" name="POWER_USER_SHAPE_ICON_STYLE_2">
                  <a:extLst>
                    <a:ext uri="{FF2B5EF4-FFF2-40B4-BE49-F238E27FC236}">
                      <a16:creationId xmlns:a16="http://schemas.microsoft.com/office/drawing/2014/main" id="{8FE51B77-2339-22C4-6A5C-D98D5A8DBE51}"/>
                    </a:ext>
                  </a:extLst>
                </p:cNvPr>
                <p:cNvSpPr/>
                <p:nvPr/>
              </p:nvSpPr>
              <p:spPr>
                <a:xfrm>
                  <a:off x="-127001" y="2980457"/>
                  <a:ext cx="762001" cy="762003"/>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513" name="Gruppieren 512">
                  <a:extLst>
                    <a:ext uri="{FF2B5EF4-FFF2-40B4-BE49-F238E27FC236}">
                      <a16:creationId xmlns:a16="http://schemas.microsoft.com/office/drawing/2014/main" id="{019F20E1-05D4-51EB-C796-1F239CC91D6A}"/>
                    </a:ext>
                  </a:extLst>
                </p:cNvPr>
                <p:cNvGrpSpPr>
                  <a:grpSpLocks noChangeAspect="1"/>
                </p:cNvGrpSpPr>
                <p:nvPr/>
              </p:nvGrpSpPr>
              <p:grpSpPr>
                <a:xfrm>
                  <a:off x="0" y="3157538"/>
                  <a:ext cx="508000" cy="407826"/>
                  <a:chOff x="0" y="3157538"/>
                  <a:chExt cx="676283" cy="542925"/>
                </a:xfrm>
              </p:grpSpPr>
              <p:sp>
                <p:nvSpPr>
                  <p:cNvPr id="514" name="Freeform 284">
                    <a:extLst>
                      <a:ext uri="{FF2B5EF4-FFF2-40B4-BE49-F238E27FC236}">
                        <a16:creationId xmlns:a16="http://schemas.microsoft.com/office/drawing/2014/main" id="{5D35EF9F-7C1A-A145-8F94-94616978D6F5}"/>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15" name="Freeform 285">
                    <a:extLst>
                      <a:ext uri="{FF2B5EF4-FFF2-40B4-BE49-F238E27FC236}">
                        <a16:creationId xmlns:a16="http://schemas.microsoft.com/office/drawing/2014/main" id="{E37CCC85-FE2C-4A0A-6412-E3DC4E7AC51B}"/>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16" name="Freeform 286">
                    <a:extLst>
                      <a:ext uri="{FF2B5EF4-FFF2-40B4-BE49-F238E27FC236}">
                        <a16:creationId xmlns:a16="http://schemas.microsoft.com/office/drawing/2014/main" id="{8C20D781-396E-0FF7-CF3F-7FD3651F2549}"/>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grpSp>
          <p:nvGrpSpPr>
            <p:cNvPr id="519" name="Gruppieren 518" descr="{&quot;Key&quot;:&quot;POWER_USER_SHAPE_ICON&quot;,&quot;Value&quot;:&quot;POWER_USER_SHAPE_ICON_STYLE_2&quot;}">
              <a:extLst>
                <a:ext uri="{FF2B5EF4-FFF2-40B4-BE49-F238E27FC236}">
                  <a16:creationId xmlns:a16="http://schemas.microsoft.com/office/drawing/2014/main" id="{8E89FC68-8D17-CBC0-E7AE-14B2E8C0F8EA}"/>
                </a:ext>
              </a:extLst>
            </p:cNvPr>
            <p:cNvGrpSpPr>
              <a:grpSpLocks noChangeAspect="1"/>
            </p:cNvGrpSpPr>
            <p:nvPr/>
          </p:nvGrpSpPr>
          <p:grpSpPr>
            <a:xfrm>
              <a:off x="8228375" y="3200416"/>
              <a:ext cx="332846" cy="332846"/>
              <a:chOff x="6103281" y="1370067"/>
              <a:chExt cx="762000" cy="762000"/>
            </a:xfrm>
          </p:grpSpPr>
          <p:sp>
            <p:nvSpPr>
              <p:cNvPr id="520" name="POWER_USER_SHAPE_ICON_STYLE_2">
                <a:extLst>
                  <a:ext uri="{FF2B5EF4-FFF2-40B4-BE49-F238E27FC236}">
                    <a16:creationId xmlns:a16="http://schemas.microsoft.com/office/drawing/2014/main" id="{57181F64-13FD-A1F2-5ABB-D6A66B50AB11}"/>
                  </a:ext>
                </a:extLst>
              </p:cNvPr>
              <p:cNvSpPr/>
              <p:nvPr/>
            </p:nvSpPr>
            <p:spPr>
              <a:xfrm>
                <a:off x="6103281" y="1370067"/>
                <a:ext cx="762000" cy="762000"/>
              </a:xfrm>
              <a:prstGeom prst="ellipse">
                <a:avLst/>
              </a:prstGeom>
              <a:solidFill>
                <a:srgbClr val="00B05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21" name="Solar_panel2" descr="{&quot;Key&quot;:&quot;POWER_USER_SHAPE_ICON&quot;,&quot;Value&quot;:&quot;POWER_USER_SHAPE_ICON_STYLE_1&quot;}">
                <a:extLst>
                  <a:ext uri="{FF2B5EF4-FFF2-40B4-BE49-F238E27FC236}">
                    <a16:creationId xmlns:a16="http://schemas.microsoft.com/office/drawing/2014/main" id="{4B430C1C-E3F5-B84E-5F0B-C6A3E3CBE394}"/>
                  </a:ext>
                </a:extLst>
              </p:cNvPr>
              <p:cNvSpPr>
                <a:spLocks noChangeAspect="1" noEditPoints="1"/>
              </p:cNvSpPr>
              <p:nvPr>
                <p:custDataLst>
                  <p:tags r:id="rId44"/>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522" name="Gruppieren 521" descr="{&quot;Key&quot;:&quot;POWER_USER_SHAPE_ICON&quot;,&quot;Value&quot;:&quot;POWER_USER_SHAPE_ICON_STYLE_2&quot;}">
              <a:extLst>
                <a:ext uri="{FF2B5EF4-FFF2-40B4-BE49-F238E27FC236}">
                  <a16:creationId xmlns:a16="http://schemas.microsoft.com/office/drawing/2014/main" id="{53A352FC-82DF-BCFE-1E80-8DD1D9B801A0}"/>
                </a:ext>
              </a:extLst>
            </p:cNvPr>
            <p:cNvGrpSpPr>
              <a:grpSpLocks noChangeAspect="1"/>
            </p:cNvGrpSpPr>
            <p:nvPr/>
          </p:nvGrpSpPr>
          <p:grpSpPr>
            <a:xfrm>
              <a:off x="8325987" y="4592956"/>
              <a:ext cx="365272" cy="365272"/>
              <a:chOff x="462870" y="3616571"/>
              <a:chExt cx="762001" cy="762000"/>
            </a:xfrm>
          </p:grpSpPr>
          <p:sp>
            <p:nvSpPr>
              <p:cNvPr id="523" name="POWER_USER_SHAPE_ICON_STYLE_2">
                <a:extLst>
                  <a:ext uri="{FF2B5EF4-FFF2-40B4-BE49-F238E27FC236}">
                    <a16:creationId xmlns:a16="http://schemas.microsoft.com/office/drawing/2014/main" id="{03ED2270-B8EC-F9C3-2DC6-93701E592822}"/>
                  </a:ext>
                </a:extLst>
              </p:cNvPr>
              <p:cNvSpPr/>
              <p:nvPr/>
            </p:nvSpPr>
            <p:spPr>
              <a:xfrm>
                <a:off x="462870" y="3616571"/>
                <a:ext cx="762001" cy="762000"/>
              </a:xfrm>
              <a:prstGeom prst="ellipse">
                <a:avLst/>
              </a:prstGeom>
              <a:solidFill>
                <a:srgbClr val="FFC000">
                  <a:lumMod val="5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600" kern="0" noProof="1">
                  <a:solidFill>
                    <a:prstClr val="white"/>
                  </a:solidFill>
                  <a:latin typeface="Calibri" panose="020F0502020204030204"/>
                </a:endParaRPr>
              </a:p>
            </p:txBody>
          </p:sp>
          <p:sp>
            <p:nvSpPr>
              <p:cNvPr id="524" name="Freeform 63">
                <a:extLst>
                  <a:ext uri="{FF2B5EF4-FFF2-40B4-BE49-F238E27FC236}">
                    <a16:creationId xmlns:a16="http://schemas.microsoft.com/office/drawing/2014/main" id="{0FDEF737-B35D-CF89-1801-3C999CAD106A}"/>
                  </a:ext>
                </a:extLst>
              </p:cNvPr>
              <p:cNvSpPr>
                <a:spLocks noEditPoints="1"/>
              </p:cNvSpPr>
              <p:nvPr/>
            </p:nvSpPr>
            <p:spPr bwMode="auto">
              <a:xfrm>
                <a:off x="589873" y="3874198"/>
                <a:ext cx="508000" cy="311858"/>
              </a:xfrm>
              <a:custGeom>
                <a:avLst/>
                <a:gdLst>
                  <a:gd name="T0" fmla="*/ 966 w 1289"/>
                  <a:gd name="T1" fmla="*/ 420 h 792"/>
                  <a:gd name="T2" fmla="*/ 951 w 1289"/>
                  <a:gd name="T3" fmla="*/ 283 h 792"/>
                  <a:gd name="T4" fmla="*/ 1059 w 1289"/>
                  <a:gd name="T5" fmla="*/ 266 h 792"/>
                  <a:gd name="T6" fmla="*/ 1170 w 1289"/>
                  <a:gd name="T7" fmla="*/ 398 h 792"/>
                  <a:gd name="T8" fmla="*/ 1076 w 1289"/>
                  <a:gd name="T9" fmla="*/ 731 h 792"/>
                  <a:gd name="T10" fmla="*/ 1076 w 1289"/>
                  <a:gd name="T11" fmla="*/ 586 h 792"/>
                  <a:gd name="T12" fmla="*/ 1076 w 1289"/>
                  <a:gd name="T13" fmla="*/ 731 h 792"/>
                  <a:gd name="T14" fmla="*/ 502 w 1289"/>
                  <a:gd name="T15" fmla="*/ 492 h 792"/>
                  <a:gd name="T16" fmla="*/ 64 w 1289"/>
                  <a:gd name="T17" fmla="*/ 328 h 792"/>
                  <a:gd name="T18" fmla="*/ 532 w 1289"/>
                  <a:gd name="T19" fmla="*/ 64 h 792"/>
                  <a:gd name="T20" fmla="*/ 774 w 1289"/>
                  <a:gd name="T21" fmla="*/ 160 h 792"/>
                  <a:gd name="T22" fmla="*/ 554 w 1289"/>
                  <a:gd name="T23" fmla="*/ 731 h 792"/>
                  <a:gd name="T24" fmla="*/ 554 w 1289"/>
                  <a:gd name="T25" fmla="*/ 586 h 792"/>
                  <a:gd name="T26" fmla="*/ 554 w 1289"/>
                  <a:gd name="T27" fmla="*/ 731 h 792"/>
                  <a:gd name="T28" fmla="*/ 221 w 1289"/>
                  <a:gd name="T29" fmla="*/ 659 h 792"/>
                  <a:gd name="T30" fmla="*/ 366 w 1289"/>
                  <a:gd name="T31" fmla="*/ 659 h 792"/>
                  <a:gd name="T32" fmla="*/ 1270 w 1289"/>
                  <a:gd name="T33" fmla="*/ 520 h 792"/>
                  <a:gd name="T34" fmla="*/ 1256 w 1289"/>
                  <a:gd name="T35" fmla="*/ 442 h 792"/>
                  <a:gd name="T36" fmla="*/ 1125 w 1289"/>
                  <a:gd name="T37" fmla="*/ 234 h 792"/>
                  <a:gd name="T38" fmla="*/ 941 w 1289"/>
                  <a:gd name="T39" fmla="*/ 207 h 792"/>
                  <a:gd name="T40" fmla="*/ 882 w 1289"/>
                  <a:gd name="T41" fmla="*/ 124 h 792"/>
                  <a:gd name="T42" fmla="*/ 824 w 1289"/>
                  <a:gd name="T43" fmla="*/ 387 h 792"/>
                  <a:gd name="T44" fmla="*/ 808 w 1289"/>
                  <a:gd name="T45" fmla="*/ 107 h 792"/>
                  <a:gd name="T46" fmla="*/ 525 w 1289"/>
                  <a:gd name="T47" fmla="*/ 3 h 792"/>
                  <a:gd name="T48" fmla="*/ 22 w 1289"/>
                  <a:gd name="T49" fmla="*/ 110 h 792"/>
                  <a:gd name="T50" fmla="*/ 32 w 1289"/>
                  <a:gd name="T51" fmla="*/ 382 h 792"/>
                  <a:gd name="T52" fmla="*/ 95 w 1289"/>
                  <a:gd name="T53" fmla="*/ 642 h 792"/>
                  <a:gd name="T54" fmla="*/ 160 w 1289"/>
                  <a:gd name="T55" fmla="*/ 661 h 792"/>
                  <a:gd name="T56" fmla="*/ 424 w 1289"/>
                  <a:gd name="T57" fmla="*/ 690 h 792"/>
                  <a:gd name="T58" fmla="*/ 687 w 1289"/>
                  <a:gd name="T59" fmla="*/ 661 h 792"/>
                  <a:gd name="T60" fmla="*/ 1076 w 1289"/>
                  <a:gd name="T61" fmla="*/ 792 h 792"/>
                  <a:gd name="T62" fmla="*/ 1270 w 1289"/>
                  <a:gd name="T63" fmla="*/ 661 h 792"/>
                  <a:gd name="T64" fmla="*/ 1289 w 1289"/>
                  <a:gd name="T65" fmla="*/ 539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89" h="792">
                    <a:moveTo>
                      <a:pt x="1161" y="420"/>
                    </a:moveTo>
                    <a:lnTo>
                      <a:pt x="966" y="420"/>
                    </a:lnTo>
                    <a:cubicBezTo>
                      <a:pt x="958" y="420"/>
                      <a:pt x="951" y="412"/>
                      <a:pt x="951" y="404"/>
                    </a:cubicBezTo>
                    <a:lnTo>
                      <a:pt x="951" y="283"/>
                    </a:lnTo>
                    <a:cubicBezTo>
                      <a:pt x="951" y="274"/>
                      <a:pt x="958" y="267"/>
                      <a:pt x="966" y="267"/>
                    </a:cubicBezTo>
                    <a:lnTo>
                      <a:pt x="1059" y="266"/>
                    </a:lnTo>
                    <a:cubicBezTo>
                      <a:pt x="1067" y="266"/>
                      <a:pt x="1078" y="271"/>
                      <a:pt x="1083" y="277"/>
                    </a:cubicBezTo>
                    <a:lnTo>
                      <a:pt x="1170" y="398"/>
                    </a:lnTo>
                    <a:cubicBezTo>
                      <a:pt x="1175" y="404"/>
                      <a:pt x="1169" y="420"/>
                      <a:pt x="1161" y="420"/>
                    </a:cubicBezTo>
                    <a:close/>
                    <a:moveTo>
                      <a:pt x="1076" y="731"/>
                    </a:moveTo>
                    <a:cubicBezTo>
                      <a:pt x="1036" y="731"/>
                      <a:pt x="1004" y="699"/>
                      <a:pt x="1004" y="659"/>
                    </a:cubicBezTo>
                    <a:cubicBezTo>
                      <a:pt x="1004" y="619"/>
                      <a:pt x="1036" y="586"/>
                      <a:pt x="1076" y="586"/>
                    </a:cubicBezTo>
                    <a:cubicBezTo>
                      <a:pt x="1116" y="586"/>
                      <a:pt x="1148" y="619"/>
                      <a:pt x="1148" y="659"/>
                    </a:cubicBezTo>
                    <a:cubicBezTo>
                      <a:pt x="1148" y="699"/>
                      <a:pt x="1116" y="731"/>
                      <a:pt x="1076" y="731"/>
                    </a:cubicBezTo>
                    <a:close/>
                    <a:moveTo>
                      <a:pt x="748" y="473"/>
                    </a:moveTo>
                    <a:lnTo>
                      <a:pt x="502" y="492"/>
                    </a:lnTo>
                    <a:cubicBezTo>
                      <a:pt x="496" y="492"/>
                      <a:pt x="491" y="492"/>
                      <a:pt x="490" y="492"/>
                    </a:cubicBezTo>
                    <a:lnTo>
                      <a:pt x="64" y="328"/>
                    </a:lnTo>
                    <a:lnTo>
                      <a:pt x="83" y="125"/>
                    </a:lnTo>
                    <a:lnTo>
                      <a:pt x="532" y="64"/>
                    </a:lnTo>
                    <a:cubicBezTo>
                      <a:pt x="537" y="63"/>
                      <a:pt x="543" y="65"/>
                      <a:pt x="543" y="65"/>
                    </a:cubicBezTo>
                    <a:lnTo>
                      <a:pt x="774" y="160"/>
                    </a:lnTo>
                    <a:cubicBezTo>
                      <a:pt x="774" y="192"/>
                      <a:pt x="774" y="358"/>
                      <a:pt x="748" y="473"/>
                    </a:cubicBezTo>
                    <a:close/>
                    <a:moveTo>
                      <a:pt x="554" y="731"/>
                    </a:moveTo>
                    <a:cubicBezTo>
                      <a:pt x="514" y="731"/>
                      <a:pt x="481" y="699"/>
                      <a:pt x="481" y="659"/>
                    </a:cubicBezTo>
                    <a:cubicBezTo>
                      <a:pt x="481" y="619"/>
                      <a:pt x="514" y="586"/>
                      <a:pt x="554" y="586"/>
                    </a:cubicBezTo>
                    <a:cubicBezTo>
                      <a:pt x="593" y="586"/>
                      <a:pt x="626" y="619"/>
                      <a:pt x="626" y="659"/>
                    </a:cubicBezTo>
                    <a:cubicBezTo>
                      <a:pt x="626" y="699"/>
                      <a:pt x="593" y="731"/>
                      <a:pt x="554" y="731"/>
                    </a:cubicBezTo>
                    <a:close/>
                    <a:moveTo>
                      <a:pt x="294" y="731"/>
                    </a:moveTo>
                    <a:cubicBezTo>
                      <a:pt x="254" y="731"/>
                      <a:pt x="221" y="699"/>
                      <a:pt x="221" y="659"/>
                    </a:cubicBezTo>
                    <a:cubicBezTo>
                      <a:pt x="221" y="619"/>
                      <a:pt x="254" y="586"/>
                      <a:pt x="294" y="586"/>
                    </a:cubicBezTo>
                    <a:cubicBezTo>
                      <a:pt x="334" y="586"/>
                      <a:pt x="366" y="619"/>
                      <a:pt x="366" y="659"/>
                    </a:cubicBezTo>
                    <a:cubicBezTo>
                      <a:pt x="366" y="699"/>
                      <a:pt x="334" y="731"/>
                      <a:pt x="294" y="731"/>
                    </a:cubicBezTo>
                    <a:close/>
                    <a:moveTo>
                      <a:pt x="1270" y="520"/>
                    </a:moveTo>
                    <a:lnTo>
                      <a:pt x="1256" y="520"/>
                    </a:lnTo>
                    <a:lnTo>
                      <a:pt x="1256" y="442"/>
                    </a:lnTo>
                    <a:cubicBezTo>
                      <a:pt x="1256" y="422"/>
                      <a:pt x="1246" y="405"/>
                      <a:pt x="1234" y="390"/>
                    </a:cubicBezTo>
                    <a:lnTo>
                      <a:pt x="1125" y="234"/>
                    </a:lnTo>
                    <a:cubicBezTo>
                      <a:pt x="1113" y="219"/>
                      <a:pt x="1098" y="207"/>
                      <a:pt x="1080" y="207"/>
                    </a:cubicBezTo>
                    <a:lnTo>
                      <a:pt x="941" y="207"/>
                    </a:lnTo>
                    <a:lnTo>
                      <a:pt x="941" y="124"/>
                    </a:lnTo>
                    <a:lnTo>
                      <a:pt x="882" y="124"/>
                    </a:lnTo>
                    <a:lnTo>
                      <a:pt x="882" y="387"/>
                    </a:lnTo>
                    <a:lnTo>
                      <a:pt x="824" y="387"/>
                    </a:lnTo>
                    <a:cubicBezTo>
                      <a:pt x="837" y="278"/>
                      <a:pt x="835" y="168"/>
                      <a:pt x="835" y="154"/>
                    </a:cubicBezTo>
                    <a:cubicBezTo>
                      <a:pt x="836" y="135"/>
                      <a:pt x="825" y="116"/>
                      <a:pt x="808" y="107"/>
                    </a:cubicBezTo>
                    <a:lnTo>
                      <a:pt x="566" y="8"/>
                    </a:lnTo>
                    <a:cubicBezTo>
                      <a:pt x="554" y="2"/>
                      <a:pt x="538" y="0"/>
                      <a:pt x="525" y="3"/>
                    </a:cubicBezTo>
                    <a:lnTo>
                      <a:pt x="60" y="67"/>
                    </a:lnTo>
                    <a:cubicBezTo>
                      <a:pt x="40" y="71"/>
                      <a:pt x="24" y="89"/>
                      <a:pt x="22" y="110"/>
                    </a:cubicBezTo>
                    <a:lnTo>
                      <a:pt x="2" y="331"/>
                    </a:lnTo>
                    <a:cubicBezTo>
                      <a:pt x="0" y="352"/>
                      <a:pt x="12" y="373"/>
                      <a:pt x="32" y="382"/>
                    </a:cubicBezTo>
                    <a:lnTo>
                      <a:pt x="95" y="406"/>
                    </a:lnTo>
                    <a:lnTo>
                      <a:pt x="95" y="642"/>
                    </a:lnTo>
                    <a:cubicBezTo>
                      <a:pt x="95" y="652"/>
                      <a:pt x="103" y="661"/>
                      <a:pt x="113" y="661"/>
                    </a:cubicBezTo>
                    <a:lnTo>
                      <a:pt x="160" y="661"/>
                    </a:lnTo>
                    <a:cubicBezTo>
                      <a:pt x="161" y="734"/>
                      <a:pt x="221" y="792"/>
                      <a:pt x="294" y="792"/>
                    </a:cubicBezTo>
                    <a:cubicBezTo>
                      <a:pt x="357" y="792"/>
                      <a:pt x="409" y="749"/>
                      <a:pt x="424" y="690"/>
                    </a:cubicBezTo>
                    <a:cubicBezTo>
                      <a:pt x="438" y="749"/>
                      <a:pt x="491" y="792"/>
                      <a:pt x="554" y="792"/>
                    </a:cubicBezTo>
                    <a:cubicBezTo>
                      <a:pt x="627" y="792"/>
                      <a:pt x="686" y="734"/>
                      <a:pt x="687" y="661"/>
                    </a:cubicBezTo>
                    <a:lnTo>
                      <a:pt x="942" y="661"/>
                    </a:lnTo>
                    <a:cubicBezTo>
                      <a:pt x="944" y="734"/>
                      <a:pt x="1003" y="792"/>
                      <a:pt x="1076" y="792"/>
                    </a:cubicBezTo>
                    <a:cubicBezTo>
                      <a:pt x="1149" y="792"/>
                      <a:pt x="1209" y="734"/>
                      <a:pt x="1210" y="661"/>
                    </a:cubicBezTo>
                    <a:lnTo>
                      <a:pt x="1270" y="661"/>
                    </a:lnTo>
                    <a:cubicBezTo>
                      <a:pt x="1281" y="661"/>
                      <a:pt x="1289" y="652"/>
                      <a:pt x="1289" y="642"/>
                    </a:cubicBezTo>
                    <a:lnTo>
                      <a:pt x="1289" y="539"/>
                    </a:lnTo>
                    <a:cubicBezTo>
                      <a:pt x="1289" y="529"/>
                      <a:pt x="1281" y="520"/>
                      <a:pt x="1270" y="520"/>
                    </a:cubicBezTo>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600" kern="0" noProof="1">
                  <a:solidFill>
                    <a:prstClr val="black"/>
                  </a:solidFill>
                  <a:latin typeface="Calibri" panose="020F0502020204030204"/>
                </a:endParaRPr>
              </a:p>
            </p:txBody>
          </p:sp>
        </p:grpSp>
        <p:grpSp>
          <p:nvGrpSpPr>
            <p:cNvPr id="525" name="Gruppieren 524" descr="{&quot;Key&quot;:&quot;POWER_USER_SHAPE_ICON&quot;,&quot;Value&quot;:&quot;POWER_USER_SHAPE_ICON_STYLE_2&quot;}">
              <a:extLst>
                <a:ext uri="{FF2B5EF4-FFF2-40B4-BE49-F238E27FC236}">
                  <a16:creationId xmlns:a16="http://schemas.microsoft.com/office/drawing/2014/main" id="{A6001913-F5AD-E70D-2B24-60DBB5B177D6}"/>
                </a:ext>
              </a:extLst>
            </p:cNvPr>
            <p:cNvGrpSpPr>
              <a:grpSpLocks noChangeAspect="1"/>
            </p:cNvGrpSpPr>
            <p:nvPr/>
          </p:nvGrpSpPr>
          <p:grpSpPr>
            <a:xfrm>
              <a:off x="8615404" y="4463755"/>
              <a:ext cx="329602" cy="329602"/>
              <a:chOff x="6665358" y="1041710"/>
              <a:chExt cx="762000" cy="762000"/>
            </a:xfrm>
          </p:grpSpPr>
          <p:sp>
            <p:nvSpPr>
              <p:cNvPr id="526" name="Solar_panel2" descr="{&quot;Key&quot;:&quot;POWER_USER_SHAPE_ICON&quot;,&quot;Value&quot;:&quot;POWER_USER_SHAPE_ICON_STYLE_1&quot;}">
                <a:extLst>
                  <a:ext uri="{FF2B5EF4-FFF2-40B4-BE49-F238E27FC236}">
                    <a16:creationId xmlns:a16="http://schemas.microsoft.com/office/drawing/2014/main" id="{329D0F6E-9DF3-6C99-7ADA-D5833AE8DDD0}"/>
                  </a:ext>
                </a:extLst>
              </p:cNvPr>
              <p:cNvSpPr>
                <a:spLocks noChangeAspect="1" noEditPoints="1"/>
              </p:cNvSpPr>
              <p:nvPr>
                <p:custDataLst>
                  <p:tags r:id="rId43"/>
                </p:custDataLst>
              </p:nvPr>
            </p:nvSpPr>
            <p:spPr bwMode="auto">
              <a:xfrm>
                <a:off x="6792354" y="1217351"/>
                <a:ext cx="508001" cy="482877"/>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600" kern="0" noProof="1">
                  <a:solidFill>
                    <a:prstClr val="black"/>
                  </a:solidFill>
                  <a:latin typeface="Calibri" panose="020F0502020204030204"/>
                </a:endParaRPr>
              </a:p>
            </p:txBody>
          </p:sp>
          <p:sp>
            <p:nvSpPr>
              <p:cNvPr id="527" name="POWER_USER_SHAPE_ICON_STYLE_2">
                <a:extLst>
                  <a:ext uri="{FF2B5EF4-FFF2-40B4-BE49-F238E27FC236}">
                    <a16:creationId xmlns:a16="http://schemas.microsoft.com/office/drawing/2014/main" id="{7AD9E4F0-0E84-8B4D-81E5-32FC9FDD600C}"/>
                  </a:ext>
                </a:extLst>
              </p:cNvPr>
              <p:cNvSpPr/>
              <p:nvPr/>
            </p:nvSpPr>
            <p:spPr>
              <a:xfrm>
                <a:off x="6665358" y="1041710"/>
                <a:ext cx="762000" cy="762000"/>
              </a:xfrm>
              <a:prstGeom prst="ellipse">
                <a:avLst/>
              </a:prstGeom>
              <a:solidFill>
                <a:srgbClr val="7F6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600" kern="0" noProof="1">
                  <a:solidFill>
                    <a:prstClr val="white"/>
                  </a:solidFill>
                  <a:latin typeface="Calibri" panose="020F0502020204030204"/>
                </a:endParaRPr>
              </a:p>
            </p:txBody>
          </p:sp>
        </p:grpSp>
        <p:grpSp>
          <p:nvGrpSpPr>
            <p:cNvPr id="528" name="Gruppieren 527" descr="{&quot;Key&quot;:&quot;POWER_USER_SHAPE_ICON&quot;,&quot;Value&quot;:&quot;POWER_USER_SHAPE_ICON_STYLE_2&quot;}">
              <a:extLst>
                <a:ext uri="{FF2B5EF4-FFF2-40B4-BE49-F238E27FC236}">
                  <a16:creationId xmlns:a16="http://schemas.microsoft.com/office/drawing/2014/main" id="{62E4AD75-ED23-60E1-2A7A-A4908492C916}"/>
                </a:ext>
              </a:extLst>
            </p:cNvPr>
            <p:cNvGrpSpPr>
              <a:grpSpLocks noChangeAspect="1"/>
            </p:cNvGrpSpPr>
            <p:nvPr/>
          </p:nvGrpSpPr>
          <p:grpSpPr>
            <a:xfrm>
              <a:off x="8755655" y="4682542"/>
              <a:ext cx="333258" cy="333258"/>
              <a:chOff x="1765816" y="2747710"/>
              <a:chExt cx="762000" cy="762000"/>
            </a:xfrm>
          </p:grpSpPr>
          <p:sp>
            <p:nvSpPr>
              <p:cNvPr id="529" name="POWER_USER_SHAPE_ICON_STYLE_2">
                <a:extLst>
                  <a:ext uri="{FF2B5EF4-FFF2-40B4-BE49-F238E27FC236}">
                    <a16:creationId xmlns:a16="http://schemas.microsoft.com/office/drawing/2014/main" id="{D1CDE31D-CF27-A519-C0C5-B31B37A3A448}"/>
                  </a:ext>
                </a:extLst>
              </p:cNvPr>
              <p:cNvSpPr/>
              <p:nvPr/>
            </p:nvSpPr>
            <p:spPr>
              <a:xfrm>
                <a:off x="1765816" y="2747710"/>
                <a:ext cx="762000" cy="762000"/>
              </a:xfrm>
              <a:prstGeom prst="ellipse">
                <a:avLst/>
              </a:prstGeom>
              <a:solidFill>
                <a:srgbClr val="7F6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600" kern="0" noProof="1">
                  <a:solidFill>
                    <a:prstClr val="white"/>
                  </a:solidFill>
                  <a:latin typeface="Calibri" panose="020F0502020204030204"/>
                </a:endParaRPr>
              </a:p>
            </p:txBody>
          </p:sp>
          <p:sp>
            <p:nvSpPr>
              <p:cNvPr id="530" name="Gas4" descr="{&quot;Key&quot;:&quot;POWER_USER_SHAPE_ICON&quot;,&quot;Value&quot;:&quot;POWER_USER_SHAPE_ICON_STYLE_1&quot;}">
                <a:extLst>
                  <a:ext uri="{FF2B5EF4-FFF2-40B4-BE49-F238E27FC236}">
                    <a16:creationId xmlns:a16="http://schemas.microsoft.com/office/drawing/2014/main" id="{7E30DDC5-7184-0A68-E3CE-14BBDD9C9DAC}"/>
                  </a:ext>
                </a:extLst>
              </p:cNvPr>
              <p:cNvSpPr>
                <a:spLocks noChangeAspect="1" noEditPoints="1"/>
              </p:cNvSpPr>
              <p:nvPr>
                <p:custDataLst>
                  <p:tags r:id="rId42"/>
                </p:custDataLst>
              </p:nvPr>
            </p:nvSpPr>
            <p:spPr bwMode="auto">
              <a:xfrm>
                <a:off x="1918761" y="2910392"/>
                <a:ext cx="456108" cy="507999"/>
              </a:xfrm>
              <a:custGeom>
                <a:avLst/>
                <a:gdLst>
                  <a:gd name="T0" fmla="*/ 198 w 696"/>
                  <a:gd name="T1" fmla="*/ 308 h 774"/>
                  <a:gd name="T2" fmla="*/ 272 w 696"/>
                  <a:gd name="T3" fmla="*/ 298 h 774"/>
                  <a:gd name="T4" fmla="*/ 287 w 696"/>
                  <a:gd name="T5" fmla="*/ 240 h 774"/>
                  <a:gd name="T6" fmla="*/ 152 w 696"/>
                  <a:gd name="T7" fmla="*/ 197 h 774"/>
                  <a:gd name="T8" fmla="*/ 110 w 696"/>
                  <a:gd name="T9" fmla="*/ 376 h 774"/>
                  <a:gd name="T10" fmla="*/ 319 w 696"/>
                  <a:gd name="T11" fmla="*/ 419 h 774"/>
                  <a:gd name="T12" fmla="*/ 362 w 696"/>
                  <a:gd name="T13" fmla="*/ 239 h 774"/>
                  <a:gd name="T14" fmla="*/ 152 w 696"/>
                  <a:gd name="T15" fmla="*/ 197 h 774"/>
                  <a:gd name="T16" fmla="*/ 424 w 696"/>
                  <a:gd name="T17" fmla="*/ 680 h 774"/>
                  <a:gd name="T18" fmla="*/ 47 w 696"/>
                  <a:gd name="T19" fmla="*/ 727 h 774"/>
                  <a:gd name="T20" fmla="*/ 622 w 696"/>
                  <a:gd name="T21" fmla="*/ 289 h 774"/>
                  <a:gd name="T22" fmla="*/ 582 w 696"/>
                  <a:gd name="T23" fmla="*/ 238 h 774"/>
                  <a:gd name="T24" fmla="*/ 622 w 696"/>
                  <a:gd name="T25" fmla="*/ 289 h 774"/>
                  <a:gd name="T26" fmla="*/ 696 w 696"/>
                  <a:gd name="T27" fmla="*/ 200 h 774"/>
                  <a:gd name="T28" fmla="*/ 645 w 696"/>
                  <a:gd name="T29" fmla="*/ 115 h 774"/>
                  <a:gd name="T30" fmla="*/ 587 w 696"/>
                  <a:gd name="T31" fmla="*/ 66 h 774"/>
                  <a:gd name="T32" fmla="*/ 498 w 696"/>
                  <a:gd name="T33" fmla="*/ 0 h 774"/>
                  <a:gd name="T34" fmla="*/ 529 w 696"/>
                  <a:gd name="T35" fmla="*/ 73 h 774"/>
                  <a:gd name="T36" fmla="*/ 576 w 696"/>
                  <a:gd name="T37" fmla="*/ 142 h 774"/>
                  <a:gd name="T38" fmla="*/ 546 w 696"/>
                  <a:gd name="T39" fmla="*/ 179 h 774"/>
                  <a:gd name="T40" fmla="*/ 555 w 696"/>
                  <a:gd name="T41" fmla="*/ 292 h 774"/>
                  <a:gd name="T42" fmla="*/ 622 w 696"/>
                  <a:gd name="T43" fmla="*/ 570 h 774"/>
                  <a:gd name="T44" fmla="*/ 556 w 696"/>
                  <a:gd name="T45" fmla="*/ 570 h 774"/>
                  <a:gd name="T46" fmla="*/ 460 w 696"/>
                  <a:gd name="T47" fmla="*/ 303 h 774"/>
                  <a:gd name="T48" fmla="*/ 508 w 696"/>
                  <a:gd name="T49" fmla="*/ 399 h 774"/>
                  <a:gd name="T50" fmla="*/ 589 w 696"/>
                  <a:gd name="T51" fmla="*/ 650 h 774"/>
                  <a:gd name="T52" fmla="*/ 669 w 696"/>
                  <a:gd name="T53" fmla="*/ 234 h 774"/>
                  <a:gd name="T54" fmla="*/ 153 w 696"/>
                  <a:gd name="T55" fmla="*/ 92 h 774"/>
                  <a:gd name="T56" fmla="*/ 424 w 696"/>
                  <a:gd name="T57" fmla="*/ 197 h 774"/>
                  <a:gd name="T58" fmla="*/ 448 w 696"/>
                  <a:gd name="T59" fmla="*/ 633 h 774"/>
                  <a:gd name="T60" fmla="*/ 472 w 696"/>
                  <a:gd name="T61" fmla="*/ 751 h 774"/>
                  <a:gd name="T62" fmla="*/ 24 w 696"/>
                  <a:gd name="T63" fmla="*/ 774 h 774"/>
                  <a:gd name="T64" fmla="*/ 0 w 696"/>
                  <a:gd name="T65" fmla="*/ 656 h 774"/>
                  <a:gd name="T66" fmla="*/ 47 w 696"/>
                  <a:gd name="T67" fmla="*/ 633 h 774"/>
                  <a:gd name="T68" fmla="*/ 153 w 696"/>
                  <a:gd name="T69" fmla="*/ 92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96" h="774">
                    <a:moveTo>
                      <a:pt x="245" y="271"/>
                    </a:moveTo>
                    <a:cubicBezTo>
                      <a:pt x="222" y="265"/>
                      <a:pt x="198" y="283"/>
                      <a:pt x="198" y="308"/>
                    </a:cubicBezTo>
                    <a:cubicBezTo>
                      <a:pt x="198" y="328"/>
                      <a:pt x="215" y="345"/>
                      <a:pt x="236" y="345"/>
                    </a:cubicBezTo>
                    <a:cubicBezTo>
                      <a:pt x="261" y="345"/>
                      <a:pt x="278" y="322"/>
                      <a:pt x="272" y="298"/>
                    </a:cubicBezTo>
                    <a:lnTo>
                      <a:pt x="303" y="256"/>
                    </a:lnTo>
                    <a:cubicBezTo>
                      <a:pt x="312" y="244"/>
                      <a:pt x="300" y="232"/>
                      <a:pt x="287" y="240"/>
                    </a:cubicBezTo>
                    <a:lnTo>
                      <a:pt x="245" y="271"/>
                    </a:lnTo>
                    <a:close/>
                    <a:moveTo>
                      <a:pt x="152" y="197"/>
                    </a:moveTo>
                    <a:cubicBezTo>
                      <a:pt x="129" y="197"/>
                      <a:pt x="110" y="216"/>
                      <a:pt x="110" y="239"/>
                    </a:cubicBezTo>
                    <a:lnTo>
                      <a:pt x="110" y="376"/>
                    </a:lnTo>
                    <a:cubicBezTo>
                      <a:pt x="110" y="400"/>
                      <a:pt x="129" y="419"/>
                      <a:pt x="152" y="419"/>
                    </a:cubicBezTo>
                    <a:lnTo>
                      <a:pt x="319" y="419"/>
                    </a:lnTo>
                    <a:cubicBezTo>
                      <a:pt x="343" y="419"/>
                      <a:pt x="362" y="400"/>
                      <a:pt x="362" y="376"/>
                    </a:cubicBezTo>
                    <a:lnTo>
                      <a:pt x="362" y="239"/>
                    </a:lnTo>
                    <a:cubicBezTo>
                      <a:pt x="362" y="216"/>
                      <a:pt x="343" y="197"/>
                      <a:pt x="319" y="197"/>
                    </a:cubicBezTo>
                    <a:lnTo>
                      <a:pt x="152" y="197"/>
                    </a:lnTo>
                    <a:close/>
                    <a:moveTo>
                      <a:pt x="424" y="727"/>
                    </a:moveTo>
                    <a:lnTo>
                      <a:pt x="424" y="680"/>
                    </a:lnTo>
                    <a:lnTo>
                      <a:pt x="47" y="680"/>
                    </a:lnTo>
                    <a:lnTo>
                      <a:pt x="47" y="727"/>
                    </a:lnTo>
                    <a:lnTo>
                      <a:pt x="424" y="727"/>
                    </a:lnTo>
                    <a:close/>
                    <a:moveTo>
                      <a:pt x="622" y="289"/>
                    </a:moveTo>
                    <a:lnTo>
                      <a:pt x="582" y="266"/>
                    </a:lnTo>
                    <a:lnTo>
                      <a:pt x="582" y="238"/>
                    </a:lnTo>
                    <a:lnTo>
                      <a:pt x="622" y="238"/>
                    </a:lnTo>
                    <a:lnTo>
                      <a:pt x="622" y="289"/>
                    </a:lnTo>
                    <a:close/>
                    <a:moveTo>
                      <a:pt x="690" y="212"/>
                    </a:moveTo>
                    <a:cubicBezTo>
                      <a:pt x="693" y="209"/>
                      <a:pt x="696" y="205"/>
                      <a:pt x="696" y="200"/>
                    </a:cubicBezTo>
                    <a:lnTo>
                      <a:pt x="696" y="166"/>
                    </a:lnTo>
                    <a:cubicBezTo>
                      <a:pt x="696" y="138"/>
                      <a:pt x="673" y="115"/>
                      <a:pt x="645" y="115"/>
                    </a:cubicBezTo>
                    <a:lnTo>
                      <a:pt x="615" y="115"/>
                    </a:lnTo>
                    <a:cubicBezTo>
                      <a:pt x="607" y="101"/>
                      <a:pt x="587" y="67"/>
                      <a:pt x="587" y="66"/>
                    </a:cubicBezTo>
                    <a:cubicBezTo>
                      <a:pt x="578" y="50"/>
                      <a:pt x="569" y="41"/>
                      <a:pt x="553" y="32"/>
                    </a:cubicBezTo>
                    <a:lnTo>
                      <a:pt x="498" y="0"/>
                    </a:lnTo>
                    <a:lnTo>
                      <a:pt x="475" y="41"/>
                    </a:lnTo>
                    <a:lnTo>
                      <a:pt x="529" y="73"/>
                    </a:lnTo>
                    <a:cubicBezTo>
                      <a:pt x="538" y="78"/>
                      <a:pt x="541" y="81"/>
                      <a:pt x="547" y="90"/>
                    </a:cubicBezTo>
                    <a:lnTo>
                      <a:pt x="576" y="142"/>
                    </a:lnTo>
                    <a:lnTo>
                      <a:pt x="552" y="166"/>
                    </a:lnTo>
                    <a:cubicBezTo>
                      <a:pt x="549" y="169"/>
                      <a:pt x="546" y="174"/>
                      <a:pt x="546" y="179"/>
                    </a:cubicBezTo>
                    <a:lnTo>
                      <a:pt x="547" y="276"/>
                    </a:lnTo>
                    <a:cubicBezTo>
                      <a:pt x="547" y="282"/>
                      <a:pt x="550" y="288"/>
                      <a:pt x="555" y="292"/>
                    </a:cubicBezTo>
                    <a:lnTo>
                      <a:pt x="622" y="330"/>
                    </a:lnTo>
                    <a:lnTo>
                      <a:pt x="622" y="570"/>
                    </a:lnTo>
                    <a:cubicBezTo>
                      <a:pt x="622" y="588"/>
                      <a:pt x="607" y="603"/>
                      <a:pt x="589" y="603"/>
                    </a:cubicBezTo>
                    <a:cubicBezTo>
                      <a:pt x="570" y="603"/>
                      <a:pt x="556" y="588"/>
                      <a:pt x="556" y="570"/>
                    </a:cubicBezTo>
                    <a:lnTo>
                      <a:pt x="556" y="399"/>
                    </a:lnTo>
                    <a:cubicBezTo>
                      <a:pt x="556" y="346"/>
                      <a:pt x="512" y="303"/>
                      <a:pt x="460" y="303"/>
                    </a:cubicBezTo>
                    <a:lnTo>
                      <a:pt x="460" y="350"/>
                    </a:lnTo>
                    <a:cubicBezTo>
                      <a:pt x="486" y="350"/>
                      <a:pt x="508" y="372"/>
                      <a:pt x="508" y="399"/>
                    </a:cubicBezTo>
                    <a:lnTo>
                      <a:pt x="508" y="570"/>
                    </a:lnTo>
                    <a:cubicBezTo>
                      <a:pt x="508" y="614"/>
                      <a:pt x="544" y="650"/>
                      <a:pt x="589" y="650"/>
                    </a:cubicBezTo>
                    <a:cubicBezTo>
                      <a:pt x="633" y="650"/>
                      <a:pt x="669" y="614"/>
                      <a:pt x="669" y="570"/>
                    </a:cubicBezTo>
                    <a:lnTo>
                      <a:pt x="669" y="234"/>
                    </a:lnTo>
                    <a:lnTo>
                      <a:pt x="690" y="212"/>
                    </a:lnTo>
                    <a:close/>
                    <a:moveTo>
                      <a:pt x="153" y="92"/>
                    </a:moveTo>
                    <a:lnTo>
                      <a:pt x="319" y="92"/>
                    </a:lnTo>
                    <a:cubicBezTo>
                      <a:pt x="379" y="92"/>
                      <a:pt x="424" y="137"/>
                      <a:pt x="424" y="197"/>
                    </a:cubicBezTo>
                    <a:lnTo>
                      <a:pt x="424" y="633"/>
                    </a:lnTo>
                    <a:lnTo>
                      <a:pt x="448" y="633"/>
                    </a:lnTo>
                    <a:cubicBezTo>
                      <a:pt x="461" y="633"/>
                      <a:pt x="472" y="643"/>
                      <a:pt x="472" y="656"/>
                    </a:cubicBezTo>
                    <a:lnTo>
                      <a:pt x="472" y="751"/>
                    </a:lnTo>
                    <a:cubicBezTo>
                      <a:pt x="472" y="764"/>
                      <a:pt x="461" y="774"/>
                      <a:pt x="448" y="774"/>
                    </a:cubicBezTo>
                    <a:lnTo>
                      <a:pt x="24" y="774"/>
                    </a:lnTo>
                    <a:cubicBezTo>
                      <a:pt x="11" y="774"/>
                      <a:pt x="0" y="764"/>
                      <a:pt x="0" y="751"/>
                    </a:cubicBezTo>
                    <a:lnTo>
                      <a:pt x="0" y="656"/>
                    </a:lnTo>
                    <a:cubicBezTo>
                      <a:pt x="0" y="643"/>
                      <a:pt x="11" y="633"/>
                      <a:pt x="24" y="633"/>
                    </a:cubicBezTo>
                    <a:lnTo>
                      <a:pt x="47" y="633"/>
                    </a:lnTo>
                    <a:lnTo>
                      <a:pt x="47" y="197"/>
                    </a:lnTo>
                    <a:cubicBezTo>
                      <a:pt x="47" y="137"/>
                      <a:pt x="93" y="92"/>
                      <a:pt x="153" y="92"/>
                    </a:cubicBezTo>
                    <a:lnTo>
                      <a:pt x="153" y="92"/>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600" kern="0" noProof="1">
                  <a:solidFill>
                    <a:prstClr val="black"/>
                  </a:solidFill>
                  <a:latin typeface="Calibri" panose="020F0502020204030204"/>
                </a:endParaRPr>
              </a:p>
            </p:txBody>
          </p:sp>
        </p:grpSp>
        <p:sp>
          <p:nvSpPr>
            <p:cNvPr id="531" name="Rechteck 530">
              <a:extLst>
                <a:ext uri="{FF2B5EF4-FFF2-40B4-BE49-F238E27FC236}">
                  <a16:creationId xmlns:a16="http://schemas.microsoft.com/office/drawing/2014/main" id="{125B4DB9-2702-8237-9FD7-7D72C39D0D8D}"/>
                </a:ext>
              </a:extLst>
            </p:cNvPr>
            <p:cNvSpPr/>
            <p:nvPr/>
          </p:nvSpPr>
          <p:spPr bwMode="auto">
            <a:xfrm>
              <a:off x="7413487" y="4426488"/>
              <a:ext cx="952221" cy="553998"/>
            </a:xfrm>
            <a:prstGeom prst="rect">
              <a:avLst/>
            </a:prstGeom>
          </p:spPr>
          <p:txBody>
            <a:bodyPr wrap="square">
              <a:spAutoFit/>
            </a:bodyPr>
            <a:lstStyle/>
            <a:p>
              <a:pPr algn="r" defTabSz="685754">
                <a:defRPr/>
              </a:pPr>
              <a:r>
                <a:rPr lang="de-DE" sz="1000" noProof="1">
                  <a:solidFill>
                    <a:srgbClr val="00B050"/>
                  </a:solidFill>
                  <a:latin typeface="Bahnschrift" panose="020B0502040204020203" pitchFamily="34" charset="0"/>
                </a:rPr>
                <a:t>Graue Energie Errichtung</a:t>
              </a:r>
            </a:p>
          </p:txBody>
        </p:sp>
        <p:grpSp>
          <p:nvGrpSpPr>
            <p:cNvPr id="532" name="Gruppieren 531" descr="{&quot;Key&quot;:&quot;POWER_USER_SHAPE_ICON&quot;,&quot;Value&quot;:&quot;POWER_USER_SHAPE_ICON_STYLE_2&quot;}">
              <a:extLst>
                <a:ext uri="{FF2B5EF4-FFF2-40B4-BE49-F238E27FC236}">
                  <a16:creationId xmlns:a16="http://schemas.microsoft.com/office/drawing/2014/main" id="{378AB06E-7331-1ECE-D436-192AC437BBE7}"/>
                </a:ext>
              </a:extLst>
            </p:cNvPr>
            <p:cNvGrpSpPr>
              <a:grpSpLocks noChangeAspect="1"/>
            </p:cNvGrpSpPr>
            <p:nvPr/>
          </p:nvGrpSpPr>
          <p:grpSpPr>
            <a:xfrm>
              <a:off x="8386144" y="4268048"/>
              <a:ext cx="283747" cy="283747"/>
              <a:chOff x="-127000" y="2976049"/>
              <a:chExt cx="762000" cy="762000"/>
            </a:xfrm>
          </p:grpSpPr>
          <p:sp>
            <p:nvSpPr>
              <p:cNvPr id="533" name="POWER_USER_SHAPE_ICON_STYLE_2">
                <a:extLst>
                  <a:ext uri="{FF2B5EF4-FFF2-40B4-BE49-F238E27FC236}">
                    <a16:creationId xmlns:a16="http://schemas.microsoft.com/office/drawing/2014/main" id="{7D6F6519-ACD5-13FB-3CDC-866B1788A145}"/>
                  </a:ext>
                </a:extLst>
              </p:cNvPr>
              <p:cNvSpPr/>
              <p:nvPr/>
            </p:nvSpPr>
            <p:spPr>
              <a:xfrm>
                <a:off x="-127000" y="2976049"/>
                <a:ext cx="762000" cy="762000"/>
              </a:xfrm>
              <a:prstGeom prst="ellipse">
                <a:avLst/>
              </a:prstGeom>
              <a:solidFill>
                <a:srgbClr val="FFFFFF">
                  <a:lumMod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34" name="Scooter" descr="{&quot;Key&quot;:&quot;POWER_USER_SHAPE_ICON&quot;,&quot;Value&quot;:&quot;POWER_USER_SHAPE_ICON_STYLE_1&quot;}">
                <a:extLst>
                  <a:ext uri="{FF2B5EF4-FFF2-40B4-BE49-F238E27FC236}">
                    <a16:creationId xmlns:a16="http://schemas.microsoft.com/office/drawing/2014/main" id="{E1160D8D-24C0-4890-085A-7CDB569B4BFD}"/>
                  </a:ext>
                </a:extLst>
              </p:cNvPr>
              <p:cNvSpPr>
                <a:spLocks noChangeAspect="1" noEditPoints="1"/>
              </p:cNvSpPr>
              <p:nvPr>
                <p:custDataLst>
                  <p:tags r:id="rId41"/>
                </p:custDataLst>
              </p:nvPr>
            </p:nvSpPr>
            <p:spPr bwMode="auto">
              <a:xfrm>
                <a:off x="0" y="3157538"/>
                <a:ext cx="508000" cy="399021"/>
              </a:xfrm>
              <a:custGeom>
                <a:avLst/>
                <a:gdLst>
                  <a:gd name="T0" fmla="*/ 602 w 829"/>
                  <a:gd name="T1" fmla="*/ 522 h 650"/>
                  <a:gd name="T2" fmla="*/ 649 w 829"/>
                  <a:gd name="T3" fmla="*/ 462 h 650"/>
                  <a:gd name="T4" fmla="*/ 726 w 829"/>
                  <a:gd name="T5" fmla="*/ 522 h 650"/>
                  <a:gd name="T6" fmla="*/ 397 w 829"/>
                  <a:gd name="T7" fmla="*/ 484 h 650"/>
                  <a:gd name="T8" fmla="*/ 281 w 829"/>
                  <a:gd name="T9" fmla="*/ 367 h 650"/>
                  <a:gd name="T10" fmla="*/ 406 w 829"/>
                  <a:gd name="T11" fmla="*/ 484 h 650"/>
                  <a:gd name="T12" fmla="*/ 200 w 829"/>
                  <a:gd name="T13" fmla="*/ 584 h 650"/>
                  <a:gd name="T14" fmla="*/ 255 w 829"/>
                  <a:gd name="T15" fmla="*/ 550 h 650"/>
                  <a:gd name="T16" fmla="*/ 688 w 829"/>
                  <a:gd name="T17" fmla="*/ 345 h 650"/>
                  <a:gd name="T18" fmla="*/ 417 w 829"/>
                  <a:gd name="T19" fmla="*/ 0 h 650"/>
                  <a:gd name="T20" fmla="*/ 332 w 829"/>
                  <a:gd name="T21" fmla="*/ 34 h 650"/>
                  <a:gd name="T22" fmla="*/ 407 w 829"/>
                  <a:gd name="T23" fmla="*/ 67 h 650"/>
                  <a:gd name="T24" fmla="*/ 528 w 829"/>
                  <a:gd name="T25" fmla="*/ 430 h 650"/>
                  <a:gd name="T26" fmla="*/ 398 w 829"/>
                  <a:gd name="T27" fmla="*/ 274 h 650"/>
                  <a:gd name="T28" fmla="*/ 64 w 829"/>
                  <a:gd name="T29" fmla="*/ 307 h 650"/>
                  <a:gd name="T30" fmla="*/ 139 w 829"/>
                  <a:gd name="T31" fmla="*/ 341 h 650"/>
                  <a:gd name="T32" fmla="*/ 1 w 829"/>
                  <a:gd name="T33" fmla="*/ 511 h 650"/>
                  <a:gd name="T34" fmla="*/ 0 w 829"/>
                  <a:gd name="T35" fmla="*/ 518 h 650"/>
                  <a:gd name="T36" fmla="*/ 1 w 829"/>
                  <a:gd name="T37" fmla="*/ 526 h 650"/>
                  <a:gd name="T38" fmla="*/ 5 w 829"/>
                  <a:gd name="T39" fmla="*/ 533 h 650"/>
                  <a:gd name="T40" fmla="*/ 6 w 829"/>
                  <a:gd name="T41" fmla="*/ 536 h 650"/>
                  <a:gd name="T42" fmla="*/ 9 w 829"/>
                  <a:gd name="T43" fmla="*/ 540 h 650"/>
                  <a:gd name="T44" fmla="*/ 16 w 829"/>
                  <a:gd name="T45" fmla="*/ 545 h 650"/>
                  <a:gd name="T46" fmla="*/ 23 w 829"/>
                  <a:gd name="T47" fmla="*/ 548 h 650"/>
                  <a:gd name="T48" fmla="*/ 33 w 829"/>
                  <a:gd name="T49" fmla="*/ 550 h 650"/>
                  <a:gd name="T50" fmla="*/ 200 w 829"/>
                  <a:gd name="T51" fmla="*/ 650 h 650"/>
                  <a:gd name="T52" fmla="*/ 440 w 829"/>
                  <a:gd name="T53" fmla="*/ 550 h 650"/>
                  <a:gd name="T54" fmla="*/ 440 w 829"/>
                  <a:gd name="T55" fmla="*/ 550 h 650"/>
                  <a:gd name="T56" fmla="*/ 506 w 829"/>
                  <a:gd name="T57" fmla="*/ 550 h 650"/>
                  <a:gd name="T58" fmla="*/ 537 w 829"/>
                  <a:gd name="T59" fmla="*/ 536 h 650"/>
                  <a:gd name="T60" fmla="*/ 793 w 829"/>
                  <a:gd name="T61" fmla="*/ 522 h 650"/>
                  <a:gd name="T62" fmla="*/ 800 w 829"/>
                  <a:gd name="T63" fmla="*/ 516 h 650"/>
                  <a:gd name="T64" fmla="*/ 688 w 829"/>
                  <a:gd name="T65" fmla="*/ 345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29" h="650">
                    <a:moveTo>
                      <a:pt x="664" y="584"/>
                    </a:moveTo>
                    <a:cubicBezTo>
                      <a:pt x="630" y="584"/>
                      <a:pt x="602" y="556"/>
                      <a:pt x="602" y="522"/>
                    </a:cubicBezTo>
                    <a:cubicBezTo>
                      <a:pt x="602" y="508"/>
                      <a:pt x="607" y="495"/>
                      <a:pt x="615" y="484"/>
                    </a:cubicBezTo>
                    <a:lnTo>
                      <a:pt x="649" y="462"/>
                    </a:lnTo>
                    <a:cubicBezTo>
                      <a:pt x="654" y="461"/>
                      <a:pt x="659" y="460"/>
                      <a:pt x="664" y="460"/>
                    </a:cubicBezTo>
                    <a:cubicBezTo>
                      <a:pt x="698" y="460"/>
                      <a:pt x="726" y="488"/>
                      <a:pt x="726" y="522"/>
                    </a:cubicBezTo>
                    <a:cubicBezTo>
                      <a:pt x="726" y="556"/>
                      <a:pt x="698" y="584"/>
                      <a:pt x="664" y="584"/>
                    </a:cubicBezTo>
                    <a:close/>
                    <a:moveTo>
                      <a:pt x="397" y="484"/>
                    </a:moveTo>
                    <a:lnTo>
                      <a:pt x="90" y="484"/>
                    </a:lnTo>
                    <a:cubicBezTo>
                      <a:pt x="122" y="436"/>
                      <a:pt x="185" y="367"/>
                      <a:pt x="281" y="367"/>
                    </a:cubicBezTo>
                    <a:cubicBezTo>
                      <a:pt x="320" y="367"/>
                      <a:pt x="350" y="378"/>
                      <a:pt x="371" y="400"/>
                    </a:cubicBezTo>
                    <a:cubicBezTo>
                      <a:pt x="394" y="425"/>
                      <a:pt x="402" y="459"/>
                      <a:pt x="406" y="484"/>
                    </a:cubicBezTo>
                    <a:lnTo>
                      <a:pt x="397" y="484"/>
                    </a:lnTo>
                    <a:close/>
                    <a:moveTo>
                      <a:pt x="200" y="584"/>
                    </a:moveTo>
                    <a:cubicBezTo>
                      <a:pt x="176" y="584"/>
                      <a:pt x="156" y="570"/>
                      <a:pt x="145" y="550"/>
                    </a:cubicBezTo>
                    <a:lnTo>
                      <a:pt x="255" y="550"/>
                    </a:lnTo>
                    <a:cubicBezTo>
                      <a:pt x="244" y="570"/>
                      <a:pt x="224" y="584"/>
                      <a:pt x="200" y="584"/>
                    </a:cubicBezTo>
                    <a:close/>
                    <a:moveTo>
                      <a:pt x="688" y="345"/>
                    </a:moveTo>
                    <a:cubicBezTo>
                      <a:pt x="692" y="276"/>
                      <a:pt x="664" y="143"/>
                      <a:pt x="434" y="5"/>
                    </a:cubicBezTo>
                    <a:cubicBezTo>
                      <a:pt x="429" y="2"/>
                      <a:pt x="423" y="0"/>
                      <a:pt x="417" y="0"/>
                    </a:cubicBezTo>
                    <a:lnTo>
                      <a:pt x="365" y="0"/>
                    </a:lnTo>
                    <a:cubicBezTo>
                      <a:pt x="346" y="0"/>
                      <a:pt x="332" y="15"/>
                      <a:pt x="332" y="34"/>
                    </a:cubicBezTo>
                    <a:cubicBezTo>
                      <a:pt x="332" y="52"/>
                      <a:pt x="346" y="67"/>
                      <a:pt x="365" y="67"/>
                    </a:cubicBezTo>
                    <a:lnTo>
                      <a:pt x="407" y="67"/>
                    </a:lnTo>
                    <a:cubicBezTo>
                      <a:pt x="591" y="179"/>
                      <a:pt x="637" y="293"/>
                      <a:pt x="618" y="362"/>
                    </a:cubicBezTo>
                    <a:cubicBezTo>
                      <a:pt x="606" y="403"/>
                      <a:pt x="571" y="430"/>
                      <a:pt x="528" y="430"/>
                    </a:cubicBezTo>
                    <a:cubicBezTo>
                      <a:pt x="441" y="430"/>
                      <a:pt x="431" y="310"/>
                      <a:pt x="431" y="305"/>
                    </a:cubicBezTo>
                    <a:cubicBezTo>
                      <a:pt x="430" y="288"/>
                      <a:pt x="415" y="274"/>
                      <a:pt x="398" y="274"/>
                    </a:cubicBezTo>
                    <a:lnTo>
                      <a:pt x="98" y="274"/>
                    </a:lnTo>
                    <a:cubicBezTo>
                      <a:pt x="79" y="274"/>
                      <a:pt x="64" y="289"/>
                      <a:pt x="64" y="307"/>
                    </a:cubicBezTo>
                    <a:cubicBezTo>
                      <a:pt x="64" y="326"/>
                      <a:pt x="79" y="341"/>
                      <a:pt x="98" y="341"/>
                    </a:cubicBezTo>
                    <a:lnTo>
                      <a:pt x="139" y="341"/>
                    </a:lnTo>
                    <a:cubicBezTo>
                      <a:pt x="56" y="380"/>
                      <a:pt x="14" y="460"/>
                      <a:pt x="1" y="509"/>
                    </a:cubicBezTo>
                    <a:cubicBezTo>
                      <a:pt x="1" y="509"/>
                      <a:pt x="1" y="510"/>
                      <a:pt x="1" y="511"/>
                    </a:cubicBezTo>
                    <a:cubicBezTo>
                      <a:pt x="1" y="512"/>
                      <a:pt x="0" y="513"/>
                      <a:pt x="0" y="514"/>
                    </a:cubicBezTo>
                    <a:cubicBezTo>
                      <a:pt x="0" y="516"/>
                      <a:pt x="0" y="517"/>
                      <a:pt x="0" y="518"/>
                    </a:cubicBezTo>
                    <a:cubicBezTo>
                      <a:pt x="0" y="520"/>
                      <a:pt x="0" y="521"/>
                      <a:pt x="1" y="522"/>
                    </a:cubicBezTo>
                    <a:cubicBezTo>
                      <a:pt x="1" y="523"/>
                      <a:pt x="1" y="525"/>
                      <a:pt x="1" y="526"/>
                    </a:cubicBezTo>
                    <a:cubicBezTo>
                      <a:pt x="2" y="527"/>
                      <a:pt x="2" y="528"/>
                      <a:pt x="3" y="529"/>
                    </a:cubicBezTo>
                    <a:cubicBezTo>
                      <a:pt x="3" y="531"/>
                      <a:pt x="4" y="532"/>
                      <a:pt x="5" y="533"/>
                    </a:cubicBezTo>
                    <a:cubicBezTo>
                      <a:pt x="5" y="534"/>
                      <a:pt x="5" y="535"/>
                      <a:pt x="6" y="536"/>
                    </a:cubicBezTo>
                    <a:cubicBezTo>
                      <a:pt x="6" y="536"/>
                      <a:pt x="6" y="536"/>
                      <a:pt x="6" y="536"/>
                    </a:cubicBezTo>
                    <a:cubicBezTo>
                      <a:pt x="7" y="537"/>
                      <a:pt x="7" y="537"/>
                      <a:pt x="7" y="537"/>
                    </a:cubicBezTo>
                    <a:cubicBezTo>
                      <a:pt x="8" y="538"/>
                      <a:pt x="9" y="539"/>
                      <a:pt x="9" y="540"/>
                    </a:cubicBezTo>
                    <a:cubicBezTo>
                      <a:pt x="10" y="541"/>
                      <a:pt x="11" y="541"/>
                      <a:pt x="12" y="542"/>
                    </a:cubicBezTo>
                    <a:cubicBezTo>
                      <a:pt x="13" y="543"/>
                      <a:pt x="14" y="544"/>
                      <a:pt x="16" y="545"/>
                    </a:cubicBezTo>
                    <a:cubicBezTo>
                      <a:pt x="16" y="545"/>
                      <a:pt x="17" y="546"/>
                      <a:pt x="18" y="547"/>
                    </a:cubicBezTo>
                    <a:cubicBezTo>
                      <a:pt x="20" y="547"/>
                      <a:pt x="21" y="548"/>
                      <a:pt x="23" y="548"/>
                    </a:cubicBezTo>
                    <a:cubicBezTo>
                      <a:pt x="24" y="549"/>
                      <a:pt x="25" y="549"/>
                      <a:pt x="25" y="549"/>
                    </a:cubicBezTo>
                    <a:cubicBezTo>
                      <a:pt x="28" y="550"/>
                      <a:pt x="31" y="550"/>
                      <a:pt x="33" y="550"/>
                    </a:cubicBezTo>
                    <a:lnTo>
                      <a:pt x="75" y="550"/>
                    </a:lnTo>
                    <a:cubicBezTo>
                      <a:pt x="88" y="608"/>
                      <a:pt x="139" y="650"/>
                      <a:pt x="200" y="650"/>
                    </a:cubicBezTo>
                    <a:cubicBezTo>
                      <a:pt x="261" y="650"/>
                      <a:pt x="312" y="608"/>
                      <a:pt x="325" y="550"/>
                    </a:cubicBezTo>
                    <a:lnTo>
                      <a:pt x="440" y="550"/>
                    </a:lnTo>
                    <a:lnTo>
                      <a:pt x="440" y="550"/>
                    </a:lnTo>
                    <a:lnTo>
                      <a:pt x="440" y="550"/>
                    </a:lnTo>
                    <a:lnTo>
                      <a:pt x="441" y="550"/>
                    </a:lnTo>
                    <a:lnTo>
                      <a:pt x="506" y="550"/>
                    </a:lnTo>
                    <a:cubicBezTo>
                      <a:pt x="512" y="550"/>
                      <a:pt x="519" y="548"/>
                      <a:pt x="524" y="545"/>
                    </a:cubicBezTo>
                    <a:lnTo>
                      <a:pt x="537" y="536"/>
                    </a:lnTo>
                    <a:cubicBezTo>
                      <a:pt x="544" y="601"/>
                      <a:pt x="598" y="650"/>
                      <a:pt x="664" y="650"/>
                    </a:cubicBezTo>
                    <a:cubicBezTo>
                      <a:pt x="735" y="650"/>
                      <a:pt x="793" y="593"/>
                      <a:pt x="793" y="522"/>
                    </a:cubicBezTo>
                    <a:cubicBezTo>
                      <a:pt x="793" y="520"/>
                      <a:pt x="793" y="519"/>
                      <a:pt x="793" y="517"/>
                    </a:cubicBezTo>
                    <a:cubicBezTo>
                      <a:pt x="795" y="517"/>
                      <a:pt x="798" y="517"/>
                      <a:pt x="800" y="516"/>
                    </a:cubicBezTo>
                    <a:cubicBezTo>
                      <a:pt x="818" y="511"/>
                      <a:pt x="829" y="493"/>
                      <a:pt x="824" y="475"/>
                    </a:cubicBezTo>
                    <a:cubicBezTo>
                      <a:pt x="801" y="388"/>
                      <a:pt x="728" y="356"/>
                      <a:pt x="688" y="345"/>
                    </a:cubicBez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535" name="Gruppieren 534" descr="{&quot;Key&quot;:&quot;POWER_USER_SHAPE_ICON&quot;,&quot;Value&quot;:&quot;POWER_USER_SHAPE_ICON_STYLE_2&quot;}">
              <a:extLst>
                <a:ext uri="{FF2B5EF4-FFF2-40B4-BE49-F238E27FC236}">
                  <a16:creationId xmlns:a16="http://schemas.microsoft.com/office/drawing/2014/main" id="{EE0BDAF5-D710-800D-BF0B-F459E2F4724F}"/>
                </a:ext>
              </a:extLst>
            </p:cNvPr>
            <p:cNvGrpSpPr>
              <a:grpSpLocks noChangeAspect="1"/>
            </p:cNvGrpSpPr>
            <p:nvPr/>
          </p:nvGrpSpPr>
          <p:grpSpPr>
            <a:xfrm>
              <a:off x="8860584" y="4266845"/>
              <a:ext cx="306630" cy="306630"/>
              <a:chOff x="-127000" y="2990387"/>
              <a:chExt cx="762000" cy="762000"/>
            </a:xfrm>
          </p:grpSpPr>
          <p:sp>
            <p:nvSpPr>
              <p:cNvPr id="536" name="POWER_USER_SHAPE_ICON_STYLE_2">
                <a:extLst>
                  <a:ext uri="{FF2B5EF4-FFF2-40B4-BE49-F238E27FC236}">
                    <a16:creationId xmlns:a16="http://schemas.microsoft.com/office/drawing/2014/main" id="{3D7295DE-74B4-34C9-9D41-C1EB823EC376}"/>
                  </a:ext>
                </a:extLst>
              </p:cNvPr>
              <p:cNvSpPr/>
              <p:nvPr/>
            </p:nvSpPr>
            <p:spPr>
              <a:xfrm>
                <a:off x="-127000" y="2990387"/>
                <a:ext cx="762000" cy="762000"/>
              </a:xfrm>
              <a:prstGeom prst="ellipse">
                <a:avLst/>
              </a:prstGeom>
              <a:solidFill>
                <a:sysClr val="windowText" lastClr="000000">
                  <a:lumMod val="50000"/>
                  <a:lumOff val="50000"/>
                </a:sys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37" name="Car7" descr="{&quot;Key&quot;:&quot;POWER_USER_SHAPE_ICON&quot;,&quot;Value&quot;:&quot;POWER_USER_SHAPE_ICON_STYLE_1&quot;}">
                <a:extLst>
                  <a:ext uri="{FF2B5EF4-FFF2-40B4-BE49-F238E27FC236}">
                    <a16:creationId xmlns:a16="http://schemas.microsoft.com/office/drawing/2014/main" id="{FAFF16E2-E88A-146C-1851-305372D6B8EC}"/>
                  </a:ext>
                </a:extLst>
              </p:cNvPr>
              <p:cNvSpPr>
                <a:spLocks noChangeAspect="1" noEditPoints="1"/>
              </p:cNvSpPr>
              <p:nvPr>
                <p:custDataLst>
                  <p:tags r:id="rId40"/>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538" name="Gruppieren 537" descr="{&quot;Key&quot;:&quot;POWER_USER_SHAPE_ICON&quot;,&quot;Value&quot;:&quot;POWER_USER_SHAPE_ICON_STYLE_2&quot;}">
              <a:extLst>
                <a:ext uri="{FF2B5EF4-FFF2-40B4-BE49-F238E27FC236}">
                  <a16:creationId xmlns:a16="http://schemas.microsoft.com/office/drawing/2014/main" id="{E93D3E95-620E-5515-66F9-DCD89522257B}"/>
                </a:ext>
              </a:extLst>
            </p:cNvPr>
            <p:cNvGrpSpPr>
              <a:grpSpLocks noChangeAspect="1"/>
            </p:cNvGrpSpPr>
            <p:nvPr/>
          </p:nvGrpSpPr>
          <p:grpSpPr>
            <a:xfrm>
              <a:off x="8588245" y="4126275"/>
              <a:ext cx="349283" cy="349282"/>
              <a:chOff x="288345" y="3340831"/>
              <a:chExt cx="762000" cy="762000"/>
            </a:xfrm>
          </p:grpSpPr>
          <p:sp>
            <p:nvSpPr>
              <p:cNvPr id="539" name="POWER_USER_SHAPE_ICON_STYLE_2">
                <a:extLst>
                  <a:ext uri="{FF2B5EF4-FFF2-40B4-BE49-F238E27FC236}">
                    <a16:creationId xmlns:a16="http://schemas.microsoft.com/office/drawing/2014/main" id="{D998D666-D4AB-5DE5-4369-4D0F9D9A6616}"/>
                  </a:ext>
                </a:extLst>
              </p:cNvPr>
              <p:cNvSpPr/>
              <p:nvPr/>
            </p:nvSpPr>
            <p:spPr>
              <a:xfrm>
                <a:off x="288345" y="3340831"/>
                <a:ext cx="762000" cy="762000"/>
              </a:xfrm>
              <a:prstGeom prst="ellipse">
                <a:avLst/>
              </a:prstGeom>
              <a:solidFill>
                <a:srgbClr val="007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40" name="Electric_Car" descr="{&quot;Key&quot;:&quot;POWER_USER_SHAPE_ICON&quot;,&quot;Value&quot;:&quot;POWER_USER_SHAPE_ICON_STYLE_1&quot;}">
                <a:extLst>
                  <a:ext uri="{FF2B5EF4-FFF2-40B4-BE49-F238E27FC236}">
                    <a16:creationId xmlns:a16="http://schemas.microsoft.com/office/drawing/2014/main" id="{0E55AF14-6EDF-D6CC-3B7F-7D768FEF4C78}"/>
                  </a:ext>
                </a:extLst>
              </p:cNvPr>
              <p:cNvSpPr>
                <a:spLocks noChangeAspect="1" noEditPoints="1"/>
              </p:cNvSpPr>
              <p:nvPr>
                <p:custDataLst>
                  <p:tags r:id="rId39"/>
                </p:custDataLst>
              </p:nvPr>
            </p:nvSpPr>
            <p:spPr bwMode="auto">
              <a:xfrm>
                <a:off x="415345" y="3593005"/>
                <a:ext cx="508000" cy="257651"/>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541" name="Gruppieren 540">
              <a:extLst>
                <a:ext uri="{FF2B5EF4-FFF2-40B4-BE49-F238E27FC236}">
                  <a16:creationId xmlns:a16="http://schemas.microsoft.com/office/drawing/2014/main" id="{F07A31C1-54C7-2B0B-E046-CEA6EE58AB56}"/>
                </a:ext>
              </a:extLst>
            </p:cNvPr>
            <p:cNvGrpSpPr/>
            <p:nvPr/>
          </p:nvGrpSpPr>
          <p:grpSpPr>
            <a:xfrm>
              <a:off x="8438320" y="4930179"/>
              <a:ext cx="309876" cy="426836"/>
              <a:chOff x="9081827" y="4010639"/>
              <a:chExt cx="442175" cy="609070"/>
            </a:xfrm>
          </p:grpSpPr>
          <p:grpSp>
            <p:nvGrpSpPr>
              <p:cNvPr id="542" name="Gruppieren 541">
                <a:extLst>
                  <a:ext uri="{FF2B5EF4-FFF2-40B4-BE49-F238E27FC236}">
                    <a16:creationId xmlns:a16="http://schemas.microsoft.com/office/drawing/2014/main" id="{4B0EA681-89AF-7ABF-0854-2962F5AF9DAC}"/>
                  </a:ext>
                </a:extLst>
              </p:cNvPr>
              <p:cNvGrpSpPr/>
              <p:nvPr/>
            </p:nvGrpSpPr>
            <p:grpSpPr>
              <a:xfrm>
                <a:off x="9081827" y="4040069"/>
                <a:ext cx="442175" cy="579640"/>
                <a:chOff x="0" y="3078492"/>
                <a:chExt cx="545343" cy="621971"/>
              </a:xfrm>
            </p:grpSpPr>
            <p:grpSp>
              <p:nvGrpSpPr>
                <p:cNvPr id="548" name="Gruppieren 547">
                  <a:extLst>
                    <a:ext uri="{FF2B5EF4-FFF2-40B4-BE49-F238E27FC236}">
                      <a16:creationId xmlns:a16="http://schemas.microsoft.com/office/drawing/2014/main" id="{ECA0BA02-9BF5-4606-BD00-B9FF91AC4D7C}"/>
                    </a:ext>
                  </a:extLst>
                </p:cNvPr>
                <p:cNvGrpSpPr/>
                <p:nvPr>
                  <p:custDataLst>
                    <p:tags r:id="rId38"/>
                  </p:custDataLst>
                </p:nvPr>
              </p:nvGrpSpPr>
              <p:grpSpPr>
                <a:xfrm>
                  <a:off x="0" y="3157538"/>
                  <a:ext cx="545343" cy="542925"/>
                  <a:chOff x="0" y="3157538"/>
                  <a:chExt cx="545343" cy="542925"/>
                </a:xfrm>
                <a:solidFill>
                  <a:srgbClr val="9954CC"/>
                </a:solidFill>
              </p:grpSpPr>
              <p:sp>
                <p:nvSpPr>
                  <p:cNvPr id="550" name="Freeform 203">
                    <a:extLst>
                      <a:ext uri="{FF2B5EF4-FFF2-40B4-BE49-F238E27FC236}">
                        <a16:creationId xmlns:a16="http://schemas.microsoft.com/office/drawing/2014/main" id="{A5EF27BF-5ADB-AF9D-2E14-F37B111C187F}"/>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solidFill>
                    <a:srgbClr val="ED7D31"/>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sp>
                <p:nvSpPr>
                  <p:cNvPr id="551" name="Freeform 204">
                    <a:extLst>
                      <a:ext uri="{FF2B5EF4-FFF2-40B4-BE49-F238E27FC236}">
                        <a16:creationId xmlns:a16="http://schemas.microsoft.com/office/drawing/2014/main" id="{CE2139CC-70DF-931C-9EE0-2D85CA5666E8}"/>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solidFill>
                    <a:srgbClr val="ED7D31"/>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sp>
                <p:nvSpPr>
                  <p:cNvPr id="552" name="Freeform 206">
                    <a:extLst>
                      <a:ext uri="{FF2B5EF4-FFF2-40B4-BE49-F238E27FC236}">
                        <a16:creationId xmlns:a16="http://schemas.microsoft.com/office/drawing/2014/main" id="{C55FD71A-872F-B541-8F2E-763C7FB77D58}"/>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grpSp>
            <p:sp>
              <p:nvSpPr>
                <p:cNvPr id="549" name="Freihandform 291">
                  <a:extLst>
                    <a:ext uri="{FF2B5EF4-FFF2-40B4-BE49-F238E27FC236}">
                      <a16:creationId xmlns:a16="http://schemas.microsoft.com/office/drawing/2014/main" id="{64766CA2-8175-24EB-F5FA-CFEAD58BDAA4}"/>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solidFill>
                  <a:sysClr val="window" lastClr="FFFFFF"/>
                </a:solid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srgbClr val="ED7D31"/>
                    </a:solidFill>
                    <a:latin typeface="Calibri" panose="020F0502020204030204"/>
                  </a:endParaRPr>
                </a:p>
              </p:txBody>
            </p:sp>
          </p:grpSp>
          <p:grpSp>
            <p:nvGrpSpPr>
              <p:cNvPr id="543" name="Gruppieren 542" descr="{&quot;Key&quot;:&quot;POWER_USER_SHAPE_ICON&quot;,&quot;Value&quot;:&quot;POWER_USER_SHAPE_ICON_STYLE_2&quot;}">
                <a:extLst>
                  <a:ext uri="{FF2B5EF4-FFF2-40B4-BE49-F238E27FC236}">
                    <a16:creationId xmlns:a16="http://schemas.microsoft.com/office/drawing/2014/main" id="{6167188D-A9C5-518B-43D3-93564B165264}"/>
                  </a:ext>
                </a:extLst>
              </p:cNvPr>
              <p:cNvGrpSpPr>
                <a:grpSpLocks noChangeAspect="1"/>
              </p:cNvGrpSpPr>
              <p:nvPr/>
            </p:nvGrpSpPr>
            <p:grpSpPr>
              <a:xfrm>
                <a:off x="9158430" y="4010639"/>
                <a:ext cx="349906" cy="349906"/>
                <a:chOff x="-127600" y="3030538"/>
                <a:chExt cx="762000" cy="762000"/>
              </a:xfrm>
            </p:grpSpPr>
            <p:sp>
              <p:nvSpPr>
                <p:cNvPr id="544" name="POWER_USER_SHAPE_ICON_STYLE_2">
                  <a:extLst>
                    <a:ext uri="{FF2B5EF4-FFF2-40B4-BE49-F238E27FC236}">
                      <a16:creationId xmlns:a16="http://schemas.microsoft.com/office/drawing/2014/main" id="{CCC0B7F7-E7C8-3CC7-3AAF-07F63E6E6009}"/>
                    </a:ext>
                  </a:extLst>
                </p:cNvPr>
                <p:cNvSpPr/>
                <p:nvPr/>
              </p:nvSpPr>
              <p:spPr>
                <a:xfrm>
                  <a:off x="-127600" y="3030538"/>
                  <a:ext cx="762000" cy="762000"/>
                </a:xfrm>
                <a:prstGeom prst="ellipse">
                  <a:avLst/>
                </a:prstGeom>
                <a:noFill/>
                <a:ln w="38100" cap="flat" cmpd="sng" algn="ctr">
                  <a:solidFill>
                    <a:srgbClr val="ED7D31"/>
                  </a:solidFill>
                  <a:prstDash val="sysDot"/>
                  <a:miter lim="800000"/>
                </a:ln>
                <a:effectLst/>
              </p:spPr>
              <p:txBody>
                <a:bodyPr rtlCol="0" anchor="ctr"/>
                <a:lstStyle/>
                <a:p>
                  <a:pPr algn="ctr" defTabSz="685754">
                    <a:defRPr/>
                  </a:pPr>
                  <a:endParaRPr lang="de-DE" sz="1350" kern="0" noProof="1">
                    <a:solidFill>
                      <a:srgbClr val="ED7D31"/>
                    </a:solidFill>
                    <a:latin typeface="Calibri" panose="020F0502020204030204"/>
                  </a:endParaRPr>
                </a:p>
              </p:txBody>
            </p:sp>
            <p:grpSp>
              <p:nvGrpSpPr>
                <p:cNvPr id="545" name="Gruppieren 544">
                  <a:extLst>
                    <a:ext uri="{FF2B5EF4-FFF2-40B4-BE49-F238E27FC236}">
                      <a16:creationId xmlns:a16="http://schemas.microsoft.com/office/drawing/2014/main" id="{B95BC88D-1133-F538-39B1-B4F70B6F97FC}"/>
                    </a:ext>
                  </a:extLst>
                </p:cNvPr>
                <p:cNvGrpSpPr>
                  <a:grpSpLocks noChangeAspect="1"/>
                </p:cNvGrpSpPr>
                <p:nvPr/>
              </p:nvGrpSpPr>
              <p:grpSpPr>
                <a:xfrm>
                  <a:off x="0" y="3157538"/>
                  <a:ext cx="506799" cy="508000"/>
                  <a:chOff x="0" y="3157538"/>
                  <a:chExt cx="541641" cy="542925"/>
                </a:xfrm>
              </p:grpSpPr>
              <p:sp>
                <p:nvSpPr>
                  <p:cNvPr id="546" name="Earth">
                    <a:extLst>
                      <a:ext uri="{FF2B5EF4-FFF2-40B4-BE49-F238E27FC236}">
                        <a16:creationId xmlns:a16="http://schemas.microsoft.com/office/drawing/2014/main" id="{5183A93D-B244-12DE-8E4B-CF8FD591D474}"/>
                      </a:ext>
                    </a:extLst>
                  </p:cNvPr>
                  <p:cNvSpPr>
                    <a:spLocks/>
                  </p:cNvSpPr>
                  <p:nvPr>
                    <p:custDataLst>
                      <p:tags r:id="rId36"/>
                    </p:custDataLst>
                  </p:nvPr>
                </p:nvSpPr>
                <p:spPr bwMode="auto">
                  <a:xfrm>
                    <a:off x="383769" y="3536174"/>
                    <a:ext cx="50057" cy="75727"/>
                  </a:xfrm>
                  <a:custGeom>
                    <a:avLst/>
                    <a:gdLst>
                      <a:gd name="T0" fmla="*/ 98 w 104"/>
                      <a:gd name="T1" fmla="*/ 1 h 155"/>
                      <a:gd name="T2" fmla="*/ 95 w 104"/>
                      <a:gd name="T3" fmla="*/ 44 h 155"/>
                      <a:gd name="T4" fmla="*/ 50 w 104"/>
                      <a:gd name="T5" fmla="*/ 128 h 155"/>
                      <a:gd name="T6" fmla="*/ 20 w 104"/>
                      <a:gd name="T7" fmla="*/ 109 h 155"/>
                      <a:gd name="T8" fmla="*/ 35 w 104"/>
                      <a:gd name="T9" fmla="*/ 60 h 155"/>
                      <a:gd name="T10" fmla="*/ 82 w 104"/>
                      <a:gd name="T11" fmla="*/ 21 h 155"/>
                      <a:gd name="T12" fmla="*/ 98 w 104"/>
                      <a:gd name="T13" fmla="*/ 1 h 155"/>
                    </a:gdLst>
                    <a:ahLst/>
                    <a:cxnLst>
                      <a:cxn ang="0">
                        <a:pos x="T0" y="T1"/>
                      </a:cxn>
                      <a:cxn ang="0">
                        <a:pos x="T2" y="T3"/>
                      </a:cxn>
                      <a:cxn ang="0">
                        <a:pos x="T4" y="T5"/>
                      </a:cxn>
                      <a:cxn ang="0">
                        <a:pos x="T6" y="T7"/>
                      </a:cxn>
                      <a:cxn ang="0">
                        <a:pos x="T8" y="T9"/>
                      </a:cxn>
                      <a:cxn ang="0">
                        <a:pos x="T10" y="T11"/>
                      </a:cxn>
                      <a:cxn ang="0">
                        <a:pos x="T12" y="T13"/>
                      </a:cxn>
                    </a:cxnLst>
                    <a:rect l="0" t="0" r="r" b="b"/>
                    <a:pathLst>
                      <a:path w="104" h="155">
                        <a:moveTo>
                          <a:pt x="98" y="1"/>
                        </a:moveTo>
                        <a:cubicBezTo>
                          <a:pt x="102" y="2"/>
                          <a:pt x="104" y="26"/>
                          <a:pt x="95" y="44"/>
                        </a:cubicBezTo>
                        <a:cubicBezTo>
                          <a:pt x="86" y="61"/>
                          <a:pt x="56" y="118"/>
                          <a:pt x="50" y="128"/>
                        </a:cubicBezTo>
                        <a:cubicBezTo>
                          <a:pt x="35" y="155"/>
                          <a:pt x="0" y="145"/>
                          <a:pt x="20" y="109"/>
                        </a:cubicBezTo>
                        <a:cubicBezTo>
                          <a:pt x="39" y="75"/>
                          <a:pt x="28" y="74"/>
                          <a:pt x="35" y="60"/>
                        </a:cubicBezTo>
                        <a:cubicBezTo>
                          <a:pt x="42" y="47"/>
                          <a:pt x="65" y="54"/>
                          <a:pt x="82" y="21"/>
                        </a:cubicBezTo>
                        <a:cubicBezTo>
                          <a:pt x="93" y="1"/>
                          <a:pt x="94" y="0"/>
                          <a:pt x="98" y="1"/>
                        </a:cubicBezTo>
                        <a:close/>
                      </a:path>
                    </a:pathLst>
                  </a:custGeom>
                  <a:solidFill>
                    <a:srgbClr val="FFFFFF"/>
                  </a:solidFill>
                  <a:ln w="0">
                    <a:solidFill>
                      <a:srgbClr val="ED7D31"/>
                    </a:solid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sp>
                <p:nvSpPr>
                  <p:cNvPr id="547" name="Earth">
                    <a:extLst>
                      <a:ext uri="{FF2B5EF4-FFF2-40B4-BE49-F238E27FC236}">
                        <a16:creationId xmlns:a16="http://schemas.microsoft.com/office/drawing/2014/main" id="{4714FD5B-6F69-DCA6-29AE-19363346400A}"/>
                      </a:ext>
                    </a:extLst>
                  </p:cNvPr>
                  <p:cNvSpPr>
                    <a:spLocks noEditPoints="1"/>
                  </p:cNvSpPr>
                  <p:nvPr>
                    <p:custDataLst>
                      <p:tags r:id="rId37"/>
                    </p:custDataLst>
                  </p:nvPr>
                </p:nvSpPr>
                <p:spPr bwMode="auto">
                  <a:xfrm>
                    <a:off x="0" y="3157538"/>
                    <a:ext cx="541641" cy="542925"/>
                  </a:xfrm>
                  <a:custGeom>
                    <a:avLst/>
                    <a:gdLst>
                      <a:gd name="T0" fmla="*/ 562 w 1125"/>
                      <a:gd name="T1" fmla="*/ 1125 h 1125"/>
                      <a:gd name="T2" fmla="*/ 562 w 1125"/>
                      <a:gd name="T3" fmla="*/ 0 h 1125"/>
                      <a:gd name="T4" fmla="*/ 1100 w 1125"/>
                      <a:gd name="T5" fmla="*/ 501 h 1125"/>
                      <a:gd name="T6" fmla="*/ 1034 w 1125"/>
                      <a:gd name="T7" fmla="*/ 367 h 1125"/>
                      <a:gd name="T8" fmla="*/ 960 w 1125"/>
                      <a:gd name="T9" fmla="*/ 325 h 1125"/>
                      <a:gd name="T10" fmla="*/ 904 w 1125"/>
                      <a:gd name="T11" fmla="*/ 311 h 1125"/>
                      <a:gd name="T12" fmla="*/ 837 w 1125"/>
                      <a:gd name="T13" fmla="*/ 279 h 1125"/>
                      <a:gd name="T14" fmla="*/ 903 w 1125"/>
                      <a:gd name="T15" fmla="*/ 343 h 1125"/>
                      <a:gd name="T16" fmla="*/ 949 w 1125"/>
                      <a:gd name="T17" fmla="*/ 395 h 1125"/>
                      <a:gd name="T18" fmla="*/ 820 w 1125"/>
                      <a:gd name="T19" fmla="*/ 456 h 1125"/>
                      <a:gd name="T20" fmla="*/ 709 w 1125"/>
                      <a:gd name="T21" fmla="*/ 335 h 1125"/>
                      <a:gd name="T22" fmla="*/ 890 w 1125"/>
                      <a:gd name="T23" fmla="*/ 502 h 1125"/>
                      <a:gd name="T24" fmla="*/ 834 w 1125"/>
                      <a:gd name="T25" fmla="*/ 650 h 1125"/>
                      <a:gd name="T26" fmla="*/ 768 w 1125"/>
                      <a:gd name="T27" fmla="*/ 859 h 1125"/>
                      <a:gd name="T28" fmla="*/ 687 w 1125"/>
                      <a:gd name="T29" fmla="*/ 973 h 1125"/>
                      <a:gd name="T30" fmla="*/ 496 w 1125"/>
                      <a:gd name="T31" fmla="*/ 950 h 1125"/>
                      <a:gd name="T32" fmla="*/ 435 w 1125"/>
                      <a:gd name="T33" fmla="*/ 725 h 1125"/>
                      <a:gd name="T34" fmla="*/ 378 w 1125"/>
                      <a:gd name="T35" fmla="*/ 602 h 1125"/>
                      <a:gd name="T36" fmla="*/ 184 w 1125"/>
                      <a:gd name="T37" fmla="*/ 579 h 1125"/>
                      <a:gd name="T38" fmla="*/ 175 w 1125"/>
                      <a:gd name="T39" fmla="*/ 358 h 1125"/>
                      <a:gd name="T40" fmla="*/ 271 w 1125"/>
                      <a:gd name="T41" fmla="*/ 256 h 1125"/>
                      <a:gd name="T42" fmla="*/ 284 w 1125"/>
                      <a:gd name="T43" fmla="*/ 190 h 1125"/>
                      <a:gd name="T44" fmla="*/ 361 w 1125"/>
                      <a:gd name="T45" fmla="*/ 150 h 1125"/>
                      <a:gd name="T46" fmla="*/ 366 w 1125"/>
                      <a:gd name="T47" fmla="*/ 74 h 1125"/>
                      <a:gd name="T48" fmla="*/ 412 w 1125"/>
                      <a:gd name="T49" fmla="*/ 89 h 1125"/>
                      <a:gd name="T50" fmla="*/ 456 w 1125"/>
                      <a:gd name="T51" fmla="*/ 51 h 1125"/>
                      <a:gd name="T52" fmla="*/ 20 w 1125"/>
                      <a:gd name="T53" fmla="*/ 562 h 1125"/>
                      <a:gd name="T54" fmla="*/ 1104 w 1125"/>
                      <a:gd name="T55" fmla="*/ 562 h 1125"/>
                      <a:gd name="T56" fmla="*/ 528 w 1125"/>
                      <a:gd name="T57" fmla="*/ 47 h 1125"/>
                      <a:gd name="T58" fmla="*/ 515 w 1125"/>
                      <a:gd name="T59" fmla="*/ 77 h 1125"/>
                      <a:gd name="T60" fmla="*/ 550 w 1125"/>
                      <a:gd name="T61" fmla="*/ 38 h 1125"/>
                      <a:gd name="T62" fmla="*/ 528 w 1125"/>
                      <a:gd name="T63" fmla="*/ 47 h 1125"/>
                      <a:gd name="T64" fmla="*/ 783 w 1125"/>
                      <a:gd name="T65" fmla="*/ 159 h 1125"/>
                      <a:gd name="T66" fmla="*/ 842 w 1125"/>
                      <a:gd name="T67" fmla="*/ 210 h 1125"/>
                      <a:gd name="T68" fmla="*/ 790 w 1125"/>
                      <a:gd name="T69" fmla="*/ 125 h 1125"/>
                      <a:gd name="T70" fmla="*/ 618 w 1125"/>
                      <a:gd name="T71" fmla="*/ 143 h 1125"/>
                      <a:gd name="T72" fmla="*/ 690 w 1125"/>
                      <a:gd name="T73" fmla="*/ 168 h 1125"/>
                      <a:gd name="T74" fmla="*/ 677 w 1125"/>
                      <a:gd name="T75" fmla="*/ 134 h 1125"/>
                      <a:gd name="T76" fmla="*/ 305 w 1125"/>
                      <a:gd name="T77" fmla="*/ 233 h 1125"/>
                      <a:gd name="T78" fmla="*/ 380 w 1125"/>
                      <a:gd name="T79" fmla="*/ 218 h 1125"/>
                      <a:gd name="T80" fmla="*/ 440 w 1125"/>
                      <a:gd name="T81" fmla="*/ 241 h 1125"/>
                      <a:gd name="T82" fmla="*/ 490 w 1125"/>
                      <a:gd name="T83" fmla="*/ 269 h 1125"/>
                      <a:gd name="T84" fmla="*/ 542 w 1125"/>
                      <a:gd name="T85" fmla="*/ 262 h 1125"/>
                      <a:gd name="T86" fmla="*/ 646 w 1125"/>
                      <a:gd name="T87" fmla="*/ 271 h 1125"/>
                      <a:gd name="T88" fmla="*/ 666 w 1125"/>
                      <a:gd name="T89" fmla="*/ 216 h 1125"/>
                      <a:gd name="T90" fmla="*/ 581 w 1125"/>
                      <a:gd name="T91" fmla="*/ 173 h 1125"/>
                      <a:gd name="T92" fmla="*/ 544 w 1125"/>
                      <a:gd name="T93" fmla="*/ 193 h 1125"/>
                      <a:gd name="T94" fmla="*/ 493 w 1125"/>
                      <a:gd name="T95" fmla="*/ 145 h 1125"/>
                      <a:gd name="T96" fmla="*/ 492 w 1125"/>
                      <a:gd name="T97" fmla="*/ 164 h 1125"/>
                      <a:gd name="T98" fmla="*/ 492 w 1125"/>
                      <a:gd name="T99" fmla="*/ 216 h 1125"/>
                      <a:gd name="T100" fmla="*/ 493 w 1125"/>
                      <a:gd name="T101" fmla="*/ 197 h 1125"/>
                      <a:gd name="T102" fmla="*/ 429 w 1125"/>
                      <a:gd name="T103" fmla="*/ 156 h 1125"/>
                      <a:gd name="T104" fmla="*/ 347 w 1125"/>
                      <a:gd name="T105" fmla="*/ 207 h 1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125" h="1125">
                        <a:moveTo>
                          <a:pt x="1125" y="562"/>
                        </a:moveTo>
                        <a:cubicBezTo>
                          <a:pt x="1125" y="873"/>
                          <a:pt x="873" y="1125"/>
                          <a:pt x="562" y="1125"/>
                        </a:cubicBezTo>
                        <a:cubicBezTo>
                          <a:pt x="251" y="1125"/>
                          <a:pt x="0" y="873"/>
                          <a:pt x="0" y="562"/>
                        </a:cubicBezTo>
                        <a:cubicBezTo>
                          <a:pt x="0" y="251"/>
                          <a:pt x="251" y="0"/>
                          <a:pt x="562" y="0"/>
                        </a:cubicBezTo>
                        <a:cubicBezTo>
                          <a:pt x="873" y="0"/>
                          <a:pt x="1125" y="251"/>
                          <a:pt x="1125" y="562"/>
                        </a:cubicBezTo>
                        <a:close/>
                        <a:moveTo>
                          <a:pt x="1100" y="501"/>
                        </a:moveTo>
                        <a:cubicBezTo>
                          <a:pt x="1082" y="503"/>
                          <a:pt x="1065" y="441"/>
                          <a:pt x="1059" y="424"/>
                        </a:cubicBezTo>
                        <a:cubicBezTo>
                          <a:pt x="1054" y="405"/>
                          <a:pt x="1041" y="362"/>
                          <a:pt x="1034" y="367"/>
                        </a:cubicBezTo>
                        <a:cubicBezTo>
                          <a:pt x="1027" y="371"/>
                          <a:pt x="1013" y="358"/>
                          <a:pt x="1003" y="342"/>
                        </a:cubicBezTo>
                        <a:cubicBezTo>
                          <a:pt x="992" y="326"/>
                          <a:pt x="975" y="322"/>
                          <a:pt x="960" y="325"/>
                        </a:cubicBezTo>
                        <a:cubicBezTo>
                          <a:pt x="946" y="328"/>
                          <a:pt x="927" y="324"/>
                          <a:pt x="924" y="318"/>
                        </a:cubicBezTo>
                        <a:cubicBezTo>
                          <a:pt x="920" y="312"/>
                          <a:pt x="917" y="305"/>
                          <a:pt x="904" y="311"/>
                        </a:cubicBezTo>
                        <a:cubicBezTo>
                          <a:pt x="891" y="317"/>
                          <a:pt x="885" y="314"/>
                          <a:pt x="871" y="299"/>
                        </a:cubicBezTo>
                        <a:cubicBezTo>
                          <a:pt x="857" y="283"/>
                          <a:pt x="845" y="275"/>
                          <a:pt x="837" y="279"/>
                        </a:cubicBezTo>
                        <a:cubicBezTo>
                          <a:pt x="829" y="284"/>
                          <a:pt x="840" y="296"/>
                          <a:pt x="856" y="314"/>
                        </a:cubicBezTo>
                        <a:cubicBezTo>
                          <a:pt x="873" y="332"/>
                          <a:pt x="891" y="352"/>
                          <a:pt x="903" y="343"/>
                        </a:cubicBezTo>
                        <a:cubicBezTo>
                          <a:pt x="915" y="334"/>
                          <a:pt x="923" y="336"/>
                          <a:pt x="932" y="343"/>
                        </a:cubicBezTo>
                        <a:cubicBezTo>
                          <a:pt x="941" y="350"/>
                          <a:pt x="957" y="356"/>
                          <a:pt x="949" y="395"/>
                        </a:cubicBezTo>
                        <a:cubicBezTo>
                          <a:pt x="940" y="434"/>
                          <a:pt x="883" y="458"/>
                          <a:pt x="858" y="476"/>
                        </a:cubicBezTo>
                        <a:cubicBezTo>
                          <a:pt x="832" y="494"/>
                          <a:pt x="828" y="482"/>
                          <a:pt x="820" y="456"/>
                        </a:cubicBezTo>
                        <a:cubicBezTo>
                          <a:pt x="813" y="430"/>
                          <a:pt x="744" y="347"/>
                          <a:pt x="724" y="320"/>
                        </a:cubicBezTo>
                        <a:cubicBezTo>
                          <a:pt x="704" y="292"/>
                          <a:pt x="693" y="304"/>
                          <a:pt x="709" y="335"/>
                        </a:cubicBezTo>
                        <a:cubicBezTo>
                          <a:pt x="726" y="366"/>
                          <a:pt x="797" y="463"/>
                          <a:pt x="823" y="497"/>
                        </a:cubicBezTo>
                        <a:cubicBezTo>
                          <a:pt x="849" y="532"/>
                          <a:pt x="865" y="511"/>
                          <a:pt x="890" y="502"/>
                        </a:cubicBezTo>
                        <a:cubicBezTo>
                          <a:pt x="916" y="492"/>
                          <a:pt x="914" y="486"/>
                          <a:pt x="907" y="532"/>
                        </a:cubicBezTo>
                        <a:cubicBezTo>
                          <a:pt x="900" y="578"/>
                          <a:pt x="864" y="619"/>
                          <a:pt x="834" y="650"/>
                        </a:cubicBezTo>
                        <a:cubicBezTo>
                          <a:pt x="805" y="681"/>
                          <a:pt x="785" y="738"/>
                          <a:pt x="796" y="778"/>
                        </a:cubicBezTo>
                        <a:cubicBezTo>
                          <a:pt x="806" y="817"/>
                          <a:pt x="789" y="847"/>
                          <a:pt x="768" y="859"/>
                        </a:cubicBezTo>
                        <a:cubicBezTo>
                          <a:pt x="747" y="871"/>
                          <a:pt x="729" y="887"/>
                          <a:pt x="730" y="912"/>
                        </a:cubicBezTo>
                        <a:cubicBezTo>
                          <a:pt x="730" y="936"/>
                          <a:pt x="709" y="945"/>
                          <a:pt x="687" y="973"/>
                        </a:cubicBezTo>
                        <a:cubicBezTo>
                          <a:pt x="665" y="1001"/>
                          <a:pt x="641" y="1013"/>
                          <a:pt x="594" y="1021"/>
                        </a:cubicBezTo>
                        <a:cubicBezTo>
                          <a:pt x="547" y="1030"/>
                          <a:pt x="515" y="985"/>
                          <a:pt x="496" y="950"/>
                        </a:cubicBezTo>
                        <a:cubicBezTo>
                          <a:pt x="477" y="915"/>
                          <a:pt x="444" y="868"/>
                          <a:pt x="460" y="837"/>
                        </a:cubicBezTo>
                        <a:cubicBezTo>
                          <a:pt x="476" y="806"/>
                          <a:pt x="453" y="746"/>
                          <a:pt x="435" y="725"/>
                        </a:cubicBezTo>
                        <a:cubicBezTo>
                          <a:pt x="418" y="703"/>
                          <a:pt x="400" y="687"/>
                          <a:pt x="408" y="657"/>
                        </a:cubicBezTo>
                        <a:cubicBezTo>
                          <a:pt x="416" y="627"/>
                          <a:pt x="398" y="614"/>
                          <a:pt x="378" y="602"/>
                        </a:cubicBezTo>
                        <a:cubicBezTo>
                          <a:pt x="358" y="589"/>
                          <a:pt x="309" y="592"/>
                          <a:pt x="279" y="599"/>
                        </a:cubicBezTo>
                        <a:cubicBezTo>
                          <a:pt x="249" y="605"/>
                          <a:pt x="195" y="591"/>
                          <a:pt x="184" y="579"/>
                        </a:cubicBezTo>
                        <a:cubicBezTo>
                          <a:pt x="174" y="566"/>
                          <a:pt x="140" y="512"/>
                          <a:pt x="138" y="493"/>
                        </a:cubicBezTo>
                        <a:cubicBezTo>
                          <a:pt x="137" y="475"/>
                          <a:pt x="158" y="381"/>
                          <a:pt x="175" y="358"/>
                        </a:cubicBezTo>
                        <a:cubicBezTo>
                          <a:pt x="191" y="336"/>
                          <a:pt x="234" y="304"/>
                          <a:pt x="237" y="295"/>
                        </a:cubicBezTo>
                        <a:cubicBezTo>
                          <a:pt x="240" y="286"/>
                          <a:pt x="247" y="270"/>
                          <a:pt x="271" y="256"/>
                        </a:cubicBezTo>
                        <a:cubicBezTo>
                          <a:pt x="295" y="243"/>
                          <a:pt x="289" y="222"/>
                          <a:pt x="280" y="222"/>
                        </a:cubicBezTo>
                        <a:cubicBezTo>
                          <a:pt x="271" y="221"/>
                          <a:pt x="277" y="210"/>
                          <a:pt x="284" y="190"/>
                        </a:cubicBezTo>
                        <a:cubicBezTo>
                          <a:pt x="291" y="169"/>
                          <a:pt x="310" y="161"/>
                          <a:pt x="315" y="162"/>
                        </a:cubicBezTo>
                        <a:cubicBezTo>
                          <a:pt x="319" y="164"/>
                          <a:pt x="352" y="165"/>
                          <a:pt x="361" y="150"/>
                        </a:cubicBezTo>
                        <a:cubicBezTo>
                          <a:pt x="370" y="136"/>
                          <a:pt x="341" y="109"/>
                          <a:pt x="337" y="103"/>
                        </a:cubicBezTo>
                        <a:cubicBezTo>
                          <a:pt x="332" y="96"/>
                          <a:pt x="358" y="79"/>
                          <a:pt x="366" y="74"/>
                        </a:cubicBezTo>
                        <a:cubicBezTo>
                          <a:pt x="374" y="69"/>
                          <a:pt x="405" y="55"/>
                          <a:pt x="411" y="56"/>
                        </a:cubicBezTo>
                        <a:cubicBezTo>
                          <a:pt x="417" y="58"/>
                          <a:pt x="401" y="79"/>
                          <a:pt x="412" y="89"/>
                        </a:cubicBezTo>
                        <a:cubicBezTo>
                          <a:pt x="424" y="99"/>
                          <a:pt x="440" y="80"/>
                          <a:pt x="452" y="81"/>
                        </a:cubicBezTo>
                        <a:cubicBezTo>
                          <a:pt x="464" y="81"/>
                          <a:pt x="460" y="57"/>
                          <a:pt x="456" y="51"/>
                        </a:cubicBezTo>
                        <a:cubicBezTo>
                          <a:pt x="454" y="47"/>
                          <a:pt x="469" y="35"/>
                          <a:pt x="484" y="26"/>
                        </a:cubicBezTo>
                        <a:cubicBezTo>
                          <a:pt x="222" y="64"/>
                          <a:pt x="20" y="289"/>
                          <a:pt x="20" y="562"/>
                        </a:cubicBezTo>
                        <a:cubicBezTo>
                          <a:pt x="20" y="861"/>
                          <a:pt x="263" y="1104"/>
                          <a:pt x="562" y="1104"/>
                        </a:cubicBezTo>
                        <a:cubicBezTo>
                          <a:pt x="861" y="1104"/>
                          <a:pt x="1104" y="861"/>
                          <a:pt x="1104" y="562"/>
                        </a:cubicBezTo>
                        <a:cubicBezTo>
                          <a:pt x="1104" y="541"/>
                          <a:pt x="1103" y="521"/>
                          <a:pt x="1100" y="501"/>
                        </a:cubicBezTo>
                        <a:close/>
                        <a:moveTo>
                          <a:pt x="528" y="47"/>
                        </a:moveTo>
                        <a:cubicBezTo>
                          <a:pt x="516" y="59"/>
                          <a:pt x="510" y="65"/>
                          <a:pt x="502" y="67"/>
                        </a:cubicBezTo>
                        <a:cubicBezTo>
                          <a:pt x="494" y="70"/>
                          <a:pt x="490" y="79"/>
                          <a:pt x="515" y="77"/>
                        </a:cubicBezTo>
                        <a:cubicBezTo>
                          <a:pt x="539" y="74"/>
                          <a:pt x="540" y="70"/>
                          <a:pt x="551" y="60"/>
                        </a:cubicBezTo>
                        <a:cubicBezTo>
                          <a:pt x="563" y="51"/>
                          <a:pt x="557" y="43"/>
                          <a:pt x="550" y="38"/>
                        </a:cubicBezTo>
                        <a:cubicBezTo>
                          <a:pt x="543" y="33"/>
                          <a:pt x="539" y="29"/>
                          <a:pt x="531" y="34"/>
                        </a:cubicBezTo>
                        <a:cubicBezTo>
                          <a:pt x="523" y="39"/>
                          <a:pt x="535" y="40"/>
                          <a:pt x="528" y="47"/>
                        </a:cubicBezTo>
                        <a:close/>
                        <a:moveTo>
                          <a:pt x="768" y="128"/>
                        </a:moveTo>
                        <a:cubicBezTo>
                          <a:pt x="759" y="135"/>
                          <a:pt x="769" y="145"/>
                          <a:pt x="783" y="159"/>
                        </a:cubicBezTo>
                        <a:cubicBezTo>
                          <a:pt x="798" y="172"/>
                          <a:pt x="801" y="195"/>
                          <a:pt x="809" y="200"/>
                        </a:cubicBezTo>
                        <a:cubicBezTo>
                          <a:pt x="817" y="205"/>
                          <a:pt x="829" y="213"/>
                          <a:pt x="842" y="210"/>
                        </a:cubicBezTo>
                        <a:cubicBezTo>
                          <a:pt x="855" y="207"/>
                          <a:pt x="815" y="162"/>
                          <a:pt x="798" y="150"/>
                        </a:cubicBezTo>
                        <a:cubicBezTo>
                          <a:pt x="782" y="137"/>
                          <a:pt x="797" y="129"/>
                          <a:pt x="790" y="125"/>
                        </a:cubicBezTo>
                        <a:cubicBezTo>
                          <a:pt x="784" y="121"/>
                          <a:pt x="776" y="121"/>
                          <a:pt x="768" y="128"/>
                        </a:cubicBezTo>
                        <a:close/>
                        <a:moveTo>
                          <a:pt x="618" y="143"/>
                        </a:moveTo>
                        <a:cubicBezTo>
                          <a:pt x="596" y="167"/>
                          <a:pt x="633" y="174"/>
                          <a:pt x="645" y="169"/>
                        </a:cubicBezTo>
                        <a:cubicBezTo>
                          <a:pt x="656" y="164"/>
                          <a:pt x="674" y="164"/>
                          <a:pt x="690" y="168"/>
                        </a:cubicBezTo>
                        <a:cubicBezTo>
                          <a:pt x="706" y="171"/>
                          <a:pt x="725" y="178"/>
                          <a:pt x="730" y="166"/>
                        </a:cubicBezTo>
                        <a:cubicBezTo>
                          <a:pt x="736" y="154"/>
                          <a:pt x="692" y="139"/>
                          <a:pt x="677" y="134"/>
                        </a:cubicBezTo>
                        <a:cubicBezTo>
                          <a:pt x="660" y="128"/>
                          <a:pt x="640" y="119"/>
                          <a:pt x="618" y="143"/>
                        </a:cubicBezTo>
                        <a:close/>
                        <a:moveTo>
                          <a:pt x="305" y="233"/>
                        </a:moveTo>
                        <a:cubicBezTo>
                          <a:pt x="305" y="240"/>
                          <a:pt x="314" y="241"/>
                          <a:pt x="323" y="239"/>
                        </a:cubicBezTo>
                        <a:cubicBezTo>
                          <a:pt x="333" y="237"/>
                          <a:pt x="355" y="220"/>
                          <a:pt x="380" y="218"/>
                        </a:cubicBezTo>
                        <a:cubicBezTo>
                          <a:pt x="406" y="216"/>
                          <a:pt x="437" y="208"/>
                          <a:pt x="444" y="220"/>
                        </a:cubicBezTo>
                        <a:cubicBezTo>
                          <a:pt x="452" y="233"/>
                          <a:pt x="448" y="236"/>
                          <a:pt x="440" y="241"/>
                        </a:cubicBezTo>
                        <a:cubicBezTo>
                          <a:pt x="432" y="245"/>
                          <a:pt x="441" y="254"/>
                          <a:pt x="459" y="258"/>
                        </a:cubicBezTo>
                        <a:cubicBezTo>
                          <a:pt x="477" y="262"/>
                          <a:pt x="486" y="258"/>
                          <a:pt x="490" y="269"/>
                        </a:cubicBezTo>
                        <a:cubicBezTo>
                          <a:pt x="494" y="279"/>
                          <a:pt x="509" y="279"/>
                          <a:pt x="518" y="279"/>
                        </a:cubicBezTo>
                        <a:cubicBezTo>
                          <a:pt x="528" y="279"/>
                          <a:pt x="536" y="268"/>
                          <a:pt x="542" y="262"/>
                        </a:cubicBezTo>
                        <a:cubicBezTo>
                          <a:pt x="547" y="256"/>
                          <a:pt x="556" y="251"/>
                          <a:pt x="575" y="259"/>
                        </a:cubicBezTo>
                        <a:cubicBezTo>
                          <a:pt x="594" y="267"/>
                          <a:pt x="633" y="277"/>
                          <a:pt x="646" y="271"/>
                        </a:cubicBezTo>
                        <a:cubicBezTo>
                          <a:pt x="660" y="265"/>
                          <a:pt x="693" y="278"/>
                          <a:pt x="698" y="251"/>
                        </a:cubicBezTo>
                        <a:cubicBezTo>
                          <a:pt x="703" y="225"/>
                          <a:pt x="682" y="216"/>
                          <a:pt x="666" y="216"/>
                        </a:cubicBezTo>
                        <a:cubicBezTo>
                          <a:pt x="649" y="215"/>
                          <a:pt x="619" y="215"/>
                          <a:pt x="608" y="200"/>
                        </a:cubicBezTo>
                        <a:cubicBezTo>
                          <a:pt x="598" y="185"/>
                          <a:pt x="591" y="170"/>
                          <a:pt x="581" y="173"/>
                        </a:cubicBezTo>
                        <a:cubicBezTo>
                          <a:pt x="571" y="177"/>
                          <a:pt x="585" y="200"/>
                          <a:pt x="575" y="207"/>
                        </a:cubicBezTo>
                        <a:cubicBezTo>
                          <a:pt x="565" y="214"/>
                          <a:pt x="552" y="209"/>
                          <a:pt x="544" y="193"/>
                        </a:cubicBezTo>
                        <a:cubicBezTo>
                          <a:pt x="537" y="178"/>
                          <a:pt x="533" y="161"/>
                          <a:pt x="519" y="157"/>
                        </a:cubicBezTo>
                        <a:cubicBezTo>
                          <a:pt x="505" y="152"/>
                          <a:pt x="497" y="151"/>
                          <a:pt x="493" y="145"/>
                        </a:cubicBezTo>
                        <a:cubicBezTo>
                          <a:pt x="488" y="139"/>
                          <a:pt x="481" y="133"/>
                          <a:pt x="476" y="138"/>
                        </a:cubicBezTo>
                        <a:cubicBezTo>
                          <a:pt x="471" y="143"/>
                          <a:pt x="482" y="157"/>
                          <a:pt x="492" y="164"/>
                        </a:cubicBezTo>
                        <a:cubicBezTo>
                          <a:pt x="502" y="170"/>
                          <a:pt x="518" y="177"/>
                          <a:pt x="512" y="186"/>
                        </a:cubicBezTo>
                        <a:cubicBezTo>
                          <a:pt x="505" y="195"/>
                          <a:pt x="496" y="212"/>
                          <a:pt x="492" y="216"/>
                        </a:cubicBezTo>
                        <a:cubicBezTo>
                          <a:pt x="488" y="220"/>
                          <a:pt x="464" y="212"/>
                          <a:pt x="466" y="205"/>
                        </a:cubicBezTo>
                        <a:cubicBezTo>
                          <a:pt x="468" y="198"/>
                          <a:pt x="489" y="206"/>
                          <a:pt x="493" y="197"/>
                        </a:cubicBezTo>
                        <a:cubicBezTo>
                          <a:pt x="496" y="189"/>
                          <a:pt x="488" y="180"/>
                          <a:pt x="472" y="171"/>
                        </a:cubicBezTo>
                        <a:cubicBezTo>
                          <a:pt x="456" y="162"/>
                          <a:pt x="443" y="147"/>
                          <a:pt x="429" y="156"/>
                        </a:cubicBezTo>
                        <a:cubicBezTo>
                          <a:pt x="415" y="164"/>
                          <a:pt x="406" y="153"/>
                          <a:pt x="388" y="167"/>
                        </a:cubicBezTo>
                        <a:cubicBezTo>
                          <a:pt x="370" y="181"/>
                          <a:pt x="357" y="197"/>
                          <a:pt x="347" y="207"/>
                        </a:cubicBezTo>
                        <a:cubicBezTo>
                          <a:pt x="331" y="228"/>
                          <a:pt x="304" y="220"/>
                          <a:pt x="305" y="233"/>
                        </a:cubicBezTo>
                        <a:close/>
                      </a:path>
                    </a:pathLst>
                  </a:custGeom>
                  <a:solidFill>
                    <a:srgbClr val="ED7D31"/>
                  </a:solidFill>
                  <a:ln w="0">
                    <a:solidFill>
                      <a:srgbClr val="ED7D31"/>
                    </a:solid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ED7D31"/>
                      </a:solidFill>
                      <a:latin typeface="Calibri" panose="020F0502020204030204"/>
                    </a:endParaRPr>
                  </a:p>
                </p:txBody>
              </p:sp>
            </p:grpSp>
          </p:grpSp>
        </p:grpSp>
        <p:sp>
          <p:nvSpPr>
            <p:cNvPr id="553" name="Textfeld 552">
              <a:extLst>
                <a:ext uri="{FF2B5EF4-FFF2-40B4-BE49-F238E27FC236}">
                  <a16:creationId xmlns:a16="http://schemas.microsoft.com/office/drawing/2014/main" id="{A41DF619-4857-3FAB-1AE9-E0A962ED02B3}"/>
                </a:ext>
              </a:extLst>
            </p:cNvPr>
            <p:cNvSpPr txBox="1"/>
            <p:nvPr/>
          </p:nvSpPr>
          <p:spPr bwMode="auto">
            <a:xfrm>
              <a:off x="5498169" y="5024396"/>
              <a:ext cx="1502739" cy="400110"/>
            </a:xfrm>
            <a:prstGeom prst="rect">
              <a:avLst/>
            </a:prstGeom>
            <a:noFill/>
          </p:spPr>
          <p:txBody>
            <a:bodyPr wrap="square">
              <a:spAutoFit/>
            </a:bodyPr>
            <a:lstStyle/>
            <a:p>
              <a:pPr algn="r" defTabSz="914339">
                <a:defRPr/>
              </a:pPr>
              <a:r>
                <a:rPr lang="de-DE" sz="1000" noProof="1">
                  <a:solidFill>
                    <a:srgbClr val="9954CC"/>
                  </a:solidFill>
                  <a:latin typeface="Bahnschrift" panose="020B0502040204020203" pitchFamily="34" charset="0"/>
                </a:rPr>
                <a:t>Kontextfaktor Bauliche Dichte und Sanierung</a:t>
              </a:r>
            </a:p>
          </p:txBody>
        </p:sp>
        <p:sp>
          <p:nvSpPr>
            <p:cNvPr id="554" name="Textfeld 553">
              <a:extLst>
                <a:ext uri="{FF2B5EF4-FFF2-40B4-BE49-F238E27FC236}">
                  <a16:creationId xmlns:a16="http://schemas.microsoft.com/office/drawing/2014/main" id="{0A24C198-676F-881C-38E1-A8BB5E2107FA}"/>
                </a:ext>
              </a:extLst>
            </p:cNvPr>
            <p:cNvSpPr txBox="1"/>
            <p:nvPr/>
          </p:nvSpPr>
          <p:spPr bwMode="auto">
            <a:xfrm>
              <a:off x="7431116" y="4909897"/>
              <a:ext cx="928791" cy="553998"/>
            </a:xfrm>
            <a:prstGeom prst="rect">
              <a:avLst/>
            </a:prstGeom>
            <a:noFill/>
          </p:spPr>
          <p:txBody>
            <a:bodyPr wrap="square">
              <a:spAutoFit/>
            </a:bodyPr>
            <a:lstStyle/>
            <a:p>
              <a:pPr algn="r" defTabSz="914339">
                <a:defRPr/>
              </a:pPr>
              <a:r>
                <a:rPr lang="de-DE" sz="1000" noProof="1">
                  <a:solidFill>
                    <a:srgbClr val="5FB564"/>
                  </a:solidFill>
                  <a:latin typeface="Bahnschrift" panose="020B0502040204020203" pitchFamily="34" charset="0"/>
                </a:rPr>
                <a:t>THG-Budget und Kontext-Faktoren</a:t>
              </a:r>
            </a:p>
          </p:txBody>
        </p:sp>
        <p:grpSp>
          <p:nvGrpSpPr>
            <p:cNvPr id="555" name="Gruppieren 554">
              <a:extLst>
                <a:ext uri="{FF2B5EF4-FFF2-40B4-BE49-F238E27FC236}">
                  <a16:creationId xmlns:a16="http://schemas.microsoft.com/office/drawing/2014/main" id="{FF043F30-9594-C4D5-39EC-DB816F182F21}"/>
                </a:ext>
              </a:extLst>
            </p:cNvPr>
            <p:cNvGrpSpPr/>
            <p:nvPr/>
          </p:nvGrpSpPr>
          <p:grpSpPr>
            <a:xfrm>
              <a:off x="6919189" y="5062113"/>
              <a:ext cx="289932" cy="380068"/>
              <a:chOff x="9018358" y="3729507"/>
              <a:chExt cx="512820" cy="672248"/>
            </a:xfrm>
          </p:grpSpPr>
          <p:grpSp>
            <p:nvGrpSpPr>
              <p:cNvPr id="556" name="Gruppieren 555">
                <a:extLst>
                  <a:ext uri="{FF2B5EF4-FFF2-40B4-BE49-F238E27FC236}">
                    <a16:creationId xmlns:a16="http://schemas.microsoft.com/office/drawing/2014/main" id="{72507C40-7978-1238-6075-B20A19877B78}"/>
                  </a:ext>
                </a:extLst>
              </p:cNvPr>
              <p:cNvGrpSpPr/>
              <p:nvPr/>
            </p:nvGrpSpPr>
            <p:grpSpPr>
              <a:xfrm>
                <a:off x="9018358" y="3729507"/>
                <a:ext cx="512820" cy="672248"/>
                <a:chOff x="0" y="3078492"/>
                <a:chExt cx="545343" cy="621971"/>
              </a:xfrm>
            </p:grpSpPr>
            <p:grpSp>
              <p:nvGrpSpPr>
                <p:cNvPr id="560" name="Gruppieren 559">
                  <a:extLst>
                    <a:ext uri="{FF2B5EF4-FFF2-40B4-BE49-F238E27FC236}">
                      <a16:creationId xmlns:a16="http://schemas.microsoft.com/office/drawing/2014/main" id="{20233E27-7BFD-98A5-F70B-75FB3C89646A}"/>
                    </a:ext>
                  </a:extLst>
                </p:cNvPr>
                <p:cNvGrpSpPr/>
                <p:nvPr>
                  <p:custDataLst>
                    <p:tags r:id="rId34"/>
                  </p:custDataLst>
                </p:nvPr>
              </p:nvGrpSpPr>
              <p:grpSpPr>
                <a:xfrm>
                  <a:off x="0" y="3157538"/>
                  <a:ext cx="545343" cy="542925"/>
                  <a:chOff x="0" y="3157538"/>
                  <a:chExt cx="545343" cy="542925"/>
                </a:xfrm>
                <a:solidFill>
                  <a:srgbClr val="9954CC"/>
                </a:solidFill>
              </p:grpSpPr>
              <p:sp>
                <p:nvSpPr>
                  <p:cNvPr id="563" name="Freeform 203">
                    <a:extLst>
                      <a:ext uri="{FF2B5EF4-FFF2-40B4-BE49-F238E27FC236}">
                        <a16:creationId xmlns:a16="http://schemas.microsoft.com/office/drawing/2014/main" id="{26A19BAD-1E8E-512E-DE27-D55B4C6C5887}"/>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sp>
                <p:nvSpPr>
                  <p:cNvPr id="564" name="Freeform 204">
                    <a:extLst>
                      <a:ext uri="{FF2B5EF4-FFF2-40B4-BE49-F238E27FC236}">
                        <a16:creationId xmlns:a16="http://schemas.microsoft.com/office/drawing/2014/main" id="{C588DEC9-33F3-973D-669C-B1D330E8FD6A}"/>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sp>
                <p:nvSpPr>
                  <p:cNvPr id="565" name="Freeform 206">
                    <a:extLst>
                      <a:ext uri="{FF2B5EF4-FFF2-40B4-BE49-F238E27FC236}">
                        <a16:creationId xmlns:a16="http://schemas.microsoft.com/office/drawing/2014/main" id="{470FB81E-7B25-BF38-6F58-7B3870E6EC71}"/>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grpSp>
            <p:sp>
              <p:nvSpPr>
                <p:cNvPr id="561" name="Freihandform 240">
                  <a:extLst>
                    <a:ext uri="{FF2B5EF4-FFF2-40B4-BE49-F238E27FC236}">
                      <a16:creationId xmlns:a16="http://schemas.microsoft.com/office/drawing/2014/main" id="{E1F240D0-0DE2-079E-75AA-894D4945C4A3}"/>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solidFill>
                  <a:sysClr val="window" lastClr="FFFFFF"/>
                </a:solid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Calibri" panose="020F0502020204030204"/>
                  </a:endParaRPr>
                </a:p>
              </p:txBody>
            </p:sp>
            <p:sp>
              <p:nvSpPr>
                <p:cNvPr id="562" name="Bolt3" descr="{&quot;Key&quot;:&quot;POWER_USER_SHAPE_ICON&quot;,&quot;Value&quot;:&quot;POWER_USER_SHAPE_ICON_STYLE_1&quot;}">
                  <a:extLst>
                    <a:ext uri="{FF2B5EF4-FFF2-40B4-BE49-F238E27FC236}">
                      <a16:creationId xmlns:a16="http://schemas.microsoft.com/office/drawing/2014/main" id="{7772B885-1298-F8C7-1327-12E63022259E}"/>
                    </a:ext>
                  </a:extLst>
                </p:cNvPr>
                <p:cNvSpPr>
                  <a:spLocks noChangeAspect="1"/>
                </p:cNvSpPr>
                <p:nvPr>
                  <p:custDataLst>
                    <p:tags r:id="rId35"/>
                  </p:custDataLst>
                </p:nvPr>
              </p:nvSpPr>
              <p:spPr bwMode="auto">
                <a:xfrm>
                  <a:off x="234737" y="3127907"/>
                  <a:ext cx="197755" cy="316407"/>
                </a:xfrm>
                <a:custGeom>
                  <a:avLst/>
                  <a:gdLst>
                    <a:gd name="T0" fmla="*/ 132 w 511"/>
                    <a:gd name="T1" fmla="*/ 773 h 815"/>
                    <a:gd name="T2" fmla="*/ 212 w 511"/>
                    <a:gd name="T3" fmla="*/ 474 h 815"/>
                    <a:gd name="T4" fmla="*/ 32 w 511"/>
                    <a:gd name="T5" fmla="*/ 474 h 815"/>
                    <a:gd name="T6" fmla="*/ 13 w 511"/>
                    <a:gd name="T7" fmla="*/ 435 h 815"/>
                    <a:gd name="T8" fmla="*/ 336 w 511"/>
                    <a:gd name="T9" fmla="*/ 21 h 815"/>
                    <a:gd name="T10" fmla="*/ 379 w 511"/>
                    <a:gd name="T11" fmla="*/ 42 h 815"/>
                    <a:gd name="T12" fmla="*/ 299 w 511"/>
                    <a:gd name="T13" fmla="*/ 341 h 815"/>
                    <a:gd name="T14" fmla="*/ 479 w 511"/>
                    <a:gd name="T15" fmla="*/ 341 h 815"/>
                    <a:gd name="T16" fmla="*/ 499 w 511"/>
                    <a:gd name="T17" fmla="*/ 380 h 815"/>
                    <a:gd name="T18" fmla="*/ 176 w 511"/>
                    <a:gd name="T19" fmla="*/ 794 h 815"/>
                    <a:gd name="T20" fmla="*/ 132 w 511"/>
                    <a:gd name="T21" fmla="*/ 773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1" h="815">
                      <a:moveTo>
                        <a:pt x="132" y="773"/>
                      </a:moveTo>
                      <a:lnTo>
                        <a:pt x="212" y="474"/>
                      </a:lnTo>
                      <a:lnTo>
                        <a:pt x="32" y="474"/>
                      </a:lnTo>
                      <a:cubicBezTo>
                        <a:pt x="12" y="474"/>
                        <a:pt x="0" y="450"/>
                        <a:pt x="13" y="435"/>
                      </a:cubicBezTo>
                      <a:lnTo>
                        <a:pt x="336" y="21"/>
                      </a:lnTo>
                      <a:cubicBezTo>
                        <a:pt x="352" y="0"/>
                        <a:pt x="386" y="17"/>
                        <a:pt x="379" y="42"/>
                      </a:cubicBezTo>
                      <a:lnTo>
                        <a:pt x="299" y="341"/>
                      </a:lnTo>
                      <a:lnTo>
                        <a:pt x="479" y="341"/>
                      </a:lnTo>
                      <a:cubicBezTo>
                        <a:pt x="500" y="341"/>
                        <a:pt x="511" y="365"/>
                        <a:pt x="499" y="380"/>
                      </a:cubicBezTo>
                      <a:lnTo>
                        <a:pt x="176" y="794"/>
                      </a:lnTo>
                      <a:cubicBezTo>
                        <a:pt x="159" y="815"/>
                        <a:pt x="125" y="798"/>
                        <a:pt x="132" y="773"/>
                      </a:cubicBez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grpSp>
          <p:grpSp>
            <p:nvGrpSpPr>
              <p:cNvPr id="557" name="Gruppieren 556" descr="{&quot;Key&quot;:&quot;POWER_USER_SHAPE_ICON&quot;,&quot;Value&quot;:&quot;POWER_USER_SHAPE_ICON_STYLE_2&quot;}">
                <a:extLst>
                  <a:ext uri="{FF2B5EF4-FFF2-40B4-BE49-F238E27FC236}">
                    <a16:creationId xmlns:a16="http://schemas.microsoft.com/office/drawing/2014/main" id="{2525D5BE-E44F-9B43-111B-DFA89BE7B79B}"/>
                  </a:ext>
                </a:extLst>
              </p:cNvPr>
              <p:cNvGrpSpPr>
                <a:grpSpLocks noChangeAspect="1"/>
              </p:cNvGrpSpPr>
              <p:nvPr/>
            </p:nvGrpSpPr>
            <p:grpSpPr>
              <a:xfrm>
                <a:off x="9163525" y="3777549"/>
                <a:ext cx="328332" cy="328332"/>
                <a:chOff x="7786650" y="4317126"/>
                <a:chExt cx="762000" cy="762000"/>
              </a:xfrm>
              <a:noFill/>
            </p:grpSpPr>
            <p:sp>
              <p:nvSpPr>
                <p:cNvPr id="558" name="POWER_USER_SHAPE_ICON_STYLE_2">
                  <a:extLst>
                    <a:ext uri="{FF2B5EF4-FFF2-40B4-BE49-F238E27FC236}">
                      <a16:creationId xmlns:a16="http://schemas.microsoft.com/office/drawing/2014/main" id="{34746632-6EE6-8E0E-5A86-89C117149F16}"/>
                    </a:ext>
                  </a:extLst>
                </p:cNvPr>
                <p:cNvSpPr/>
                <p:nvPr/>
              </p:nvSpPr>
              <p:spPr>
                <a:xfrm>
                  <a:off x="7786650" y="4317126"/>
                  <a:ext cx="762000" cy="762000"/>
                </a:xfrm>
                <a:prstGeom prst="ellipse">
                  <a:avLst/>
                </a:prstGeom>
                <a:solidFill>
                  <a:sysClr val="window" lastClr="FFFFFF"/>
                </a:solidFill>
                <a:ln w="28575" cap="flat" cmpd="sng" algn="ctr">
                  <a:solidFill>
                    <a:srgbClr val="9954CC"/>
                  </a:solidFill>
                  <a:prstDash val="sysDot"/>
                  <a:miter lim="800000"/>
                </a:ln>
                <a:effectLst/>
              </p:spPr>
              <p:txBody>
                <a:bodyPr rtlCol="0" anchor="ctr"/>
                <a:lstStyle/>
                <a:p>
                  <a:pPr algn="ctr" defTabSz="685754">
                    <a:defRPr/>
                  </a:pPr>
                  <a:endParaRPr lang="de-DE" sz="1350" kern="0" noProof="1">
                    <a:solidFill>
                      <a:srgbClr val="9954CC"/>
                    </a:solidFill>
                    <a:latin typeface="Calibri" panose="020F0502020204030204"/>
                  </a:endParaRPr>
                </a:p>
              </p:txBody>
            </p:sp>
            <p:sp>
              <p:nvSpPr>
                <p:cNvPr id="559" name="Building5" descr="{&quot;Key&quot;:&quot;POWER_USER_SHAPE_ICON&quot;,&quot;Value&quot;:&quot;POWER_USER_SHAPE_ICON_STYLE_1&quot;}">
                  <a:extLst>
                    <a:ext uri="{FF2B5EF4-FFF2-40B4-BE49-F238E27FC236}">
                      <a16:creationId xmlns:a16="http://schemas.microsoft.com/office/drawing/2014/main" id="{F5757A6E-B4B4-FAED-9EDB-B0774151A7A6}"/>
                    </a:ext>
                  </a:extLst>
                </p:cNvPr>
                <p:cNvSpPr>
                  <a:spLocks noChangeAspect="1" noEditPoints="1"/>
                </p:cNvSpPr>
                <p:nvPr>
                  <p:custDataLst>
                    <p:tags r:id="rId33"/>
                  </p:custDataLst>
                </p:nvPr>
              </p:nvSpPr>
              <p:spPr bwMode="auto">
                <a:xfrm>
                  <a:off x="7913650" y="4456556"/>
                  <a:ext cx="508000" cy="483141"/>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Calibri" panose="020F0502020204030204"/>
                  </a:endParaRPr>
                </a:p>
              </p:txBody>
            </p:sp>
          </p:grpSp>
        </p:grpSp>
        <p:sp>
          <p:nvSpPr>
            <p:cNvPr id="566" name="Rechteck 565">
              <a:extLst>
                <a:ext uri="{FF2B5EF4-FFF2-40B4-BE49-F238E27FC236}">
                  <a16:creationId xmlns:a16="http://schemas.microsoft.com/office/drawing/2014/main" id="{E591D160-1DED-F46F-B633-CFB486D05762}"/>
                </a:ext>
              </a:extLst>
            </p:cNvPr>
            <p:cNvSpPr/>
            <p:nvPr/>
          </p:nvSpPr>
          <p:spPr bwMode="auto">
            <a:xfrm>
              <a:off x="9330277" y="4671275"/>
              <a:ext cx="1759031" cy="776508"/>
            </a:xfrm>
            <a:prstGeom prst="rect">
              <a:avLst/>
            </a:prstGeom>
            <a:solidFill>
              <a:srgbClr val="D8D7B7"/>
            </a:solidFill>
            <a:ln w="28575" cap="flat" cmpd="sng" algn="ctr">
              <a:noFill/>
              <a:prstDash val="dash"/>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67" name="Building5" descr="{&quot;Key&quot;:&quot;POWER_USER_SHAPE_ICON&quot;,&quot;Value&quot;:&quot;POWER_USER_SHAPE_ICON_STYLE_1&quot;}">
              <a:extLst>
                <a:ext uri="{FF2B5EF4-FFF2-40B4-BE49-F238E27FC236}">
                  <a16:creationId xmlns:a16="http://schemas.microsoft.com/office/drawing/2014/main" id="{CDF1263D-69BB-7ACE-5EAE-535FB8329C8A}"/>
                </a:ext>
              </a:extLst>
            </p:cNvPr>
            <p:cNvSpPr>
              <a:spLocks noChangeAspect="1" noEditPoints="1"/>
            </p:cNvSpPr>
            <p:nvPr>
              <p:custDataLst>
                <p:tags r:id="rId3"/>
              </p:custDataLst>
            </p:nvPr>
          </p:nvSpPr>
          <p:spPr bwMode="auto">
            <a:xfrm>
              <a:off x="9427353" y="3470477"/>
              <a:ext cx="1233099" cy="120079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lumMod val="85000"/>
              </a:srgbClr>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nvGrpSpPr>
            <p:cNvPr id="568" name="Gruppieren 567">
              <a:extLst>
                <a:ext uri="{FF2B5EF4-FFF2-40B4-BE49-F238E27FC236}">
                  <a16:creationId xmlns:a16="http://schemas.microsoft.com/office/drawing/2014/main" id="{BD617E73-7AF8-0602-9B4F-159DCA3975DA}"/>
                </a:ext>
              </a:extLst>
            </p:cNvPr>
            <p:cNvGrpSpPr/>
            <p:nvPr/>
          </p:nvGrpSpPr>
          <p:grpSpPr>
            <a:xfrm>
              <a:off x="10042651" y="3981395"/>
              <a:ext cx="298582" cy="276822"/>
              <a:chOff x="-19101" y="2381281"/>
              <a:chExt cx="699820" cy="699820"/>
            </a:xfrm>
          </p:grpSpPr>
          <p:sp>
            <p:nvSpPr>
              <p:cNvPr id="569" name="Ellipse 568">
                <a:extLst>
                  <a:ext uri="{FF2B5EF4-FFF2-40B4-BE49-F238E27FC236}">
                    <a16:creationId xmlns:a16="http://schemas.microsoft.com/office/drawing/2014/main" id="{C14ED07E-05EA-FEE9-B136-F954BD1CA754}"/>
                  </a:ext>
                </a:extLst>
              </p:cNvPr>
              <p:cNvSpPr/>
              <p:nvPr/>
            </p:nvSpPr>
            <p:spPr>
              <a:xfrm>
                <a:off x="-19101" y="2381281"/>
                <a:ext cx="699820" cy="699820"/>
              </a:xfrm>
              <a:prstGeom prst="ellipse">
                <a:avLst/>
              </a:prstGeom>
              <a:solidFill>
                <a:sysClr val="windowText" lastClr="000000"/>
              </a:solidFill>
              <a:ln w="12700" cap="flat" cmpd="sng" algn="ctr">
                <a:noFill/>
                <a:prstDash val="solid"/>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70" name="Plug" descr="{&quot;Key&quot;:&quot;POWER_USER_SHAPE_ICON&quot;,&quot;Value&quot;:&quot;POWER_USER_SHAPE_ICON_STYLE_1&quot;}">
                <a:extLst>
                  <a:ext uri="{FF2B5EF4-FFF2-40B4-BE49-F238E27FC236}">
                    <a16:creationId xmlns:a16="http://schemas.microsoft.com/office/drawing/2014/main" id="{4F70334D-5158-4FCF-C7E5-2E41CB1CB564}"/>
                  </a:ext>
                </a:extLst>
              </p:cNvPr>
              <p:cNvSpPr>
                <a:spLocks noChangeAspect="1" noEditPoints="1"/>
              </p:cNvSpPr>
              <p:nvPr>
                <p:custDataLst>
                  <p:tags r:id="rId32"/>
                </p:custDataLst>
              </p:nvPr>
            </p:nvSpPr>
            <p:spPr bwMode="auto">
              <a:xfrm>
                <a:off x="124100" y="2458915"/>
                <a:ext cx="393828" cy="542925"/>
              </a:xfrm>
              <a:custGeom>
                <a:avLst/>
                <a:gdLst>
                  <a:gd name="T0" fmla="*/ 336 w 592"/>
                  <a:gd name="T1" fmla="*/ 106 h 790"/>
                  <a:gd name="T2" fmla="*/ 415 w 592"/>
                  <a:gd name="T3" fmla="*/ 27 h 790"/>
                  <a:gd name="T4" fmla="*/ 456 w 592"/>
                  <a:gd name="T5" fmla="*/ 69 h 790"/>
                  <a:gd name="T6" fmla="*/ 377 w 592"/>
                  <a:gd name="T7" fmla="*/ 148 h 790"/>
                  <a:gd name="T8" fmla="*/ 336 w 592"/>
                  <a:gd name="T9" fmla="*/ 106 h 790"/>
                  <a:gd name="T10" fmla="*/ 156 w 592"/>
                  <a:gd name="T11" fmla="*/ 393 h 790"/>
                  <a:gd name="T12" fmla="*/ 199 w 592"/>
                  <a:gd name="T13" fmla="*/ 436 h 790"/>
                  <a:gd name="T14" fmla="*/ 224 w 592"/>
                  <a:gd name="T15" fmla="*/ 411 h 790"/>
                  <a:gd name="T16" fmla="*/ 181 w 592"/>
                  <a:gd name="T17" fmla="*/ 368 h 790"/>
                  <a:gd name="T18" fmla="*/ 156 w 592"/>
                  <a:gd name="T19" fmla="*/ 393 h 790"/>
                  <a:gd name="T20" fmla="*/ 110 w 592"/>
                  <a:gd name="T21" fmla="*/ 445 h 790"/>
                  <a:gd name="T22" fmla="*/ 146 w 592"/>
                  <a:gd name="T23" fmla="*/ 481 h 790"/>
                  <a:gd name="T24" fmla="*/ 171 w 592"/>
                  <a:gd name="T25" fmla="*/ 456 h 790"/>
                  <a:gd name="T26" fmla="*/ 135 w 592"/>
                  <a:gd name="T27" fmla="*/ 421 h 790"/>
                  <a:gd name="T28" fmla="*/ 110 w 592"/>
                  <a:gd name="T29" fmla="*/ 445 h 790"/>
                  <a:gd name="T30" fmla="*/ 174 w 592"/>
                  <a:gd name="T31" fmla="*/ 528 h 790"/>
                  <a:gd name="T32" fmla="*/ 141 w 592"/>
                  <a:gd name="T33" fmla="*/ 529 h 790"/>
                  <a:gd name="T34" fmla="*/ 64 w 592"/>
                  <a:gd name="T35" fmla="*/ 451 h 790"/>
                  <a:gd name="T36" fmla="*/ 62 w 592"/>
                  <a:gd name="T37" fmla="*/ 418 h 790"/>
                  <a:gd name="T38" fmla="*/ 158 w 592"/>
                  <a:gd name="T39" fmla="*/ 193 h 790"/>
                  <a:gd name="T40" fmla="*/ 165 w 592"/>
                  <a:gd name="T41" fmla="*/ 172 h 790"/>
                  <a:gd name="T42" fmla="*/ 242 w 592"/>
                  <a:gd name="T43" fmla="*/ 95 h 790"/>
                  <a:gd name="T44" fmla="*/ 275 w 592"/>
                  <a:gd name="T45" fmla="*/ 95 h 790"/>
                  <a:gd name="T46" fmla="*/ 497 w 592"/>
                  <a:gd name="T47" fmla="*/ 316 h 790"/>
                  <a:gd name="T48" fmla="*/ 496 w 592"/>
                  <a:gd name="T49" fmla="*/ 349 h 790"/>
                  <a:gd name="T50" fmla="*/ 420 w 592"/>
                  <a:gd name="T51" fmla="*/ 426 h 790"/>
                  <a:gd name="T52" fmla="*/ 400 w 592"/>
                  <a:gd name="T53" fmla="*/ 434 h 790"/>
                  <a:gd name="T54" fmla="*/ 174 w 592"/>
                  <a:gd name="T55" fmla="*/ 528 h 790"/>
                  <a:gd name="T56" fmla="*/ 393 w 592"/>
                  <a:gd name="T57" fmla="*/ 594 h 790"/>
                  <a:gd name="T58" fmla="*/ 295 w 592"/>
                  <a:gd name="T59" fmla="*/ 594 h 790"/>
                  <a:gd name="T60" fmla="*/ 210 w 592"/>
                  <a:gd name="T61" fmla="*/ 678 h 790"/>
                  <a:gd name="T62" fmla="*/ 45 w 592"/>
                  <a:gd name="T63" fmla="*/ 678 h 790"/>
                  <a:gd name="T64" fmla="*/ 45 w 592"/>
                  <a:gd name="T65" fmla="*/ 513 h 790"/>
                  <a:gd name="T66" fmla="*/ 61 w 592"/>
                  <a:gd name="T67" fmla="*/ 497 h 790"/>
                  <a:gd name="T68" fmla="*/ 94 w 592"/>
                  <a:gd name="T69" fmla="*/ 531 h 790"/>
                  <a:gd name="T70" fmla="*/ 78 w 592"/>
                  <a:gd name="T71" fmla="*/ 546 h 790"/>
                  <a:gd name="T72" fmla="*/ 78 w 592"/>
                  <a:gd name="T73" fmla="*/ 645 h 790"/>
                  <a:gd name="T74" fmla="*/ 177 w 592"/>
                  <a:gd name="T75" fmla="*/ 645 h 790"/>
                  <a:gd name="T76" fmla="*/ 261 w 592"/>
                  <a:gd name="T77" fmla="*/ 560 h 790"/>
                  <a:gd name="T78" fmla="*/ 426 w 592"/>
                  <a:gd name="T79" fmla="*/ 560 h 790"/>
                  <a:gd name="T80" fmla="*/ 426 w 592"/>
                  <a:gd name="T81" fmla="*/ 725 h 790"/>
                  <a:gd name="T82" fmla="*/ 384 w 592"/>
                  <a:gd name="T83" fmla="*/ 768 h 790"/>
                  <a:gd name="T84" fmla="*/ 351 w 592"/>
                  <a:gd name="T85" fmla="*/ 734 h 790"/>
                  <a:gd name="T86" fmla="*/ 393 w 592"/>
                  <a:gd name="T87" fmla="*/ 692 h 790"/>
                  <a:gd name="T88" fmla="*/ 393 w 592"/>
                  <a:gd name="T89" fmla="*/ 594 h 790"/>
                  <a:gd name="T90" fmla="*/ 485 w 592"/>
                  <a:gd name="T91" fmla="*/ 256 h 790"/>
                  <a:gd name="T92" fmla="*/ 564 w 592"/>
                  <a:gd name="T93" fmla="*/ 176 h 790"/>
                  <a:gd name="T94" fmla="*/ 523 w 592"/>
                  <a:gd name="T95" fmla="*/ 135 h 790"/>
                  <a:gd name="T96" fmla="*/ 444 w 592"/>
                  <a:gd name="T97" fmla="*/ 214 h 790"/>
                  <a:gd name="T98" fmla="*/ 485 w 592"/>
                  <a:gd name="T99" fmla="*/ 256 h 790"/>
                  <a:gd name="T100" fmla="*/ 485 w 592"/>
                  <a:gd name="T101" fmla="*/ 256 h 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92" h="790">
                    <a:moveTo>
                      <a:pt x="336" y="106"/>
                    </a:moveTo>
                    <a:lnTo>
                      <a:pt x="415" y="27"/>
                    </a:lnTo>
                    <a:cubicBezTo>
                      <a:pt x="442" y="0"/>
                      <a:pt x="484" y="41"/>
                      <a:pt x="456" y="69"/>
                    </a:cubicBezTo>
                    <a:lnTo>
                      <a:pt x="377" y="148"/>
                    </a:lnTo>
                    <a:lnTo>
                      <a:pt x="336" y="106"/>
                    </a:lnTo>
                    <a:close/>
                    <a:moveTo>
                      <a:pt x="156" y="393"/>
                    </a:moveTo>
                    <a:lnTo>
                      <a:pt x="199" y="436"/>
                    </a:lnTo>
                    <a:cubicBezTo>
                      <a:pt x="215" y="452"/>
                      <a:pt x="240" y="428"/>
                      <a:pt x="224" y="411"/>
                    </a:cubicBezTo>
                    <a:lnTo>
                      <a:pt x="181" y="368"/>
                    </a:lnTo>
                    <a:cubicBezTo>
                      <a:pt x="164" y="351"/>
                      <a:pt x="139" y="376"/>
                      <a:pt x="156" y="393"/>
                    </a:cubicBezTo>
                    <a:close/>
                    <a:moveTo>
                      <a:pt x="110" y="445"/>
                    </a:moveTo>
                    <a:lnTo>
                      <a:pt x="146" y="481"/>
                    </a:lnTo>
                    <a:cubicBezTo>
                      <a:pt x="162" y="498"/>
                      <a:pt x="187" y="473"/>
                      <a:pt x="171" y="456"/>
                    </a:cubicBezTo>
                    <a:lnTo>
                      <a:pt x="135" y="421"/>
                    </a:lnTo>
                    <a:cubicBezTo>
                      <a:pt x="119" y="404"/>
                      <a:pt x="94" y="429"/>
                      <a:pt x="110" y="445"/>
                    </a:cubicBezTo>
                    <a:close/>
                    <a:moveTo>
                      <a:pt x="174" y="528"/>
                    </a:moveTo>
                    <a:cubicBezTo>
                      <a:pt x="165" y="537"/>
                      <a:pt x="150" y="538"/>
                      <a:pt x="141" y="529"/>
                    </a:cubicBezTo>
                    <a:lnTo>
                      <a:pt x="64" y="451"/>
                    </a:lnTo>
                    <a:cubicBezTo>
                      <a:pt x="54" y="442"/>
                      <a:pt x="53" y="428"/>
                      <a:pt x="62" y="418"/>
                    </a:cubicBezTo>
                    <a:cubicBezTo>
                      <a:pt x="121" y="355"/>
                      <a:pt x="169" y="283"/>
                      <a:pt x="158" y="193"/>
                    </a:cubicBezTo>
                    <a:cubicBezTo>
                      <a:pt x="157" y="185"/>
                      <a:pt x="159" y="178"/>
                      <a:pt x="165" y="172"/>
                    </a:cubicBezTo>
                    <a:lnTo>
                      <a:pt x="242" y="95"/>
                    </a:lnTo>
                    <a:cubicBezTo>
                      <a:pt x="251" y="86"/>
                      <a:pt x="266" y="86"/>
                      <a:pt x="275" y="95"/>
                    </a:cubicBezTo>
                    <a:lnTo>
                      <a:pt x="497" y="316"/>
                    </a:lnTo>
                    <a:cubicBezTo>
                      <a:pt x="506" y="325"/>
                      <a:pt x="506" y="340"/>
                      <a:pt x="496" y="349"/>
                    </a:cubicBezTo>
                    <a:lnTo>
                      <a:pt x="420" y="426"/>
                    </a:lnTo>
                    <a:cubicBezTo>
                      <a:pt x="415" y="431"/>
                      <a:pt x="408" y="434"/>
                      <a:pt x="400" y="434"/>
                    </a:cubicBezTo>
                    <a:cubicBezTo>
                      <a:pt x="309" y="423"/>
                      <a:pt x="238" y="469"/>
                      <a:pt x="174" y="528"/>
                    </a:cubicBezTo>
                    <a:close/>
                    <a:moveTo>
                      <a:pt x="393" y="594"/>
                    </a:moveTo>
                    <a:cubicBezTo>
                      <a:pt x="366" y="567"/>
                      <a:pt x="322" y="567"/>
                      <a:pt x="295" y="594"/>
                    </a:cubicBezTo>
                    <a:lnTo>
                      <a:pt x="210" y="678"/>
                    </a:lnTo>
                    <a:cubicBezTo>
                      <a:pt x="165" y="723"/>
                      <a:pt x="90" y="723"/>
                      <a:pt x="45" y="678"/>
                    </a:cubicBezTo>
                    <a:cubicBezTo>
                      <a:pt x="0" y="633"/>
                      <a:pt x="0" y="558"/>
                      <a:pt x="45" y="513"/>
                    </a:cubicBezTo>
                    <a:lnTo>
                      <a:pt x="61" y="497"/>
                    </a:lnTo>
                    <a:lnTo>
                      <a:pt x="94" y="531"/>
                    </a:lnTo>
                    <a:lnTo>
                      <a:pt x="78" y="546"/>
                    </a:lnTo>
                    <a:cubicBezTo>
                      <a:pt x="52" y="573"/>
                      <a:pt x="52" y="618"/>
                      <a:pt x="78" y="645"/>
                    </a:cubicBezTo>
                    <a:cubicBezTo>
                      <a:pt x="105" y="672"/>
                      <a:pt x="150" y="672"/>
                      <a:pt x="177" y="645"/>
                    </a:cubicBezTo>
                    <a:lnTo>
                      <a:pt x="261" y="560"/>
                    </a:lnTo>
                    <a:cubicBezTo>
                      <a:pt x="307" y="515"/>
                      <a:pt x="381" y="515"/>
                      <a:pt x="426" y="560"/>
                    </a:cubicBezTo>
                    <a:cubicBezTo>
                      <a:pt x="472" y="605"/>
                      <a:pt x="472" y="680"/>
                      <a:pt x="426" y="725"/>
                    </a:cubicBezTo>
                    <a:lnTo>
                      <a:pt x="384" y="768"/>
                    </a:lnTo>
                    <a:cubicBezTo>
                      <a:pt x="362" y="790"/>
                      <a:pt x="329" y="756"/>
                      <a:pt x="351" y="734"/>
                    </a:cubicBezTo>
                    <a:lnTo>
                      <a:pt x="393" y="692"/>
                    </a:lnTo>
                    <a:cubicBezTo>
                      <a:pt x="420" y="665"/>
                      <a:pt x="420" y="620"/>
                      <a:pt x="393" y="594"/>
                    </a:cubicBezTo>
                    <a:close/>
                    <a:moveTo>
                      <a:pt x="485" y="256"/>
                    </a:moveTo>
                    <a:lnTo>
                      <a:pt x="564" y="176"/>
                    </a:lnTo>
                    <a:cubicBezTo>
                      <a:pt x="592" y="149"/>
                      <a:pt x="550" y="108"/>
                      <a:pt x="523" y="135"/>
                    </a:cubicBezTo>
                    <a:lnTo>
                      <a:pt x="444" y="214"/>
                    </a:lnTo>
                    <a:lnTo>
                      <a:pt x="485" y="256"/>
                    </a:lnTo>
                    <a:lnTo>
                      <a:pt x="485" y="256"/>
                    </a:lnTo>
                    <a:close/>
                  </a:path>
                </a:pathLst>
              </a:custGeom>
              <a:solidFill>
                <a:sysClr val="window" lastClr="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571" name="Gruppieren 570" descr="{&quot;Key&quot;:&quot;POWER_USER_SHAPE_ICON&quot;,&quot;Value&quot;:&quot;POWER_USER_SHAPE_ICON_STYLE_2&quot;}">
              <a:extLst>
                <a:ext uri="{FF2B5EF4-FFF2-40B4-BE49-F238E27FC236}">
                  <a16:creationId xmlns:a16="http://schemas.microsoft.com/office/drawing/2014/main" id="{7BFB7581-056D-0E32-5214-F369A9F03FAA}"/>
                </a:ext>
              </a:extLst>
            </p:cNvPr>
            <p:cNvGrpSpPr>
              <a:grpSpLocks noChangeAspect="1"/>
            </p:cNvGrpSpPr>
            <p:nvPr/>
          </p:nvGrpSpPr>
          <p:grpSpPr>
            <a:xfrm>
              <a:off x="9914911" y="3746610"/>
              <a:ext cx="295815" cy="295814"/>
              <a:chOff x="-151229" y="3030538"/>
              <a:chExt cx="762000" cy="762000"/>
            </a:xfrm>
          </p:grpSpPr>
          <p:sp>
            <p:nvSpPr>
              <p:cNvPr id="572" name="POWER_USER_SHAPE_ICON_STYLE_2">
                <a:extLst>
                  <a:ext uri="{FF2B5EF4-FFF2-40B4-BE49-F238E27FC236}">
                    <a16:creationId xmlns:a16="http://schemas.microsoft.com/office/drawing/2014/main" id="{B714FF94-646D-9BDA-3239-128423A1201C}"/>
                  </a:ext>
                </a:extLst>
              </p:cNvPr>
              <p:cNvSpPr/>
              <p:nvPr/>
            </p:nvSpPr>
            <p:spPr>
              <a:xfrm>
                <a:off x="-151229" y="3030538"/>
                <a:ext cx="762000" cy="762000"/>
              </a:xfrm>
              <a:prstGeom prst="ellipse">
                <a:avLst/>
              </a:prstGeom>
              <a:solidFill>
                <a:srgbClr val="FFC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573" name="Gruppieren 572">
                <a:extLst>
                  <a:ext uri="{FF2B5EF4-FFF2-40B4-BE49-F238E27FC236}">
                    <a16:creationId xmlns:a16="http://schemas.microsoft.com/office/drawing/2014/main" id="{CD25BACF-5A03-DBE5-0049-74C884BD2743}"/>
                  </a:ext>
                </a:extLst>
              </p:cNvPr>
              <p:cNvGrpSpPr>
                <a:grpSpLocks noChangeAspect="1"/>
              </p:cNvGrpSpPr>
              <p:nvPr/>
            </p:nvGrpSpPr>
            <p:grpSpPr>
              <a:xfrm>
                <a:off x="1" y="3157538"/>
                <a:ext cx="459541" cy="508000"/>
                <a:chOff x="0" y="3157538"/>
                <a:chExt cx="491134" cy="542925"/>
              </a:xfrm>
            </p:grpSpPr>
            <p:sp>
              <p:nvSpPr>
                <p:cNvPr id="574" name="Crowdsourcing2">
                  <a:extLst>
                    <a:ext uri="{FF2B5EF4-FFF2-40B4-BE49-F238E27FC236}">
                      <a16:creationId xmlns:a16="http://schemas.microsoft.com/office/drawing/2014/main" id="{79F96942-CCA9-2A8E-E0C9-EFE663D2FEC8}"/>
                    </a:ext>
                  </a:extLst>
                </p:cNvPr>
                <p:cNvSpPr>
                  <a:spLocks/>
                </p:cNvSpPr>
                <p:nvPr>
                  <p:custDataLst>
                    <p:tags r:id="rId24"/>
                  </p:custDataLst>
                </p:nvPr>
              </p:nvSpPr>
              <p:spPr bwMode="auto">
                <a:xfrm>
                  <a:off x="192882" y="3595092"/>
                  <a:ext cx="105371" cy="35719"/>
                </a:xfrm>
                <a:custGeom>
                  <a:avLst/>
                  <a:gdLst>
                    <a:gd name="T0" fmla="*/ 130 w 156"/>
                    <a:gd name="T1" fmla="*/ 52 h 52"/>
                    <a:gd name="T2" fmla="*/ 26 w 156"/>
                    <a:gd name="T3" fmla="*/ 52 h 52"/>
                    <a:gd name="T4" fmla="*/ 0 w 156"/>
                    <a:gd name="T5" fmla="*/ 26 h 52"/>
                    <a:gd name="T6" fmla="*/ 26 w 156"/>
                    <a:gd name="T7" fmla="*/ 0 h 52"/>
                    <a:gd name="T8" fmla="*/ 130 w 156"/>
                    <a:gd name="T9" fmla="*/ 0 h 52"/>
                    <a:gd name="T10" fmla="*/ 156 w 156"/>
                    <a:gd name="T11" fmla="*/ 26 h 52"/>
                    <a:gd name="T12" fmla="*/ 130 w 156"/>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6" h="52">
                      <a:moveTo>
                        <a:pt x="130" y="52"/>
                      </a:moveTo>
                      <a:lnTo>
                        <a:pt x="26" y="52"/>
                      </a:lnTo>
                      <a:cubicBezTo>
                        <a:pt x="11" y="52"/>
                        <a:pt x="0" y="40"/>
                        <a:pt x="0" y="26"/>
                      </a:cubicBezTo>
                      <a:cubicBezTo>
                        <a:pt x="0" y="12"/>
                        <a:pt x="11" y="0"/>
                        <a:pt x="26" y="0"/>
                      </a:cubicBezTo>
                      <a:lnTo>
                        <a:pt x="130" y="0"/>
                      </a:lnTo>
                      <a:cubicBezTo>
                        <a:pt x="144" y="0"/>
                        <a:pt x="156" y="12"/>
                        <a:pt x="156" y="26"/>
                      </a:cubicBezTo>
                      <a:cubicBezTo>
                        <a:pt x="156" y="40"/>
                        <a:pt x="144" y="52"/>
                        <a:pt x="130"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75" name="Crowdsourcing2">
                  <a:extLst>
                    <a:ext uri="{FF2B5EF4-FFF2-40B4-BE49-F238E27FC236}">
                      <a16:creationId xmlns:a16="http://schemas.microsoft.com/office/drawing/2014/main" id="{BFDE574F-154C-4905-24CF-E508A6AD1E70}"/>
                    </a:ext>
                  </a:extLst>
                </p:cNvPr>
                <p:cNvSpPr>
                  <a:spLocks/>
                </p:cNvSpPr>
                <p:nvPr>
                  <p:custDataLst>
                    <p:tags r:id="rId25"/>
                  </p:custDataLst>
                </p:nvPr>
              </p:nvSpPr>
              <p:spPr bwMode="auto">
                <a:xfrm>
                  <a:off x="228601" y="3157538"/>
                  <a:ext cx="33932" cy="105371"/>
                </a:xfrm>
                <a:custGeom>
                  <a:avLst/>
                  <a:gdLst>
                    <a:gd name="T0" fmla="*/ 26 w 52"/>
                    <a:gd name="T1" fmla="*/ 156 h 156"/>
                    <a:gd name="T2" fmla="*/ 0 w 52"/>
                    <a:gd name="T3" fmla="*/ 130 h 156"/>
                    <a:gd name="T4" fmla="*/ 0 w 52"/>
                    <a:gd name="T5" fmla="*/ 26 h 156"/>
                    <a:gd name="T6" fmla="*/ 26 w 52"/>
                    <a:gd name="T7" fmla="*/ 0 h 156"/>
                    <a:gd name="T8" fmla="*/ 52 w 52"/>
                    <a:gd name="T9" fmla="*/ 26 h 156"/>
                    <a:gd name="T10" fmla="*/ 52 w 52"/>
                    <a:gd name="T11" fmla="*/ 130 h 156"/>
                    <a:gd name="T12" fmla="*/ 26 w 5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52" h="156">
                      <a:moveTo>
                        <a:pt x="26" y="156"/>
                      </a:moveTo>
                      <a:cubicBezTo>
                        <a:pt x="12" y="156"/>
                        <a:pt x="0" y="145"/>
                        <a:pt x="0" y="130"/>
                      </a:cubicBezTo>
                      <a:lnTo>
                        <a:pt x="0" y="26"/>
                      </a:lnTo>
                      <a:cubicBezTo>
                        <a:pt x="0" y="12"/>
                        <a:pt x="12" y="0"/>
                        <a:pt x="26" y="0"/>
                      </a:cubicBezTo>
                      <a:cubicBezTo>
                        <a:pt x="40" y="0"/>
                        <a:pt x="52" y="12"/>
                        <a:pt x="52" y="26"/>
                      </a:cubicBezTo>
                      <a:lnTo>
                        <a:pt x="52" y="130"/>
                      </a:lnTo>
                      <a:cubicBezTo>
                        <a:pt x="52" y="145"/>
                        <a:pt x="40" y="156"/>
                        <a:pt x="26" y="15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76" name="Crowdsourcing2">
                  <a:extLst>
                    <a:ext uri="{FF2B5EF4-FFF2-40B4-BE49-F238E27FC236}">
                      <a16:creationId xmlns:a16="http://schemas.microsoft.com/office/drawing/2014/main" id="{6C826038-BB9D-88D6-7A94-17DAA9A0925B}"/>
                    </a:ext>
                  </a:extLst>
                </p:cNvPr>
                <p:cNvSpPr>
                  <a:spLocks/>
                </p:cNvSpPr>
                <p:nvPr>
                  <p:custDataLst>
                    <p:tags r:id="rId26"/>
                  </p:custDataLst>
                </p:nvPr>
              </p:nvSpPr>
              <p:spPr bwMode="auto">
                <a:xfrm>
                  <a:off x="0"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77" name="Crowdsourcing2">
                  <a:extLst>
                    <a:ext uri="{FF2B5EF4-FFF2-40B4-BE49-F238E27FC236}">
                      <a16:creationId xmlns:a16="http://schemas.microsoft.com/office/drawing/2014/main" id="{EBFA23BF-E5AD-8F38-A8F8-135EFE02CC38}"/>
                    </a:ext>
                  </a:extLst>
                </p:cNvPr>
                <p:cNvSpPr>
                  <a:spLocks/>
                </p:cNvSpPr>
                <p:nvPr>
                  <p:custDataLst>
                    <p:tags r:id="rId27"/>
                  </p:custDataLst>
                </p:nvPr>
              </p:nvSpPr>
              <p:spPr bwMode="auto">
                <a:xfrm>
                  <a:off x="62508" y="3220046"/>
                  <a:ext cx="87512" cy="85725"/>
                </a:xfrm>
                <a:custGeom>
                  <a:avLst/>
                  <a:gdLst>
                    <a:gd name="T0" fmla="*/ 103 w 131"/>
                    <a:gd name="T1" fmla="*/ 128 h 128"/>
                    <a:gd name="T2" fmla="*/ 84 w 131"/>
                    <a:gd name="T3" fmla="*/ 121 h 128"/>
                    <a:gd name="T4" fmla="*/ 11 w 131"/>
                    <a:gd name="T5" fmla="*/ 47 h 128"/>
                    <a:gd name="T6" fmla="*/ 11 w 131"/>
                    <a:gd name="T7" fmla="*/ 10 h 128"/>
                    <a:gd name="T8" fmla="*/ 47 w 131"/>
                    <a:gd name="T9" fmla="*/ 10 h 128"/>
                    <a:gd name="T10" fmla="*/ 121 w 131"/>
                    <a:gd name="T11" fmla="*/ 84 h 128"/>
                    <a:gd name="T12" fmla="*/ 121 w 131"/>
                    <a:gd name="T13" fmla="*/ 121 h 128"/>
                    <a:gd name="T14" fmla="*/ 103 w 131"/>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1" h="128">
                      <a:moveTo>
                        <a:pt x="103" y="128"/>
                      </a:moveTo>
                      <a:cubicBezTo>
                        <a:pt x="96" y="128"/>
                        <a:pt x="89" y="126"/>
                        <a:pt x="84" y="121"/>
                      </a:cubicBezTo>
                      <a:lnTo>
                        <a:pt x="11" y="47"/>
                      </a:lnTo>
                      <a:cubicBezTo>
                        <a:pt x="0" y="37"/>
                        <a:pt x="0" y="20"/>
                        <a:pt x="11" y="10"/>
                      </a:cubicBezTo>
                      <a:cubicBezTo>
                        <a:pt x="21" y="0"/>
                        <a:pt x="37" y="0"/>
                        <a:pt x="47" y="10"/>
                      </a:cubicBezTo>
                      <a:lnTo>
                        <a:pt x="121" y="84"/>
                      </a:lnTo>
                      <a:cubicBezTo>
                        <a:pt x="131" y="94"/>
                        <a:pt x="131" y="111"/>
                        <a:pt x="121" y="121"/>
                      </a:cubicBezTo>
                      <a:cubicBezTo>
                        <a:pt x="116" y="126"/>
                        <a:pt x="109" y="128"/>
                        <a:pt x="103"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78" name="Crowdsourcing2">
                  <a:extLst>
                    <a:ext uri="{FF2B5EF4-FFF2-40B4-BE49-F238E27FC236}">
                      <a16:creationId xmlns:a16="http://schemas.microsoft.com/office/drawing/2014/main" id="{32D454FE-EE4C-2006-D8EE-762EC1BF4390}"/>
                    </a:ext>
                  </a:extLst>
                </p:cNvPr>
                <p:cNvSpPr>
                  <a:spLocks/>
                </p:cNvSpPr>
                <p:nvPr>
                  <p:custDataLst>
                    <p:tags r:id="rId28"/>
                  </p:custDataLst>
                </p:nvPr>
              </p:nvSpPr>
              <p:spPr bwMode="auto">
                <a:xfrm>
                  <a:off x="339329" y="3220046"/>
                  <a:ext cx="87512" cy="85725"/>
                </a:xfrm>
                <a:custGeom>
                  <a:avLst/>
                  <a:gdLst>
                    <a:gd name="T0" fmla="*/ 28 w 130"/>
                    <a:gd name="T1" fmla="*/ 128 h 128"/>
                    <a:gd name="T2" fmla="*/ 10 w 130"/>
                    <a:gd name="T3" fmla="*/ 121 h 128"/>
                    <a:gd name="T4" fmla="*/ 10 w 130"/>
                    <a:gd name="T5" fmla="*/ 84 h 128"/>
                    <a:gd name="T6" fmla="*/ 83 w 130"/>
                    <a:gd name="T7" fmla="*/ 10 h 128"/>
                    <a:gd name="T8" fmla="*/ 120 w 130"/>
                    <a:gd name="T9" fmla="*/ 10 h 128"/>
                    <a:gd name="T10" fmla="*/ 120 w 130"/>
                    <a:gd name="T11" fmla="*/ 47 h 128"/>
                    <a:gd name="T12" fmla="*/ 47 w 130"/>
                    <a:gd name="T13" fmla="*/ 121 h 128"/>
                    <a:gd name="T14" fmla="*/ 28 w 130"/>
                    <a:gd name="T15" fmla="*/ 128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0" h="128">
                      <a:moveTo>
                        <a:pt x="28" y="128"/>
                      </a:moveTo>
                      <a:cubicBezTo>
                        <a:pt x="22" y="128"/>
                        <a:pt x="15" y="126"/>
                        <a:pt x="10" y="121"/>
                      </a:cubicBezTo>
                      <a:cubicBezTo>
                        <a:pt x="0" y="111"/>
                        <a:pt x="0" y="94"/>
                        <a:pt x="10" y="84"/>
                      </a:cubicBezTo>
                      <a:lnTo>
                        <a:pt x="83" y="10"/>
                      </a:lnTo>
                      <a:cubicBezTo>
                        <a:pt x="94" y="0"/>
                        <a:pt x="110" y="0"/>
                        <a:pt x="120" y="10"/>
                      </a:cubicBezTo>
                      <a:cubicBezTo>
                        <a:pt x="130" y="20"/>
                        <a:pt x="130" y="37"/>
                        <a:pt x="120" y="47"/>
                      </a:cubicBezTo>
                      <a:lnTo>
                        <a:pt x="47" y="121"/>
                      </a:lnTo>
                      <a:cubicBezTo>
                        <a:pt x="42" y="126"/>
                        <a:pt x="35" y="128"/>
                        <a:pt x="28" y="128"/>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79" name="Crowdsourcing2">
                  <a:extLst>
                    <a:ext uri="{FF2B5EF4-FFF2-40B4-BE49-F238E27FC236}">
                      <a16:creationId xmlns:a16="http://schemas.microsoft.com/office/drawing/2014/main" id="{EF8EA1D1-A0D8-5A30-11F4-5B3D8F2DA0BD}"/>
                    </a:ext>
                  </a:extLst>
                </p:cNvPr>
                <p:cNvSpPr>
                  <a:spLocks/>
                </p:cNvSpPr>
                <p:nvPr>
                  <p:custDataLst>
                    <p:tags r:id="rId29"/>
                  </p:custDataLst>
                </p:nvPr>
              </p:nvSpPr>
              <p:spPr bwMode="auto">
                <a:xfrm>
                  <a:off x="385763" y="3386137"/>
                  <a:ext cx="105371" cy="33932"/>
                </a:xfrm>
                <a:custGeom>
                  <a:avLst/>
                  <a:gdLst>
                    <a:gd name="T0" fmla="*/ 131 w 157"/>
                    <a:gd name="T1" fmla="*/ 52 h 52"/>
                    <a:gd name="T2" fmla="*/ 26 w 157"/>
                    <a:gd name="T3" fmla="*/ 52 h 52"/>
                    <a:gd name="T4" fmla="*/ 0 w 157"/>
                    <a:gd name="T5" fmla="*/ 26 h 52"/>
                    <a:gd name="T6" fmla="*/ 26 w 157"/>
                    <a:gd name="T7" fmla="*/ 0 h 52"/>
                    <a:gd name="T8" fmla="*/ 131 w 157"/>
                    <a:gd name="T9" fmla="*/ 0 h 52"/>
                    <a:gd name="T10" fmla="*/ 157 w 157"/>
                    <a:gd name="T11" fmla="*/ 26 h 52"/>
                    <a:gd name="T12" fmla="*/ 131 w 157"/>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57" h="52">
                      <a:moveTo>
                        <a:pt x="131" y="52"/>
                      </a:moveTo>
                      <a:lnTo>
                        <a:pt x="26" y="52"/>
                      </a:lnTo>
                      <a:cubicBezTo>
                        <a:pt x="12" y="52"/>
                        <a:pt x="0" y="40"/>
                        <a:pt x="0" y="26"/>
                      </a:cubicBezTo>
                      <a:cubicBezTo>
                        <a:pt x="0" y="11"/>
                        <a:pt x="12" y="0"/>
                        <a:pt x="26" y="0"/>
                      </a:cubicBezTo>
                      <a:lnTo>
                        <a:pt x="131" y="0"/>
                      </a:lnTo>
                      <a:cubicBezTo>
                        <a:pt x="145" y="0"/>
                        <a:pt x="157" y="11"/>
                        <a:pt x="157" y="26"/>
                      </a:cubicBezTo>
                      <a:cubicBezTo>
                        <a:pt x="157" y="40"/>
                        <a:pt x="145" y="52"/>
                        <a:pt x="131" y="5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80" name="Crowdsourcing2">
                  <a:extLst>
                    <a:ext uri="{FF2B5EF4-FFF2-40B4-BE49-F238E27FC236}">
                      <a16:creationId xmlns:a16="http://schemas.microsoft.com/office/drawing/2014/main" id="{28782BCD-6959-F558-AB65-E61A5987B575}"/>
                    </a:ext>
                  </a:extLst>
                </p:cNvPr>
                <p:cNvSpPr>
                  <a:spLocks/>
                </p:cNvSpPr>
                <p:nvPr>
                  <p:custDataLst>
                    <p:tags r:id="rId30"/>
                  </p:custDataLst>
                </p:nvPr>
              </p:nvSpPr>
              <p:spPr bwMode="auto">
                <a:xfrm>
                  <a:off x="192882" y="3646885"/>
                  <a:ext cx="105371" cy="53578"/>
                </a:xfrm>
                <a:custGeom>
                  <a:avLst/>
                  <a:gdLst>
                    <a:gd name="T0" fmla="*/ 130 w 156"/>
                    <a:gd name="T1" fmla="*/ 0 h 78"/>
                    <a:gd name="T2" fmla="*/ 26 w 156"/>
                    <a:gd name="T3" fmla="*/ 0 h 78"/>
                    <a:gd name="T4" fmla="*/ 0 w 156"/>
                    <a:gd name="T5" fmla="*/ 26 h 78"/>
                    <a:gd name="T6" fmla="*/ 26 w 156"/>
                    <a:gd name="T7" fmla="*/ 52 h 78"/>
                    <a:gd name="T8" fmla="*/ 39 w 156"/>
                    <a:gd name="T9" fmla="*/ 52 h 78"/>
                    <a:gd name="T10" fmla="*/ 65 w 156"/>
                    <a:gd name="T11" fmla="*/ 78 h 78"/>
                    <a:gd name="T12" fmla="*/ 91 w 156"/>
                    <a:gd name="T13" fmla="*/ 78 h 78"/>
                    <a:gd name="T14" fmla="*/ 117 w 156"/>
                    <a:gd name="T15" fmla="*/ 52 h 78"/>
                    <a:gd name="T16" fmla="*/ 130 w 156"/>
                    <a:gd name="T17" fmla="*/ 52 h 78"/>
                    <a:gd name="T18" fmla="*/ 156 w 156"/>
                    <a:gd name="T19" fmla="*/ 26 h 78"/>
                    <a:gd name="T20" fmla="*/ 130 w 156"/>
                    <a:gd name="T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6" h="78">
                      <a:moveTo>
                        <a:pt x="130" y="0"/>
                      </a:moveTo>
                      <a:lnTo>
                        <a:pt x="26" y="0"/>
                      </a:lnTo>
                      <a:cubicBezTo>
                        <a:pt x="11" y="0"/>
                        <a:pt x="0" y="12"/>
                        <a:pt x="0" y="26"/>
                      </a:cubicBezTo>
                      <a:cubicBezTo>
                        <a:pt x="0" y="41"/>
                        <a:pt x="11" y="52"/>
                        <a:pt x="26" y="52"/>
                      </a:cubicBezTo>
                      <a:lnTo>
                        <a:pt x="39" y="52"/>
                      </a:lnTo>
                      <a:cubicBezTo>
                        <a:pt x="39" y="67"/>
                        <a:pt x="51" y="78"/>
                        <a:pt x="65" y="78"/>
                      </a:cubicBezTo>
                      <a:lnTo>
                        <a:pt x="91" y="78"/>
                      </a:lnTo>
                      <a:cubicBezTo>
                        <a:pt x="105" y="78"/>
                        <a:pt x="117" y="67"/>
                        <a:pt x="117" y="52"/>
                      </a:cubicBezTo>
                      <a:lnTo>
                        <a:pt x="130" y="52"/>
                      </a:lnTo>
                      <a:cubicBezTo>
                        <a:pt x="144" y="52"/>
                        <a:pt x="156" y="41"/>
                        <a:pt x="156" y="26"/>
                      </a:cubicBezTo>
                      <a:cubicBezTo>
                        <a:pt x="156" y="12"/>
                        <a:pt x="144" y="0"/>
                        <a:pt x="130" y="0"/>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81" name="Crowdsourcing2">
                  <a:extLst>
                    <a:ext uri="{FF2B5EF4-FFF2-40B4-BE49-F238E27FC236}">
                      <a16:creationId xmlns:a16="http://schemas.microsoft.com/office/drawing/2014/main" id="{A955DB0D-BF9B-BCA0-53B0-6FC1197695A4}"/>
                    </a:ext>
                  </a:extLst>
                </p:cNvPr>
                <p:cNvSpPr>
                  <a:spLocks/>
                </p:cNvSpPr>
                <p:nvPr>
                  <p:custDataLst>
                    <p:tags r:id="rId31"/>
                  </p:custDataLst>
                </p:nvPr>
              </p:nvSpPr>
              <p:spPr bwMode="auto">
                <a:xfrm>
                  <a:off x="123230" y="3280768"/>
                  <a:ext cx="244674" cy="296465"/>
                </a:xfrm>
                <a:custGeom>
                  <a:avLst/>
                  <a:gdLst>
                    <a:gd name="T0" fmla="*/ 316 w 364"/>
                    <a:gd name="T1" fmla="*/ 306 h 443"/>
                    <a:gd name="T2" fmla="*/ 364 w 364"/>
                    <a:gd name="T3" fmla="*/ 183 h 443"/>
                    <a:gd name="T4" fmla="*/ 182 w 364"/>
                    <a:gd name="T5" fmla="*/ 0 h 443"/>
                    <a:gd name="T6" fmla="*/ 0 w 364"/>
                    <a:gd name="T7" fmla="*/ 183 h 443"/>
                    <a:gd name="T8" fmla="*/ 45 w 364"/>
                    <a:gd name="T9" fmla="*/ 302 h 443"/>
                    <a:gd name="T10" fmla="*/ 104 w 364"/>
                    <a:gd name="T11" fmla="*/ 417 h 443"/>
                    <a:gd name="T12" fmla="*/ 130 w 364"/>
                    <a:gd name="T13" fmla="*/ 443 h 443"/>
                    <a:gd name="T14" fmla="*/ 234 w 364"/>
                    <a:gd name="T15" fmla="*/ 443 h 443"/>
                    <a:gd name="T16" fmla="*/ 260 w 364"/>
                    <a:gd name="T17" fmla="*/ 417 h 443"/>
                    <a:gd name="T18" fmla="*/ 260 w 364"/>
                    <a:gd name="T19" fmla="*/ 416 h 443"/>
                    <a:gd name="T20" fmla="*/ 316 w 364"/>
                    <a:gd name="T21" fmla="*/ 306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4" h="443">
                      <a:moveTo>
                        <a:pt x="316" y="306"/>
                      </a:moveTo>
                      <a:cubicBezTo>
                        <a:pt x="346" y="273"/>
                        <a:pt x="364" y="230"/>
                        <a:pt x="364" y="183"/>
                      </a:cubicBezTo>
                      <a:cubicBezTo>
                        <a:pt x="364" y="82"/>
                        <a:pt x="283" y="0"/>
                        <a:pt x="182" y="0"/>
                      </a:cubicBezTo>
                      <a:cubicBezTo>
                        <a:pt x="81" y="0"/>
                        <a:pt x="0" y="82"/>
                        <a:pt x="0" y="183"/>
                      </a:cubicBezTo>
                      <a:cubicBezTo>
                        <a:pt x="0" y="229"/>
                        <a:pt x="17" y="270"/>
                        <a:pt x="45" y="302"/>
                      </a:cubicBezTo>
                      <a:cubicBezTo>
                        <a:pt x="57" y="316"/>
                        <a:pt x="104" y="372"/>
                        <a:pt x="104" y="417"/>
                      </a:cubicBezTo>
                      <a:cubicBezTo>
                        <a:pt x="104" y="431"/>
                        <a:pt x="115" y="443"/>
                        <a:pt x="130" y="443"/>
                      </a:cubicBezTo>
                      <a:lnTo>
                        <a:pt x="234" y="443"/>
                      </a:lnTo>
                      <a:cubicBezTo>
                        <a:pt x="248" y="443"/>
                        <a:pt x="260" y="431"/>
                        <a:pt x="260" y="417"/>
                      </a:cubicBezTo>
                      <a:lnTo>
                        <a:pt x="260" y="416"/>
                      </a:lnTo>
                      <a:cubicBezTo>
                        <a:pt x="261" y="373"/>
                        <a:pt x="301" y="323"/>
                        <a:pt x="316" y="306"/>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nvGrpSpPr>
            <p:cNvPr id="582" name="Gruppieren 581">
              <a:extLst>
                <a:ext uri="{FF2B5EF4-FFF2-40B4-BE49-F238E27FC236}">
                  <a16:creationId xmlns:a16="http://schemas.microsoft.com/office/drawing/2014/main" id="{CEDB457F-E0EF-8534-A677-5B50D8E06383}"/>
                </a:ext>
              </a:extLst>
            </p:cNvPr>
            <p:cNvGrpSpPr/>
            <p:nvPr/>
          </p:nvGrpSpPr>
          <p:grpSpPr>
            <a:xfrm>
              <a:off x="9575987" y="4068757"/>
              <a:ext cx="480669" cy="448955"/>
              <a:chOff x="1369937" y="4620185"/>
              <a:chExt cx="512470" cy="478658"/>
            </a:xfrm>
          </p:grpSpPr>
          <p:grpSp>
            <p:nvGrpSpPr>
              <p:cNvPr id="583" name="Gruppieren 582" descr="{&quot;Key&quot;:&quot;POWER_USER_SHAPE_ICON&quot;,&quot;Value&quot;:&quot;POWER_USER_SHAPE_ICON_STYLE_2&quot;}">
                <a:extLst>
                  <a:ext uri="{FF2B5EF4-FFF2-40B4-BE49-F238E27FC236}">
                    <a16:creationId xmlns:a16="http://schemas.microsoft.com/office/drawing/2014/main" id="{39B16EEF-8465-7027-2BDF-E09678D3DC65}"/>
                  </a:ext>
                </a:extLst>
              </p:cNvPr>
              <p:cNvGrpSpPr>
                <a:grpSpLocks noChangeAspect="1"/>
              </p:cNvGrpSpPr>
              <p:nvPr/>
            </p:nvGrpSpPr>
            <p:grpSpPr>
              <a:xfrm>
                <a:off x="1498726" y="4620185"/>
                <a:ext cx="286311" cy="286311"/>
                <a:chOff x="-147119" y="3030538"/>
                <a:chExt cx="762000" cy="762000"/>
              </a:xfrm>
              <a:solidFill>
                <a:srgbClr val="000066"/>
              </a:solidFill>
            </p:grpSpPr>
            <p:sp>
              <p:nvSpPr>
                <p:cNvPr id="593" name="POWER_USER_SHAPE_ICON_STYLE_2">
                  <a:extLst>
                    <a:ext uri="{FF2B5EF4-FFF2-40B4-BE49-F238E27FC236}">
                      <a16:creationId xmlns:a16="http://schemas.microsoft.com/office/drawing/2014/main" id="{5CC9A9C6-D50A-07F1-A26B-0418172DCD2B}"/>
                    </a:ext>
                  </a:extLst>
                </p:cNvPr>
                <p:cNvSpPr/>
                <p:nvPr/>
              </p:nvSpPr>
              <p:spPr>
                <a:xfrm>
                  <a:off x="-147119" y="3030538"/>
                  <a:ext cx="762000" cy="762000"/>
                </a:xfrm>
                <a:prstGeom prst="ellipse">
                  <a:avLst/>
                </a:prstGeom>
                <a:gr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94" name="Snowflake2" descr="{&quot;Key&quot;:&quot;POWER_USER_SHAPE_ICON&quot;,&quot;Value&quot;:&quot;POWER_USER_SHAPE_ICON_STYLE_1&quot;}">
                  <a:extLst>
                    <a:ext uri="{FF2B5EF4-FFF2-40B4-BE49-F238E27FC236}">
                      <a16:creationId xmlns:a16="http://schemas.microsoft.com/office/drawing/2014/main" id="{6D249516-5960-E237-041D-174CB81D9A68}"/>
                    </a:ext>
                  </a:extLst>
                </p:cNvPr>
                <p:cNvSpPr>
                  <a:spLocks noChangeAspect="1"/>
                </p:cNvSpPr>
                <p:nvPr/>
              </p:nvSpPr>
              <p:spPr bwMode="auto">
                <a:xfrm>
                  <a:off x="0" y="3157538"/>
                  <a:ext cx="467762" cy="508000"/>
                </a:xfrm>
                <a:custGeom>
                  <a:avLst/>
                  <a:gdLst>
                    <a:gd name="T0" fmla="*/ 1278 w 1378"/>
                    <a:gd name="T1" fmla="*/ 769 h 1496"/>
                    <a:gd name="T2" fmla="*/ 852 w 1378"/>
                    <a:gd name="T3" fmla="*/ 748 h 1496"/>
                    <a:gd name="T4" fmla="*/ 1279 w 1378"/>
                    <a:gd name="T5" fmla="*/ 727 h 1496"/>
                    <a:gd name="T6" fmla="*/ 1220 w 1378"/>
                    <a:gd name="T7" fmla="*/ 535 h 1496"/>
                    <a:gd name="T8" fmla="*/ 1297 w 1378"/>
                    <a:gd name="T9" fmla="*/ 303 h 1496"/>
                    <a:gd name="T10" fmla="*/ 1139 w 1378"/>
                    <a:gd name="T11" fmla="*/ 248 h 1496"/>
                    <a:gd name="T12" fmla="*/ 1002 w 1378"/>
                    <a:gd name="T13" fmla="*/ 474 h 1496"/>
                    <a:gd name="T14" fmla="*/ 770 w 1378"/>
                    <a:gd name="T15" fmla="*/ 340 h 1496"/>
                    <a:gd name="T16" fmla="*/ 897 w 1378"/>
                    <a:gd name="T17" fmla="*/ 108 h 1496"/>
                    <a:gd name="T18" fmla="*/ 770 w 1378"/>
                    <a:gd name="T19" fmla="*/ 0 h 1496"/>
                    <a:gd name="T20" fmla="*/ 608 w 1378"/>
                    <a:gd name="T21" fmla="*/ 181 h 1496"/>
                    <a:gd name="T22" fmla="*/ 412 w 1378"/>
                    <a:gd name="T23" fmla="*/ 227 h 1496"/>
                    <a:gd name="T24" fmla="*/ 608 w 1378"/>
                    <a:gd name="T25" fmla="*/ 607 h 1496"/>
                    <a:gd name="T26" fmla="*/ 376 w 1378"/>
                    <a:gd name="T27" fmla="*/ 248 h 1496"/>
                    <a:gd name="T28" fmla="*/ 239 w 1378"/>
                    <a:gd name="T29" fmla="*/ 394 h 1496"/>
                    <a:gd name="T30" fmla="*/ 0 w 1378"/>
                    <a:gd name="T31" fmla="*/ 444 h 1496"/>
                    <a:gd name="T32" fmla="*/ 31 w 1378"/>
                    <a:gd name="T33" fmla="*/ 608 h 1496"/>
                    <a:gd name="T34" fmla="*/ 295 w 1378"/>
                    <a:gd name="T35" fmla="*/ 614 h 1496"/>
                    <a:gd name="T36" fmla="*/ 295 w 1378"/>
                    <a:gd name="T37" fmla="*/ 882 h 1496"/>
                    <a:gd name="T38" fmla="*/ 31 w 1378"/>
                    <a:gd name="T39" fmla="*/ 888 h 1496"/>
                    <a:gd name="T40" fmla="*/ 0 w 1378"/>
                    <a:gd name="T41" fmla="*/ 1052 h 1496"/>
                    <a:gd name="T42" fmla="*/ 239 w 1378"/>
                    <a:gd name="T43" fmla="*/ 1102 h 1496"/>
                    <a:gd name="T44" fmla="*/ 376 w 1378"/>
                    <a:gd name="T45" fmla="*/ 1248 h 1496"/>
                    <a:gd name="T46" fmla="*/ 608 w 1378"/>
                    <a:gd name="T47" fmla="*/ 889 h 1496"/>
                    <a:gd name="T48" fmla="*/ 412 w 1378"/>
                    <a:gd name="T49" fmla="*/ 1269 h 1496"/>
                    <a:gd name="T50" fmla="*/ 608 w 1378"/>
                    <a:gd name="T51" fmla="*/ 1315 h 1496"/>
                    <a:gd name="T52" fmla="*/ 770 w 1378"/>
                    <a:gd name="T53" fmla="*/ 1496 h 1496"/>
                    <a:gd name="T54" fmla="*/ 897 w 1378"/>
                    <a:gd name="T55" fmla="*/ 1388 h 1496"/>
                    <a:gd name="T56" fmla="*/ 770 w 1378"/>
                    <a:gd name="T57" fmla="*/ 1156 h 1496"/>
                    <a:gd name="T58" fmla="*/ 1002 w 1378"/>
                    <a:gd name="T59" fmla="*/ 1022 h 1496"/>
                    <a:gd name="T60" fmla="*/ 1139 w 1378"/>
                    <a:gd name="T61" fmla="*/ 1248 h 1496"/>
                    <a:gd name="T62" fmla="*/ 1297 w 1378"/>
                    <a:gd name="T63" fmla="*/ 1193 h 1496"/>
                    <a:gd name="T64" fmla="*/ 1220 w 1378"/>
                    <a:gd name="T65" fmla="*/ 961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8" h="1496">
                      <a:moveTo>
                        <a:pt x="1347" y="888"/>
                      </a:moveTo>
                      <a:lnTo>
                        <a:pt x="1278" y="769"/>
                      </a:lnTo>
                      <a:lnTo>
                        <a:pt x="1083" y="882"/>
                      </a:lnTo>
                      <a:lnTo>
                        <a:pt x="852" y="748"/>
                      </a:lnTo>
                      <a:lnTo>
                        <a:pt x="1083" y="614"/>
                      </a:lnTo>
                      <a:lnTo>
                        <a:pt x="1279" y="727"/>
                      </a:lnTo>
                      <a:lnTo>
                        <a:pt x="1347" y="608"/>
                      </a:lnTo>
                      <a:lnTo>
                        <a:pt x="1220" y="535"/>
                      </a:lnTo>
                      <a:lnTo>
                        <a:pt x="1378" y="444"/>
                      </a:lnTo>
                      <a:lnTo>
                        <a:pt x="1297" y="303"/>
                      </a:lnTo>
                      <a:lnTo>
                        <a:pt x="1139" y="394"/>
                      </a:lnTo>
                      <a:lnTo>
                        <a:pt x="1139" y="248"/>
                      </a:lnTo>
                      <a:lnTo>
                        <a:pt x="1002" y="248"/>
                      </a:lnTo>
                      <a:lnTo>
                        <a:pt x="1002" y="474"/>
                      </a:lnTo>
                      <a:lnTo>
                        <a:pt x="770" y="607"/>
                      </a:lnTo>
                      <a:lnTo>
                        <a:pt x="770" y="340"/>
                      </a:lnTo>
                      <a:lnTo>
                        <a:pt x="966" y="227"/>
                      </a:lnTo>
                      <a:lnTo>
                        <a:pt x="897" y="108"/>
                      </a:lnTo>
                      <a:lnTo>
                        <a:pt x="770" y="181"/>
                      </a:lnTo>
                      <a:lnTo>
                        <a:pt x="770" y="0"/>
                      </a:lnTo>
                      <a:lnTo>
                        <a:pt x="608" y="0"/>
                      </a:lnTo>
                      <a:lnTo>
                        <a:pt x="608" y="181"/>
                      </a:lnTo>
                      <a:lnTo>
                        <a:pt x="481" y="108"/>
                      </a:lnTo>
                      <a:lnTo>
                        <a:pt x="412" y="227"/>
                      </a:lnTo>
                      <a:lnTo>
                        <a:pt x="608" y="340"/>
                      </a:lnTo>
                      <a:lnTo>
                        <a:pt x="608" y="607"/>
                      </a:lnTo>
                      <a:lnTo>
                        <a:pt x="376" y="474"/>
                      </a:lnTo>
                      <a:lnTo>
                        <a:pt x="376" y="248"/>
                      </a:lnTo>
                      <a:lnTo>
                        <a:pt x="239" y="248"/>
                      </a:lnTo>
                      <a:lnTo>
                        <a:pt x="239" y="394"/>
                      </a:lnTo>
                      <a:lnTo>
                        <a:pt x="82" y="303"/>
                      </a:lnTo>
                      <a:lnTo>
                        <a:pt x="0" y="444"/>
                      </a:lnTo>
                      <a:lnTo>
                        <a:pt x="158" y="535"/>
                      </a:lnTo>
                      <a:lnTo>
                        <a:pt x="31" y="608"/>
                      </a:lnTo>
                      <a:lnTo>
                        <a:pt x="100" y="727"/>
                      </a:lnTo>
                      <a:lnTo>
                        <a:pt x="295" y="614"/>
                      </a:lnTo>
                      <a:lnTo>
                        <a:pt x="527" y="748"/>
                      </a:lnTo>
                      <a:lnTo>
                        <a:pt x="295" y="882"/>
                      </a:lnTo>
                      <a:lnTo>
                        <a:pt x="100" y="769"/>
                      </a:lnTo>
                      <a:lnTo>
                        <a:pt x="31" y="888"/>
                      </a:lnTo>
                      <a:lnTo>
                        <a:pt x="158" y="961"/>
                      </a:lnTo>
                      <a:lnTo>
                        <a:pt x="0" y="1052"/>
                      </a:lnTo>
                      <a:lnTo>
                        <a:pt x="82" y="1193"/>
                      </a:lnTo>
                      <a:lnTo>
                        <a:pt x="239" y="1102"/>
                      </a:lnTo>
                      <a:lnTo>
                        <a:pt x="239" y="1248"/>
                      </a:lnTo>
                      <a:lnTo>
                        <a:pt x="376" y="1248"/>
                      </a:lnTo>
                      <a:lnTo>
                        <a:pt x="376" y="1022"/>
                      </a:lnTo>
                      <a:lnTo>
                        <a:pt x="608" y="889"/>
                      </a:lnTo>
                      <a:lnTo>
                        <a:pt x="608" y="1156"/>
                      </a:lnTo>
                      <a:lnTo>
                        <a:pt x="412" y="1269"/>
                      </a:lnTo>
                      <a:lnTo>
                        <a:pt x="481" y="1388"/>
                      </a:lnTo>
                      <a:lnTo>
                        <a:pt x="608" y="1315"/>
                      </a:lnTo>
                      <a:lnTo>
                        <a:pt x="608" y="1496"/>
                      </a:lnTo>
                      <a:lnTo>
                        <a:pt x="770" y="1496"/>
                      </a:lnTo>
                      <a:lnTo>
                        <a:pt x="770" y="1315"/>
                      </a:lnTo>
                      <a:lnTo>
                        <a:pt x="897" y="1388"/>
                      </a:lnTo>
                      <a:lnTo>
                        <a:pt x="966" y="1269"/>
                      </a:lnTo>
                      <a:lnTo>
                        <a:pt x="770" y="1156"/>
                      </a:lnTo>
                      <a:lnTo>
                        <a:pt x="770" y="889"/>
                      </a:lnTo>
                      <a:lnTo>
                        <a:pt x="1002" y="1022"/>
                      </a:lnTo>
                      <a:lnTo>
                        <a:pt x="1002" y="1248"/>
                      </a:lnTo>
                      <a:lnTo>
                        <a:pt x="1139" y="1248"/>
                      </a:lnTo>
                      <a:lnTo>
                        <a:pt x="1139" y="1102"/>
                      </a:lnTo>
                      <a:lnTo>
                        <a:pt x="1297" y="1193"/>
                      </a:lnTo>
                      <a:lnTo>
                        <a:pt x="1378" y="1052"/>
                      </a:lnTo>
                      <a:lnTo>
                        <a:pt x="1220" y="961"/>
                      </a:lnTo>
                      <a:lnTo>
                        <a:pt x="1347" y="888"/>
                      </a:lnTo>
                      <a:close/>
                    </a:path>
                  </a:pathLst>
                </a:custGeom>
                <a:solidFill>
                  <a:sysClr val="window" lastClr="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584" name="Gruppieren 583" descr="{&quot;Key&quot;:&quot;POWER_USER_SHAPE_ICON&quot;,&quot;Value&quot;:&quot;POWER_USER_SHAPE_ICON_STYLE_2&quot;}">
                <a:extLst>
                  <a:ext uri="{FF2B5EF4-FFF2-40B4-BE49-F238E27FC236}">
                    <a16:creationId xmlns:a16="http://schemas.microsoft.com/office/drawing/2014/main" id="{9B98D36E-1242-20A2-CF1A-9CF9B9BFE97F}"/>
                  </a:ext>
                </a:extLst>
              </p:cNvPr>
              <p:cNvGrpSpPr>
                <a:grpSpLocks noChangeAspect="1"/>
              </p:cNvGrpSpPr>
              <p:nvPr/>
            </p:nvGrpSpPr>
            <p:grpSpPr>
              <a:xfrm>
                <a:off x="1369937" y="4810589"/>
                <a:ext cx="288254" cy="288254"/>
                <a:chOff x="-158376" y="3030538"/>
                <a:chExt cx="762000" cy="762000"/>
              </a:xfrm>
            </p:grpSpPr>
            <p:sp>
              <p:nvSpPr>
                <p:cNvPr id="591" name="POWER_USER_SHAPE_ICON_STYLE_2">
                  <a:extLst>
                    <a:ext uri="{FF2B5EF4-FFF2-40B4-BE49-F238E27FC236}">
                      <a16:creationId xmlns:a16="http://schemas.microsoft.com/office/drawing/2014/main" id="{BD6C46F9-DD7D-21D1-C3F7-3F8DA55DA461}"/>
                    </a:ext>
                  </a:extLst>
                </p:cNvPr>
                <p:cNvSpPr/>
                <p:nvPr/>
              </p:nvSpPr>
              <p:spPr>
                <a:xfrm>
                  <a:off x="-158376" y="3030538"/>
                  <a:ext cx="762000" cy="762000"/>
                </a:xfrm>
                <a:prstGeom prst="ellips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92" name="Flame3" descr="{&quot;Key&quot;:&quot;POWER_USER_SHAPE_ICON&quot;,&quot;Value&quot;:&quot;POWER_USER_SHAPE_ICON_STYLE_1&quot;}">
                  <a:extLst>
                    <a:ext uri="{FF2B5EF4-FFF2-40B4-BE49-F238E27FC236}">
                      <a16:creationId xmlns:a16="http://schemas.microsoft.com/office/drawing/2014/main" id="{A09C4B67-18A3-87F7-866B-8B3D713531A9}"/>
                    </a:ext>
                  </a:extLst>
                </p:cNvPr>
                <p:cNvSpPr>
                  <a:spLocks noChangeAspect="1"/>
                </p:cNvSpPr>
                <p:nvPr>
                  <p:custDataLst>
                    <p:tags r:id="rId23"/>
                  </p:custDataLst>
                </p:nvPr>
              </p:nvSpPr>
              <p:spPr bwMode="auto">
                <a:xfrm>
                  <a:off x="1" y="3157538"/>
                  <a:ext cx="445247" cy="508000"/>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585" name="Gruppieren 584" descr="{&quot;Key&quot;:&quot;POWER_USER_SHAPE_ICON&quot;,&quot;Value&quot;:&quot;POWER_USER_SHAPE_ICON_STYLE_2&quot;}">
                <a:extLst>
                  <a:ext uri="{FF2B5EF4-FFF2-40B4-BE49-F238E27FC236}">
                    <a16:creationId xmlns:a16="http://schemas.microsoft.com/office/drawing/2014/main" id="{FDD9660F-9D1E-8D9A-48E0-C2E61636BB78}"/>
                  </a:ext>
                </a:extLst>
              </p:cNvPr>
              <p:cNvGrpSpPr>
                <a:grpSpLocks noChangeAspect="1"/>
              </p:cNvGrpSpPr>
              <p:nvPr/>
            </p:nvGrpSpPr>
            <p:grpSpPr>
              <a:xfrm>
                <a:off x="1612540" y="4824795"/>
                <a:ext cx="269867" cy="269867"/>
                <a:chOff x="-127000" y="2980451"/>
                <a:chExt cx="762000" cy="762000"/>
              </a:xfrm>
            </p:grpSpPr>
            <p:sp>
              <p:nvSpPr>
                <p:cNvPr id="586" name="POWER_USER_SHAPE_ICON_STYLE_2">
                  <a:extLst>
                    <a:ext uri="{FF2B5EF4-FFF2-40B4-BE49-F238E27FC236}">
                      <a16:creationId xmlns:a16="http://schemas.microsoft.com/office/drawing/2014/main" id="{7A14BAA6-CA05-ACC7-20A5-A331A8CC4CA1}"/>
                    </a:ext>
                  </a:extLst>
                </p:cNvPr>
                <p:cNvSpPr/>
                <p:nvPr/>
              </p:nvSpPr>
              <p:spPr>
                <a:xfrm>
                  <a:off x="-127000" y="2980451"/>
                  <a:ext cx="762000" cy="762000"/>
                </a:xfrm>
                <a:prstGeom prst="ellipse">
                  <a:avLst/>
                </a:prstGeom>
                <a:solidFill>
                  <a:srgbClr val="FF99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587" name="Gruppieren 586">
                  <a:extLst>
                    <a:ext uri="{FF2B5EF4-FFF2-40B4-BE49-F238E27FC236}">
                      <a16:creationId xmlns:a16="http://schemas.microsoft.com/office/drawing/2014/main" id="{8838D233-71A7-BB32-6F7C-5E3EE3EDA5AF}"/>
                    </a:ext>
                  </a:extLst>
                </p:cNvPr>
                <p:cNvGrpSpPr>
                  <a:grpSpLocks noChangeAspect="1"/>
                </p:cNvGrpSpPr>
                <p:nvPr/>
              </p:nvGrpSpPr>
              <p:grpSpPr>
                <a:xfrm>
                  <a:off x="0" y="3157538"/>
                  <a:ext cx="508000" cy="407826"/>
                  <a:chOff x="0" y="3157538"/>
                  <a:chExt cx="676283" cy="542925"/>
                </a:xfrm>
              </p:grpSpPr>
              <p:sp>
                <p:nvSpPr>
                  <p:cNvPr id="588" name="Freeform 284">
                    <a:extLst>
                      <a:ext uri="{FF2B5EF4-FFF2-40B4-BE49-F238E27FC236}">
                        <a16:creationId xmlns:a16="http://schemas.microsoft.com/office/drawing/2014/main" id="{60CF1AF9-47A5-5999-E7A7-F1EABC6D517E}"/>
                      </a:ext>
                    </a:extLst>
                  </p:cNvPr>
                  <p:cNvSpPr>
                    <a:spLocks/>
                  </p:cNvSpPr>
                  <p:nvPr/>
                </p:nvSpPr>
                <p:spPr bwMode="auto">
                  <a:xfrm>
                    <a:off x="392288" y="3286273"/>
                    <a:ext cx="283995" cy="414190"/>
                  </a:xfrm>
                  <a:custGeom>
                    <a:avLst/>
                    <a:gdLst>
                      <a:gd name="T0" fmla="*/ 128 w 294"/>
                      <a:gd name="T1" fmla="*/ 145 h 428"/>
                      <a:gd name="T2" fmla="*/ 0 w 294"/>
                      <a:gd name="T3" fmla="*/ 320 h 428"/>
                      <a:gd name="T4" fmla="*/ 144 w 294"/>
                      <a:gd name="T5" fmla="*/ 428 h 428"/>
                      <a:gd name="T6" fmla="*/ 294 w 294"/>
                      <a:gd name="T7" fmla="*/ 278 h 428"/>
                      <a:gd name="T8" fmla="*/ 144 w 294"/>
                      <a:gd name="T9" fmla="*/ 0 h 428"/>
                      <a:gd name="T10" fmla="*/ 107 w 294"/>
                      <a:gd name="T11" fmla="*/ 37 h 428"/>
                      <a:gd name="T12" fmla="*/ 128 w 294"/>
                      <a:gd name="T13" fmla="*/ 145 h 428"/>
                    </a:gdLst>
                    <a:ahLst/>
                    <a:cxnLst>
                      <a:cxn ang="0">
                        <a:pos x="T0" y="T1"/>
                      </a:cxn>
                      <a:cxn ang="0">
                        <a:pos x="T2" y="T3"/>
                      </a:cxn>
                      <a:cxn ang="0">
                        <a:pos x="T4" y="T5"/>
                      </a:cxn>
                      <a:cxn ang="0">
                        <a:pos x="T6" y="T7"/>
                      </a:cxn>
                      <a:cxn ang="0">
                        <a:pos x="T8" y="T9"/>
                      </a:cxn>
                      <a:cxn ang="0">
                        <a:pos x="T10" y="T11"/>
                      </a:cxn>
                      <a:cxn ang="0">
                        <a:pos x="T12" y="T13"/>
                      </a:cxn>
                    </a:cxnLst>
                    <a:rect l="0" t="0" r="r" b="b"/>
                    <a:pathLst>
                      <a:path w="294" h="428">
                        <a:moveTo>
                          <a:pt x="128" y="145"/>
                        </a:moveTo>
                        <a:cubicBezTo>
                          <a:pt x="128" y="227"/>
                          <a:pt x="74" y="296"/>
                          <a:pt x="0" y="320"/>
                        </a:cubicBezTo>
                        <a:cubicBezTo>
                          <a:pt x="18" y="382"/>
                          <a:pt x="76" y="428"/>
                          <a:pt x="144" y="428"/>
                        </a:cubicBezTo>
                        <a:cubicBezTo>
                          <a:pt x="227" y="428"/>
                          <a:pt x="294" y="361"/>
                          <a:pt x="294" y="278"/>
                        </a:cubicBezTo>
                        <a:cubicBezTo>
                          <a:pt x="294" y="145"/>
                          <a:pt x="180" y="32"/>
                          <a:pt x="144" y="0"/>
                        </a:cubicBezTo>
                        <a:cubicBezTo>
                          <a:pt x="136" y="8"/>
                          <a:pt x="122" y="21"/>
                          <a:pt x="107" y="37"/>
                        </a:cubicBezTo>
                        <a:cubicBezTo>
                          <a:pt x="120" y="71"/>
                          <a:pt x="128" y="107"/>
                          <a:pt x="128" y="145"/>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89" name="Freeform 285">
                    <a:extLst>
                      <a:ext uri="{FF2B5EF4-FFF2-40B4-BE49-F238E27FC236}">
                        <a16:creationId xmlns:a16="http://schemas.microsoft.com/office/drawing/2014/main" id="{6B0FA0C5-E367-F4FA-1A08-50972BBA193E}"/>
                      </a:ext>
                    </a:extLst>
                  </p:cNvPr>
                  <p:cNvSpPr>
                    <a:spLocks/>
                  </p:cNvSpPr>
                  <p:nvPr/>
                </p:nvSpPr>
                <p:spPr bwMode="auto">
                  <a:xfrm>
                    <a:off x="219506" y="3157538"/>
                    <a:ext cx="263553" cy="414190"/>
                  </a:xfrm>
                  <a:custGeom>
                    <a:avLst/>
                    <a:gdLst>
                      <a:gd name="T0" fmla="*/ 107 w 273"/>
                      <a:gd name="T1" fmla="*/ 411 h 428"/>
                      <a:gd name="T2" fmla="*/ 106 w 273"/>
                      <a:gd name="T3" fmla="*/ 427 h 428"/>
                      <a:gd name="T4" fmla="*/ 123 w 273"/>
                      <a:gd name="T5" fmla="*/ 428 h 428"/>
                      <a:gd name="T6" fmla="*/ 273 w 273"/>
                      <a:gd name="T7" fmla="*/ 278 h 428"/>
                      <a:gd name="T8" fmla="*/ 123 w 273"/>
                      <a:gd name="T9" fmla="*/ 0 h 428"/>
                      <a:gd name="T10" fmla="*/ 0 w 273"/>
                      <a:gd name="T11" fmla="*/ 164 h 428"/>
                      <a:gd name="T12" fmla="*/ 107 w 273"/>
                      <a:gd name="T13" fmla="*/ 411 h 428"/>
                    </a:gdLst>
                    <a:ahLst/>
                    <a:cxnLst>
                      <a:cxn ang="0">
                        <a:pos x="T0" y="T1"/>
                      </a:cxn>
                      <a:cxn ang="0">
                        <a:pos x="T2" y="T3"/>
                      </a:cxn>
                      <a:cxn ang="0">
                        <a:pos x="T4" y="T5"/>
                      </a:cxn>
                      <a:cxn ang="0">
                        <a:pos x="T6" y="T7"/>
                      </a:cxn>
                      <a:cxn ang="0">
                        <a:pos x="T8" y="T9"/>
                      </a:cxn>
                      <a:cxn ang="0">
                        <a:pos x="T10" y="T11"/>
                      </a:cxn>
                      <a:cxn ang="0">
                        <a:pos x="T12" y="T13"/>
                      </a:cxn>
                    </a:cxnLst>
                    <a:rect l="0" t="0" r="r" b="b"/>
                    <a:pathLst>
                      <a:path w="273" h="428">
                        <a:moveTo>
                          <a:pt x="107" y="411"/>
                        </a:moveTo>
                        <a:cubicBezTo>
                          <a:pt x="107" y="417"/>
                          <a:pt x="106" y="422"/>
                          <a:pt x="106" y="427"/>
                        </a:cubicBezTo>
                        <a:cubicBezTo>
                          <a:pt x="112" y="428"/>
                          <a:pt x="117" y="428"/>
                          <a:pt x="123" y="428"/>
                        </a:cubicBezTo>
                        <a:cubicBezTo>
                          <a:pt x="206" y="428"/>
                          <a:pt x="273" y="361"/>
                          <a:pt x="273" y="278"/>
                        </a:cubicBezTo>
                        <a:cubicBezTo>
                          <a:pt x="273" y="145"/>
                          <a:pt x="159" y="32"/>
                          <a:pt x="123" y="0"/>
                        </a:cubicBezTo>
                        <a:cubicBezTo>
                          <a:pt x="99" y="22"/>
                          <a:pt x="36" y="84"/>
                          <a:pt x="0" y="164"/>
                        </a:cubicBezTo>
                        <a:cubicBezTo>
                          <a:pt x="49" y="220"/>
                          <a:pt x="107" y="309"/>
                          <a:pt x="107" y="41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590" name="Freeform 286">
                    <a:extLst>
                      <a:ext uri="{FF2B5EF4-FFF2-40B4-BE49-F238E27FC236}">
                        <a16:creationId xmlns:a16="http://schemas.microsoft.com/office/drawing/2014/main" id="{A55E0170-5F48-5265-A480-48D174F52A67}"/>
                      </a:ext>
                    </a:extLst>
                  </p:cNvPr>
                  <p:cNvSpPr>
                    <a:spLocks/>
                  </p:cNvSpPr>
                  <p:nvPr/>
                </p:nvSpPr>
                <p:spPr bwMode="auto">
                  <a:xfrm>
                    <a:off x="0" y="3286273"/>
                    <a:ext cx="289836" cy="414190"/>
                  </a:xfrm>
                  <a:custGeom>
                    <a:avLst/>
                    <a:gdLst>
                      <a:gd name="T0" fmla="*/ 150 w 300"/>
                      <a:gd name="T1" fmla="*/ 428 h 428"/>
                      <a:gd name="T2" fmla="*/ 300 w 300"/>
                      <a:gd name="T3" fmla="*/ 278 h 428"/>
                      <a:gd name="T4" fmla="*/ 150 w 300"/>
                      <a:gd name="T5" fmla="*/ 0 h 428"/>
                      <a:gd name="T6" fmla="*/ 0 w 300"/>
                      <a:gd name="T7" fmla="*/ 278 h 428"/>
                      <a:gd name="T8" fmla="*/ 150 w 300"/>
                      <a:gd name="T9" fmla="*/ 428 h 428"/>
                    </a:gdLst>
                    <a:ahLst/>
                    <a:cxnLst>
                      <a:cxn ang="0">
                        <a:pos x="T0" y="T1"/>
                      </a:cxn>
                      <a:cxn ang="0">
                        <a:pos x="T2" y="T3"/>
                      </a:cxn>
                      <a:cxn ang="0">
                        <a:pos x="T4" y="T5"/>
                      </a:cxn>
                      <a:cxn ang="0">
                        <a:pos x="T6" y="T7"/>
                      </a:cxn>
                      <a:cxn ang="0">
                        <a:pos x="T8" y="T9"/>
                      </a:cxn>
                    </a:cxnLst>
                    <a:rect l="0" t="0" r="r" b="b"/>
                    <a:pathLst>
                      <a:path w="300" h="428">
                        <a:moveTo>
                          <a:pt x="150" y="428"/>
                        </a:moveTo>
                        <a:cubicBezTo>
                          <a:pt x="233" y="428"/>
                          <a:pt x="300" y="361"/>
                          <a:pt x="300" y="278"/>
                        </a:cubicBezTo>
                        <a:cubicBezTo>
                          <a:pt x="300" y="145"/>
                          <a:pt x="186" y="32"/>
                          <a:pt x="150" y="0"/>
                        </a:cubicBezTo>
                        <a:cubicBezTo>
                          <a:pt x="115" y="32"/>
                          <a:pt x="0" y="145"/>
                          <a:pt x="0" y="278"/>
                        </a:cubicBezTo>
                        <a:cubicBezTo>
                          <a:pt x="0" y="361"/>
                          <a:pt x="68" y="428"/>
                          <a:pt x="150" y="428"/>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grpSp>
        <p:grpSp>
          <p:nvGrpSpPr>
            <p:cNvPr id="595" name="Gruppieren 594" descr="{&quot;Key&quot;:&quot;POWER_USER_SHAPE_ICON&quot;,&quot;Value&quot;:&quot;POWER_USER_SHAPE_ICON_STYLE_2&quot;}">
              <a:extLst>
                <a:ext uri="{FF2B5EF4-FFF2-40B4-BE49-F238E27FC236}">
                  <a16:creationId xmlns:a16="http://schemas.microsoft.com/office/drawing/2014/main" id="{9F237375-A6E0-F0F6-59B1-F459CA46D0A2}"/>
                </a:ext>
              </a:extLst>
            </p:cNvPr>
            <p:cNvGrpSpPr>
              <a:grpSpLocks noChangeAspect="1"/>
            </p:cNvGrpSpPr>
            <p:nvPr/>
          </p:nvGrpSpPr>
          <p:grpSpPr>
            <a:xfrm>
              <a:off x="10121010" y="3387946"/>
              <a:ext cx="332846" cy="332846"/>
              <a:chOff x="6103281" y="1370067"/>
              <a:chExt cx="762000" cy="762000"/>
            </a:xfrm>
          </p:grpSpPr>
          <p:sp>
            <p:nvSpPr>
              <p:cNvPr id="596" name="POWER_USER_SHAPE_ICON_STYLE_2">
                <a:extLst>
                  <a:ext uri="{FF2B5EF4-FFF2-40B4-BE49-F238E27FC236}">
                    <a16:creationId xmlns:a16="http://schemas.microsoft.com/office/drawing/2014/main" id="{77D09FC4-5F5B-0313-FC09-4F117B7BFB11}"/>
                  </a:ext>
                </a:extLst>
              </p:cNvPr>
              <p:cNvSpPr/>
              <p:nvPr/>
            </p:nvSpPr>
            <p:spPr>
              <a:xfrm>
                <a:off x="6103281" y="1370067"/>
                <a:ext cx="762000" cy="762000"/>
              </a:xfrm>
              <a:prstGeom prst="ellipse">
                <a:avLst/>
              </a:prstGeom>
              <a:solidFill>
                <a:srgbClr val="00B05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597" name="Solar_panel2" descr="{&quot;Key&quot;:&quot;POWER_USER_SHAPE_ICON&quot;,&quot;Value&quot;:&quot;POWER_USER_SHAPE_ICON_STYLE_1&quot;}">
                <a:extLst>
                  <a:ext uri="{FF2B5EF4-FFF2-40B4-BE49-F238E27FC236}">
                    <a16:creationId xmlns:a16="http://schemas.microsoft.com/office/drawing/2014/main" id="{0AAA38E3-AEAE-80ED-5005-CA442AA0886D}"/>
                  </a:ext>
                </a:extLst>
              </p:cNvPr>
              <p:cNvSpPr>
                <a:spLocks noChangeAspect="1" noEditPoints="1"/>
              </p:cNvSpPr>
              <p:nvPr>
                <p:custDataLst>
                  <p:tags r:id="rId22"/>
                </p:custDataLst>
              </p:nvPr>
            </p:nvSpPr>
            <p:spPr bwMode="auto">
              <a:xfrm>
                <a:off x="6230281" y="1509627"/>
                <a:ext cx="508000" cy="482879"/>
              </a:xfrm>
              <a:custGeom>
                <a:avLst/>
                <a:gdLst>
                  <a:gd name="T0" fmla="*/ 399 w 759"/>
                  <a:gd name="T1" fmla="*/ 481 h 721"/>
                  <a:gd name="T2" fmla="*/ 367 w 759"/>
                  <a:gd name="T3" fmla="*/ 433 h 721"/>
                  <a:gd name="T4" fmla="*/ 447 w 759"/>
                  <a:gd name="T5" fmla="*/ 397 h 721"/>
                  <a:gd name="T6" fmla="*/ 415 w 759"/>
                  <a:gd name="T7" fmla="*/ 349 h 721"/>
                  <a:gd name="T8" fmla="*/ 447 w 759"/>
                  <a:gd name="T9" fmla="*/ 397 h 721"/>
                  <a:gd name="T10" fmla="*/ 287 w 759"/>
                  <a:gd name="T11" fmla="*/ 397 h 721"/>
                  <a:gd name="T12" fmla="*/ 375 w 759"/>
                  <a:gd name="T13" fmla="*/ 349 h 721"/>
                  <a:gd name="T14" fmla="*/ 267 w 759"/>
                  <a:gd name="T15" fmla="*/ 433 h 721"/>
                  <a:gd name="T16" fmla="*/ 298 w 759"/>
                  <a:gd name="T17" fmla="*/ 481 h 721"/>
                  <a:gd name="T18" fmla="*/ 267 w 759"/>
                  <a:gd name="T19" fmla="*/ 433 h 721"/>
                  <a:gd name="T20" fmla="*/ 499 w 759"/>
                  <a:gd name="T21" fmla="*/ 481 h 721"/>
                  <a:gd name="T22" fmla="*/ 467 w 759"/>
                  <a:gd name="T23" fmla="*/ 433 h 721"/>
                  <a:gd name="T24" fmla="*/ 547 w 759"/>
                  <a:gd name="T25" fmla="*/ 397 h 721"/>
                  <a:gd name="T26" fmla="*/ 516 w 759"/>
                  <a:gd name="T27" fmla="*/ 349 h 721"/>
                  <a:gd name="T28" fmla="*/ 547 w 759"/>
                  <a:gd name="T29" fmla="*/ 397 h 721"/>
                  <a:gd name="T30" fmla="*/ 624 w 759"/>
                  <a:gd name="T31" fmla="*/ 265 h 721"/>
                  <a:gd name="T32" fmla="*/ 536 w 759"/>
                  <a:gd name="T33" fmla="*/ 314 h 721"/>
                  <a:gd name="T34" fmla="*/ 495 w 759"/>
                  <a:gd name="T35" fmla="*/ 314 h 721"/>
                  <a:gd name="T36" fmla="*/ 464 w 759"/>
                  <a:gd name="T37" fmla="*/ 265 h 721"/>
                  <a:gd name="T38" fmla="*/ 495 w 759"/>
                  <a:gd name="T39" fmla="*/ 314 h 721"/>
                  <a:gd name="T40" fmla="*/ 336 w 759"/>
                  <a:gd name="T41" fmla="*/ 314 h 721"/>
                  <a:gd name="T42" fmla="*/ 423 w 759"/>
                  <a:gd name="T43" fmla="*/ 265 h 721"/>
                  <a:gd name="T44" fmla="*/ 246 w 759"/>
                  <a:gd name="T45" fmla="*/ 397 h 721"/>
                  <a:gd name="T46" fmla="*/ 215 w 759"/>
                  <a:gd name="T47" fmla="*/ 349 h 721"/>
                  <a:gd name="T48" fmla="*/ 246 w 759"/>
                  <a:gd name="T49" fmla="*/ 397 h 721"/>
                  <a:gd name="T50" fmla="*/ 198 w 759"/>
                  <a:gd name="T51" fmla="*/ 481 h 721"/>
                  <a:gd name="T52" fmla="*/ 166 w 759"/>
                  <a:gd name="T53" fmla="*/ 433 h 721"/>
                  <a:gd name="T54" fmla="*/ 295 w 759"/>
                  <a:gd name="T55" fmla="*/ 314 h 721"/>
                  <a:gd name="T56" fmla="*/ 263 w 759"/>
                  <a:gd name="T57" fmla="*/ 265 h 721"/>
                  <a:gd name="T58" fmla="*/ 295 w 759"/>
                  <a:gd name="T59" fmla="*/ 314 h 721"/>
                  <a:gd name="T60" fmla="*/ 241 w 759"/>
                  <a:gd name="T61" fmla="*/ 227 h 721"/>
                  <a:gd name="T62" fmla="*/ 521 w 759"/>
                  <a:gd name="T63" fmla="*/ 519 h 721"/>
                  <a:gd name="T64" fmla="*/ 228 w 759"/>
                  <a:gd name="T65" fmla="*/ 180 h 721"/>
                  <a:gd name="T66" fmla="*/ 228 w 759"/>
                  <a:gd name="T67" fmla="*/ 104 h 721"/>
                  <a:gd name="T68" fmla="*/ 159 w 759"/>
                  <a:gd name="T69" fmla="*/ 276 h 721"/>
                  <a:gd name="T70" fmla="*/ 228 w 759"/>
                  <a:gd name="T71" fmla="*/ 180 h 721"/>
                  <a:gd name="T72" fmla="*/ 114 w 759"/>
                  <a:gd name="T73" fmla="*/ 296 h 721"/>
                  <a:gd name="T74" fmla="*/ 52 w 759"/>
                  <a:gd name="T75" fmla="*/ 305 h 721"/>
                  <a:gd name="T76" fmla="*/ 91 w 759"/>
                  <a:gd name="T77" fmla="*/ 256 h 721"/>
                  <a:gd name="T78" fmla="*/ 24 w 759"/>
                  <a:gd name="T79" fmla="*/ 227 h 721"/>
                  <a:gd name="T80" fmla="*/ 24 w 759"/>
                  <a:gd name="T81" fmla="*/ 180 h 721"/>
                  <a:gd name="T82" fmla="*/ 90 w 759"/>
                  <a:gd name="T83" fmla="*/ 152 h 721"/>
                  <a:gd name="T84" fmla="*/ 52 w 759"/>
                  <a:gd name="T85" fmla="*/ 102 h 721"/>
                  <a:gd name="T86" fmla="*/ 114 w 759"/>
                  <a:gd name="T87" fmla="*/ 111 h 721"/>
                  <a:gd name="T88" fmla="*/ 105 w 759"/>
                  <a:gd name="T89" fmla="*/ 39 h 721"/>
                  <a:gd name="T90" fmla="*/ 146 w 759"/>
                  <a:gd name="T91" fmla="*/ 16 h 721"/>
                  <a:gd name="T92" fmla="*/ 204 w 759"/>
                  <a:gd name="T93" fmla="*/ 59 h 721"/>
                  <a:gd name="T94" fmla="*/ 228 w 759"/>
                  <a:gd name="T95" fmla="*/ 1 h 721"/>
                  <a:gd name="T96" fmla="*/ 251 w 759"/>
                  <a:gd name="T97" fmla="*/ 59 h 721"/>
                  <a:gd name="T98" fmla="*/ 309 w 759"/>
                  <a:gd name="T99" fmla="*/ 16 h 721"/>
                  <a:gd name="T100" fmla="*/ 350 w 759"/>
                  <a:gd name="T101" fmla="*/ 39 h 721"/>
                  <a:gd name="T102" fmla="*/ 341 w 759"/>
                  <a:gd name="T103" fmla="*/ 111 h 721"/>
                  <a:gd name="T104" fmla="*/ 403 w 759"/>
                  <a:gd name="T105" fmla="*/ 102 h 721"/>
                  <a:gd name="T106" fmla="*/ 365 w 759"/>
                  <a:gd name="T107" fmla="*/ 152 h 721"/>
                  <a:gd name="T108" fmla="*/ 730 w 759"/>
                  <a:gd name="T109" fmla="*/ 180 h 721"/>
                  <a:gd name="T110" fmla="*/ 555 w 759"/>
                  <a:gd name="T111" fmla="*/ 554 h 721"/>
                  <a:gd name="T112" fmla="*/ 416 w 759"/>
                  <a:gd name="T113" fmla="*/ 566 h 721"/>
                  <a:gd name="T114" fmla="*/ 632 w 759"/>
                  <a:gd name="T115" fmla="*/ 673 h 721"/>
                  <a:gd name="T116" fmla="*/ 632 w 759"/>
                  <a:gd name="T117" fmla="*/ 721 h 721"/>
                  <a:gd name="T118" fmla="*/ 106 w 759"/>
                  <a:gd name="T119" fmla="*/ 697 h 721"/>
                  <a:gd name="T120" fmla="*/ 346 w 759"/>
                  <a:gd name="T121" fmla="*/ 673 h 721"/>
                  <a:gd name="T122" fmla="*/ 32 w 759"/>
                  <a:gd name="T123" fmla="*/ 566 h 721"/>
                  <a:gd name="T124" fmla="*/ 135 w 759"/>
                  <a:gd name="T125" fmla="*/ 317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9" h="721">
                    <a:moveTo>
                      <a:pt x="339" y="481"/>
                    </a:moveTo>
                    <a:lnTo>
                      <a:pt x="399" y="481"/>
                    </a:lnTo>
                    <a:lnTo>
                      <a:pt x="427" y="433"/>
                    </a:lnTo>
                    <a:lnTo>
                      <a:pt x="367" y="433"/>
                    </a:lnTo>
                    <a:lnTo>
                      <a:pt x="339" y="481"/>
                    </a:lnTo>
                    <a:close/>
                    <a:moveTo>
                      <a:pt x="447" y="397"/>
                    </a:moveTo>
                    <a:lnTo>
                      <a:pt x="475" y="349"/>
                    </a:lnTo>
                    <a:lnTo>
                      <a:pt x="415" y="349"/>
                    </a:lnTo>
                    <a:lnTo>
                      <a:pt x="387" y="397"/>
                    </a:lnTo>
                    <a:lnTo>
                      <a:pt x="447" y="397"/>
                    </a:lnTo>
                    <a:close/>
                    <a:moveTo>
                      <a:pt x="315" y="349"/>
                    </a:moveTo>
                    <a:lnTo>
                      <a:pt x="287" y="397"/>
                    </a:lnTo>
                    <a:lnTo>
                      <a:pt x="347" y="397"/>
                    </a:lnTo>
                    <a:lnTo>
                      <a:pt x="375" y="349"/>
                    </a:lnTo>
                    <a:lnTo>
                      <a:pt x="315" y="349"/>
                    </a:lnTo>
                    <a:close/>
                    <a:moveTo>
                      <a:pt x="267" y="433"/>
                    </a:moveTo>
                    <a:lnTo>
                      <a:pt x="239" y="481"/>
                    </a:lnTo>
                    <a:lnTo>
                      <a:pt x="298" y="481"/>
                    </a:lnTo>
                    <a:lnTo>
                      <a:pt x="326" y="433"/>
                    </a:lnTo>
                    <a:lnTo>
                      <a:pt x="267" y="433"/>
                    </a:lnTo>
                    <a:close/>
                    <a:moveTo>
                      <a:pt x="439" y="481"/>
                    </a:moveTo>
                    <a:lnTo>
                      <a:pt x="499" y="481"/>
                    </a:lnTo>
                    <a:lnTo>
                      <a:pt x="527" y="433"/>
                    </a:lnTo>
                    <a:lnTo>
                      <a:pt x="467" y="433"/>
                    </a:lnTo>
                    <a:lnTo>
                      <a:pt x="439" y="481"/>
                    </a:lnTo>
                    <a:close/>
                    <a:moveTo>
                      <a:pt x="547" y="397"/>
                    </a:moveTo>
                    <a:lnTo>
                      <a:pt x="575" y="349"/>
                    </a:lnTo>
                    <a:lnTo>
                      <a:pt x="516" y="349"/>
                    </a:lnTo>
                    <a:lnTo>
                      <a:pt x="488" y="397"/>
                    </a:lnTo>
                    <a:lnTo>
                      <a:pt x="547" y="397"/>
                    </a:lnTo>
                    <a:close/>
                    <a:moveTo>
                      <a:pt x="596" y="314"/>
                    </a:moveTo>
                    <a:lnTo>
                      <a:pt x="624" y="265"/>
                    </a:lnTo>
                    <a:lnTo>
                      <a:pt x="564" y="265"/>
                    </a:lnTo>
                    <a:lnTo>
                      <a:pt x="536" y="314"/>
                    </a:lnTo>
                    <a:lnTo>
                      <a:pt x="596" y="314"/>
                    </a:lnTo>
                    <a:close/>
                    <a:moveTo>
                      <a:pt x="495" y="314"/>
                    </a:moveTo>
                    <a:lnTo>
                      <a:pt x="523" y="265"/>
                    </a:lnTo>
                    <a:lnTo>
                      <a:pt x="464" y="265"/>
                    </a:lnTo>
                    <a:lnTo>
                      <a:pt x="436" y="314"/>
                    </a:lnTo>
                    <a:lnTo>
                      <a:pt x="495" y="314"/>
                    </a:lnTo>
                    <a:close/>
                    <a:moveTo>
                      <a:pt x="363" y="265"/>
                    </a:moveTo>
                    <a:lnTo>
                      <a:pt x="336" y="314"/>
                    </a:lnTo>
                    <a:lnTo>
                      <a:pt x="395" y="314"/>
                    </a:lnTo>
                    <a:lnTo>
                      <a:pt x="423" y="265"/>
                    </a:lnTo>
                    <a:lnTo>
                      <a:pt x="363" y="265"/>
                    </a:lnTo>
                    <a:close/>
                    <a:moveTo>
                      <a:pt x="246" y="397"/>
                    </a:moveTo>
                    <a:lnTo>
                      <a:pt x="274" y="349"/>
                    </a:lnTo>
                    <a:lnTo>
                      <a:pt x="215" y="349"/>
                    </a:lnTo>
                    <a:lnTo>
                      <a:pt x="187" y="397"/>
                    </a:lnTo>
                    <a:lnTo>
                      <a:pt x="246" y="397"/>
                    </a:lnTo>
                    <a:close/>
                    <a:moveTo>
                      <a:pt x="138" y="481"/>
                    </a:moveTo>
                    <a:lnTo>
                      <a:pt x="198" y="481"/>
                    </a:lnTo>
                    <a:lnTo>
                      <a:pt x="226" y="433"/>
                    </a:lnTo>
                    <a:lnTo>
                      <a:pt x="166" y="433"/>
                    </a:lnTo>
                    <a:lnTo>
                      <a:pt x="138" y="481"/>
                    </a:lnTo>
                    <a:close/>
                    <a:moveTo>
                      <a:pt x="295" y="314"/>
                    </a:moveTo>
                    <a:lnTo>
                      <a:pt x="323" y="265"/>
                    </a:lnTo>
                    <a:lnTo>
                      <a:pt x="263" y="265"/>
                    </a:lnTo>
                    <a:lnTo>
                      <a:pt x="235" y="314"/>
                    </a:lnTo>
                    <a:lnTo>
                      <a:pt x="295" y="314"/>
                    </a:lnTo>
                    <a:close/>
                    <a:moveTo>
                      <a:pt x="689" y="227"/>
                    </a:moveTo>
                    <a:lnTo>
                      <a:pt x="241" y="227"/>
                    </a:lnTo>
                    <a:lnTo>
                      <a:pt x="73" y="519"/>
                    </a:lnTo>
                    <a:lnTo>
                      <a:pt x="521" y="519"/>
                    </a:lnTo>
                    <a:lnTo>
                      <a:pt x="689" y="227"/>
                    </a:lnTo>
                    <a:close/>
                    <a:moveTo>
                      <a:pt x="228" y="180"/>
                    </a:moveTo>
                    <a:lnTo>
                      <a:pt x="324" y="180"/>
                    </a:lnTo>
                    <a:cubicBezTo>
                      <a:pt x="313" y="136"/>
                      <a:pt x="273" y="104"/>
                      <a:pt x="228" y="104"/>
                    </a:cubicBezTo>
                    <a:cubicBezTo>
                      <a:pt x="173" y="104"/>
                      <a:pt x="128" y="149"/>
                      <a:pt x="128" y="204"/>
                    </a:cubicBezTo>
                    <a:cubicBezTo>
                      <a:pt x="128" y="231"/>
                      <a:pt x="139" y="257"/>
                      <a:pt x="159" y="276"/>
                    </a:cubicBezTo>
                    <a:lnTo>
                      <a:pt x="207" y="192"/>
                    </a:lnTo>
                    <a:cubicBezTo>
                      <a:pt x="212" y="184"/>
                      <a:pt x="220" y="180"/>
                      <a:pt x="228" y="180"/>
                    </a:cubicBezTo>
                    <a:close/>
                    <a:moveTo>
                      <a:pt x="135" y="317"/>
                    </a:moveTo>
                    <a:cubicBezTo>
                      <a:pt x="127" y="311"/>
                      <a:pt x="120" y="304"/>
                      <a:pt x="114" y="296"/>
                    </a:cubicBezTo>
                    <a:lnTo>
                      <a:pt x="84" y="314"/>
                    </a:lnTo>
                    <a:cubicBezTo>
                      <a:pt x="73" y="320"/>
                      <a:pt x="59" y="316"/>
                      <a:pt x="52" y="305"/>
                    </a:cubicBezTo>
                    <a:cubicBezTo>
                      <a:pt x="46" y="294"/>
                      <a:pt x="49" y="280"/>
                      <a:pt x="61" y="273"/>
                    </a:cubicBezTo>
                    <a:lnTo>
                      <a:pt x="91" y="256"/>
                    </a:lnTo>
                    <a:cubicBezTo>
                      <a:pt x="87" y="247"/>
                      <a:pt x="85" y="237"/>
                      <a:pt x="83" y="227"/>
                    </a:cubicBezTo>
                    <a:lnTo>
                      <a:pt x="24" y="227"/>
                    </a:lnTo>
                    <a:cubicBezTo>
                      <a:pt x="11" y="227"/>
                      <a:pt x="0" y="217"/>
                      <a:pt x="0" y="204"/>
                    </a:cubicBezTo>
                    <a:cubicBezTo>
                      <a:pt x="0" y="191"/>
                      <a:pt x="11" y="180"/>
                      <a:pt x="24" y="180"/>
                    </a:cubicBezTo>
                    <a:lnTo>
                      <a:pt x="83" y="180"/>
                    </a:lnTo>
                    <a:cubicBezTo>
                      <a:pt x="84" y="170"/>
                      <a:pt x="87" y="161"/>
                      <a:pt x="90" y="152"/>
                    </a:cubicBezTo>
                    <a:lnTo>
                      <a:pt x="61" y="135"/>
                    </a:lnTo>
                    <a:cubicBezTo>
                      <a:pt x="49" y="128"/>
                      <a:pt x="46" y="114"/>
                      <a:pt x="52" y="102"/>
                    </a:cubicBezTo>
                    <a:cubicBezTo>
                      <a:pt x="59" y="91"/>
                      <a:pt x="73" y="87"/>
                      <a:pt x="84" y="94"/>
                    </a:cubicBezTo>
                    <a:lnTo>
                      <a:pt x="114" y="111"/>
                    </a:lnTo>
                    <a:cubicBezTo>
                      <a:pt x="120" y="103"/>
                      <a:pt x="127" y="96"/>
                      <a:pt x="135" y="90"/>
                    </a:cubicBezTo>
                    <a:lnTo>
                      <a:pt x="105" y="39"/>
                    </a:lnTo>
                    <a:cubicBezTo>
                      <a:pt x="99" y="28"/>
                      <a:pt x="103" y="13"/>
                      <a:pt x="114" y="7"/>
                    </a:cubicBezTo>
                    <a:cubicBezTo>
                      <a:pt x="125" y="1"/>
                      <a:pt x="140" y="4"/>
                      <a:pt x="146" y="16"/>
                    </a:cubicBezTo>
                    <a:lnTo>
                      <a:pt x="176" y="67"/>
                    </a:lnTo>
                    <a:cubicBezTo>
                      <a:pt x="185" y="63"/>
                      <a:pt x="194" y="61"/>
                      <a:pt x="204" y="59"/>
                    </a:cubicBezTo>
                    <a:lnTo>
                      <a:pt x="204" y="25"/>
                    </a:lnTo>
                    <a:cubicBezTo>
                      <a:pt x="204" y="12"/>
                      <a:pt x="215" y="1"/>
                      <a:pt x="228" y="1"/>
                    </a:cubicBezTo>
                    <a:cubicBezTo>
                      <a:pt x="241" y="1"/>
                      <a:pt x="251" y="12"/>
                      <a:pt x="251" y="25"/>
                    </a:cubicBezTo>
                    <a:lnTo>
                      <a:pt x="251" y="59"/>
                    </a:lnTo>
                    <a:cubicBezTo>
                      <a:pt x="261" y="61"/>
                      <a:pt x="271" y="63"/>
                      <a:pt x="280" y="67"/>
                    </a:cubicBezTo>
                    <a:lnTo>
                      <a:pt x="309" y="16"/>
                    </a:lnTo>
                    <a:cubicBezTo>
                      <a:pt x="316" y="4"/>
                      <a:pt x="330" y="0"/>
                      <a:pt x="341" y="7"/>
                    </a:cubicBezTo>
                    <a:cubicBezTo>
                      <a:pt x="353" y="13"/>
                      <a:pt x="356" y="28"/>
                      <a:pt x="350" y="39"/>
                    </a:cubicBezTo>
                    <a:lnTo>
                      <a:pt x="320" y="90"/>
                    </a:lnTo>
                    <a:cubicBezTo>
                      <a:pt x="328" y="96"/>
                      <a:pt x="335" y="103"/>
                      <a:pt x="341" y="111"/>
                    </a:cubicBezTo>
                    <a:lnTo>
                      <a:pt x="371" y="94"/>
                    </a:lnTo>
                    <a:cubicBezTo>
                      <a:pt x="382" y="87"/>
                      <a:pt x="397" y="91"/>
                      <a:pt x="403" y="102"/>
                    </a:cubicBezTo>
                    <a:cubicBezTo>
                      <a:pt x="410" y="114"/>
                      <a:pt x="406" y="128"/>
                      <a:pt x="395" y="135"/>
                    </a:cubicBezTo>
                    <a:lnTo>
                      <a:pt x="365" y="152"/>
                    </a:lnTo>
                    <a:cubicBezTo>
                      <a:pt x="368" y="161"/>
                      <a:pt x="371" y="170"/>
                      <a:pt x="372" y="180"/>
                    </a:cubicBezTo>
                    <a:lnTo>
                      <a:pt x="730" y="180"/>
                    </a:lnTo>
                    <a:cubicBezTo>
                      <a:pt x="749" y="180"/>
                      <a:pt x="759" y="201"/>
                      <a:pt x="750" y="217"/>
                    </a:cubicBezTo>
                    <a:lnTo>
                      <a:pt x="555" y="554"/>
                    </a:lnTo>
                    <a:cubicBezTo>
                      <a:pt x="550" y="562"/>
                      <a:pt x="542" y="566"/>
                      <a:pt x="533" y="566"/>
                    </a:cubicBezTo>
                    <a:lnTo>
                      <a:pt x="416" y="566"/>
                    </a:lnTo>
                    <a:lnTo>
                      <a:pt x="416" y="673"/>
                    </a:lnTo>
                    <a:lnTo>
                      <a:pt x="632" y="673"/>
                    </a:lnTo>
                    <a:cubicBezTo>
                      <a:pt x="645" y="673"/>
                      <a:pt x="656" y="684"/>
                      <a:pt x="656" y="697"/>
                    </a:cubicBezTo>
                    <a:cubicBezTo>
                      <a:pt x="656" y="710"/>
                      <a:pt x="645" y="721"/>
                      <a:pt x="632" y="721"/>
                    </a:cubicBezTo>
                    <a:lnTo>
                      <a:pt x="130" y="721"/>
                    </a:lnTo>
                    <a:cubicBezTo>
                      <a:pt x="117" y="721"/>
                      <a:pt x="106" y="710"/>
                      <a:pt x="106" y="697"/>
                    </a:cubicBezTo>
                    <a:cubicBezTo>
                      <a:pt x="106" y="684"/>
                      <a:pt x="117" y="673"/>
                      <a:pt x="130" y="673"/>
                    </a:cubicBezTo>
                    <a:lnTo>
                      <a:pt x="346" y="673"/>
                    </a:lnTo>
                    <a:lnTo>
                      <a:pt x="346" y="566"/>
                    </a:lnTo>
                    <a:lnTo>
                      <a:pt x="32" y="566"/>
                    </a:lnTo>
                    <a:cubicBezTo>
                      <a:pt x="14" y="566"/>
                      <a:pt x="3" y="546"/>
                      <a:pt x="12" y="531"/>
                    </a:cubicBezTo>
                    <a:lnTo>
                      <a:pt x="135" y="317"/>
                    </a:lnTo>
                    <a:lnTo>
                      <a:pt x="135" y="317"/>
                    </a:ln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sp>
          <p:nvSpPr>
            <p:cNvPr id="598" name="Rechteck 597">
              <a:extLst>
                <a:ext uri="{FF2B5EF4-FFF2-40B4-BE49-F238E27FC236}">
                  <a16:creationId xmlns:a16="http://schemas.microsoft.com/office/drawing/2014/main" id="{59775527-72B0-C40A-8F3A-90B89CF8E252}"/>
                </a:ext>
              </a:extLst>
            </p:cNvPr>
            <p:cNvSpPr/>
            <p:nvPr/>
          </p:nvSpPr>
          <p:spPr bwMode="auto">
            <a:xfrm>
              <a:off x="9276927" y="4522346"/>
              <a:ext cx="943409" cy="415498"/>
            </a:xfrm>
            <a:prstGeom prst="rect">
              <a:avLst/>
            </a:prstGeom>
          </p:spPr>
          <p:txBody>
            <a:bodyPr wrap="square">
              <a:spAutoFit/>
            </a:bodyPr>
            <a:lstStyle/>
            <a:p>
              <a:pPr algn="r" defTabSz="685754">
                <a:defRPr/>
              </a:pPr>
              <a:r>
                <a:rPr lang="de-DE" sz="1050" noProof="1">
                  <a:solidFill>
                    <a:srgbClr val="0070C0"/>
                  </a:solidFill>
                  <a:latin typeface="Bahnschrift" panose="020B0502040204020203" pitchFamily="34" charset="0"/>
                </a:rPr>
                <a:t>EMIM</a:t>
              </a:r>
            </a:p>
            <a:p>
              <a:pPr defTabSz="685754">
                <a:defRPr/>
              </a:pPr>
              <a:endParaRPr lang="de-DE" sz="1050" noProof="1">
                <a:solidFill>
                  <a:srgbClr val="0070C0"/>
                </a:solidFill>
                <a:latin typeface="Bahnschrift" panose="020B0502040204020203" pitchFamily="34" charset="0"/>
              </a:endParaRPr>
            </a:p>
          </p:txBody>
        </p:sp>
        <p:sp>
          <p:nvSpPr>
            <p:cNvPr id="599" name="Rechteck 598">
              <a:extLst>
                <a:ext uri="{FF2B5EF4-FFF2-40B4-BE49-F238E27FC236}">
                  <a16:creationId xmlns:a16="http://schemas.microsoft.com/office/drawing/2014/main" id="{C76F963B-337A-E5E0-DD1F-3C1347E7D5DE}"/>
                </a:ext>
              </a:extLst>
            </p:cNvPr>
            <p:cNvSpPr/>
            <p:nvPr/>
          </p:nvSpPr>
          <p:spPr bwMode="auto">
            <a:xfrm>
              <a:off x="9326044" y="3360427"/>
              <a:ext cx="1764865" cy="2087356"/>
            </a:xfrm>
            <a:prstGeom prst="rect">
              <a:avLst/>
            </a:prstGeom>
            <a:noFill/>
            <a:ln w="28575" cap="flat" cmpd="sng" algn="ctr">
              <a:solidFill>
                <a:srgbClr val="F59C00"/>
              </a:solidFill>
              <a:prstDash val="sysDot"/>
              <a:miter lim="800000"/>
            </a:ln>
            <a:effectLst/>
          </p:spPr>
          <p:txBody>
            <a:bodyPr rtlCol="0" anchor="ctr"/>
            <a:lstStyle/>
            <a:p>
              <a:pPr algn="ctr" defTabSz="685754">
                <a:defRPr/>
              </a:pPr>
              <a:endParaRPr lang="de-DE" sz="1200" kern="0" noProof="1">
                <a:solidFill>
                  <a:prstClr val="white"/>
                </a:solidFill>
                <a:latin typeface="Calibri" panose="020F0502020204030204"/>
              </a:endParaRPr>
            </a:p>
          </p:txBody>
        </p:sp>
        <p:grpSp>
          <p:nvGrpSpPr>
            <p:cNvPr id="600" name="Gruppieren 599" descr="{&quot;Key&quot;:&quot;POWER_USER_SHAPE_ICON&quot;,&quot;Value&quot;:&quot;POWER_USER_SHAPE_ICON_STYLE_2&quot;}">
              <a:extLst>
                <a:ext uri="{FF2B5EF4-FFF2-40B4-BE49-F238E27FC236}">
                  <a16:creationId xmlns:a16="http://schemas.microsoft.com/office/drawing/2014/main" id="{2CEA22B1-33EB-02A9-3657-6F6192FAE919}"/>
                </a:ext>
              </a:extLst>
            </p:cNvPr>
            <p:cNvGrpSpPr>
              <a:grpSpLocks noChangeAspect="1"/>
            </p:cNvGrpSpPr>
            <p:nvPr/>
          </p:nvGrpSpPr>
          <p:grpSpPr>
            <a:xfrm>
              <a:off x="10211099" y="4506482"/>
              <a:ext cx="283747" cy="283747"/>
              <a:chOff x="-127000" y="2976049"/>
              <a:chExt cx="762000" cy="762000"/>
            </a:xfrm>
          </p:grpSpPr>
          <p:sp>
            <p:nvSpPr>
              <p:cNvPr id="601" name="POWER_USER_SHAPE_ICON_STYLE_2">
                <a:extLst>
                  <a:ext uri="{FF2B5EF4-FFF2-40B4-BE49-F238E27FC236}">
                    <a16:creationId xmlns:a16="http://schemas.microsoft.com/office/drawing/2014/main" id="{3545262C-6B23-9CB3-5EA3-ED682F19DD43}"/>
                  </a:ext>
                </a:extLst>
              </p:cNvPr>
              <p:cNvSpPr/>
              <p:nvPr/>
            </p:nvSpPr>
            <p:spPr>
              <a:xfrm>
                <a:off x="-127000" y="2976049"/>
                <a:ext cx="762000" cy="762000"/>
              </a:xfrm>
              <a:prstGeom prst="ellipse">
                <a:avLst/>
              </a:prstGeom>
              <a:solidFill>
                <a:srgbClr val="FFFFFF">
                  <a:lumMod val="65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602" name="Scooter" descr="{&quot;Key&quot;:&quot;POWER_USER_SHAPE_ICON&quot;,&quot;Value&quot;:&quot;POWER_USER_SHAPE_ICON_STYLE_1&quot;}">
                <a:extLst>
                  <a:ext uri="{FF2B5EF4-FFF2-40B4-BE49-F238E27FC236}">
                    <a16:creationId xmlns:a16="http://schemas.microsoft.com/office/drawing/2014/main" id="{439A5226-A791-B622-6D97-570C4AB79035}"/>
                  </a:ext>
                </a:extLst>
              </p:cNvPr>
              <p:cNvSpPr>
                <a:spLocks noChangeAspect="1" noEditPoints="1"/>
              </p:cNvSpPr>
              <p:nvPr>
                <p:custDataLst>
                  <p:tags r:id="rId21"/>
                </p:custDataLst>
              </p:nvPr>
            </p:nvSpPr>
            <p:spPr bwMode="auto">
              <a:xfrm>
                <a:off x="0" y="3157538"/>
                <a:ext cx="508000" cy="399021"/>
              </a:xfrm>
              <a:custGeom>
                <a:avLst/>
                <a:gdLst>
                  <a:gd name="T0" fmla="*/ 602 w 829"/>
                  <a:gd name="T1" fmla="*/ 522 h 650"/>
                  <a:gd name="T2" fmla="*/ 649 w 829"/>
                  <a:gd name="T3" fmla="*/ 462 h 650"/>
                  <a:gd name="T4" fmla="*/ 726 w 829"/>
                  <a:gd name="T5" fmla="*/ 522 h 650"/>
                  <a:gd name="T6" fmla="*/ 397 w 829"/>
                  <a:gd name="T7" fmla="*/ 484 h 650"/>
                  <a:gd name="T8" fmla="*/ 281 w 829"/>
                  <a:gd name="T9" fmla="*/ 367 h 650"/>
                  <a:gd name="T10" fmla="*/ 406 w 829"/>
                  <a:gd name="T11" fmla="*/ 484 h 650"/>
                  <a:gd name="T12" fmla="*/ 200 w 829"/>
                  <a:gd name="T13" fmla="*/ 584 h 650"/>
                  <a:gd name="T14" fmla="*/ 255 w 829"/>
                  <a:gd name="T15" fmla="*/ 550 h 650"/>
                  <a:gd name="T16" fmla="*/ 688 w 829"/>
                  <a:gd name="T17" fmla="*/ 345 h 650"/>
                  <a:gd name="T18" fmla="*/ 417 w 829"/>
                  <a:gd name="T19" fmla="*/ 0 h 650"/>
                  <a:gd name="T20" fmla="*/ 332 w 829"/>
                  <a:gd name="T21" fmla="*/ 34 h 650"/>
                  <a:gd name="T22" fmla="*/ 407 w 829"/>
                  <a:gd name="T23" fmla="*/ 67 h 650"/>
                  <a:gd name="T24" fmla="*/ 528 w 829"/>
                  <a:gd name="T25" fmla="*/ 430 h 650"/>
                  <a:gd name="T26" fmla="*/ 398 w 829"/>
                  <a:gd name="T27" fmla="*/ 274 h 650"/>
                  <a:gd name="T28" fmla="*/ 64 w 829"/>
                  <a:gd name="T29" fmla="*/ 307 h 650"/>
                  <a:gd name="T30" fmla="*/ 139 w 829"/>
                  <a:gd name="T31" fmla="*/ 341 h 650"/>
                  <a:gd name="T32" fmla="*/ 1 w 829"/>
                  <a:gd name="T33" fmla="*/ 511 h 650"/>
                  <a:gd name="T34" fmla="*/ 0 w 829"/>
                  <a:gd name="T35" fmla="*/ 518 h 650"/>
                  <a:gd name="T36" fmla="*/ 1 w 829"/>
                  <a:gd name="T37" fmla="*/ 526 h 650"/>
                  <a:gd name="T38" fmla="*/ 5 w 829"/>
                  <a:gd name="T39" fmla="*/ 533 h 650"/>
                  <a:gd name="T40" fmla="*/ 6 w 829"/>
                  <a:gd name="T41" fmla="*/ 536 h 650"/>
                  <a:gd name="T42" fmla="*/ 9 w 829"/>
                  <a:gd name="T43" fmla="*/ 540 h 650"/>
                  <a:gd name="T44" fmla="*/ 16 w 829"/>
                  <a:gd name="T45" fmla="*/ 545 h 650"/>
                  <a:gd name="T46" fmla="*/ 23 w 829"/>
                  <a:gd name="T47" fmla="*/ 548 h 650"/>
                  <a:gd name="T48" fmla="*/ 33 w 829"/>
                  <a:gd name="T49" fmla="*/ 550 h 650"/>
                  <a:gd name="T50" fmla="*/ 200 w 829"/>
                  <a:gd name="T51" fmla="*/ 650 h 650"/>
                  <a:gd name="T52" fmla="*/ 440 w 829"/>
                  <a:gd name="T53" fmla="*/ 550 h 650"/>
                  <a:gd name="T54" fmla="*/ 440 w 829"/>
                  <a:gd name="T55" fmla="*/ 550 h 650"/>
                  <a:gd name="T56" fmla="*/ 506 w 829"/>
                  <a:gd name="T57" fmla="*/ 550 h 650"/>
                  <a:gd name="T58" fmla="*/ 537 w 829"/>
                  <a:gd name="T59" fmla="*/ 536 h 650"/>
                  <a:gd name="T60" fmla="*/ 793 w 829"/>
                  <a:gd name="T61" fmla="*/ 522 h 650"/>
                  <a:gd name="T62" fmla="*/ 800 w 829"/>
                  <a:gd name="T63" fmla="*/ 516 h 650"/>
                  <a:gd name="T64" fmla="*/ 688 w 829"/>
                  <a:gd name="T65" fmla="*/ 345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29" h="650">
                    <a:moveTo>
                      <a:pt x="664" y="584"/>
                    </a:moveTo>
                    <a:cubicBezTo>
                      <a:pt x="630" y="584"/>
                      <a:pt x="602" y="556"/>
                      <a:pt x="602" y="522"/>
                    </a:cubicBezTo>
                    <a:cubicBezTo>
                      <a:pt x="602" y="508"/>
                      <a:pt x="607" y="495"/>
                      <a:pt x="615" y="484"/>
                    </a:cubicBezTo>
                    <a:lnTo>
                      <a:pt x="649" y="462"/>
                    </a:lnTo>
                    <a:cubicBezTo>
                      <a:pt x="654" y="461"/>
                      <a:pt x="659" y="460"/>
                      <a:pt x="664" y="460"/>
                    </a:cubicBezTo>
                    <a:cubicBezTo>
                      <a:pt x="698" y="460"/>
                      <a:pt x="726" y="488"/>
                      <a:pt x="726" y="522"/>
                    </a:cubicBezTo>
                    <a:cubicBezTo>
                      <a:pt x="726" y="556"/>
                      <a:pt x="698" y="584"/>
                      <a:pt x="664" y="584"/>
                    </a:cubicBezTo>
                    <a:close/>
                    <a:moveTo>
                      <a:pt x="397" y="484"/>
                    </a:moveTo>
                    <a:lnTo>
                      <a:pt x="90" y="484"/>
                    </a:lnTo>
                    <a:cubicBezTo>
                      <a:pt x="122" y="436"/>
                      <a:pt x="185" y="367"/>
                      <a:pt x="281" y="367"/>
                    </a:cubicBezTo>
                    <a:cubicBezTo>
                      <a:pt x="320" y="367"/>
                      <a:pt x="350" y="378"/>
                      <a:pt x="371" y="400"/>
                    </a:cubicBezTo>
                    <a:cubicBezTo>
                      <a:pt x="394" y="425"/>
                      <a:pt x="402" y="459"/>
                      <a:pt x="406" y="484"/>
                    </a:cubicBezTo>
                    <a:lnTo>
                      <a:pt x="397" y="484"/>
                    </a:lnTo>
                    <a:close/>
                    <a:moveTo>
                      <a:pt x="200" y="584"/>
                    </a:moveTo>
                    <a:cubicBezTo>
                      <a:pt x="176" y="584"/>
                      <a:pt x="156" y="570"/>
                      <a:pt x="145" y="550"/>
                    </a:cubicBezTo>
                    <a:lnTo>
                      <a:pt x="255" y="550"/>
                    </a:lnTo>
                    <a:cubicBezTo>
                      <a:pt x="244" y="570"/>
                      <a:pt x="224" y="584"/>
                      <a:pt x="200" y="584"/>
                    </a:cubicBezTo>
                    <a:close/>
                    <a:moveTo>
                      <a:pt x="688" y="345"/>
                    </a:moveTo>
                    <a:cubicBezTo>
                      <a:pt x="692" y="276"/>
                      <a:pt x="664" y="143"/>
                      <a:pt x="434" y="5"/>
                    </a:cubicBezTo>
                    <a:cubicBezTo>
                      <a:pt x="429" y="2"/>
                      <a:pt x="423" y="0"/>
                      <a:pt x="417" y="0"/>
                    </a:cubicBezTo>
                    <a:lnTo>
                      <a:pt x="365" y="0"/>
                    </a:lnTo>
                    <a:cubicBezTo>
                      <a:pt x="346" y="0"/>
                      <a:pt x="332" y="15"/>
                      <a:pt x="332" y="34"/>
                    </a:cubicBezTo>
                    <a:cubicBezTo>
                      <a:pt x="332" y="52"/>
                      <a:pt x="346" y="67"/>
                      <a:pt x="365" y="67"/>
                    </a:cubicBezTo>
                    <a:lnTo>
                      <a:pt x="407" y="67"/>
                    </a:lnTo>
                    <a:cubicBezTo>
                      <a:pt x="591" y="179"/>
                      <a:pt x="637" y="293"/>
                      <a:pt x="618" y="362"/>
                    </a:cubicBezTo>
                    <a:cubicBezTo>
                      <a:pt x="606" y="403"/>
                      <a:pt x="571" y="430"/>
                      <a:pt x="528" y="430"/>
                    </a:cubicBezTo>
                    <a:cubicBezTo>
                      <a:pt x="441" y="430"/>
                      <a:pt x="431" y="310"/>
                      <a:pt x="431" y="305"/>
                    </a:cubicBezTo>
                    <a:cubicBezTo>
                      <a:pt x="430" y="288"/>
                      <a:pt x="415" y="274"/>
                      <a:pt x="398" y="274"/>
                    </a:cubicBezTo>
                    <a:lnTo>
                      <a:pt x="98" y="274"/>
                    </a:lnTo>
                    <a:cubicBezTo>
                      <a:pt x="79" y="274"/>
                      <a:pt x="64" y="289"/>
                      <a:pt x="64" y="307"/>
                    </a:cubicBezTo>
                    <a:cubicBezTo>
                      <a:pt x="64" y="326"/>
                      <a:pt x="79" y="341"/>
                      <a:pt x="98" y="341"/>
                    </a:cubicBezTo>
                    <a:lnTo>
                      <a:pt x="139" y="341"/>
                    </a:lnTo>
                    <a:cubicBezTo>
                      <a:pt x="56" y="380"/>
                      <a:pt x="14" y="460"/>
                      <a:pt x="1" y="509"/>
                    </a:cubicBezTo>
                    <a:cubicBezTo>
                      <a:pt x="1" y="509"/>
                      <a:pt x="1" y="510"/>
                      <a:pt x="1" y="511"/>
                    </a:cubicBezTo>
                    <a:cubicBezTo>
                      <a:pt x="1" y="512"/>
                      <a:pt x="0" y="513"/>
                      <a:pt x="0" y="514"/>
                    </a:cubicBezTo>
                    <a:cubicBezTo>
                      <a:pt x="0" y="516"/>
                      <a:pt x="0" y="517"/>
                      <a:pt x="0" y="518"/>
                    </a:cubicBezTo>
                    <a:cubicBezTo>
                      <a:pt x="0" y="520"/>
                      <a:pt x="0" y="521"/>
                      <a:pt x="1" y="522"/>
                    </a:cubicBezTo>
                    <a:cubicBezTo>
                      <a:pt x="1" y="523"/>
                      <a:pt x="1" y="525"/>
                      <a:pt x="1" y="526"/>
                    </a:cubicBezTo>
                    <a:cubicBezTo>
                      <a:pt x="2" y="527"/>
                      <a:pt x="2" y="528"/>
                      <a:pt x="3" y="529"/>
                    </a:cubicBezTo>
                    <a:cubicBezTo>
                      <a:pt x="3" y="531"/>
                      <a:pt x="4" y="532"/>
                      <a:pt x="5" y="533"/>
                    </a:cubicBezTo>
                    <a:cubicBezTo>
                      <a:pt x="5" y="534"/>
                      <a:pt x="5" y="535"/>
                      <a:pt x="6" y="536"/>
                    </a:cubicBezTo>
                    <a:cubicBezTo>
                      <a:pt x="6" y="536"/>
                      <a:pt x="6" y="536"/>
                      <a:pt x="6" y="536"/>
                    </a:cubicBezTo>
                    <a:cubicBezTo>
                      <a:pt x="7" y="537"/>
                      <a:pt x="7" y="537"/>
                      <a:pt x="7" y="537"/>
                    </a:cubicBezTo>
                    <a:cubicBezTo>
                      <a:pt x="8" y="538"/>
                      <a:pt x="9" y="539"/>
                      <a:pt x="9" y="540"/>
                    </a:cubicBezTo>
                    <a:cubicBezTo>
                      <a:pt x="10" y="541"/>
                      <a:pt x="11" y="541"/>
                      <a:pt x="12" y="542"/>
                    </a:cubicBezTo>
                    <a:cubicBezTo>
                      <a:pt x="13" y="543"/>
                      <a:pt x="14" y="544"/>
                      <a:pt x="16" y="545"/>
                    </a:cubicBezTo>
                    <a:cubicBezTo>
                      <a:pt x="16" y="545"/>
                      <a:pt x="17" y="546"/>
                      <a:pt x="18" y="547"/>
                    </a:cubicBezTo>
                    <a:cubicBezTo>
                      <a:pt x="20" y="547"/>
                      <a:pt x="21" y="548"/>
                      <a:pt x="23" y="548"/>
                    </a:cubicBezTo>
                    <a:cubicBezTo>
                      <a:pt x="24" y="549"/>
                      <a:pt x="25" y="549"/>
                      <a:pt x="25" y="549"/>
                    </a:cubicBezTo>
                    <a:cubicBezTo>
                      <a:pt x="28" y="550"/>
                      <a:pt x="31" y="550"/>
                      <a:pt x="33" y="550"/>
                    </a:cubicBezTo>
                    <a:lnTo>
                      <a:pt x="75" y="550"/>
                    </a:lnTo>
                    <a:cubicBezTo>
                      <a:pt x="88" y="608"/>
                      <a:pt x="139" y="650"/>
                      <a:pt x="200" y="650"/>
                    </a:cubicBezTo>
                    <a:cubicBezTo>
                      <a:pt x="261" y="650"/>
                      <a:pt x="312" y="608"/>
                      <a:pt x="325" y="550"/>
                    </a:cubicBezTo>
                    <a:lnTo>
                      <a:pt x="440" y="550"/>
                    </a:lnTo>
                    <a:lnTo>
                      <a:pt x="440" y="550"/>
                    </a:lnTo>
                    <a:lnTo>
                      <a:pt x="440" y="550"/>
                    </a:lnTo>
                    <a:lnTo>
                      <a:pt x="441" y="550"/>
                    </a:lnTo>
                    <a:lnTo>
                      <a:pt x="506" y="550"/>
                    </a:lnTo>
                    <a:cubicBezTo>
                      <a:pt x="512" y="550"/>
                      <a:pt x="519" y="548"/>
                      <a:pt x="524" y="545"/>
                    </a:cubicBezTo>
                    <a:lnTo>
                      <a:pt x="537" y="536"/>
                    </a:lnTo>
                    <a:cubicBezTo>
                      <a:pt x="544" y="601"/>
                      <a:pt x="598" y="650"/>
                      <a:pt x="664" y="650"/>
                    </a:cubicBezTo>
                    <a:cubicBezTo>
                      <a:pt x="735" y="650"/>
                      <a:pt x="793" y="593"/>
                      <a:pt x="793" y="522"/>
                    </a:cubicBezTo>
                    <a:cubicBezTo>
                      <a:pt x="793" y="520"/>
                      <a:pt x="793" y="519"/>
                      <a:pt x="793" y="517"/>
                    </a:cubicBezTo>
                    <a:cubicBezTo>
                      <a:pt x="795" y="517"/>
                      <a:pt x="798" y="517"/>
                      <a:pt x="800" y="516"/>
                    </a:cubicBezTo>
                    <a:cubicBezTo>
                      <a:pt x="818" y="511"/>
                      <a:pt x="829" y="493"/>
                      <a:pt x="824" y="475"/>
                    </a:cubicBezTo>
                    <a:cubicBezTo>
                      <a:pt x="801" y="388"/>
                      <a:pt x="728" y="356"/>
                      <a:pt x="688" y="345"/>
                    </a:cubicBezTo>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603" name="Gruppieren 602" descr="{&quot;Key&quot;:&quot;POWER_USER_SHAPE_ICON&quot;,&quot;Value&quot;:&quot;POWER_USER_SHAPE_ICON_STYLE_2&quot;}">
              <a:extLst>
                <a:ext uri="{FF2B5EF4-FFF2-40B4-BE49-F238E27FC236}">
                  <a16:creationId xmlns:a16="http://schemas.microsoft.com/office/drawing/2014/main" id="{C152C20D-33DD-05CF-B2E6-B369054455D6}"/>
                </a:ext>
              </a:extLst>
            </p:cNvPr>
            <p:cNvGrpSpPr>
              <a:grpSpLocks noChangeAspect="1"/>
            </p:cNvGrpSpPr>
            <p:nvPr/>
          </p:nvGrpSpPr>
          <p:grpSpPr>
            <a:xfrm>
              <a:off x="10685539" y="4505279"/>
              <a:ext cx="306630" cy="306630"/>
              <a:chOff x="-127000" y="2990387"/>
              <a:chExt cx="762000" cy="762000"/>
            </a:xfrm>
          </p:grpSpPr>
          <p:sp>
            <p:nvSpPr>
              <p:cNvPr id="604" name="POWER_USER_SHAPE_ICON_STYLE_2">
                <a:extLst>
                  <a:ext uri="{FF2B5EF4-FFF2-40B4-BE49-F238E27FC236}">
                    <a16:creationId xmlns:a16="http://schemas.microsoft.com/office/drawing/2014/main" id="{4A11384B-61F7-CB77-405E-A7FD688ED344}"/>
                  </a:ext>
                </a:extLst>
              </p:cNvPr>
              <p:cNvSpPr/>
              <p:nvPr/>
            </p:nvSpPr>
            <p:spPr>
              <a:xfrm>
                <a:off x="-127000" y="2990387"/>
                <a:ext cx="762000" cy="762000"/>
              </a:xfrm>
              <a:prstGeom prst="ellipse">
                <a:avLst/>
              </a:prstGeom>
              <a:solidFill>
                <a:sysClr val="windowText" lastClr="000000">
                  <a:lumMod val="50000"/>
                  <a:lumOff val="50000"/>
                </a:sys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605" name="Car7" descr="{&quot;Key&quot;:&quot;POWER_USER_SHAPE_ICON&quot;,&quot;Value&quot;:&quot;POWER_USER_SHAPE_ICON_STYLE_1&quot;}">
                <a:extLst>
                  <a:ext uri="{FF2B5EF4-FFF2-40B4-BE49-F238E27FC236}">
                    <a16:creationId xmlns:a16="http://schemas.microsoft.com/office/drawing/2014/main" id="{496ADCE3-529D-DAA4-7591-E66466A90ADE}"/>
                  </a:ext>
                </a:extLst>
              </p:cNvPr>
              <p:cNvSpPr>
                <a:spLocks noChangeAspect="1" noEditPoints="1"/>
              </p:cNvSpPr>
              <p:nvPr>
                <p:custDataLst>
                  <p:tags r:id="rId20"/>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606" name="Gruppieren 605" descr="{&quot;Key&quot;:&quot;POWER_USER_SHAPE_ICON&quot;,&quot;Value&quot;:&quot;POWER_USER_SHAPE_ICON_STYLE_2&quot;}">
              <a:extLst>
                <a:ext uri="{FF2B5EF4-FFF2-40B4-BE49-F238E27FC236}">
                  <a16:creationId xmlns:a16="http://schemas.microsoft.com/office/drawing/2014/main" id="{2026342F-9C05-1BAA-3D1F-7B69BF603961}"/>
                </a:ext>
              </a:extLst>
            </p:cNvPr>
            <p:cNvGrpSpPr>
              <a:grpSpLocks noChangeAspect="1"/>
            </p:cNvGrpSpPr>
            <p:nvPr/>
          </p:nvGrpSpPr>
          <p:grpSpPr>
            <a:xfrm>
              <a:off x="10413200" y="4364709"/>
              <a:ext cx="349283" cy="349282"/>
              <a:chOff x="288345" y="3340831"/>
              <a:chExt cx="762000" cy="762000"/>
            </a:xfrm>
          </p:grpSpPr>
          <p:sp>
            <p:nvSpPr>
              <p:cNvPr id="607" name="POWER_USER_SHAPE_ICON_STYLE_2">
                <a:extLst>
                  <a:ext uri="{FF2B5EF4-FFF2-40B4-BE49-F238E27FC236}">
                    <a16:creationId xmlns:a16="http://schemas.microsoft.com/office/drawing/2014/main" id="{A28592E6-FED5-F58A-ED07-ABA481BB1AB1}"/>
                  </a:ext>
                </a:extLst>
              </p:cNvPr>
              <p:cNvSpPr/>
              <p:nvPr/>
            </p:nvSpPr>
            <p:spPr>
              <a:xfrm>
                <a:off x="288345" y="3340831"/>
                <a:ext cx="762000" cy="762000"/>
              </a:xfrm>
              <a:prstGeom prst="ellipse">
                <a:avLst/>
              </a:prstGeom>
              <a:solidFill>
                <a:srgbClr val="007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txBody>
              <a:bodyPr rtlCol="0" anchor="ctr"/>
              <a:lstStyle/>
              <a:p>
                <a:pPr algn="ctr" defTabSz="685754">
                  <a:defRPr/>
                </a:pPr>
                <a:endParaRPr lang="de-DE" sz="1200" kern="0" noProof="1">
                  <a:solidFill>
                    <a:prstClr val="white"/>
                  </a:solidFill>
                  <a:latin typeface="Calibri" panose="020F0502020204030204"/>
                </a:endParaRPr>
              </a:p>
            </p:txBody>
          </p:sp>
          <p:sp>
            <p:nvSpPr>
              <p:cNvPr id="608" name="Electric_Car" descr="{&quot;Key&quot;:&quot;POWER_USER_SHAPE_ICON&quot;,&quot;Value&quot;:&quot;POWER_USER_SHAPE_ICON_STYLE_1&quot;}">
                <a:extLst>
                  <a:ext uri="{FF2B5EF4-FFF2-40B4-BE49-F238E27FC236}">
                    <a16:creationId xmlns:a16="http://schemas.microsoft.com/office/drawing/2014/main" id="{850DFBAC-31A7-ABEC-B588-87C166A140B6}"/>
                  </a:ext>
                </a:extLst>
              </p:cNvPr>
              <p:cNvSpPr>
                <a:spLocks noChangeAspect="1" noEditPoints="1"/>
              </p:cNvSpPr>
              <p:nvPr>
                <p:custDataLst>
                  <p:tags r:id="rId19"/>
                </p:custDataLst>
              </p:nvPr>
            </p:nvSpPr>
            <p:spPr bwMode="auto">
              <a:xfrm>
                <a:off x="415345" y="3593005"/>
                <a:ext cx="508000" cy="257651"/>
              </a:xfrm>
              <a:custGeom>
                <a:avLst/>
                <a:gdLst>
                  <a:gd name="T0" fmla="*/ 1124 w 1250"/>
                  <a:gd name="T1" fmla="*/ 55 h 632"/>
                  <a:gd name="T2" fmla="*/ 957 w 1250"/>
                  <a:gd name="T3" fmla="*/ 0 h 632"/>
                  <a:gd name="T4" fmla="*/ 726 w 1250"/>
                  <a:gd name="T5" fmla="*/ 0 h 632"/>
                  <a:gd name="T6" fmla="*/ 584 w 1250"/>
                  <a:gd name="T7" fmla="*/ 210 h 632"/>
                  <a:gd name="T8" fmla="*/ 494 w 1250"/>
                  <a:gd name="T9" fmla="*/ 280 h 632"/>
                  <a:gd name="T10" fmla="*/ 477 w 1250"/>
                  <a:gd name="T11" fmla="*/ 150 h 632"/>
                  <a:gd name="T12" fmla="*/ 408 w 1250"/>
                  <a:gd name="T13" fmla="*/ 81 h 632"/>
                  <a:gd name="T14" fmla="*/ 339 w 1250"/>
                  <a:gd name="T15" fmla="*/ 306 h 632"/>
                  <a:gd name="T16" fmla="*/ 339 w 1250"/>
                  <a:gd name="T17" fmla="*/ 463 h 632"/>
                  <a:gd name="T18" fmla="*/ 308 w 1250"/>
                  <a:gd name="T19" fmla="*/ 475 h 632"/>
                  <a:gd name="T20" fmla="*/ 304 w 1250"/>
                  <a:gd name="T21" fmla="*/ 349 h 632"/>
                  <a:gd name="T22" fmla="*/ 204 w 1250"/>
                  <a:gd name="T23" fmla="*/ 280 h 632"/>
                  <a:gd name="T24" fmla="*/ 80 w 1250"/>
                  <a:gd name="T25" fmla="*/ 211 h 632"/>
                  <a:gd name="T26" fmla="*/ 17 w 1250"/>
                  <a:gd name="T27" fmla="*/ 246 h 632"/>
                  <a:gd name="T28" fmla="*/ 0 w 1250"/>
                  <a:gd name="T29" fmla="*/ 263 h 632"/>
                  <a:gd name="T30" fmla="*/ 17 w 1250"/>
                  <a:gd name="T31" fmla="*/ 280 h 632"/>
                  <a:gd name="T32" fmla="*/ 80 w 1250"/>
                  <a:gd name="T33" fmla="*/ 332 h 632"/>
                  <a:gd name="T34" fmla="*/ 17 w 1250"/>
                  <a:gd name="T35" fmla="*/ 332 h 632"/>
                  <a:gd name="T36" fmla="*/ 17 w 1250"/>
                  <a:gd name="T37" fmla="*/ 367 h 632"/>
                  <a:gd name="T38" fmla="*/ 80 w 1250"/>
                  <a:gd name="T39" fmla="*/ 367 h 632"/>
                  <a:gd name="T40" fmla="*/ 112 w 1250"/>
                  <a:gd name="T41" fmla="*/ 402 h 632"/>
                  <a:gd name="T42" fmla="*/ 235 w 1250"/>
                  <a:gd name="T43" fmla="*/ 332 h 632"/>
                  <a:gd name="T44" fmla="*/ 252 w 1250"/>
                  <a:gd name="T45" fmla="*/ 462 h 632"/>
                  <a:gd name="T46" fmla="*/ 321 w 1250"/>
                  <a:gd name="T47" fmla="*/ 531 h 632"/>
                  <a:gd name="T48" fmla="*/ 391 w 1250"/>
                  <a:gd name="T49" fmla="*/ 306 h 632"/>
                  <a:gd name="T50" fmla="*/ 391 w 1250"/>
                  <a:gd name="T51" fmla="*/ 149 h 632"/>
                  <a:gd name="T52" fmla="*/ 421 w 1250"/>
                  <a:gd name="T53" fmla="*/ 137 h 632"/>
                  <a:gd name="T54" fmla="*/ 425 w 1250"/>
                  <a:gd name="T55" fmla="*/ 263 h 632"/>
                  <a:gd name="T56" fmla="*/ 518 w 1250"/>
                  <a:gd name="T57" fmla="*/ 332 h 632"/>
                  <a:gd name="T58" fmla="*/ 577 w 1250"/>
                  <a:gd name="T59" fmla="*/ 491 h 632"/>
                  <a:gd name="T60" fmla="*/ 686 w 1250"/>
                  <a:gd name="T61" fmla="*/ 554 h 632"/>
                  <a:gd name="T62" fmla="*/ 884 w 1250"/>
                  <a:gd name="T63" fmla="*/ 491 h 632"/>
                  <a:gd name="T64" fmla="*/ 1081 w 1250"/>
                  <a:gd name="T65" fmla="*/ 554 h 632"/>
                  <a:gd name="T66" fmla="*/ 1191 w 1250"/>
                  <a:gd name="T67" fmla="*/ 491 h 632"/>
                  <a:gd name="T68" fmla="*/ 1250 w 1250"/>
                  <a:gd name="T69" fmla="*/ 294 h 632"/>
                  <a:gd name="T70" fmla="*/ 633 w 1250"/>
                  <a:gd name="T71" fmla="*/ 372 h 632"/>
                  <a:gd name="T72" fmla="*/ 633 w 1250"/>
                  <a:gd name="T73" fmla="*/ 268 h 632"/>
                  <a:gd name="T74" fmla="*/ 633 w 1250"/>
                  <a:gd name="T75" fmla="*/ 372 h 632"/>
                  <a:gd name="T76" fmla="*/ 884 w 1250"/>
                  <a:gd name="T77" fmla="*/ 209 h 632"/>
                  <a:gd name="T78" fmla="*/ 692 w 1250"/>
                  <a:gd name="T79" fmla="*/ 87 h 632"/>
                  <a:gd name="T80" fmla="*/ 884 w 1250"/>
                  <a:gd name="T81" fmla="*/ 57 h 632"/>
                  <a:gd name="T82" fmla="*/ 1043 w 1250"/>
                  <a:gd name="T83" fmla="*/ 57 h 632"/>
                  <a:gd name="T84" fmla="*/ 1122 w 1250"/>
                  <a:gd name="T85" fmla="*/ 209 h 632"/>
                  <a:gd name="T86" fmla="*/ 1135 w 1250"/>
                  <a:gd name="T87" fmla="*/ 372 h 632"/>
                  <a:gd name="T88" fmla="*/ 1135 w 1250"/>
                  <a:gd name="T89" fmla="*/ 268 h 632"/>
                  <a:gd name="T90" fmla="*/ 1135 w 1250"/>
                  <a:gd name="T91" fmla="*/ 372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50" h="632">
                    <a:moveTo>
                      <a:pt x="1184" y="210"/>
                    </a:moveTo>
                    <a:lnTo>
                      <a:pt x="1124" y="55"/>
                    </a:lnTo>
                    <a:cubicBezTo>
                      <a:pt x="1112" y="25"/>
                      <a:pt x="1088" y="0"/>
                      <a:pt x="1042" y="0"/>
                    </a:cubicBezTo>
                    <a:lnTo>
                      <a:pt x="957" y="0"/>
                    </a:lnTo>
                    <a:lnTo>
                      <a:pt x="812" y="0"/>
                    </a:lnTo>
                    <a:lnTo>
                      <a:pt x="726" y="0"/>
                    </a:lnTo>
                    <a:cubicBezTo>
                      <a:pt x="680" y="0"/>
                      <a:pt x="656" y="25"/>
                      <a:pt x="644" y="55"/>
                    </a:cubicBezTo>
                    <a:lnTo>
                      <a:pt x="584" y="210"/>
                    </a:lnTo>
                    <a:cubicBezTo>
                      <a:pt x="563" y="213"/>
                      <a:pt x="526" y="236"/>
                      <a:pt x="520" y="280"/>
                    </a:cubicBezTo>
                    <a:lnTo>
                      <a:pt x="494" y="280"/>
                    </a:lnTo>
                    <a:cubicBezTo>
                      <a:pt x="484" y="280"/>
                      <a:pt x="477" y="267"/>
                      <a:pt x="477" y="263"/>
                    </a:cubicBezTo>
                    <a:lnTo>
                      <a:pt x="477" y="150"/>
                    </a:lnTo>
                    <a:cubicBezTo>
                      <a:pt x="477" y="131"/>
                      <a:pt x="471" y="113"/>
                      <a:pt x="458" y="101"/>
                    </a:cubicBezTo>
                    <a:cubicBezTo>
                      <a:pt x="446" y="88"/>
                      <a:pt x="428" y="81"/>
                      <a:pt x="408" y="81"/>
                    </a:cubicBezTo>
                    <a:cubicBezTo>
                      <a:pt x="368" y="81"/>
                      <a:pt x="339" y="110"/>
                      <a:pt x="339" y="149"/>
                    </a:cubicBezTo>
                    <a:lnTo>
                      <a:pt x="339" y="306"/>
                    </a:lnTo>
                    <a:lnTo>
                      <a:pt x="339" y="306"/>
                    </a:lnTo>
                    <a:lnTo>
                      <a:pt x="339" y="463"/>
                    </a:lnTo>
                    <a:cubicBezTo>
                      <a:pt x="339" y="474"/>
                      <a:pt x="333" y="479"/>
                      <a:pt x="321" y="479"/>
                    </a:cubicBezTo>
                    <a:cubicBezTo>
                      <a:pt x="317" y="479"/>
                      <a:pt x="312" y="479"/>
                      <a:pt x="308" y="475"/>
                    </a:cubicBezTo>
                    <a:cubicBezTo>
                      <a:pt x="305" y="472"/>
                      <a:pt x="304" y="467"/>
                      <a:pt x="304" y="463"/>
                    </a:cubicBezTo>
                    <a:lnTo>
                      <a:pt x="304" y="349"/>
                    </a:lnTo>
                    <a:cubicBezTo>
                      <a:pt x="304" y="317"/>
                      <a:pt x="275" y="280"/>
                      <a:pt x="235" y="280"/>
                    </a:cubicBezTo>
                    <a:lnTo>
                      <a:pt x="204" y="280"/>
                    </a:lnTo>
                    <a:cubicBezTo>
                      <a:pt x="193" y="240"/>
                      <a:pt x="156" y="211"/>
                      <a:pt x="112" y="211"/>
                    </a:cubicBezTo>
                    <a:lnTo>
                      <a:pt x="80" y="211"/>
                    </a:lnTo>
                    <a:lnTo>
                      <a:pt x="80" y="246"/>
                    </a:lnTo>
                    <a:lnTo>
                      <a:pt x="17" y="246"/>
                    </a:lnTo>
                    <a:lnTo>
                      <a:pt x="17" y="246"/>
                    </a:lnTo>
                    <a:cubicBezTo>
                      <a:pt x="8" y="246"/>
                      <a:pt x="0" y="253"/>
                      <a:pt x="0" y="263"/>
                    </a:cubicBezTo>
                    <a:cubicBezTo>
                      <a:pt x="0" y="272"/>
                      <a:pt x="8" y="280"/>
                      <a:pt x="17" y="280"/>
                    </a:cubicBezTo>
                    <a:lnTo>
                      <a:pt x="17" y="280"/>
                    </a:lnTo>
                    <a:lnTo>
                      <a:pt x="80" y="280"/>
                    </a:lnTo>
                    <a:lnTo>
                      <a:pt x="80" y="332"/>
                    </a:lnTo>
                    <a:lnTo>
                      <a:pt x="17" y="332"/>
                    </a:lnTo>
                    <a:lnTo>
                      <a:pt x="17" y="332"/>
                    </a:lnTo>
                    <a:cubicBezTo>
                      <a:pt x="8" y="332"/>
                      <a:pt x="0" y="340"/>
                      <a:pt x="0" y="350"/>
                    </a:cubicBezTo>
                    <a:cubicBezTo>
                      <a:pt x="0" y="359"/>
                      <a:pt x="8" y="367"/>
                      <a:pt x="17" y="367"/>
                    </a:cubicBezTo>
                    <a:lnTo>
                      <a:pt x="17" y="367"/>
                    </a:lnTo>
                    <a:lnTo>
                      <a:pt x="80" y="367"/>
                    </a:lnTo>
                    <a:lnTo>
                      <a:pt x="80" y="402"/>
                    </a:lnTo>
                    <a:lnTo>
                      <a:pt x="112" y="402"/>
                    </a:lnTo>
                    <a:cubicBezTo>
                      <a:pt x="156" y="402"/>
                      <a:pt x="193" y="372"/>
                      <a:pt x="204" y="332"/>
                    </a:cubicBezTo>
                    <a:lnTo>
                      <a:pt x="235" y="332"/>
                    </a:lnTo>
                    <a:cubicBezTo>
                      <a:pt x="245" y="332"/>
                      <a:pt x="252" y="345"/>
                      <a:pt x="252" y="349"/>
                    </a:cubicBezTo>
                    <a:lnTo>
                      <a:pt x="252" y="462"/>
                    </a:lnTo>
                    <a:cubicBezTo>
                      <a:pt x="252" y="481"/>
                      <a:pt x="258" y="499"/>
                      <a:pt x="271" y="511"/>
                    </a:cubicBezTo>
                    <a:cubicBezTo>
                      <a:pt x="283" y="524"/>
                      <a:pt x="301" y="531"/>
                      <a:pt x="321" y="531"/>
                    </a:cubicBezTo>
                    <a:cubicBezTo>
                      <a:pt x="361" y="531"/>
                      <a:pt x="391" y="502"/>
                      <a:pt x="391" y="463"/>
                    </a:cubicBezTo>
                    <a:lnTo>
                      <a:pt x="391" y="306"/>
                    </a:lnTo>
                    <a:lnTo>
                      <a:pt x="391" y="306"/>
                    </a:lnTo>
                    <a:lnTo>
                      <a:pt x="391" y="149"/>
                    </a:lnTo>
                    <a:cubicBezTo>
                      <a:pt x="391" y="138"/>
                      <a:pt x="396" y="133"/>
                      <a:pt x="408" y="133"/>
                    </a:cubicBezTo>
                    <a:cubicBezTo>
                      <a:pt x="412" y="133"/>
                      <a:pt x="418" y="133"/>
                      <a:pt x="421" y="137"/>
                    </a:cubicBezTo>
                    <a:cubicBezTo>
                      <a:pt x="424" y="140"/>
                      <a:pt x="425" y="145"/>
                      <a:pt x="425" y="149"/>
                    </a:cubicBezTo>
                    <a:lnTo>
                      <a:pt x="425" y="263"/>
                    </a:lnTo>
                    <a:cubicBezTo>
                      <a:pt x="425" y="295"/>
                      <a:pt x="454" y="332"/>
                      <a:pt x="494" y="332"/>
                    </a:cubicBezTo>
                    <a:lnTo>
                      <a:pt x="518" y="332"/>
                    </a:lnTo>
                    <a:lnTo>
                      <a:pt x="518" y="491"/>
                    </a:lnTo>
                    <a:lnTo>
                      <a:pt x="577" y="491"/>
                    </a:lnTo>
                    <a:lnTo>
                      <a:pt x="577" y="554"/>
                    </a:lnTo>
                    <a:cubicBezTo>
                      <a:pt x="577" y="632"/>
                      <a:pt x="687" y="631"/>
                      <a:pt x="686" y="554"/>
                    </a:cubicBezTo>
                    <a:lnTo>
                      <a:pt x="686" y="491"/>
                    </a:lnTo>
                    <a:lnTo>
                      <a:pt x="884" y="491"/>
                    </a:lnTo>
                    <a:lnTo>
                      <a:pt x="1081" y="491"/>
                    </a:lnTo>
                    <a:lnTo>
                      <a:pt x="1081" y="554"/>
                    </a:lnTo>
                    <a:cubicBezTo>
                      <a:pt x="1082" y="631"/>
                      <a:pt x="1191" y="632"/>
                      <a:pt x="1191" y="554"/>
                    </a:cubicBezTo>
                    <a:lnTo>
                      <a:pt x="1191" y="491"/>
                    </a:lnTo>
                    <a:lnTo>
                      <a:pt x="1250" y="491"/>
                    </a:lnTo>
                    <a:lnTo>
                      <a:pt x="1250" y="294"/>
                    </a:lnTo>
                    <a:cubicBezTo>
                      <a:pt x="1250" y="241"/>
                      <a:pt x="1208" y="213"/>
                      <a:pt x="1184" y="210"/>
                    </a:cubicBezTo>
                    <a:close/>
                    <a:moveTo>
                      <a:pt x="633" y="372"/>
                    </a:moveTo>
                    <a:cubicBezTo>
                      <a:pt x="605" y="372"/>
                      <a:pt x="583" y="349"/>
                      <a:pt x="583" y="320"/>
                    </a:cubicBezTo>
                    <a:cubicBezTo>
                      <a:pt x="583" y="291"/>
                      <a:pt x="605" y="268"/>
                      <a:pt x="633" y="268"/>
                    </a:cubicBezTo>
                    <a:cubicBezTo>
                      <a:pt x="661" y="268"/>
                      <a:pt x="684" y="291"/>
                      <a:pt x="684" y="320"/>
                    </a:cubicBezTo>
                    <a:cubicBezTo>
                      <a:pt x="684" y="349"/>
                      <a:pt x="661" y="372"/>
                      <a:pt x="633" y="372"/>
                    </a:cubicBezTo>
                    <a:close/>
                    <a:moveTo>
                      <a:pt x="884" y="209"/>
                    </a:moveTo>
                    <a:lnTo>
                      <a:pt x="884" y="209"/>
                    </a:lnTo>
                    <a:lnTo>
                      <a:pt x="647" y="209"/>
                    </a:lnTo>
                    <a:lnTo>
                      <a:pt x="692" y="87"/>
                    </a:lnTo>
                    <a:cubicBezTo>
                      <a:pt x="697" y="69"/>
                      <a:pt x="706" y="57"/>
                      <a:pt x="726" y="57"/>
                    </a:cubicBezTo>
                    <a:lnTo>
                      <a:pt x="884" y="57"/>
                    </a:lnTo>
                    <a:lnTo>
                      <a:pt x="884" y="57"/>
                    </a:lnTo>
                    <a:lnTo>
                      <a:pt x="1043" y="57"/>
                    </a:lnTo>
                    <a:cubicBezTo>
                      <a:pt x="1062" y="57"/>
                      <a:pt x="1071" y="69"/>
                      <a:pt x="1076" y="87"/>
                    </a:cubicBezTo>
                    <a:lnTo>
                      <a:pt x="1122" y="209"/>
                    </a:lnTo>
                    <a:lnTo>
                      <a:pt x="884" y="209"/>
                    </a:lnTo>
                    <a:close/>
                    <a:moveTo>
                      <a:pt x="1135" y="372"/>
                    </a:moveTo>
                    <a:cubicBezTo>
                      <a:pt x="1107" y="372"/>
                      <a:pt x="1084" y="349"/>
                      <a:pt x="1084" y="320"/>
                    </a:cubicBezTo>
                    <a:cubicBezTo>
                      <a:pt x="1084" y="291"/>
                      <a:pt x="1107" y="268"/>
                      <a:pt x="1135" y="268"/>
                    </a:cubicBezTo>
                    <a:cubicBezTo>
                      <a:pt x="1163" y="268"/>
                      <a:pt x="1185" y="291"/>
                      <a:pt x="1186" y="320"/>
                    </a:cubicBezTo>
                    <a:cubicBezTo>
                      <a:pt x="1185" y="349"/>
                      <a:pt x="1163" y="372"/>
                      <a:pt x="1135" y="372"/>
                    </a:cubicBezTo>
                    <a:close/>
                  </a:path>
                </a:pathLst>
              </a:custGeom>
              <a:solidFill>
                <a:srgbClr val="FFFFFF"/>
              </a:solidFill>
              <a:ln w="0">
                <a:noFill/>
                <a:prstDash val="solid"/>
                <a:round/>
                <a:headEnd/>
                <a:tailEnd/>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grpSp>
        <p:grpSp>
          <p:nvGrpSpPr>
            <p:cNvPr id="609" name="Gruppieren 608">
              <a:extLst>
                <a:ext uri="{FF2B5EF4-FFF2-40B4-BE49-F238E27FC236}">
                  <a16:creationId xmlns:a16="http://schemas.microsoft.com/office/drawing/2014/main" id="{AABE817A-5D32-CAF9-A0B4-FC5410F52AC0}"/>
                </a:ext>
              </a:extLst>
            </p:cNvPr>
            <p:cNvGrpSpPr/>
            <p:nvPr/>
          </p:nvGrpSpPr>
          <p:grpSpPr>
            <a:xfrm>
              <a:off x="10688730" y="4969984"/>
              <a:ext cx="305538" cy="400524"/>
              <a:chOff x="0" y="3078492"/>
              <a:chExt cx="545343" cy="621971"/>
            </a:xfrm>
            <a:solidFill>
              <a:srgbClr val="0070C0"/>
            </a:solidFill>
          </p:grpSpPr>
          <p:grpSp>
            <p:nvGrpSpPr>
              <p:cNvPr id="610" name="Gruppieren 609">
                <a:extLst>
                  <a:ext uri="{FF2B5EF4-FFF2-40B4-BE49-F238E27FC236}">
                    <a16:creationId xmlns:a16="http://schemas.microsoft.com/office/drawing/2014/main" id="{113318B9-1106-4943-089E-EA7CAFF09645}"/>
                  </a:ext>
                </a:extLst>
              </p:cNvPr>
              <p:cNvGrpSpPr/>
              <p:nvPr>
                <p:custDataLst>
                  <p:tags r:id="rId18"/>
                </p:custDataLst>
              </p:nvPr>
            </p:nvGrpSpPr>
            <p:grpSpPr>
              <a:xfrm>
                <a:off x="0" y="3157538"/>
                <a:ext cx="545343" cy="542925"/>
                <a:chOff x="0" y="3157538"/>
                <a:chExt cx="545343" cy="542925"/>
              </a:xfrm>
              <a:grpFill/>
            </p:grpSpPr>
            <p:sp>
              <p:nvSpPr>
                <p:cNvPr id="612" name="Freeform 203">
                  <a:extLst>
                    <a:ext uri="{FF2B5EF4-FFF2-40B4-BE49-F238E27FC236}">
                      <a16:creationId xmlns:a16="http://schemas.microsoft.com/office/drawing/2014/main" id="{1843C7BB-3FC2-79BB-48DC-58473CEF47BE}"/>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613" name="Freeform 204">
                  <a:extLst>
                    <a:ext uri="{FF2B5EF4-FFF2-40B4-BE49-F238E27FC236}">
                      <a16:creationId xmlns:a16="http://schemas.microsoft.com/office/drawing/2014/main" id="{298684ED-DA81-238D-463A-46364F6124BE}"/>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614" name="Freeform 206">
                  <a:extLst>
                    <a:ext uri="{FF2B5EF4-FFF2-40B4-BE49-F238E27FC236}">
                      <a16:creationId xmlns:a16="http://schemas.microsoft.com/office/drawing/2014/main" id="{1D1F8A18-646D-4BC5-856B-8D4FBA0D8497}"/>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grpSp>
          <p:sp>
            <p:nvSpPr>
              <p:cNvPr id="611" name="Freihandform 268">
                <a:extLst>
                  <a:ext uri="{FF2B5EF4-FFF2-40B4-BE49-F238E27FC236}">
                    <a16:creationId xmlns:a16="http://schemas.microsoft.com/office/drawing/2014/main" id="{843EC2E0-ABC5-42D5-A112-B4C28D05087F}"/>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grp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Bahnschrift" panose="020B0502040204020203" pitchFamily="34" charset="0"/>
                </a:endParaRPr>
              </a:p>
            </p:txBody>
          </p:sp>
        </p:grpSp>
        <p:grpSp>
          <p:nvGrpSpPr>
            <p:cNvPr id="615" name="Gruppieren 614" descr="{&quot;Key&quot;:&quot;POWER_USER_SHAPE_ICON&quot;,&quot;Value&quot;:&quot;POWER_USER_SHAPE_ICON_STYLE_2&quot;}">
              <a:extLst>
                <a:ext uri="{FF2B5EF4-FFF2-40B4-BE49-F238E27FC236}">
                  <a16:creationId xmlns:a16="http://schemas.microsoft.com/office/drawing/2014/main" id="{778DA144-54CD-D260-479B-5F9EF095ACDD}"/>
                </a:ext>
              </a:extLst>
            </p:cNvPr>
            <p:cNvGrpSpPr>
              <a:grpSpLocks noChangeAspect="1"/>
            </p:cNvGrpSpPr>
            <p:nvPr/>
          </p:nvGrpSpPr>
          <p:grpSpPr>
            <a:xfrm>
              <a:off x="10745102" y="4969105"/>
              <a:ext cx="221314" cy="221316"/>
              <a:chOff x="-99093" y="3018292"/>
              <a:chExt cx="706188" cy="706192"/>
            </a:xfrm>
          </p:grpSpPr>
          <p:sp>
            <p:nvSpPr>
              <p:cNvPr id="616" name="POWER_USER_SHAPE_ICON_STYLE_2">
                <a:extLst>
                  <a:ext uri="{FF2B5EF4-FFF2-40B4-BE49-F238E27FC236}">
                    <a16:creationId xmlns:a16="http://schemas.microsoft.com/office/drawing/2014/main" id="{92975BC4-4E03-B541-ED6A-E7B3F388FA35}"/>
                  </a:ext>
                </a:extLst>
              </p:cNvPr>
              <p:cNvSpPr/>
              <p:nvPr/>
            </p:nvSpPr>
            <p:spPr>
              <a:xfrm>
                <a:off x="-99093" y="3018292"/>
                <a:ext cx="706188" cy="706192"/>
              </a:xfrm>
              <a:prstGeom prst="ellipse">
                <a:avLst/>
              </a:prstGeom>
              <a:solidFill>
                <a:sysClr val="window" lastClr="FFFFFF"/>
              </a:solidFill>
              <a:ln w="28575" cap="flat" cmpd="sng" algn="ctr">
                <a:solidFill>
                  <a:srgbClr val="0070C0"/>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sp>
            <p:nvSpPr>
              <p:cNvPr id="617" name="Car7" descr="{&quot;Key&quot;:&quot;POWER_USER_SHAPE_ICON&quot;,&quot;Value&quot;:&quot;POWER_USER_SHAPE_ICON_STYLE_1&quot;}">
                <a:extLst>
                  <a:ext uri="{FF2B5EF4-FFF2-40B4-BE49-F238E27FC236}">
                    <a16:creationId xmlns:a16="http://schemas.microsoft.com/office/drawing/2014/main" id="{F9AB15E2-9902-91EF-8F5A-E0901A0E8526}"/>
                  </a:ext>
                </a:extLst>
              </p:cNvPr>
              <p:cNvSpPr>
                <a:spLocks noChangeAspect="1" noEditPoints="1"/>
              </p:cNvSpPr>
              <p:nvPr>
                <p:custDataLst>
                  <p:tags r:id="rId17"/>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grpSp>
        <p:sp>
          <p:nvSpPr>
            <p:cNvPr id="618" name="Textfeld 617">
              <a:extLst>
                <a:ext uri="{FF2B5EF4-FFF2-40B4-BE49-F238E27FC236}">
                  <a16:creationId xmlns:a16="http://schemas.microsoft.com/office/drawing/2014/main" id="{75F4757D-8762-C88D-0BE0-EF9F05429746}"/>
                </a:ext>
              </a:extLst>
            </p:cNvPr>
            <p:cNvSpPr txBox="1"/>
            <p:nvPr/>
          </p:nvSpPr>
          <p:spPr bwMode="auto">
            <a:xfrm>
              <a:off x="9300821" y="4784295"/>
              <a:ext cx="1159019" cy="707886"/>
            </a:xfrm>
            <a:prstGeom prst="rect">
              <a:avLst/>
            </a:prstGeom>
            <a:noFill/>
          </p:spPr>
          <p:txBody>
            <a:bodyPr wrap="square">
              <a:spAutoFit/>
            </a:bodyPr>
            <a:lstStyle/>
            <a:p>
              <a:pPr algn="r" defTabSz="914339">
                <a:defRPr/>
              </a:pPr>
              <a:r>
                <a:rPr lang="de-DE" sz="1000" noProof="1">
                  <a:solidFill>
                    <a:srgbClr val="9954CC"/>
                  </a:solidFill>
                  <a:latin typeface="Bahnschrift" panose="020B0502040204020203" pitchFamily="34" charset="0"/>
                </a:rPr>
                <a:t>Kontextfaktor Bauliche Dichte, Sanierung &amp; Mobilität</a:t>
              </a:r>
            </a:p>
          </p:txBody>
        </p:sp>
        <p:grpSp>
          <p:nvGrpSpPr>
            <p:cNvPr id="619" name="Gruppieren 618">
              <a:extLst>
                <a:ext uri="{FF2B5EF4-FFF2-40B4-BE49-F238E27FC236}">
                  <a16:creationId xmlns:a16="http://schemas.microsoft.com/office/drawing/2014/main" id="{D9A89969-E140-7BCE-7D0F-B78C232E06DB}"/>
                </a:ext>
              </a:extLst>
            </p:cNvPr>
            <p:cNvGrpSpPr/>
            <p:nvPr/>
          </p:nvGrpSpPr>
          <p:grpSpPr>
            <a:xfrm>
              <a:off x="10405838" y="4947861"/>
              <a:ext cx="320539" cy="420190"/>
              <a:chOff x="9018358" y="3729507"/>
              <a:chExt cx="512820" cy="672248"/>
            </a:xfrm>
          </p:grpSpPr>
          <p:grpSp>
            <p:nvGrpSpPr>
              <p:cNvPr id="620" name="Gruppieren 619">
                <a:extLst>
                  <a:ext uri="{FF2B5EF4-FFF2-40B4-BE49-F238E27FC236}">
                    <a16:creationId xmlns:a16="http://schemas.microsoft.com/office/drawing/2014/main" id="{D11DFA0F-B909-84FF-1D38-47510922E584}"/>
                  </a:ext>
                </a:extLst>
              </p:cNvPr>
              <p:cNvGrpSpPr/>
              <p:nvPr/>
            </p:nvGrpSpPr>
            <p:grpSpPr>
              <a:xfrm>
                <a:off x="9018358" y="3729507"/>
                <a:ext cx="512820" cy="672248"/>
                <a:chOff x="0" y="3078492"/>
                <a:chExt cx="545343" cy="621971"/>
              </a:xfrm>
            </p:grpSpPr>
            <p:grpSp>
              <p:nvGrpSpPr>
                <p:cNvPr id="624" name="Gruppieren 623">
                  <a:extLst>
                    <a:ext uri="{FF2B5EF4-FFF2-40B4-BE49-F238E27FC236}">
                      <a16:creationId xmlns:a16="http://schemas.microsoft.com/office/drawing/2014/main" id="{40F7312F-0B54-E1A7-B3B6-8A52DF842422}"/>
                    </a:ext>
                  </a:extLst>
                </p:cNvPr>
                <p:cNvGrpSpPr/>
                <p:nvPr>
                  <p:custDataLst>
                    <p:tags r:id="rId15"/>
                  </p:custDataLst>
                </p:nvPr>
              </p:nvGrpSpPr>
              <p:grpSpPr>
                <a:xfrm>
                  <a:off x="0" y="3157538"/>
                  <a:ext cx="545343" cy="542925"/>
                  <a:chOff x="0" y="3157538"/>
                  <a:chExt cx="545343" cy="542925"/>
                </a:xfrm>
                <a:solidFill>
                  <a:srgbClr val="9954CC"/>
                </a:solidFill>
              </p:grpSpPr>
              <p:sp>
                <p:nvSpPr>
                  <p:cNvPr id="627" name="Freeform 203">
                    <a:extLst>
                      <a:ext uri="{FF2B5EF4-FFF2-40B4-BE49-F238E27FC236}">
                        <a16:creationId xmlns:a16="http://schemas.microsoft.com/office/drawing/2014/main" id="{CA871E3D-1676-4D28-B6F5-E08327A3304B}"/>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628" name="Freeform 204">
                    <a:extLst>
                      <a:ext uri="{FF2B5EF4-FFF2-40B4-BE49-F238E27FC236}">
                        <a16:creationId xmlns:a16="http://schemas.microsoft.com/office/drawing/2014/main" id="{448131B2-E381-7128-A535-A34469B90764}"/>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629" name="Freeform 206">
                    <a:extLst>
                      <a:ext uri="{FF2B5EF4-FFF2-40B4-BE49-F238E27FC236}">
                        <a16:creationId xmlns:a16="http://schemas.microsoft.com/office/drawing/2014/main" id="{A5F5B5F2-3FE6-5078-E3D6-23E69A6BBF73}"/>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grpSp>
            <p:sp>
              <p:nvSpPr>
                <p:cNvPr id="625" name="Freihandform 240">
                  <a:extLst>
                    <a:ext uri="{FF2B5EF4-FFF2-40B4-BE49-F238E27FC236}">
                      <a16:creationId xmlns:a16="http://schemas.microsoft.com/office/drawing/2014/main" id="{7AA146ED-7254-9E19-A0CA-4C7BC6E9D509}"/>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solidFill>
                  <a:sysClr val="window" lastClr="FFFFFF"/>
                </a:solid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Bahnschrift" panose="020B0502040204020203" pitchFamily="34" charset="0"/>
                  </a:endParaRPr>
                </a:p>
              </p:txBody>
            </p:sp>
            <p:sp>
              <p:nvSpPr>
                <p:cNvPr id="626" name="Bolt3" descr="{&quot;Key&quot;:&quot;POWER_USER_SHAPE_ICON&quot;,&quot;Value&quot;:&quot;POWER_USER_SHAPE_ICON_STYLE_1&quot;}">
                  <a:extLst>
                    <a:ext uri="{FF2B5EF4-FFF2-40B4-BE49-F238E27FC236}">
                      <a16:creationId xmlns:a16="http://schemas.microsoft.com/office/drawing/2014/main" id="{9ACA6EA6-F158-5577-96E5-292890BDFD05}"/>
                    </a:ext>
                  </a:extLst>
                </p:cNvPr>
                <p:cNvSpPr>
                  <a:spLocks noChangeAspect="1"/>
                </p:cNvSpPr>
                <p:nvPr>
                  <p:custDataLst>
                    <p:tags r:id="rId16"/>
                  </p:custDataLst>
                </p:nvPr>
              </p:nvSpPr>
              <p:spPr bwMode="auto">
                <a:xfrm>
                  <a:off x="234737" y="3127907"/>
                  <a:ext cx="197755" cy="316407"/>
                </a:xfrm>
                <a:custGeom>
                  <a:avLst/>
                  <a:gdLst>
                    <a:gd name="T0" fmla="*/ 132 w 511"/>
                    <a:gd name="T1" fmla="*/ 773 h 815"/>
                    <a:gd name="T2" fmla="*/ 212 w 511"/>
                    <a:gd name="T3" fmla="*/ 474 h 815"/>
                    <a:gd name="T4" fmla="*/ 32 w 511"/>
                    <a:gd name="T5" fmla="*/ 474 h 815"/>
                    <a:gd name="T6" fmla="*/ 13 w 511"/>
                    <a:gd name="T7" fmla="*/ 435 h 815"/>
                    <a:gd name="T8" fmla="*/ 336 w 511"/>
                    <a:gd name="T9" fmla="*/ 21 h 815"/>
                    <a:gd name="T10" fmla="*/ 379 w 511"/>
                    <a:gd name="T11" fmla="*/ 42 h 815"/>
                    <a:gd name="T12" fmla="*/ 299 w 511"/>
                    <a:gd name="T13" fmla="*/ 341 h 815"/>
                    <a:gd name="T14" fmla="*/ 479 w 511"/>
                    <a:gd name="T15" fmla="*/ 341 h 815"/>
                    <a:gd name="T16" fmla="*/ 499 w 511"/>
                    <a:gd name="T17" fmla="*/ 380 h 815"/>
                    <a:gd name="T18" fmla="*/ 176 w 511"/>
                    <a:gd name="T19" fmla="*/ 794 h 815"/>
                    <a:gd name="T20" fmla="*/ 132 w 511"/>
                    <a:gd name="T21" fmla="*/ 773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1" h="815">
                      <a:moveTo>
                        <a:pt x="132" y="773"/>
                      </a:moveTo>
                      <a:lnTo>
                        <a:pt x="212" y="474"/>
                      </a:lnTo>
                      <a:lnTo>
                        <a:pt x="32" y="474"/>
                      </a:lnTo>
                      <a:cubicBezTo>
                        <a:pt x="12" y="474"/>
                        <a:pt x="0" y="450"/>
                        <a:pt x="13" y="435"/>
                      </a:cubicBezTo>
                      <a:lnTo>
                        <a:pt x="336" y="21"/>
                      </a:lnTo>
                      <a:cubicBezTo>
                        <a:pt x="352" y="0"/>
                        <a:pt x="386" y="17"/>
                        <a:pt x="379" y="42"/>
                      </a:cubicBezTo>
                      <a:lnTo>
                        <a:pt x="299" y="341"/>
                      </a:lnTo>
                      <a:lnTo>
                        <a:pt x="479" y="341"/>
                      </a:lnTo>
                      <a:cubicBezTo>
                        <a:pt x="500" y="341"/>
                        <a:pt x="511" y="365"/>
                        <a:pt x="499" y="380"/>
                      </a:cubicBezTo>
                      <a:lnTo>
                        <a:pt x="176" y="794"/>
                      </a:lnTo>
                      <a:cubicBezTo>
                        <a:pt x="159" y="815"/>
                        <a:pt x="125" y="798"/>
                        <a:pt x="132" y="773"/>
                      </a:cubicBez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grpSp>
          <p:grpSp>
            <p:nvGrpSpPr>
              <p:cNvPr id="621" name="Gruppieren 620" descr="{&quot;Key&quot;:&quot;POWER_USER_SHAPE_ICON&quot;,&quot;Value&quot;:&quot;POWER_USER_SHAPE_ICON_STYLE_2&quot;}">
                <a:extLst>
                  <a:ext uri="{FF2B5EF4-FFF2-40B4-BE49-F238E27FC236}">
                    <a16:creationId xmlns:a16="http://schemas.microsoft.com/office/drawing/2014/main" id="{9286CD04-9C40-4F60-CC22-BD0AD73436B6}"/>
                  </a:ext>
                </a:extLst>
              </p:cNvPr>
              <p:cNvGrpSpPr>
                <a:grpSpLocks noChangeAspect="1"/>
              </p:cNvGrpSpPr>
              <p:nvPr/>
            </p:nvGrpSpPr>
            <p:grpSpPr>
              <a:xfrm>
                <a:off x="9163525" y="3777549"/>
                <a:ext cx="328332" cy="328332"/>
                <a:chOff x="7786650" y="4317126"/>
                <a:chExt cx="762000" cy="762000"/>
              </a:xfrm>
              <a:noFill/>
            </p:grpSpPr>
            <p:sp>
              <p:nvSpPr>
                <p:cNvPr id="622" name="POWER_USER_SHAPE_ICON_STYLE_2">
                  <a:extLst>
                    <a:ext uri="{FF2B5EF4-FFF2-40B4-BE49-F238E27FC236}">
                      <a16:creationId xmlns:a16="http://schemas.microsoft.com/office/drawing/2014/main" id="{FC71694D-49C8-BE1B-6782-099EFFD5DCF7}"/>
                    </a:ext>
                  </a:extLst>
                </p:cNvPr>
                <p:cNvSpPr/>
                <p:nvPr/>
              </p:nvSpPr>
              <p:spPr>
                <a:xfrm>
                  <a:off x="7786650" y="4317126"/>
                  <a:ext cx="762000" cy="762000"/>
                </a:xfrm>
                <a:prstGeom prst="ellipse">
                  <a:avLst/>
                </a:prstGeom>
                <a:solidFill>
                  <a:sysClr val="window" lastClr="FFFFFF"/>
                </a:solidFill>
                <a:ln w="28575" cap="flat" cmpd="sng" algn="ctr">
                  <a:solidFill>
                    <a:srgbClr val="9954CC"/>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sp>
              <p:nvSpPr>
                <p:cNvPr id="623" name="Building5" descr="{&quot;Key&quot;:&quot;POWER_USER_SHAPE_ICON&quot;,&quot;Value&quot;:&quot;POWER_USER_SHAPE_ICON_STYLE_1&quot;}">
                  <a:extLst>
                    <a:ext uri="{FF2B5EF4-FFF2-40B4-BE49-F238E27FC236}">
                      <a16:creationId xmlns:a16="http://schemas.microsoft.com/office/drawing/2014/main" id="{1B2A083E-3AE1-78E7-0B11-8A771435D8A4}"/>
                    </a:ext>
                  </a:extLst>
                </p:cNvPr>
                <p:cNvSpPr>
                  <a:spLocks noChangeAspect="1" noEditPoints="1"/>
                </p:cNvSpPr>
                <p:nvPr>
                  <p:custDataLst>
                    <p:tags r:id="rId14"/>
                  </p:custDataLst>
                </p:nvPr>
              </p:nvSpPr>
              <p:spPr bwMode="auto">
                <a:xfrm>
                  <a:off x="7913650" y="4456556"/>
                  <a:ext cx="508000" cy="483141"/>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grpSp>
        </p:grpSp>
        <p:sp>
          <p:nvSpPr>
            <p:cNvPr id="630" name="Rechteck 629">
              <a:extLst>
                <a:ext uri="{FF2B5EF4-FFF2-40B4-BE49-F238E27FC236}">
                  <a16:creationId xmlns:a16="http://schemas.microsoft.com/office/drawing/2014/main" id="{8EF5859D-FCAE-85DC-99AB-A07B4589B56A}"/>
                </a:ext>
              </a:extLst>
            </p:cNvPr>
            <p:cNvSpPr/>
            <p:nvPr/>
          </p:nvSpPr>
          <p:spPr bwMode="auto">
            <a:xfrm>
              <a:off x="9314826" y="3433111"/>
              <a:ext cx="854452" cy="707886"/>
            </a:xfrm>
            <a:prstGeom prst="rect">
              <a:avLst/>
            </a:prstGeom>
          </p:spPr>
          <p:txBody>
            <a:bodyPr wrap="square">
              <a:spAutoFit/>
            </a:bodyPr>
            <a:lstStyle/>
            <a:p>
              <a:pPr defTabSz="685754">
                <a:defRPr/>
              </a:pPr>
              <a:r>
                <a:rPr lang="de-DE" sz="1000" noProof="1">
                  <a:solidFill>
                    <a:srgbClr val="5FB564"/>
                  </a:solidFill>
                  <a:latin typeface="Bahnschrift" panose="020B0502040204020203" pitchFamily="34" charset="0"/>
                </a:rPr>
                <a:t>Gebäude-Betrieb </a:t>
              </a:r>
            </a:p>
            <a:p>
              <a:pPr defTabSz="685754">
                <a:defRPr/>
              </a:pPr>
              <a:r>
                <a:rPr lang="de-DE" sz="1000" noProof="1">
                  <a:solidFill>
                    <a:srgbClr val="5FB564"/>
                  </a:solidFill>
                  <a:latin typeface="Bahnschrift" panose="020B0502040204020203" pitchFamily="34" charset="0"/>
                </a:rPr>
                <a:t>und -Nutzung</a:t>
              </a:r>
            </a:p>
          </p:txBody>
        </p:sp>
        <p:sp>
          <p:nvSpPr>
            <p:cNvPr id="631" name="Rechteck 630">
              <a:extLst>
                <a:ext uri="{FF2B5EF4-FFF2-40B4-BE49-F238E27FC236}">
                  <a16:creationId xmlns:a16="http://schemas.microsoft.com/office/drawing/2014/main" id="{53435934-9171-C8FE-F7A7-A3C81F33504A}"/>
                </a:ext>
              </a:extLst>
            </p:cNvPr>
            <p:cNvSpPr/>
            <p:nvPr/>
          </p:nvSpPr>
          <p:spPr bwMode="auto">
            <a:xfrm>
              <a:off x="10436747" y="3459325"/>
              <a:ext cx="868590" cy="861774"/>
            </a:xfrm>
            <a:prstGeom prst="rect">
              <a:avLst/>
            </a:prstGeom>
          </p:spPr>
          <p:txBody>
            <a:bodyPr wrap="square">
              <a:spAutoFit/>
            </a:bodyPr>
            <a:lstStyle/>
            <a:p>
              <a:pPr defTabSz="685754">
                <a:defRPr/>
              </a:pPr>
              <a:r>
                <a:rPr lang="de-DE" sz="1000" noProof="1">
                  <a:solidFill>
                    <a:srgbClr val="00B050"/>
                  </a:solidFill>
                  <a:latin typeface="Bahnschrift" panose="020B0502040204020203" pitchFamily="34" charset="0"/>
                </a:rPr>
                <a:t>Lokale </a:t>
              </a:r>
            </a:p>
            <a:p>
              <a:pPr defTabSz="685754">
                <a:defRPr/>
              </a:pPr>
              <a:r>
                <a:rPr lang="de-DE" sz="1000" noProof="1">
                  <a:solidFill>
                    <a:srgbClr val="00B050"/>
                  </a:solidFill>
                  <a:latin typeface="Bahnschrift" panose="020B0502040204020203" pitchFamily="34" charset="0"/>
                </a:rPr>
                <a:t>Erneuer-bare</a:t>
              </a:r>
            </a:p>
            <a:p>
              <a:pPr defTabSz="685754">
                <a:defRPr/>
              </a:pPr>
              <a:r>
                <a:rPr lang="de-DE" sz="1000" noProof="1">
                  <a:solidFill>
                    <a:srgbClr val="00B050"/>
                  </a:solidFill>
                  <a:latin typeface="Bahnschrift" panose="020B0502040204020203" pitchFamily="34" charset="0"/>
                </a:rPr>
                <a:t>Energie-Quelle</a:t>
              </a:r>
            </a:p>
          </p:txBody>
        </p:sp>
        <p:sp>
          <p:nvSpPr>
            <p:cNvPr id="632" name="Rechteck 631">
              <a:extLst>
                <a:ext uri="{FF2B5EF4-FFF2-40B4-BE49-F238E27FC236}">
                  <a16:creationId xmlns:a16="http://schemas.microsoft.com/office/drawing/2014/main" id="{3111ECA0-DBA1-894B-0B3B-C2B963A1C1F5}"/>
                </a:ext>
              </a:extLst>
            </p:cNvPr>
            <p:cNvSpPr/>
            <p:nvPr/>
          </p:nvSpPr>
          <p:spPr bwMode="auto">
            <a:xfrm>
              <a:off x="7374138" y="3264125"/>
              <a:ext cx="935231" cy="707886"/>
            </a:xfrm>
            <a:prstGeom prst="rect">
              <a:avLst/>
            </a:prstGeom>
          </p:spPr>
          <p:txBody>
            <a:bodyPr wrap="square">
              <a:spAutoFit/>
            </a:bodyPr>
            <a:lstStyle/>
            <a:p>
              <a:pPr defTabSz="685754">
                <a:defRPr/>
              </a:pPr>
              <a:r>
                <a:rPr lang="de-DE" sz="1000" noProof="1">
                  <a:solidFill>
                    <a:srgbClr val="5FB564"/>
                  </a:solidFill>
                  <a:latin typeface="Bahnschrift" panose="020B0502040204020203" pitchFamily="34" charset="0"/>
                </a:rPr>
                <a:t>Gebäude-Betrieb </a:t>
              </a:r>
            </a:p>
            <a:p>
              <a:pPr defTabSz="685754">
                <a:defRPr/>
              </a:pPr>
              <a:r>
                <a:rPr lang="de-DE" sz="1000" noProof="1">
                  <a:solidFill>
                    <a:srgbClr val="5FB564"/>
                  </a:solidFill>
                  <a:latin typeface="Bahnschrift" panose="020B0502040204020203" pitchFamily="34" charset="0"/>
                </a:rPr>
                <a:t>und -Nutzung</a:t>
              </a:r>
            </a:p>
          </p:txBody>
        </p:sp>
        <p:sp>
          <p:nvSpPr>
            <p:cNvPr id="633" name="Rechteck 632">
              <a:extLst>
                <a:ext uri="{FF2B5EF4-FFF2-40B4-BE49-F238E27FC236}">
                  <a16:creationId xmlns:a16="http://schemas.microsoft.com/office/drawing/2014/main" id="{B5D9A6AA-F7BA-D440-2F5F-0F664E7ED786}"/>
                </a:ext>
              </a:extLst>
            </p:cNvPr>
            <p:cNvSpPr/>
            <p:nvPr/>
          </p:nvSpPr>
          <p:spPr bwMode="auto">
            <a:xfrm>
              <a:off x="8525475" y="3221346"/>
              <a:ext cx="931012" cy="861774"/>
            </a:xfrm>
            <a:prstGeom prst="rect">
              <a:avLst/>
            </a:prstGeom>
          </p:spPr>
          <p:txBody>
            <a:bodyPr wrap="square">
              <a:spAutoFit/>
            </a:bodyPr>
            <a:lstStyle/>
            <a:p>
              <a:pPr defTabSz="685754">
                <a:defRPr/>
              </a:pPr>
              <a:r>
                <a:rPr lang="de-DE" sz="1000" noProof="1">
                  <a:solidFill>
                    <a:srgbClr val="00B050"/>
                  </a:solidFill>
                  <a:latin typeface="Bahnschrift" panose="020B0502040204020203" pitchFamily="34" charset="0"/>
                </a:rPr>
                <a:t>Lokale </a:t>
              </a:r>
            </a:p>
            <a:p>
              <a:pPr defTabSz="685754">
                <a:defRPr/>
              </a:pPr>
              <a:r>
                <a:rPr lang="de-DE" sz="1000" noProof="1">
                  <a:solidFill>
                    <a:srgbClr val="00B050"/>
                  </a:solidFill>
                  <a:latin typeface="Bahnschrift" panose="020B0502040204020203" pitchFamily="34" charset="0"/>
                </a:rPr>
                <a:t>Erneuer-bare</a:t>
              </a:r>
            </a:p>
            <a:p>
              <a:pPr defTabSz="685754">
                <a:defRPr/>
              </a:pPr>
              <a:r>
                <a:rPr lang="de-DE" sz="1000" noProof="1">
                  <a:solidFill>
                    <a:srgbClr val="00B050"/>
                  </a:solidFill>
                  <a:latin typeface="Bahnschrift" panose="020B0502040204020203" pitchFamily="34" charset="0"/>
                </a:rPr>
                <a:t>Energie-Quelle</a:t>
              </a:r>
            </a:p>
          </p:txBody>
        </p:sp>
        <p:sp>
          <p:nvSpPr>
            <p:cNvPr id="634" name="Rechteck 633">
              <a:extLst>
                <a:ext uri="{FF2B5EF4-FFF2-40B4-BE49-F238E27FC236}">
                  <a16:creationId xmlns:a16="http://schemas.microsoft.com/office/drawing/2014/main" id="{64DB7BA8-7431-7290-C0FC-1ADD9B0EC7E8}"/>
                </a:ext>
              </a:extLst>
            </p:cNvPr>
            <p:cNvSpPr/>
            <p:nvPr/>
          </p:nvSpPr>
          <p:spPr bwMode="auto">
            <a:xfrm>
              <a:off x="7416498" y="4248743"/>
              <a:ext cx="943409" cy="415498"/>
            </a:xfrm>
            <a:prstGeom prst="rect">
              <a:avLst/>
            </a:prstGeom>
          </p:spPr>
          <p:txBody>
            <a:bodyPr wrap="square">
              <a:spAutoFit/>
            </a:bodyPr>
            <a:lstStyle/>
            <a:p>
              <a:pPr algn="r" defTabSz="685754">
                <a:defRPr/>
              </a:pPr>
              <a:r>
                <a:rPr lang="de-DE" sz="1050" noProof="1">
                  <a:solidFill>
                    <a:srgbClr val="0070C0"/>
                  </a:solidFill>
                  <a:latin typeface="Bahnschrift" panose="020B0502040204020203" pitchFamily="34" charset="0"/>
                </a:rPr>
                <a:t>MIV</a:t>
              </a:r>
            </a:p>
            <a:p>
              <a:pPr defTabSz="685754">
                <a:defRPr/>
              </a:pPr>
              <a:endParaRPr lang="de-DE" sz="1050" noProof="1">
                <a:solidFill>
                  <a:srgbClr val="0070C0"/>
                </a:solidFill>
                <a:latin typeface="Bahnschrift" panose="020B0502040204020203" pitchFamily="34" charset="0"/>
              </a:endParaRPr>
            </a:p>
          </p:txBody>
        </p:sp>
        <p:sp>
          <p:nvSpPr>
            <p:cNvPr id="635" name="Band: nach unten gekippt 634">
              <a:extLst>
                <a:ext uri="{FF2B5EF4-FFF2-40B4-BE49-F238E27FC236}">
                  <a16:creationId xmlns:a16="http://schemas.microsoft.com/office/drawing/2014/main" id="{662E44A4-9832-BDEA-C346-A83532DE3C06}"/>
                </a:ext>
              </a:extLst>
            </p:cNvPr>
            <p:cNvSpPr/>
            <p:nvPr/>
          </p:nvSpPr>
          <p:spPr bwMode="auto">
            <a:xfrm>
              <a:off x="7425738" y="2676291"/>
              <a:ext cx="1728000" cy="540000"/>
            </a:xfrm>
            <a:prstGeom prst="ribbon">
              <a:avLst>
                <a:gd name="adj1" fmla="val 15670"/>
                <a:gd name="adj2" fmla="val 75000"/>
              </a:avLst>
            </a:prstGeom>
            <a:solidFill>
              <a:srgbClr val="3BACBE">
                <a:lumMod val="60000"/>
                <a:lumOff val="40000"/>
              </a:srgbClr>
            </a:solidFill>
            <a:ln w="6350" cap="flat" cmpd="sng" algn="ctr">
              <a:noFill/>
              <a:prstDash val="solid"/>
              <a:miter lim="800000"/>
            </a:ln>
            <a:effectLst/>
          </p:spPr>
          <p:txBody>
            <a:bodyPr rtlCol="0" anchor="ctr"/>
            <a:lstStyle/>
            <a:p>
              <a:pPr algn="ctr" defTabSz="1219089">
                <a:defRPr/>
              </a:pPr>
              <a:endParaRPr lang="de-DE" sz="2133" kern="0" noProof="1">
                <a:solidFill>
                  <a:srgbClr val="E6EFF3"/>
                </a:solidFill>
                <a:latin typeface="Calibri" panose="020F0502020204030204"/>
              </a:endParaRPr>
            </a:p>
          </p:txBody>
        </p:sp>
        <p:sp>
          <p:nvSpPr>
            <p:cNvPr id="636" name="Band: nach unten gekippt 635">
              <a:extLst>
                <a:ext uri="{FF2B5EF4-FFF2-40B4-BE49-F238E27FC236}">
                  <a16:creationId xmlns:a16="http://schemas.microsoft.com/office/drawing/2014/main" id="{70C3AA94-A184-62C6-F86E-B122B7F9620F}"/>
                </a:ext>
              </a:extLst>
            </p:cNvPr>
            <p:cNvSpPr/>
            <p:nvPr/>
          </p:nvSpPr>
          <p:spPr bwMode="auto">
            <a:xfrm>
              <a:off x="5544829" y="2985795"/>
              <a:ext cx="1728000" cy="540000"/>
            </a:xfrm>
            <a:prstGeom prst="ribbon">
              <a:avLst>
                <a:gd name="adj1" fmla="val 17116"/>
                <a:gd name="adj2" fmla="val 75000"/>
              </a:avLst>
            </a:prstGeom>
            <a:solidFill>
              <a:srgbClr val="950F53"/>
            </a:solidFill>
            <a:ln w="6350" cap="flat" cmpd="sng" algn="ctr">
              <a:noFill/>
              <a:prstDash val="solid"/>
              <a:miter lim="800000"/>
            </a:ln>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637" name="Rechteck 636">
              <a:extLst>
                <a:ext uri="{FF2B5EF4-FFF2-40B4-BE49-F238E27FC236}">
                  <a16:creationId xmlns:a16="http://schemas.microsoft.com/office/drawing/2014/main" id="{F5C4E84D-C1FF-4E5D-1AB1-D163536B4BA4}"/>
                </a:ext>
              </a:extLst>
            </p:cNvPr>
            <p:cNvSpPr/>
            <p:nvPr/>
          </p:nvSpPr>
          <p:spPr bwMode="auto">
            <a:xfrm>
              <a:off x="5758697" y="3096363"/>
              <a:ext cx="1333351" cy="415498"/>
            </a:xfrm>
            <a:prstGeom prst="rect">
              <a:avLst/>
            </a:prstGeom>
          </p:spPr>
          <p:txBody>
            <a:bodyPr wrap="square">
              <a:spAutoFit/>
            </a:bodyPr>
            <a:lstStyle/>
            <a:p>
              <a:pPr algn="ctr" defTabSz="914316">
                <a:defRPr/>
              </a:pPr>
              <a:r>
                <a:rPr lang="de-DE" sz="1050" b="1" noProof="1">
                  <a:solidFill>
                    <a:srgbClr val="FFFFFF"/>
                  </a:solidFill>
                  <a:latin typeface="Bahnschrift" panose="020B0502040204020203" pitchFamily="34" charset="0"/>
                </a:rPr>
                <a:t>Plus-Energie-Quartier</a:t>
              </a:r>
            </a:p>
          </p:txBody>
        </p:sp>
        <p:grpSp>
          <p:nvGrpSpPr>
            <p:cNvPr id="638" name="Gruppieren 637">
              <a:extLst>
                <a:ext uri="{FF2B5EF4-FFF2-40B4-BE49-F238E27FC236}">
                  <a16:creationId xmlns:a16="http://schemas.microsoft.com/office/drawing/2014/main" id="{986E2C7F-3B06-CE33-F071-C077764E2059}"/>
                </a:ext>
              </a:extLst>
            </p:cNvPr>
            <p:cNvGrpSpPr/>
            <p:nvPr/>
          </p:nvGrpSpPr>
          <p:grpSpPr>
            <a:xfrm>
              <a:off x="6152529" y="2653599"/>
              <a:ext cx="483327" cy="460448"/>
              <a:chOff x="640424" y="760723"/>
              <a:chExt cx="730208" cy="730206"/>
            </a:xfrm>
            <a:solidFill>
              <a:srgbClr val="1F00CC"/>
            </a:solidFill>
            <a:effectLst>
              <a:outerShdw blurRad="50800" dist="38100" dir="2700000" algn="tl" rotWithShape="0">
                <a:prstClr val="black">
                  <a:alpha val="40000"/>
                </a:prstClr>
              </a:outerShdw>
            </a:effectLst>
          </p:grpSpPr>
          <p:sp>
            <p:nvSpPr>
              <p:cNvPr id="639" name="Stern: 12 Zacken 638">
                <a:extLst>
                  <a:ext uri="{FF2B5EF4-FFF2-40B4-BE49-F238E27FC236}">
                    <a16:creationId xmlns:a16="http://schemas.microsoft.com/office/drawing/2014/main" id="{E88CE428-EAEE-9110-D4AD-EA924FD421DA}"/>
                  </a:ext>
                </a:extLst>
              </p:cNvPr>
              <p:cNvSpPr/>
              <p:nvPr/>
            </p:nvSpPr>
            <p:spPr>
              <a:xfrm>
                <a:off x="640424" y="760723"/>
                <a:ext cx="730208" cy="730206"/>
              </a:xfrm>
              <a:prstGeom prst="star12">
                <a:avLst>
                  <a:gd name="adj" fmla="val 44170"/>
                </a:avLst>
              </a:prstGeom>
              <a:solidFill>
                <a:srgbClr val="950F53"/>
              </a:solidFill>
              <a:ln w="12700" cap="flat" cmpd="sng" algn="ctr">
                <a:solidFill>
                  <a:srgbClr val="950F53"/>
                </a:solidFill>
                <a:prstDash val="solid"/>
                <a:miter lim="800000"/>
              </a:ln>
              <a:effectLst>
                <a:innerShdw blurRad="63500" dist="50800" dir="13500000">
                  <a:srgbClr val="F59C00">
                    <a:lumMod val="20000"/>
                    <a:lumOff val="80000"/>
                    <a:alpha val="72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640" name="Building5" descr="{&quot;Key&quot;:&quot;POWER_USER_SHAPE_ICON&quot;,&quot;Value&quot;:&quot;POWER_USER_SHAPE_ICON_STYLE_1&quot;}">
                <a:extLst>
                  <a:ext uri="{FF2B5EF4-FFF2-40B4-BE49-F238E27FC236}">
                    <a16:creationId xmlns:a16="http://schemas.microsoft.com/office/drawing/2014/main" id="{5EF72BC5-4F56-851E-F26F-F72C2E7467D3}"/>
                  </a:ext>
                </a:extLst>
              </p:cNvPr>
              <p:cNvSpPr>
                <a:spLocks noChangeAspect="1" noEditPoints="1"/>
              </p:cNvSpPr>
              <p:nvPr>
                <p:custDataLst>
                  <p:tags r:id="rId13"/>
                </p:custDataLst>
              </p:nvPr>
            </p:nvSpPr>
            <p:spPr bwMode="auto">
              <a:xfrm>
                <a:off x="757342" y="875488"/>
                <a:ext cx="490330" cy="43677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950F53"/>
              </a:solidFill>
              <a:ln>
                <a:noFill/>
              </a:ln>
              <a:effectLst>
                <a:glow rad="38100">
                  <a:srgbClr val="F59C00">
                    <a:lumMod val="20000"/>
                    <a:lumOff val="80000"/>
                    <a:alpha val="68000"/>
                  </a:srgbClr>
                </a:glow>
              </a:effectLst>
            </p:spPr>
            <p:txBody>
              <a:bodyPr vert="horz" wrap="square" lIns="91440" tIns="45720" rIns="91440" bIns="45720" numCol="1" anchor="t" anchorCtr="0" compatLnSpc="1">
                <a:prstTxWarp prst="textNoShape">
                  <a:avLst/>
                </a:prstTxWarp>
              </a:bodyPr>
              <a:lstStyle/>
              <a:p>
                <a:pPr defTabSz="914316">
                  <a:defRPr/>
                </a:pPr>
                <a:endParaRPr lang="de-DE" sz="1200" kern="0" noProof="1">
                  <a:solidFill>
                    <a:prstClr val="black"/>
                  </a:solidFill>
                  <a:latin typeface="Calibri" panose="020F0502020204030204"/>
                </a:endParaRPr>
              </a:p>
            </p:txBody>
          </p:sp>
        </p:grpSp>
        <p:sp>
          <p:nvSpPr>
            <p:cNvPr id="641" name="Band: nach unten gekippt 640">
              <a:extLst>
                <a:ext uri="{FF2B5EF4-FFF2-40B4-BE49-F238E27FC236}">
                  <a16:creationId xmlns:a16="http://schemas.microsoft.com/office/drawing/2014/main" id="{AE21AF56-AA1B-7846-912A-477DE1B69B35}"/>
                </a:ext>
              </a:extLst>
            </p:cNvPr>
            <p:cNvSpPr/>
            <p:nvPr/>
          </p:nvSpPr>
          <p:spPr bwMode="auto">
            <a:xfrm>
              <a:off x="9300904" y="2860960"/>
              <a:ext cx="1775199" cy="540000"/>
            </a:xfrm>
            <a:prstGeom prst="ribbon">
              <a:avLst>
                <a:gd name="adj1" fmla="val 19017"/>
                <a:gd name="adj2" fmla="val 75000"/>
              </a:avLst>
            </a:prstGeom>
            <a:solidFill>
              <a:srgbClr val="F59C00">
                <a:lumMod val="60000"/>
                <a:lumOff val="40000"/>
              </a:srgbClr>
            </a:solidFill>
            <a:ln w="6350" cap="flat" cmpd="sng" algn="ctr">
              <a:noFill/>
              <a:prstDash val="solid"/>
              <a:miter lim="800000"/>
            </a:ln>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642" name="Rechteck 641">
              <a:extLst>
                <a:ext uri="{FF2B5EF4-FFF2-40B4-BE49-F238E27FC236}">
                  <a16:creationId xmlns:a16="http://schemas.microsoft.com/office/drawing/2014/main" id="{9D02CFAD-6E30-004D-A48A-E6FD3314CA71}"/>
                </a:ext>
              </a:extLst>
            </p:cNvPr>
            <p:cNvSpPr/>
            <p:nvPr/>
          </p:nvSpPr>
          <p:spPr bwMode="auto">
            <a:xfrm>
              <a:off x="9363854" y="3014446"/>
              <a:ext cx="1784392" cy="415498"/>
            </a:xfrm>
            <a:prstGeom prst="rect">
              <a:avLst/>
            </a:prstGeom>
          </p:spPr>
          <p:txBody>
            <a:bodyPr wrap="square">
              <a:spAutoFit/>
            </a:bodyPr>
            <a:lstStyle/>
            <a:p>
              <a:pPr algn="ctr" defTabSz="914316">
                <a:defRPr/>
              </a:pPr>
              <a:r>
                <a:rPr lang="de-DE" sz="1050" b="1" noProof="1">
                  <a:solidFill>
                    <a:prstClr val="black"/>
                  </a:solidFill>
                  <a:latin typeface="Bahnschrift" panose="020B0502040204020203" pitchFamily="34" charset="0"/>
                </a:rPr>
                <a:t>Plus-Energie-Quartier</a:t>
              </a:r>
            </a:p>
            <a:p>
              <a:pPr algn="ctr" defTabSz="914316">
                <a:defRPr/>
              </a:pPr>
              <a:r>
                <a:rPr lang="de-DE" sz="1050" b="1" noProof="1">
                  <a:solidFill>
                    <a:prstClr val="black"/>
                  </a:solidFill>
                  <a:latin typeface="Bahnschrift" panose="020B0502040204020203" pitchFamily="34" charset="0"/>
                </a:rPr>
                <a:t>Mit Mobilität</a:t>
              </a:r>
            </a:p>
          </p:txBody>
        </p:sp>
        <p:grpSp>
          <p:nvGrpSpPr>
            <p:cNvPr id="643" name="Gruppieren 642">
              <a:extLst>
                <a:ext uri="{FF2B5EF4-FFF2-40B4-BE49-F238E27FC236}">
                  <a16:creationId xmlns:a16="http://schemas.microsoft.com/office/drawing/2014/main" id="{64AA4B88-C21E-8461-1106-1B38724DBAA6}"/>
                </a:ext>
              </a:extLst>
            </p:cNvPr>
            <p:cNvGrpSpPr/>
            <p:nvPr/>
          </p:nvGrpSpPr>
          <p:grpSpPr>
            <a:xfrm>
              <a:off x="9837711" y="2335726"/>
              <a:ext cx="700101" cy="694145"/>
              <a:chOff x="4399640" y="1143095"/>
              <a:chExt cx="785172" cy="778492"/>
            </a:xfrm>
            <a:solidFill>
              <a:srgbClr val="F59C00"/>
            </a:solidFill>
            <a:effectLst>
              <a:outerShdw blurRad="50800" dist="38100" dir="2700000" algn="tl" rotWithShape="0">
                <a:prstClr val="black">
                  <a:alpha val="40000"/>
                </a:prstClr>
              </a:outerShdw>
            </a:effectLst>
          </p:grpSpPr>
          <p:sp>
            <p:nvSpPr>
              <p:cNvPr id="644" name="Stern: 10 Zacken 643">
                <a:extLst>
                  <a:ext uri="{FF2B5EF4-FFF2-40B4-BE49-F238E27FC236}">
                    <a16:creationId xmlns:a16="http://schemas.microsoft.com/office/drawing/2014/main" id="{F06206CF-B670-4652-D1A3-E7FB431102C6}"/>
                  </a:ext>
                </a:extLst>
              </p:cNvPr>
              <p:cNvSpPr/>
              <p:nvPr/>
            </p:nvSpPr>
            <p:spPr>
              <a:xfrm>
                <a:off x="4399640" y="1143095"/>
                <a:ext cx="785172" cy="778492"/>
              </a:xfrm>
              <a:prstGeom prst="star10">
                <a:avLst>
                  <a:gd name="adj" fmla="val 44491"/>
                  <a:gd name="hf" fmla="val 105146"/>
                </a:avLst>
              </a:prstGeom>
              <a:grpFill/>
              <a:ln w="19050" cap="flat" cmpd="sng" algn="ctr">
                <a:solidFill>
                  <a:srgbClr val="F59C00"/>
                </a:solidFill>
                <a:prstDash val="solid"/>
                <a:miter lim="800000"/>
              </a:ln>
              <a:effectLst>
                <a:innerShdw blurRad="63500" dist="50800" dir="13500000">
                  <a:srgbClr val="F59C00">
                    <a:alpha val="77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645" name="Zehneck 644">
                <a:extLst>
                  <a:ext uri="{FF2B5EF4-FFF2-40B4-BE49-F238E27FC236}">
                    <a16:creationId xmlns:a16="http://schemas.microsoft.com/office/drawing/2014/main" id="{F7545105-7495-8428-1C68-40A57FEE7AD3}"/>
                  </a:ext>
                </a:extLst>
              </p:cNvPr>
              <p:cNvSpPr/>
              <p:nvPr/>
            </p:nvSpPr>
            <p:spPr>
              <a:xfrm>
                <a:off x="4476265" y="1217862"/>
                <a:ext cx="620528" cy="620529"/>
              </a:xfrm>
              <a:prstGeom prst="decagon">
                <a:avLst/>
              </a:prstGeom>
              <a:solidFill>
                <a:srgbClr val="950F53"/>
              </a:solidFill>
              <a:ln w="12700" cap="flat" cmpd="sng" algn="ctr">
                <a:solidFill>
                  <a:srgbClr val="950F53"/>
                </a:solidFill>
                <a:prstDash val="solid"/>
                <a:miter lim="800000"/>
              </a:ln>
              <a:effectLst>
                <a:innerShdw blurRad="63500" dist="50800" dir="13500000">
                  <a:srgbClr val="F59C00">
                    <a:lumMod val="20000"/>
                    <a:lumOff val="80000"/>
                    <a:alpha val="72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646" name="Building5" descr="{&quot;Key&quot;:&quot;POWER_USER_SHAPE_ICON&quot;,&quot;Value&quot;:&quot;POWER_USER_SHAPE_ICON_STYLE_1&quot;}">
                <a:extLst>
                  <a:ext uri="{FF2B5EF4-FFF2-40B4-BE49-F238E27FC236}">
                    <a16:creationId xmlns:a16="http://schemas.microsoft.com/office/drawing/2014/main" id="{5887837E-EE41-C131-FD12-B24B22307EA5}"/>
                  </a:ext>
                </a:extLst>
              </p:cNvPr>
              <p:cNvSpPr>
                <a:spLocks noChangeAspect="1" noEditPoints="1"/>
              </p:cNvSpPr>
              <p:nvPr>
                <p:custDataLst>
                  <p:tags r:id="rId12"/>
                </p:custDataLst>
              </p:nvPr>
            </p:nvSpPr>
            <p:spPr bwMode="auto">
              <a:xfrm>
                <a:off x="4550947" y="1301271"/>
                <a:ext cx="461320" cy="410937"/>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59C00"/>
              </a:solidFill>
              <a:ln>
                <a:noFill/>
              </a:ln>
              <a:effectLst>
                <a:glow rad="76200">
                  <a:srgbClr val="F59C00">
                    <a:lumMod val="20000"/>
                    <a:lumOff val="80000"/>
                    <a:alpha val="88000"/>
                  </a:srgbClr>
                </a:glow>
              </a:effectLst>
            </p:spPr>
            <p:txBody>
              <a:bodyPr vert="horz" wrap="square" lIns="91440" tIns="45720" rIns="91440" bIns="45720" numCol="1" anchor="t" anchorCtr="0" compatLnSpc="1">
                <a:prstTxWarp prst="textNoShape">
                  <a:avLst/>
                </a:prstTxWarp>
              </a:bodyPr>
              <a:lstStyle/>
              <a:p>
                <a:pPr defTabSz="914316">
                  <a:defRPr/>
                </a:pPr>
                <a:endParaRPr lang="de-DE" sz="1200" kern="0" noProof="1">
                  <a:solidFill>
                    <a:prstClr val="black"/>
                  </a:solidFill>
                  <a:latin typeface="Calibri" panose="020F0502020204030204"/>
                </a:endParaRPr>
              </a:p>
            </p:txBody>
          </p:sp>
        </p:grpSp>
        <p:sp>
          <p:nvSpPr>
            <p:cNvPr id="647" name="Stern: 12 Zacken 646">
              <a:extLst>
                <a:ext uri="{FF2B5EF4-FFF2-40B4-BE49-F238E27FC236}">
                  <a16:creationId xmlns:a16="http://schemas.microsoft.com/office/drawing/2014/main" id="{53C1C1CD-7C92-5D18-3C11-9667EA166026}"/>
                </a:ext>
              </a:extLst>
            </p:cNvPr>
            <p:cNvSpPr/>
            <p:nvPr/>
          </p:nvSpPr>
          <p:spPr bwMode="auto">
            <a:xfrm>
              <a:off x="7880944" y="2000249"/>
              <a:ext cx="887815" cy="852252"/>
            </a:xfrm>
            <a:prstGeom prst="star12">
              <a:avLst>
                <a:gd name="adj" fmla="val 47681"/>
              </a:avLst>
            </a:prstGeom>
            <a:solidFill>
              <a:srgbClr val="3BACBE"/>
            </a:solidFill>
            <a:ln w="19050" cap="flat" cmpd="sng" algn="ctr">
              <a:solidFill>
                <a:srgbClr val="3BACBE"/>
              </a:solidFill>
              <a:prstDash val="solid"/>
              <a:miter lim="800000"/>
            </a:ln>
            <a:effectLst>
              <a:innerShdw blurRad="63500" dist="50800" dir="13500000">
                <a:srgbClr val="5FB564">
                  <a:lumMod val="20000"/>
                  <a:lumOff val="80000"/>
                  <a:alpha val="86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648" name="Textfeld 647">
              <a:extLst>
                <a:ext uri="{FF2B5EF4-FFF2-40B4-BE49-F238E27FC236}">
                  <a16:creationId xmlns:a16="http://schemas.microsoft.com/office/drawing/2014/main" id="{84568243-3393-1B77-CF39-B498C73F0A15}"/>
                </a:ext>
              </a:extLst>
            </p:cNvPr>
            <p:cNvSpPr txBox="1"/>
            <p:nvPr/>
          </p:nvSpPr>
          <p:spPr bwMode="auto">
            <a:xfrm>
              <a:off x="7256457" y="2791443"/>
              <a:ext cx="2085163" cy="415498"/>
            </a:xfrm>
            <a:prstGeom prst="rect">
              <a:avLst/>
            </a:prstGeom>
            <a:noFill/>
          </p:spPr>
          <p:txBody>
            <a:bodyPr wrap="square">
              <a:spAutoFit/>
            </a:bodyPr>
            <a:lstStyle/>
            <a:p>
              <a:pPr algn="ctr" defTabSz="914316">
                <a:defRPr/>
              </a:pPr>
              <a:r>
                <a:rPr lang="de-DE" sz="1050" b="1" noProof="1">
                  <a:solidFill>
                    <a:prstClr val="black"/>
                  </a:solidFill>
                  <a:latin typeface="Bahnschrift" panose="020B0502040204020203" pitchFamily="34" charset="0"/>
                </a:rPr>
                <a:t>Klimaneutrales</a:t>
              </a:r>
            </a:p>
            <a:p>
              <a:pPr algn="ctr" defTabSz="914316">
                <a:defRPr/>
              </a:pPr>
              <a:r>
                <a:rPr lang="de-DE" sz="1050" b="1" noProof="1">
                  <a:solidFill>
                    <a:prstClr val="black"/>
                  </a:solidFill>
                  <a:latin typeface="Bahnschrift" panose="020B0502040204020203" pitchFamily="34" charset="0"/>
                </a:rPr>
                <a:t>Plus-Energie-Quartier</a:t>
              </a:r>
            </a:p>
          </p:txBody>
        </p:sp>
        <p:sp>
          <p:nvSpPr>
            <p:cNvPr id="649" name="Stern: 10 Zacken 648">
              <a:extLst>
                <a:ext uri="{FF2B5EF4-FFF2-40B4-BE49-F238E27FC236}">
                  <a16:creationId xmlns:a16="http://schemas.microsoft.com/office/drawing/2014/main" id="{9FE76D16-01C9-0EE9-D7E7-987F96897603}"/>
                </a:ext>
              </a:extLst>
            </p:cNvPr>
            <p:cNvSpPr/>
            <p:nvPr/>
          </p:nvSpPr>
          <p:spPr bwMode="auto">
            <a:xfrm>
              <a:off x="7931444" y="2039662"/>
              <a:ext cx="785429" cy="778749"/>
            </a:xfrm>
            <a:prstGeom prst="star10">
              <a:avLst>
                <a:gd name="adj" fmla="val 44491"/>
                <a:gd name="hf" fmla="val 105146"/>
              </a:avLst>
            </a:prstGeom>
            <a:solidFill>
              <a:srgbClr val="F59C00"/>
            </a:solidFill>
            <a:ln w="19050" cap="flat" cmpd="sng" algn="ctr">
              <a:solidFill>
                <a:srgbClr val="F59C00"/>
              </a:solidFill>
              <a:prstDash val="solid"/>
              <a:miter lim="800000"/>
            </a:ln>
            <a:effectLst>
              <a:innerShdw blurRad="63500" dist="50800" dir="13500000">
                <a:srgbClr val="F59C00">
                  <a:alpha val="77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650" name="Zehneck 649">
              <a:extLst>
                <a:ext uri="{FF2B5EF4-FFF2-40B4-BE49-F238E27FC236}">
                  <a16:creationId xmlns:a16="http://schemas.microsoft.com/office/drawing/2014/main" id="{136BB3FE-6479-7D09-B773-9AA8C9FFDB72}"/>
                </a:ext>
              </a:extLst>
            </p:cNvPr>
            <p:cNvSpPr/>
            <p:nvPr/>
          </p:nvSpPr>
          <p:spPr bwMode="auto">
            <a:xfrm>
              <a:off x="8009724" y="2116788"/>
              <a:ext cx="620731" cy="620735"/>
            </a:xfrm>
            <a:prstGeom prst="decagon">
              <a:avLst/>
            </a:prstGeom>
            <a:solidFill>
              <a:srgbClr val="950F53"/>
            </a:solidFill>
            <a:ln w="12700" cap="flat" cmpd="sng" algn="ctr">
              <a:solidFill>
                <a:srgbClr val="950F53"/>
              </a:solidFill>
              <a:prstDash val="solid"/>
              <a:miter lim="800000"/>
            </a:ln>
            <a:effectLst>
              <a:innerShdw blurRad="63500" dist="50800" dir="13500000">
                <a:srgbClr val="F59C00">
                  <a:lumMod val="20000"/>
                  <a:lumOff val="80000"/>
                  <a:alpha val="72000"/>
                </a:srgbClr>
              </a:innerShdw>
            </a:effectLst>
          </p:spPr>
          <p:txBody>
            <a:bodyPr rtlCol="0" anchor="ctr"/>
            <a:lstStyle/>
            <a:p>
              <a:pPr algn="ctr" defTabSz="1219089">
                <a:defRPr/>
              </a:pPr>
              <a:endParaRPr lang="de-DE" sz="1400" kern="0" noProof="1">
                <a:solidFill>
                  <a:srgbClr val="E6EFF3"/>
                </a:solidFill>
                <a:latin typeface="Calibri" panose="020F0502020204030204"/>
              </a:endParaRPr>
            </a:p>
          </p:txBody>
        </p:sp>
        <p:sp>
          <p:nvSpPr>
            <p:cNvPr id="651" name="Building5" descr="{&quot;Key&quot;:&quot;POWER_USER_SHAPE_ICON&quot;,&quot;Value&quot;:&quot;POWER_USER_SHAPE_ICON_STYLE_1&quot;}">
              <a:extLst>
                <a:ext uri="{FF2B5EF4-FFF2-40B4-BE49-F238E27FC236}">
                  <a16:creationId xmlns:a16="http://schemas.microsoft.com/office/drawing/2014/main" id="{BFEA427A-CA86-9554-D399-1F954F2C5B76}"/>
                </a:ext>
              </a:extLst>
            </p:cNvPr>
            <p:cNvSpPr>
              <a:spLocks noChangeAspect="1" noEditPoints="1"/>
            </p:cNvSpPr>
            <p:nvPr>
              <p:custDataLst>
                <p:tags r:id="rId4"/>
              </p:custDataLst>
            </p:nvPr>
          </p:nvSpPr>
          <p:spPr bwMode="auto">
            <a:xfrm>
              <a:off x="8111286" y="2229349"/>
              <a:ext cx="411337" cy="366413"/>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3BACBE"/>
            </a:solidFill>
            <a:ln>
              <a:noFill/>
            </a:ln>
            <a:effectLst>
              <a:glow rad="101600">
                <a:srgbClr val="F59C00">
                  <a:lumMod val="20000"/>
                  <a:lumOff val="80000"/>
                  <a:alpha val="86000"/>
                </a:srgbClr>
              </a:glow>
              <a:innerShdw blurRad="63500" dist="50800" dir="13500000">
                <a:srgbClr val="61FFA8">
                  <a:alpha val="38000"/>
                </a:srgbClr>
              </a:innerShdw>
            </a:effectLst>
          </p:spPr>
          <p:txBody>
            <a:bodyPr vert="horz" wrap="square" lIns="91440" tIns="45720" rIns="91440" bIns="45720" numCol="1" anchor="t" anchorCtr="0" compatLnSpc="1">
              <a:prstTxWarp prst="textNoShape">
                <a:avLst/>
              </a:prstTxWarp>
            </a:bodyPr>
            <a:lstStyle/>
            <a:p>
              <a:pPr defTabSz="914316">
                <a:defRPr/>
              </a:pPr>
              <a:endParaRPr lang="de-DE" sz="1200" kern="0" noProof="1">
                <a:solidFill>
                  <a:prstClr val="black"/>
                </a:solidFill>
                <a:latin typeface="Calibri" panose="020F0502020204030204"/>
              </a:endParaRPr>
            </a:p>
          </p:txBody>
        </p:sp>
        <p:grpSp>
          <p:nvGrpSpPr>
            <p:cNvPr id="652" name="Gruppieren 651">
              <a:extLst>
                <a:ext uri="{FF2B5EF4-FFF2-40B4-BE49-F238E27FC236}">
                  <a16:creationId xmlns:a16="http://schemas.microsoft.com/office/drawing/2014/main" id="{FA489A41-7F7E-D99A-BA15-A7B082963A39}"/>
                </a:ext>
              </a:extLst>
            </p:cNvPr>
            <p:cNvGrpSpPr/>
            <p:nvPr/>
          </p:nvGrpSpPr>
          <p:grpSpPr>
            <a:xfrm>
              <a:off x="8682032" y="5020101"/>
              <a:ext cx="289932" cy="380068"/>
              <a:chOff x="9018358" y="3729507"/>
              <a:chExt cx="512820" cy="672248"/>
            </a:xfrm>
          </p:grpSpPr>
          <p:grpSp>
            <p:nvGrpSpPr>
              <p:cNvPr id="653" name="Gruppieren 652">
                <a:extLst>
                  <a:ext uri="{FF2B5EF4-FFF2-40B4-BE49-F238E27FC236}">
                    <a16:creationId xmlns:a16="http://schemas.microsoft.com/office/drawing/2014/main" id="{8D2F06FC-8BEC-222E-8B0D-1DBDC07A8DE9}"/>
                  </a:ext>
                </a:extLst>
              </p:cNvPr>
              <p:cNvGrpSpPr/>
              <p:nvPr/>
            </p:nvGrpSpPr>
            <p:grpSpPr>
              <a:xfrm>
                <a:off x="9018358" y="3729507"/>
                <a:ext cx="512820" cy="672248"/>
                <a:chOff x="0" y="3078492"/>
                <a:chExt cx="545343" cy="621971"/>
              </a:xfrm>
            </p:grpSpPr>
            <p:grpSp>
              <p:nvGrpSpPr>
                <p:cNvPr id="657" name="Gruppieren 656">
                  <a:extLst>
                    <a:ext uri="{FF2B5EF4-FFF2-40B4-BE49-F238E27FC236}">
                      <a16:creationId xmlns:a16="http://schemas.microsoft.com/office/drawing/2014/main" id="{EFECBC4E-59D2-4EFD-E583-44CE2E2983D8}"/>
                    </a:ext>
                  </a:extLst>
                </p:cNvPr>
                <p:cNvGrpSpPr/>
                <p:nvPr>
                  <p:custDataLst>
                    <p:tags r:id="rId10"/>
                  </p:custDataLst>
                </p:nvPr>
              </p:nvGrpSpPr>
              <p:grpSpPr>
                <a:xfrm>
                  <a:off x="0" y="3157538"/>
                  <a:ext cx="545343" cy="542925"/>
                  <a:chOff x="0" y="3157538"/>
                  <a:chExt cx="545343" cy="542925"/>
                </a:xfrm>
                <a:solidFill>
                  <a:srgbClr val="9954CC"/>
                </a:solidFill>
              </p:grpSpPr>
              <p:sp>
                <p:nvSpPr>
                  <p:cNvPr id="660" name="Freeform 203">
                    <a:extLst>
                      <a:ext uri="{FF2B5EF4-FFF2-40B4-BE49-F238E27FC236}">
                        <a16:creationId xmlns:a16="http://schemas.microsoft.com/office/drawing/2014/main" id="{C2FFE203-8C7C-66E0-0195-0413959A39BA}"/>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sp>
                <p:nvSpPr>
                  <p:cNvPr id="661" name="Freeform 204">
                    <a:extLst>
                      <a:ext uri="{FF2B5EF4-FFF2-40B4-BE49-F238E27FC236}">
                        <a16:creationId xmlns:a16="http://schemas.microsoft.com/office/drawing/2014/main" id="{6DA60BF8-C414-00AC-E073-294438ED64A5}"/>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sp>
                <p:nvSpPr>
                  <p:cNvPr id="662" name="Freeform 206">
                    <a:extLst>
                      <a:ext uri="{FF2B5EF4-FFF2-40B4-BE49-F238E27FC236}">
                        <a16:creationId xmlns:a16="http://schemas.microsoft.com/office/drawing/2014/main" id="{4C7671F3-0914-89B4-4E05-4313B6C95C88}"/>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grpSp>
            <p:sp>
              <p:nvSpPr>
                <p:cNvPr id="658" name="Freihandform 240">
                  <a:extLst>
                    <a:ext uri="{FF2B5EF4-FFF2-40B4-BE49-F238E27FC236}">
                      <a16:creationId xmlns:a16="http://schemas.microsoft.com/office/drawing/2014/main" id="{1D7C6ECC-88F1-39C3-425F-5725DD540D75}"/>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solidFill>
                  <a:sysClr val="window" lastClr="FFFFFF"/>
                </a:solid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Calibri" panose="020F0502020204030204"/>
                  </a:endParaRPr>
                </a:p>
              </p:txBody>
            </p:sp>
            <p:sp>
              <p:nvSpPr>
                <p:cNvPr id="659" name="Bolt3" descr="{&quot;Key&quot;:&quot;POWER_USER_SHAPE_ICON&quot;,&quot;Value&quot;:&quot;POWER_USER_SHAPE_ICON_STYLE_1&quot;}">
                  <a:extLst>
                    <a:ext uri="{FF2B5EF4-FFF2-40B4-BE49-F238E27FC236}">
                      <a16:creationId xmlns:a16="http://schemas.microsoft.com/office/drawing/2014/main" id="{F383415F-52AD-5FE0-0C5C-FE39AA2E3CCA}"/>
                    </a:ext>
                  </a:extLst>
                </p:cNvPr>
                <p:cNvSpPr>
                  <a:spLocks noChangeAspect="1"/>
                </p:cNvSpPr>
                <p:nvPr>
                  <p:custDataLst>
                    <p:tags r:id="rId11"/>
                  </p:custDataLst>
                </p:nvPr>
              </p:nvSpPr>
              <p:spPr bwMode="auto">
                <a:xfrm>
                  <a:off x="234737" y="3127907"/>
                  <a:ext cx="197755" cy="316407"/>
                </a:xfrm>
                <a:custGeom>
                  <a:avLst/>
                  <a:gdLst>
                    <a:gd name="T0" fmla="*/ 132 w 511"/>
                    <a:gd name="T1" fmla="*/ 773 h 815"/>
                    <a:gd name="T2" fmla="*/ 212 w 511"/>
                    <a:gd name="T3" fmla="*/ 474 h 815"/>
                    <a:gd name="T4" fmla="*/ 32 w 511"/>
                    <a:gd name="T5" fmla="*/ 474 h 815"/>
                    <a:gd name="T6" fmla="*/ 13 w 511"/>
                    <a:gd name="T7" fmla="*/ 435 h 815"/>
                    <a:gd name="T8" fmla="*/ 336 w 511"/>
                    <a:gd name="T9" fmla="*/ 21 h 815"/>
                    <a:gd name="T10" fmla="*/ 379 w 511"/>
                    <a:gd name="T11" fmla="*/ 42 h 815"/>
                    <a:gd name="T12" fmla="*/ 299 w 511"/>
                    <a:gd name="T13" fmla="*/ 341 h 815"/>
                    <a:gd name="T14" fmla="*/ 479 w 511"/>
                    <a:gd name="T15" fmla="*/ 341 h 815"/>
                    <a:gd name="T16" fmla="*/ 499 w 511"/>
                    <a:gd name="T17" fmla="*/ 380 h 815"/>
                    <a:gd name="T18" fmla="*/ 176 w 511"/>
                    <a:gd name="T19" fmla="*/ 794 h 815"/>
                    <a:gd name="T20" fmla="*/ 132 w 511"/>
                    <a:gd name="T21" fmla="*/ 773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1" h="815">
                      <a:moveTo>
                        <a:pt x="132" y="773"/>
                      </a:moveTo>
                      <a:lnTo>
                        <a:pt x="212" y="474"/>
                      </a:lnTo>
                      <a:lnTo>
                        <a:pt x="32" y="474"/>
                      </a:lnTo>
                      <a:cubicBezTo>
                        <a:pt x="12" y="474"/>
                        <a:pt x="0" y="450"/>
                        <a:pt x="13" y="435"/>
                      </a:cubicBezTo>
                      <a:lnTo>
                        <a:pt x="336" y="21"/>
                      </a:lnTo>
                      <a:cubicBezTo>
                        <a:pt x="352" y="0"/>
                        <a:pt x="386" y="17"/>
                        <a:pt x="379" y="42"/>
                      </a:cubicBezTo>
                      <a:lnTo>
                        <a:pt x="299" y="341"/>
                      </a:lnTo>
                      <a:lnTo>
                        <a:pt x="479" y="341"/>
                      </a:lnTo>
                      <a:cubicBezTo>
                        <a:pt x="500" y="341"/>
                        <a:pt x="511" y="365"/>
                        <a:pt x="499" y="380"/>
                      </a:cubicBezTo>
                      <a:lnTo>
                        <a:pt x="176" y="794"/>
                      </a:lnTo>
                      <a:cubicBezTo>
                        <a:pt x="159" y="815"/>
                        <a:pt x="125" y="798"/>
                        <a:pt x="132" y="773"/>
                      </a:cubicBez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Calibri" panose="020F0502020204030204"/>
                  </a:endParaRPr>
                </a:p>
              </p:txBody>
            </p:sp>
          </p:grpSp>
          <p:grpSp>
            <p:nvGrpSpPr>
              <p:cNvPr id="654" name="Gruppieren 653" descr="{&quot;Key&quot;:&quot;POWER_USER_SHAPE_ICON&quot;,&quot;Value&quot;:&quot;POWER_USER_SHAPE_ICON_STYLE_2&quot;}">
                <a:extLst>
                  <a:ext uri="{FF2B5EF4-FFF2-40B4-BE49-F238E27FC236}">
                    <a16:creationId xmlns:a16="http://schemas.microsoft.com/office/drawing/2014/main" id="{9CBAAFA2-9CBF-0076-8E59-66B865907F54}"/>
                  </a:ext>
                </a:extLst>
              </p:cNvPr>
              <p:cNvGrpSpPr>
                <a:grpSpLocks noChangeAspect="1"/>
              </p:cNvGrpSpPr>
              <p:nvPr/>
            </p:nvGrpSpPr>
            <p:grpSpPr>
              <a:xfrm>
                <a:off x="9163525" y="3777549"/>
                <a:ext cx="328332" cy="328332"/>
                <a:chOff x="7786650" y="4317126"/>
                <a:chExt cx="762000" cy="762000"/>
              </a:xfrm>
              <a:noFill/>
            </p:grpSpPr>
            <p:sp>
              <p:nvSpPr>
                <p:cNvPr id="655" name="POWER_USER_SHAPE_ICON_STYLE_2">
                  <a:extLst>
                    <a:ext uri="{FF2B5EF4-FFF2-40B4-BE49-F238E27FC236}">
                      <a16:creationId xmlns:a16="http://schemas.microsoft.com/office/drawing/2014/main" id="{310B72DB-CD3D-1423-1085-A3A6746F29DE}"/>
                    </a:ext>
                  </a:extLst>
                </p:cNvPr>
                <p:cNvSpPr/>
                <p:nvPr/>
              </p:nvSpPr>
              <p:spPr>
                <a:xfrm>
                  <a:off x="7786650" y="4317126"/>
                  <a:ext cx="762000" cy="762000"/>
                </a:xfrm>
                <a:prstGeom prst="ellipse">
                  <a:avLst/>
                </a:prstGeom>
                <a:solidFill>
                  <a:sysClr val="window" lastClr="FFFFFF"/>
                </a:solidFill>
                <a:ln w="28575" cap="flat" cmpd="sng" algn="ctr">
                  <a:solidFill>
                    <a:srgbClr val="9954CC"/>
                  </a:solidFill>
                  <a:prstDash val="sysDot"/>
                  <a:miter lim="800000"/>
                </a:ln>
                <a:effectLst/>
              </p:spPr>
              <p:txBody>
                <a:bodyPr rtlCol="0" anchor="ctr"/>
                <a:lstStyle/>
                <a:p>
                  <a:pPr algn="ctr" defTabSz="685754">
                    <a:defRPr/>
                  </a:pPr>
                  <a:endParaRPr lang="de-DE" sz="1350" kern="0" noProof="1">
                    <a:solidFill>
                      <a:srgbClr val="9954CC"/>
                    </a:solidFill>
                    <a:latin typeface="Calibri" panose="020F0502020204030204"/>
                  </a:endParaRPr>
                </a:p>
              </p:txBody>
            </p:sp>
            <p:sp>
              <p:nvSpPr>
                <p:cNvPr id="656" name="Building5" descr="{&quot;Key&quot;:&quot;POWER_USER_SHAPE_ICON&quot;,&quot;Value&quot;:&quot;POWER_USER_SHAPE_ICON_STYLE_1&quot;}">
                  <a:extLst>
                    <a:ext uri="{FF2B5EF4-FFF2-40B4-BE49-F238E27FC236}">
                      <a16:creationId xmlns:a16="http://schemas.microsoft.com/office/drawing/2014/main" id="{3381AF89-8469-F8A6-EC35-AD8EBDF25574}"/>
                    </a:ext>
                  </a:extLst>
                </p:cNvPr>
                <p:cNvSpPr>
                  <a:spLocks noChangeAspect="1" noEditPoints="1"/>
                </p:cNvSpPr>
                <p:nvPr>
                  <p:custDataLst>
                    <p:tags r:id="rId9"/>
                  </p:custDataLst>
                </p:nvPr>
              </p:nvSpPr>
              <p:spPr bwMode="auto">
                <a:xfrm>
                  <a:off x="7913650" y="4456556"/>
                  <a:ext cx="508000" cy="483141"/>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9954CC"/>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Calibri" panose="020F0502020204030204"/>
                  </a:endParaRPr>
                </a:p>
              </p:txBody>
            </p:sp>
          </p:grpSp>
        </p:grpSp>
        <p:grpSp>
          <p:nvGrpSpPr>
            <p:cNvPr id="663" name="Gruppieren 662">
              <a:extLst>
                <a:ext uri="{FF2B5EF4-FFF2-40B4-BE49-F238E27FC236}">
                  <a16:creationId xmlns:a16="http://schemas.microsoft.com/office/drawing/2014/main" id="{B6A04A6D-F977-5AAA-41A3-2A37B613EF16}"/>
                </a:ext>
              </a:extLst>
            </p:cNvPr>
            <p:cNvGrpSpPr/>
            <p:nvPr/>
          </p:nvGrpSpPr>
          <p:grpSpPr>
            <a:xfrm>
              <a:off x="8920043" y="5025444"/>
              <a:ext cx="297476" cy="389956"/>
              <a:chOff x="0" y="3078492"/>
              <a:chExt cx="545343" cy="621971"/>
            </a:xfrm>
            <a:solidFill>
              <a:srgbClr val="0070C0"/>
            </a:solidFill>
          </p:grpSpPr>
          <p:grpSp>
            <p:nvGrpSpPr>
              <p:cNvPr id="664" name="Gruppieren 663">
                <a:extLst>
                  <a:ext uri="{FF2B5EF4-FFF2-40B4-BE49-F238E27FC236}">
                    <a16:creationId xmlns:a16="http://schemas.microsoft.com/office/drawing/2014/main" id="{1AAB0E43-740A-4504-41DC-C6DBB31B7580}"/>
                  </a:ext>
                </a:extLst>
              </p:cNvPr>
              <p:cNvGrpSpPr/>
              <p:nvPr>
                <p:custDataLst>
                  <p:tags r:id="rId8"/>
                </p:custDataLst>
              </p:nvPr>
            </p:nvGrpSpPr>
            <p:grpSpPr>
              <a:xfrm>
                <a:off x="0" y="3157538"/>
                <a:ext cx="545343" cy="542925"/>
                <a:chOff x="0" y="3157538"/>
                <a:chExt cx="545343" cy="542925"/>
              </a:xfrm>
              <a:grpFill/>
            </p:grpSpPr>
            <p:sp>
              <p:nvSpPr>
                <p:cNvPr id="666" name="Freeform 203">
                  <a:extLst>
                    <a:ext uri="{FF2B5EF4-FFF2-40B4-BE49-F238E27FC236}">
                      <a16:creationId xmlns:a16="http://schemas.microsoft.com/office/drawing/2014/main" id="{C3AAEE5F-10F5-5395-ED0E-884C910017C2}"/>
                    </a:ext>
                  </a:extLst>
                </p:cNvPr>
                <p:cNvSpPr>
                  <a:spLocks/>
                </p:cNvSpPr>
                <p:nvPr/>
              </p:nvSpPr>
              <p:spPr bwMode="auto">
                <a:xfrm>
                  <a:off x="81015" y="3392120"/>
                  <a:ext cx="464328" cy="222490"/>
                </a:xfrm>
                <a:custGeom>
                  <a:avLst/>
                  <a:gdLst>
                    <a:gd name="T0" fmla="*/ 776 w 800"/>
                    <a:gd name="T1" fmla="*/ 20 h 382"/>
                    <a:gd name="T2" fmla="*/ 636 w 800"/>
                    <a:gd name="T3" fmla="*/ 80 h 382"/>
                    <a:gd name="T4" fmla="*/ 624 w 800"/>
                    <a:gd name="T5" fmla="*/ 108 h 382"/>
                    <a:gd name="T6" fmla="*/ 537 w 800"/>
                    <a:gd name="T7" fmla="*/ 166 h 382"/>
                    <a:gd name="T8" fmla="*/ 485 w 800"/>
                    <a:gd name="T9" fmla="*/ 126 h 382"/>
                    <a:gd name="T10" fmla="*/ 360 w 800"/>
                    <a:gd name="T11" fmla="*/ 122 h 382"/>
                    <a:gd name="T12" fmla="*/ 332 w 800"/>
                    <a:gd name="T13" fmla="*/ 108 h 382"/>
                    <a:gd name="T14" fmla="*/ 91 w 800"/>
                    <a:gd name="T15" fmla="*/ 118 h 382"/>
                    <a:gd name="T16" fmla="*/ 0 w 800"/>
                    <a:gd name="T17" fmla="*/ 209 h 382"/>
                    <a:gd name="T18" fmla="*/ 173 w 800"/>
                    <a:gd name="T19" fmla="*/ 382 h 382"/>
                    <a:gd name="T20" fmla="*/ 201 w 800"/>
                    <a:gd name="T21" fmla="*/ 354 h 382"/>
                    <a:gd name="T22" fmla="*/ 495 w 800"/>
                    <a:gd name="T23" fmla="*/ 354 h 382"/>
                    <a:gd name="T24" fmla="*/ 557 w 800"/>
                    <a:gd name="T25" fmla="*/ 332 h 382"/>
                    <a:gd name="T26" fmla="*/ 633 w 800"/>
                    <a:gd name="T27" fmla="*/ 267 h 382"/>
                    <a:gd name="T28" fmla="*/ 723 w 800"/>
                    <a:gd name="T29" fmla="*/ 165 h 382"/>
                    <a:gd name="T30" fmla="*/ 790 w 800"/>
                    <a:gd name="T31" fmla="*/ 61 h 382"/>
                    <a:gd name="T32" fmla="*/ 776 w 800"/>
                    <a:gd name="T33" fmla="*/ 20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382">
                      <a:moveTo>
                        <a:pt x="776" y="20"/>
                      </a:moveTo>
                      <a:cubicBezTo>
                        <a:pt x="720" y="0"/>
                        <a:pt x="660" y="27"/>
                        <a:pt x="636" y="80"/>
                      </a:cubicBezTo>
                      <a:lnTo>
                        <a:pt x="624" y="108"/>
                      </a:lnTo>
                      <a:lnTo>
                        <a:pt x="537" y="166"/>
                      </a:lnTo>
                      <a:cubicBezTo>
                        <a:pt x="530" y="143"/>
                        <a:pt x="510" y="126"/>
                        <a:pt x="485" y="126"/>
                      </a:cubicBezTo>
                      <a:lnTo>
                        <a:pt x="360" y="122"/>
                      </a:lnTo>
                      <a:cubicBezTo>
                        <a:pt x="349" y="122"/>
                        <a:pt x="337" y="113"/>
                        <a:pt x="332" y="108"/>
                      </a:cubicBezTo>
                      <a:cubicBezTo>
                        <a:pt x="278" y="54"/>
                        <a:pt x="160" y="49"/>
                        <a:pt x="91" y="118"/>
                      </a:cubicBezTo>
                      <a:lnTo>
                        <a:pt x="0" y="209"/>
                      </a:lnTo>
                      <a:lnTo>
                        <a:pt x="173" y="382"/>
                      </a:lnTo>
                      <a:lnTo>
                        <a:pt x="201" y="354"/>
                      </a:lnTo>
                      <a:lnTo>
                        <a:pt x="495" y="354"/>
                      </a:lnTo>
                      <a:cubicBezTo>
                        <a:pt x="517" y="354"/>
                        <a:pt x="539" y="346"/>
                        <a:pt x="557" y="332"/>
                      </a:cubicBezTo>
                      <a:lnTo>
                        <a:pt x="633" y="267"/>
                      </a:lnTo>
                      <a:cubicBezTo>
                        <a:pt x="668" y="238"/>
                        <a:pt x="698" y="203"/>
                        <a:pt x="723" y="165"/>
                      </a:cubicBezTo>
                      <a:lnTo>
                        <a:pt x="790" y="61"/>
                      </a:lnTo>
                      <a:cubicBezTo>
                        <a:pt x="800" y="46"/>
                        <a:pt x="793" y="25"/>
                        <a:pt x="776" y="20"/>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667" name="Freeform 204">
                  <a:extLst>
                    <a:ext uri="{FF2B5EF4-FFF2-40B4-BE49-F238E27FC236}">
                      <a16:creationId xmlns:a16="http://schemas.microsoft.com/office/drawing/2014/main" id="{C1BB8C11-BA45-A500-A9F0-8AD6F46A8637}"/>
                    </a:ext>
                  </a:extLst>
                </p:cNvPr>
                <p:cNvSpPr>
                  <a:spLocks noEditPoints="1"/>
                </p:cNvSpPr>
                <p:nvPr/>
              </p:nvSpPr>
              <p:spPr bwMode="auto">
                <a:xfrm>
                  <a:off x="0" y="3514248"/>
                  <a:ext cx="187424" cy="186215"/>
                </a:xfrm>
                <a:custGeom>
                  <a:avLst/>
                  <a:gdLst>
                    <a:gd name="T0" fmla="*/ 232 w 322"/>
                    <a:gd name="T1" fmla="*/ 206 h 322"/>
                    <a:gd name="T2" fmla="*/ 256 w 322"/>
                    <a:gd name="T3" fmla="*/ 230 h 322"/>
                    <a:gd name="T4" fmla="*/ 232 w 322"/>
                    <a:gd name="T5" fmla="*/ 253 h 322"/>
                    <a:gd name="T6" fmla="*/ 209 w 322"/>
                    <a:gd name="T7" fmla="*/ 230 h 322"/>
                    <a:gd name="T8" fmla="*/ 232 w 322"/>
                    <a:gd name="T9" fmla="*/ 206 h 322"/>
                    <a:gd name="T10" fmla="*/ 0 w 322"/>
                    <a:gd name="T11" fmla="*/ 92 h 322"/>
                    <a:gd name="T12" fmla="*/ 230 w 322"/>
                    <a:gd name="T13" fmla="*/ 322 h 322"/>
                    <a:gd name="T14" fmla="*/ 322 w 322"/>
                    <a:gd name="T15" fmla="*/ 230 h 322"/>
                    <a:gd name="T16" fmla="*/ 93 w 322"/>
                    <a:gd name="T17" fmla="*/ 0 h 322"/>
                    <a:gd name="T18" fmla="*/ 0 w 322"/>
                    <a:gd name="T19" fmla="*/ 9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22">
                      <a:moveTo>
                        <a:pt x="232" y="206"/>
                      </a:moveTo>
                      <a:lnTo>
                        <a:pt x="256" y="230"/>
                      </a:lnTo>
                      <a:lnTo>
                        <a:pt x="232" y="253"/>
                      </a:lnTo>
                      <a:lnTo>
                        <a:pt x="209" y="230"/>
                      </a:lnTo>
                      <a:lnTo>
                        <a:pt x="232" y="206"/>
                      </a:lnTo>
                      <a:close/>
                      <a:moveTo>
                        <a:pt x="0" y="92"/>
                      </a:moveTo>
                      <a:lnTo>
                        <a:pt x="230" y="322"/>
                      </a:lnTo>
                      <a:lnTo>
                        <a:pt x="322" y="230"/>
                      </a:lnTo>
                      <a:lnTo>
                        <a:pt x="93" y="0"/>
                      </a:lnTo>
                      <a:lnTo>
                        <a:pt x="0" y="92"/>
                      </a:lnTo>
                      <a:close/>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sp>
              <p:nvSpPr>
                <p:cNvPr id="668" name="Freeform 206">
                  <a:extLst>
                    <a:ext uri="{FF2B5EF4-FFF2-40B4-BE49-F238E27FC236}">
                      <a16:creationId xmlns:a16="http://schemas.microsoft.com/office/drawing/2014/main" id="{6E68B82E-9628-9D71-3986-D1CEFE891555}"/>
                    </a:ext>
                  </a:extLst>
                </p:cNvPr>
                <p:cNvSpPr>
                  <a:spLocks noEditPoints="1"/>
                </p:cNvSpPr>
                <p:nvPr/>
              </p:nvSpPr>
              <p:spPr bwMode="auto">
                <a:xfrm>
                  <a:off x="192260" y="3157538"/>
                  <a:ext cx="257557" cy="303506"/>
                </a:xfrm>
                <a:custGeom>
                  <a:avLst/>
                  <a:gdLst>
                    <a:gd name="T0" fmla="*/ 222 w 444"/>
                    <a:gd name="T1" fmla="*/ 355 h 524"/>
                    <a:gd name="T2" fmla="*/ 159 w 444"/>
                    <a:gd name="T3" fmla="*/ 299 h 524"/>
                    <a:gd name="T4" fmla="*/ 204 w 444"/>
                    <a:gd name="T5" fmla="*/ 246 h 524"/>
                    <a:gd name="T6" fmla="*/ 204 w 444"/>
                    <a:gd name="T7" fmla="*/ 229 h 524"/>
                    <a:gd name="T8" fmla="*/ 240 w 444"/>
                    <a:gd name="T9" fmla="*/ 229 h 524"/>
                    <a:gd name="T10" fmla="*/ 240 w 444"/>
                    <a:gd name="T11" fmla="*/ 246 h 524"/>
                    <a:gd name="T12" fmla="*/ 285 w 444"/>
                    <a:gd name="T13" fmla="*/ 299 h 524"/>
                    <a:gd name="T14" fmla="*/ 249 w 444"/>
                    <a:gd name="T15" fmla="*/ 299 h 524"/>
                    <a:gd name="T16" fmla="*/ 222 w 444"/>
                    <a:gd name="T17" fmla="*/ 280 h 524"/>
                    <a:gd name="T18" fmla="*/ 195 w 444"/>
                    <a:gd name="T19" fmla="*/ 299 h 524"/>
                    <a:gd name="T20" fmla="*/ 222 w 444"/>
                    <a:gd name="T21" fmla="*/ 319 h 524"/>
                    <a:gd name="T22" fmla="*/ 285 w 444"/>
                    <a:gd name="T23" fmla="*/ 375 h 524"/>
                    <a:gd name="T24" fmla="*/ 240 w 444"/>
                    <a:gd name="T25" fmla="*/ 428 h 524"/>
                    <a:gd name="T26" fmla="*/ 240 w 444"/>
                    <a:gd name="T27" fmla="*/ 446 h 524"/>
                    <a:gd name="T28" fmla="*/ 204 w 444"/>
                    <a:gd name="T29" fmla="*/ 446 h 524"/>
                    <a:gd name="T30" fmla="*/ 204 w 444"/>
                    <a:gd name="T31" fmla="*/ 428 h 524"/>
                    <a:gd name="T32" fmla="*/ 159 w 444"/>
                    <a:gd name="T33" fmla="*/ 375 h 524"/>
                    <a:gd name="T34" fmla="*/ 195 w 444"/>
                    <a:gd name="T35" fmla="*/ 375 h 524"/>
                    <a:gd name="T36" fmla="*/ 222 w 444"/>
                    <a:gd name="T37" fmla="*/ 394 h 524"/>
                    <a:gd name="T38" fmla="*/ 249 w 444"/>
                    <a:gd name="T39" fmla="*/ 375 h 524"/>
                    <a:gd name="T40" fmla="*/ 222 w 444"/>
                    <a:gd name="T41" fmla="*/ 355 h 524"/>
                    <a:gd name="T42" fmla="*/ 165 w 444"/>
                    <a:gd name="T43" fmla="*/ 489 h 524"/>
                    <a:gd name="T44" fmla="*/ 172 w 444"/>
                    <a:gd name="T45" fmla="*/ 494 h 524"/>
                    <a:gd name="T46" fmla="*/ 296 w 444"/>
                    <a:gd name="T47" fmla="*/ 497 h 524"/>
                    <a:gd name="T48" fmla="*/ 357 w 444"/>
                    <a:gd name="T49" fmla="*/ 524 h 524"/>
                    <a:gd name="T50" fmla="*/ 407 w 444"/>
                    <a:gd name="T51" fmla="*/ 491 h 524"/>
                    <a:gd name="T52" fmla="*/ 415 w 444"/>
                    <a:gd name="T53" fmla="*/ 472 h 524"/>
                    <a:gd name="T54" fmla="*/ 444 w 444"/>
                    <a:gd name="T55" fmla="*/ 430 h 524"/>
                    <a:gd name="T56" fmla="*/ 444 w 444"/>
                    <a:gd name="T57" fmla="*/ 430 h 524"/>
                    <a:gd name="T58" fmla="*/ 444 w 444"/>
                    <a:gd name="T59" fmla="*/ 428 h 524"/>
                    <a:gd name="T60" fmla="*/ 286 w 444"/>
                    <a:gd name="T61" fmla="*/ 162 h 524"/>
                    <a:gd name="T62" fmla="*/ 286 w 444"/>
                    <a:gd name="T63" fmla="*/ 104 h 524"/>
                    <a:gd name="T64" fmla="*/ 310 w 444"/>
                    <a:gd name="T65" fmla="*/ 30 h 524"/>
                    <a:gd name="T66" fmla="*/ 293 w 444"/>
                    <a:gd name="T67" fmla="*/ 0 h 524"/>
                    <a:gd name="T68" fmla="*/ 293 w 444"/>
                    <a:gd name="T69" fmla="*/ 0 h 524"/>
                    <a:gd name="T70" fmla="*/ 274 w 444"/>
                    <a:gd name="T71" fmla="*/ 5 h 524"/>
                    <a:gd name="T72" fmla="*/ 265 w 444"/>
                    <a:gd name="T73" fmla="*/ 5 h 524"/>
                    <a:gd name="T74" fmla="*/ 246 w 444"/>
                    <a:gd name="T75" fmla="*/ 0 h 524"/>
                    <a:gd name="T76" fmla="*/ 227 w 444"/>
                    <a:gd name="T77" fmla="*/ 5 h 524"/>
                    <a:gd name="T78" fmla="*/ 217 w 444"/>
                    <a:gd name="T79" fmla="*/ 5 h 524"/>
                    <a:gd name="T80" fmla="*/ 198 w 444"/>
                    <a:gd name="T81" fmla="*/ 0 h 524"/>
                    <a:gd name="T82" fmla="*/ 179 w 444"/>
                    <a:gd name="T83" fmla="*/ 5 h 524"/>
                    <a:gd name="T84" fmla="*/ 170 w 444"/>
                    <a:gd name="T85" fmla="*/ 5 h 524"/>
                    <a:gd name="T86" fmla="*/ 151 w 444"/>
                    <a:gd name="T87" fmla="*/ 0 h 524"/>
                    <a:gd name="T88" fmla="*/ 151 w 444"/>
                    <a:gd name="T89" fmla="*/ 0 h 524"/>
                    <a:gd name="T90" fmla="*/ 134 w 444"/>
                    <a:gd name="T91" fmla="*/ 30 h 524"/>
                    <a:gd name="T92" fmla="*/ 158 w 444"/>
                    <a:gd name="T93" fmla="*/ 104 h 524"/>
                    <a:gd name="T94" fmla="*/ 158 w 444"/>
                    <a:gd name="T95" fmla="*/ 162 h 524"/>
                    <a:gd name="T96" fmla="*/ 0 w 444"/>
                    <a:gd name="T97" fmla="*/ 428 h 524"/>
                    <a:gd name="T98" fmla="*/ 0 w 444"/>
                    <a:gd name="T99" fmla="*/ 441 h 524"/>
                    <a:gd name="T100" fmla="*/ 30 w 444"/>
                    <a:gd name="T101" fmla="*/ 438 h 524"/>
                    <a:gd name="T102" fmla="*/ 165 w 444"/>
                    <a:gd name="T103" fmla="*/ 489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44" h="524">
                      <a:moveTo>
                        <a:pt x="222" y="355"/>
                      </a:moveTo>
                      <a:cubicBezTo>
                        <a:pt x="178" y="355"/>
                        <a:pt x="159" y="327"/>
                        <a:pt x="159" y="299"/>
                      </a:cubicBezTo>
                      <a:cubicBezTo>
                        <a:pt x="159" y="274"/>
                        <a:pt x="178" y="253"/>
                        <a:pt x="204" y="246"/>
                      </a:cubicBezTo>
                      <a:lnTo>
                        <a:pt x="204" y="229"/>
                      </a:lnTo>
                      <a:lnTo>
                        <a:pt x="240" y="229"/>
                      </a:lnTo>
                      <a:lnTo>
                        <a:pt x="240" y="246"/>
                      </a:lnTo>
                      <a:cubicBezTo>
                        <a:pt x="266" y="253"/>
                        <a:pt x="285" y="274"/>
                        <a:pt x="285" y="299"/>
                      </a:cubicBezTo>
                      <a:lnTo>
                        <a:pt x="249" y="299"/>
                      </a:lnTo>
                      <a:cubicBezTo>
                        <a:pt x="249" y="289"/>
                        <a:pt x="236" y="280"/>
                        <a:pt x="222" y="280"/>
                      </a:cubicBezTo>
                      <a:cubicBezTo>
                        <a:pt x="208" y="280"/>
                        <a:pt x="195" y="289"/>
                        <a:pt x="195" y="299"/>
                      </a:cubicBezTo>
                      <a:cubicBezTo>
                        <a:pt x="195" y="316"/>
                        <a:pt x="212" y="319"/>
                        <a:pt x="222" y="319"/>
                      </a:cubicBezTo>
                      <a:cubicBezTo>
                        <a:pt x="259" y="319"/>
                        <a:pt x="285" y="342"/>
                        <a:pt x="285" y="375"/>
                      </a:cubicBezTo>
                      <a:cubicBezTo>
                        <a:pt x="285" y="400"/>
                        <a:pt x="266" y="421"/>
                        <a:pt x="240" y="428"/>
                      </a:cubicBezTo>
                      <a:lnTo>
                        <a:pt x="240" y="446"/>
                      </a:lnTo>
                      <a:lnTo>
                        <a:pt x="204" y="446"/>
                      </a:lnTo>
                      <a:lnTo>
                        <a:pt x="204" y="428"/>
                      </a:lnTo>
                      <a:cubicBezTo>
                        <a:pt x="178" y="421"/>
                        <a:pt x="159" y="400"/>
                        <a:pt x="159" y="375"/>
                      </a:cubicBezTo>
                      <a:lnTo>
                        <a:pt x="195" y="375"/>
                      </a:lnTo>
                      <a:cubicBezTo>
                        <a:pt x="195" y="385"/>
                        <a:pt x="208" y="394"/>
                        <a:pt x="222" y="394"/>
                      </a:cubicBezTo>
                      <a:cubicBezTo>
                        <a:pt x="236" y="394"/>
                        <a:pt x="249" y="385"/>
                        <a:pt x="249" y="375"/>
                      </a:cubicBezTo>
                      <a:cubicBezTo>
                        <a:pt x="249" y="363"/>
                        <a:pt x="239" y="355"/>
                        <a:pt x="222" y="355"/>
                      </a:cubicBezTo>
                      <a:close/>
                      <a:moveTo>
                        <a:pt x="165" y="489"/>
                      </a:moveTo>
                      <a:cubicBezTo>
                        <a:pt x="167" y="491"/>
                        <a:pt x="171" y="493"/>
                        <a:pt x="172" y="494"/>
                      </a:cubicBezTo>
                      <a:lnTo>
                        <a:pt x="296" y="497"/>
                      </a:lnTo>
                      <a:cubicBezTo>
                        <a:pt x="320" y="498"/>
                        <a:pt x="341" y="508"/>
                        <a:pt x="357" y="524"/>
                      </a:cubicBezTo>
                      <a:lnTo>
                        <a:pt x="407" y="491"/>
                      </a:lnTo>
                      <a:lnTo>
                        <a:pt x="415" y="472"/>
                      </a:lnTo>
                      <a:cubicBezTo>
                        <a:pt x="422" y="456"/>
                        <a:pt x="432" y="442"/>
                        <a:pt x="444" y="430"/>
                      </a:cubicBezTo>
                      <a:cubicBezTo>
                        <a:pt x="444" y="430"/>
                        <a:pt x="444" y="430"/>
                        <a:pt x="444" y="430"/>
                      </a:cubicBezTo>
                      <a:lnTo>
                        <a:pt x="444" y="428"/>
                      </a:lnTo>
                      <a:cubicBezTo>
                        <a:pt x="444" y="309"/>
                        <a:pt x="388" y="206"/>
                        <a:pt x="286" y="162"/>
                      </a:cubicBezTo>
                      <a:lnTo>
                        <a:pt x="286" y="104"/>
                      </a:lnTo>
                      <a:lnTo>
                        <a:pt x="310" y="30"/>
                      </a:lnTo>
                      <a:cubicBezTo>
                        <a:pt x="315" y="16"/>
                        <a:pt x="307" y="0"/>
                        <a:pt x="293" y="0"/>
                      </a:cubicBezTo>
                      <a:cubicBezTo>
                        <a:pt x="293" y="0"/>
                        <a:pt x="293" y="0"/>
                        <a:pt x="293" y="0"/>
                      </a:cubicBezTo>
                      <a:cubicBezTo>
                        <a:pt x="285" y="0"/>
                        <a:pt x="278" y="2"/>
                        <a:pt x="274" y="5"/>
                      </a:cubicBezTo>
                      <a:cubicBezTo>
                        <a:pt x="271" y="6"/>
                        <a:pt x="268" y="6"/>
                        <a:pt x="265" y="5"/>
                      </a:cubicBezTo>
                      <a:cubicBezTo>
                        <a:pt x="260" y="2"/>
                        <a:pt x="253" y="0"/>
                        <a:pt x="246" y="0"/>
                      </a:cubicBezTo>
                      <a:cubicBezTo>
                        <a:pt x="238" y="0"/>
                        <a:pt x="231" y="2"/>
                        <a:pt x="227" y="5"/>
                      </a:cubicBezTo>
                      <a:cubicBezTo>
                        <a:pt x="224" y="6"/>
                        <a:pt x="220" y="6"/>
                        <a:pt x="217" y="5"/>
                      </a:cubicBezTo>
                      <a:cubicBezTo>
                        <a:pt x="213" y="2"/>
                        <a:pt x="206" y="0"/>
                        <a:pt x="198" y="0"/>
                      </a:cubicBezTo>
                      <a:cubicBezTo>
                        <a:pt x="191" y="0"/>
                        <a:pt x="184" y="2"/>
                        <a:pt x="179" y="5"/>
                      </a:cubicBezTo>
                      <a:cubicBezTo>
                        <a:pt x="176" y="6"/>
                        <a:pt x="173" y="6"/>
                        <a:pt x="170" y="5"/>
                      </a:cubicBezTo>
                      <a:cubicBezTo>
                        <a:pt x="166" y="2"/>
                        <a:pt x="159" y="0"/>
                        <a:pt x="151" y="0"/>
                      </a:cubicBezTo>
                      <a:cubicBezTo>
                        <a:pt x="151" y="0"/>
                        <a:pt x="151" y="0"/>
                        <a:pt x="151" y="0"/>
                      </a:cubicBezTo>
                      <a:cubicBezTo>
                        <a:pt x="138" y="0"/>
                        <a:pt x="129" y="16"/>
                        <a:pt x="134" y="30"/>
                      </a:cubicBezTo>
                      <a:lnTo>
                        <a:pt x="158" y="104"/>
                      </a:lnTo>
                      <a:lnTo>
                        <a:pt x="158" y="162"/>
                      </a:lnTo>
                      <a:cubicBezTo>
                        <a:pt x="56" y="206"/>
                        <a:pt x="0" y="309"/>
                        <a:pt x="0" y="428"/>
                      </a:cubicBezTo>
                      <a:lnTo>
                        <a:pt x="0" y="441"/>
                      </a:lnTo>
                      <a:cubicBezTo>
                        <a:pt x="10" y="439"/>
                        <a:pt x="20" y="438"/>
                        <a:pt x="30" y="438"/>
                      </a:cubicBezTo>
                      <a:cubicBezTo>
                        <a:pt x="84" y="438"/>
                        <a:pt x="133" y="457"/>
                        <a:pt x="165" y="489"/>
                      </a:cubicBezTo>
                    </a:path>
                  </a:pathLst>
                </a:custGeom>
                <a:grpFill/>
                <a:ln w="9525">
                  <a:noFill/>
                  <a:round/>
                  <a:headEnd/>
                  <a:tailEnd/>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prstClr val="black"/>
                    </a:solidFill>
                    <a:latin typeface="Bahnschrift" panose="020B0502040204020203" pitchFamily="34" charset="0"/>
                  </a:endParaRPr>
                </a:p>
              </p:txBody>
            </p:sp>
          </p:grpSp>
          <p:sp>
            <p:nvSpPr>
              <p:cNvPr id="665" name="Freihandform 268">
                <a:extLst>
                  <a:ext uri="{FF2B5EF4-FFF2-40B4-BE49-F238E27FC236}">
                    <a16:creationId xmlns:a16="http://schemas.microsoft.com/office/drawing/2014/main" id="{013BC7E4-7EBC-A47A-F841-5407801DF9EC}"/>
                  </a:ext>
                </a:extLst>
              </p:cNvPr>
              <p:cNvSpPr/>
              <p:nvPr/>
            </p:nvSpPr>
            <p:spPr>
              <a:xfrm>
                <a:off x="132106" y="3078492"/>
                <a:ext cx="320330" cy="382046"/>
              </a:xfrm>
              <a:custGeom>
                <a:avLst/>
                <a:gdLst>
                  <a:gd name="connsiteX0" fmla="*/ 206030 w 320330"/>
                  <a:gd name="connsiteY0" fmla="*/ 33802 h 382046"/>
                  <a:gd name="connsiteX1" fmla="*/ 206030 w 320330"/>
                  <a:gd name="connsiteY1" fmla="*/ 33802 h 382046"/>
                  <a:gd name="connsiteX2" fmla="*/ 153642 w 320330"/>
                  <a:gd name="connsiteY2" fmla="*/ 36184 h 382046"/>
                  <a:gd name="connsiteX3" fmla="*/ 132211 w 320330"/>
                  <a:gd name="connsiteY3" fmla="*/ 48090 h 382046"/>
                  <a:gd name="connsiteX4" fmla="*/ 113161 w 320330"/>
                  <a:gd name="connsiteY4" fmla="*/ 59996 h 382046"/>
                  <a:gd name="connsiteX5" fmla="*/ 98874 w 320330"/>
                  <a:gd name="connsiteY5" fmla="*/ 74284 h 382046"/>
                  <a:gd name="connsiteX6" fmla="*/ 82205 w 320330"/>
                  <a:gd name="connsiteY6" fmla="*/ 86190 h 382046"/>
                  <a:gd name="connsiteX7" fmla="*/ 67917 w 320330"/>
                  <a:gd name="connsiteY7" fmla="*/ 105240 h 382046"/>
                  <a:gd name="connsiteX8" fmla="*/ 60774 w 320330"/>
                  <a:gd name="connsiteY8" fmla="*/ 112384 h 382046"/>
                  <a:gd name="connsiteX9" fmla="*/ 48867 w 320330"/>
                  <a:gd name="connsiteY9" fmla="*/ 131434 h 382046"/>
                  <a:gd name="connsiteX10" fmla="*/ 39342 w 320330"/>
                  <a:gd name="connsiteY10" fmla="*/ 155246 h 382046"/>
                  <a:gd name="connsiteX11" fmla="*/ 25055 w 320330"/>
                  <a:gd name="connsiteY11" fmla="*/ 176677 h 382046"/>
                  <a:gd name="connsiteX12" fmla="*/ 15530 w 320330"/>
                  <a:gd name="connsiteY12" fmla="*/ 195727 h 382046"/>
                  <a:gd name="connsiteX13" fmla="*/ 6005 w 320330"/>
                  <a:gd name="connsiteY13" fmla="*/ 207634 h 382046"/>
                  <a:gd name="connsiteX14" fmla="*/ 3624 w 320330"/>
                  <a:gd name="connsiteY14" fmla="*/ 214777 h 382046"/>
                  <a:gd name="connsiteX15" fmla="*/ 6005 w 320330"/>
                  <a:gd name="connsiteY15" fmla="*/ 262402 h 382046"/>
                  <a:gd name="connsiteX16" fmla="*/ 22674 w 320330"/>
                  <a:gd name="connsiteY16" fmla="*/ 279071 h 382046"/>
                  <a:gd name="connsiteX17" fmla="*/ 29817 w 320330"/>
                  <a:gd name="connsiteY17" fmla="*/ 286215 h 382046"/>
                  <a:gd name="connsiteX18" fmla="*/ 36961 w 320330"/>
                  <a:gd name="connsiteY18" fmla="*/ 300502 h 382046"/>
                  <a:gd name="connsiteX19" fmla="*/ 44105 w 320330"/>
                  <a:gd name="connsiteY19" fmla="*/ 305265 h 382046"/>
                  <a:gd name="connsiteX20" fmla="*/ 48867 w 320330"/>
                  <a:gd name="connsiteY20" fmla="*/ 321934 h 382046"/>
                  <a:gd name="connsiteX21" fmla="*/ 58392 w 320330"/>
                  <a:gd name="connsiteY21" fmla="*/ 326696 h 382046"/>
                  <a:gd name="connsiteX22" fmla="*/ 72680 w 320330"/>
                  <a:gd name="connsiteY22" fmla="*/ 336221 h 382046"/>
                  <a:gd name="connsiteX23" fmla="*/ 91730 w 320330"/>
                  <a:gd name="connsiteY23" fmla="*/ 340984 h 382046"/>
                  <a:gd name="connsiteX24" fmla="*/ 101255 w 320330"/>
                  <a:gd name="connsiteY24" fmla="*/ 343365 h 382046"/>
                  <a:gd name="connsiteX25" fmla="*/ 129830 w 320330"/>
                  <a:gd name="connsiteY25" fmla="*/ 348127 h 382046"/>
                  <a:gd name="connsiteX26" fmla="*/ 136974 w 320330"/>
                  <a:gd name="connsiteY26" fmla="*/ 350509 h 382046"/>
                  <a:gd name="connsiteX27" fmla="*/ 153642 w 320330"/>
                  <a:gd name="connsiteY27" fmla="*/ 357652 h 382046"/>
                  <a:gd name="connsiteX28" fmla="*/ 170311 w 320330"/>
                  <a:gd name="connsiteY28" fmla="*/ 362415 h 382046"/>
                  <a:gd name="connsiteX29" fmla="*/ 184599 w 320330"/>
                  <a:gd name="connsiteY29" fmla="*/ 369559 h 382046"/>
                  <a:gd name="connsiteX30" fmla="*/ 225080 w 320330"/>
                  <a:gd name="connsiteY30" fmla="*/ 376702 h 382046"/>
                  <a:gd name="connsiteX31" fmla="*/ 232224 w 320330"/>
                  <a:gd name="connsiteY31" fmla="*/ 379084 h 382046"/>
                  <a:gd name="connsiteX32" fmla="*/ 291755 w 320330"/>
                  <a:gd name="connsiteY32" fmla="*/ 379084 h 382046"/>
                  <a:gd name="connsiteX33" fmla="*/ 298899 w 320330"/>
                  <a:gd name="connsiteY33" fmla="*/ 371940 h 382046"/>
                  <a:gd name="connsiteX34" fmla="*/ 308424 w 320330"/>
                  <a:gd name="connsiteY34" fmla="*/ 357652 h 382046"/>
                  <a:gd name="connsiteX35" fmla="*/ 310805 w 320330"/>
                  <a:gd name="connsiteY35" fmla="*/ 348127 h 382046"/>
                  <a:gd name="connsiteX36" fmla="*/ 317949 w 320330"/>
                  <a:gd name="connsiteY36" fmla="*/ 338602 h 382046"/>
                  <a:gd name="connsiteX37" fmla="*/ 320330 w 320330"/>
                  <a:gd name="connsiteY37" fmla="*/ 324315 h 382046"/>
                  <a:gd name="connsiteX38" fmla="*/ 317949 w 320330"/>
                  <a:gd name="connsiteY38" fmla="*/ 243352 h 382046"/>
                  <a:gd name="connsiteX39" fmla="*/ 315567 w 320330"/>
                  <a:gd name="connsiteY39" fmla="*/ 231446 h 382046"/>
                  <a:gd name="connsiteX40" fmla="*/ 308424 w 320330"/>
                  <a:gd name="connsiteY40" fmla="*/ 193346 h 382046"/>
                  <a:gd name="connsiteX41" fmla="*/ 303661 w 320330"/>
                  <a:gd name="connsiteY41" fmla="*/ 186202 h 382046"/>
                  <a:gd name="connsiteX42" fmla="*/ 294136 w 320330"/>
                  <a:gd name="connsiteY42" fmla="*/ 164771 h 382046"/>
                  <a:gd name="connsiteX43" fmla="*/ 289374 w 320330"/>
                  <a:gd name="connsiteY43" fmla="*/ 152865 h 382046"/>
                  <a:gd name="connsiteX44" fmla="*/ 275086 w 320330"/>
                  <a:gd name="connsiteY44" fmla="*/ 121909 h 382046"/>
                  <a:gd name="connsiteX45" fmla="*/ 265561 w 320330"/>
                  <a:gd name="connsiteY45" fmla="*/ 95715 h 382046"/>
                  <a:gd name="connsiteX46" fmla="*/ 263180 w 320330"/>
                  <a:gd name="connsiteY46" fmla="*/ 86190 h 382046"/>
                  <a:gd name="connsiteX47" fmla="*/ 253655 w 320330"/>
                  <a:gd name="connsiteY47" fmla="*/ 71902 h 382046"/>
                  <a:gd name="connsiteX48" fmla="*/ 246511 w 320330"/>
                  <a:gd name="connsiteY48" fmla="*/ 50471 h 382046"/>
                  <a:gd name="connsiteX49" fmla="*/ 239367 w 320330"/>
                  <a:gd name="connsiteY49" fmla="*/ 38565 h 382046"/>
                  <a:gd name="connsiteX50" fmla="*/ 232224 w 320330"/>
                  <a:gd name="connsiteY50" fmla="*/ 17134 h 382046"/>
                  <a:gd name="connsiteX51" fmla="*/ 227461 w 320330"/>
                  <a:gd name="connsiteY51" fmla="*/ 9990 h 382046"/>
                  <a:gd name="connsiteX52" fmla="*/ 225080 w 320330"/>
                  <a:gd name="connsiteY52" fmla="*/ 465 h 382046"/>
                  <a:gd name="connsiteX53" fmla="*/ 206030 w 320330"/>
                  <a:gd name="connsiteY53" fmla="*/ 33802 h 38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20330" h="382046">
                    <a:moveTo>
                      <a:pt x="206030" y="33802"/>
                    </a:moveTo>
                    <a:lnTo>
                      <a:pt x="206030" y="33802"/>
                    </a:lnTo>
                    <a:cubicBezTo>
                      <a:pt x="188567" y="34596"/>
                      <a:pt x="171067" y="34790"/>
                      <a:pt x="153642" y="36184"/>
                    </a:cubicBezTo>
                    <a:cubicBezTo>
                      <a:pt x="146592" y="36748"/>
                      <a:pt x="135990" y="45445"/>
                      <a:pt x="132211" y="48090"/>
                    </a:cubicBezTo>
                    <a:cubicBezTo>
                      <a:pt x="116754" y="58910"/>
                      <a:pt x="129002" y="52077"/>
                      <a:pt x="113161" y="59996"/>
                    </a:cubicBezTo>
                    <a:cubicBezTo>
                      <a:pt x="101942" y="76827"/>
                      <a:pt x="116590" y="56569"/>
                      <a:pt x="98874" y="74284"/>
                    </a:cubicBezTo>
                    <a:cubicBezTo>
                      <a:pt x="85796" y="87361"/>
                      <a:pt x="105646" y="76813"/>
                      <a:pt x="82205" y="86190"/>
                    </a:cubicBezTo>
                    <a:cubicBezTo>
                      <a:pt x="77442" y="92540"/>
                      <a:pt x="73529" y="99627"/>
                      <a:pt x="67917" y="105240"/>
                    </a:cubicBezTo>
                    <a:cubicBezTo>
                      <a:pt x="65536" y="107621"/>
                      <a:pt x="62930" y="109797"/>
                      <a:pt x="60774" y="112384"/>
                    </a:cubicBezTo>
                    <a:cubicBezTo>
                      <a:pt x="58288" y="115367"/>
                      <a:pt x="49647" y="130030"/>
                      <a:pt x="48867" y="131434"/>
                    </a:cubicBezTo>
                    <a:cubicBezTo>
                      <a:pt x="40892" y="145789"/>
                      <a:pt x="46596" y="137111"/>
                      <a:pt x="39342" y="155246"/>
                    </a:cubicBezTo>
                    <a:cubicBezTo>
                      <a:pt x="35120" y="165801"/>
                      <a:pt x="32771" y="167033"/>
                      <a:pt x="25055" y="176677"/>
                    </a:cubicBezTo>
                    <a:cubicBezTo>
                      <a:pt x="20321" y="195616"/>
                      <a:pt x="26324" y="176837"/>
                      <a:pt x="15530" y="195727"/>
                    </a:cubicBezTo>
                    <a:cubicBezTo>
                      <a:pt x="8451" y="208115"/>
                      <a:pt x="19562" y="198595"/>
                      <a:pt x="6005" y="207634"/>
                    </a:cubicBezTo>
                    <a:cubicBezTo>
                      <a:pt x="5211" y="210015"/>
                      <a:pt x="4314" y="212364"/>
                      <a:pt x="3624" y="214777"/>
                    </a:cubicBezTo>
                    <a:cubicBezTo>
                      <a:pt x="-1127" y="231404"/>
                      <a:pt x="-2042" y="241839"/>
                      <a:pt x="6005" y="262402"/>
                    </a:cubicBezTo>
                    <a:cubicBezTo>
                      <a:pt x="8868" y="269720"/>
                      <a:pt x="17118" y="273515"/>
                      <a:pt x="22674" y="279071"/>
                    </a:cubicBezTo>
                    <a:lnTo>
                      <a:pt x="29817" y="286215"/>
                    </a:lnTo>
                    <a:cubicBezTo>
                      <a:pt x="31754" y="292024"/>
                      <a:pt x="32346" y="295887"/>
                      <a:pt x="36961" y="300502"/>
                    </a:cubicBezTo>
                    <a:cubicBezTo>
                      <a:pt x="38985" y="302526"/>
                      <a:pt x="41724" y="303677"/>
                      <a:pt x="44105" y="305265"/>
                    </a:cubicBezTo>
                    <a:cubicBezTo>
                      <a:pt x="45692" y="310821"/>
                      <a:pt x="45662" y="317126"/>
                      <a:pt x="48867" y="321934"/>
                    </a:cubicBezTo>
                    <a:cubicBezTo>
                      <a:pt x="50836" y="324888"/>
                      <a:pt x="55348" y="324870"/>
                      <a:pt x="58392" y="326696"/>
                    </a:cubicBezTo>
                    <a:cubicBezTo>
                      <a:pt x="63300" y="329641"/>
                      <a:pt x="67250" y="334411"/>
                      <a:pt x="72680" y="336221"/>
                    </a:cubicBezTo>
                    <a:cubicBezTo>
                      <a:pt x="85444" y="340475"/>
                      <a:pt x="74493" y="337153"/>
                      <a:pt x="91730" y="340984"/>
                    </a:cubicBezTo>
                    <a:cubicBezTo>
                      <a:pt x="94925" y="341694"/>
                      <a:pt x="98038" y="342762"/>
                      <a:pt x="101255" y="343365"/>
                    </a:cubicBezTo>
                    <a:cubicBezTo>
                      <a:pt x="110746" y="345144"/>
                      <a:pt x="129830" y="348127"/>
                      <a:pt x="129830" y="348127"/>
                    </a:cubicBezTo>
                    <a:cubicBezTo>
                      <a:pt x="132211" y="348921"/>
                      <a:pt x="134667" y="349520"/>
                      <a:pt x="136974" y="350509"/>
                    </a:cubicBezTo>
                    <a:cubicBezTo>
                      <a:pt x="149673" y="355952"/>
                      <a:pt x="142474" y="354461"/>
                      <a:pt x="153642" y="357652"/>
                    </a:cubicBezTo>
                    <a:cubicBezTo>
                      <a:pt x="157197" y="358668"/>
                      <a:pt x="166508" y="360514"/>
                      <a:pt x="170311" y="362415"/>
                    </a:cubicBezTo>
                    <a:cubicBezTo>
                      <a:pt x="184224" y="369371"/>
                      <a:pt x="170634" y="365569"/>
                      <a:pt x="184599" y="369559"/>
                    </a:cubicBezTo>
                    <a:cubicBezTo>
                      <a:pt x="197794" y="373329"/>
                      <a:pt x="211538" y="374768"/>
                      <a:pt x="225080" y="376702"/>
                    </a:cubicBezTo>
                    <a:cubicBezTo>
                      <a:pt x="227461" y="377496"/>
                      <a:pt x="229789" y="378475"/>
                      <a:pt x="232224" y="379084"/>
                    </a:cubicBezTo>
                    <a:cubicBezTo>
                      <a:pt x="255131" y="384811"/>
                      <a:pt x="258097" y="380767"/>
                      <a:pt x="291755" y="379084"/>
                    </a:cubicBezTo>
                    <a:cubicBezTo>
                      <a:pt x="294136" y="376703"/>
                      <a:pt x="297031" y="374742"/>
                      <a:pt x="298899" y="371940"/>
                    </a:cubicBezTo>
                    <a:cubicBezTo>
                      <a:pt x="312684" y="351262"/>
                      <a:pt x="285634" y="380442"/>
                      <a:pt x="308424" y="357652"/>
                    </a:cubicBezTo>
                    <a:cubicBezTo>
                      <a:pt x="309218" y="354477"/>
                      <a:pt x="309341" y="351054"/>
                      <a:pt x="310805" y="348127"/>
                    </a:cubicBezTo>
                    <a:cubicBezTo>
                      <a:pt x="312580" y="344577"/>
                      <a:pt x="316475" y="342287"/>
                      <a:pt x="317949" y="338602"/>
                    </a:cubicBezTo>
                    <a:cubicBezTo>
                      <a:pt x="319742" y="334119"/>
                      <a:pt x="319536" y="329077"/>
                      <a:pt x="320330" y="324315"/>
                    </a:cubicBezTo>
                    <a:cubicBezTo>
                      <a:pt x="319536" y="297327"/>
                      <a:pt x="319332" y="270316"/>
                      <a:pt x="317949" y="243352"/>
                    </a:cubicBezTo>
                    <a:cubicBezTo>
                      <a:pt x="317742" y="239310"/>
                      <a:pt x="316182" y="235446"/>
                      <a:pt x="315567" y="231446"/>
                    </a:cubicBezTo>
                    <a:cubicBezTo>
                      <a:pt x="314503" y="224530"/>
                      <a:pt x="312561" y="199551"/>
                      <a:pt x="308424" y="193346"/>
                    </a:cubicBezTo>
                    <a:lnTo>
                      <a:pt x="303661" y="186202"/>
                    </a:lnTo>
                    <a:cubicBezTo>
                      <a:pt x="298622" y="171084"/>
                      <a:pt x="304470" y="187506"/>
                      <a:pt x="294136" y="164771"/>
                    </a:cubicBezTo>
                    <a:cubicBezTo>
                      <a:pt x="292367" y="160880"/>
                      <a:pt x="291165" y="156746"/>
                      <a:pt x="289374" y="152865"/>
                    </a:cubicBezTo>
                    <a:cubicBezTo>
                      <a:pt x="272211" y="115677"/>
                      <a:pt x="285934" y="149025"/>
                      <a:pt x="275086" y="121909"/>
                    </a:cubicBezTo>
                    <a:cubicBezTo>
                      <a:pt x="270300" y="97974"/>
                      <a:pt x="276306" y="122576"/>
                      <a:pt x="265561" y="95715"/>
                    </a:cubicBezTo>
                    <a:cubicBezTo>
                      <a:pt x="264346" y="92676"/>
                      <a:pt x="264644" y="89117"/>
                      <a:pt x="263180" y="86190"/>
                    </a:cubicBezTo>
                    <a:cubicBezTo>
                      <a:pt x="260620" y="81070"/>
                      <a:pt x="256396" y="76927"/>
                      <a:pt x="253655" y="71902"/>
                    </a:cubicBezTo>
                    <a:cubicBezTo>
                      <a:pt x="238486" y="44093"/>
                      <a:pt x="256965" y="73992"/>
                      <a:pt x="246511" y="50471"/>
                    </a:cubicBezTo>
                    <a:cubicBezTo>
                      <a:pt x="244631" y="46242"/>
                      <a:pt x="241437" y="42705"/>
                      <a:pt x="239367" y="38565"/>
                    </a:cubicBezTo>
                    <a:cubicBezTo>
                      <a:pt x="220034" y="-102"/>
                      <a:pt x="245868" y="48969"/>
                      <a:pt x="232224" y="17134"/>
                    </a:cubicBezTo>
                    <a:cubicBezTo>
                      <a:pt x="231097" y="14503"/>
                      <a:pt x="229049" y="12371"/>
                      <a:pt x="227461" y="9990"/>
                    </a:cubicBezTo>
                    <a:cubicBezTo>
                      <a:pt x="226667" y="6815"/>
                      <a:pt x="226369" y="3473"/>
                      <a:pt x="225080" y="465"/>
                    </a:cubicBezTo>
                    <a:cubicBezTo>
                      <a:pt x="223061" y="-4247"/>
                      <a:pt x="209205" y="28246"/>
                      <a:pt x="206030" y="33802"/>
                    </a:cubicBezTo>
                    <a:close/>
                  </a:path>
                </a:pathLst>
              </a:custGeom>
              <a:grpFill/>
              <a:ln w="12700" cap="flat" cmpd="sng" algn="ctr">
                <a:solidFill>
                  <a:sysClr val="window" lastClr="FFFFFF"/>
                </a:solidFill>
                <a:prstDash val="solid"/>
                <a:miter lim="800000"/>
              </a:ln>
              <a:effectLst/>
            </p:spPr>
            <p:txBody>
              <a:bodyPr rtlCol="0" anchor="ctr"/>
              <a:lstStyle/>
              <a:p>
                <a:pPr algn="ctr" defTabSz="685754">
                  <a:defRPr/>
                </a:pPr>
                <a:endParaRPr lang="de-DE" sz="1350" kern="0" noProof="1">
                  <a:solidFill>
                    <a:prstClr val="white"/>
                  </a:solidFill>
                  <a:latin typeface="Bahnschrift" panose="020B0502040204020203" pitchFamily="34" charset="0"/>
                </a:endParaRPr>
              </a:p>
            </p:txBody>
          </p:sp>
        </p:grpSp>
        <p:grpSp>
          <p:nvGrpSpPr>
            <p:cNvPr id="669" name="Gruppieren 668" descr="{&quot;Key&quot;:&quot;POWER_USER_SHAPE_ICON&quot;,&quot;Value&quot;:&quot;POWER_USER_SHAPE_ICON_STYLE_2&quot;}">
              <a:extLst>
                <a:ext uri="{FF2B5EF4-FFF2-40B4-BE49-F238E27FC236}">
                  <a16:creationId xmlns:a16="http://schemas.microsoft.com/office/drawing/2014/main" id="{562C5FCA-6FFD-6799-800E-C1A19FA40250}"/>
                </a:ext>
              </a:extLst>
            </p:cNvPr>
            <p:cNvGrpSpPr>
              <a:grpSpLocks noChangeAspect="1"/>
            </p:cNvGrpSpPr>
            <p:nvPr/>
          </p:nvGrpSpPr>
          <p:grpSpPr>
            <a:xfrm>
              <a:off x="8976415" y="5024565"/>
              <a:ext cx="215474" cy="215476"/>
              <a:chOff x="-99093" y="3018292"/>
              <a:chExt cx="706188" cy="706192"/>
            </a:xfrm>
          </p:grpSpPr>
          <p:sp>
            <p:nvSpPr>
              <p:cNvPr id="670" name="POWER_USER_SHAPE_ICON_STYLE_2">
                <a:extLst>
                  <a:ext uri="{FF2B5EF4-FFF2-40B4-BE49-F238E27FC236}">
                    <a16:creationId xmlns:a16="http://schemas.microsoft.com/office/drawing/2014/main" id="{59D892E1-04D3-2AF7-B8A7-324CF5ECA4AA}"/>
                  </a:ext>
                </a:extLst>
              </p:cNvPr>
              <p:cNvSpPr/>
              <p:nvPr/>
            </p:nvSpPr>
            <p:spPr>
              <a:xfrm>
                <a:off x="-99093" y="3018292"/>
                <a:ext cx="706188" cy="706192"/>
              </a:xfrm>
              <a:prstGeom prst="ellipse">
                <a:avLst/>
              </a:prstGeom>
              <a:solidFill>
                <a:sysClr val="window" lastClr="FFFFFF"/>
              </a:solidFill>
              <a:ln w="28575" cap="flat" cmpd="sng" algn="ctr">
                <a:solidFill>
                  <a:srgbClr val="0070C0"/>
                </a:solidFill>
                <a:prstDash val="sysDot"/>
                <a:miter lim="800000"/>
              </a:ln>
              <a:effectLst/>
            </p:spPr>
            <p:txBody>
              <a:bodyPr rtlCol="0" anchor="ctr"/>
              <a:lstStyle/>
              <a:p>
                <a:pPr algn="ctr" defTabSz="685754">
                  <a:defRPr/>
                </a:pPr>
                <a:endParaRPr lang="de-DE" sz="1350" kern="0" noProof="1">
                  <a:solidFill>
                    <a:srgbClr val="9954CC"/>
                  </a:solidFill>
                  <a:latin typeface="Bahnschrift" panose="020B0502040204020203" pitchFamily="34" charset="0"/>
                </a:endParaRPr>
              </a:p>
            </p:txBody>
          </p:sp>
          <p:sp>
            <p:nvSpPr>
              <p:cNvPr id="671" name="Car7" descr="{&quot;Key&quot;:&quot;POWER_USER_SHAPE_ICON&quot;,&quot;Value&quot;:&quot;POWER_USER_SHAPE_ICON_STYLE_1&quot;}">
                <a:extLst>
                  <a:ext uri="{FF2B5EF4-FFF2-40B4-BE49-F238E27FC236}">
                    <a16:creationId xmlns:a16="http://schemas.microsoft.com/office/drawing/2014/main" id="{6428A137-56AA-2916-53DB-2778B660205F}"/>
                  </a:ext>
                </a:extLst>
              </p:cNvPr>
              <p:cNvSpPr>
                <a:spLocks noChangeAspect="1" noEditPoints="1"/>
              </p:cNvSpPr>
              <p:nvPr>
                <p:custDataLst>
                  <p:tags r:id="rId7"/>
                </p:custDataLst>
              </p:nvPr>
            </p:nvSpPr>
            <p:spPr bwMode="auto">
              <a:xfrm>
                <a:off x="0" y="3157538"/>
                <a:ext cx="508000" cy="427698"/>
              </a:xfrm>
              <a:custGeom>
                <a:avLst/>
                <a:gdLst>
                  <a:gd name="T0" fmla="*/ 616 w 733"/>
                  <a:gd name="T1" fmla="*/ 466 h 616"/>
                  <a:gd name="T2" fmla="*/ 566 w 733"/>
                  <a:gd name="T3" fmla="*/ 416 h 616"/>
                  <a:gd name="T4" fmla="*/ 616 w 733"/>
                  <a:gd name="T5" fmla="*/ 366 h 616"/>
                  <a:gd name="T6" fmla="*/ 666 w 733"/>
                  <a:gd name="T7" fmla="*/ 416 h 616"/>
                  <a:gd name="T8" fmla="*/ 616 w 733"/>
                  <a:gd name="T9" fmla="*/ 466 h 616"/>
                  <a:gd name="T10" fmla="*/ 134 w 733"/>
                  <a:gd name="T11" fmla="*/ 266 h 616"/>
                  <a:gd name="T12" fmla="*/ 165 w 733"/>
                  <a:gd name="T13" fmla="*/ 107 h 616"/>
                  <a:gd name="T14" fmla="*/ 200 w 733"/>
                  <a:gd name="T15" fmla="*/ 66 h 616"/>
                  <a:gd name="T16" fmla="*/ 533 w 733"/>
                  <a:gd name="T17" fmla="*/ 66 h 616"/>
                  <a:gd name="T18" fmla="*/ 567 w 733"/>
                  <a:gd name="T19" fmla="*/ 107 h 616"/>
                  <a:gd name="T20" fmla="*/ 599 w 733"/>
                  <a:gd name="T21" fmla="*/ 266 h 616"/>
                  <a:gd name="T22" fmla="*/ 134 w 733"/>
                  <a:gd name="T23" fmla="*/ 266 h 616"/>
                  <a:gd name="T24" fmla="*/ 116 w 733"/>
                  <a:gd name="T25" fmla="*/ 466 h 616"/>
                  <a:gd name="T26" fmla="*/ 66 w 733"/>
                  <a:gd name="T27" fmla="*/ 416 h 616"/>
                  <a:gd name="T28" fmla="*/ 116 w 733"/>
                  <a:gd name="T29" fmla="*/ 366 h 616"/>
                  <a:gd name="T30" fmla="*/ 166 w 733"/>
                  <a:gd name="T31" fmla="*/ 416 h 616"/>
                  <a:gd name="T32" fmla="*/ 116 w 733"/>
                  <a:gd name="T33" fmla="*/ 466 h 616"/>
                  <a:gd name="T34" fmla="*/ 666 w 733"/>
                  <a:gd name="T35" fmla="*/ 272 h 616"/>
                  <a:gd name="T36" fmla="*/ 666 w 733"/>
                  <a:gd name="T37" fmla="*/ 266 h 616"/>
                  <a:gd name="T38" fmla="*/ 632 w 733"/>
                  <a:gd name="T39" fmla="*/ 93 h 616"/>
                  <a:gd name="T40" fmla="*/ 632 w 733"/>
                  <a:gd name="T41" fmla="*/ 91 h 616"/>
                  <a:gd name="T42" fmla="*/ 533 w 733"/>
                  <a:gd name="T43" fmla="*/ 0 h 616"/>
                  <a:gd name="T44" fmla="*/ 200 w 733"/>
                  <a:gd name="T45" fmla="*/ 0 h 616"/>
                  <a:gd name="T46" fmla="*/ 101 w 733"/>
                  <a:gd name="T47" fmla="*/ 91 h 616"/>
                  <a:gd name="T48" fmla="*/ 67 w 733"/>
                  <a:gd name="T49" fmla="*/ 260 h 616"/>
                  <a:gd name="T50" fmla="*/ 66 w 733"/>
                  <a:gd name="T51" fmla="*/ 266 h 616"/>
                  <a:gd name="T52" fmla="*/ 67 w 733"/>
                  <a:gd name="T53" fmla="*/ 272 h 616"/>
                  <a:gd name="T54" fmla="*/ 0 w 733"/>
                  <a:gd name="T55" fmla="*/ 366 h 616"/>
                  <a:gd name="T56" fmla="*/ 0 w 733"/>
                  <a:gd name="T57" fmla="*/ 450 h 616"/>
                  <a:gd name="T58" fmla="*/ 66 w 733"/>
                  <a:gd name="T59" fmla="*/ 544 h 616"/>
                  <a:gd name="T60" fmla="*/ 66 w 733"/>
                  <a:gd name="T61" fmla="*/ 583 h 616"/>
                  <a:gd name="T62" fmla="*/ 100 w 733"/>
                  <a:gd name="T63" fmla="*/ 616 h 616"/>
                  <a:gd name="T64" fmla="*/ 133 w 733"/>
                  <a:gd name="T65" fmla="*/ 616 h 616"/>
                  <a:gd name="T66" fmla="*/ 166 w 733"/>
                  <a:gd name="T67" fmla="*/ 583 h 616"/>
                  <a:gd name="T68" fmla="*/ 166 w 733"/>
                  <a:gd name="T69" fmla="*/ 550 h 616"/>
                  <a:gd name="T70" fmla="*/ 566 w 733"/>
                  <a:gd name="T71" fmla="*/ 550 h 616"/>
                  <a:gd name="T72" fmla="*/ 566 w 733"/>
                  <a:gd name="T73" fmla="*/ 583 h 616"/>
                  <a:gd name="T74" fmla="*/ 600 w 733"/>
                  <a:gd name="T75" fmla="*/ 616 h 616"/>
                  <a:gd name="T76" fmla="*/ 633 w 733"/>
                  <a:gd name="T77" fmla="*/ 616 h 616"/>
                  <a:gd name="T78" fmla="*/ 666 w 733"/>
                  <a:gd name="T79" fmla="*/ 583 h 616"/>
                  <a:gd name="T80" fmla="*/ 666 w 733"/>
                  <a:gd name="T81" fmla="*/ 544 h 616"/>
                  <a:gd name="T82" fmla="*/ 733 w 733"/>
                  <a:gd name="T83" fmla="*/ 450 h 616"/>
                  <a:gd name="T84" fmla="*/ 733 w 733"/>
                  <a:gd name="T85" fmla="*/ 366 h 616"/>
                  <a:gd name="T86" fmla="*/ 666 w 733"/>
                  <a:gd name="T87" fmla="*/ 272 h 6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33" h="616">
                    <a:moveTo>
                      <a:pt x="616" y="466"/>
                    </a:moveTo>
                    <a:cubicBezTo>
                      <a:pt x="589" y="466"/>
                      <a:pt x="566" y="444"/>
                      <a:pt x="566" y="416"/>
                    </a:cubicBezTo>
                    <a:cubicBezTo>
                      <a:pt x="566" y="389"/>
                      <a:pt x="589" y="366"/>
                      <a:pt x="616" y="366"/>
                    </a:cubicBezTo>
                    <a:cubicBezTo>
                      <a:pt x="644" y="366"/>
                      <a:pt x="666" y="389"/>
                      <a:pt x="666" y="416"/>
                    </a:cubicBezTo>
                    <a:cubicBezTo>
                      <a:pt x="666" y="444"/>
                      <a:pt x="644" y="466"/>
                      <a:pt x="616" y="466"/>
                    </a:cubicBezTo>
                    <a:close/>
                    <a:moveTo>
                      <a:pt x="134" y="266"/>
                    </a:moveTo>
                    <a:lnTo>
                      <a:pt x="165" y="107"/>
                    </a:lnTo>
                    <a:cubicBezTo>
                      <a:pt x="169" y="94"/>
                      <a:pt x="179" y="66"/>
                      <a:pt x="200" y="66"/>
                    </a:cubicBezTo>
                    <a:lnTo>
                      <a:pt x="533" y="66"/>
                    </a:lnTo>
                    <a:cubicBezTo>
                      <a:pt x="553" y="66"/>
                      <a:pt x="564" y="94"/>
                      <a:pt x="567" y="107"/>
                    </a:cubicBezTo>
                    <a:lnTo>
                      <a:pt x="599" y="266"/>
                    </a:lnTo>
                    <a:lnTo>
                      <a:pt x="134" y="266"/>
                    </a:lnTo>
                    <a:close/>
                    <a:moveTo>
                      <a:pt x="116" y="466"/>
                    </a:moveTo>
                    <a:cubicBezTo>
                      <a:pt x="89" y="466"/>
                      <a:pt x="66" y="444"/>
                      <a:pt x="66" y="416"/>
                    </a:cubicBezTo>
                    <a:cubicBezTo>
                      <a:pt x="66" y="389"/>
                      <a:pt x="89" y="366"/>
                      <a:pt x="116" y="366"/>
                    </a:cubicBezTo>
                    <a:cubicBezTo>
                      <a:pt x="144" y="366"/>
                      <a:pt x="166" y="389"/>
                      <a:pt x="166" y="416"/>
                    </a:cubicBezTo>
                    <a:cubicBezTo>
                      <a:pt x="166" y="444"/>
                      <a:pt x="144" y="466"/>
                      <a:pt x="116" y="466"/>
                    </a:cubicBezTo>
                    <a:close/>
                    <a:moveTo>
                      <a:pt x="666" y="272"/>
                    </a:moveTo>
                    <a:cubicBezTo>
                      <a:pt x="666" y="270"/>
                      <a:pt x="666" y="268"/>
                      <a:pt x="666" y="266"/>
                    </a:cubicBezTo>
                    <a:lnTo>
                      <a:pt x="632" y="93"/>
                    </a:lnTo>
                    <a:lnTo>
                      <a:pt x="632" y="91"/>
                    </a:lnTo>
                    <a:cubicBezTo>
                      <a:pt x="616" y="34"/>
                      <a:pt x="579" y="0"/>
                      <a:pt x="533" y="0"/>
                    </a:cubicBezTo>
                    <a:lnTo>
                      <a:pt x="200" y="0"/>
                    </a:lnTo>
                    <a:cubicBezTo>
                      <a:pt x="153" y="0"/>
                      <a:pt x="116" y="34"/>
                      <a:pt x="101" y="91"/>
                    </a:cubicBezTo>
                    <a:lnTo>
                      <a:pt x="67" y="260"/>
                    </a:lnTo>
                    <a:lnTo>
                      <a:pt x="66" y="266"/>
                    </a:lnTo>
                    <a:cubicBezTo>
                      <a:pt x="66" y="268"/>
                      <a:pt x="67" y="270"/>
                      <a:pt x="67" y="272"/>
                    </a:cubicBezTo>
                    <a:cubicBezTo>
                      <a:pt x="28" y="286"/>
                      <a:pt x="0" y="323"/>
                      <a:pt x="0" y="366"/>
                    </a:cubicBezTo>
                    <a:lnTo>
                      <a:pt x="0" y="450"/>
                    </a:lnTo>
                    <a:cubicBezTo>
                      <a:pt x="0" y="493"/>
                      <a:pt x="28" y="530"/>
                      <a:pt x="66" y="544"/>
                    </a:cubicBezTo>
                    <a:lnTo>
                      <a:pt x="66" y="583"/>
                    </a:lnTo>
                    <a:cubicBezTo>
                      <a:pt x="66" y="601"/>
                      <a:pt x="81" y="616"/>
                      <a:pt x="100" y="616"/>
                    </a:cubicBezTo>
                    <a:lnTo>
                      <a:pt x="133" y="616"/>
                    </a:lnTo>
                    <a:cubicBezTo>
                      <a:pt x="151" y="616"/>
                      <a:pt x="166" y="601"/>
                      <a:pt x="166" y="583"/>
                    </a:cubicBezTo>
                    <a:lnTo>
                      <a:pt x="166" y="550"/>
                    </a:lnTo>
                    <a:lnTo>
                      <a:pt x="566" y="550"/>
                    </a:lnTo>
                    <a:lnTo>
                      <a:pt x="566" y="583"/>
                    </a:lnTo>
                    <a:cubicBezTo>
                      <a:pt x="566" y="601"/>
                      <a:pt x="581" y="616"/>
                      <a:pt x="600" y="616"/>
                    </a:cubicBezTo>
                    <a:lnTo>
                      <a:pt x="633" y="616"/>
                    </a:lnTo>
                    <a:cubicBezTo>
                      <a:pt x="651" y="616"/>
                      <a:pt x="666" y="601"/>
                      <a:pt x="666" y="583"/>
                    </a:cubicBezTo>
                    <a:lnTo>
                      <a:pt x="666" y="544"/>
                    </a:lnTo>
                    <a:cubicBezTo>
                      <a:pt x="705" y="530"/>
                      <a:pt x="733" y="493"/>
                      <a:pt x="733" y="450"/>
                    </a:cubicBezTo>
                    <a:lnTo>
                      <a:pt x="733" y="366"/>
                    </a:lnTo>
                    <a:cubicBezTo>
                      <a:pt x="733" y="323"/>
                      <a:pt x="705" y="286"/>
                      <a:pt x="666" y="272"/>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grpSp>
        <p:sp>
          <p:nvSpPr>
            <p:cNvPr id="672" name="Flame3" descr="{&quot;Key&quot;:&quot;POWER_USER_SHAPE_ICON&quot;,&quot;Value&quot;:&quot;POWER_USER_SHAPE_ICON_STYLE_1&quot;}">
              <a:extLst>
                <a:ext uri="{FF2B5EF4-FFF2-40B4-BE49-F238E27FC236}">
                  <a16:creationId xmlns:a16="http://schemas.microsoft.com/office/drawing/2014/main" id="{7F5F7E33-826D-7AD8-FBFA-C164B355C65C}"/>
                </a:ext>
              </a:extLst>
            </p:cNvPr>
            <p:cNvSpPr>
              <a:spLocks noChangeAspect="1"/>
            </p:cNvSpPr>
            <p:nvPr>
              <p:custDataLst>
                <p:tags r:id="rId5"/>
              </p:custDataLst>
            </p:nvPr>
          </p:nvSpPr>
          <p:spPr bwMode="auto">
            <a:xfrm>
              <a:off x="7616344" y="4171152"/>
              <a:ext cx="157979" cy="180244"/>
            </a:xfrm>
            <a:custGeom>
              <a:avLst/>
              <a:gdLst>
                <a:gd name="T0" fmla="*/ 177 w 620"/>
                <a:gd name="T1" fmla="*/ 708 h 708"/>
                <a:gd name="T2" fmla="*/ 133 w 620"/>
                <a:gd name="T3" fmla="*/ 708 h 708"/>
                <a:gd name="T4" fmla="*/ 0 w 620"/>
                <a:gd name="T5" fmla="*/ 487 h 708"/>
                <a:gd name="T6" fmla="*/ 89 w 620"/>
                <a:gd name="T7" fmla="*/ 88 h 708"/>
                <a:gd name="T8" fmla="*/ 178 w 620"/>
                <a:gd name="T9" fmla="*/ 265 h 708"/>
                <a:gd name="T10" fmla="*/ 310 w 620"/>
                <a:gd name="T11" fmla="*/ 0 h 708"/>
                <a:gd name="T12" fmla="*/ 443 w 620"/>
                <a:gd name="T13" fmla="*/ 354 h 708"/>
                <a:gd name="T14" fmla="*/ 532 w 620"/>
                <a:gd name="T15" fmla="*/ 221 h 708"/>
                <a:gd name="T16" fmla="*/ 620 w 620"/>
                <a:gd name="T17" fmla="*/ 443 h 708"/>
                <a:gd name="T18" fmla="*/ 487 w 620"/>
                <a:gd name="T19" fmla="*/ 708 h 708"/>
                <a:gd name="T20" fmla="*/ 399 w 620"/>
                <a:gd name="T21" fmla="*/ 708 h 708"/>
                <a:gd name="T22" fmla="*/ 443 w 620"/>
                <a:gd name="T23" fmla="*/ 576 h 708"/>
                <a:gd name="T24" fmla="*/ 354 w 620"/>
                <a:gd name="T25" fmla="*/ 310 h 708"/>
                <a:gd name="T26" fmla="*/ 266 w 620"/>
                <a:gd name="T27" fmla="*/ 576 h 708"/>
                <a:gd name="T28" fmla="*/ 177 w 620"/>
                <a:gd name="T29" fmla="*/ 398 h 708"/>
                <a:gd name="T30" fmla="*/ 133 w 620"/>
                <a:gd name="T31" fmla="*/ 562 h 708"/>
                <a:gd name="T32" fmla="*/ 177 w 620"/>
                <a:gd name="T33" fmla="*/ 708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20" h="708">
                  <a:moveTo>
                    <a:pt x="177" y="708"/>
                  </a:moveTo>
                  <a:lnTo>
                    <a:pt x="133" y="708"/>
                  </a:lnTo>
                  <a:cubicBezTo>
                    <a:pt x="44" y="664"/>
                    <a:pt x="0" y="572"/>
                    <a:pt x="0" y="487"/>
                  </a:cubicBezTo>
                  <a:cubicBezTo>
                    <a:pt x="0" y="338"/>
                    <a:pt x="89" y="221"/>
                    <a:pt x="89" y="88"/>
                  </a:cubicBezTo>
                  <a:cubicBezTo>
                    <a:pt x="155" y="110"/>
                    <a:pt x="177" y="177"/>
                    <a:pt x="178" y="265"/>
                  </a:cubicBezTo>
                  <a:cubicBezTo>
                    <a:pt x="225" y="196"/>
                    <a:pt x="310" y="114"/>
                    <a:pt x="310" y="0"/>
                  </a:cubicBezTo>
                  <a:cubicBezTo>
                    <a:pt x="384" y="55"/>
                    <a:pt x="443" y="177"/>
                    <a:pt x="443" y="354"/>
                  </a:cubicBezTo>
                  <a:cubicBezTo>
                    <a:pt x="487" y="354"/>
                    <a:pt x="532" y="310"/>
                    <a:pt x="532" y="221"/>
                  </a:cubicBezTo>
                  <a:cubicBezTo>
                    <a:pt x="576" y="265"/>
                    <a:pt x="620" y="354"/>
                    <a:pt x="620" y="443"/>
                  </a:cubicBezTo>
                  <a:cubicBezTo>
                    <a:pt x="620" y="553"/>
                    <a:pt x="576" y="642"/>
                    <a:pt x="487" y="708"/>
                  </a:cubicBezTo>
                  <a:lnTo>
                    <a:pt x="399" y="708"/>
                  </a:lnTo>
                  <a:cubicBezTo>
                    <a:pt x="426" y="669"/>
                    <a:pt x="446" y="623"/>
                    <a:pt x="443" y="576"/>
                  </a:cubicBezTo>
                  <a:cubicBezTo>
                    <a:pt x="437" y="455"/>
                    <a:pt x="354" y="443"/>
                    <a:pt x="354" y="310"/>
                  </a:cubicBezTo>
                  <a:cubicBezTo>
                    <a:pt x="309" y="354"/>
                    <a:pt x="266" y="473"/>
                    <a:pt x="266" y="576"/>
                  </a:cubicBezTo>
                  <a:cubicBezTo>
                    <a:pt x="199" y="531"/>
                    <a:pt x="177" y="443"/>
                    <a:pt x="177" y="398"/>
                  </a:cubicBezTo>
                  <a:cubicBezTo>
                    <a:pt x="142" y="460"/>
                    <a:pt x="133" y="520"/>
                    <a:pt x="133" y="562"/>
                  </a:cubicBezTo>
                  <a:cubicBezTo>
                    <a:pt x="133" y="629"/>
                    <a:pt x="161" y="684"/>
                    <a:pt x="177" y="708"/>
                  </a:cubicBez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200" kern="0" noProof="1">
                <a:solidFill>
                  <a:prstClr val="black"/>
                </a:solidFill>
                <a:latin typeface="Calibri" panose="020F0502020204030204"/>
              </a:endParaRPr>
            </a:p>
          </p:txBody>
        </p:sp>
        <p:sp>
          <p:nvSpPr>
            <p:cNvPr id="673" name="Building5" descr="{&quot;Key&quot;:&quot;POWER_USER_SHAPE_ICON&quot;,&quot;Value&quot;:&quot;POWER_USER_SHAPE_ICON_STYLE_1&quot;}">
              <a:extLst>
                <a:ext uri="{FF2B5EF4-FFF2-40B4-BE49-F238E27FC236}">
                  <a16:creationId xmlns:a16="http://schemas.microsoft.com/office/drawing/2014/main" id="{43B3D934-E83A-61D7-9C02-F6582F70FCF7}"/>
                </a:ext>
              </a:extLst>
            </p:cNvPr>
            <p:cNvSpPr>
              <a:spLocks noChangeAspect="1" noEditPoints="1"/>
            </p:cNvSpPr>
            <p:nvPr>
              <p:custDataLst>
                <p:tags r:id="rId6"/>
              </p:custDataLst>
            </p:nvPr>
          </p:nvSpPr>
          <p:spPr bwMode="auto">
            <a:xfrm>
              <a:off x="8682032" y="4525469"/>
              <a:ext cx="206438" cy="196338"/>
            </a:xfrm>
            <a:custGeom>
              <a:avLst/>
              <a:gdLst>
                <a:gd name="T0" fmla="*/ 915 w 1250"/>
                <a:gd name="T1" fmla="*/ 250 h 1187"/>
                <a:gd name="T2" fmla="*/ 915 w 1250"/>
                <a:gd name="T3" fmla="*/ 1053 h 1187"/>
                <a:gd name="T4" fmla="*/ 848 w 1250"/>
                <a:gd name="T5" fmla="*/ 1053 h 1187"/>
                <a:gd name="T6" fmla="*/ 850 w 1250"/>
                <a:gd name="T7" fmla="*/ 0 h 1187"/>
                <a:gd name="T8" fmla="*/ 448 w 1250"/>
                <a:gd name="T9" fmla="*/ 0 h 1187"/>
                <a:gd name="T10" fmla="*/ 446 w 1250"/>
                <a:gd name="T11" fmla="*/ 1053 h 1187"/>
                <a:gd name="T12" fmla="*/ 379 w 1250"/>
                <a:gd name="T13" fmla="*/ 1053 h 1187"/>
                <a:gd name="T14" fmla="*/ 379 w 1250"/>
                <a:gd name="T15" fmla="*/ 361 h 1187"/>
                <a:gd name="T16" fmla="*/ 0 w 1250"/>
                <a:gd name="T17" fmla="*/ 361 h 1187"/>
                <a:gd name="T18" fmla="*/ 0 w 1250"/>
                <a:gd name="T19" fmla="*/ 1187 h 1187"/>
                <a:gd name="T20" fmla="*/ 1250 w 1250"/>
                <a:gd name="T21" fmla="*/ 1187 h 1187"/>
                <a:gd name="T22" fmla="*/ 1250 w 1250"/>
                <a:gd name="T23" fmla="*/ 250 h 1187"/>
                <a:gd name="T24" fmla="*/ 915 w 1250"/>
                <a:gd name="T25" fmla="*/ 250 h 1187"/>
                <a:gd name="T26" fmla="*/ 982 w 1250"/>
                <a:gd name="T27" fmla="*/ 339 h 1187"/>
                <a:gd name="T28" fmla="*/ 1183 w 1250"/>
                <a:gd name="T29" fmla="*/ 339 h 1187"/>
                <a:gd name="T30" fmla="*/ 1183 w 1250"/>
                <a:gd name="T31" fmla="*/ 584 h 1187"/>
                <a:gd name="T32" fmla="*/ 982 w 1250"/>
                <a:gd name="T33" fmla="*/ 584 h 1187"/>
                <a:gd name="T34" fmla="*/ 982 w 1250"/>
                <a:gd name="T35" fmla="*/ 339 h 1187"/>
                <a:gd name="T36" fmla="*/ 982 w 1250"/>
                <a:gd name="T37" fmla="*/ 674 h 1187"/>
                <a:gd name="T38" fmla="*/ 1183 w 1250"/>
                <a:gd name="T39" fmla="*/ 674 h 1187"/>
                <a:gd name="T40" fmla="*/ 1183 w 1250"/>
                <a:gd name="T41" fmla="*/ 919 h 1187"/>
                <a:gd name="T42" fmla="*/ 982 w 1250"/>
                <a:gd name="T43" fmla="*/ 919 h 1187"/>
                <a:gd name="T44" fmla="*/ 982 w 1250"/>
                <a:gd name="T45" fmla="*/ 674 h 1187"/>
                <a:gd name="T46" fmla="*/ 513 w 1250"/>
                <a:gd name="T47" fmla="*/ 71 h 1187"/>
                <a:gd name="T48" fmla="*/ 781 w 1250"/>
                <a:gd name="T49" fmla="*/ 71 h 1187"/>
                <a:gd name="T50" fmla="*/ 781 w 1250"/>
                <a:gd name="T51" fmla="*/ 183 h 1187"/>
                <a:gd name="T52" fmla="*/ 513 w 1250"/>
                <a:gd name="T53" fmla="*/ 183 h 1187"/>
                <a:gd name="T54" fmla="*/ 513 w 1250"/>
                <a:gd name="T55" fmla="*/ 71 h 1187"/>
                <a:gd name="T56" fmla="*/ 513 w 1250"/>
                <a:gd name="T57" fmla="*/ 294 h 1187"/>
                <a:gd name="T58" fmla="*/ 781 w 1250"/>
                <a:gd name="T59" fmla="*/ 294 h 1187"/>
                <a:gd name="T60" fmla="*/ 781 w 1250"/>
                <a:gd name="T61" fmla="*/ 406 h 1187"/>
                <a:gd name="T62" fmla="*/ 513 w 1250"/>
                <a:gd name="T63" fmla="*/ 406 h 1187"/>
                <a:gd name="T64" fmla="*/ 513 w 1250"/>
                <a:gd name="T65" fmla="*/ 294 h 1187"/>
                <a:gd name="T66" fmla="*/ 513 w 1250"/>
                <a:gd name="T67" fmla="*/ 517 h 1187"/>
                <a:gd name="T68" fmla="*/ 781 w 1250"/>
                <a:gd name="T69" fmla="*/ 517 h 1187"/>
                <a:gd name="T70" fmla="*/ 781 w 1250"/>
                <a:gd name="T71" fmla="*/ 629 h 1187"/>
                <a:gd name="T72" fmla="*/ 513 w 1250"/>
                <a:gd name="T73" fmla="*/ 629 h 1187"/>
                <a:gd name="T74" fmla="*/ 513 w 1250"/>
                <a:gd name="T75" fmla="*/ 517 h 1187"/>
                <a:gd name="T76" fmla="*/ 513 w 1250"/>
                <a:gd name="T77" fmla="*/ 741 h 1187"/>
                <a:gd name="T78" fmla="*/ 781 w 1250"/>
                <a:gd name="T79" fmla="*/ 741 h 1187"/>
                <a:gd name="T80" fmla="*/ 781 w 1250"/>
                <a:gd name="T81" fmla="*/ 852 h 1187"/>
                <a:gd name="T82" fmla="*/ 513 w 1250"/>
                <a:gd name="T83" fmla="*/ 852 h 1187"/>
                <a:gd name="T84" fmla="*/ 513 w 1250"/>
                <a:gd name="T85" fmla="*/ 741 h 1187"/>
                <a:gd name="T86" fmla="*/ 67 w 1250"/>
                <a:gd name="T87" fmla="*/ 450 h 1187"/>
                <a:gd name="T88" fmla="*/ 156 w 1250"/>
                <a:gd name="T89" fmla="*/ 450 h 1187"/>
                <a:gd name="T90" fmla="*/ 156 w 1250"/>
                <a:gd name="T91" fmla="*/ 607 h 1187"/>
                <a:gd name="T92" fmla="*/ 67 w 1250"/>
                <a:gd name="T93" fmla="*/ 607 h 1187"/>
                <a:gd name="T94" fmla="*/ 67 w 1250"/>
                <a:gd name="T95" fmla="*/ 450 h 1187"/>
                <a:gd name="T96" fmla="*/ 223 w 1250"/>
                <a:gd name="T97" fmla="*/ 450 h 1187"/>
                <a:gd name="T98" fmla="*/ 313 w 1250"/>
                <a:gd name="T99" fmla="*/ 450 h 1187"/>
                <a:gd name="T100" fmla="*/ 313 w 1250"/>
                <a:gd name="T101" fmla="*/ 607 h 1187"/>
                <a:gd name="T102" fmla="*/ 223 w 1250"/>
                <a:gd name="T103" fmla="*/ 607 h 1187"/>
                <a:gd name="T104" fmla="*/ 223 w 1250"/>
                <a:gd name="T105" fmla="*/ 450 h 1187"/>
                <a:gd name="T106" fmla="*/ 67 w 1250"/>
                <a:gd name="T107" fmla="*/ 718 h 1187"/>
                <a:gd name="T108" fmla="*/ 156 w 1250"/>
                <a:gd name="T109" fmla="*/ 718 h 1187"/>
                <a:gd name="T110" fmla="*/ 156 w 1250"/>
                <a:gd name="T111" fmla="*/ 875 h 1187"/>
                <a:gd name="T112" fmla="*/ 67 w 1250"/>
                <a:gd name="T113" fmla="*/ 875 h 1187"/>
                <a:gd name="T114" fmla="*/ 67 w 1250"/>
                <a:gd name="T115" fmla="*/ 718 h 1187"/>
                <a:gd name="T116" fmla="*/ 223 w 1250"/>
                <a:gd name="T117" fmla="*/ 718 h 1187"/>
                <a:gd name="T118" fmla="*/ 313 w 1250"/>
                <a:gd name="T119" fmla="*/ 718 h 1187"/>
                <a:gd name="T120" fmla="*/ 313 w 1250"/>
                <a:gd name="T121" fmla="*/ 875 h 1187"/>
                <a:gd name="T122" fmla="*/ 223 w 1250"/>
                <a:gd name="T123" fmla="*/ 875 h 1187"/>
                <a:gd name="T124" fmla="*/ 223 w 1250"/>
                <a:gd name="T125" fmla="*/ 718 h 1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50" h="1187">
                  <a:moveTo>
                    <a:pt x="915" y="250"/>
                  </a:moveTo>
                  <a:lnTo>
                    <a:pt x="915" y="1053"/>
                  </a:lnTo>
                  <a:lnTo>
                    <a:pt x="848" y="1053"/>
                  </a:lnTo>
                  <a:lnTo>
                    <a:pt x="850" y="0"/>
                  </a:lnTo>
                  <a:lnTo>
                    <a:pt x="448" y="0"/>
                  </a:lnTo>
                  <a:lnTo>
                    <a:pt x="446" y="1053"/>
                  </a:lnTo>
                  <a:lnTo>
                    <a:pt x="379" y="1053"/>
                  </a:lnTo>
                  <a:lnTo>
                    <a:pt x="379" y="361"/>
                  </a:lnTo>
                  <a:lnTo>
                    <a:pt x="0" y="361"/>
                  </a:lnTo>
                  <a:lnTo>
                    <a:pt x="0" y="1187"/>
                  </a:lnTo>
                  <a:lnTo>
                    <a:pt x="1250" y="1187"/>
                  </a:lnTo>
                  <a:lnTo>
                    <a:pt x="1250" y="250"/>
                  </a:lnTo>
                  <a:lnTo>
                    <a:pt x="915" y="250"/>
                  </a:lnTo>
                  <a:close/>
                  <a:moveTo>
                    <a:pt x="982" y="339"/>
                  </a:moveTo>
                  <a:lnTo>
                    <a:pt x="1183" y="339"/>
                  </a:lnTo>
                  <a:lnTo>
                    <a:pt x="1183" y="584"/>
                  </a:lnTo>
                  <a:lnTo>
                    <a:pt x="982" y="584"/>
                  </a:lnTo>
                  <a:lnTo>
                    <a:pt x="982" y="339"/>
                  </a:lnTo>
                  <a:close/>
                  <a:moveTo>
                    <a:pt x="982" y="674"/>
                  </a:moveTo>
                  <a:lnTo>
                    <a:pt x="1183" y="674"/>
                  </a:lnTo>
                  <a:lnTo>
                    <a:pt x="1183" y="919"/>
                  </a:lnTo>
                  <a:lnTo>
                    <a:pt x="982" y="919"/>
                  </a:lnTo>
                  <a:lnTo>
                    <a:pt x="982" y="674"/>
                  </a:lnTo>
                  <a:close/>
                  <a:moveTo>
                    <a:pt x="513" y="71"/>
                  </a:moveTo>
                  <a:lnTo>
                    <a:pt x="781" y="71"/>
                  </a:lnTo>
                  <a:lnTo>
                    <a:pt x="781" y="183"/>
                  </a:lnTo>
                  <a:lnTo>
                    <a:pt x="513" y="183"/>
                  </a:lnTo>
                  <a:lnTo>
                    <a:pt x="513" y="71"/>
                  </a:lnTo>
                  <a:close/>
                  <a:moveTo>
                    <a:pt x="513" y="294"/>
                  </a:moveTo>
                  <a:lnTo>
                    <a:pt x="781" y="294"/>
                  </a:lnTo>
                  <a:lnTo>
                    <a:pt x="781" y="406"/>
                  </a:lnTo>
                  <a:lnTo>
                    <a:pt x="513" y="406"/>
                  </a:lnTo>
                  <a:lnTo>
                    <a:pt x="513" y="294"/>
                  </a:lnTo>
                  <a:close/>
                  <a:moveTo>
                    <a:pt x="513" y="517"/>
                  </a:moveTo>
                  <a:lnTo>
                    <a:pt x="781" y="517"/>
                  </a:lnTo>
                  <a:lnTo>
                    <a:pt x="781" y="629"/>
                  </a:lnTo>
                  <a:lnTo>
                    <a:pt x="513" y="629"/>
                  </a:lnTo>
                  <a:lnTo>
                    <a:pt x="513" y="517"/>
                  </a:lnTo>
                  <a:close/>
                  <a:moveTo>
                    <a:pt x="513" y="741"/>
                  </a:moveTo>
                  <a:lnTo>
                    <a:pt x="781" y="741"/>
                  </a:lnTo>
                  <a:lnTo>
                    <a:pt x="781" y="852"/>
                  </a:lnTo>
                  <a:lnTo>
                    <a:pt x="513" y="852"/>
                  </a:lnTo>
                  <a:lnTo>
                    <a:pt x="513" y="741"/>
                  </a:lnTo>
                  <a:close/>
                  <a:moveTo>
                    <a:pt x="67" y="450"/>
                  </a:moveTo>
                  <a:lnTo>
                    <a:pt x="156" y="450"/>
                  </a:lnTo>
                  <a:lnTo>
                    <a:pt x="156" y="607"/>
                  </a:lnTo>
                  <a:lnTo>
                    <a:pt x="67" y="607"/>
                  </a:lnTo>
                  <a:lnTo>
                    <a:pt x="67" y="450"/>
                  </a:lnTo>
                  <a:close/>
                  <a:moveTo>
                    <a:pt x="223" y="450"/>
                  </a:moveTo>
                  <a:lnTo>
                    <a:pt x="313" y="450"/>
                  </a:lnTo>
                  <a:lnTo>
                    <a:pt x="313" y="607"/>
                  </a:lnTo>
                  <a:lnTo>
                    <a:pt x="223" y="607"/>
                  </a:lnTo>
                  <a:lnTo>
                    <a:pt x="223" y="450"/>
                  </a:lnTo>
                  <a:close/>
                  <a:moveTo>
                    <a:pt x="67" y="718"/>
                  </a:moveTo>
                  <a:lnTo>
                    <a:pt x="156" y="718"/>
                  </a:lnTo>
                  <a:lnTo>
                    <a:pt x="156" y="875"/>
                  </a:lnTo>
                  <a:lnTo>
                    <a:pt x="67" y="875"/>
                  </a:lnTo>
                  <a:lnTo>
                    <a:pt x="67" y="718"/>
                  </a:lnTo>
                  <a:close/>
                  <a:moveTo>
                    <a:pt x="223" y="718"/>
                  </a:moveTo>
                  <a:lnTo>
                    <a:pt x="313" y="718"/>
                  </a:lnTo>
                  <a:lnTo>
                    <a:pt x="313" y="875"/>
                  </a:lnTo>
                  <a:lnTo>
                    <a:pt x="223" y="875"/>
                  </a:lnTo>
                  <a:lnTo>
                    <a:pt x="223" y="718"/>
                  </a:lnTo>
                  <a:close/>
                </a:path>
              </a:pathLst>
            </a:custGeom>
            <a:solidFill>
              <a:srgbClr val="FFFFFF"/>
            </a:solidFill>
            <a:ln>
              <a:noFill/>
            </a:ln>
          </p:spPr>
          <p:txBody>
            <a:bodyPr vert="horz" wrap="square" lIns="68580" tIns="34290" rIns="68580" bIns="34290" numCol="1" anchor="t" anchorCtr="0" compatLnSpc="1">
              <a:prstTxWarp prst="textNoShape">
                <a:avLst/>
              </a:prstTxWarp>
            </a:bodyPr>
            <a:lstStyle/>
            <a:p>
              <a:pPr defTabSz="685754">
                <a:defRPr/>
              </a:pPr>
              <a:endParaRPr lang="de-DE" sz="1350" kern="0" noProof="1">
                <a:solidFill>
                  <a:srgbClr val="9954CC"/>
                </a:solidFill>
                <a:latin typeface="Bahnschrift" panose="020B0502040204020203" pitchFamily="34" charset="0"/>
              </a:endParaRPr>
            </a:p>
          </p:txBody>
        </p:sp>
        <p:sp>
          <p:nvSpPr>
            <p:cNvPr id="674" name="Textfeld 673">
              <a:extLst>
                <a:ext uri="{FF2B5EF4-FFF2-40B4-BE49-F238E27FC236}">
                  <a16:creationId xmlns:a16="http://schemas.microsoft.com/office/drawing/2014/main" id="{4BC81B90-13BA-1A31-D12C-3F993ED906FD}"/>
                </a:ext>
              </a:extLst>
            </p:cNvPr>
            <p:cNvSpPr txBox="1"/>
            <p:nvPr/>
          </p:nvSpPr>
          <p:spPr bwMode="auto">
            <a:xfrm>
              <a:off x="10097062" y="5495024"/>
              <a:ext cx="474560" cy="369332"/>
            </a:xfrm>
            <a:prstGeom prst="rect">
              <a:avLst/>
            </a:prstGeom>
            <a:noFill/>
          </p:spPr>
          <p:txBody>
            <a:bodyPr wrap="square">
              <a:spAutoFit/>
            </a:bodyPr>
            <a:lstStyle/>
            <a:p>
              <a:pPr algn="r" defTabSz="914339">
                <a:defRPr/>
              </a:pPr>
              <a:r>
                <a:rPr lang="de-DE" kern="0" spc="-1" noProof="1">
                  <a:solidFill>
                    <a:srgbClr val="E1320F"/>
                  </a:solidFill>
                  <a:latin typeface="Calibri" panose="020F0502020204030204"/>
                  <a:ea typeface="Arial"/>
                </a:rPr>
                <a:t>🎯</a:t>
              </a:r>
              <a:endParaRPr lang="de-DE" kern="0" spc="-1" noProof="1">
                <a:solidFill>
                  <a:srgbClr val="000000"/>
                </a:solidFill>
                <a:latin typeface="Calibri" panose="020F0502020204030204"/>
              </a:endParaRPr>
            </a:p>
          </p:txBody>
        </p:sp>
      </p:grpSp>
      <p:sp>
        <p:nvSpPr>
          <p:cNvPr id="10" name="Textplatzhalter 9"/>
          <p:cNvSpPr>
            <a:spLocks noGrp="1"/>
          </p:cNvSpPr>
          <p:nvPr>
            <p:ph type="body" sz="quarter" idx="10"/>
          </p:nvPr>
        </p:nvSpPr>
        <p:spPr>
          <a:xfrm>
            <a:off x="719667" y="4857751"/>
            <a:ext cx="6679616" cy="1284288"/>
          </a:xfrm>
        </p:spPr>
        <p:txBody>
          <a:bodyPr/>
          <a:lstStyle/>
          <a:p>
            <a:r>
              <a:rPr lang="de-DE" b="1" dirty="0"/>
              <a:t>Simon Schneider</a:t>
            </a:r>
          </a:p>
          <a:p>
            <a:r>
              <a:rPr lang="de-DE" dirty="0"/>
              <a:t>FH Technikum Wien GmbH</a:t>
            </a:r>
          </a:p>
          <a:p>
            <a:r>
              <a:rPr lang="de-DE" dirty="0">
                <a:hlinkClick r:id="rId66"/>
              </a:rPr>
              <a:t>Simon.schneider@technikum-wien.at</a:t>
            </a:r>
            <a:endParaRPr lang="de-DE" dirty="0"/>
          </a:p>
        </p:txBody>
      </p:sp>
      <p:pic>
        <p:nvPicPr>
          <p:cNvPr id="5" name="Grafik 4"/>
          <p:cNvPicPr>
            <a:picLocks noChangeAspect="1"/>
          </p:cNvPicPr>
          <p:nvPr/>
        </p:nvPicPr>
        <p:blipFill>
          <a:blip r:embed="rId67"/>
          <a:stretch>
            <a:fillRect/>
          </a:stretch>
        </p:blipFill>
        <p:spPr>
          <a:xfrm>
            <a:off x="719666" y="3711183"/>
            <a:ext cx="1453012" cy="1440000"/>
          </a:xfrm>
          <a:prstGeom prst="rect">
            <a:avLst/>
          </a:prstGeom>
        </p:spPr>
      </p:pic>
      <p:pic>
        <p:nvPicPr>
          <p:cNvPr id="2" name="Grafik 1">
            <a:extLst>
              <a:ext uri="{FF2B5EF4-FFF2-40B4-BE49-F238E27FC236}">
                <a16:creationId xmlns:a16="http://schemas.microsoft.com/office/drawing/2014/main" id="{2A622E83-F885-C589-02C4-8234F4464E7B}"/>
              </a:ext>
            </a:extLst>
          </p:cNvPr>
          <p:cNvPicPr>
            <a:picLocks noChangeAspect="1"/>
          </p:cNvPicPr>
          <p:nvPr/>
        </p:nvPicPr>
        <p:blipFill>
          <a:blip r:embed="rId68"/>
          <a:stretch>
            <a:fillRect/>
          </a:stretch>
        </p:blipFill>
        <p:spPr>
          <a:xfrm>
            <a:off x="2271141" y="3711183"/>
            <a:ext cx="1440000" cy="1440000"/>
          </a:xfrm>
          <a:prstGeom prst="rect">
            <a:avLst/>
          </a:prstGeom>
        </p:spPr>
      </p:pic>
      <p:sp>
        <p:nvSpPr>
          <p:cNvPr id="4" name="Fußzeilenplatzhalter 12">
            <a:extLst>
              <a:ext uri="{FF2B5EF4-FFF2-40B4-BE49-F238E27FC236}">
                <a16:creationId xmlns:a16="http://schemas.microsoft.com/office/drawing/2014/main" id="{923550AD-EAFA-8422-AF15-FCE6C4AA8670}"/>
              </a:ext>
            </a:extLst>
          </p:cNvPr>
          <p:cNvSpPr txBox="1">
            <a:spLocks/>
          </p:cNvSpPr>
          <p:nvPr/>
        </p:nvSpPr>
        <p:spPr>
          <a:xfrm>
            <a:off x="720000" y="6387003"/>
            <a:ext cx="9167888" cy="266700"/>
          </a:xfrm>
          <a:prstGeom prst="rect">
            <a:avLst/>
          </a:prstGeom>
        </p:spPr>
        <p:txBody>
          <a:bodyPr vert="horz" lIns="0" tIns="0" rIns="0" bIns="0" rtlCol="0" anchor="ctr"/>
          <a:lstStyle>
            <a:defPPr>
              <a:defRPr lang="de-DE"/>
            </a:defPPr>
            <a:lvl1pPr marL="0" algn="l" defTabSz="914400" rtl="0" eaLnBrk="1" latinLnBrk="0" hangingPunct="1">
              <a:defRPr sz="1867"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AT" dirty="0"/>
              <a:t>Klimaaktiv Nachweistool Plus-Energie-Quartiere</a:t>
            </a:r>
          </a:p>
        </p:txBody>
      </p:sp>
    </p:spTree>
    <p:extLst>
      <p:ext uri="{BB962C8B-B14F-4D97-AF65-F5344CB8AC3E}">
        <p14:creationId xmlns:p14="http://schemas.microsoft.com/office/powerpoint/2010/main" val="17974543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2.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3.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4.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5.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6.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7.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9.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0.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1.xml><?xml version="1.0" encoding="utf-8"?>
<p:tagLst xmlns:a="http://schemas.openxmlformats.org/drawingml/2006/main" xmlns:r="http://schemas.openxmlformats.org/officeDocument/2006/relationships" xmlns:p="http://schemas.openxmlformats.org/presentationml/2006/main">
  <p:tag name="POWER_USER_TAGS_ICONS" val="bolt*bounce*jump*jumping*platform*screw*spring*tool*thunder*storm*fast*speed*lightning*energy*electricity*volt*power*"/>
</p:tagLst>
</file>

<file path=ppt/tags/tag12.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3.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4.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6.xml><?xml version="1.0" encoding="utf-8"?>
<p:tagLst xmlns:a="http://schemas.openxmlformats.org/drawingml/2006/main" xmlns:r="http://schemas.openxmlformats.org/officeDocument/2006/relationships" xmlns:p="http://schemas.openxmlformats.org/presentationml/2006/main">
  <p:tag name="POWER_USER_TAGS_ICONS" val="bolt*bounce*jump*jumping*platform*screw*spring*tool*thunder*storm*fast*speed*lightning*energy*electricity*volt*power*"/>
</p:tagLst>
</file>

<file path=ppt/tags/tag17.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9.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20.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21.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2.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23.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24.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5.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6.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3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3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32.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33.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34.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35.xml><?xml version="1.0" encoding="utf-8"?>
<p:tagLst xmlns:a="http://schemas.openxmlformats.org/drawingml/2006/main" xmlns:r="http://schemas.openxmlformats.org/officeDocument/2006/relationships" xmlns:p="http://schemas.openxmlformats.org/presentationml/2006/main">
  <p:tag name="POWER_USER_TAGS_ICONS" val="bolt*bounce*jump*jumping*platform*screw*spring*tool*thunder*storm*fast*speed*lightning*energy*electricity*volt*power*"/>
</p:tagLst>
</file>

<file path=ppt/tags/tag36.xml><?xml version="1.0" encoding="utf-8"?>
<p:tagLst xmlns:a="http://schemas.openxmlformats.org/drawingml/2006/main" xmlns:r="http://schemas.openxmlformats.org/officeDocument/2006/relationships" xmlns:p="http://schemas.openxmlformats.org/presentationml/2006/main">
  <p:tag name="POWER_USER_TAGS_ICONS" val="earth_POWER_USER_SEPARATOR_ICONS_economical_POWER_USER_SEPARATOR_ICONS_global_POWER_USER_SEPARATOR_ICONS_globalization_POWER_USER_SEPARATOR_ICONS_planet_POWER_USER_SEPARATOR_ICONS_planet-earth_POWER_USER_SEPARATOR_ICONS_space_POWER_USER_SEPARATOR_ICONS_universe_POWER_USER_SEPARATOR_ICONS_world"/>
</p:tagLst>
</file>

<file path=ppt/tags/tag37.xml><?xml version="1.0" encoding="utf-8"?>
<p:tagLst xmlns:a="http://schemas.openxmlformats.org/drawingml/2006/main" xmlns:r="http://schemas.openxmlformats.org/officeDocument/2006/relationships" xmlns:p="http://schemas.openxmlformats.org/presentationml/2006/main">
  <p:tag name="POWER_USER_TAGS_ICONS" val="earth_POWER_USER_SEPARATOR_ICONS_economical_POWER_USER_SEPARATOR_ICONS_global_POWER_USER_SEPARATOR_ICONS_globalization_POWER_USER_SEPARATOR_ICONS_planet_POWER_USER_SEPARATOR_ICONS_planet-earth_POWER_USER_SEPARATOR_ICONS_space_POWER_USER_SEPARATOR_ICONS_universe_POWER_USER_SEPARATOR_ICONS_world"/>
</p:tagLst>
</file>

<file path=ppt/tags/tag3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39.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40.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41.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42.xml><?xml version="1.0" encoding="utf-8"?>
<p:tagLst xmlns:a="http://schemas.openxmlformats.org/drawingml/2006/main" xmlns:r="http://schemas.openxmlformats.org/officeDocument/2006/relationships" xmlns:p="http://schemas.openxmlformats.org/presentationml/2006/main">
  <p:tag name="POWER_USER_TAGS_ICONS" val="gas*car*energy*fuel*gas station*highway**logistics*transportation*transport*environment*oil*petroleum*resources*vehicle*consumption*power*global warming*environment"/>
</p:tagLst>
</file>

<file path=ppt/tags/tag43.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44.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45.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46.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4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4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4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5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5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52.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53.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54.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55.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56.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5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5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5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6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6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62.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63.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64.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65.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66.xml><?xml version="1.0" encoding="utf-8"?>
<p:tagLst xmlns:a="http://schemas.openxmlformats.org/drawingml/2006/main" xmlns:r="http://schemas.openxmlformats.org/officeDocument/2006/relationships" xmlns:p="http://schemas.openxmlformats.org/presentationml/2006/main">
  <p:tag name="POWER_USER_TAGS_ICONS" val="Shape icons"/>
</p:tagLst>
</file>

<file path=ppt/tags/tag67.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68.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69.xml><?xml version="1.0" encoding="utf-8"?>
<p:tagLst xmlns:a="http://schemas.openxmlformats.org/drawingml/2006/main" xmlns:r="http://schemas.openxmlformats.org/officeDocument/2006/relationships" xmlns:p="http://schemas.openxmlformats.org/presentationml/2006/main">
  <p:tag name="POWER_USER_TAGS_ICONS" val="eolien*wind*energy*sustainability*windmill*wind turbine*renewables*power*global warming*environment"/>
</p:tagLst>
</file>

<file path=ppt/tags/tag70.xml><?xml version="1.0" encoding="utf-8"?>
<p:tagLst xmlns:a="http://schemas.openxmlformats.org/drawingml/2006/main" xmlns:r="http://schemas.openxmlformats.org/officeDocument/2006/relationships" xmlns:p="http://schemas.openxmlformats.org/presentationml/2006/main">
  <p:tag name="POWER_USER_TAGS_ICONS" val="high voltage line*electricity*energy*renewable*power*battery*charging*ampere*voltage"/>
</p:tagLst>
</file>

<file path=ppt/tags/tag71.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72.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73.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74.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75.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76.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7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7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7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8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8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82.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83.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84.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85.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86.xml><?xml version="1.0" encoding="utf-8"?>
<p:tagLst xmlns:a="http://schemas.openxmlformats.org/drawingml/2006/main" xmlns:r="http://schemas.openxmlformats.org/officeDocument/2006/relationships" xmlns:p="http://schemas.openxmlformats.org/presentationml/2006/main">
  <p:tag name="POWER_USER_TAGS_ICONS" val="Shape icons"/>
</p:tagLst>
</file>

<file path=ppt/tags/tag87.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88.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89.xml><?xml version="1.0" encoding="utf-8"?>
<p:tagLst xmlns:a="http://schemas.openxmlformats.org/drawingml/2006/main" xmlns:r="http://schemas.openxmlformats.org/officeDocument/2006/relationships" xmlns:p="http://schemas.openxmlformats.org/presentationml/2006/main">
  <p:tag name="POWER_USER_TAGS_ICONS" val="eolien*wind*energy*sustainability*windmill*wind turbine*renewables*power*global warming*environment"/>
</p:tagLst>
</file>

<file path=ppt/tags/tag90.xml><?xml version="1.0" encoding="utf-8"?>
<p:tagLst xmlns:a="http://schemas.openxmlformats.org/drawingml/2006/main" xmlns:r="http://schemas.openxmlformats.org/officeDocument/2006/relationships" xmlns:p="http://schemas.openxmlformats.org/presentationml/2006/main">
  <p:tag name="POWER_USER_TAGS_ICONS" val="high voltage line*electricity*energy*renewable*power*battery*charging*ampere*voltage"/>
</p:tagLst>
</file>

<file path=ppt/tags/tag91.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92.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93.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94.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95.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96.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9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9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9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0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0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02.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03.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04.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05.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06.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07.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08.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09.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10.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11.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12.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13.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14.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15.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16.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17.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118.xml><?xml version="1.0" encoding="utf-8"?>
<p:tagLst xmlns:a="http://schemas.openxmlformats.org/drawingml/2006/main" xmlns:r="http://schemas.openxmlformats.org/officeDocument/2006/relationships" xmlns:p="http://schemas.openxmlformats.org/presentationml/2006/main">
  <p:tag name="POWER_USER_TAGS_ICONS" val="high voltage line*electricity*energy*renewable*power*battery*charging*ampere*voltage"/>
</p:tagLst>
</file>

<file path=ppt/tags/tag119.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120.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121.xml><?xml version="1.0" encoding="utf-8"?>
<p:tagLst xmlns:a="http://schemas.openxmlformats.org/drawingml/2006/main" xmlns:r="http://schemas.openxmlformats.org/officeDocument/2006/relationships" xmlns:p="http://schemas.openxmlformats.org/presentationml/2006/main">
  <p:tag name="POWER_USER_TAGS_ICONS" val="high voltage line*electricity*energy*renewable*power*battery*charging*ampere*voltage"/>
</p:tagLst>
</file>

<file path=ppt/tags/tag122.xml><?xml version="1.0" encoding="utf-8"?>
<p:tagLst xmlns:a="http://schemas.openxmlformats.org/drawingml/2006/main" xmlns:r="http://schemas.openxmlformats.org/officeDocument/2006/relationships" xmlns:p="http://schemas.openxmlformats.org/presentationml/2006/main">
  <p:tag name="POWER_USER_TAGS_ICONS" val="eolien*wind*energy*sustainability*windmill*wind turbine*renewables*power*global warming*environment"/>
</p:tagLst>
</file>

<file path=ppt/tags/tag123.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124.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125.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26.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27.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28.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129.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130.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13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32.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33.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34.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35.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36.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3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3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39.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140.xml><?xml version="1.0" encoding="utf-8"?>
<p:tagLst xmlns:a="http://schemas.openxmlformats.org/drawingml/2006/main" xmlns:r="http://schemas.openxmlformats.org/officeDocument/2006/relationships" xmlns:p="http://schemas.openxmlformats.org/presentationml/2006/main">
  <p:tag name="POWER_USER_TAGS_ICONS" val="high voltage line*electricity*energy*renewable*power*battery*charging*ampere*voltage"/>
</p:tagLst>
</file>

<file path=ppt/tags/tag141.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142.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143.xml><?xml version="1.0" encoding="utf-8"?>
<p:tagLst xmlns:a="http://schemas.openxmlformats.org/drawingml/2006/main" xmlns:r="http://schemas.openxmlformats.org/officeDocument/2006/relationships" xmlns:p="http://schemas.openxmlformats.org/presentationml/2006/main">
  <p:tag name="POWER_USER_TAGS_ICONS" val="high voltage line*electricity*energy*renewable*power*battery*charging*ampere*voltage"/>
</p:tagLst>
</file>

<file path=ppt/tags/tag144.xml><?xml version="1.0" encoding="utf-8"?>
<p:tagLst xmlns:a="http://schemas.openxmlformats.org/drawingml/2006/main" xmlns:r="http://schemas.openxmlformats.org/officeDocument/2006/relationships" xmlns:p="http://schemas.openxmlformats.org/presentationml/2006/main">
  <p:tag name="POWER_USER_TAGS_ICONS" val="eolien*wind*energy*sustainability*windmill*wind turbine*renewables*power*global warming*environment"/>
</p:tagLst>
</file>

<file path=ppt/tags/tag145.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146.xml><?xml version="1.0" encoding="utf-8"?>
<p:tagLst xmlns:a="http://schemas.openxmlformats.org/drawingml/2006/main" xmlns:r="http://schemas.openxmlformats.org/officeDocument/2006/relationships" xmlns:p="http://schemas.openxmlformats.org/presentationml/2006/main">
  <p:tag name="POWER_USER_TAGS_ICONS" val="battery full*energy*power*electricity*volt*ampere*renewable"/>
</p:tagLst>
</file>

<file path=ppt/tags/tag147.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48.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49.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50.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151.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152.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153.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54.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55.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56.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5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5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5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6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61.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62.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63.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64.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165.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66.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67.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68.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69.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70.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71.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172.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73.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74.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7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76.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177.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78.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179.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18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8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82.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83.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84.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85.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86.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8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188.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189.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90.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91.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92.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93.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194.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95.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196.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97.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19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199.xml><?xml version="1.0" encoding="utf-8"?>
<p:tagLst xmlns:a="http://schemas.openxmlformats.org/drawingml/2006/main" xmlns:r="http://schemas.openxmlformats.org/officeDocument/2006/relationships" xmlns:p="http://schemas.openxmlformats.org/presentationml/2006/main">
  <p:tag name="POWER_USER_TAGS_ICONS" val="bolt*bounce*jump*jumping*platform*screw*spring*tool*thunder*storm*fast*speed*lightning*energy*electricity*volt*power*"/>
</p:tagLst>
</file>

<file path=ppt/tags/tag200.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201.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202.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203.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04.xml><?xml version="1.0" encoding="utf-8"?>
<p:tagLst xmlns:a="http://schemas.openxmlformats.org/drawingml/2006/main" xmlns:r="http://schemas.openxmlformats.org/officeDocument/2006/relationships" xmlns:p="http://schemas.openxmlformats.org/presentationml/2006/main">
  <p:tag name="POWER_USER_TAGS_ICONS" val="bolt*bounce*jump*jumping*platform*screw*spring*tool*thunder*storm*fast*speed*lightning*energy*electricity*volt*power*"/>
</p:tagLst>
</file>

<file path=ppt/tags/tag205.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206.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07.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208.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209.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10.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211.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212.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13.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14.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15.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16.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1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1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1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20.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221.xml><?xml version="1.0" encoding="utf-8"?>
<p:tagLst xmlns:a="http://schemas.openxmlformats.org/drawingml/2006/main" xmlns:r="http://schemas.openxmlformats.org/officeDocument/2006/relationships" xmlns:p="http://schemas.openxmlformats.org/presentationml/2006/main">
  <p:tag name="POWER_USER_TAGS_ICONS" val="building_POWER_USER_SEPARATOR_ICONS_architecture_POWER_USER_SEPARATOR_ICONS_buildings_POWER_USER_SEPARATOR_ICONS_city_POWER_USER_SEPARATOR_ICONS_office_POWER_USER_SEPARATOR_ICONS_skyline_POWER_USER_SEPARATOR_ICONS_urban"/>
</p:tagLst>
</file>

<file path=ppt/tags/tag222.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23.xml><?xml version="1.0" encoding="utf-8"?>
<p:tagLst xmlns:a="http://schemas.openxmlformats.org/drawingml/2006/main" xmlns:r="http://schemas.openxmlformats.org/officeDocument/2006/relationships" xmlns:p="http://schemas.openxmlformats.org/presentationml/2006/main">
  <p:tag name="POWER_USER_TAGS_ICONS" val="bolt*bounce*jump*jumping*platform*screw*spring*tool*thunder*storm*fast*speed*lightning*energy*electricity*volt*power*"/>
</p:tagLst>
</file>

<file path=ppt/tags/tag224.xml><?xml version="1.0" encoding="utf-8"?>
<p:tagLst xmlns:a="http://schemas.openxmlformats.org/drawingml/2006/main" xmlns:r="http://schemas.openxmlformats.org/officeDocument/2006/relationships" xmlns:p="http://schemas.openxmlformats.org/presentationml/2006/main">
  <p:tag name="POWER_USER_TAGS_ICONS" val="earth_POWER_USER_SEPARATOR_ICONS_economical_POWER_USER_SEPARATOR_ICONS_global_POWER_USER_SEPARATOR_ICONS_globalization_POWER_USER_SEPARATOR_ICONS_planet_POWER_USER_SEPARATOR_ICONS_planet-earth_POWER_USER_SEPARATOR_ICONS_space_POWER_USER_SEPARATOR_ICONS_universe_POWER_USER_SEPARATOR_ICONS_world"/>
</p:tagLst>
</file>

<file path=ppt/tags/tag225.xml><?xml version="1.0" encoding="utf-8"?>
<p:tagLst xmlns:a="http://schemas.openxmlformats.org/drawingml/2006/main" xmlns:r="http://schemas.openxmlformats.org/officeDocument/2006/relationships" xmlns:p="http://schemas.openxmlformats.org/presentationml/2006/main">
  <p:tag name="POWER_USER_TAGS_ICONS" val="earth_POWER_USER_SEPARATOR_ICONS_economical_POWER_USER_SEPARATOR_ICONS_global_POWER_USER_SEPARATOR_ICONS_globalization_POWER_USER_SEPARATOR_ICONS_planet_POWER_USER_SEPARATOR_ICONS_planet-earth_POWER_USER_SEPARATOR_ICONS_space_POWER_USER_SEPARATOR_ICONS_universe_POWER_USER_SEPARATOR_ICONS_world"/>
</p:tagLst>
</file>

<file path=ppt/tags/tag226.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27.xml><?xml version="1.0" encoding="utf-8"?>
<p:tagLst xmlns:a="http://schemas.openxmlformats.org/drawingml/2006/main" xmlns:r="http://schemas.openxmlformats.org/officeDocument/2006/relationships" xmlns:p="http://schemas.openxmlformats.org/presentationml/2006/main">
  <p:tag name="POWER_USER_TAGS_ICONS" val="electric-car"/>
</p:tagLst>
</file>

<file path=ppt/tags/tag228.xml><?xml version="1.0" encoding="utf-8"?>
<p:tagLst xmlns:a="http://schemas.openxmlformats.org/drawingml/2006/main" xmlns:r="http://schemas.openxmlformats.org/officeDocument/2006/relationships" xmlns:p="http://schemas.openxmlformats.org/presentationml/2006/main">
  <p:tag name="POWER_USER_TAGS_ICONS" val="cart_POWER_USER_SEPARATOR_ICONS_shopping_POWER_USER_SEPARATOR_ICONS_groceries_POWER_USER_SEPARATOR_ICONS_food_POWER_USER_SEPARATOR_ICONS_buy_POWER_USER_SEPARATOR_ICONS_purchase_POWER_USER_SEPARATOR_ICONS_supermarket"/>
</p:tagLst>
</file>

<file path=ppt/tags/tag229.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30.xml><?xml version="1.0" encoding="utf-8"?>
<p:tagLst xmlns:a="http://schemas.openxmlformats.org/drawingml/2006/main" xmlns:r="http://schemas.openxmlformats.org/officeDocument/2006/relationships" xmlns:p="http://schemas.openxmlformats.org/presentationml/2006/main">
  <p:tag name="POWER_USER_TAGS_ICONS" val="gas*car*energy*fuel*gas station*highway**logistics*transportation*transport*environment*oil*petroleum*resources*vehicle*consumption*power*global warming*environment"/>
</p:tagLst>
</file>

<file path=ppt/tags/tag231.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232.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233.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34.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35.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36.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3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3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3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4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41.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ags/tag242.xml><?xml version="1.0" encoding="utf-8"?>
<p:tagLst xmlns:a="http://schemas.openxmlformats.org/drawingml/2006/main" xmlns:r="http://schemas.openxmlformats.org/officeDocument/2006/relationships" xmlns:p="http://schemas.openxmlformats.org/presentationml/2006/main">
  <p:tag name="POWER_USER_TAGS_ICONS" val="solar panel*electricity*energy*environment*power*sun*"/>
</p:tagLst>
</file>

<file path=ppt/tags/tag243.xml><?xml version="1.0" encoding="utf-8"?>
<p:tagLst xmlns:a="http://schemas.openxmlformats.org/drawingml/2006/main" xmlns:r="http://schemas.openxmlformats.org/officeDocument/2006/relationships" xmlns:p="http://schemas.openxmlformats.org/presentationml/2006/main">
  <p:tag name="POWER_USER_TAGS_ICONS" val="flame*fire*gas*light*power*environment*energy*burn*hot*"/>
</p:tagLst>
</file>

<file path=ppt/tags/tag244.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45.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46.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47.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48.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49.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50.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51.xml><?xml version="1.0" encoding="utf-8"?>
<p:tagLst xmlns:a="http://schemas.openxmlformats.org/drawingml/2006/main" xmlns:r="http://schemas.openxmlformats.org/officeDocument/2006/relationships" xmlns:p="http://schemas.openxmlformats.org/presentationml/2006/main">
  <p:tag name="POWER_USER_TAGS_ICONS" val="crowdsourcing_POWER_USER_SEPARATOR_ICONS_think_POWER_USER_SEPARATOR_ICONS_teamwork_POWER_USER_SEPARATOR_ICONS_team_POWER_USER_SEPARATOR_ICONS_smart_POWER_USER_SEPARATOR_ICONS_light-bulb_POWER_USER_SEPARATOR_ICONS_idea_POWER_USER_SEPARATOR_ICONS_group_POWER_USER_SEPARATOR_ICONS_collaborate_POWER_USER_SEPARATOR_ICONS_thinking"/>
</p:tagLst>
</file>

<file path=ppt/tags/tag252.xml><?xml version="1.0" encoding="utf-8"?>
<p:tagLst xmlns:a="http://schemas.openxmlformats.org/drawingml/2006/main" xmlns:r="http://schemas.openxmlformats.org/officeDocument/2006/relationships" xmlns:p="http://schemas.openxmlformats.org/presentationml/2006/main">
  <p:tag name="POWER_USER_TAGS_ICONS" val="plug*electricity*energy*renewable*power*battery*charging*ampere*voltage"/>
</p:tagLst>
</file>

<file path=ppt/theme/theme1.xml><?xml version="1.0" encoding="utf-8"?>
<a:theme xmlns:a="http://schemas.openxmlformats.org/drawingml/2006/main" name="Republik-AT-4x3">
  <a:themeElements>
    <a:clrScheme name="Benutzerdefiniert 1">
      <a:dk1>
        <a:srgbClr val="000000"/>
      </a:dk1>
      <a:lt1>
        <a:srgbClr val="FFFFFF"/>
      </a:lt1>
      <a:dk2>
        <a:srgbClr val="E1320F"/>
      </a:dk2>
      <a:lt2>
        <a:srgbClr val="E6EFF3"/>
      </a:lt2>
      <a:accent1>
        <a:srgbClr val="CA0237"/>
      </a:accent1>
      <a:accent2>
        <a:srgbClr val="5FB564"/>
      </a:accent2>
      <a:accent3>
        <a:srgbClr val="950F53"/>
      </a:accent3>
      <a:accent4>
        <a:srgbClr val="F59C00"/>
      </a:accent4>
      <a:accent5>
        <a:srgbClr val="3BACBE"/>
      </a:accent5>
      <a:accent6>
        <a:srgbClr val="BCCF00"/>
      </a:accent6>
      <a:hlink>
        <a:srgbClr val="1C1C1C"/>
      </a:hlink>
      <a:folHlink>
        <a:srgbClr val="63636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Klarheit">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Vorlage Powerpoint 16zu9.potx" id="{8A3427BA-7080-4A5B-8919-EC416F71D1B5}" vid="{A1BF8820-9C99-4ACF-A4BE-68B57CCC3868}"/>
    </a:ext>
  </a:extLst>
</a:theme>
</file>

<file path=ppt/theme/theme2.xml><?xml version="1.0" encoding="utf-8"?>
<a:theme xmlns:a="http://schemas.openxmlformats.org/drawingml/2006/main" name="Benutzerdefiniertes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enutzerdefiniert 2">
    <a:dk1>
      <a:srgbClr val="000000"/>
    </a:dk1>
    <a:lt1>
      <a:srgbClr val="FFFFFF"/>
    </a:lt1>
    <a:dk2>
      <a:srgbClr val="E1320F"/>
    </a:dk2>
    <a:lt2>
      <a:srgbClr val="E6EFF3"/>
    </a:lt2>
    <a:accent1>
      <a:srgbClr val="CA0237"/>
    </a:accent1>
    <a:accent2>
      <a:srgbClr val="5FB564"/>
    </a:accent2>
    <a:accent3>
      <a:srgbClr val="950F53"/>
    </a:accent3>
    <a:accent4>
      <a:srgbClr val="F59C00"/>
    </a:accent4>
    <a:accent5>
      <a:srgbClr val="3BACBE"/>
    </a:accent5>
    <a:accent6>
      <a:srgbClr val="BCCF00"/>
    </a:accent6>
    <a:hlink>
      <a:srgbClr val="1C1C1C"/>
    </a:hlink>
    <a:folHlink>
      <a:srgbClr val="63636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Lariss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Benutzerdefiniert 2">
    <a:dk1>
      <a:srgbClr val="000000"/>
    </a:dk1>
    <a:lt1>
      <a:srgbClr val="FFFFFF"/>
    </a:lt1>
    <a:dk2>
      <a:srgbClr val="E1320F"/>
    </a:dk2>
    <a:lt2>
      <a:srgbClr val="E6EFF3"/>
    </a:lt2>
    <a:accent1>
      <a:srgbClr val="CA0237"/>
    </a:accent1>
    <a:accent2>
      <a:srgbClr val="5FB564"/>
    </a:accent2>
    <a:accent3>
      <a:srgbClr val="950F53"/>
    </a:accent3>
    <a:accent4>
      <a:srgbClr val="F59C00"/>
    </a:accent4>
    <a:accent5>
      <a:srgbClr val="3BACBE"/>
    </a:accent5>
    <a:accent6>
      <a:srgbClr val="BCCF00"/>
    </a:accent6>
    <a:hlink>
      <a:srgbClr val="1C1C1C"/>
    </a:hlink>
    <a:folHlink>
      <a:srgbClr val="63636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Lariss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0</TotalTime>
  <Words>3531</Words>
  <Application>Microsoft Office PowerPoint</Application>
  <PresentationFormat>Breitbild</PresentationFormat>
  <Paragraphs>853</Paragraphs>
  <Slides>37</Slides>
  <Notes>3</Notes>
  <HiddenSlides>2</HiddenSlides>
  <MMClips>0</MMClips>
  <ScaleCrop>false</ScaleCrop>
  <HeadingPairs>
    <vt:vector size="6" baseType="variant">
      <vt:variant>
        <vt:lpstr>Verwendete Schriftarten</vt:lpstr>
      </vt:variant>
      <vt:variant>
        <vt:i4>9</vt:i4>
      </vt:variant>
      <vt:variant>
        <vt:lpstr>Design</vt:lpstr>
      </vt:variant>
      <vt:variant>
        <vt:i4>2</vt:i4>
      </vt:variant>
      <vt:variant>
        <vt:lpstr>Folientitel</vt:lpstr>
      </vt:variant>
      <vt:variant>
        <vt:i4>37</vt:i4>
      </vt:variant>
    </vt:vector>
  </HeadingPairs>
  <TitlesOfParts>
    <vt:vector size="48" baseType="lpstr">
      <vt:lpstr>Aptos</vt:lpstr>
      <vt:lpstr>Aptos Display</vt:lpstr>
      <vt:lpstr>Arial</vt:lpstr>
      <vt:lpstr>Bahnschrift</vt:lpstr>
      <vt:lpstr>Calibri</vt:lpstr>
      <vt:lpstr>Calibri Light</vt:lpstr>
      <vt:lpstr>Cambria Math</vt:lpstr>
      <vt:lpstr>Corbel</vt:lpstr>
      <vt:lpstr>Times New Roman</vt:lpstr>
      <vt:lpstr>Republik-AT-4x3</vt:lpstr>
      <vt:lpstr>Benutzerdefiniertes Design</vt:lpstr>
      <vt:lpstr>Das Nachweistool für Plus-Energie-Quartiere</vt:lpstr>
      <vt:lpstr>klimaaktiv | Die Klimaschutzinitiative der österr. Bundesregierung</vt:lpstr>
      <vt:lpstr>Das Tool im Überblick</vt:lpstr>
      <vt:lpstr>Ziele des Nachweistools </vt:lpstr>
      <vt:lpstr>Energiemodelle von  Gebäuden und Quartiere</vt:lpstr>
      <vt:lpstr>The journey so far:</vt:lpstr>
      <vt:lpstr>Die Nachweis-Schleife</vt:lpstr>
      <vt:lpstr>Schnellstart</vt:lpstr>
      <vt:lpstr>Energiemodell  Betrieb</vt:lpstr>
      <vt:lpstr>PowerPoint-Präsentation</vt:lpstr>
      <vt:lpstr>Thermisches Energiemodell</vt:lpstr>
      <vt:lpstr>Thermisches Energiemodell</vt:lpstr>
      <vt:lpstr>Thermal model</vt:lpstr>
      <vt:lpstr>Bauteil-Typen  – Component Types</vt:lpstr>
      <vt:lpstr>Bauteil-Typen  – Component Types</vt:lpstr>
      <vt:lpstr>Stromflüsse: Flexibilität &amp; Bedarfsdeckung  </vt:lpstr>
      <vt:lpstr>PowerPoint-Präsentation</vt:lpstr>
      <vt:lpstr>🚗Mobilität: Standort und EV Anteil sind kritisch</vt:lpstr>
      <vt:lpstr>Mobilität: Inkludiert und budgetiert</vt:lpstr>
      <vt:lpstr>🚗Mobilitäts-Bilanz x2</vt:lpstr>
      <vt:lpstr>Mobilität</vt:lpstr>
      <vt:lpstr>Energieflexibilität</vt:lpstr>
      <vt:lpstr>Treibhausgas-Bilanz</vt:lpstr>
      <vt:lpstr>THG-Bilanzierung  im Detail</vt:lpstr>
      <vt:lpstr>Tool-Bezug</vt:lpstr>
      <vt:lpstr>Tool Überblick Blätter und Funktionen</vt:lpstr>
      <vt:lpstr>PowerPoint-Präsentation</vt:lpstr>
      <vt:lpstr>Tool overview</vt:lpstr>
      <vt:lpstr>📊 Benutzerdefiniertes Excel-Ribbon</vt:lpstr>
      <vt:lpstr>Quick-Start</vt:lpstr>
      <vt:lpstr>Eingabe</vt:lpstr>
      <vt:lpstr>Tool-Schnittstellen</vt:lpstr>
      <vt:lpstr>Analyse im Dashboard</vt:lpstr>
      <vt:lpstr>Variantenvergleich</vt:lpstr>
      <vt:lpstr>Voreinstellungen: „Presets“</vt:lpstr>
      <vt:lpstr>Blatt „AUDIT“: Automatisierte Plausibilitätskontrolle</vt:lpstr>
      <vt:lpstr>Kontakt www.klimaaktiv.at/siedlungen </vt:lpstr>
    </vt:vector>
  </TitlesOfParts>
  <Company>BMVIT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klimaaktiv – Die Klimaschutzinitiative Österreichs Gemeinsames Engagement für die Energie- und Mobilitätswende</dc:title>
  <dc:creator>Maier Philipp</dc:creator>
  <cp:lastModifiedBy>Simon Schneider</cp:lastModifiedBy>
  <cp:revision>483</cp:revision>
  <cp:lastPrinted>2025-03-20T10:17:34Z</cp:lastPrinted>
  <dcterms:created xsi:type="dcterms:W3CDTF">2025-01-27T16:11:10Z</dcterms:created>
  <dcterms:modified xsi:type="dcterms:W3CDTF">2026-10-22T10:19:02Z</dcterms:modified>
</cp:coreProperties>
</file>